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78608" y="2095946"/>
            <a:ext cx="6872733" cy="9676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2F528F"/>
                </a:solidFill>
                <a:latin typeface="Microsoft YaHei"/>
              </a:rPr>
              <a:t>AR-HUD 行人碰撞预警的情境依赖时空参数设计</a:t>
            </a:r>
          </a:p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2F528F"/>
                </a:solidFill>
                <a:latin typeface="Microsoft YaHei"/>
              </a:rPr>
              <a:t>非盲区与盲区双情境的分别标定及其迁移损失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76875" y="3149351"/>
            <a:ext cx="1238250" cy="28575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81476" y="3425576"/>
            <a:ext cx="1466998" cy="3214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2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55555"/>
                </a:solidFill>
                <a:latin typeface="Microsoft YaHei"/>
              </a:rPr>
              <a:t>硕士学位论文开题报告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1625" y="3870870"/>
            <a:ext cx="9086850" cy="91975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2F528F"/>
                </a:solidFill>
                <a:latin typeface="Microsoft YaHei"/>
              </a:rPr>
              <a:t>与主线题目的关系：</a:t>
            </a:r>
            <a:r>
              <a:rPr sz="980" b="0" i="0">
                <a:solidFill>
                  <a:srgbClr val="444444"/>
                </a:solidFill>
                <a:latin typeface="Microsoft YaHei"/>
              </a:rPr>
              <a:t>主线题目按</a:t>
            </a:r>
            <a:r>
              <a:rPr sz="980" b="1" i="0">
                <a:solidFill>
                  <a:srgbClr val="2F528F"/>
                </a:solidFill>
                <a:latin typeface="Microsoft YaHei"/>
              </a:rPr>
              <a:t>参数类型</a:t>
            </a:r>
            <a:r>
              <a:rPr sz="980" b="0" i="0">
                <a:solidFill>
                  <a:srgbClr val="444444"/>
                </a:solidFill>
                <a:latin typeface="Microsoft YaHei"/>
              </a:rPr>
              <a:t>切分（时间参数／空间参数），本框架按</a:t>
            </a:r>
            <a:r>
              <a:rPr sz="980" b="1" i="0">
                <a:solidFill>
                  <a:srgbClr val="2F528F"/>
                </a:solidFill>
                <a:latin typeface="Microsoft YaHei"/>
              </a:rPr>
              <a:t>视线可见性</a:t>
            </a:r>
            <a:r>
              <a:rPr sz="980" b="0" i="0">
                <a:solidFill>
                  <a:srgbClr val="444444"/>
                </a:solidFill>
                <a:latin typeface="Microsoft YaHei"/>
              </a:rPr>
              <a:t>重新切分； 二者共用同一文献库（102 篇）、同一四类因变量构念（安全绩效／认知负荷／情境意识／用户体验）与同一判定顺序， </a:t>
            </a:r>
            <a:r>
              <a:rPr sz="980" b="1" i="0">
                <a:solidFill>
                  <a:srgbClr val="2F528F"/>
                </a:solidFill>
                <a:latin typeface="Microsoft YaHei"/>
              </a:rPr>
              <a:t>属同一课题的两种切分方案</a:t>
            </a:r>
            <a:r>
              <a:rPr sz="980" b="0" i="0">
                <a:solidFill>
                  <a:srgbClr val="444444"/>
                </a:solidFill>
                <a:latin typeface="Microsoft YaHei"/>
              </a:rPr>
              <a:t>。切分的充分性由</a:t>
            </a:r>
            <a:r>
              <a:rPr sz="980" b="1" i="0">
                <a:solidFill>
                  <a:srgbClr val="2F528F"/>
                </a:solidFill>
                <a:latin typeface="Microsoft YaHei"/>
              </a:rPr>
              <a:t>六处前提失效</a:t>
            </a:r>
            <a:r>
              <a:rPr sz="980" b="0" i="0">
                <a:solidFill>
                  <a:srgbClr val="444444"/>
                </a:solidFill>
                <a:latin typeface="Microsoft YaHei"/>
              </a:rPr>
              <a:t>（BD-1–BD-6）论证， 其必要性由</a:t>
            </a:r>
            <a:r>
              <a:rPr sz="980" b="1" i="0">
                <a:solidFill>
                  <a:srgbClr val="2F528F"/>
                </a:solidFill>
                <a:latin typeface="Microsoft YaHei"/>
              </a:rPr>
              <a:t>可自我否证的迁移损失检验</a:t>
            </a:r>
            <a:r>
              <a:rPr sz="980" b="0" i="0">
                <a:solidFill>
                  <a:srgbClr val="444444"/>
                </a:solidFill>
                <a:latin typeface="Microsoft YaHei"/>
              </a:rPr>
              <a:t>（P6′）实测。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44444"/>
                </a:solidFill>
                <a:latin typeface="Microsoft YaHei"/>
              </a:rPr>
              <a:t> </a:t>
            </a:r>
            <a:r>
              <a:rPr sz="980" b="1" i="0">
                <a:solidFill>
                  <a:srgbClr val="2F528F"/>
                </a:solidFill>
                <a:latin typeface="Microsoft YaHei"/>
              </a:rPr>
              <a:t>版本：</a:t>
            </a:r>
            <a:r>
              <a:rPr sz="980" b="0" i="0">
                <a:solidFill>
                  <a:srgbClr val="444444"/>
                </a:solidFill>
                <a:latin typeface="Microsoft YaHei"/>
              </a:rPr>
              <a:t>2026-08 | </a:t>
            </a:r>
            <a:r>
              <a:rPr sz="980" b="1" i="0">
                <a:solidFill>
                  <a:srgbClr val="2F528F"/>
                </a:solidFill>
                <a:latin typeface="Microsoft YaHei"/>
              </a:rPr>
              <a:t>配套讲稿：</a:t>
            </a:r>
            <a:r>
              <a:rPr sz="980" b="0" i="0">
                <a:solidFill>
                  <a:srgbClr val="444444"/>
                </a:solidFill>
                <a:latin typeface="Microsoft YaHei"/>
              </a:rPr>
              <a:t>开题报告_双情境框架_讲稿.md（14 页 / 20 分 50 秒）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7504" y="6562725"/>
            <a:ext cx="324445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选题依据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一个高危却尚未被参数化的情境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1355" y="209550"/>
            <a:ext cx="432494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26130" y="238125"/>
            <a:ext cx="26104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1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150" y="762000"/>
            <a:ext cx="11315700" cy="684609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38150" y="762000"/>
            <a:ext cx="38100" cy="684609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1025" y="866775"/>
            <a:ext cx="11068050" cy="50363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 i="0">
                <a:solidFill>
                  <a:srgbClr val="2F528F"/>
                </a:solidFill>
                <a:latin typeface="Microsoft YaHei"/>
              </a:rPr>
              <a:t>行人碰撞中最危险的一类，并非驾驶员看见了行人而未及反应，而是</a:t>
            </a:r>
            <a:r>
              <a:rPr sz="1090" b="1" i="0">
                <a:solidFill>
                  <a:srgbClr val="2F528F"/>
                </a:solidFill>
                <a:latin typeface="Microsoft YaHei"/>
              </a:rPr>
              <a:t>驾驶员在碰撞前从未看见行人</a:t>
            </a:r>
            <a:r>
              <a:rPr sz="1090" b="0" i="0">
                <a:solidFill>
                  <a:srgbClr val="2F528F"/>
                </a:solidFill>
                <a:latin typeface="Microsoft YaHei"/>
              </a:rPr>
              <a:t>。从停放车辆后方窜出、自公交车尾绕行、在 A 柱遮挡角内横穿——中文语境称为「鬼探头」，即</a:t>
            </a:r>
            <a:r>
              <a:rPr sz="1090" b="1" i="0">
                <a:solidFill>
                  <a:srgbClr val="2F528F"/>
                </a:solidFill>
                <a:latin typeface="Microsoft YaHei"/>
              </a:rPr>
              <a:t>视线被车辆或障碍物遮挡时行人突然窜出</a:t>
            </a:r>
            <a:r>
              <a:rPr sz="1090" b="0" i="0">
                <a:solidFill>
                  <a:srgbClr val="2F528F"/>
                </a:solidFill>
                <a:latin typeface="Microsoft YaHei"/>
              </a:rPr>
              <a:t>。这类场景对 AR-HUD 具有双重意义。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" y="1551384"/>
            <a:ext cx="5572125" cy="4213026"/>
          </a:xfrm>
          <a:prstGeom prst="roundRect">
            <a:avLst>
              <a:gd name="adj" fmla="val 1582"/>
            </a:avLst>
          </a:prstGeom>
          <a:solidFill>
            <a:srgbClr val="F6FBF6"/>
          </a:solidFill>
          <a:ln w="9525">
            <a:solidFill>
              <a:srgbClr val="3E7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81025" y="1922859"/>
            <a:ext cx="5286375" cy="9525"/>
          </a:xfrm>
          <a:prstGeom prst="rect">
            <a:avLst/>
          </a:prstGeom>
          <a:solidFill>
            <a:srgbClr val="CFE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1025" y="1675209"/>
            <a:ext cx="5324475" cy="238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3E7D3E"/>
                </a:solidFill>
                <a:latin typeface="Microsoft YaHei"/>
              </a:rPr>
              <a:t>机器感知在此具有绝对优势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2008584"/>
            <a:ext cx="5257800" cy="9102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毫米波雷达、路侧摄像机与车路协同链路可以「看见」驾驶员看不见的目标。已有实车与仿真证据：路侧单元于距行人 100 m 触发预警，使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油门松开提前 36.29 m、首次制动提前 39.10 m、最大减速度绝对值降低约 3.45 m/s²、最小冲突距离增加 9.41 m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（均 </a:t>
            </a:r>
            <a:r>
              <a:rPr sz="1040" b="0" i="1">
                <a:solidFill>
                  <a:srgbClr val="1A1A1A"/>
                </a:solidFill>
                <a:latin typeface="Microsoft YaHei"/>
              </a:rPr>
              <a:t>p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 &lt; .001）。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2909292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故 AR-HUD 在此不只是加速信息传递的通道，而是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信息的唯一来源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——这与常规可见场景有本质区别。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3364408"/>
            <a:ext cx="5257800" cy="48369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能见度下降还会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放大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这一优势：雾天条件下油门提前多 27.7 m（</a:t>
            </a:r>
            <a:r>
              <a:rPr sz="1040" b="0" i="1">
                <a:solidFill>
                  <a:srgbClr val="1A1A1A"/>
                </a:solidFill>
                <a:latin typeface="Microsoft YaHei"/>
              </a:rPr>
              <a:t>p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 = .032）、制动提前多 27.8 m（</a:t>
            </a:r>
            <a:r>
              <a:rPr sz="1040" b="0" i="1">
                <a:solidFill>
                  <a:srgbClr val="1A1A1A"/>
                </a:solidFill>
                <a:latin typeface="Microsoft YaHei"/>
              </a:rPr>
              <a:t>p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 = .035）。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725" y="1551384"/>
            <a:ext cx="5572125" cy="4213026"/>
          </a:xfrm>
          <a:prstGeom prst="roundRect">
            <a:avLst>
              <a:gd name="adj" fmla="val 1582"/>
            </a:avLst>
          </a:prstGeom>
          <a:solidFill>
            <a:srgbClr val="FEF6F6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324600" y="1922859"/>
            <a:ext cx="5286375" cy="9525"/>
          </a:xfrm>
          <a:prstGeom prst="rect">
            <a:avLst/>
          </a:prstGeom>
          <a:solidFill>
            <a:srgbClr val="F0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4600" y="1675209"/>
            <a:ext cx="5324475" cy="238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C00000"/>
                </a:solidFill>
                <a:latin typeface="Microsoft YaHei"/>
              </a:rPr>
              <a:t>但也正因如此，责任与风险同时放大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2008584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驾驶员无法用自身视觉核验预警。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预警发出时行人不可见，故「报警是否与我的判断吻合」这一常规的信任建立路径在此不成立。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2463700"/>
            <a:ext cx="5257800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系统漏检的后果更严重。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已有证据显示 AR 边界框把无意视盲频次由 46 降至 11，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但系统一旦漏检行人，无意视盲反而高于不用 AR-HUD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；而盲区情境中驾驶员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没有独立视觉信息源可以补偿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136850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共形图形可能失效。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实车实测显示 17° 视场下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近距侧方行人的共形图形会移出视场而彻底失效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，而遮挡后横穿恰是近距侧方构型。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150" y="5869185"/>
            <a:ext cx="11315700" cy="588764"/>
          </a:xfrm>
          <a:prstGeom prst="rect">
            <a:avLst/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38150" y="5869185"/>
            <a:ext cx="38100" cy="5887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1975" y="5954910"/>
            <a:ext cx="11106150" cy="4458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 i="0">
                <a:solidFill>
                  <a:srgbClr val="7A1F1F"/>
                </a:solidFill>
                <a:latin typeface="Microsoft YaHei"/>
              </a:rPr>
              <a:t>选题的直接依据：</a:t>
            </a:r>
            <a:r>
              <a:rPr sz="990" b="0" i="0">
                <a:solidFill>
                  <a:srgbClr val="7A1F1F"/>
                </a:solidFill>
                <a:latin typeface="Microsoft YaHei"/>
              </a:rPr>
              <a:t>本课题已建成的 102 篇文献库中，</a:t>
            </a:r>
            <a:r>
              <a:rPr sz="990" b="1" i="0">
                <a:solidFill>
                  <a:srgbClr val="7A1F1F"/>
                </a:solidFill>
                <a:latin typeface="Microsoft YaHei"/>
              </a:rPr>
              <a:t>以遮挡为核心条件的研究不足 6%（6 篇）</a:t>
            </a:r>
            <a:r>
              <a:rPr sz="990" b="0" i="0">
                <a:solidFill>
                  <a:srgbClr val="7A1F1F"/>
                </a:solidFill>
                <a:latin typeface="Microsoft YaHei"/>
              </a:rPr>
              <a:t>，其中仅 1 篇提供可引用的数值、1 篇为实车范式、1 篇为仅摘要级；</a:t>
            </a:r>
            <a:r>
              <a:rPr sz="990" b="1" i="0">
                <a:solidFill>
                  <a:srgbClr val="7A1F1F"/>
                </a:solidFill>
                <a:latin typeface="Microsoft YaHei"/>
              </a:rPr>
              <a:t>无一篇测量或计算行人的自然显露时刻，无一篇以相对显露时刻的提前量为自变量，无一篇正交比较遮挡条件下的锚定策略。</a:t>
            </a:r>
            <a:r>
              <a:rPr sz="990" b="0" i="0">
                <a:solidFill>
                  <a:srgbClr val="7A1F1F"/>
                </a:solidFill>
                <a:latin typeface="Microsoft YaHei"/>
              </a:rPr>
              <a:t>既有文献自身的判断亦一致——该问题「仍未被充分探索」。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67504" y="6562725"/>
            <a:ext cx="324445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研究现状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既有格局：「是否有效」已有共识，「取何值」普遍缺证据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1355" y="209550"/>
            <a:ext cx="432494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26130" y="238125"/>
            <a:ext cx="26104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2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150" y="762000"/>
            <a:ext cx="11353800" cy="246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A1A1A"/>
                </a:solidFill>
                <a:latin typeface="Microsoft YaHei"/>
              </a:rPr>
              <a:t>本课题前期已完成 102 篇文献的系统综述，按 AR-HUD 预警设计须依次确定的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七个参数环节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组织，每一环节固定考察已有证据、结论分歧与研究空白三项。下表为七环节的现状概览。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8150" y="1084808"/>
          <a:ext cx="11315699" cy="25220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3603"/>
                <a:gridCol w="5318373"/>
                <a:gridCol w="4073723"/>
              </a:tblGrid>
              <a:tr h="26670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FFFFFF"/>
                          </a:solidFill>
                          <a:latin typeface="Microsoft YaHei"/>
                        </a:rPr>
                        <a:t>参数环节</a:t>
                      </a:r>
                    </a:p>
                  </a:txBody>
                  <a:tcPr marL="66675" marR="66675" marT="52387" marB="52387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FFFFFF"/>
                          </a:solidFill>
                          <a:latin typeface="Microsoft YaHei"/>
                        </a:rPr>
                        <a:t>已形成的共识</a:t>
                      </a:r>
                    </a:p>
                  </a:txBody>
                  <a:tcPr marL="66675" marR="66675" marT="52387" marB="52387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FFFFFF"/>
                          </a:solidFill>
                          <a:latin typeface="Microsoft YaHei"/>
                        </a:rPr>
                        <a:t>仍缺失的证据</a:t>
                      </a:r>
                    </a:p>
                  </a:txBody>
                  <a:tcPr marL="66675" marR="66675" marT="52387" marB="52387" anchor="t">
                    <a:solidFill>
                      <a:srgbClr val="4472C4"/>
                    </a:solidFill>
                  </a:tcPr>
                </a:tc>
              </a:tr>
              <a:tr h="417611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① 呈现时机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把预警搬进前视野即有实质收益；单层预警在 TTC 小于 3 s 时不足以改变行为；过早预警收益递减且代价上升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自发察觉时刻从未被作为基准量测量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；全部研究把预警设在绝对时距上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</a:tr>
              <a:tr h="422374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② 触发准则</a:t>
                      </a:r>
                    </a:p>
                  </a:txBody>
                  <a:tcPr marL="66675" marR="66675" marT="32385" marB="3238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算法侧四篇一致主张以运动学量而非固定秒数触发——同一 TTC 2 s 在 40 与 80 km/h 下制动威胁数相差一倍</a:t>
                      </a:r>
                    </a:p>
                  </a:txBody>
                  <a:tcPr marL="66675" marR="66675" marT="32385" marB="3238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准则类型</a:t>
                      </a: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从未被作为自变量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；人因侧零对照</a:t>
                      </a:r>
                    </a:p>
                  </a:txBody>
                  <a:tcPr marL="66675" marR="66675" marT="32385" marB="32385" anchor="t">
                    <a:noFill/>
                  </a:tcPr>
                </a:tc>
              </a:tr>
              <a:tr h="24824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③ 分层与级间间隔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产业实现的级间间隔落在 0.5–2.0 s 且随紧迫度单调缩短，其中 1.0 s 有双源支持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级间间隔</a:t>
                      </a: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无任何直接人因对照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；升级仲裁被普遍忽视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</a:tr>
              <a:tr h="24824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④ 持续与撤销</a:t>
                      </a:r>
                    </a:p>
                  </a:txBody>
                  <a:tcPr marL="66675" marR="66675" marT="32385" marB="3238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唯一可用的撤销规则是 2 : 1 滞环；理论上下界为不低于 500 ms、不高于 3 s</a:t>
                      </a:r>
                    </a:p>
                  </a:txBody>
                  <a:tcPr marL="66675" marR="66675" marT="32385" marB="3238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持续时长</a:t>
                      </a: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对照实验完全缺失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，报告率低于 15%；渐隐时长无文献支撑</a:t>
                      </a:r>
                    </a:p>
                  </a:txBody>
                  <a:tcPr marL="66675" marR="66675" marT="32385" marB="32385" anchor="t">
                    <a:noFill/>
                  </a:tcPr>
                </a:tc>
              </a:tr>
              <a:tr h="422374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⑤ 系统可靠性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低行动要求条件下 15% 误报加 15% 漏报</a:t>
                      </a: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对所有因变量无显著效应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；高行动要求条件下信任由 7.3 降至 4.3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可靠性与预警时机的</a:t>
                      </a: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交互从未被分离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</a:tr>
              <a:tr h="24824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⑥ 空间参照系</a:t>
                      </a:r>
                    </a:p>
                  </a:txBody>
                  <a:tcPr marL="66675" marR="66675" marT="32385" marB="3238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跟随目标锁定在定位效率上显著占优：首次注视 617 ms 对 2563／2730 ms</a:t>
                      </a:r>
                    </a:p>
                  </a:txBody>
                  <a:tcPr marL="66675" marR="66675" marT="32385" marB="3238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四种锁定的</a:t>
                      </a: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正交对照至今无一实现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；位置增益与共形增益未分离</a:t>
                      </a:r>
                    </a:p>
                  </a:txBody>
                  <a:tcPr marL="66675" marR="66675" marT="32385" marB="32385" anchor="t">
                    <a:noFill/>
                  </a:tcPr>
                </a:tc>
              </a:tr>
              <a:tr h="24824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⑦ 图形与动态编码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红与黄为日夜鲁棒色对、蓝紫不可用；不透明度四源收敛于 0.6–0.75；分级配色可缩短风险感知时间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「动态」</a:t>
                      </a: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从未被拆成量级映射与趋势映射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的正交设计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38150" y="3716387"/>
            <a:ext cx="11315700" cy="588764"/>
          </a:xfrm>
          <a:prstGeom prst="rect">
            <a:avLst/>
          </a:prstGeom>
          <a:solidFill>
            <a:srgbClr val="FF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438150" y="3716387"/>
            <a:ext cx="38100" cy="588764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1975" y="3802112"/>
            <a:ext cx="11106150" cy="4458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 i="0">
                <a:solidFill>
                  <a:srgbClr val="8A6A00"/>
                </a:solidFill>
                <a:latin typeface="Microsoft YaHei"/>
              </a:rPr>
              <a:t>格局判断：</a:t>
            </a:r>
            <a:r>
              <a:rPr sz="990" b="0" i="0">
                <a:solidFill>
                  <a:srgbClr val="6B5200"/>
                </a:solidFill>
                <a:latin typeface="Microsoft YaHei"/>
              </a:rPr>
              <a:t>针对「某一措施是否有效」的问题，文献多已给出方向一致的答案；针对「参数应取何值」的问题，直接证据普遍缺失。</a:t>
            </a:r>
            <a:r>
              <a:rPr sz="990" b="1" i="0">
                <a:solidFill>
                  <a:srgbClr val="8A6A00"/>
                </a:solidFill>
                <a:latin typeface="Microsoft YaHei"/>
              </a:rPr>
              <a:t>而上述七环节的全部结论都隐含同一前提——危险目标可见。</a:t>
            </a:r>
            <a:r>
              <a:rPr sz="990" b="0" i="0">
                <a:solidFill>
                  <a:srgbClr val="6B5200"/>
                </a:solidFill>
                <a:latin typeface="Microsoft YaHei"/>
              </a:rPr>
              <a:t>本课题的切入点即在于检验并突破这一前提。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7504" y="6562725"/>
            <a:ext cx="324445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研究现状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遮挡情境的六篇核心证据与一处三倍缺口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1355" y="209550"/>
            <a:ext cx="432494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26130" y="238125"/>
            <a:ext cx="26104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2 / 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150" y="762000"/>
          <a:ext cx="6479082" cy="35108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6587"/>
                <a:gridCol w="4081760"/>
                <a:gridCol w="1360735"/>
              </a:tblGrid>
              <a:tr h="23991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FFFFFF"/>
                          </a:solidFill>
                          <a:latin typeface="Microsoft YaHei"/>
                        </a:rPr>
                        <a:t>文献</a:t>
                      </a:r>
                    </a:p>
                  </a:txBody>
                  <a:tcPr marL="57150" marR="57150" marT="43815" marB="4381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FFFFFF"/>
                          </a:solidFill>
                          <a:latin typeface="Microsoft YaHei"/>
                        </a:rPr>
                        <a:t>遮挡设置与关键数值</a:t>
                      </a:r>
                    </a:p>
                  </a:txBody>
                  <a:tcPr marL="57150" marR="57150" marT="43815" marB="4381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FFFFFF"/>
                          </a:solidFill>
                          <a:latin typeface="Microsoft YaHei"/>
                        </a:rPr>
                        <a:t>证据等级</a:t>
                      </a:r>
                    </a:p>
                  </a:txBody>
                  <a:tcPr marL="57150" marR="57150" marT="43815" marB="43815" anchor="t">
                    <a:solidFill>
                      <a:srgbClr val="4472C4"/>
                    </a:solidFill>
                  </a:tcPr>
                </a:tc>
              </a:tr>
              <a:tr h="847873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Merenda 等</a:t>
                      </a:r>
                    </a:p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（2018）</a:t>
                      </a:r>
                    </a:p>
                  </a:txBody>
                  <a:tcPr marL="57150" marR="57150" marT="34290" marB="34290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唯一的实车「遮挡后横穿」范式。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事件区左右各停 3 辆同色货车；</a:t>
                      </a: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货车尾部悬挂黑布以阻止被试在行人步出前看到其双脚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；紧迫度三级 TTC 2／3／4 s。结果为一对</a:t>
                      </a: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双解离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：屏幕固定线索捕获快、引导慢；世界固定共形线索捕获慢、引导快，</a:t>
                      </a: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总定位时间无显著差异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。两条硬约束：与本车运动耦合的动画在 2 s TTC 下产生</a:t>
                      </a: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负的停车间隙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；</a:t>
                      </a: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17° 视场下近距侧方共形图形移出视场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。</a:t>
                      </a:r>
                    </a:p>
                  </a:txBody>
                  <a:tcPr marL="57150" marR="57150" marT="34290" marB="34290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 全文（实车）</a:t>
                      </a:r>
                    </a:p>
                  </a:txBody>
                  <a:tcPr marL="57150" marR="57150" marT="34290" marB="34290" anchor="t">
                    <a:solidFill>
                      <a:srgbClr val="FAFBFD"/>
                    </a:solidFill>
                  </a:tcPr>
                </a:tc>
              </a:tr>
              <a:tr h="406896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Zhang 等</a:t>
                      </a:r>
                    </a:p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（2024）</a:t>
                      </a:r>
                    </a:p>
                  </a:txBody>
                  <a:tcPr marL="57150" marR="57150" marT="34290" marB="34290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行人被路边公交车遮挡，路侧单元于 100 m 触发；</a:t>
                      </a:r>
                      <a:r>
                        <a:rPr sz="819" b="0" i="1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 = 34。</a:t>
                      </a: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提前 36.29／39.10 m、减速度绝对值降 3.45 m/s²、最小冲突距离 +9.41 m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；雾天放大优势。</a:t>
                      </a:r>
                    </a:p>
                  </a:txBody>
                  <a:tcPr marL="57150" marR="57150" marT="34290" marB="34290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 全文</a:t>
                      </a:r>
                    </a:p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唯一数值源</a:t>
                      </a:r>
                    </a:p>
                  </a:txBody>
                  <a:tcPr marL="57150" marR="57150" marT="34290" marB="34290" anchor="t">
                    <a:noFill/>
                  </a:tcPr>
                </a:tc>
              </a:tr>
              <a:tr h="542776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You 等</a:t>
                      </a:r>
                    </a:p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（2023）</a:t>
                      </a:r>
                    </a:p>
                  </a:txBody>
                  <a:tcPr marL="57150" marR="57150" marT="34290" marB="34290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以</a:t>
                      </a: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团队协同感知模型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设计「不可见危险」预警，报告情境意识与反应时在手动与自动两模式下均改善。</a:t>
                      </a: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零个数值，计时起止点未定义。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其真正贡献是揭示目标锁定在遮挡下不可实现。</a:t>
                      </a:r>
                    </a:p>
                  </a:txBody>
                  <a:tcPr marL="57150" marR="57150" marT="34290" marB="34290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 仅摘要</a:t>
                      </a:r>
                    </a:p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C00000"/>
                          </a:solidFill>
                          <a:latin typeface="Microsoft YaHei"/>
                        </a:rPr>
                        <a:t>禁引数值</a:t>
                      </a:r>
                    </a:p>
                  </a:txBody>
                  <a:tcPr marL="57150" marR="57150" marT="34290" marB="34290" anchor="t">
                    <a:solidFill>
                      <a:srgbClr val="FAFBFD"/>
                    </a:solidFill>
                  </a:tcPr>
                </a:tc>
              </a:tr>
              <a:tr h="542776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Chang 等</a:t>
                      </a:r>
                    </a:p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（2009）</a:t>
                      </a:r>
                    </a:p>
                  </a:txBody>
                  <a:tcPr marL="57150" marR="57150" marT="34290" marB="34290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交叉口公交—行人相互遮挡。预警须在</a:t>
                      </a: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碰撞点前 6.07 s（视觉）／6.28 s（语音）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发出；检测覆盖距路缘 7.1 m。收益形式为</a:t>
                      </a: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紧急减速率由 3.10–3.56 降至 2.77–3.18 m/s²，即制动平顺化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。</a:t>
                      </a:r>
                    </a:p>
                  </a:txBody>
                  <a:tcPr marL="57150" marR="57150" marT="34290" marB="34290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 全文</a:t>
                      </a:r>
                    </a:p>
                  </a:txBody>
                  <a:tcPr marL="57150" marR="57150" marT="34290" marB="34290" anchor="t">
                    <a:noFill/>
                  </a:tcPr>
                </a:tc>
              </a:tr>
              <a:tr h="387846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Kim 等</a:t>
                      </a:r>
                    </a:p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（2022）</a:t>
                      </a:r>
                    </a:p>
                  </a:txBody>
                  <a:tcPr marL="57150" marR="57150" marT="34290" marB="34290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路侧系统 + 车路协同实现</a:t>
                      </a: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非视距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行人预警。给出</a:t>
                      </a: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最低时间预算 1.66 s = 1.5 s 意图预测 + 0.16 s 制动响应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。</a:t>
                      </a:r>
                    </a:p>
                  </a:txBody>
                  <a:tcPr marL="57150" marR="57150" marT="34290" marB="34290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 全文</a:t>
                      </a:r>
                    </a:p>
                  </a:txBody>
                  <a:tcPr marL="57150" marR="57150" marT="34290" marB="34290" anchor="t">
                    <a:solidFill>
                      <a:srgbClr val="FAFBFD"/>
                    </a:solidFill>
                  </a:tcPr>
                </a:tc>
              </a:tr>
              <a:tr h="542776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Char</a:t>
                      </a:r>
                    </a:p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（2022）</a:t>
                      </a:r>
                    </a:p>
                  </a:txBody>
                  <a:tcPr marL="57150" marR="57150" marT="34290" marB="34290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3 700 余例事故重建。</a:t>
                      </a: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硬下界 1.5 s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；预警于 2 s 时制动反应 0.97 ± 0.31 s，于 1.7 s 时</a:t>
                      </a: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反增至 1.17 ± 0.24 s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；</a:t>
                      </a: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传感视场 70° + 预警 2.6 s + 反应 0.6 s 可正面影响 84% 行人事故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。反证：</a:t>
                      </a: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40–56% 被试认为 1.7／2 s 太晚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。</a:t>
                      </a:r>
                    </a:p>
                  </a:txBody>
                  <a:tcPr marL="57150" marR="57150" marT="34290" marB="34290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 博士论文</a:t>
                      </a:r>
                    </a:p>
                  </a:txBody>
                  <a:tcPr marL="57150" marR="57150" marT="34290" marB="34290" anchor="t">
                    <a:noFill/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088683" y="762000"/>
            <a:ext cx="4665166" cy="1642616"/>
          </a:xfrm>
          <a:prstGeom prst="roundRect">
            <a:avLst>
              <a:gd name="adj" fmla="val 4059"/>
            </a:avLst>
          </a:prstGeom>
          <a:solidFill>
            <a:srgbClr val="FEF6F6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222033" y="1095375"/>
            <a:ext cx="4398466" cy="9525"/>
          </a:xfrm>
          <a:prstGeom prst="rect">
            <a:avLst/>
          </a:prstGeom>
          <a:solidFill>
            <a:srgbClr val="F0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2033" y="857250"/>
            <a:ext cx="4436566" cy="238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C00000"/>
                </a:solidFill>
                <a:latin typeface="Microsoft YaHei"/>
              </a:rPr>
              <a:t>一处三倍缺口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2033" y="1162050"/>
            <a:ext cx="4436566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A1A1A"/>
                </a:solidFill>
                <a:latin typeface="Microsoft YaHei"/>
              </a:rPr>
              <a:t>车载意图预测可提供的安全缓冲仅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0.5–2.0 s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（查准 85.02%／查全 84.13%／F1 84.57%），而由制动动力学反推的遮挡场景需求为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6.07–6.28 s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2033" y="1655266"/>
            <a:ext cx="4436566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A1A1A"/>
                </a:solidFill>
                <a:latin typeface="Microsoft YaHei"/>
              </a:rPr>
              <a:t>判断：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仅依赖车载感知时，盲区预警在物理上无法达到人因所需提前量。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故盲区行人预警必须走车路协同路线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——这是由既有数值直接推出的工程结论，本课题将其作为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前置约束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而非研究发现。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8683" y="2471291"/>
            <a:ext cx="4665166" cy="1870174"/>
          </a:xfrm>
          <a:prstGeom prst="roundRect">
            <a:avLst>
              <a:gd name="adj" fmla="val 3565"/>
            </a:avLst>
          </a:prstGeom>
          <a:solidFill>
            <a:srgbClr val="FFFBF0"/>
          </a:solidFill>
          <a:ln w="9525">
            <a:solidFill>
              <a:srgbClr val="E0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222033" y="2804666"/>
            <a:ext cx="4398466" cy="9525"/>
          </a:xfrm>
          <a:prstGeom prst="rect">
            <a:avLst/>
          </a:prstGeom>
          <a:solidFill>
            <a:srgbClr val="F0E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2033" y="2566541"/>
            <a:ext cx="4436566" cy="238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9A6E00"/>
                </a:solidFill>
                <a:latin typeface="Microsoft YaHei"/>
              </a:rPr>
              <a:t>补检与证据纪律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2033" y="2871341"/>
            <a:ext cx="4436566" cy="69219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A1A1A"/>
                </a:solidFill>
                <a:latin typeface="Microsoft YaHei"/>
              </a:rPr>
              <a:t>另经联网补检新增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12 条题录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，含盲区 AR 可视化奠基文献（穿透式墙体显示，2012）、遮挡情境下参照系比较的唯一直接先例（</a:t>
            </a:r>
            <a:r>
              <a:rPr sz="1040" b="0" i="1">
                <a:solidFill>
                  <a:srgbClr val="1A1A1A"/>
                </a:solidFill>
                <a:latin typeface="Microsoft YaHei"/>
              </a:rPr>
              <a:t>N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 = 28）、遮挡比例与检出率退化曲线、遮挡在行人事故中的占比。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2033" y="3592115"/>
            <a:ext cx="4436566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C00000"/>
                </a:solidFill>
                <a:latin typeface="Microsoft YaHei"/>
              </a:rPr>
              <a:t>全部为题录级，一律不得作为数值依据。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其中参照系比较一篇的佩戴者是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行人而非驾驶员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；占比一条为新闻稿层级。四条占比数据的分母定义均须核验后方可引用。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67504" y="6562725"/>
            <a:ext cx="324445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问题的提出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盲区使既有结论的六项前提不成立，而非使效应量变小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1355" y="209550"/>
            <a:ext cx="432494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26130" y="238125"/>
            <a:ext cx="26104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3 / 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150" y="762000"/>
          <a:ext cx="11315698" cy="26411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26"/>
                <a:gridCol w="3620988"/>
                <a:gridCol w="4413051"/>
                <a:gridCol w="1697533"/>
              </a:tblGrid>
              <a:tr h="26670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FFFFFF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L="66675" marR="66675" marT="52387" marB="52387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FFFFFF"/>
                          </a:solidFill>
                          <a:latin typeface="Microsoft YaHei"/>
                        </a:rPr>
                        <a:t>既有结论的成立前提</a:t>
                      </a:r>
                    </a:p>
                  </a:txBody>
                  <a:tcPr marL="66675" marR="66675" marT="52387" marB="52387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FFFFFF"/>
                          </a:solidFill>
                          <a:latin typeface="Microsoft YaHei"/>
                        </a:rPr>
                        <a:t>盲区情境下的失效方式</a:t>
                      </a:r>
                    </a:p>
                  </a:txBody>
                  <a:tcPr marL="66675" marR="66675" marT="52387" marB="52387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FFFFFF"/>
                          </a:solidFill>
                          <a:latin typeface="Microsoft YaHei"/>
                        </a:rPr>
                        <a:t>出处</a:t>
                      </a:r>
                    </a:p>
                  </a:txBody>
                  <a:tcPr marL="66675" marR="66675" marT="52387" marB="52387" anchor="t">
                    <a:solidFill>
                      <a:srgbClr val="4472C4"/>
                    </a:solidFill>
                  </a:tcPr>
                </a:tc>
              </a:tr>
              <a:tr h="427136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BD-1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 零点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存在自发察觉时刻 </a:t>
                      </a:r>
                      <a:r>
                        <a:rPr sz="890" b="0" i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  <a:r>
                        <a:rPr sz="620" b="0" i="1" baseline="-25000">
                          <a:solidFill>
                            <a:srgbClr val="1A1A1A"/>
                          </a:solidFill>
                          <a:latin typeface="Microsoft YaHei"/>
                        </a:rPr>
                        <a:t>0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，可实测、可作提前量的零点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行人在显露前不可见，</a:t>
                      </a: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Scanning 无信号可采样，</a:t>
                      </a:r>
                      <a:r>
                        <a:rPr sz="890" b="1" i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  <a:r>
                        <a:rPr sz="620" b="1" i="1" baseline="-25000">
                          <a:solidFill>
                            <a:srgbClr val="1A1A1A"/>
                          </a:solidFill>
                          <a:latin typeface="Microsoft YaHei"/>
                        </a:rPr>
                        <a:t>0</a:t>
                      </a: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 在物理上不存在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；</a:t>
                      </a:r>
                      <a:r>
                        <a:rPr sz="890" b="0" i="1">
                          <a:solidFill>
                            <a:srgbClr val="1A1A1A"/>
                          </a:solidFill>
                          <a:latin typeface="Microsoft YaHei"/>
                        </a:rPr>
                        <a:t>Δt</a:t>
                      </a:r>
                      <a:r>
                        <a:rPr sz="890" b="0" i="1">
                          <a:solidFill>
                            <a:srgbClr val="1A1A1A"/>
                          </a:solidFill>
                          <a:latin typeface="Microsoft YaHei"/>
                        </a:rPr>
                        <a:t> = </a:t>
                      </a:r>
                      <a:r>
                        <a:rPr sz="890" b="0" i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  <a:r>
                        <a:rPr sz="620" b="0" i="1" baseline="-25000">
                          <a:solidFill>
                            <a:srgbClr val="1A1A1A"/>
                          </a:solidFill>
                          <a:latin typeface="Microsoft YaHei"/>
                        </a:rPr>
                        <a:t>0</a:t>
                      </a:r>
                      <a:r>
                        <a:rPr sz="890" b="0" i="1">
                          <a:solidFill>
                            <a:srgbClr val="1A1A1A"/>
                          </a:solidFill>
                          <a:latin typeface="Microsoft YaHei"/>
                        </a:rPr>
                        <a:t> − </a:t>
                      </a:r>
                      <a:r>
                        <a:rPr sz="890" b="0" i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  <a:r>
                        <a:rPr sz="620" b="0" i="1" baseline="-25000">
                          <a:solidFill>
                            <a:srgbClr val="1A1A1A"/>
                          </a:solidFill>
                          <a:latin typeface="Microsoft YaHei"/>
                        </a:rPr>
                        <a:t>warn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 无定义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You 等, 2023；Strayer 与 McDonnell, 2025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</a:tr>
              <a:tr h="422374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BD-2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 空间</a:t>
                      </a:r>
                    </a:p>
                  </a:txBody>
                  <a:tcPr marL="66675" marR="66675" marT="32385" marB="3238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目标可见，故跟随目标锁定可实现且最优（首次注视 2730 → 617 ms）</a:t>
                      </a:r>
                    </a:p>
                  </a:txBody>
                  <a:tcPr marL="66675" marR="66675" marT="32385" marB="3238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严格的目标锁定物理不可实现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：或锚定遮挡物表面（此时锚的是遮挡物），或穿透绘制（引入深度歧义）；</a:t>
                      </a: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候选集本身改变</a:t>
                      </a:r>
                    </a:p>
                  </a:txBody>
                  <a:tcPr marL="66675" marR="66675" marT="32385" marB="3238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You 等, 2023 揭示 Wu 等, 2024 的边界</a:t>
                      </a:r>
                    </a:p>
                  </a:txBody>
                  <a:tcPr marL="66675" marR="66675" marT="32385" marB="32385" anchor="t">
                    <a:noFill/>
                  </a:tcPr>
                </a:tc>
              </a:tr>
              <a:tr h="422374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BD-3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 上界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提前量上界由</a:t>
                      </a: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人因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（虚警代价、认知窗口）决定，可由界面设计缓解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上界由</a:t>
                      </a: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传感器能否看见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决定：最低预算 1.66 s、意图预测缓冲 0.5–2.0 s，远小于 6.07–6.28 s 的需求。</a:t>
                      </a: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任何界面设计都无法补偿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Kim 等, 2022；Cangut 等, 2026；Chang 等, 2009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</a:tr>
              <a:tr h="431899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BD-4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 信任</a:t>
                      </a:r>
                    </a:p>
                  </a:txBody>
                  <a:tcPr marL="66675" marR="66675" marT="32385" marB="3238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驾驶员可核验预警真伪，信任由「与自身判断是否吻合」建立</a:t>
                      </a:r>
                    </a:p>
                  </a:txBody>
                  <a:tcPr marL="66675" marR="66675" marT="32385" marB="3238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无从核验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：信任只能依赖长期可靠性经验；「晚报警 → 信任 7.3 降至 4.3、</a:t>
                      </a:r>
                      <a:r>
                        <a:rPr sz="890" b="0" i="1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 = −0.46」的机制在此不适用</a:t>
                      </a:r>
                    </a:p>
                  </a:txBody>
                  <a:tcPr marL="66675" marR="66675" marT="32385" marB="3238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Abe 与 Richardson, 2006；You 等, 2023</a:t>
                      </a:r>
                    </a:p>
                  </a:txBody>
                  <a:tcPr marL="66675" marR="66675" marT="32385" marB="32385" anchor="t">
                    <a:noFill/>
                  </a:tcPr>
                </a:tc>
              </a:tr>
              <a:tr h="24824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BD-5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 视场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共形图形可稳定贴合于目标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17° 视场下近距侧方共形图形移出视场而彻底失效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；遮挡后横穿恰是近距侧方构型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Merenda 等, 2018</a:t>
                      </a:r>
                    </a:p>
                  </a:txBody>
                  <a:tcPr marL="66675" marR="66675" marT="32385" marB="32385" anchor="t">
                    <a:solidFill>
                      <a:srgbClr val="FAFBFD"/>
                    </a:solidFill>
                  </a:tcPr>
                </a:tc>
              </a:tr>
              <a:tr h="422374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BD-6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 理论</a:t>
                      </a:r>
                    </a:p>
                  </a:txBody>
                  <a:tcPr marL="66675" marR="66675" marT="32385" marB="3238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可由光学膨胀率 </a:t>
                      </a:r>
                      <a:r>
                        <a:rPr sz="890" b="0" i="1">
                          <a:solidFill>
                            <a:srgbClr val="1A1A1A"/>
                          </a:solidFill>
                          <a:latin typeface="Microsoft YaHei"/>
                        </a:rPr>
                        <a:t>dθ</a:t>
                      </a:r>
                      <a:r>
                        <a:rPr sz="890" b="0" i="1">
                          <a:solidFill>
                            <a:srgbClr val="1A1A1A"/>
                          </a:solidFill>
                          <a:latin typeface="Microsoft YaHei"/>
                        </a:rPr>
                        <a:t>/</a:t>
                      </a:r>
                      <a:r>
                        <a:rPr sz="890" b="0" i="1">
                          <a:solidFill>
                            <a:srgbClr val="1A1A1A"/>
                          </a:solidFill>
                          <a:latin typeface="Microsoft YaHei"/>
                        </a:rPr>
                        <a:t>dt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 越过知觉阈值反推 </a:t>
                      </a:r>
                      <a:r>
                        <a:rPr sz="890" b="0" i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  <a:r>
                        <a:rPr sz="620" b="0" i="1" baseline="-25000">
                          <a:solidFill>
                            <a:srgbClr val="1A1A1A"/>
                          </a:solidFill>
                          <a:latin typeface="Microsoft YaHei"/>
                        </a:rPr>
                        <a:t>0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 下界（60 km/h 约 3.2 s）</a:t>
                      </a:r>
                    </a:p>
                  </a:txBody>
                  <a:tcPr marL="66675" marR="66675" marT="32385" marB="3238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膨胀率的时间原点被遮挡截断</a:t>
                      </a: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：序列自显露时刻起才存在，下界推导须以新零点重做</a:t>
                      </a:r>
                    </a:p>
                  </a:txBody>
                  <a:tcPr marL="66675" marR="66675" marT="32385" marB="32385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本研究推导，依已发表场景几何</a:t>
                      </a:r>
                    </a:p>
                  </a:txBody>
                  <a:tcPr marL="66675" marR="66675" marT="32385" marB="32385" anchor="t"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38150" y="3512641"/>
            <a:ext cx="11315700" cy="588764"/>
          </a:xfrm>
          <a:prstGeom prst="rect">
            <a:avLst/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38150" y="3512641"/>
            <a:ext cx="38100" cy="5887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1975" y="3598366"/>
            <a:ext cx="11106150" cy="4458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 i="0">
                <a:solidFill>
                  <a:srgbClr val="7A1F1F"/>
                </a:solidFill>
                <a:latin typeface="Microsoft YaHei"/>
              </a:rPr>
              <a:t>由此确立选题的逻辑：</a:t>
            </a:r>
            <a:r>
              <a:rPr sz="990" b="0" i="0">
                <a:solidFill>
                  <a:srgbClr val="7A1F1F"/>
                </a:solidFill>
                <a:latin typeface="Microsoft YaHei"/>
              </a:rPr>
              <a:t>六条并非「盲区条件下效应变弱」，而是「参数化本身失效」。若仅是效应变弱，盲区可作既有研究的</a:t>
            </a:r>
            <a:r>
              <a:rPr sz="990" b="1" i="0">
                <a:solidFill>
                  <a:srgbClr val="7A1F1F"/>
                </a:solidFill>
                <a:latin typeface="Microsoft YaHei"/>
              </a:rPr>
              <a:t>一个附加水平</a:t>
            </a:r>
            <a:r>
              <a:rPr sz="990" b="0" i="0">
                <a:solidFill>
                  <a:srgbClr val="7A1F1F"/>
                </a:solidFill>
                <a:latin typeface="Microsoft YaHei"/>
              </a:rPr>
              <a:t>处理；既是前提不成立，就</a:t>
            </a:r>
            <a:r>
              <a:rPr sz="990" b="1" i="0">
                <a:solidFill>
                  <a:srgbClr val="7A1F1F"/>
                </a:solidFill>
                <a:latin typeface="Microsoft YaHei"/>
              </a:rPr>
              <a:t>必须另立一项研究并重建参数化基础</a:t>
            </a:r>
            <a:r>
              <a:rPr sz="990" b="0" i="0">
                <a:solidFill>
                  <a:srgbClr val="7A1F1F"/>
                </a:solidFill>
                <a:latin typeface="Microsoft YaHei"/>
              </a:rPr>
              <a:t>。六条的逻辑结构为：BD-1 为根本，BD-3 与 BD-4 为独立约束，BD-2 与 BD-5 为空间侧叠加，BD-6 为 BD-1 的理论侧后果。</a:t>
            </a:r>
            <a:r>
              <a:rPr sz="990" b="1" i="0">
                <a:solidFill>
                  <a:srgbClr val="7A1F1F"/>
                </a:solidFill>
                <a:latin typeface="Microsoft YaHei"/>
              </a:rPr>
              <a:t>此判断本身可被否证</a:t>
            </a:r>
            <a:r>
              <a:rPr sz="990" b="0" i="0">
                <a:solidFill>
                  <a:srgbClr val="7A1F1F"/>
                </a:solidFill>
                <a:latin typeface="Microsoft YaHei"/>
              </a:rPr>
              <a:t>——见创新点第一条与预测 P6′。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7504" y="6562725"/>
            <a:ext cx="324445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研究目标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总目标、四项分目标与三个研究问题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1355" y="209550"/>
            <a:ext cx="432494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26130" y="238125"/>
            <a:ext cx="26104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4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150" y="762000"/>
            <a:ext cx="11315700" cy="922139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38150" y="762000"/>
            <a:ext cx="38100" cy="922139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1025" y="866775"/>
            <a:ext cx="11068050" cy="7411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>
                <a:solidFill>
                  <a:srgbClr val="2F528F"/>
                </a:solidFill>
                <a:latin typeface="Microsoft YaHei"/>
              </a:rPr>
              <a:t>总目标：</a:t>
            </a:r>
            <a:r>
              <a:rPr sz="1090" b="0" i="0">
                <a:solidFill>
                  <a:srgbClr val="2F528F"/>
                </a:solidFill>
                <a:latin typeface="Microsoft YaHei"/>
              </a:rPr>
              <a:t>以驾驶员</a:t>
            </a:r>
            <a:r>
              <a:rPr sz="1090" b="1" i="0">
                <a:solidFill>
                  <a:srgbClr val="2F528F"/>
                </a:solidFill>
                <a:latin typeface="Microsoft YaHei"/>
              </a:rPr>
              <a:t>情境意识模型</a:t>
            </a:r>
            <a:r>
              <a:rPr sz="1090" b="0" i="0">
                <a:solidFill>
                  <a:srgbClr val="2F528F"/>
                </a:solidFill>
                <a:latin typeface="Microsoft YaHei"/>
              </a:rPr>
              <a:t>与</a:t>
            </a:r>
            <a:r>
              <a:rPr sz="1090" b="1" i="0">
                <a:solidFill>
                  <a:srgbClr val="2F528F"/>
                </a:solidFill>
                <a:latin typeface="Microsoft YaHei"/>
              </a:rPr>
              <a:t>注意加工阶段理论</a:t>
            </a:r>
            <a:r>
              <a:rPr sz="1090" b="0" i="0">
                <a:solidFill>
                  <a:srgbClr val="2F528F"/>
                </a:solidFill>
                <a:latin typeface="Microsoft YaHei"/>
              </a:rPr>
              <a:t>为理论基础，围绕</a:t>
            </a:r>
            <a:r>
              <a:rPr sz="1090" b="1" i="0">
                <a:solidFill>
                  <a:srgbClr val="2F528F"/>
                </a:solidFill>
                <a:latin typeface="Microsoft YaHei"/>
              </a:rPr>
              <a:t>视线可见性</a:t>
            </a:r>
            <a:r>
              <a:rPr sz="1090" b="0" i="0">
                <a:solidFill>
                  <a:srgbClr val="2F528F"/>
                </a:solidFill>
                <a:latin typeface="Microsoft YaHei"/>
              </a:rPr>
              <a:t>这一情境变量，探索 AR-HUD 行人预警时空参数与驾驶员</a:t>
            </a:r>
            <a:r>
              <a:rPr sz="1090" b="1" i="0">
                <a:solidFill>
                  <a:srgbClr val="2F528F"/>
                </a:solidFill>
                <a:latin typeface="Microsoft YaHei"/>
              </a:rPr>
              <a:t>安全绩效、认知负荷、情境意识及用户体验</a:t>
            </a:r>
            <a:r>
              <a:rPr sz="1090" b="0" i="0">
                <a:solidFill>
                  <a:srgbClr val="2F528F"/>
                </a:solidFill>
                <a:latin typeface="Microsoft YaHei"/>
              </a:rPr>
              <a:t>四类构念的关系，</a:t>
            </a:r>
            <a:r>
              <a:rPr sz="1090" b="1" i="0">
                <a:solidFill>
                  <a:srgbClr val="2F528F"/>
                </a:solidFill>
                <a:latin typeface="Microsoft YaHei"/>
              </a:rPr>
              <a:t>输出两套可检验、可复现的时空参数设计标准</a:t>
            </a:r>
            <a:r>
              <a:rPr sz="1090" b="0" i="0">
                <a:solidFill>
                  <a:srgbClr val="2F528F"/>
                </a:solidFill>
                <a:latin typeface="Microsoft YaHei"/>
              </a:rPr>
              <a:t>，并</a:t>
            </a:r>
            <a:r>
              <a:rPr sz="1090" b="1" i="0">
                <a:solidFill>
                  <a:srgbClr val="2F528F"/>
                </a:solidFill>
                <a:latin typeface="Microsoft YaHei"/>
              </a:rPr>
              <a:t>直接实测两套参数之间的迁移损失</a:t>
            </a:r>
            <a:r>
              <a:rPr sz="1090" b="0" i="0">
                <a:solidFill>
                  <a:srgbClr val="2F528F"/>
                </a:solidFill>
                <a:latin typeface="Microsoft YaHei"/>
              </a:rPr>
              <a:t>，据此判定参数是否须情境自适应。</a:t>
            </a:r>
          </a:p>
          <a:p>
            <a:pPr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>
                <a:solidFill>
                  <a:srgbClr val="2F528F"/>
                </a:solidFill>
                <a:latin typeface="Microsoft YaHei"/>
              </a:rPr>
              <a:t>四项分目标：O1′</a:t>
            </a:r>
            <a:r>
              <a:rPr sz="1090" b="0" i="0">
                <a:solidFill>
                  <a:srgbClr val="2F528F"/>
                </a:solidFill>
                <a:latin typeface="Microsoft YaHei"/>
              </a:rPr>
              <a:t> 双情境零点的同批标定（实验 1）；</a:t>
            </a:r>
            <a:r>
              <a:rPr sz="1090" b="1" i="0">
                <a:solidFill>
                  <a:srgbClr val="2F528F"/>
                </a:solidFill>
                <a:latin typeface="Microsoft YaHei"/>
              </a:rPr>
              <a:t>O2′</a:t>
            </a:r>
            <a:r>
              <a:rPr sz="1090" b="0" i="0">
                <a:solidFill>
                  <a:srgbClr val="2F528F"/>
                </a:solidFill>
                <a:latin typeface="Microsoft YaHei"/>
              </a:rPr>
              <a:t> 非盲区时空参数标定（RQ1′）；</a:t>
            </a:r>
            <a:r>
              <a:rPr sz="1090" b="1" i="0">
                <a:solidFill>
                  <a:srgbClr val="2F528F"/>
                </a:solidFill>
                <a:latin typeface="Microsoft YaHei"/>
              </a:rPr>
              <a:t>O3′</a:t>
            </a:r>
            <a:r>
              <a:rPr sz="1090" b="0" i="0">
                <a:solidFill>
                  <a:srgbClr val="2F528F"/>
                </a:solidFill>
                <a:latin typeface="Microsoft YaHei"/>
              </a:rPr>
              <a:t> 盲区零点重建与时空参数标定（RQ2′）；</a:t>
            </a:r>
            <a:r>
              <a:rPr sz="1090" b="1" i="0">
                <a:solidFill>
                  <a:srgbClr val="2F528F"/>
                </a:solidFill>
                <a:latin typeface="Microsoft YaHei"/>
              </a:rPr>
              <a:t>O4′</a:t>
            </a:r>
            <a:r>
              <a:rPr sz="1090" b="0" i="0">
                <a:solidFill>
                  <a:srgbClr val="2F528F"/>
                </a:solidFill>
                <a:latin typeface="Microsoft YaHei"/>
              </a:rPr>
              <a:t> 迁移损失估计与切换判据输出（RQ3′）。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" y="1788914"/>
            <a:ext cx="3689300" cy="3558182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81025" y="2160389"/>
            <a:ext cx="3403550" cy="9525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1025" y="1912739"/>
            <a:ext cx="3441650" cy="238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F528F"/>
                </a:solidFill>
                <a:latin typeface="Microsoft YaHei"/>
              </a:rPr>
              <a:t>RQ1′ / O2′ 非盲区情境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2246114"/>
            <a:ext cx="3374975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时间参数：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预警相对自发察觉时刻应提前多少？触发准则用固定时间阈值还是减速度归一化量？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2701230"/>
            <a:ext cx="3374975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空间参数：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预警应锁定屏幕、道路冲突点、行人目标还是复合？该优劣序是否随背景视觉复杂度与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次任务负荷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变化？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3374380"/>
            <a:ext cx="3374975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产出：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提前量与触发准则的可行区间；锁定策略的推荐序，且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位置增益与共形增益分离报告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3829496"/>
            <a:ext cx="3374975" cy="246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实验 2、实验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275" y="1788914"/>
            <a:ext cx="3689300" cy="3558182"/>
          </a:xfrm>
          <a:prstGeom prst="roundRect">
            <a:avLst>
              <a:gd name="adj" fmla="val 1873"/>
            </a:avLst>
          </a:prstGeom>
          <a:solidFill>
            <a:srgbClr val="FAF7FD"/>
          </a:solidFill>
          <a:ln w="9525">
            <a:solidFill>
              <a:srgbClr val="7B5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94150" y="2160389"/>
            <a:ext cx="3403550" cy="9525"/>
          </a:xfrm>
          <a:prstGeom prst="rect">
            <a:avLst/>
          </a:prstGeom>
          <a:solidFill>
            <a:srgbClr val="E4D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94150" y="1912739"/>
            <a:ext cx="3441650" cy="238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7B5EA7"/>
                </a:solidFill>
                <a:latin typeface="Microsoft YaHei"/>
              </a:rPr>
              <a:t>RQ2′ / O3′ 盲区情境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0825" y="2246114"/>
            <a:ext cx="3374975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零点重建：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以行人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自然显露时刻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替代自发察觉时刻，并给出解析式。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0825" y="2701230"/>
            <a:ext cx="3374975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时间参数：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相对显露时刻应提前多少？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预告区段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是否有独立价值？可靠性如何调节？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0825" y="3156346"/>
            <a:ext cx="3374975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空间参数：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目标锁定不可实现时应锚定于何处？最优解是否随遮挡几何变化？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0825" y="3611463"/>
            <a:ext cx="3374975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产出：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盲区提前量区间；分层语义分化规则；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「遮挡几何 × 可用视场 → 推荐锚定」查表式规范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0825" y="4066579"/>
            <a:ext cx="3374975" cy="246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实验 4、实验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4400" y="1788914"/>
            <a:ext cx="3689449" cy="3558182"/>
          </a:xfrm>
          <a:prstGeom prst="roundRect">
            <a:avLst>
              <a:gd name="adj" fmla="val 1873"/>
            </a:avLst>
          </a:prstGeom>
          <a:solidFill>
            <a:srgbClr val="FFFBF0"/>
          </a:solidFill>
          <a:ln w="9525">
            <a:solidFill>
              <a:srgbClr val="E0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207275" y="2160389"/>
            <a:ext cx="3403699" cy="9525"/>
          </a:xfrm>
          <a:prstGeom prst="rect">
            <a:avLst/>
          </a:prstGeom>
          <a:solidFill>
            <a:srgbClr val="F0E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7275" y="1912739"/>
            <a:ext cx="3441799" cy="238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9A6E00"/>
                </a:solidFill>
                <a:latin typeface="Microsoft YaHei"/>
              </a:rPr>
              <a:t>RQ3′ / O4′ 跨情境迁移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3950" y="2246114"/>
            <a:ext cx="3375124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迁移损失：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把一情境入选方案施用于另一情境，估计双向绩效损失的点估计与 95% 置信区间。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3950" y="2701230"/>
            <a:ext cx="3375124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切换判据：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若需情境自适应，给出以可见性判别为输入的切换条件。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3950" y="3156346"/>
            <a:ext cx="3375124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自我否证：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若迁移损失不显著，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本研究的情境切分不成立，应退回单情境处理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——该零结果照实报告并视为有效贡献。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3950" y="3829496"/>
            <a:ext cx="3375124" cy="246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交叉迁移区块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（嵌入实验 3 与实验 5）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150" y="5451871"/>
            <a:ext cx="11315700" cy="1006078"/>
          </a:xfrm>
          <a:prstGeom prst="rect">
            <a:avLst/>
          </a:prstGeom>
          <a:solidFill>
            <a:srgbClr val="F2F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38150" y="5451871"/>
            <a:ext cx="38100" cy="1006078"/>
          </a:xfrm>
          <a:prstGeom prst="rect">
            <a:avLst/>
          </a:prstGeom>
          <a:solidFill>
            <a:srgbClr val="3E7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1975" y="5537596"/>
            <a:ext cx="11106150" cy="86320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 i="0">
                <a:solidFill>
                  <a:srgbClr val="1F5A1F"/>
                </a:solidFill>
                <a:latin typeface="Microsoft YaHei"/>
              </a:rPr>
              <a:t>共用前提——实验 1（双情境标定）：</a:t>
            </a:r>
            <a:r>
              <a:rPr sz="990" b="0" i="0">
                <a:solidFill>
                  <a:srgbClr val="1F5A1F"/>
                </a:solidFill>
                <a:latin typeface="Microsoft YaHei"/>
              </a:rPr>
              <a:t>以「情境（非盲区／盲区）× 车速（40／60 km/h）」四单元、无 AR 预警条件，</a:t>
            </a:r>
            <a:r>
              <a:rPr sz="990" b="1" i="0">
                <a:solidFill>
                  <a:srgbClr val="1F5A1F"/>
                </a:solidFill>
                <a:latin typeface="Microsoft YaHei"/>
              </a:rPr>
              <a:t>在同一批被试与同一场景族内同时标定两个零点</a:t>
            </a:r>
            <a:r>
              <a:rPr sz="990" b="0" i="0">
                <a:solidFill>
                  <a:srgbClr val="1F5A1F"/>
                </a:solidFill>
                <a:latin typeface="Microsoft YaHei"/>
              </a:rPr>
              <a:t>：非盲区的自发察觉时刻分布，盲区的显露时刻几何验证与显露后感知反应时；另产出反应时分位数、舒适减速度、零点时刻的制动威胁数、系统渲染延迟与方差成分。</a:t>
            </a:r>
            <a:r>
              <a:rPr sz="990" b="1" i="0">
                <a:solidFill>
                  <a:srgbClr val="1F5A1F"/>
                </a:solidFill>
                <a:latin typeface="Microsoft YaHei"/>
              </a:rPr>
              <a:t>一个实验同时定出两个零点，是两套参数可比的前提</a:t>
            </a:r>
            <a:r>
              <a:rPr sz="990" b="0" i="0">
                <a:solidFill>
                  <a:srgbClr val="1F5A1F"/>
                </a:solidFill>
                <a:latin typeface="Microsoft YaHei"/>
              </a:rPr>
              <a:t>（即 </a:t>
            </a:r>
            <a:r>
              <a:rPr sz="990" b="1" i="0">
                <a:solidFill>
                  <a:srgbClr val="1F5A1F"/>
                </a:solidFill>
                <a:latin typeface="Microsoft YaHei"/>
              </a:rPr>
              <a:t>O1′</a:t>
            </a:r>
            <a:r>
              <a:rPr sz="990" b="0" i="0">
                <a:solidFill>
                  <a:srgbClr val="1F5A1F"/>
                </a:solidFill>
                <a:latin typeface="Microsoft YaHei"/>
              </a:rPr>
              <a:t>）。</a:t>
            </a:r>
            <a:r>
              <a:rPr sz="990" b="1" i="0">
                <a:solidFill>
                  <a:srgbClr val="1F5A1F"/>
                </a:solidFill>
                <a:latin typeface="Microsoft YaHei"/>
              </a:rPr>
              <a:t> 因变量口径：</a:t>
            </a:r>
            <a:r>
              <a:rPr sz="990" b="0" i="0">
                <a:solidFill>
                  <a:srgbClr val="1F5A1F"/>
                </a:solidFill>
                <a:latin typeface="Microsoft YaHei"/>
              </a:rPr>
              <a:t>两情境共用四类构念——</a:t>
            </a:r>
            <a:r>
              <a:rPr sz="990" b="1" i="0">
                <a:solidFill>
                  <a:srgbClr val="1F5A1F"/>
                </a:solidFill>
                <a:latin typeface="Microsoft YaHei"/>
              </a:rPr>
              <a:t>安全绩效</a:t>
            </a:r>
            <a:r>
              <a:rPr sz="990" b="0" i="0">
                <a:solidFill>
                  <a:srgbClr val="1F5A1F"/>
                </a:solidFill>
                <a:latin typeface="Microsoft YaHei"/>
              </a:rPr>
              <a:t>（最小 TTMD、峰值减速度、碰撞率）、</a:t>
            </a:r>
            <a:r>
              <a:rPr sz="990" b="1" i="0">
                <a:solidFill>
                  <a:srgbClr val="1F5A1F"/>
                </a:solidFill>
                <a:latin typeface="Microsoft YaHei"/>
              </a:rPr>
              <a:t>认知负荷</a:t>
            </a:r>
            <a:r>
              <a:rPr sz="990" b="0" i="0">
                <a:solidFill>
                  <a:srgbClr val="1F5A1F"/>
                </a:solidFill>
                <a:latin typeface="Microsoft YaHei"/>
              </a:rPr>
              <a:t>（NASA-TLX、瞳孔变化率、注视熵）、</a:t>
            </a:r>
            <a:r>
              <a:rPr sz="990" b="1" i="0">
                <a:solidFill>
                  <a:srgbClr val="1F5A1F"/>
                </a:solidFill>
                <a:latin typeface="Microsoft YaHei"/>
              </a:rPr>
              <a:t>情境意识</a:t>
            </a:r>
            <a:r>
              <a:rPr sz="990" b="0" i="0">
                <a:solidFill>
                  <a:srgbClr val="1F5A1F"/>
                </a:solidFill>
                <a:latin typeface="Microsoft YaHei"/>
              </a:rPr>
              <a:t>（三阶段计分、</a:t>
            </a:r>
            <a:r>
              <a:rPr sz="990" b="1" i="0">
                <a:solidFill>
                  <a:srgbClr val="1F5A1F"/>
                </a:solidFill>
                <a:latin typeface="Microsoft YaHei"/>
              </a:rPr>
              <a:t>漏检率</a:t>
            </a:r>
            <a:r>
              <a:rPr sz="990" b="0" i="0">
                <a:solidFill>
                  <a:srgbClr val="1F5A1F"/>
                </a:solidFill>
                <a:latin typeface="Microsoft YaHei"/>
              </a:rPr>
              <a:t>为并列主要终点、首次注视时间、预期性注视）、</a:t>
            </a:r>
            <a:r>
              <a:rPr sz="990" b="1" i="0">
                <a:solidFill>
                  <a:srgbClr val="1F5A1F"/>
                </a:solidFill>
                <a:latin typeface="Microsoft YaHei"/>
              </a:rPr>
              <a:t>用户体验</a:t>
            </a:r>
            <a:r>
              <a:rPr sz="990" b="0" i="0">
                <a:solidFill>
                  <a:srgbClr val="1F5A1F"/>
                </a:solidFill>
                <a:latin typeface="Microsoft YaHei"/>
              </a:rPr>
              <a:t>（信任、可接受度、扰烦度）；情境意识单列而不并入认知负荷，因二者可解离。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67504" y="6562725"/>
            <a:ext cx="324445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核心理论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预告区段：盲区把注意加工的五阶段强制拆成两段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1355" y="209550"/>
            <a:ext cx="432494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26130" y="238125"/>
            <a:ext cx="26104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5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150" y="781050"/>
            <a:ext cx="11353800" cy="2190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2F528F"/>
                </a:solidFill>
                <a:latin typeface="Microsoft YaHei"/>
              </a:rPr>
              <a:t>非盲区情境：预警到冲突为</a:t>
            </a:r>
            <a:r>
              <a:rPr sz="1010" b="1" i="0">
                <a:solidFill>
                  <a:srgbClr val="2F528F"/>
                </a:solidFill>
                <a:latin typeface="Microsoft YaHei"/>
              </a:rPr>
              <a:t>单一连续加工段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150" y="1028700"/>
            <a:ext cx="11315700" cy="419100"/>
          </a:xfrm>
          <a:prstGeom prst="roundRect">
            <a:avLst>
              <a:gd name="adj" fmla="val 11363"/>
            </a:avLst>
          </a:prstGeom>
          <a:noFill/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47675" y="1038225"/>
            <a:ext cx="2937123" cy="40005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4825" y="1038225"/>
            <a:ext cx="2860923" cy="428625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6B6B6B"/>
                </a:solidFill>
                <a:latin typeface="Microsoft YaHei"/>
              </a:rPr>
              <a:t>预警前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6B6B6B"/>
                </a:solidFill>
                <a:latin typeface="Microsoft YaHei"/>
              </a:rPr>
              <a:t>尚未获得任何提示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" name="Rectangle 9"/>
          <p:cNvSpPr/>
          <p:nvPr/>
        </p:nvSpPr>
        <p:spPr>
          <a:xfrm>
            <a:off x="3384798" y="1038225"/>
            <a:ext cx="2711053" cy="400050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450109" y="993576"/>
            <a:ext cx="637579" cy="200025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2F528F"/>
                </a:solidFill>
                <a:latin typeface="Microsoft YaHei"/>
              </a:rPr>
              <a:t>相对提前量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3472" y="1182737"/>
            <a:ext cx="151655" cy="1596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1">
                <a:solidFill>
                  <a:srgbClr val="2F528F"/>
                </a:solidFill>
                <a:latin typeface="Microsoft YaHei"/>
              </a:rPr>
              <a:t>Δt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5702" y="1332904"/>
            <a:ext cx="1607343" cy="1596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2F528F"/>
                </a:solidFill>
                <a:latin typeface="Microsoft YaHei"/>
              </a:rPr>
              <a:t>Scanning 已可启动：行人本就可见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51" y="1038225"/>
            <a:ext cx="5648473" cy="400050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53001" y="1038225"/>
            <a:ext cx="5572273" cy="428625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2F528F"/>
                </a:solidFill>
                <a:latin typeface="Microsoft YaHei"/>
              </a:rPr>
              <a:t>S · P · I · D · E 在同一连续区段内完成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2F528F"/>
                </a:solidFill>
                <a:latin typeface="Microsoft YaHei"/>
              </a:rPr>
              <a:t>预警的作用是</a:t>
            </a:r>
            <a:r>
              <a:rPr sz="790" b="1" i="0">
                <a:solidFill>
                  <a:srgbClr val="2F528F"/>
                </a:solidFill>
                <a:latin typeface="Microsoft YaHei"/>
              </a:rPr>
              <a:t>加速</a:t>
            </a:r>
            <a:r>
              <a:rPr sz="790" b="1" i="0">
                <a:solidFill>
                  <a:srgbClr val="2F528F"/>
                </a:solidFill>
                <a:latin typeface="Microsoft YaHei"/>
              </a:rPr>
              <a:t>一条本已存在的加工链条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95300" y="1476375"/>
            <a:ext cx="2922984" cy="2531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96900"/>
              </a:lnSpc>
              <a:spcBef>
                <a:spcPts val="0"/>
              </a:spcBef>
              <a:spcAft>
                <a:spcPts val="0"/>
              </a:spcAft>
            </a:pPr>
            <a:r>
              <a:rPr sz="520" b="0" i="0">
                <a:solidFill>
                  <a:srgbClr val="B4B4B4"/>
                </a:solidFill>
                <a:latin typeface="Microsoft YaHei"/>
              </a:rPr>
              <a:t>▲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8C8C8C"/>
                </a:solidFill>
                <a:latin typeface="Microsoft YaHei"/>
              </a:rPr>
              <a:t>t</a:t>
            </a:r>
            <a:r>
              <a:rPr sz="660" b="0" i="0" baseline="-25000">
                <a:solidFill>
                  <a:srgbClr val="8C8C8C"/>
                </a:solidFill>
                <a:latin typeface="Microsoft YaHei"/>
              </a:rPr>
              <a:t>warn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7334" y="1476375"/>
            <a:ext cx="2696616" cy="2531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96900"/>
              </a:lnSpc>
              <a:spcBef>
                <a:spcPts val="0"/>
              </a:spcBef>
              <a:spcAft>
                <a:spcPts val="0"/>
              </a:spcAft>
            </a:pPr>
            <a:r>
              <a:rPr sz="520" b="0" i="0">
                <a:solidFill>
                  <a:srgbClr val="B4B4B4"/>
                </a:solidFill>
                <a:latin typeface="Microsoft YaHei"/>
              </a:rPr>
              <a:t>▲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8C8C8C"/>
                </a:solidFill>
                <a:latin typeface="Microsoft YaHei"/>
              </a:rPr>
              <a:t>t</a:t>
            </a:r>
            <a:r>
              <a:rPr sz="660" b="0" i="0" baseline="-25000">
                <a:solidFill>
                  <a:srgbClr val="8C8C8C"/>
                </a:solidFill>
                <a:latin typeface="Microsoft YaHei"/>
              </a:rPr>
              <a:t>0</a:t>
            </a:r>
            <a:r>
              <a:rPr sz="790" b="0" i="0">
                <a:solidFill>
                  <a:srgbClr val="8C8C8C"/>
                </a:solidFill>
                <a:latin typeface="Microsoft YaHei"/>
              </a:rPr>
              <a:t>（自发察觉，须实测）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001" y="1476375"/>
            <a:ext cx="5638948" cy="2531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96900"/>
              </a:lnSpc>
              <a:spcBef>
                <a:spcPts val="0"/>
              </a:spcBef>
              <a:spcAft>
                <a:spcPts val="0"/>
              </a:spcAft>
            </a:pPr>
            <a:r>
              <a:rPr sz="520" b="0" i="0">
                <a:solidFill>
                  <a:srgbClr val="B4B4B4"/>
                </a:solidFill>
                <a:latin typeface="Microsoft YaHei"/>
              </a:rPr>
              <a:t>▲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8C8C8C"/>
                </a:solidFill>
                <a:latin typeface="Microsoft YaHei"/>
              </a:rPr>
              <a:t>冲突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150" y="1824781"/>
            <a:ext cx="11315700" cy="9525"/>
          </a:xfrm>
          <a:prstGeom prst="rect">
            <a:avLst/>
          </a:prstGeom>
          <a:solidFill>
            <a:srgbClr val="E4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38150" y="1958131"/>
            <a:ext cx="11353800" cy="2190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2F528F"/>
                </a:solidFill>
                <a:latin typeface="Microsoft YaHei"/>
              </a:rPr>
              <a:t>盲区情境：被自然显露时刻</a:t>
            </a:r>
            <a:r>
              <a:rPr sz="1010" b="1" i="0">
                <a:solidFill>
                  <a:srgbClr val="2F528F"/>
                </a:solidFill>
                <a:latin typeface="Microsoft YaHei"/>
              </a:rPr>
              <a:t>切成两段</a:t>
            </a:r>
            <a:r>
              <a:rPr sz="1010" b="1" i="0">
                <a:solidFill>
                  <a:srgbClr val="2F528F"/>
                </a:solidFill>
                <a:latin typeface="Microsoft YaHei"/>
              </a:rPr>
              <a:t>，两段可做的加工不同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150" y="2205781"/>
            <a:ext cx="11315700" cy="419100"/>
          </a:xfrm>
          <a:prstGeom prst="roundRect">
            <a:avLst>
              <a:gd name="adj" fmla="val 11363"/>
            </a:avLst>
          </a:prstGeom>
          <a:noFill/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47675" y="2215306"/>
            <a:ext cx="1468487" cy="40005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4825" y="2215306"/>
            <a:ext cx="1392287" cy="428625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6B6B6B"/>
                </a:solidFill>
                <a:latin typeface="Microsoft YaHei"/>
              </a:rPr>
              <a:t>探测前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6B6B6B"/>
                </a:solidFill>
                <a:latin typeface="Microsoft YaHei"/>
              </a:rPr>
              <a:t>系统亦不可见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Rectangle 23"/>
          <p:cNvSpPr/>
          <p:nvPr/>
        </p:nvSpPr>
        <p:spPr>
          <a:xfrm>
            <a:off x="1916162" y="2215306"/>
            <a:ext cx="1468487" cy="400050"/>
          </a:xfrm>
          <a:prstGeom prst="rect">
            <a:avLst/>
          </a:prstGeom>
          <a:solidFill>
            <a:srgbClr val="F7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973312" y="2215306"/>
            <a:ext cx="1392287" cy="428625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7A7A8A"/>
                </a:solidFill>
                <a:latin typeface="Microsoft YaHei"/>
              </a:rPr>
              <a:t>已探测 · 未预警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7A7A8A"/>
                </a:solidFill>
                <a:latin typeface="Microsoft YaHei"/>
              </a:rPr>
              <a:t>预警最早只能提前至此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Rectangle 25"/>
          <p:cNvSpPr/>
          <p:nvPr/>
        </p:nvSpPr>
        <p:spPr>
          <a:xfrm>
            <a:off x="3384649" y="2215306"/>
            <a:ext cx="3614886" cy="400050"/>
          </a:xfrm>
          <a:prstGeom prst="rect">
            <a:avLst/>
          </a:prstGeom>
          <a:solidFill>
            <a:srgbClr val="EF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959846" y="2170658"/>
            <a:ext cx="521493" cy="200025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5B4382"/>
                </a:solidFill>
                <a:latin typeface="Microsoft YaHei"/>
              </a:rPr>
              <a:t>预告区段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3854" y="2359818"/>
            <a:ext cx="174575" cy="1596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1">
                <a:solidFill>
                  <a:srgbClr val="5B4382"/>
                </a:solidFill>
                <a:latin typeface="Microsoft YaHei"/>
              </a:rPr>
              <a:t>Δt′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32324" y="2509986"/>
            <a:ext cx="2757636" cy="1596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5B4382"/>
                </a:solidFill>
                <a:latin typeface="Microsoft YaHei"/>
              </a:rPr>
              <a:t>可做 P、预置 D · </a:t>
            </a:r>
            <a:r>
              <a:rPr sz="790" b="1" i="0">
                <a:solidFill>
                  <a:srgbClr val="5B4382"/>
                </a:solidFill>
                <a:latin typeface="Microsoft YaHei"/>
              </a:rPr>
              <a:t>不能做 S、I</a:t>
            </a:r>
            <a:r>
              <a:rPr sz="790" b="0" i="0">
                <a:solidFill>
                  <a:srgbClr val="5B4382"/>
                </a:solidFill>
                <a:latin typeface="Microsoft YaHei"/>
              </a:rPr>
              <a:t>（无目标可扫视、可确认）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99535" y="2215306"/>
            <a:ext cx="4744789" cy="400050"/>
          </a:xfrm>
          <a:prstGeom prst="rect">
            <a:avLst/>
          </a:prstGeom>
          <a:solidFill>
            <a:srgbClr val="D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056685" y="2215306"/>
            <a:ext cx="4668589" cy="428625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2C5E2C"/>
                </a:solidFill>
                <a:latin typeface="Microsoft YaHei"/>
              </a:rPr>
              <a:t>显露区段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 i="0">
                <a:solidFill>
                  <a:srgbClr val="2C5E2C"/>
                </a:solidFill>
                <a:latin typeface="Microsoft YaHei"/>
              </a:rPr>
              <a:t>S · I · D · E 全可做；预警的作用是</a:t>
            </a:r>
            <a:r>
              <a:rPr sz="790" b="1" i="0">
                <a:solidFill>
                  <a:srgbClr val="2C5E2C"/>
                </a:solidFill>
                <a:latin typeface="Microsoft YaHei"/>
              </a:rPr>
              <a:t>从无到有创造</a:t>
            </a:r>
            <a:r>
              <a:rPr sz="790" b="1" i="0">
                <a:solidFill>
                  <a:srgbClr val="2C5E2C"/>
                </a:solidFill>
                <a:latin typeface="Microsoft YaHei"/>
              </a:rPr>
              <a:t>一个加工窗口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95300" y="2653456"/>
            <a:ext cx="1451967" cy="2531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96900"/>
              </a:lnSpc>
              <a:spcBef>
                <a:spcPts val="0"/>
              </a:spcBef>
              <a:spcAft>
                <a:spcPts val="0"/>
              </a:spcAft>
            </a:pPr>
            <a:r>
              <a:rPr sz="520" b="0" i="0">
                <a:solidFill>
                  <a:srgbClr val="B4B4B4"/>
                </a:solidFill>
                <a:latin typeface="Microsoft YaHei"/>
              </a:rPr>
              <a:t>▲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8C8C8C"/>
                </a:solidFill>
                <a:latin typeface="Microsoft YaHei"/>
              </a:rPr>
              <a:t>t</a:t>
            </a:r>
            <a:r>
              <a:rPr sz="660" b="0" i="0" baseline="-25000">
                <a:solidFill>
                  <a:srgbClr val="8C8C8C"/>
                </a:solidFill>
                <a:latin typeface="Microsoft YaHei"/>
              </a:rPr>
              <a:t>detect</a:t>
            </a:r>
            <a:r>
              <a:rPr sz="790" b="0" i="0">
                <a:solidFill>
                  <a:srgbClr val="8C8C8C"/>
                </a:solidFill>
                <a:latin typeface="Microsoft YaHei"/>
              </a:rPr>
              <a:t>（硬上界）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6317" y="2653456"/>
            <a:ext cx="1451967" cy="2531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96900"/>
              </a:lnSpc>
              <a:spcBef>
                <a:spcPts val="0"/>
              </a:spcBef>
              <a:spcAft>
                <a:spcPts val="0"/>
              </a:spcAft>
            </a:pPr>
            <a:r>
              <a:rPr sz="520" b="0" i="0">
                <a:solidFill>
                  <a:srgbClr val="B4B4B4"/>
                </a:solidFill>
                <a:latin typeface="Microsoft YaHei"/>
              </a:rPr>
              <a:t>▲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8C8C8C"/>
                </a:solidFill>
                <a:latin typeface="Microsoft YaHei"/>
              </a:rPr>
              <a:t>t</a:t>
            </a:r>
            <a:r>
              <a:rPr sz="660" b="0" i="0" baseline="-25000">
                <a:solidFill>
                  <a:srgbClr val="8C8C8C"/>
                </a:solidFill>
                <a:latin typeface="Microsoft YaHei"/>
              </a:rPr>
              <a:t>warn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7334" y="2653456"/>
            <a:ext cx="3601938" cy="2531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96900"/>
              </a:lnSpc>
              <a:spcBef>
                <a:spcPts val="0"/>
              </a:spcBef>
              <a:spcAft>
                <a:spcPts val="0"/>
              </a:spcAft>
            </a:pPr>
            <a:r>
              <a:rPr sz="520" b="0" i="0">
                <a:solidFill>
                  <a:srgbClr val="B4B4B4"/>
                </a:solidFill>
                <a:latin typeface="Microsoft YaHei"/>
              </a:rPr>
              <a:t>▲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8C8C8C"/>
                </a:solidFill>
                <a:latin typeface="Microsoft YaHei"/>
              </a:rPr>
              <a:t>t</a:t>
            </a:r>
            <a:r>
              <a:rPr sz="660" b="0" i="0" baseline="-25000">
                <a:solidFill>
                  <a:srgbClr val="8C8C8C"/>
                </a:solidFill>
                <a:latin typeface="Microsoft YaHei"/>
              </a:rPr>
              <a:t>reveal</a:t>
            </a:r>
            <a:r>
              <a:rPr sz="790" b="0" i="0">
                <a:solidFill>
                  <a:srgbClr val="8C8C8C"/>
                </a:solidFill>
                <a:latin typeface="Microsoft YaHei"/>
              </a:rPr>
              <a:t>（自然显露，可解析）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8322" y="2653456"/>
            <a:ext cx="4733627" cy="25315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96900"/>
              </a:lnSpc>
              <a:spcBef>
                <a:spcPts val="0"/>
              </a:spcBef>
              <a:spcAft>
                <a:spcPts val="0"/>
              </a:spcAft>
            </a:pPr>
            <a:r>
              <a:rPr sz="520" b="0" i="0">
                <a:solidFill>
                  <a:srgbClr val="B4B4B4"/>
                </a:solidFill>
                <a:latin typeface="Microsoft YaHei"/>
              </a:rPr>
              <a:t>▲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 i="0">
                <a:solidFill>
                  <a:srgbClr val="8C8C8C"/>
                </a:solidFill>
                <a:latin typeface="Microsoft YaHei"/>
              </a:rPr>
              <a:t>冲突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150" y="3001863"/>
            <a:ext cx="5572125" cy="1661666"/>
          </a:xfrm>
          <a:prstGeom prst="roundRect">
            <a:avLst>
              <a:gd name="adj" fmla="val 4012"/>
            </a:avLst>
          </a:prstGeom>
          <a:solidFill>
            <a:srgbClr val="F6FBF6"/>
          </a:solidFill>
          <a:ln w="9525">
            <a:solidFill>
              <a:srgbClr val="3E7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71500" y="3335238"/>
            <a:ext cx="5305425" cy="9525"/>
          </a:xfrm>
          <a:prstGeom prst="rect">
            <a:avLst/>
          </a:prstGeom>
          <a:solidFill>
            <a:srgbClr val="CFE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1500" y="3097113"/>
            <a:ext cx="5343525" cy="238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3E7D3E"/>
                </a:solidFill>
                <a:latin typeface="Microsoft YaHei"/>
              </a:rPr>
              <a:t>零点由心理量替换为几何量：三项方法学收益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175" y="3401913"/>
            <a:ext cx="5276850" cy="47416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免个体校准。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显露时刻由遮挡体位置尺寸、行人步速、本车轨迹与眼点位置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解析求出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，被试间恒定，故 </a:t>
            </a:r>
            <a:r>
              <a:rPr sz="1040" b="0" i="1">
                <a:solidFill>
                  <a:srgbClr val="1A1A1A"/>
                </a:solidFill>
                <a:latin typeface="Microsoft YaHei"/>
              </a:rPr>
              <a:t>Δt′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 可直接作被试内因子。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175" y="3866554"/>
            <a:ext cx="5276850" cy="246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免复用被试。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实验 4 无须承接实验 1 的个体数据，招募约束大幅放宽。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175" y="4103637"/>
            <a:ext cx="527685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级间间隔不再自由。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盲区分层的两级分别锚于探测时刻与显露时刻，间隔由场景几何与传感架构共同决定。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81725" y="3001863"/>
            <a:ext cx="5572125" cy="1661666"/>
          </a:xfrm>
          <a:prstGeom prst="roundRect">
            <a:avLst>
              <a:gd name="adj" fmla="val 4012"/>
            </a:avLst>
          </a:prstGeom>
          <a:solidFill>
            <a:srgbClr val="FAF7FD"/>
          </a:solidFill>
          <a:ln w="9525">
            <a:solidFill>
              <a:srgbClr val="7B5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6315075" y="3335238"/>
            <a:ext cx="5305425" cy="9525"/>
          </a:xfrm>
          <a:prstGeom prst="rect">
            <a:avLst/>
          </a:prstGeom>
          <a:solidFill>
            <a:srgbClr val="E4D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15075" y="3097113"/>
            <a:ext cx="5343525" cy="238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7B5EA7"/>
                </a:solidFill>
                <a:latin typeface="Microsoft YaHei"/>
              </a:rPr>
              <a:t>由分段导出的三条可否证预测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1750" y="3401913"/>
            <a:ext cx="5276850" cy="25613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P1′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 放弃预告区段（</a:t>
            </a:r>
            <a:r>
              <a:rPr sz="1040" b="0" i="1">
                <a:solidFill>
                  <a:srgbClr val="1A1A1A"/>
                </a:solidFill>
                <a:latin typeface="Microsoft YaHei"/>
              </a:rPr>
              <a:t>Δt′ ≤ 0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）的绩效显著劣于跨越显露时刻的预警。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1750" y="3648521"/>
            <a:ext cx="5276850" cy="47416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P2′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 盲区最优 </a:t>
            </a:r>
            <a:r>
              <a:rPr sz="1040" b="0" i="1">
                <a:solidFill>
                  <a:srgbClr val="1A1A1A"/>
                </a:solidFill>
                <a:latin typeface="Microsoft YaHei"/>
              </a:rPr>
              <a:t>Δt′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 显著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大于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非盲区最优 </a:t>
            </a:r>
            <a:r>
              <a:rPr sz="1040" b="0" i="1">
                <a:solidFill>
                  <a:srgbClr val="1A1A1A"/>
                </a:solidFill>
                <a:latin typeface="Microsoft YaHei"/>
              </a:rPr>
              <a:t>Δt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——遮挡使预期性注视无从建立，且遮挡场景属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刺激驱动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而非目标导向，定向本身有额外耗时。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1750" y="4113162"/>
            <a:ext cx="527685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P3′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 预告区段收益单调递增但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存在饱和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，饱和点对应预测与预置决策的完成时间——此即盲区下「过早预警收益递减」的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机制性解释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67504" y="6562725"/>
            <a:ext cx="324445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技术路线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由文献到规范的六个阶段与逐层固定参数的链条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1355" y="209550"/>
            <a:ext cx="432494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26130" y="238125"/>
            <a:ext cx="26104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6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150" y="762000"/>
            <a:ext cx="914400" cy="855464"/>
          </a:xfrm>
          <a:prstGeom prst="roundRect">
            <a:avLst>
              <a:gd name="adj" fmla="val 6680"/>
            </a:avLst>
          </a:prstGeom>
          <a:solidFill>
            <a:srgbClr val="FFFFFF"/>
          </a:solidFill>
          <a:ln w="95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23875" y="828675"/>
            <a:ext cx="781050" cy="750689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8C8C8C"/>
                </a:solidFill>
                <a:latin typeface="Microsoft YaHei"/>
              </a:rPr>
              <a:t>阶段一</a:t>
            </a:r>
          </a:p>
          <a:p>
            <a:pPr algn="ctr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8C8C8C"/>
                </a:solidFill>
                <a:latin typeface="Microsoft YaHei"/>
              </a:rPr>
              <a:t>基础建设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8750" y="762000"/>
            <a:ext cx="2524125" cy="855464"/>
          </a:xfrm>
          <a:prstGeom prst="roundRect">
            <a:avLst>
              <a:gd name="adj" fmla="val 6680"/>
            </a:avLst>
          </a:prstGeom>
          <a:solidFill>
            <a:srgbClr val="F7F9FD"/>
          </a:solidFill>
          <a:ln w="95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514475" y="828675"/>
            <a:ext cx="2390775" cy="7506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F528F"/>
                </a:solidFill>
                <a:latin typeface="Microsoft YaHei"/>
              </a:rPr>
              <a:t>文献补全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F528F"/>
                </a:solidFill>
                <a:latin typeface="Microsoft YaHei"/>
              </a:rPr>
              <a:t>12 条补检题录取全文；四条事故占比核验分母；五处历史遗留题录清理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9075" y="762000"/>
            <a:ext cx="2524125" cy="855464"/>
          </a:xfrm>
          <a:prstGeom prst="roundRect">
            <a:avLst>
              <a:gd name="adj" fmla="val 6680"/>
            </a:avLst>
          </a:prstGeom>
          <a:solidFill>
            <a:srgbClr val="F7F9FD"/>
          </a:solidFill>
          <a:ln w="95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114800" y="828675"/>
            <a:ext cx="2390775" cy="7506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F528F"/>
                </a:solidFill>
                <a:latin typeface="Microsoft YaHei"/>
              </a:rPr>
              <a:t>解析式推导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F528F"/>
                </a:solidFill>
                <a:latin typeface="Microsoft YaHei"/>
              </a:rPr>
              <a:t>由遮挡体几何、行人步速、本车轨迹与眼点位置解出显露时刻；视线锥仿真验证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762000"/>
            <a:ext cx="2524125" cy="855464"/>
          </a:xfrm>
          <a:prstGeom prst="roundRect">
            <a:avLst>
              <a:gd name="adj" fmla="val 6680"/>
            </a:avLst>
          </a:prstGeom>
          <a:solidFill>
            <a:srgbClr val="F7F9FD"/>
          </a:solidFill>
          <a:ln w="95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715125" y="828675"/>
            <a:ext cx="2390775" cy="7506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F528F"/>
                </a:solidFill>
                <a:latin typeface="Microsoft YaHei"/>
              </a:rPr>
              <a:t>场景族开发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F528F"/>
                </a:solidFill>
                <a:latin typeface="Microsoft YaHei"/>
              </a:rPr>
              <a:t>遮挡体、行人位置步速、车速与探测时刻全部取自已发表范式，保证可复现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29725" y="762000"/>
            <a:ext cx="2524125" cy="855464"/>
          </a:xfrm>
          <a:prstGeom prst="roundRect">
            <a:avLst>
              <a:gd name="adj" fmla="val 6680"/>
            </a:avLst>
          </a:prstGeom>
          <a:solidFill>
            <a:srgbClr val="F7F9FD"/>
          </a:solidFill>
          <a:ln w="95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15450" y="828675"/>
            <a:ext cx="2390775" cy="7506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F528F"/>
                </a:solidFill>
                <a:latin typeface="Microsoft YaHei"/>
              </a:rPr>
              <a:t>指标与工具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F528F"/>
                </a:solidFill>
                <a:latin typeface="Microsoft YaHei"/>
              </a:rPr>
              <a:t>四类动态兴趣区（警告／行人／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F528F"/>
                </a:solidFill>
                <a:latin typeface="Microsoft YaHei"/>
              </a:rPr>
              <a:t>遮挡体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F528F"/>
                </a:solidFill>
                <a:latin typeface="Microsoft YaHei"/>
              </a:rPr>
              <a:t>／未增强危险）；渲染与通信延迟测量链路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150" y="1693664"/>
            <a:ext cx="113538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472C4"/>
                </a:solidFill>
                <a:latin typeface="Microsoft YaHei"/>
              </a:rPr>
              <a:t>▼ ▼ ▼ 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150" y="1893689"/>
            <a:ext cx="914400" cy="855464"/>
          </a:xfrm>
          <a:prstGeom prst="roundRect">
            <a:avLst>
              <a:gd name="adj" fmla="val 6680"/>
            </a:avLst>
          </a:prstGeom>
          <a:solidFill>
            <a:srgbClr val="FFFFFF"/>
          </a:solidFill>
          <a:ln w="95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23875" y="1960364"/>
            <a:ext cx="781050" cy="750689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8C8C8C"/>
                </a:solidFill>
                <a:latin typeface="Microsoft YaHei"/>
              </a:rPr>
              <a:t>阶段二</a:t>
            </a:r>
          </a:p>
          <a:p>
            <a:pPr algn="ctr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8C8C8C"/>
                </a:solidFill>
                <a:latin typeface="Microsoft YaHei"/>
              </a:rPr>
              <a:t>双情境标定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8750" y="1893689"/>
            <a:ext cx="10325100" cy="855464"/>
          </a:xfrm>
          <a:prstGeom prst="roundRect">
            <a:avLst>
              <a:gd name="adj" fmla="val 6680"/>
            </a:avLst>
          </a:prstGeom>
          <a:solidFill>
            <a:srgbClr val="F5FAF5"/>
          </a:solidFill>
          <a:ln w="9525">
            <a:solidFill>
              <a:srgbClr val="3E7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514475" y="1960364"/>
            <a:ext cx="10191750" cy="7506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C5E2C"/>
                </a:solidFill>
                <a:latin typeface="Microsoft YaHei"/>
              </a:rPr>
              <a:t>实验 1 无 AR 预警基线：情境（非盲区／盲区）× 车速（40／60 km/h）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C5E2C"/>
                </a:solidFill>
                <a:latin typeface="Microsoft YaHei"/>
              </a:rPr>
              <a:t>产出五项并全部被下游使用——① 非盲区自发察觉时刻分布（含被试内标准差）→ 实验 2 自变量换算基准；② 感知反应时 95 分位 → 运动学下界与可避险区校验；③ 零点时刻制动威胁数 → 触发阈值校准；④ 实测舒适减速度 → 全部实验的归一化分母；⑤ 方差成分 → 样本量估计与随机效应结构。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C5E2C"/>
                </a:solidFill>
                <a:latin typeface="Microsoft YaHei"/>
              </a:rPr>
              <a:t>盲区两单元另验证显露时刻解析解并测显露后感知反应时。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438150" y="2825353"/>
            <a:ext cx="113538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472C4"/>
                </a:solidFill>
                <a:latin typeface="Microsoft YaHei"/>
              </a:rPr>
              <a:t>▼ ▼ ▼ 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150" y="3025378"/>
            <a:ext cx="914400" cy="120699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23875" y="3092053"/>
            <a:ext cx="781050" cy="1102221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8C8C8C"/>
                </a:solidFill>
                <a:latin typeface="Microsoft YaHei"/>
              </a:rPr>
              <a:t>阶段三</a:t>
            </a:r>
          </a:p>
          <a:p>
            <a:pPr algn="ctr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8C8C8C"/>
                </a:solidFill>
                <a:latin typeface="Microsoft YaHei"/>
              </a:rPr>
              <a:t>研究一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28750" y="3025378"/>
            <a:ext cx="5124450" cy="1206996"/>
          </a:xfrm>
          <a:prstGeom prst="roundRect">
            <a:avLst>
              <a:gd name="adj" fmla="val 4734"/>
            </a:avLst>
          </a:prstGeom>
          <a:solidFill>
            <a:srgbClr val="F7F9FD"/>
          </a:solidFill>
          <a:ln w="95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514475" y="3092053"/>
            <a:ext cx="4991100" cy="110222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F528F"/>
                </a:solidFill>
                <a:latin typeface="Microsoft YaHei"/>
              </a:rPr>
              <a:t>实验 2 时间参数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F528F"/>
                </a:solidFill>
                <a:latin typeface="Microsoft YaHei"/>
              </a:rPr>
              <a:t>触发准则（固定阈值／制动威胁数）× 提前量（0／+1.0／+2.5 s）= 2 × 3；区块 B 比较持续与撤销三水平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3025378"/>
            <a:ext cx="5124450" cy="1206996"/>
          </a:xfrm>
          <a:prstGeom prst="roundRect">
            <a:avLst>
              <a:gd name="adj" fmla="val 4734"/>
            </a:avLst>
          </a:prstGeom>
          <a:solidFill>
            <a:srgbClr val="F7F9FD"/>
          </a:solidFill>
          <a:ln w="95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715125" y="3092053"/>
            <a:ext cx="4991100" cy="110222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F528F"/>
                </a:solidFill>
                <a:latin typeface="Microsoft YaHei"/>
              </a:rPr>
              <a:t>实验 3 空间参数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F528F"/>
                </a:solidFill>
                <a:latin typeface="Microsoft YaHei"/>
              </a:rPr>
              <a:t>锁定策略 5 水平 × 背景视觉复杂度 2 水平；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F528F"/>
                </a:solidFill>
                <a:latin typeface="Microsoft YaHei"/>
              </a:rPr>
              <a:t>负荷区块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F528F"/>
                </a:solidFill>
                <a:latin typeface="Microsoft YaHei"/>
              </a:rPr>
              <a:t>BD／BW × 次任务负荷 2 水平；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F528F"/>
                </a:solidFill>
                <a:latin typeface="Microsoft YaHei"/>
              </a:rPr>
              <a:t>时间参数固定为实验 2 入选组合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F528F"/>
                </a:solidFill>
                <a:latin typeface="Microsoft YaHei"/>
              </a:rPr>
              <a:t>；末尾嵌反向迁移区块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150" y="4308574"/>
            <a:ext cx="113538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472C4"/>
                </a:solidFill>
                <a:latin typeface="Microsoft YaHei"/>
              </a:rPr>
              <a:t>▼ ▼ ▼ 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150" y="4508599"/>
            <a:ext cx="914400" cy="855464"/>
          </a:xfrm>
          <a:prstGeom prst="roundRect">
            <a:avLst>
              <a:gd name="adj" fmla="val 6680"/>
            </a:avLst>
          </a:prstGeom>
          <a:solidFill>
            <a:srgbClr val="FFFFFF"/>
          </a:solidFill>
          <a:ln w="95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23875" y="4575274"/>
            <a:ext cx="781050" cy="750689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8C8C8C"/>
                </a:solidFill>
                <a:latin typeface="Microsoft YaHei"/>
              </a:rPr>
              <a:t>阶段四</a:t>
            </a:r>
          </a:p>
          <a:p>
            <a:pPr algn="ctr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8C8C8C"/>
                </a:solidFill>
                <a:latin typeface="Microsoft YaHei"/>
              </a:rPr>
              <a:t>研究二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28750" y="4508599"/>
            <a:ext cx="5124450" cy="855464"/>
          </a:xfrm>
          <a:prstGeom prst="roundRect">
            <a:avLst>
              <a:gd name="adj" fmla="val 6680"/>
            </a:avLst>
          </a:prstGeom>
          <a:solidFill>
            <a:srgbClr val="FAF7FD"/>
          </a:solidFill>
          <a:ln w="9525">
            <a:solidFill>
              <a:srgbClr val="7B5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514475" y="4575274"/>
            <a:ext cx="4991100" cy="7506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5B4382"/>
                </a:solidFill>
                <a:latin typeface="Microsoft YaHei"/>
              </a:rPr>
              <a:t>实验 4 时间参数与可靠性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4382"/>
                </a:solidFill>
                <a:latin typeface="Microsoft YaHei"/>
              </a:rPr>
              <a:t>提前量（−0.5／0／+1.0／+2.5 s）× 可靠性（100%／80%）= 4 × 2，另加无预警基线；区块 B 分层语义分化与升级仲裁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4508599"/>
            <a:ext cx="5124450" cy="855464"/>
          </a:xfrm>
          <a:prstGeom prst="roundRect">
            <a:avLst>
              <a:gd name="adj" fmla="val 6680"/>
            </a:avLst>
          </a:prstGeom>
          <a:solidFill>
            <a:srgbClr val="FAF7FD"/>
          </a:solidFill>
          <a:ln w="9525">
            <a:solidFill>
              <a:srgbClr val="7B5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715125" y="4575274"/>
            <a:ext cx="4991100" cy="7506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5B4382"/>
                </a:solidFill>
                <a:latin typeface="Microsoft YaHei"/>
              </a:rPr>
              <a:t>实验 5 空间锚定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4382"/>
                </a:solidFill>
                <a:latin typeface="Microsoft YaHei"/>
              </a:rPr>
              <a:t>锚定策略 5 水平 × 遮挡几何 2 水平；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5B4382"/>
                </a:solidFill>
                <a:latin typeface="Microsoft YaHei"/>
              </a:rPr>
              <a:t>时间参数固定为实验 4 入选组合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4382"/>
                </a:solidFill>
                <a:latin typeface="Microsoft YaHei"/>
              </a:rPr>
              <a:t>；末尾嵌正向迁移区块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150" y="5440263"/>
            <a:ext cx="113538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4472C4"/>
                </a:solidFill>
                <a:latin typeface="Microsoft YaHei"/>
              </a:rPr>
              <a:t>▼ ▼ ▼ 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150" y="5640288"/>
            <a:ext cx="914400" cy="693241"/>
          </a:xfrm>
          <a:prstGeom prst="roundRect">
            <a:avLst>
              <a:gd name="adj" fmla="val 8243"/>
            </a:avLst>
          </a:prstGeom>
          <a:solidFill>
            <a:srgbClr val="FFFFFF"/>
          </a:solidFill>
          <a:ln w="95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23875" y="5706963"/>
            <a:ext cx="781050" cy="588466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8C8C8C"/>
                </a:solidFill>
                <a:latin typeface="Microsoft YaHei"/>
              </a:rPr>
              <a:t>阶段五</a:t>
            </a:r>
          </a:p>
          <a:p>
            <a:pPr algn="ctr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8C8C8C"/>
                </a:solidFill>
                <a:latin typeface="Microsoft YaHei"/>
              </a:rPr>
              <a:t>整合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28750" y="5640288"/>
            <a:ext cx="3390900" cy="693241"/>
          </a:xfrm>
          <a:prstGeom prst="roundRect">
            <a:avLst>
              <a:gd name="adj" fmla="val 8243"/>
            </a:avLst>
          </a:prstGeom>
          <a:solidFill>
            <a:srgbClr val="FFFBF0"/>
          </a:solidFill>
          <a:ln w="9525">
            <a:solidFill>
              <a:srgbClr val="E0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514475" y="5706963"/>
            <a:ext cx="3257550" cy="58846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7A5A00"/>
                </a:solidFill>
                <a:latin typeface="Microsoft YaHei"/>
              </a:rPr>
              <a:t>迁移损失估计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5A00"/>
                </a:solidFill>
                <a:latin typeface="Microsoft YaHei"/>
              </a:rPr>
              <a:t>情境 × 方案来源；报告点估计与 95% 置信区间；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7A5A00"/>
                </a:solidFill>
                <a:latin typeface="Microsoft YaHei"/>
              </a:rPr>
              <a:t>检验 P6′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0" name="Rounded Rectangle 39"/>
          <p:cNvSpPr/>
          <p:nvPr/>
        </p:nvSpPr>
        <p:spPr>
          <a:xfrm>
            <a:off x="4895850" y="5640288"/>
            <a:ext cx="3390900" cy="693241"/>
          </a:xfrm>
          <a:prstGeom prst="roundRect">
            <a:avLst>
              <a:gd name="adj" fmla="val 8243"/>
            </a:avLst>
          </a:prstGeom>
          <a:solidFill>
            <a:srgbClr val="FFFBF0"/>
          </a:solidFill>
          <a:ln w="9525">
            <a:solidFill>
              <a:srgbClr val="E0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981575" y="5706963"/>
            <a:ext cx="3257550" cy="58846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7A5A00"/>
                </a:solidFill>
                <a:latin typeface="Microsoft YaHei"/>
              </a:rPr>
              <a:t>帕累托前沿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5A00"/>
                </a:solidFill>
                <a:latin typeface="Microsoft YaHei"/>
              </a:rPr>
              <a:t>按安全非劣 → 漏检非劣 → 制动平顺 → 认知代价 → 低可靠性稳健性 五步判定，不评选单一冠军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62950" y="5640288"/>
            <a:ext cx="3390900" cy="693241"/>
          </a:xfrm>
          <a:prstGeom prst="roundRect">
            <a:avLst>
              <a:gd name="adj" fmla="val 8243"/>
            </a:avLst>
          </a:prstGeom>
          <a:solidFill>
            <a:srgbClr val="FEF6F6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448675" y="5706963"/>
            <a:ext cx="3257550" cy="58846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7A1F1F"/>
                </a:solidFill>
                <a:latin typeface="Microsoft YaHei"/>
              </a:rPr>
              <a:t>规范输出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A1F1F"/>
                </a:solidFill>
                <a:latin typeface="Microsoft YaHei"/>
              </a:rPr>
              <a:t>两套参数区间 + 显露时刻解析式 + 「遮挡几何 × 可用视场 → 推荐锚定」查表式规范 + 明确的结论边界七条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67504" y="6562725"/>
            <a:ext cx="324445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研究方法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研究一（非盲区情境）：实验 2 与实验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1355" y="209550"/>
            <a:ext cx="432494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26130" y="238125"/>
            <a:ext cx="26104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6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150" y="762000"/>
            <a:ext cx="5572125" cy="5002410"/>
          </a:xfrm>
          <a:prstGeom prst="roundRect">
            <a:avLst>
              <a:gd name="adj" fmla="val 1332"/>
            </a:avLst>
          </a:prstGeom>
          <a:solidFill>
            <a:srgbClr val="FFFFFF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1025" y="1133475"/>
            <a:ext cx="5286375" cy="9525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1025" y="885825"/>
            <a:ext cx="5324475" cy="238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F528F"/>
                </a:solidFill>
                <a:latin typeface="Microsoft YaHei"/>
              </a:rPr>
              <a:t>实验 2 单层预警的时间参数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219200"/>
            <a:ext cx="5324475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A1A1A"/>
                </a:solidFill>
                <a:latin typeface="Microsoft YaHei"/>
              </a:rPr>
              <a:t>设计：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触发准则（固定时间阈值／制动威胁数）× 相对提前量（0／+1.0／+2.5 s）= 2 × 3 被试内；区块 B 比较持续与撤销三水平（固定 1.5 s／状态维持／风险耦合衰减）。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712416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水平依据。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0 为「与自发察觉同时」的对照；+1.0 s 对应扫视加确认的工程估计，有产业级联 1.0 s 级间与 1.0 s 档距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双源支持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；+2.5 s 用于检验收益递减与代价递增。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2167532"/>
            <a:ext cx="5257800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准则对照的必要性。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同一 TTC 2 s 在 40 km/h 下所需减速度 2.78 m/s²（制动威胁数 0.35，温和制动），在 80 km/h 下 5.56 m/s²（0.69，接近全力制动）——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固定秒数在物理上不可跨车速迁移，而人因侧从未做过准则类型的对照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2840682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撤销侧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沿用 2 : 1 滞环（进入 4.0、解除 2.0 m/s²），本库中唯一以运动学量定义级间关系的先例。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3295798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终点。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主要为最小 TTMD（安全非劣）；次要为峰值减速度、抖动率、首次注视时间、漏检率。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725" y="762000"/>
            <a:ext cx="5572125" cy="5002410"/>
          </a:xfrm>
          <a:prstGeom prst="roundRect">
            <a:avLst>
              <a:gd name="adj" fmla="val 1332"/>
            </a:avLst>
          </a:prstGeom>
          <a:solidFill>
            <a:srgbClr val="FFFFFF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324600" y="1133475"/>
            <a:ext cx="5286375" cy="9525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4600" y="885825"/>
            <a:ext cx="5324475" cy="238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F528F"/>
                </a:solidFill>
                <a:latin typeface="Microsoft YaHei"/>
              </a:rPr>
              <a:t>实验 3 空间参照系与锁定策略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600" y="1219200"/>
            <a:ext cx="5324475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A1A1A"/>
                </a:solidFill>
                <a:latin typeface="Microsoft YaHei"/>
              </a:rPr>
              <a:t>主设计：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锁定策略 5 水平（Baseline／屏幕固定／道路锁定／跟随目标／复合）× 背景视觉复杂度 2 水平被试内；时间参数固定为实验 2 入选组合。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次任务负荷区块：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屏幕固定／跟随目标 × 次任务负荷 2 水平（纯音乐／意图诱导型听觉问答），背景固定为高拥挤。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1930449"/>
            <a:ext cx="5257800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基线须修正。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碰撞预警平视显示本身即屏幕固定式前视野显示，却已取得制动反应时快约 200 ms、漏报 1 次对 17 次的优势。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故 AR 收益必须拆成位置增益与共形增益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，混在一起会系统性高估共形性。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2603599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方法学后果。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屏幕固定条件已含平视位置的大部分收益，故其余条件相对它的增量必然更小，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样本量估计须按更小的效应量做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058715"/>
            <a:ext cx="5257800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操纵检查。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背景复杂度以同时可见的行人与车辆数量、路侧广告密度分两水平，并以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边缘密度与颜色熵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两项图像统计量报告；负荷区块以次任务应答正确率与延迟、心理需求分量与瞳孔变化率作操纵检查，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须先确认负荷主效应显著再解释交互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275" y="3731865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并列主要终点。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漏检率，以及注视时长是否越过 2000 ms 分心上界——已有研究把 HUD 图形注视时长推到 3.33 s。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150" y="5869185"/>
            <a:ext cx="11315700" cy="588764"/>
          </a:xfrm>
          <a:prstGeom prst="rect">
            <a:avLst/>
          </a:prstGeom>
          <a:solidFill>
            <a:srgbClr val="FFF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38150" y="5869185"/>
            <a:ext cx="38100" cy="588764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1975" y="5954910"/>
            <a:ext cx="11106150" cy="44588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 i="0">
                <a:solidFill>
                  <a:srgbClr val="8A6A00"/>
                </a:solidFill>
                <a:latin typeface="Microsoft YaHei"/>
              </a:rPr>
              <a:t>硬约束：</a:t>
            </a:r>
            <a:r>
              <a:rPr sz="990" b="0" i="0">
                <a:solidFill>
                  <a:srgbClr val="6B5200"/>
                </a:solidFill>
                <a:latin typeface="Microsoft YaHei"/>
              </a:rPr>
              <a:t>实验 1 与实验 2 </a:t>
            </a:r>
            <a:r>
              <a:rPr sz="990" b="1" i="0">
                <a:solidFill>
                  <a:srgbClr val="8A6A00"/>
                </a:solidFill>
                <a:latin typeface="Microsoft YaHei"/>
              </a:rPr>
              <a:t>必须共用同一场景族与同一套零点标定单元，且复用同一批被试</a:t>
            </a:r>
            <a:r>
              <a:rPr sz="990" b="0" i="0">
                <a:solidFill>
                  <a:srgbClr val="6B5200"/>
                </a:solidFill>
                <a:latin typeface="Microsoft YaHei"/>
              </a:rPr>
              <a:t>——自变量提前量需要被试自身的自发察觉时刻。实验 1 按「情境 × 车速」四单元分别标定：零点随车速与遮挡系统变化，遮挡直接改变光学膨胀率越过知觉阈值的时刻。实验 3 已固定全部时间参数，可另设场景操纵，不受此约束。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67504" y="6562725"/>
            <a:ext cx="324445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研究方法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研究二（盲区情境）：实验 4 与实验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1355" y="209550"/>
            <a:ext cx="432494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26130" y="238125"/>
            <a:ext cx="26104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6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150" y="762000"/>
            <a:ext cx="4665017" cy="5695950"/>
          </a:xfrm>
          <a:prstGeom prst="roundRect">
            <a:avLst>
              <a:gd name="adj" fmla="val 1429"/>
            </a:avLst>
          </a:prstGeom>
          <a:solidFill>
            <a:srgbClr val="FAF7FD"/>
          </a:solidFill>
          <a:ln w="9525">
            <a:solidFill>
              <a:srgbClr val="7B5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1025" y="1133475"/>
            <a:ext cx="4379267" cy="9525"/>
          </a:xfrm>
          <a:prstGeom prst="rect">
            <a:avLst/>
          </a:prstGeom>
          <a:solidFill>
            <a:srgbClr val="E4D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1025" y="885825"/>
            <a:ext cx="4417367" cy="238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7B5EA7"/>
                </a:solidFill>
                <a:latin typeface="Microsoft YaHei"/>
              </a:rPr>
              <a:t>实验 4 时间参数、预告区段与可靠性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219200"/>
            <a:ext cx="4417367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A1A1A"/>
                </a:solidFill>
                <a:latin typeface="Microsoft YaHei"/>
              </a:rPr>
              <a:t>设计：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提前量（−0.5／0／+1.0／+2.5 s）× 可靠性（100%／80%）= 4 × 2 被试内，另加无预警基线；所有水平须满足预警时刻不早于探测时刻。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712416"/>
            <a:ext cx="4350692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C00000"/>
                </a:solidFill>
                <a:latin typeface="Microsoft YaHei"/>
              </a:rPr>
              <a:t>−0.5 s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 是预警发于行人已显露之后，即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完全放弃预告区段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——研究一无对应物的关键对照，直接检验 P1′。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+1.0／+2.5 s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 与研究一取值对齐，使跨情境比较落在同一刻度（P2′）。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2385566"/>
            <a:ext cx="4350692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可靠性置于此处的三条理由：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虚警机制在盲区下才质变（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不可核验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）；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P4′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 预测盲区的信任损伤显著大于非盲区，可由双情境设计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直接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检验；盲区的时间上界本即探测可靠性，二者在同一物理量上闭合。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3058715"/>
            <a:ext cx="4350692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80% 的依据：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15% 已证零效应故不提供信息；已有研究最低操纵档 20%；工程可达骚扰水平约 13.74%。故属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保守压力测试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。虚警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只施加在预告级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3731865"/>
            <a:ext cx="4350692" cy="900707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区块 B 分层语义分化：预告级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语义为「遮挡体后方存在一个你看不见的行人」，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确认级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为「它现在出现了，在这里」；另设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状态条件化升级仲裁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（已检测到有效减速则取消升级，阈值 −0.075 g），依据是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50% 被试在预警前已开始制动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74617" y="762000"/>
            <a:ext cx="6479232" cy="5695950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17492" y="1133475"/>
            <a:ext cx="6193482" cy="9525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7492" y="885825"/>
            <a:ext cx="6231582" cy="238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F528F"/>
                </a:solidFill>
                <a:latin typeface="Microsoft YaHei"/>
              </a:rPr>
              <a:t>实验 5 目标锁定不可实现时的锚定策略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7492" y="1219200"/>
            <a:ext cx="6231582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A1A1A"/>
                </a:solidFill>
                <a:latin typeface="Microsoft YaHei"/>
              </a:rPr>
              <a:t>设计：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锚定策略 5 水平 × 遮挡几何 2 水平（近距侧方／远距前方）被试内；时间参数固定为实验 4 入选组合。图形参数按四源收敛区间固定：不透明度 0.6、红与黄日夜鲁棒色对、条件间闪烁状态固定、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动画不得与本车运动耦合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。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17492" y="1930449"/>
          <a:ext cx="6193480" cy="20194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8696"/>
                <a:gridCol w="2725042"/>
                <a:gridCol w="2229742"/>
              </a:tblGrid>
              <a:tr h="239910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FFFFFF"/>
                          </a:solidFill>
                          <a:latin typeface="Microsoft YaHei"/>
                        </a:rPr>
                        <a:t>水平</a:t>
                      </a:r>
                    </a:p>
                  </a:txBody>
                  <a:tcPr marL="57150" marR="57150" marT="43815" marB="4381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FFFFFF"/>
                          </a:solidFill>
                          <a:latin typeface="Microsoft YaHei"/>
                        </a:rPr>
                        <a:t>操作化与定位</a:t>
                      </a:r>
                    </a:p>
                  </a:txBody>
                  <a:tcPr marL="57150" marR="57150" marT="43815" marB="4381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FFFFFF"/>
                          </a:solidFill>
                          <a:latin typeface="Microsoft YaHei"/>
                        </a:rPr>
                        <a:t>主要风险与对应测量</a:t>
                      </a:r>
                    </a:p>
                  </a:txBody>
                  <a:tcPr marL="57150" marR="57150" marT="43815" marB="43815" anchor="t">
                    <a:solidFill>
                      <a:srgbClr val="4472C4"/>
                    </a:solidFill>
                  </a:tcPr>
                </a:tc>
              </a:tr>
              <a:tr h="383083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遮挡体锚定</a:t>
                      </a:r>
                    </a:p>
                  </a:txBody>
                  <a:tcPr marL="57150" marR="57150" marT="34290" marB="34290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绘于遮挡体表面朝向行人一侧；语义为「危险来自这个物体后面」</a:t>
                      </a:r>
                    </a:p>
                  </a:txBody>
                  <a:tcPr marL="57150" marR="57150" marT="34290" marB="34290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构成叠加于遮挡物之上的构型 → </a:t>
                      </a: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须测遮挡体误锚定率</a:t>
                      </a:r>
                    </a:p>
                  </a:txBody>
                  <a:tcPr marL="57150" marR="57150" marT="34290" marB="34290" anchor="t">
                    <a:solidFill>
                      <a:srgbClr val="FAFBFD"/>
                    </a:solidFill>
                  </a:tcPr>
                </a:tc>
              </a:tr>
              <a:tr h="387846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推测地面锚定</a:t>
                      </a:r>
                    </a:p>
                  </a:txBody>
                  <a:tcPr marL="57150" marR="57150" marT="34290" marB="34290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贴地图形绘于按探测轨迹外推的行人推测位置，纵深按 TTC 乘车速缩放</a:t>
                      </a:r>
                    </a:p>
                  </a:txBody>
                  <a:tcPr marL="57150" marR="57150" marT="34290" marB="34290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外推误差转为空间误差 → 须报配准误差与冲突点空间误差</a:t>
                      </a:r>
                    </a:p>
                  </a:txBody>
                  <a:tcPr marL="57150" marR="57150" marT="34290" marB="34290" anchor="t">
                    <a:noFill/>
                  </a:tcPr>
                </a:tc>
              </a:tr>
              <a:tr h="387846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穿透显影</a:t>
                      </a:r>
                    </a:p>
                  </a:txBody>
                  <a:tcPr marL="57150" marR="57150" marT="34290" marB="34290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将遮挡体半透明化以显示其后行人，保持原空间语境</a:t>
                      </a:r>
                    </a:p>
                  </a:txBody>
                  <a:tcPr marL="57150" marR="57150" marT="34290" marB="34290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深度歧义</a:t>
                      </a: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 → 须测深度判断误差、晕动与不适；脱落率按 15% 估计</a:t>
                      </a:r>
                    </a:p>
                  </a:txBody>
                  <a:tcPr marL="57150" marR="57150" marT="34290" marB="34290" anchor="t">
                    <a:solidFill>
                      <a:srgbClr val="FAFBFD"/>
                    </a:solidFill>
                  </a:tcPr>
                </a:tc>
              </a:tr>
              <a:tr h="387846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屏幕方位指示器</a:t>
                      </a:r>
                    </a:p>
                  </a:txBody>
                  <a:tcPr marL="57150" marR="57150" marT="34290" marB="34290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屏幕固定方向箭头，不做空间配准；视场受限时的</a:t>
                      </a:r>
                      <a:r>
                        <a:rPr sz="819" b="1" i="0">
                          <a:solidFill>
                            <a:srgbClr val="1A1A1A"/>
                          </a:solidFill>
                          <a:latin typeface="Microsoft YaHei"/>
                        </a:rPr>
                        <a:t>正当退化方案</a:t>
                      </a:r>
                    </a:p>
                  </a:txBody>
                  <a:tcPr marL="57150" marR="57150" marT="34290" marB="34290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不携带精确位置信息 → 须测定位转换成本</a:t>
                      </a:r>
                    </a:p>
                  </a:txBody>
                  <a:tcPr marL="57150" marR="57150" marT="34290" marB="34290" anchor="t">
                    <a:noFill/>
                  </a:tcPr>
                </a:tc>
              </a:tr>
              <a:tr h="232916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复合（探索）</a:t>
                      </a:r>
                    </a:p>
                  </a:txBody>
                  <a:tcPr marL="57150" marR="57150" marT="34290" marB="34290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遮挡体锚定 + 推测地面锚定</a:t>
                      </a:r>
                    </a:p>
                  </a:txBody>
                  <a:tcPr marL="57150" marR="57150" marT="34290" marB="34290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4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0" i="0">
                          <a:solidFill>
                            <a:srgbClr val="1A1A1A"/>
                          </a:solidFill>
                          <a:latin typeface="Microsoft YaHei"/>
                        </a:rPr>
                        <a:t>负荷叠加 → 须检验注视时长是否越 2000 ms</a:t>
                      </a:r>
                    </a:p>
                  </a:txBody>
                  <a:tcPr marL="57150" marR="57150" marT="34290" marB="34290" anchor="t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17492" y="4002285"/>
            <a:ext cx="6231582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A1A1A"/>
                </a:solidFill>
                <a:latin typeface="Microsoft YaHei"/>
              </a:rPr>
              <a:t>P5′：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17° 视场下近距侧方共形图形移出视场而失效，故预测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最优锚定随遮挡几何反转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；输出形式相应由「单一冠军」改为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查表式规范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03955" y="6562725"/>
            <a:ext cx="38799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创新点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四项，逐项给出可检验的判据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1355" y="209550"/>
            <a:ext cx="432494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26130" y="238125"/>
            <a:ext cx="26104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7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150" y="762000"/>
            <a:ext cx="5572125" cy="2676971"/>
          </a:xfrm>
          <a:prstGeom prst="roundRect">
            <a:avLst>
              <a:gd name="adj" fmla="val 2490"/>
            </a:avLst>
          </a:prstGeom>
          <a:solidFill>
            <a:srgbClr val="F6FBF6"/>
          </a:solidFill>
          <a:ln w="9525">
            <a:solidFill>
              <a:srgbClr val="3E7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1025" y="1133475"/>
            <a:ext cx="5286375" cy="9525"/>
          </a:xfrm>
          <a:prstGeom prst="rect">
            <a:avLst/>
          </a:prstGeom>
          <a:solidFill>
            <a:srgbClr val="CFE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1025" y="885825"/>
            <a:ext cx="5324475" cy="238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3E7D3E"/>
                </a:solidFill>
                <a:latin typeface="Microsoft YaHei"/>
              </a:rPr>
              <a:t>创新一 把视线可见性确立为情境自变量，并附自我否证条款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219200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既有研究把遮挡作为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场景背景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或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一个附加水平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处理。本研究论证盲区使既有结论的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六项前提不成立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（BD-1 至 BD-6），据此把可见性升格为情境自变量，并分别标定两套参数。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674316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判据 P6′：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双向迁移损失显著大于零。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否证条件：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迁移损失不显著 → 本切分不成立，应退回单情境处理。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2129432"/>
            <a:ext cx="5257800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该条款写入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预注册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，零结果照实报告并视为有效贡献——它意味着单一套参数即可跨情境使用，从而简化工程实现。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本创新的价值不取决于 P6′ 成立，而取决于它被明确检验了一次。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725" y="762000"/>
            <a:ext cx="5572125" cy="2676971"/>
          </a:xfrm>
          <a:prstGeom prst="roundRect">
            <a:avLst>
              <a:gd name="adj" fmla="val 2490"/>
            </a:avLst>
          </a:prstGeom>
          <a:solidFill>
            <a:srgbClr val="FAF7FD"/>
          </a:solidFill>
          <a:ln w="9525">
            <a:solidFill>
              <a:srgbClr val="7B5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324600" y="1133475"/>
            <a:ext cx="5286375" cy="9525"/>
          </a:xfrm>
          <a:prstGeom prst="rect">
            <a:avLst/>
          </a:prstGeom>
          <a:solidFill>
            <a:srgbClr val="E4D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4600" y="885825"/>
            <a:ext cx="5324475" cy="238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7B5EA7"/>
                </a:solidFill>
                <a:latin typeface="Microsoft YaHei"/>
              </a:rPr>
              <a:t>创新二 零点由心理量替换为几何量，并给出解析式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1219200"/>
            <a:ext cx="5257800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既有研究一律以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碰撞点或空间距离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为零点，故参数不可跨车速、跨研究比较。本研究以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自然显露时刻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为盲区零点，它与非盲区的自发察觉时刻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功能同位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——两者都是「驾驶员自力可及的起点」。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1892349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显露时刻为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几何量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，由遮挡体位置尺寸、行人步速、本车轨迹与眼点位置解析求出，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被试间恒定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；本研究提供解析式而非固定秒数，故可跨车型换算。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275" y="2347466"/>
            <a:ext cx="5257800" cy="246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判据：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解析解与实测眼动的偏差在预设阈值内（由实验 1 双重核验）。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150" y="3543746"/>
            <a:ext cx="5572125" cy="2914203"/>
          </a:xfrm>
          <a:prstGeom prst="roundRect">
            <a:avLst>
              <a:gd name="adj" fmla="val 2287"/>
            </a:avLst>
          </a:prstGeom>
          <a:solidFill>
            <a:srgbClr val="FFFBF0"/>
          </a:solidFill>
          <a:ln w="9525">
            <a:solidFill>
              <a:srgbClr val="E0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81025" y="3915221"/>
            <a:ext cx="5286375" cy="9525"/>
          </a:xfrm>
          <a:prstGeom prst="rect">
            <a:avLst/>
          </a:prstGeom>
          <a:solidFill>
            <a:srgbClr val="F0E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1025" y="3667571"/>
            <a:ext cx="5324475" cy="238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9A6E00"/>
                </a:solidFill>
                <a:latin typeface="Microsoft YaHei"/>
              </a:rPr>
              <a:t>创新三 提出「预告区段」构念，把注意加工在时间轴上分段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4000946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既有注意框架把预警后的加工视为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单一连续过程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。本研究指出盲区把五阶段以显露时刻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强制拆成两段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：预告区段只能完成预测与预置决策，显露区段才能完成扫视与确认。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" y="4456062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由此，盲区预警的功能不是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加速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已有链条，而是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从无到有创造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一个加工窗口——其理论收益上限高于非盲区，代价亦更高。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4911179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判据 P1′／P2′／P3′：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放弃预告区段绩效更差；盲区最优提前量更大；收益单调递增且存在饱和。三条均给出明确否证条件。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" y="5366295"/>
            <a:ext cx="5257800" cy="246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测量：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预告区段内向遮挡体边缘的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预期性注视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为直接指标。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725" y="3543746"/>
            <a:ext cx="5572125" cy="2914203"/>
          </a:xfrm>
          <a:prstGeom prst="roundRect">
            <a:avLst>
              <a:gd name="adj" fmla="val 2287"/>
            </a:avLst>
          </a:prstGeom>
          <a:solidFill>
            <a:srgbClr val="FFFFFF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324600" y="3915221"/>
            <a:ext cx="5286375" cy="9525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4600" y="3667571"/>
            <a:ext cx="5324475" cy="238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F528F"/>
                </a:solidFill>
                <a:latin typeface="Microsoft YaHei"/>
              </a:rPr>
              <a:t>创新四 输出形式由「单一冠军」改为查表式规范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275" y="4000946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既有研究的结论形式多为「某方案优于某方案」。本研究首次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正交比较遮挡条件下的四类锚定策略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，并把遮挡几何设为交叉因子。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275" y="4456062"/>
            <a:ext cx="5257800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因预测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最优解随遮挡几何反转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（P5′），输出形式相应改为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「遮挡几何 × 可用视场 → 推荐锚定」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的查表式规范，并按量产视场界定三档：当前可实现、有条件可实现、当前不可实现。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275" y="5129212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同时把参数一律以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运动学量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表达（制动威胁数、风险区纵深按 TTC 乘车速），使时间侧与空间侧建立在同一物理量上，便于最终整合为单一时空模型。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275" y="5584328"/>
            <a:ext cx="5257800" cy="246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判据：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存在显著的锚定策略 × 遮挡几何交互。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03955" y="6562725"/>
            <a:ext cx="38799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可行性分析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四项已具备的基础与三条预先声明的退化路径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1355" y="209550"/>
            <a:ext cx="432494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26130" y="238125"/>
            <a:ext cx="26104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7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150" y="762000"/>
            <a:ext cx="5572125" cy="4585096"/>
          </a:xfrm>
          <a:prstGeom prst="roundRect">
            <a:avLst>
              <a:gd name="adj" fmla="val 1454"/>
            </a:avLst>
          </a:prstGeom>
          <a:solidFill>
            <a:srgbClr val="F6FBF6"/>
          </a:solidFill>
          <a:ln w="9525">
            <a:solidFill>
              <a:srgbClr val="3E7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1025" y="1133475"/>
            <a:ext cx="5286375" cy="9525"/>
          </a:xfrm>
          <a:prstGeom prst="rect">
            <a:avLst/>
          </a:prstGeom>
          <a:solidFill>
            <a:srgbClr val="CFE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1025" y="885825"/>
            <a:ext cx="5324475" cy="238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3E7D3E"/>
                </a:solidFill>
                <a:latin typeface="Microsoft YaHei"/>
              </a:rPr>
              <a:t>已具备的基础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219200"/>
            <a:ext cx="5257800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文献基础已完成。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102 篇文献库建成并逐篇结构化；盲区专题筛查完成（85 条命中 → 21 篇可用，其中以遮挡为核心条件者 6 篇）；参考文献经按数字对象标识符、论文编号与接口三路核验。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892349"/>
            <a:ext cx="5257800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场景族可复现。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遮挡体、行人位置与步速、车速与探测时刻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全部取自已发表范式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（同色厢式货车与路侧公交车、边线外 2.5 m、1.0 与 1.5 m/s、40 与 60 km/h、距行人 100 m 触发），非自拟参数。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2565499"/>
            <a:ext cx="5257800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方法学规范已定。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被试内设计加混合模型、主要结局预注册、次要结局按错误发现率校正、四类动态兴趣区、有效率不低于 80%、相邻危险事件间隔 60 s（依据：次任务后分心持续 30 s 以上，留一倍冗余）。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3238648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招募压力已被结构性降低。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显露时刻为几何量、被试间恒定，故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实验 4 无须复用实验 1 的被试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；仅实验 1 与实验 2 需复用同批被试。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725" y="762000"/>
            <a:ext cx="5572125" cy="4585096"/>
          </a:xfrm>
          <a:prstGeom prst="roundRect">
            <a:avLst>
              <a:gd name="adj" fmla="val 1454"/>
            </a:avLst>
          </a:prstGeom>
          <a:solidFill>
            <a:srgbClr val="FEF6F6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324600" y="1133475"/>
            <a:ext cx="5286375" cy="9525"/>
          </a:xfrm>
          <a:prstGeom prst="rect">
            <a:avLst/>
          </a:prstGeom>
          <a:solidFill>
            <a:srgbClr val="F0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4600" y="885825"/>
            <a:ext cx="5324475" cy="238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C00000"/>
                </a:solidFill>
                <a:latin typeface="Microsoft YaHei"/>
              </a:rPr>
              <a:t>风险与预先声明的应对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1219200"/>
            <a:ext cx="5257800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风险一：递进设计的阻塞。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下游实验以上游产出为固定参数。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应对①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 若自发察觉时刻方差过大而无法定出稳定基准，实验 2 退化为绝对时距与相对提前量的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双参数化并行报告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，即把提前量作协变量而非自变量。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275" y="1892349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风险二：解析解失准。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应对②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 若显露时刻的解析解与实测眼动偏差超阈值，实验 4 改以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实测显露时刻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为零点，并把解析误差作为协变量报告。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2347466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风险三：穿透显影的晕动脱落。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应对③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 若脱落率超过 25%，该水平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降级为探索性分析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，主分析在余下四水平上进行；样本量估计已按 15% 预留。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2802582"/>
            <a:ext cx="5257800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风险四：场景可预期性。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被试数试次后即习得「遮挡体后必有行人」。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四项控制：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填充试次把遮挡事件压至不超过总事件四分之一；设置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遮挡体后无行人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的捕获试次；试次序号作协变量显式检验学习效应；报告首个遮挡试次的单独结果作为「无预期」近似。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475732"/>
            <a:ext cx="5257800" cy="246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C00000"/>
                </a:solidFill>
                <a:latin typeface="Microsoft YaHei"/>
              </a:rPr>
              <a:t>三条退化路径均预先声明，不得在见到数据后选择。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150" y="5451871"/>
            <a:ext cx="11315700" cy="1006078"/>
          </a:xfrm>
          <a:prstGeom prst="rect">
            <a:avLst/>
          </a:prstGeom>
          <a:solidFill>
            <a:srgbClr val="FD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38150" y="5451871"/>
            <a:ext cx="38100" cy="100607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1975" y="5537596"/>
            <a:ext cx="11106150" cy="86320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 i="0">
                <a:solidFill>
                  <a:srgbClr val="7A1F1F"/>
                </a:solidFill>
                <a:latin typeface="Microsoft YaHei"/>
              </a:rPr>
              <a:t>结论边界（七条，须在论文中显式声明）：</a:t>
            </a:r>
            <a:r>
              <a:rPr sz="990" b="0" i="0">
                <a:solidFill>
                  <a:srgbClr val="7A1F1F"/>
                </a:solidFill>
                <a:latin typeface="Microsoft YaHei"/>
              </a:rPr>
              <a:t>① 短期模拟驾驶、视觉 AR-HUD、城市行人横穿，不外推长期使用与最后时刻的多模态干预；② 盲区限于</a:t>
            </a:r>
            <a:r>
              <a:rPr sz="990" b="1" i="0">
                <a:solidFill>
                  <a:srgbClr val="7A1F1F"/>
                </a:solidFill>
                <a:latin typeface="Microsoft YaHei"/>
              </a:rPr>
              <a:t>单一遮挡体的几何遮挡</a:t>
            </a:r>
            <a:r>
              <a:rPr sz="990" b="0" i="0">
                <a:solidFill>
                  <a:srgbClr val="7A1F1F"/>
                </a:solidFill>
                <a:latin typeface="Microsoft YaHei"/>
              </a:rPr>
              <a:t>，多重遮挡、行进车辆造成的间歇遮挡与天气致能见度下降均不在范围内；③ 显露时刻的解析解</a:t>
            </a:r>
            <a:r>
              <a:rPr sz="990" b="1" i="0">
                <a:solidFill>
                  <a:srgbClr val="7A1F1F"/>
                </a:solidFill>
                <a:latin typeface="Microsoft YaHei"/>
              </a:rPr>
              <a:t>跨车型须重算</a:t>
            </a:r>
            <a:r>
              <a:rPr sz="990" b="0" i="0">
                <a:solidFill>
                  <a:srgbClr val="7A1F1F"/>
                </a:solidFill>
                <a:latin typeface="Microsoft YaHei"/>
              </a:rPr>
              <a:t>；④ 探测时刻在模拟器中为程序设定而非真实传感器性能，其随遮挡比例的退化曲线为已知缺口；⑤ 探测时刻设定</a:t>
            </a:r>
            <a:r>
              <a:rPr sz="990" b="1" i="0">
                <a:solidFill>
                  <a:srgbClr val="7A1F1F"/>
                </a:solidFill>
                <a:latin typeface="Microsoft YaHei"/>
              </a:rPr>
              <a:t>依赖路侧与车路协同输入</a:t>
            </a:r>
            <a:r>
              <a:rPr sz="990" b="0" i="0">
                <a:solidFill>
                  <a:srgbClr val="7A1F1F"/>
                </a:solidFill>
                <a:latin typeface="Microsoft YaHei"/>
              </a:rPr>
              <a:t>；⑥ 穿透显影条件受渲染保真度限制，不外推至真实光学 AR-HUD；⑦ 场景可预期性无法完全消除，故效应量的</a:t>
            </a:r>
            <a:r>
              <a:rPr sz="990" b="1" i="0">
                <a:solidFill>
                  <a:srgbClr val="7A1F1F"/>
                </a:solidFill>
                <a:latin typeface="Microsoft YaHei"/>
              </a:rPr>
              <a:t>偏误方向不明</a:t>
            </a:r>
            <a:r>
              <a:rPr sz="990" b="0" i="0">
                <a:solidFill>
                  <a:srgbClr val="7A1F1F"/>
                </a:solidFill>
                <a:latin typeface="Microsoft YaHei"/>
              </a:rPr>
              <a:t>，须并列陈述高估与低估两种可能，不得单向断言保守。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03955" y="6562725"/>
            <a:ext cx="38799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工作计划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21 个月，六阶段，含两处并行与三处评审节点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1355" y="209550"/>
            <a:ext cx="432494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26130" y="238125"/>
            <a:ext cx="26104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8 / 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8150" y="762000"/>
          <a:ext cx="11315694" cy="46672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9971"/>
                <a:gridCol w="1131540"/>
                <a:gridCol w="382488"/>
                <a:gridCol w="382488"/>
                <a:gridCol w="382488"/>
                <a:gridCol w="382488"/>
                <a:gridCol w="382488"/>
                <a:gridCol w="382488"/>
                <a:gridCol w="382488"/>
                <a:gridCol w="382488"/>
                <a:gridCol w="382488"/>
                <a:gridCol w="382488"/>
                <a:gridCol w="382488"/>
                <a:gridCol w="382488"/>
                <a:gridCol w="382488"/>
                <a:gridCol w="382488"/>
                <a:gridCol w="382488"/>
                <a:gridCol w="382488"/>
                <a:gridCol w="382488"/>
                <a:gridCol w="382488"/>
                <a:gridCol w="382488"/>
                <a:gridCol w="382488"/>
                <a:gridCol w="384423"/>
              </a:tblGrid>
              <a:tr h="342900"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阶段与任务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起止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26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09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11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27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04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05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06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07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08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09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11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28</a:t>
                      </a:r>
                    </a:p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04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90" b="1" i="0">
                          <a:solidFill>
                            <a:srgbClr val="FFFFFF"/>
                          </a:solidFill>
                          <a:latin typeface="Microsoft YaHei"/>
                        </a:rPr>
                        <a:t>05</a:t>
                      </a:r>
                    </a:p>
                  </a:txBody>
                  <a:tcPr marL="28575" marR="28575" marT="28575" marB="28575" anchor="t">
                    <a:solidFill>
                      <a:srgbClr val="4472C4"/>
                    </a:solidFill>
                  </a:tcPr>
                </a:tc>
              </a:tr>
              <a:tr h="493216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一 基础建设</a:t>
                      </a:r>
                    </a:p>
                    <a:p>
                      <a:pPr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文献补全 · 解析式推导 · 场景族开发 · 指标与工具链</a:t>
                      </a:r>
                    </a:p>
                  </a:txBody>
                  <a:tcPr marL="57150" marR="57150" marT="15240" marB="15240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26.09</a:t>
                      </a:r>
                    </a:p>
                    <a:p>
                      <a:pPr algn="ctr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26.11</a:t>
                      </a:r>
                    </a:p>
                  </a:txBody>
                  <a:tcPr marL="57150" marR="57150" marT="15240" marB="15240" anchor="t">
                    <a:solidFill>
                      <a:srgbClr val="FAFBFD"/>
                    </a:solidFill>
                  </a:tcPr>
                </a:tc>
                <a:tc gridSpan="21"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57150" marR="57150" marT="15240" marB="15240" anchor="t">
                    <a:solidFill>
                      <a:srgbClr val="FAFBFD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97978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二 预实验与实验 1</a:t>
                      </a:r>
                    </a:p>
                    <a:p>
                      <a:pPr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双情境标定 · 解析解双重核验 · 方差成分与样本量重算</a:t>
                      </a:r>
                    </a:p>
                  </a:txBody>
                  <a:tcPr marL="57150" marR="57150" marT="15240" marB="15240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26.12</a:t>
                      </a:r>
                    </a:p>
                    <a:p>
                      <a:pPr algn="ctr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27.01</a:t>
                      </a:r>
                    </a:p>
                  </a:txBody>
                  <a:tcPr marL="57150" marR="57150" marT="15240" marB="15240" anchor="t">
                    <a:noFill/>
                  </a:tcPr>
                </a:tc>
                <a:tc gridSpan="21"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57150" marR="57150" marT="15240" marB="15240" anchor="t"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97978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三 实验 2</a:t>
                      </a:r>
                    </a:p>
                    <a:p>
                      <a:pPr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非盲区时间参数（2 × 3）+ 区块 B 持续与撤销</a:t>
                      </a:r>
                    </a:p>
                  </a:txBody>
                  <a:tcPr marL="57150" marR="57150" marT="15240" marB="15240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27.02</a:t>
                      </a:r>
                    </a:p>
                    <a:p>
                      <a:pPr algn="ctr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27.04</a:t>
                      </a:r>
                    </a:p>
                  </a:txBody>
                  <a:tcPr marL="57150" marR="57150" marT="15240" marB="15240" anchor="t">
                    <a:solidFill>
                      <a:srgbClr val="FAFBFD"/>
                    </a:solidFill>
                  </a:tcPr>
                </a:tc>
                <a:tc gridSpan="21"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57150" marR="57150" marT="15240" marB="15240" anchor="t">
                    <a:solidFill>
                      <a:srgbClr val="FAFBFD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97978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四 实验 3</a:t>
                      </a:r>
                    </a:p>
                    <a:p>
                      <a:pPr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非盲区空间参数（5 × 2）+ 反向迁移区块</a:t>
                      </a:r>
                    </a:p>
                  </a:txBody>
                  <a:tcPr marL="57150" marR="57150" marT="15240" marB="15240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27.05</a:t>
                      </a:r>
                    </a:p>
                    <a:p>
                      <a:pPr algn="ctr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27.07</a:t>
                      </a:r>
                    </a:p>
                  </a:txBody>
                  <a:tcPr marL="57150" marR="57150" marT="15240" marB="15240" anchor="t">
                    <a:noFill/>
                  </a:tcPr>
                </a:tc>
                <a:tc gridSpan="21"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57150" marR="57150" marT="15240" marB="15240" anchor="t"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97978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五 实验 4</a:t>
                      </a:r>
                    </a:p>
                    <a:p>
                      <a:pPr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盲区时间参数与可靠性（4 × 2）+ 区块 B 分层语义分化</a:t>
                      </a:r>
                    </a:p>
                  </a:txBody>
                  <a:tcPr marL="57150" marR="57150" marT="15240" marB="15240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27.08</a:t>
                      </a:r>
                    </a:p>
                    <a:p>
                      <a:pPr algn="ctr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27.10</a:t>
                      </a:r>
                    </a:p>
                  </a:txBody>
                  <a:tcPr marL="57150" marR="57150" marT="15240" marB="15240" anchor="t">
                    <a:solidFill>
                      <a:srgbClr val="FAFBFD"/>
                    </a:solidFill>
                  </a:tcPr>
                </a:tc>
                <a:tc gridSpan="21"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57150" marR="57150" marT="15240" marB="15240" anchor="t">
                    <a:solidFill>
                      <a:srgbClr val="FAFBFD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45281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六 实验 5</a:t>
                      </a:r>
                    </a:p>
                    <a:p>
                      <a:pPr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盲区锚定策略（5 × 2）+ 正向迁移区块</a:t>
                      </a:r>
                    </a:p>
                  </a:txBody>
                  <a:tcPr marL="57150" marR="57150" marT="15240" marB="15240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27.11</a:t>
                      </a:r>
                    </a:p>
                    <a:p>
                      <a:pPr algn="ctr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28.01</a:t>
                      </a:r>
                    </a:p>
                  </a:txBody>
                  <a:tcPr marL="57150" marR="57150" marT="15240" marB="15240" anchor="t">
                    <a:noFill/>
                  </a:tcPr>
                </a:tc>
                <a:tc gridSpan="21"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57150" marR="57150" marT="15240" marB="15240" anchor="t"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97978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七 整合与撰写</a:t>
                      </a:r>
                    </a:p>
                    <a:p>
                      <a:pPr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迁移损失估计 · 帕累托前沿 · 规范输出 · 论文撰写与送审</a:t>
                      </a:r>
                    </a:p>
                  </a:txBody>
                  <a:tcPr marL="57150" marR="57150" marT="15240" marB="15240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28.02</a:t>
                      </a:r>
                    </a:p>
                    <a:p>
                      <a:pPr algn="ctr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28.05</a:t>
                      </a:r>
                    </a:p>
                  </a:txBody>
                  <a:tcPr marL="57150" marR="57150" marT="15240" marB="15240" anchor="t">
                    <a:solidFill>
                      <a:srgbClr val="FAFBFD"/>
                    </a:solidFill>
                  </a:tcPr>
                </a:tc>
                <a:tc gridSpan="21"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57150" marR="57150" marT="15240" marB="15240" anchor="t">
                    <a:solidFill>
                      <a:srgbClr val="FAFBFD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97978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1A1A1A"/>
                          </a:solidFill>
                          <a:latin typeface="Microsoft YaHei"/>
                        </a:rPr>
                        <a:t>并行：论文撰写</a:t>
                      </a:r>
                    </a:p>
                    <a:p>
                      <a:pPr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第 1–2 章随阶段一定稿；各实验章随实验完成即写</a:t>
                      </a:r>
                    </a:p>
                  </a:txBody>
                  <a:tcPr marL="57150" marR="57150" marT="15240" marB="15240" anchor="t">
                    <a:noFill/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26.10</a:t>
                      </a:r>
                    </a:p>
                    <a:p>
                      <a:pPr algn="ctr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28.05</a:t>
                      </a:r>
                    </a:p>
                  </a:txBody>
                  <a:tcPr marL="57150" marR="57150" marT="15240" marB="15240" anchor="t">
                    <a:noFill/>
                  </a:tcPr>
                </a:tc>
                <a:tc gridSpan="21"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57150" marR="57150" marT="15240" marB="15240" anchor="t"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97978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C00000"/>
                          </a:solidFill>
                          <a:latin typeface="Microsoft YaHei"/>
                        </a:rPr>
                        <a:t>评审节点</a:t>
                      </a:r>
                    </a:p>
                    <a:p>
                      <a:pPr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① 预注册提交 ② 中期检查 ③ 预答辩</a:t>
                      </a:r>
                    </a:p>
                  </a:txBody>
                  <a:tcPr marL="57150" marR="57150" marT="15240" marB="15240" anchor="t">
                    <a:solidFill>
                      <a:srgbClr val="FAFBFD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ctr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27.01</a:t>
                      </a:r>
                    </a:p>
                    <a:p>
                      <a:pPr algn="ctr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27.10</a:t>
                      </a:r>
                    </a:p>
                    <a:p>
                      <a:pPr algn="ctr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90" b="0" i="0">
                          <a:solidFill>
                            <a:srgbClr val="1A1A1A"/>
                          </a:solidFill>
                          <a:latin typeface="Microsoft YaHei"/>
                        </a:rPr>
                        <a:t>28.03</a:t>
                      </a:r>
                    </a:p>
                  </a:txBody>
                  <a:tcPr marL="57150" marR="57150" marT="15240" marB="15240" anchor="t">
                    <a:solidFill>
                      <a:srgbClr val="FAFBFD"/>
                    </a:solidFill>
                  </a:tcPr>
                </a:tc>
                <a:tc gridSpan="21"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57150" marR="57150" marT="15240" marB="15240" anchor="t">
                    <a:solidFill>
                      <a:srgbClr val="FAFBFD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38150" y="5510212"/>
            <a:ext cx="11315700" cy="727918"/>
          </a:xfrm>
          <a:prstGeom prst="rect">
            <a:avLst/>
          </a:prstGeom>
          <a:solidFill>
            <a:srgbClr val="F2F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38150" y="5510212"/>
            <a:ext cx="38100" cy="727918"/>
          </a:xfrm>
          <a:prstGeom prst="rect">
            <a:avLst/>
          </a:prstGeom>
          <a:solidFill>
            <a:srgbClr val="3E7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2450" y="5586412"/>
            <a:ext cx="11125200" cy="604093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F5A1F"/>
                </a:solidFill>
                <a:latin typeface="Microsoft YaHei"/>
              </a:rPr>
              <a:t>进度安排的三条依据：</a:t>
            </a:r>
            <a:r>
              <a:rPr sz="940" b="0" i="0">
                <a:solidFill>
                  <a:srgbClr val="1F5A1F"/>
                </a:solidFill>
                <a:latin typeface="Microsoft YaHei"/>
              </a:rPr>
              <a:t>① </a:t>
            </a:r>
            <a:r>
              <a:rPr sz="940" b="1" i="0">
                <a:solidFill>
                  <a:srgbClr val="1F5A1F"/>
                </a:solidFill>
                <a:latin typeface="Microsoft YaHei"/>
              </a:rPr>
              <a:t>预注册置于实验 1 之后、实验 2 之前</a:t>
            </a:r>
            <a:r>
              <a:rPr sz="940" b="0" i="0">
                <a:solidFill>
                  <a:srgbClr val="1F5A1F"/>
                </a:solidFill>
                <a:latin typeface="Microsoft YaHei"/>
              </a:rPr>
              <a:t>——因样本量须按实验 1 实测的方差成分重算，过早预注册会导致功效分析失效；② </a:t>
            </a:r>
            <a:r>
              <a:rPr sz="940" b="1" i="0">
                <a:solidFill>
                  <a:srgbClr val="1F5A1F"/>
                </a:solidFill>
                <a:latin typeface="Microsoft YaHei"/>
              </a:rPr>
              <a:t>实验 4 不排在实验 2 之后而排在实验 3 之后</a:t>
            </a:r>
            <a:r>
              <a:rPr sz="940" b="0" i="0">
                <a:solidFill>
                  <a:srgbClr val="1F5A1F"/>
                </a:solidFill>
                <a:latin typeface="Microsoft YaHei"/>
              </a:rPr>
              <a:t>——虽然实验 4 无须复用被试、理论上可与研究一并行，但其时间参数水平须与实验 2 入选值对齐以保证跨情境可比，故仍置于研究一之后；③ </a:t>
            </a:r>
            <a:r>
              <a:rPr sz="940" b="1" i="0">
                <a:solidFill>
                  <a:srgbClr val="1F5A1F"/>
                </a:solidFill>
                <a:latin typeface="Microsoft YaHei"/>
              </a:rPr>
              <a:t>两处迁移区块分别嵌入实验 3 与实验 5 的末尾</a:t>
            </a:r>
            <a:r>
              <a:rPr sz="940" b="0" i="0">
                <a:solidFill>
                  <a:srgbClr val="1F5A1F"/>
                </a:solidFill>
                <a:latin typeface="Microsoft YaHei"/>
              </a:rPr>
              <a:t>而非独立成实验，以节省一轮招募与场景开发。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03955" y="6562725"/>
            <a:ext cx="38799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150" y="590550"/>
            <a:ext cx="11315700" cy="1905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150" y="190500"/>
            <a:ext cx="11353800" cy="33337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1A1A1A"/>
                </a:solidFill>
                <a:latin typeface="Microsoft YaHei"/>
              </a:rPr>
              <a:t>预期成果</a:t>
            </a:r>
            <a:r>
              <a:rPr sz="1580" b="1" i="0">
                <a:solidFill>
                  <a:srgbClr val="4472C4"/>
                </a:solidFill>
                <a:latin typeface="Microsoft YaHei"/>
              </a:rPr>
              <a:t>五类交付物与已完成部分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1355" y="209550"/>
            <a:ext cx="432494" cy="219075"/>
          </a:xfrm>
          <a:prstGeom prst="roundRect">
            <a:avLst>
              <a:gd name="adj" fmla="val 47826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26130" y="238125"/>
            <a:ext cx="26104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</a:rPr>
              <a:t>8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150" y="762000"/>
            <a:ext cx="5572125" cy="4669035"/>
          </a:xfrm>
          <a:prstGeom prst="roundRect">
            <a:avLst>
              <a:gd name="adj" fmla="val 1428"/>
            </a:avLst>
          </a:prstGeom>
          <a:solidFill>
            <a:srgbClr val="FFFFFF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1025" y="1133475"/>
            <a:ext cx="5286375" cy="9525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1025" y="885825"/>
            <a:ext cx="5324475" cy="238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2F528F"/>
                </a:solidFill>
                <a:latin typeface="Microsoft YaHei"/>
              </a:rPr>
              <a:t>预期交付物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219200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① 学位论文一部。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含双情境参数规范、显露时刻解析式、四类锚定策略的首次正交对照，以及迁移损失的实测。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674316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② 学术论文。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时间侧一篇（预告区段的独立价值与最优提前量的情境差）、空间侧一篇（遮挡条件下的锚定策略与几何交互）。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2129432"/>
            <a:ext cx="5257800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③ 设计规范文本。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两套参数区间（提前量、触发准则、持续与撤销、分层语义、锚定策略），以运动学量表达以便跨车速迁移；并以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「遮挡几何 × 可用视场 → 推荐锚定」查表式规范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给出量产落地判据与退化路径。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2802582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④ 可复现材料。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显露时刻解析式与推导、视线锥仿真脚本、场景族参数表、四类动态兴趣区定义、预注册记录与分析脚本。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3257698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⑤ 证据底账。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盲区专题证据台账（含证据等级、数值锚点与引用禁则），以及 12 条补检题录的补全记录。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725" y="762000"/>
            <a:ext cx="5572125" cy="4669035"/>
          </a:xfrm>
          <a:prstGeom prst="roundRect">
            <a:avLst>
              <a:gd name="adj" fmla="val 1428"/>
            </a:avLst>
          </a:prstGeom>
          <a:solidFill>
            <a:srgbClr val="F6FBF6"/>
          </a:solidFill>
          <a:ln w="9525">
            <a:solidFill>
              <a:srgbClr val="3E7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324600" y="1133475"/>
            <a:ext cx="5286375" cy="9525"/>
          </a:xfrm>
          <a:prstGeom prst="rect">
            <a:avLst/>
          </a:prstGeom>
          <a:solidFill>
            <a:srgbClr val="CFE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4600" y="885825"/>
            <a:ext cx="5324475" cy="23812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3E7D3E"/>
                </a:solidFill>
                <a:latin typeface="Microsoft YaHei"/>
              </a:rPr>
              <a:t>已完成部分（本次开题的支撑材料）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275" y="1219200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文献库。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102 篇结构化笔记 + 综合表 + 参考文献表（经三路核验）；主线文献综述正文（七环节、七组冲突辨析、九项空白）。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1674316"/>
            <a:ext cx="5257800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盲区专题。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全库 30 关键词正则筛查（85 条命中 → 21 篇可用，A 类 6 篇）；证据台账（六处边界推翻、17 项数值锚点、10 条引用禁则）；专题文献综述正文（含四组遮挡专题冲突辨析与七项空白）。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2347466"/>
            <a:ext cx="5257800" cy="46464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框架文本。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双情境研究框架（术语表、三重约束情境分化、五实验设计、六条预测加五条假设、指标体系、结论边界七条）。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2802582"/>
            <a:ext cx="5257800" cy="6826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66000"/>
              </a:lnSpc>
              <a:spcBef>
                <a:spcPts val="0"/>
              </a:spcBef>
              <a:spcAft>
                <a:spcPts val="0"/>
              </a:spcAft>
            </a:pPr>
            <a:r>
              <a:rPr sz="1040">
                <a:latin typeface="Microsoft YaHei"/>
              </a:rPr>
              <a:t>• 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汇报材料。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研究汇报 13 页与本开题报告，均经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自动化排版探针核验零溢出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；配套逐字讲稿经</a:t>
            </a:r>
            <a:r>
              <a:rPr sz="1040" b="1" i="0">
                <a:solidFill>
                  <a:srgbClr val="1A1A1A"/>
                </a:solidFill>
                <a:latin typeface="Microsoft YaHei"/>
              </a:rPr>
              <a:t>逐页标题、分块与计时三项校验</a:t>
            </a:r>
            <a:r>
              <a:rPr sz="1040" b="0" i="0">
                <a:solidFill>
                  <a:srgbClr val="1A1A1A"/>
                </a:solidFill>
                <a:latin typeface="Microsoft YaHei"/>
              </a:rPr>
              <a:t>；交付物另经目录级一致性校验器核验数值跨文件一致、术语统一、编号成套与路径可解析。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150" y="5535810"/>
            <a:ext cx="11315700" cy="922139"/>
          </a:xfrm>
          <a:prstGeom prst="rect">
            <a:avLst/>
          </a:prstGeom>
          <a:solidFill>
            <a:srgbClr val="D9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38150" y="5535810"/>
            <a:ext cx="38100" cy="922139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025" y="5640585"/>
            <a:ext cx="11068050" cy="74116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i="0">
                <a:solidFill>
                  <a:srgbClr val="2F528F"/>
                </a:solidFill>
                <a:latin typeface="Microsoft YaHei"/>
              </a:rPr>
              <a:t>本课题的贡献主张：</a:t>
            </a:r>
            <a:r>
              <a:rPr sz="1090" b="0" i="0">
                <a:solidFill>
                  <a:srgbClr val="2F528F"/>
                </a:solidFill>
                <a:latin typeface="Microsoft YaHei"/>
              </a:rPr>
              <a:t>AR-HUD 行人碰撞预警的时空参数</a:t>
            </a:r>
            <a:r>
              <a:rPr sz="1090" b="1" i="0">
                <a:solidFill>
                  <a:srgbClr val="2F528F"/>
                </a:solidFill>
                <a:latin typeface="Microsoft YaHei"/>
              </a:rPr>
              <a:t>不存在跨情境通用的取值</a:t>
            </a:r>
            <a:r>
              <a:rPr sz="1090" b="0" i="0">
                <a:solidFill>
                  <a:srgbClr val="2F528F"/>
                </a:solidFill>
                <a:latin typeface="Microsoft YaHei"/>
              </a:rPr>
              <a:t>；决定取值的首要因素不是显示技术，而是危险目标在预警时刻是否可见。本研究以自然显露时刻替代自发察觉时刻作为盲区零点，提出并检验</a:t>
            </a:r>
            <a:r>
              <a:rPr sz="1090" b="1" i="0">
                <a:solidFill>
                  <a:srgbClr val="2F528F"/>
                </a:solidFill>
                <a:latin typeface="Microsoft YaHei"/>
              </a:rPr>
              <a:t>预告区段</a:t>
            </a:r>
            <a:r>
              <a:rPr sz="1090" b="0" i="0">
                <a:solidFill>
                  <a:srgbClr val="2F528F"/>
                </a:solidFill>
                <a:latin typeface="Microsoft YaHei"/>
              </a:rPr>
              <a:t>这一构念，首次正交比较遮挡条件下的四类锚定策略，并以</a:t>
            </a:r>
            <a:r>
              <a:rPr sz="1090" b="1" i="0">
                <a:solidFill>
                  <a:srgbClr val="2F528F"/>
                </a:solidFill>
                <a:latin typeface="Microsoft YaHei"/>
              </a:rPr>
              <a:t>可自我否证的迁移损失检验</a:t>
            </a:r>
            <a:r>
              <a:rPr sz="1090" b="0" i="0">
                <a:solidFill>
                  <a:srgbClr val="2F528F"/>
                </a:solidFill>
                <a:latin typeface="Microsoft YaHei"/>
              </a:rPr>
              <a:t>为这一整套主张提供成立或不成立的判据。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03955" y="6562725"/>
            <a:ext cx="387994" cy="1905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C8C8C"/>
                </a:solidFill>
                <a:latin typeface="Microsoft YaHe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