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78149" y="1800225"/>
            <a:ext cx="7073800" cy="988516"/>
          </a:xfrm>
          <a:prstGeom prst="rect">
            <a:avLst/>
          </a:prstGeom>
          <a:noFill/>
        </p:spPr>
        <p:txBody>
          <a:bodyPr wrap="square" lIns="0" rIns="0" tIns="0" bIns="0" anchor="t">
            <a:normAutofit/>
          </a:bodyPr>
          <a:lstStyle/>
          <a:p>
            <a:pPr algn="ctr">
              <a:lnSpc>
                <a:spcPct val="144000"/>
              </a:lnSpc>
              <a:spcBef>
                <a:spcPts val="0"/>
              </a:spcBef>
              <a:spcAft>
                <a:spcPts val="0"/>
              </a:spcAft>
            </a:pPr>
            <a:r>
              <a:rPr sz="2620" b="1" i="0">
                <a:solidFill>
                  <a:srgbClr val="2F528F"/>
                </a:solidFill>
                <a:latin typeface="Microsoft YaHei"/>
              </a:rPr>
              <a:t>AR-HUD 行人碰撞预警的情境依赖时空参数设计</a:t>
            </a:r>
          </a:p>
          <a:p>
            <a:pPr algn="ctr">
              <a:lnSpc>
                <a:spcPct val="144000"/>
              </a:lnSpc>
              <a:spcBef>
                <a:spcPts val="0"/>
              </a:spcBef>
              <a:spcAft>
                <a:spcPts val="0"/>
              </a:spcAft>
            </a:pPr>
            <a:r>
              <a:rPr sz="2620" b="1" i="0">
                <a:solidFill>
                  <a:srgbClr val="2F528F"/>
                </a:solidFill>
                <a:latin typeface="Microsoft YaHei"/>
              </a:rPr>
              <a:t>非盲区与盲区双情境的分别标定及其迁移损失</a:t>
            </a:r>
          </a:p>
        </p:txBody>
      </p:sp>
      <p:sp>
        <p:nvSpPr>
          <p:cNvPr id="3" name="Rectangle 2"/>
          <p:cNvSpPr/>
          <p:nvPr/>
        </p:nvSpPr>
        <p:spPr>
          <a:xfrm>
            <a:off x="5476875" y="2893516"/>
            <a:ext cx="1238250" cy="28575"/>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571625" y="3207841"/>
            <a:ext cx="9048750" cy="792063"/>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571625" y="3207841"/>
            <a:ext cx="38100" cy="792063"/>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52600" y="3341191"/>
            <a:ext cx="8724900" cy="553938"/>
          </a:xfrm>
          <a:prstGeom prst="rect">
            <a:avLst/>
          </a:prstGeom>
          <a:noFill/>
        </p:spPr>
        <p:txBody>
          <a:bodyPr wrap="square" lIns="0" rIns="0" tIns="0" bIns="0" anchor="t">
            <a:normAutofit/>
          </a:bodyPr>
          <a:lstStyle/>
          <a:p>
            <a:pPr algn="l">
              <a:lnSpc>
                <a:spcPct val="178000"/>
              </a:lnSpc>
              <a:spcBef>
                <a:spcPts val="0"/>
              </a:spcBef>
              <a:spcAft>
                <a:spcPts val="0"/>
              </a:spcAft>
            </a:pPr>
            <a:r>
              <a:rPr sz="1160" b="1" i="0">
                <a:solidFill>
                  <a:srgbClr val="2F528F"/>
                </a:solidFill>
                <a:latin typeface="Microsoft YaHei"/>
              </a:rPr>
              <a:t>核心论断：</a:t>
            </a:r>
            <a:r>
              <a:rPr sz="1160" b="0" i="0">
                <a:solidFill>
                  <a:srgbClr val="2F528F"/>
                </a:solidFill>
                <a:latin typeface="Microsoft YaHei"/>
              </a:rPr>
              <a:t>时空参数</a:t>
            </a:r>
            <a:r>
              <a:rPr sz="1160" b="1" i="0">
                <a:solidFill>
                  <a:srgbClr val="2F528F"/>
                </a:solidFill>
                <a:latin typeface="Microsoft YaHei"/>
              </a:rPr>
              <a:t>不存在一套跨情境通用的取值</a:t>
            </a:r>
            <a:r>
              <a:rPr sz="1160" b="0" i="0">
                <a:solidFill>
                  <a:srgbClr val="2F528F"/>
                </a:solidFill>
                <a:latin typeface="Microsoft YaHei"/>
              </a:rPr>
              <a:t>。非盲区情境以驾驶员</a:t>
            </a:r>
            <a:r>
              <a:rPr sz="1160" b="1" i="0">
                <a:solidFill>
                  <a:srgbClr val="2F528F"/>
                </a:solidFill>
                <a:latin typeface="Microsoft YaHei"/>
              </a:rPr>
              <a:t>自发察觉时刻</a:t>
            </a:r>
            <a:r>
              <a:rPr sz="1160" b="0" i="0">
                <a:solidFill>
                  <a:srgbClr val="2F528F"/>
                </a:solidFill>
                <a:latin typeface="Microsoft YaHei"/>
              </a:rPr>
              <a:t>为零点， 盲区情境下该零点在物理上不存在，须改以行人</a:t>
            </a:r>
            <a:r>
              <a:rPr sz="1160" b="1" i="0">
                <a:solidFill>
                  <a:srgbClr val="2F528F"/>
                </a:solidFill>
                <a:latin typeface="Microsoft YaHei"/>
              </a:rPr>
              <a:t>自然显露时刻</a:t>
            </a:r>
            <a:r>
              <a:rPr sz="1160" b="0" i="0">
                <a:solidFill>
                  <a:srgbClr val="2F528F"/>
                </a:solidFill>
                <a:latin typeface="Microsoft YaHei"/>
              </a:rPr>
              <a:t>为零点；本研究分别标定两套参数， 并</a:t>
            </a:r>
            <a:r>
              <a:rPr sz="1160" b="1" i="0">
                <a:solidFill>
                  <a:srgbClr val="2F528F"/>
                </a:solidFill>
                <a:latin typeface="Microsoft YaHei"/>
              </a:rPr>
              <a:t>直接实测两者之间的迁移损失</a:t>
            </a:r>
            <a:r>
              <a:rPr sz="1160" b="0" i="0">
                <a:solidFill>
                  <a:srgbClr val="2F528F"/>
                </a:solidFill>
                <a:latin typeface="Microsoft YaHei"/>
              </a:rPr>
              <a:t>，据此判定参数是否须情境自适应。 </a:t>
            </a:r>
          </a:p>
        </p:txBody>
      </p:sp>
      <p:sp>
        <p:nvSpPr>
          <p:cNvPr id="7" name="TextBox 6"/>
          <p:cNvSpPr txBox="1"/>
          <p:nvPr/>
        </p:nvSpPr>
        <p:spPr>
          <a:xfrm>
            <a:off x="1571625" y="4142779"/>
            <a:ext cx="9086850" cy="943570"/>
          </a:xfrm>
          <a:prstGeom prst="rect">
            <a:avLst/>
          </a:prstGeom>
          <a:noFill/>
        </p:spPr>
        <p:txBody>
          <a:bodyPr wrap="square" lIns="0" rIns="0" tIns="0" bIns="0" anchor="t">
            <a:normAutofit/>
          </a:bodyPr>
          <a:lstStyle/>
          <a:p>
            <a:pPr algn="l">
              <a:lnSpc>
                <a:spcPct val="182000"/>
              </a:lnSpc>
              <a:spcBef>
                <a:spcPts val="0"/>
              </a:spcBef>
              <a:spcAft>
                <a:spcPts val="0"/>
              </a:spcAft>
            </a:pPr>
            <a:r>
              <a:rPr sz="990" b="1" i="0">
                <a:solidFill>
                  <a:srgbClr val="2F528F"/>
                </a:solidFill>
                <a:latin typeface="Microsoft YaHei"/>
              </a:rPr>
              <a:t>与主线题目的关系：</a:t>
            </a:r>
            <a:r>
              <a:rPr sz="990" b="0" i="0">
                <a:solidFill>
                  <a:srgbClr val="444444"/>
                </a:solidFill>
                <a:latin typeface="Microsoft YaHei"/>
              </a:rPr>
              <a:t>主线题目《AR-HUD 行人碰撞预警的时空参数设计及其对驾驶员情境意识与避险绩效的影响》按 </a:t>
            </a:r>
            <a:r>
              <a:rPr sz="990" b="1" i="0">
                <a:solidFill>
                  <a:srgbClr val="2F528F"/>
                </a:solidFill>
                <a:latin typeface="Microsoft YaHei"/>
              </a:rPr>
              <a:t>参数类型</a:t>
            </a:r>
            <a:r>
              <a:rPr sz="990" b="0" i="0">
                <a:solidFill>
                  <a:srgbClr val="444444"/>
                </a:solidFill>
                <a:latin typeface="Microsoft YaHei"/>
              </a:rPr>
              <a:t>切分（时间参数／空间参数）；本框架按</a:t>
            </a:r>
            <a:r>
              <a:rPr sz="990" b="1" i="0">
                <a:solidFill>
                  <a:srgbClr val="2F528F"/>
                </a:solidFill>
                <a:latin typeface="Microsoft YaHei"/>
              </a:rPr>
              <a:t>视线可见性</a:t>
            </a:r>
            <a:r>
              <a:rPr sz="990" b="0" i="0">
                <a:solidFill>
                  <a:srgbClr val="444444"/>
                </a:solidFill>
                <a:latin typeface="Microsoft YaHei"/>
              </a:rPr>
              <a:t>重新切分，每个研究内部同时覆盖时间与空间参数。 二者共用同一文献库（102 篇）、同一四类因变量构念与同一判定顺序，</a:t>
            </a:r>
            <a:r>
              <a:rPr sz="990" b="1" i="0">
                <a:solidFill>
                  <a:srgbClr val="2F528F"/>
                </a:solidFill>
                <a:latin typeface="Microsoft YaHei"/>
              </a:rPr>
              <a:t>并非两个课题，而是同一课题的两种切分方案</a:t>
            </a:r>
            <a:r>
              <a:rPr sz="990" b="0" i="0">
                <a:solidFill>
                  <a:srgbClr val="444444"/>
                </a:solidFill>
                <a:latin typeface="Microsoft YaHei"/>
              </a:rPr>
              <a:t>。</a:t>
            </a:r>
          </a:p>
          <a:p>
            <a:pPr algn="l">
              <a:lnSpc>
                <a:spcPct val="182000"/>
              </a:lnSpc>
              <a:spcBef>
                <a:spcPts val="0"/>
              </a:spcBef>
              <a:spcAft>
                <a:spcPts val="0"/>
              </a:spcAft>
            </a:pPr>
            <a:r>
              <a:rPr sz="990" b="0" i="0">
                <a:solidFill>
                  <a:srgbClr val="444444"/>
                </a:solidFill>
                <a:latin typeface="Microsoft YaHei"/>
              </a:rPr>
              <a:t> </a:t>
            </a:r>
            <a:r>
              <a:rPr sz="990" b="1" i="0">
                <a:solidFill>
                  <a:srgbClr val="2F528F"/>
                </a:solidFill>
                <a:latin typeface="Microsoft YaHei"/>
              </a:rPr>
              <a:t>汇报性质：</a:t>
            </a:r>
            <a:r>
              <a:rPr sz="990" b="0" i="0">
                <a:solidFill>
                  <a:srgbClr val="444444"/>
                </a:solidFill>
                <a:latin typeface="Microsoft YaHei"/>
              </a:rPr>
              <a:t>组会研究汇报 | </a:t>
            </a:r>
            <a:r>
              <a:rPr sz="990" b="1" i="0">
                <a:solidFill>
                  <a:srgbClr val="2F528F"/>
                </a:solidFill>
                <a:latin typeface="Microsoft YaHei"/>
              </a:rPr>
              <a:t>版本：</a:t>
            </a:r>
            <a:r>
              <a:rPr sz="990" b="0" i="0">
                <a:solidFill>
                  <a:srgbClr val="444444"/>
                </a:solidFill>
                <a:latin typeface="Microsoft YaHei"/>
              </a:rPr>
              <a:t>2026-08 | </a:t>
            </a:r>
            <a:r>
              <a:rPr sz="990" b="1" i="0">
                <a:solidFill>
                  <a:srgbClr val="2F528F"/>
                </a:solidFill>
                <a:latin typeface="Microsoft YaHei"/>
              </a:rPr>
              <a:t>配套讲稿：</a:t>
            </a:r>
            <a:r>
              <a:rPr sz="990" b="0" i="0">
                <a:solidFill>
                  <a:srgbClr val="444444"/>
                </a:solidFill>
                <a:latin typeface="Microsoft YaHei"/>
              </a:rPr>
              <a:t>研究汇报_双情境框架_讲稿.md（13 页 / 19 分 40 秒） </a:t>
            </a:r>
          </a:p>
        </p:txBody>
      </p:sp>
      <p:sp>
        <p:nvSpPr>
          <p:cNvPr id="8" name="TextBox 7"/>
          <p:cNvSpPr txBox="1"/>
          <p:nvPr/>
        </p:nvSpPr>
        <p:spPr>
          <a:xfrm>
            <a:off x="11467504" y="6562725"/>
            <a:ext cx="324445" cy="190500"/>
          </a:xfrm>
          <a:prstGeom prst="rect">
            <a:avLst/>
          </a:prstGeom>
          <a:noFill/>
        </p:spPr>
        <p:txBody>
          <a:bodyPr wrap="square" lIns="0" rIns="0" tIns="0" bIns="0" anchor="t">
            <a:normAutofit/>
          </a:bodyPr>
          <a:lstStyle/>
          <a:p>
            <a:pPr algn="ctr">
              <a:lnSpc>
                <a:spcPct val="125000"/>
              </a:lnSpc>
              <a:spcBef>
                <a:spcPts val="0"/>
              </a:spcBef>
              <a:spcAft>
                <a:spcPts val="0"/>
              </a:spcAft>
            </a:pPr>
            <a:r>
              <a:rPr sz="900" b="0" i="0">
                <a:solidFill>
                  <a:srgbClr val="8C8C8C"/>
                </a:solidFill>
                <a:latin typeface="Microsoft YaHei"/>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研究问题</a:t>
            </a:r>
            <a:r>
              <a:rPr sz="1580" b="1" i="0">
                <a:solidFill>
                  <a:srgbClr val="4472C4"/>
                </a:solidFill>
                <a:latin typeface="Microsoft YaHei"/>
              </a:rPr>
              <a:t>三个按情境展开的研究问题及其变量结构</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1 / 6</a:t>
            </a:r>
          </a:p>
        </p:txBody>
      </p:sp>
      <p:sp>
        <p:nvSpPr>
          <p:cNvPr id="6" name="Rectangle 5"/>
          <p:cNvSpPr/>
          <p:nvPr/>
        </p:nvSpPr>
        <p:spPr>
          <a:xfrm>
            <a:off x="438150" y="762000"/>
            <a:ext cx="11315700" cy="92213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92213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74116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本研究的对象是 AR-HUD 行人碰撞预警的</a:t>
            </a:r>
            <a:r>
              <a:rPr sz="1090" b="1" i="0">
                <a:solidFill>
                  <a:srgbClr val="2F528F"/>
                </a:solidFill>
                <a:latin typeface="Microsoft YaHei"/>
              </a:rPr>
              <a:t>时空参数</a:t>
            </a:r>
            <a:r>
              <a:rPr sz="1090" b="0" i="0">
                <a:solidFill>
                  <a:srgbClr val="2F528F"/>
                </a:solidFill>
                <a:latin typeface="Microsoft YaHei"/>
              </a:rPr>
              <a:t>。核心判断为：参数</a:t>
            </a:r>
            <a:r>
              <a:rPr sz="1090" b="1" i="0">
                <a:solidFill>
                  <a:srgbClr val="2F528F"/>
                </a:solidFill>
                <a:latin typeface="Microsoft YaHei"/>
              </a:rPr>
              <a:t>不存在跨情境通用的取值</a:t>
            </a:r>
            <a:r>
              <a:rPr sz="1090" b="0" i="0">
                <a:solidFill>
                  <a:srgbClr val="2F528F"/>
                </a:solidFill>
                <a:latin typeface="Microsoft YaHei"/>
              </a:rPr>
              <a:t>——决定其取值的首要因素不是显示技术，而是</a:t>
            </a:r>
            <a:r>
              <a:rPr sz="1090" b="1" i="0">
                <a:solidFill>
                  <a:srgbClr val="2F528F"/>
                </a:solidFill>
                <a:latin typeface="Microsoft YaHei"/>
              </a:rPr>
              <a:t>危险目标在预警时刻是否可见</a:t>
            </a:r>
            <a:r>
              <a:rPr sz="1090" b="0" i="0">
                <a:solidFill>
                  <a:srgbClr val="2F528F"/>
                </a:solidFill>
                <a:latin typeface="Microsoft YaHei"/>
              </a:rPr>
              <a:t>。故本研究按视线可见性把问题切成两个情境分别标定，并直接实测两套参数之间的迁移损失。</a:t>
            </a:r>
            <a:r>
              <a:rPr sz="1090" b="1" i="0">
                <a:solidFill>
                  <a:srgbClr val="2F528F"/>
                </a:solidFill>
                <a:latin typeface="Microsoft YaHei"/>
              </a:rPr>
              <a:t> 四项分目标：O1′</a:t>
            </a:r>
            <a:r>
              <a:rPr sz="1090" b="0" i="0">
                <a:solidFill>
                  <a:srgbClr val="2F528F"/>
                </a:solidFill>
                <a:latin typeface="Microsoft YaHei"/>
              </a:rPr>
              <a:t> 双情境零点的同批标定；</a:t>
            </a:r>
            <a:r>
              <a:rPr sz="1090" b="1" i="0">
                <a:solidFill>
                  <a:srgbClr val="2F528F"/>
                </a:solidFill>
                <a:latin typeface="Microsoft YaHei"/>
              </a:rPr>
              <a:t>O2′</a:t>
            </a:r>
            <a:r>
              <a:rPr sz="1090" b="0" i="0">
                <a:solidFill>
                  <a:srgbClr val="2F528F"/>
                </a:solidFill>
                <a:latin typeface="Microsoft YaHei"/>
              </a:rPr>
              <a:t> 非盲区时空参数标定；</a:t>
            </a:r>
            <a:r>
              <a:rPr sz="1090" b="1" i="0">
                <a:solidFill>
                  <a:srgbClr val="2F528F"/>
                </a:solidFill>
                <a:latin typeface="Microsoft YaHei"/>
              </a:rPr>
              <a:t>O3′</a:t>
            </a:r>
            <a:r>
              <a:rPr sz="1090" b="0" i="0">
                <a:solidFill>
                  <a:srgbClr val="2F528F"/>
                </a:solidFill>
                <a:latin typeface="Microsoft YaHei"/>
              </a:rPr>
              <a:t> 盲区零点重建与时空参数标定；</a:t>
            </a:r>
            <a:r>
              <a:rPr sz="1090" b="1" i="0">
                <a:solidFill>
                  <a:srgbClr val="2F528F"/>
                </a:solidFill>
                <a:latin typeface="Microsoft YaHei"/>
              </a:rPr>
              <a:t>O4′</a:t>
            </a:r>
            <a:r>
              <a:rPr sz="1090" b="0" i="0">
                <a:solidFill>
                  <a:srgbClr val="2F528F"/>
                </a:solidFill>
                <a:latin typeface="Microsoft YaHei"/>
              </a:rPr>
              <a:t> 迁移损失估计与切换判据输出。</a:t>
            </a:r>
          </a:p>
        </p:txBody>
      </p:sp>
      <p:sp>
        <p:nvSpPr>
          <p:cNvPr id="9" name="Rounded Rectangle 8"/>
          <p:cNvSpPr/>
          <p:nvPr/>
        </p:nvSpPr>
        <p:spPr>
          <a:xfrm>
            <a:off x="438150" y="1788914"/>
            <a:ext cx="3689300" cy="3558182"/>
          </a:xfrm>
          <a:prstGeom prst="roundRect">
            <a:avLst>
              <a:gd name="adj" fmla="val 1873"/>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81025" y="2160389"/>
            <a:ext cx="340355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1025" y="1912739"/>
            <a:ext cx="3441650"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RQ1′ 非盲区情境的时空参数</a:t>
            </a:r>
          </a:p>
        </p:txBody>
      </p:sp>
      <p:sp>
        <p:nvSpPr>
          <p:cNvPr id="12" name="TextBox 11"/>
          <p:cNvSpPr txBox="1"/>
          <p:nvPr/>
        </p:nvSpPr>
        <p:spPr>
          <a:xfrm>
            <a:off x="647700" y="2246114"/>
            <a:ext cx="3374975"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行人自始可见时，预警相对驾驶员</a:t>
            </a:r>
            <a:r>
              <a:rPr sz="1040" b="1" i="0">
                <a:solidFill>
                  <a:srgbClr val="1A1A1A"/>
                </a:solidFill>
                <a:latin typeface="Microsoft YaHei"/>
              </a:rPr>
              <a:t>自发察觉时刻 </a:t>
            </a:r>
            <a:r>
              <a:rPr sz="1040" b="1" i="1">
                <a:solidFill>
                  <a:srgbClr val="1A1A1A"/>
                </a:solidFill>
                <a:latin typeface="Microsoft YaHei"/>
              </a:rPr>
              <a:t>t</a:t>
            </a:r>
            <a:r>
              <a:rPr sz="720" b="1" i="1" baseline="-25000">
                <a:solidFill>
                  <a:srgbClr val="1A1A1A"/>
                </a:solidFill>
                <a:latin typeface="Microsoft YaHei"/>
              </a:rPr>
              <a:t>0</a:t>
            </a:r>
            <a:r>
              <a:rPr sz="1040" b="0" i="0">
                <a:solidFill>
                  <a:srgbClr val="1A1A1A"/>
                </a:solidFill>
                <a:latin typeface="Microsoft YaHei"/>
              </a:rPr>
              <a:t> 应提前多少？</a:t>
            </a:r>
          </a:p>
        </p:txBody>
      </p:sp>
      <p:sp>
        <p:nvSpPr>
          <p:cNvPr id="13" name="TextBox 12"/>
          <p:cNvSpPr txBox="1"/>
          <p:nvPr/>
        </p:nvSpPr>
        <p:spPr>
          <a:xfrm>
            <a:off x="647700" y="2710755"/>
            <a:ext cx="33749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触发准则应依据</a:t>
            </a:r>
            <a:r>
              <a:rPr sz="1040" b="1" i="0">
                <a:solidFill>
                  <a:srgbClr val="1A1A1A"/>
                </a:solidFill>
                <a:latin typeface="Microsoft YaHei"/>
              </a:rPr>
              <a:t>固定时间阈值</a:t>
            </a:r>
            <a:r>
              <a:rPr sz="1040" b="0" i="0">
                <a:solidFill>
                  <a:srgbClr val="1A1A1A"/>
                </a:solidFill>
                <a:latin typeface="Microsoft YaHei"/>
              </a:rPr>
              <a:t>还是</a:t>
            </a:r>
            <a:r>
              <a:rPr sz="1040" b="1" i="0">
                <a:solidFill>
                  <a:srgbClr val="1A1A1A"/>
                </a:solidFill>
                <a:latin typeface="Microsoft YaHei"/>
              </a:rPr>
              <a:t>减速度归一化量 BTN</a:t>
            </a:r>
            <a:r>
              <a:rPr sz="1040" b="0" i="0">
                <a:solidFill>
                  <a:srgbClr val="1A1A1A"/>
                </a:solidFill>
                <a:latin typeface="Microsoft YaHei"/>
              </a:rPr>
              <a:t>？</a:t>
            </a:r>
          </a:p>
        </p:txBody>
      </p:sp>
      <p:sp>
        <p:nvSpPr>
          <p:cNvPr id="14" name="TextBox 13"/>
          <p:cNvSpPr txBox="1"/>
          <p:nvPr/>
        </p:nvSpPr>
        <p:spPr>
          <a:xfrm>
            <a:off x="647700" y="3165871"/>
            <a:ext cx="33749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预警应锁定于屏幕、道路冲突点、行人目标还是复合？该优劣序是否随</a:t>
            </a:r>
            <a:r>
              <a:rPr sz="1040" b="1" i="0">
                <a:solidFill>
                  <a:srgbClr val="1A1A1A"/>
                </a:solidFill>
                <a:latin typeface="Microsoft YaHei"/>
              </a:rPr>
              <a:t>背景视觉复杂度</a:t>
            </a:r>
            <a:r>
              <a:rPr sz="1040" b="0" i="0">
                <a:solidFill>
                  <a:srgbClr val="1A1A1A"/>
                </a:solidFill>
                <a:latin typeface="Microsoft YaHei"/>
              </a:rPr>
              <a:t>与</a:t>
            </a:r>
            <a:r>
              <a:rPr sz="1040" b="1" i="0">
                <a:solidFill>
                  <a:srgbClr val="1A1A1A"/>
                </a:solidFill>
                <a:latin typeface="Microsoft YaHei"/>
              </a:rPr>
              <a:t>次任务负荷</a:t>
            </a:r>
            <a:r>
              <a:rPr sz="1040" b="0" i="0">
                <a:solidFill>
                  <a:srgbClr val="1A1A1A"/>
                </a:solidFill>
                <a:latin typeface="Microsoft YaHei"/>
              </a:rPr>
              <a:t>变化？</a:t>
            </a:r>
          </a:p>
        </p:txBody>
      </p:sp>
      <p:sp>
        <p:nvSpPr>
          <p:cNvPr id="15" name="TextBox 14"/>
          <p:cNvSpPr txBox="1"/>
          <p:nvPr/>
        </p:nvSpPr>
        <p:spPr>
          <a:xfrm>
            <a:off x="647700" y="3620988"/>
            <a:ext cx="33749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对应</a:t>
            </a:r>
            <a:r>
              <a:rPr sz="1040" b="1" i="0">
                <a:solidFill>
                  <a:srgbClr val="1A1A1A"/>
                </a:solidFill>
                <a:latin typeface="Microsoft YaHei"/>
              </a:rPr>
              <a:t>实验 2（时间）与实验 3（空间）</a:t>
            </a:r>
          </a:p>
        </p:txBody>
      </p:sp>
      <p:sp>
        <p:nvSpPr>
          <p:cNvPr id="16" name="Rounded Rectangle 15"/>
          <p:cNvSpPr/>
          <p:nvPr/>
        </p:nvSpPr>
        <p:spPr>
          <a:xfrm>
            <a:off x="4251275" y="1788914"/>
            <a:ext cx="3689300" cy="3558182"/>
          </a:xfrm>
          <a:prstGeom prst="roundRect">
            <a:avLst>
              <a:gd name="adj" fmla="val 1873"/>
            </a:avLst>
          </a:prstGeom>
          <a:solidFill>
            <a:srgbClr val="FAF7FD"/>
          </a:solidFill>
          <a:ln w="9525">
            <a:solidFill>
              <a:srgbClr val="7B5E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94150" y="2160389"/>
            <a:ext cx="3403550" cy="9525"/>
          </a:xfrm>
          <a:prstGeom prst="rect">
            <a:avLst/>
          </a:prstGeom>
          <a:solidFill>
            <a:srgbClr val="E4D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94150" y="1912739"/>
            <a:ext cx="3441650"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7B5EA7"/>
                </a:solidFill>
                <a:latin typeface="Microsoft YaHei"/>
              </a:rPr>
              <a:t>RQ2′ 盲区情境的时空参数</a:t>
            </a:r>
          </a:p>
        </p:txBody>
      </p:sp>
      <p:sp>
        <p:nvSpPr>
          <p:cNvPr id="19" name="TextBox 18"/>
          <p:cNvSpPr txBox="1"/>
          <p:nvPr/>
        </p:nvSpPr>
        <p:spPr>
          <a:xfrm>
            <a:off x="4460825" y="2246114"/>
            <a:ext cx="3374975" cy="48369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1">
                <a:solidFill>
                  <a:srgbClr val="1A1A1A"/>
                </a:solidFill>
                <a:latin typeface="Microsoft YaHei"/>
              </a:rPr>
              <a:t>t</a:t>
            </a:r>
            <a:r>
              <a:rPr sz="720" b="0" i="1" baseline="-25000">
                <a:solidFill>
                  <a:srgbClr val="1A1A1A"/>
                </a:solidFill>
                <a:latin typeface="Microsoft YaHei"/>
              </a:rPr>
              <a:t>0</a:t>
            </a:r>
            <a:r>
              <a:rPr sz="1040" b="0" i="0">
                <a:solidFill>
                  <a:srgbClr val="1A1A1A"/>
                </a:solidFill>
                <a:latin typeface="Microsoft YaHei"/>
              </a:rPr>
              <a:t> 在物理上</a:t>
            </a:r>
            <a:r>
              <a:rPr sz="1040" b="1" i="0">
                <a:solidFill>
                  <a:srgbClr val="1A1A1A"/>
                </a:solidFill>
                <a:latin typeface="Microsoft YaHei"/>
              </a:rPr>
              <a:t>不存在</a:t>
            </a:r>
            <a:r>
              <a:rPr sz="1040" b="0" i="0">
                <a:solidFill>
                  <a:srgbClr val="1A1A1A"/>
                </a:solidFill>
                <a:latin typeface="Microsoft YaHei"/>
              </a:rPr>
              <a:t>时，零点应换成什么？预警相对</a:t>
            </a:r>
            <a:r>
              <a:rPr sz="1040" b="1" i="0">
                <a:solidFill>
                  <a:srgbClr val="1A1A1A"/>
                </a:solidFill>
                <a:latin typeface="Microsoft YaHei"/>
              </a:rPr>
              <a:t>自然显露时刻 </a:t>
            </a:r>
            <a:r>
              <a:rPr sz="1040" b="1" i="1">
                <a:solidFill>
                  <a:srgbClr val="1A1A1A"/>
                </a:solidFill>
                <a:latin typeface="Microsoft YaHei"/>
              </a:rPr>
              <a:t>t</a:t>
            </a:r>
            <a:r>
              <a:rPr sz="720" b="1" i="1" baseline="-25000">
                <a:solidFill>
                  <a:srgbClr val="1A1A1A"/>
                </a:solidFill>
                <a:latin typeface="Microsoft YaHei"/>
              </a:rPr>
              <a:t>reveal</a:t>
            </a:r>
            <a:r>
              <a:rPr sz="1040" b="0" i="0">
                <a:solidFill>
                  <a:srgbClr val="1A1A1A"/>
                </a:solidFill>
                <a:latin typeface="Microsoft YaHei"/>
              </a:rPr>
              <a:t> 应提前多少？</a:t>
            </a:r>
          </a:p>
        </p:txBody>
      </p:sp>
      <p:sp>
        <p:nvSpPr>
          <p:cNvPr id="20" name="TextBox 19"/>
          <p:cNvSpPr txBox="1"/>
          <p:nvPr/>
        </p:nvSpPr>
        <p:spPr>
          <a:xfrm>
            <a:off x="4460825" y="2720280"/>
            <a:ext cx="33749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「行人尚不可见而预警已呈现」的</a:t>
            </a:r>
            <a:r>
              <a:rPr sz="1040" b="1" i="0">
                <a:solidFill>
                  <a:srgbClr val="1A1A1A"/>
                </a:solidFill>
                <a:latin typeface="Microsoft YaHei"/>
              </a:rPr>
              <a:t>预告区段</a:t>
            </a:r>
            <a:r>
              <a:rPr sz="1040" b="0" i="0">
                <a:solidFill>
                  <a:srgbClr val="1A1A1A"/>
                </a:solidFill>
                <a:latin typeface="Microsoft YaHei"/>
              </a:rPr>
              <a:t>是否具有独立价值？</a:t>
            </a:r>
          </a:p>
        </p:txBody>
      </p:sp>
      <p:sp>
        <p:nvSpPr>
          <p:cNvPr id="21" name="TextBox 20"/>
          <p:cNvSpPr txBox="1"/>
          <p:nvPr/>
        </p:nvSpPr>
        <p:spPr>
          <a:xfrm>
            <a:off x="4460825" y="3175396"/>
            <a:ext cx="33749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目标锁定在物理上</a:t>
            </a:r>
            <a:r>
              <a:rPr sz="1040" b="1" i="0">
                <a:solidFill>
                  <a:srgbClr val="1A1A1A"/>
                </a:solidFill>
                <a:latin typeface="Microsoft YaHei"/>
              </a:rPr>
              <a:t>不可实现</a:t>
            </a:r>
            <a:r>
              <a:rPr sz="1040" b="0" i="0">
                <a:solidFill>
                  <a:srgbClr val="1A1A1A"/>
                </a:solidFill>
                <a:latin typeface="Microsoft YaHei"/>
              </a:rPr>
              <a:t>时，图形应锚定于何处？</a:t>
            </a:r>
          </a:p>
        </p:txBody>
      </p:sp>
      <p:sp>
        <p:nvSpPr>
          <p:cNvPr id="22" name="TextBox 21"/>
          <p:cNvSpPr txBox="1"/>
          <p:nvPr/>
        </p:nvSpPr>
        <p:spPr>
          <a:xfrm>
            <a:off x="4460825" y="3412480"/>
            <a:ext cx="3374975"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对应</a:t>
            </a:r>
            <a:r>
              <a:rPr sz="1040" b="1" i="0">
                <a:solidFill>
                  <a:srgbClr val="1A1A1A"/>
                </a:solidFill>
                <a:latin typeface="Microsoft YaHei"/>
              </a:rPr>
              <a:t>实验 4（时间）与实验 5（空间）</a:t>
            </a:r>
          </a:p>
        </p:txBody>
      </p:sp>
      <p:sp>
        <p:nvSpPr>
          <p:cNvPr id="23" name="Rounded Rectangle 22"/>
          <p:cNvSpPr/>
          <p:nvPr/>
        </p:nvSpPr>
        <p:spPr>
          <a:xfrm>
            <a:off x="8064400" y="1788914"/>
            <a:ext cx="3689449" cy="3558182"/>
          </a:xfrm>
          <a:prstGeom prst="roundRect">
            <a:avLst>
              <a:gd name="adj" fmla="val 1873"/>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207275" y="2160389"/>
            <a:ext cx="3403699"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7275" y="1912739"/>
            <a:ext cx="3441799"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9A6E00"/>
                </a:solidFill>
                <a:latin typeface="Microsoft YaHei"/>
              </a:rPr>
              <a:t>RQ3′ 跨情境迁移损失</a:t>
            </a:r>
          </a:p>
        </p:txBody>
      </p:sp>
      <p:sp>
        <p:nvSpPr>
          <p:cNvPr id="26" name="TextBox 25"/>
          <p:cNvSpPr txBox="1"/>
          <p:nvPr/>
        </p:nvSpPr>
        <p:spPr>
          <a:xfrm>
            <a:off x="8273950" y="2246114"/>
            <a:ext cx="3375124"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两套参数</a:t>
            </a:r>
            <a:r>
              <a:rPr sz="1040" b="1" i="0">
                <a:solidFill>
                  <a:srgbClr val="1A1A1A"/>
                </a:solidFill>
                <a:latin typeface="Microsoft YaHei"/>
              </a:rPr>
              <a:t>能否互换</a:t>
            </a:r>
            <a:r>
              <a:rPr sz="1040" b="0" i="0">
                <a:solidFill>
                  <a:srgbClr val="1A1A1A"/>
                </a:solidFill>
                <a:latin typeface="Microsoft YaHei"/>
              </a:rPr>
              <a:t>？双向</a:t>
            </a:r>
            <a:r>
              <a:rPr sz="1040" b="1" i="0">
                <a:solidFill>
                  <a:srgbClr val="1A1A1A"/>
                </a:solidFill>
                <a:latin typeface="Microsoft YaHei"/>
              </a:rPr>
              <a:t>迁移损失</a:t>
            </a:r>
            <a:r>
              <a:rPr sz="1040" b="0" i="0">
                <a:solidFill>
                  <a:srgbClr val="1A1A1A"/>
                </a:solidFill>
                <a:latin typeface="Microsoft YaHei"/>
              </a:rPr>
              <a:t>有多大？</a:t>
            </a:r>
          </a:p>
        </p:txBody>
      </p:sp>
      <p:sp>
        <p:nvSpPr>
          <p:cNvPr id="27" name="TextBox 26"/>
          <p:cNvSpPr txBox="1"/>
          <p:nvPr/>
        </p:nvSpPr>
        <p:spPr>
          <a:xfrm>
            <a:off x="8273950" y="2483197"/>
            <a:ext cx="3375124"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若需情境自适应，</a:t>
            </a:r>
            <a:r>
              <a:rPr sz="1040" b="1" i="0">
                <a:solidFill>
                  <a:srgbClr val="1A1A1A"/>
                </a:solidFill>
                <a:latin typeface="Microsoft YaHei"/>
              </a:rPr>
              <a:t>切换判据</a:t>
            </a:r>
            <a:r>
              <a:rPr sz="1040" b="0" i="0">
                <a:solidFill>
                  <a:srgbClr val="1A1A1A"/>
                </a:solidFill>
                <a:latin typeface="Microsoft YaHei"/>
              </a:rPr>
              <a:t>是什么？</a:t>
            </a:r>
          </a:p>
        </p:txBody>
      </p:sp>
      <p:sp>
        <p:nvSpPr>
          <p:cNvPr id="28" name="TextBox 27"/>
          <p:cNvSpPr txBox="1"/>
          <p:nvPr/>
        </p:nvSpPr>
        <p:spPr>
          <a:xfrm>
            <a:off x="8273950" y="2720280"/>
            <a:ext cx="3375124"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该问题的答案</a:t>
            </a:r>
            <a:r>
              <a:rPr sz="1040" b="1" i="0">
                <a:solidFill>
                  <a:srgbClr val="1A1A1A"/>
                </a:solidFill>
                <a:latin typeface="Microsoft YaHei"/>
              </a:rPr>
              <a:t>可否证本研究的情境切分本身</a:t>
            </a:r>
            <a:r>
              <a:rPr sz="1040" b="0" i="0">
                <a:solidFill>
                  <a:srgbClr val="1A1A1A"/>
                </a:solidFill>
                <a:latin typeface="Microsoft YaHei"/>
              </a:rPr>
              <a:t>：若迁移损失不显著，则应退回单情境处理。</a:t>
            </a:r>
          </a:p>
        </p:txBody>
      </p:sp>
      <p:sp>
        <p:nvSpPr>
          <p:cNvPr id="29" name="TextBox 28"/>
          <p:cNvSpPr txBox="1"/>
          <p:nvPr/>
        </p:nvSpPr>
        <p:spPr>
          <a:xfrm>
            <a:off x="8273950" y="3175396"/>
            <a:ext cx="3375124"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对应</a:t>
            </a:r>
            <a:r>
              <a:rPr sz="1040" b="1" i="0">
                <a:solidFill>
                  <a:srgbClr val="1A1A1A"/>
                </a:solidFill>
                <a:latin typeface="Microsoft YaHei"/>
              </a:rPr>
              <a:t>嵌入实验 3 与实验 5 的交叉迁移区块</a:t>
            </a:r>
          </a:p>
        </p:txBody>
      </p:sp>
      <p:sp>
        <p:nvSpPr>
          <p:cNvPr id="30" name="Rectangle 29"/>
          <p:cNvSpPr/>
          <p:nvPr/>
        </p:nvSpPr>
        <p:spPr>
          <a:xfrm>
            <a:off x="438150" y="5451871"/>
            <a:ext cx="11315700" cy="1006078"/>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38150" y="5451871"/>
            <a:ext cx="38100" cy="1006078"/>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1975" y="5537596"/>
            <a:ext cx="11106150" cy="86320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因变量口径：</a:t>
            </a:r>
            <a:r>
              <a:rPr sz="990" b="0" i="0">
                <a:solidFill>
                  <a:srgbClr val="6B5200"/>
                </a:solidFill>
                <a:latin typeface="Microsoft YaHei"/>
              </a:rPr>
              <a:t>两个情境共用同一因变量结构，归入四类构念——</a:t>
            </a:r>
            <a:r>
              <a:rPr sz="990" b="1" i="0">
                <a:solidFill>
                  <a:srgbClr val="8A6A00"/>
                </a:solidFill>
                <a:latin typeface="Microsoft YaHei"/>
              </a:rPr>
              <a:t>安全绩效</a:t>
            </a:r>
            <a:r>
              <a:rPr sz="990" b="0" i="0">
                <a:solidFill>
                  <a:srgbClr val="6B5200"/>
                </a:solidFill>
                <a:latin typeface="Microsoft YaHei"/>
              </a:rPr>
              <a:t>（最小 TTMD、峰值减速度、碰撞率）、</a:t>
            </a:r>
            <a:r>
              <a:rPr sz="990" b="1" i="0">
                <a:solidFill>
                  <a:srgbClr val="8A6A00"/>
                </a:solidFill>
                <a:latin typeface="Microsoft YaHei"/>
              </a:rPr>
              <a:t>认知负荷</a:t>
            </a:r>
            <a:r>
              <a:rPr sz="990" b="0" i="0">
                <a:solidFill>
                  <a:srgbClr val="6B5200"/>
                </a:solidFill>
                <a:latin typeface="Microsoft YaHei"/>
              </a:rPr>
              <a:t>（NASA-TLX、瞳孔变化率、注视熵）、</a:t>
            </a:r>
            <a:r>
              <a:rPr sz="990" b="1" i="0">
                <a:solidFill>
                  <a:srgbClr val="8A6A00"/>
                </a:solidFill>
                <a:latin typeface="Microsoft YaHei"/>
              </a:rPr>
              <a:t>情境意识</a:t>
            </a:r>
            <a:r>
              <a:rPr sz="990" b="0" i="0">
                <a:solidFill>
                  <a:srgbClr val="6B5200"/>
                </a:solidFill>
                <a:latin typeface="Microsoft YaHei"/>
              </a:rPr>
              <a:t>（三阶段计分、危险漏检率、首次注视时间、预期性注视）、</a:t>
            </a:r>
            <a:r>
              <a:rPr sz="990" b="1" i="0">
                <a:solidFill>
                  <a:srgbClr val="8A6A00"/>
                </a:solidFill>
                <a:latin typeface="Microsoft YaHei"/>
              </a:rPr>
              <a:t>用户体验</a:t>
            </a:r>
            <a:r>
              <a:rPr sz="990" b="0" i="0">
                <a:solidFill>
                  <a:srgbClr val="6B5200"/>
                </a:solidFill>
                <a:latin typeface="Microsoft YaHei"/>
              </a:rPr>
              <a:t>（信任、可接受度、扰烦度）。</a:t>
            </a:r>
          </a:p>
          <a:p>
            <a:pPr algn="l">
              <a:lnSpc>
                <a:spcPct val="166000"/>
              </a:lnSpc>
              <a:spcBef>
                <a:spcPts val="0"/>
              </a:spcBef>
              <a:spcAft>
                <a:spcPts val="0"/>
              </a:spcAft>
            </a:pPr>
            <a:r>
              <a:rPr sz="990" b="1" i="0">
                <a:solidFill>
                  <a:srgbClr val="8A6A00"/>
                </a:solidFill>
                <a:latin typeface="Microsoft YaHei"/>
              </a:rPr>
              <a:t>盲区口径：</a:t>
            </a:r>
            <a:r>
              <a:rPr sz="990" b="0" i="0">
                <a:solidFill>
                  <a:srgbClr val="6B5200"/>
                </a:solidFill>
                <a:latin typeface="Microsoft YaHei"/>
              </a:rPr>
              <a:t>本研究的「盲区」专指</a:t>
            </a:r>
            <a:r>
              <a:rPr sz="990" b="1" i="0">
                <a:solidFill>
                  <a:srgbClr val="8A6A00"/>
                </a:solidFill>
                <a:latin typeface="Microsoft YaHei"/>
              </a:rPr>
              <a:t>驾驶员视线的几何遮挡</a:t>
            </a:r>
            <a:r>
              <a:rPr sz="990" b="0" i="0">
                <a:solidFill>
                  <a:srgbClr val="6B5200"/>
                </a:solidFill>
                <a:latin typeface="Microsoft YaHei"/>
              </a:rPr>
              <a:t>，不含传感器盲区、后视盲区与认知性盲区（无意视盲）。后者不作为情境自变量，而作为</a:t>
            </a:r>
            <a:r>
              <a:rPr sz="990" b="1" i="0">
                <a:solidFill>
                  <a:srgbClr val="8A6A00"/>
                </a:solidFill>
                <a:latin typeface="Microsoft YaHei"/>
              </a:rPr>
              <a:t>代价指标</a:t>
            </a:r>
            <a:r>
              <a:rPr sz="990" b="0" i="0">
                <a:solidFill>
                  <a:srgbClr val="6B5200"/>
                </a:solidFill>
                <a:latin typeface="Microsoft YaHei"/>
              </a:rPr>
              <a:t>归入两个情境共用的因变量集，即</a:t>
            </a:r>
            <a:r>
              <a:rPr sz="990" b="1" i="0">
                <a:solidFill>
                  <a:srgbClr val="8A6A00"/>
                </a:solidFill>
                <a:latin typeface="Microsoft YaHei"/>
              </a:rPr>
              <a:t>情境意识</a:t>
            </a:r>
            <a:r>
              <a:rPr sz="990" b="0" i="0">
                <a:solidFill>
                  <a:srgbClr val="6B5200"/>
                </a:solidFill>
                <a:latin typeface="Microsoft YaHei"/>
              </a:rPr>
              <a:t>构念下的漏检率一项。</a:t>
            </a:r>
          </a:p>
        </p:txBody>
      </p:sp>
      <p:sp>
        <p:nvSpPr>
          <p:cNvPr id="33" name="TextBox 32"/>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切分依据</a:t>
            </a:r>
            <a:r>
              <a:rPr sz="1580" b="1" i="0">
                <a:solidFill>
                  <a:srgbClr val="4472C4"/>
                </a:solidFill>
                <a:latin typeface="Microsoft YaHei"/>
              </a:rPr>
              <a:t>盲区情境使六项前提不成立，而非使效应量变小</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1 / 6</a:t>
            </a:r>
          </a:p>
        </p:txBody>
      </p:sp>
      <p:graphicFrame>
        <p:nvGraphicFramePr>
          <p:cNvPr id="6" name="Table 5"/>
          <p:cNvGraphicFramePr>
            <a:graphicFrameLocks noGrp="1"/>
          </p:cNvGraphicFramePr>
          <p:nvPr/>
        </p:nvGraphicFramePr>
        <p:xfrm>
          <a:off x="438150" y="762000"/>
          <a:ext cx="11315698" cy="2824756"/>
        </p:xfrm>
        <a:graphic>
          <a:graphicData uri="http://schemas.openxmlformats.org/drawingml/2006/table">
            <a:tbl>
              <a:tblPr>
                <a:tableStyleId>{5C22544A-7EE6-4342-B048-85BDC9FD1C3A}</a:tableStyleId>
              </a:tblPr>
              <a:tblGrid>
                <a:gridCol w="1697235"/>
                <a:gridCol w="3507730"/>
                <a:gridCol w="4413200"/>
                <a:gridCol w="1697533"/>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编号</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非盲区情境的成立前提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盲区情境下的失效方式</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出处</a:t>
                      </a:r>
                    </a:p>
                  </a:txBody>
                  <a:tcPr marL="66675" marR="66675" marT="52387" marB="52387" anchor="t">
                    <a:solidFill>
                      <a:srgbClr val="4472C4"/>
                    </a:solidFill>
                  </a:tcPr>
                </a:tc>
              </a:tr>
              <a:tr h="42713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BD-1</a:t>
                      </a:r>
                      <a:r>
                        <a:rPr sz="890" b="0" i="0">
                          <a:solidFill>
                            <a:srgbClr val="1A1A1A"/>
                          </a:solidFill>
                          <a:latin typeface="Microsoft YaHei"/>
                        </a:rPr>
                        <a:t> 零点</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存在自发察觉时刻 </a:t>
                      </a:r>
                      <a:r>
                        <a:rPr sz="890" b="0" i="1">
                          <a:solidFill>
                            <a:srgbClr val="1A1A1A"/>
                          </a:solidFill>
                          <a:latin typeface="Microsoft YaHei"/>
                        </a:rPr>
                        <a:t>t</a:t>
                      </a:r>
                      <a:r>
                        <a:rPr sz="620" b="0" i="1" baseline="-25000">
                          <a:solidFill>
                            <a:srgbClr val="1A1A1A"/>
                          </a:solidFill>
                          <a:latin typeface="Microsoft YaHei"/>
                        </a:rPr>
                        <a:t>0</a:t>
                      </a:r>
                      <a:r>
                        <a:rPr sz="890" b="0" i="0">
                          <a:solidFill>
                            <a:srgbClr val="1A1A1A"/>
                          </a:solidFill>
                          <a:latin typeface="Microsoft YaHei"/>
                        </a:rPr>
                        <a:t>，可实测、可作 </a:t>
                      </a:r>
                      <a:r>
                        <a:rPr sz="890" b="0" i="1">
                          <a:solidFill>
                            <a:srgbClr val="1A1A1A"/>
                          </a:solidFill>
                          <a:latin typeface="Microsoft YaHei"/>
                        </a:rPr>
                        <a:t>Δt</a:t>
                      </a:r>
                      <a:r>
                        <a:rPr sz="890" b="0" i="0">
                          <a:solidFill>
                            <a:srgbClr val="1A1A1A"/>
                          </a:solidFill>
                          <a:latin typeface="Microsoft YaHei"/>
                        </a:rPr>
                        <a:t> 的零点</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行人在显露前不可见，</a:t>
                      </a:r>
                      <a:r>
                        <a:rPr sz="890" b="1" i="0">
                          <a:solidFill>
                            <a:srgbClr val="1A1A1A"/>
                          </a:solidFill>
                          <a:latin typeface="Microsoft YaHei"/>
                        </a:rPr>
                        <a:t>Scanning 无信号可采样，</a:t>
                      </a:r>
                      <a:r>
                        <a:rPr sz="890" b="1" i="1">
                          <a:solidFill>
                            <a:srgbClr val="1A1A1A"/>
                          </a:solidFill>
                          <a:latin typeface="Microsoft YaHei"/>
                        </a:rPr>
                        <a:t>t</a:t>
                      </a:r>
                      <a:r>
                        <a:rPr sz="620" b="1" i="1" baseline="-25000">
                          <a:solidFill>
                            <a:srgbClr val="1A1A1A"/>
                          </a:solidFill>
                          <a:latin typeface="Microsoft YaHei"/>
                        </a:rPr>
                        <a:t>0</a:t>
                      </a:r>
                      <a:r>
                        <a:rPr sz="890" b="1" i="0">
                          <a:solidFill>
                            <a:srgbClr val="1A1A1A"/>
                          </a:solidFill>
                          <a:latin typeface="Microsoft YaHei"/>
                        </a:rPr>
                        <a:t> 在物理上不存在</a:t>
                      </a:r>
                      <a:r>
                        <a:rPr sz="890" b="0" i="0">
                          <a:solidFill>
                            <a:srgbClr val="1A1A1A"/>
                          </a:solidFill>
                          <a:latin typeface="Microsoft YaHei"/>
                        </a:rPr>
                        <a:t>；</a:t>
                      </a:r>
                      <a:r>
                        <a:rPr sz="890" b="0" i="1">
                          <a:solidFill>
                            <a:srgbClr val="1A1A1A"/>
                          </a:solidFill>
                          <a:latin typeface="Microsoft YaHei"/>
                        </a:rPr>
                        <a:t>Δt</a:t>
                      </a:r>
                      <a:r>
                        <a:rPr sz="890" b="0" i="1">
                          <a:solidFill>
                            <a:srgbClr val="1A1A1A"/>
                          </a:solidFill>
                          <a:latin typeface="Microsoft YaHei"/>
                        </a:rPr>
                        <a:t> = </a:t>
                      </a:r>
                      <a:r>
                        <a:rPr sz="890" b="0" i="1">
                          <a:solidFill>
                            <a:srgbClr val="1A1A1A"/>
                          </a:solidFill>
                          <a:latin typeface="Microsoft YaHei"/>
                        </a:rPr>
                        <a:t>t</a:t>
                      </a:r>
                      <a:r>
                        <a:rPr sz="620" b="0" i="1" baseline="-25000">
                          <a:solidFill>
                            <a:srgbClr val="1A1A1A"/>
                          </a:solidFill>
                          <a:latin typeface="Microsoft YaHei"/>
                        </a:rPr>
                        <a:t>0</a:t>
                      </a:r>
                      <a:r>
                        <a:rPr sz="890" b="0" i="1">
                          <a:solidFill>
                            <a:srgbClr val="1A1A1A"/>
                          </a:solidFill>
                          <a:latin typeface="Microsoft YaHei"/>
                        </a:rPr>
                        <a:t> − </a:t>
                      </a:r>
                      <a:r>
                        <a:rPr sz="890" b="0" i="1">
                          <a:solidFill>
                            <a:srgbClr val="1A1A1A"/>
                          </a:solidFill>
                          <a:latin typeface="Microsoft YaHei"/>
                        </a:rPr>
                        <a:t>t</a:t>
                      </a:r>
                      <a:r>
                        <a:rPr sz="620" b="0" i="1" baseline="-25000">
                          <a:solidFill>
                            <a:srgbClr val="1A1A1A"/>
                          </a:solidFill>
                          <a:latin typeface="Microsoft YaHei"/>
                        </a:rPr>
                        <a:t>warn</a:t>
                      </a:r>
                      <a:r>
                        <a:rPr sz="890" b="0" i="0">
                          <a:solidFill>
                            <a:srgbClr val="1A1A1A"/>
                          </a:solidFill>
                          <a:latin typeface="Microsoft YaHei"/>
                        </a:rPr>
                        <a:t> 无定义</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You 等, 2023；Strayer 与 McDonnell, 2025</a:t>
                      </a:r>
                    </a:p>
                  </a:txBody>
                  <a:tcPr marL="66675" marR="66675" marT="32385" marB="32385" anchor="t">
                    <a:solidFill>
                      <a:srgbClr val="FAFBFD"/>
                    </a:solidFill>
                  </a:tcPr>
                </a:tc>
              </a:tr>
              <a:tr h="422374">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BD-2</a:t>
                      </a:r>
                      <a:r>
                        <a:rPr sz="890" b="0" i="0">
                          <a:solidFill>
                            <a:srgbClr val="1A1A1A"/>
                          </a:solidFill>
                          <a:latin typeface="Microsoft YaHei"/>
                        </a:rPr>
                        <a:t> 空间</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目标可见，故目标锁定 BW 可实现且最优（首次注视 2730 → 617 ms）</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严格 BW 物理不可实现</a:t>
                      </a:r>
                      <a:r>
                        <a:rPr sz="890" b="0" i="0">
                          <a:solidFill>
                            <a:srgbClr val="1A1A1A"/>
                          </a:solidFill>
                          <a:latin typeface="Microsoft YaHei"/>
                        </a:rPr>
                        <a:t>：或锚定遮挡物表面，或穿透绘制而引入深度歧义；</a:t>
                      </a:r>
                      <a:r>
                        <a:rPr sz="890" b="1" i="0">
                          <a:solidFill>
                            <a:srgbClr val="1A1A1A"/>
                          </a:solidFill>
                          <a:latin typeface="Microsoft YaHei"/>
                        </a:rPr>
                        <a:t>候选集本身改变</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You 等, 2023 揭示 Wu 等, 2024 的边界</a:t>
                      </a:r>
                    </a:p>
                  </a:txBody>
                  <a:tcPr marL="66675" marR="66675" marT="32385" marB="32385" anchor="t">
                    <a:noFill/>
                  </a:tcPr>
                </a:tc>
              </a:tr>
              <a:tr h="422374">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BD-3</a:t>
                      </a:r>
                      <a:r>
                        <a:rPr sz="890" b="0" i="0">
                          <a:solidFill>
                            <a:srgbClr val="1A1A1A"/>
                          </a:solidFill>
                          <a:latin typeface="Microsoft YaHei"/>
                        </a:rPr>
                        <a:t> 上界</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提前量上界由</a:t>
                      </a:r>
                      <a:r>
                        <a:rPr sz="890" b="1" i="0">
                          <a:solidFill>
                            <a:srgbClr val="1A1A1A"/>
                          </a:solidFill>
                          <a:latin typeface="Microsoft YaHei"/>
                        </a:rPr>
                        <a:t>人因</a:t>
                      </a:r>
                      <a:r>
                        <a:rPr sz="890" b="0" i="0">
                          <a:solidFill>
                            <a:srgbClr val="1A1A1A"/>
                          </a:solidFill>
                          <a:latin typeface="Microsoft YaHei"/>
                        </a:rPr>
                        <a:t>（虚警代价、认知窗口）决定</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上界由</a:t>
                      </a:r>
                      <a:r>
                        <a:rPr sz="890" b="1" i="0">
                          <a:solidFill>
                            <a:srgbClr val="1A1A1A"/>
                          </a:solidFill>
                          <a:latin typeface="Microsoft YaHei"/>
                        </a:rPr>
                        <a:t>传感器能否看见</a:t>
                      </a:r>
                      <a:r>
                        <a:rPr sz="890" b="0" i="0">
                          <a:solidFill>
                            <a:srgbClr val="1A1A1A"/>
                          </a:solidFill>
                          <a:latin typeface="Microsoft YaHei"/>
                        </a:rPr>
                        <a:t>决定：最低时间预算 1.66 s；意图预测缓冲仅 0.5–2.0 s，远小于 6.07–6.28 s 的制动需求</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Kim 等, 2022；Cangut 等, 2026；Chang 等, 2009</a:t>
                      </a:r>
                    </a:p>
                  </a:txBody>
                  <a:tcPr marL="66675" marR="66675" marT="32385" marB="32385" anchor="t">
                    <a:solidFill>
                      <a:srgbClr val="FAFBFD"/>
                    </a:solidFill>
                  </a:tcPr>
                </a:tc>
              </a:tr>
              <a:tr h="431899">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BD-4</a:t>
                      </a:r>
                      <a:r>
                        <a:rPr sz="890" b="0" i="0">
                          <a:solidFill>
                            <a:srgbClr val="1A1A1A"/>
                          </a:solidFill>
                          <a:latin typeface="Microsoft YaHei"/>
                        </a:rPr>
                        <a:t> 信任</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驾驶员可用自身视觉核验预警真伪，信任由「与自身判断是否吻合」建立</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无从核验</a:t>
                      </a:r>
                      <a:r>
                        <a:rPr sz="890" b="0" i="0">
                          <a:solidFill>
                            <a:srgbClr val="1A1A1A"/>
                          </a:solidFill>
                          <a:latin typeface="Microsoft YaHei"/>
                        </a:rPr>
                        <a:t>：信任只能依赖长期可靠性经验；「晚报警 → 信任 7.3 降至 4.3、</a:t>
                      </a:r>
                      <a:r>
                        <a:rPr sz="890" b="0" i="1">
                          <a:solidFill>
                            <a:srgbClr val="1A1A1A"/>
                          </a:solidFill>
                          <a:latin typeface="Microsoft YaHei"/>
                        </a:rPr>
                        <a:t>R</a:t>
                      </a:r>
                      <a:r>
                        <a:rPr sz="890" b="0" i="0">
                          <a:solidFill>
                            <a:srgbClr val="1A1A1A"/>
                          </a:solidFill>
                          <a:latin typeface="Microsoft YaHei"/>
                        </a:rPr>
                        <a:t> = −0.46」的机制在此不适用</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Abe 与 Richardson, 2006；You 等, 2023</a:t>
                      </a:r>
                    </a:p>
                  </a:txBody>
                  <a:tcPr marL="66675" marR="66675" marT="32385" marB="32385" anchor="t">
                    <a:noFill/>
                  </a:tcPr>
                </a:tc>
              </a:tr>
              <a:tr h="422374">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BD-5</a:t>
                      </a:r>
                      <a:r>
                        <a:rPr sz="890" b="0" i="0">
                          <a:solidFill>
                            <a:srgbClr val="1A1A1A"/>
                          </a:solidFill>
                          <a:latin typeface="Microsoft YaHei"/>
                        </a:rPr>
                        <a:t> 视场</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共形图形可稳定贴合于目标</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17° 视场下近距侧方行人的共形图形移出视场而彻底失效</a:t>
                      </a:r>
                      <a:r>
                        <a:rPr sz="890" b="0" i="0">
                          <a:solidFill>
                            <a:srgbClr val="1A1A1A"/>
                          </a:solidFill>
                          <a:latin typeface="Microsoft YaHei"/>
                        </a:rPr>
                        <a:t>；遮挡后横穿恰是近距侧方构型</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Merenda 等, 2018</a:t>
                      </a:r>
                    </a:p>
                  </a:txBody>
                  <a:tcPr marL="66675" marR="66675" marT="32385" marB="32385" anchor="t">
                    <a:solidFill>
                      <a:srgbClr val="FAFBFD"/>
                    </a:solidFill>
                  </a:tcPr>
                </a:tc>
              </a:tr>
              <a:tr h="431899">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BD-6</a:t>
                      </a:r>
                      <a:r>
                        <a:rPr sz="890" b="0" i="0">
                          <a:solidFill>
                            <a:srgbClr val="1A1A1A"/>
                          </a:solidFill>
                          <a:latin typeface="Microsoft YaHei"/>
                        </a:rPr>
                        <a:t> 理论</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可由光学膨胀率 </a:t>
                      </a:r>
                      <a:r>
                        <a:rPr sz="890" b="0" i="1">
                          <a:solidFill>
                            <a:srgbClr val="1A1A1A"/>
                          </a:solidFill>
                          <a:latin typeface="Microsoft YaHei"/>
                        </a:rPr>
                        <a:t>dθ</a:t>
                      </a:r>
                      <a:r>
                        <a:rPr sz="890" b="0" i="1">
                          <a:solidFill>
                            <a:srgbClr val="1A1A1A"/>
                          </a:solidFill>
                          <a:latin typeface="Microsoft YaHei"/>
                        </a:rPr>
                        <a:t>/</a:t>
                      </a:r>
                      <a:r>
                        <a:rPr sz="890" b="0" i="1">
                          <a:solidFill>
                            <a:srgbClr val="1A1A1A"/>
                          </a:solidFill>
                          <a:latin typeface="Microsoft YaHei"/>
                        </a:rPr>
                        <a:t>dt</a:t>
                      </a:r>
                      <a:r>
                        <a:rPr sz="890" b="0" i="0">
                          <a:solidFill>
                            <a:srgbClr val="1A1A1A"/>
                          </a:solidFill>
                          <a:latin typeface="Microsoft YaHei"/>
                        </a:rPr>
                        <a:t> 越过知觉阈值反推 </a:t>
                      </a:r>
                      <a:r>
                        <a:rPr sz="890" b="0" i="1">
                          <a:solidFill>
                            <a:srgbClr val="1A1A1A"/>
                          </a:solidFill>
                          <a:latin typeface="Microsoft YaHei"/>
                        </a:rPr>
                        <a:t>t</a:t>
                      </a:r>
                      <a:r>
                        <a:rPr sz="620" b="0" i="1" baseline="-25000">
                          <a:solidFill>
                            <a:srgbClr val="1A1A1A"/>
                          </a:solidFill>
                          <a:latin typeface="Microsoft YaHei"/>
                        </a:rPr>
                        <a:t>0</a:t>
                      </a:r>
                      <a:r>
                        <a:rPr sz="890" b="0" i="0">
                          <a:solidFill>
                            <a:srgbClr val="1A1A1A"/>
                          </a:solidFill>
                          <a:latin typeface="Microsoft YaHei"/>
                        </a:rPr>
                        <a:t> 下界（60 km/h 无遮挡约 3.2 s）</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1" i="1">
                          <a:solidFill>
                            <a:srgbClr val="1A1A1A"/>
                          </a:solidFill>
                          <a:latin typeface="Microsoft YaHei"/>
                        </a:rPr>
                        <a:t>dθ</a:t>
                      </a:r>
                      <a:r>
                        <a:rPr sz="890" b="1" i="1">
                          <a:solidFill>
                            <a:srgbClr val="1A1A1A"/>
                          </a:solidFill>
                          <a:latin typeface="Microsoft YaHei"/>
                        </a:rPr>
                        <a:t>/</a:t>
                      </a:r>
                      <a:r>
                        <a:rPr sz="890" b="1" i="1">
                          <a:solidFill>
                            <a:srgbClr val="1A1A1A"/>
                          </a:solidFill>
                          <a:latin typeface="Microsoft YaHei"/>
                        </a:rPr>
                        <a:t>dt</a:t>
                      </a:r>
                      <a:r>
                        <a:rPr sz="890" b="1" i="0">
                          <a:solidFill>
                            <a:srgbClr val="1A1A1A"/>
                          </a:solidFill>
                          <a:latin typeface="Microsoft YaHei"/>
                        </a:rPr>
                        <a:t> 的时间原点被遮挡截断</a:t>
                      </a:r>
                      <a:r>
                        <a:rPr sz="890" b="0" i="0">
                          <a:solidFill>
                            <a:srgbClr val="1A1A1A"/>
                          </a:solidFill>
                          <a:latin typeface="Microsoft YaHei"/>
                        </a:rPr>
                        <a:t>：</a:t>
                      </a:r>
                      <a:r>
                        <a:rPr sz="890" b="0" i="1">
                          <a:solidFill>
                            <a:srgbClr val="1A1A1A"/>
                          </a:solidFill>
                          <a:latin typeface="Microsoft YaHei"/>
                        </a:rPr>
                        <a:t>dθ</a:t>
                      </a:r>
                      <a:r>
                        <a:rPr sz="890" b="0" i="1">
                          <a:solidFill>
                            <a:srgbClr val="1A1A1A"/>
                          </a:solidFill>
                          <a:latin typeface="Microsoft YaHei"/>
                        </a:rPr>
                        <a:t>/</a:t>
                      </a:r>
                      <a:r>
                        <a:rPr sz="890" b="0" i="1">
                          <a:solidFill>
                            <a:srgbClr val="1A1A1A"/>
                          </a:solidFill>
                          <a:latin typeface="Microsoft YaHei"/>
                        </a:rPr>
                        <a:t>dt</a:t>
                      </a:r>
                      <a:r>
                        <a:rPr sz="890" b="0" i="0">
                          <a:solidFill>
                            <a:srgbClr val="1A1A1A"/>
                          </a:solidFill>
                          <a:latin typeface="Microsoft YaHei"/>
                        </a:rPr>
                        <a:t> 序列自显露时刻起才存在，下界推导须以新零点重做</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本研究推导，依 Merenda 等与 Zhang 等的场景几何</a:t>
                      </a:r>
                    </a:p>
                  </a:txBody>
                  <a:tcPr marL="66675" marR="66675" marT="32385" marB="32385" anchor="t">
                    <a:noFill/>
                  </a:tcPr>
                </a:tc>
              </a:tr>
            </a:tbl>
          </a:graphicData>
        </a:graphic>
      </p:graphicFrame>
      <p:sp>
        <p:nvSpPr>
          <p:cNvPr id="7" name="Rectangle 6"/>
          <p:cNvSpPr/>
          <p:nvPr/>
        </p:nvSpPr>
        <p:spPr>
          <a:xfrm>
            <a:off x="438150" y="3696295"/>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3696295"/>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975" y="3782020"/>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结论：</a:t>
            </a:r>
            <a:r>
              <a:rPr sz="990" b="0" i="0">
                <a:solidFill>
                  <a:srgbClr val="7A1F1F"/>
                </a:solidFill>
                <a:latin typeface="Microsoft YaHei"/>
              </a:rPr>
              <a:t>上述六条并非「盲区条件下效应变弱」，而是「参数化本身失效」。因此盲区不能作为非盲区研究中的</a:t>
            </a:r>
            <a:r>
              <a:rPr sz="990" b="1" i="0">
                <a:solidFill>
                  <a:srgbClr val="7A1F1F"/>
                </a:solidFill>
                <a:latin typeface="Microsoft YaHei"/>
              </a:rPr>
              <a:t>一个附加水平</a:t>
            </a:r>
            <a:r>
              <a:rPr sz="990" b="0" i="0">
                <a:solidFill>
                  <a:srgbClr val="7A1F1F"/>
                </a:solidFill>
                <a:latin typeface="Microsoft YaHei"/>
              </a:rPr>
              <a:t>处理，必须另立一项研究。</a:t>
            </a:r>
            <a:r>
              <a:rPr sz="990" b="1" i="0">
                <a:solidFill>
                  <a:srgbClr val="7A1F1F"/>
                </a:solidFill>
                <a:latin typeface="Microsoft YaHei"/>
              </a:rPr>
              <a:t>此判断可被否证</a:t>
            </a:r>
            <a:r>
              <a:rPr sz="990" b="0" i="0">
                <a:solidFill>
                  <a:srgbClr val="7A1F1F"/>
                </a:solidFill>
                <a:latin typeface="Microsoft YaHei"/>
              </a:rPr>
              <a:t>——若交叉迁移区块显示双向迁移损失不显著，则本切分不成立（见预测 P6′）。</a:t>
            </a:r>
          </a:p>
        </p:txBody>
      </p:sp>
      <p:sp>
        <p:nvSpPr>
          <p:cNvPr id="10" name="Rounded Rectangle 9"/>
          <p:cNvSpPr/>
          <p:nvPr/>
        </p:nvSpPr>
        <p:spPr>
          <a:xfrm>
            <a:off x="438150" y="4389834"/>
            <a:ext cx="5572125" cy="2078682"/>
          </a:xfrm>
          <a:prstGeom prst="roundRect">
            <a:avLst>
              <a:gd name="adj" fmla="val 3207"/>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71500" y="4723209"/>
            <a:ext cx="53054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 y="4485084"/>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盲区的操作化与显露时刻</a:t>
            </a:r>
          </a:p>
        </p:txBody>
      </p:sp>
      <p:sp>
        <p:nvSpPr>
          <p:cNvPr id="13" name="TextBox 12"/>
          <p:cNvSpPr txBox="1"/>
          <p:nvPr/>
        </p:nvSpPr>
        <p:spPr>
          <a:xfrm>
            <a:off x="638175" y="4789884"/>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遮挡判据。</a:t>
            </a:r>
            <a:r>
              <a:rPr sz="1040" b="0" i="0">
                <a:solidFill>
                  <a:srgbClr val="1A1A1A"/>
                </a:solidFill>
                <a:latin typeface="Microsoft YaHei"/>
              </a:rPr>
              <a:t>以驾驶员眼点为顶点的视线锥被遮挡体完全阻断，即行人在视网膜像平面上的</a:t>
            </a:r>
            <a:r>
              <a:rPr sz="1040" b="1" i="0">
                <a:solidFill>
                  <a:srgbClr val="1A1A1A"/>
                </a:solidFill>
                <a:latin typeface="Microsoft YaHei"/>
              </a:rPr>
              <a:t>可见像素占比为零</a:t>
            </a:r>
            <a:r>
              <a:rPr sz="1040" b="0" i="0">
                <a:solidFill>
                  <a:srgbClr val="1A1A1A"/>
                </a:solidFill>
                <a:latin typeface="Microsoft YaHei"/>
              </a:rPr>
              <a:t>。</a:t>
            </a:r>
          </a:p>
        </p:txBody>
      </p:sp>
      <p:sp>
        <p:nvSpPr>
          <p:cNvPr id="14" name="TextBox 13"/>
          <p:cNvSpPr txBox="1"/>
          <p:nvPr/>
        </p:nvSpPr>
        <p:spPr>
          <a:xfrm>
            <a:off x="638175" y="5245000"/>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显露时刻的定义。</a:t>
            </a:r>
            <a:r>
              <a:rPr sz="1040" b="0" i="0">
                <a:solidFill>
                  <a:srgbClr val="1A1A1A"/>
                </a:solidFill>
                <a:latin typeface="Microsoft YaHei"/>
              </a:rPr>
              <a:t>可见像素占比</a:t>
            </a:r>
            <a:r>
              <a:rPr sz="1040" b="1" i="0">
                <a:solidFill>
                  <a:srgbClr val="1A1A1A"/>
                </a:solidFill>
                <a:latin typeface="Microsoft YaHei"/>
              </a:rPr>
              <a:t>由零转正</a:t>
            </a:r>
            <a:r>
              <a:rPr sz="1040" b="0" i="0">
                <a:solidFill>
                  <a:srgbClr val="1A1A1A"/>
                </a:solidFill>
                <a:latin typeface="Microsoft YaHei"/>
              </a:rPr>
              <a:t>的时刻；由遮挡体位置尺寸、行人步速、本车轨迹与眼点位置</a:t>
            </a:r>
            <a:r>
              <a:rPr sz="1040" b="1" i="0">
                <a:solidFill>
                  <a:srgbClr val="1A1A1A"/>
                </a:solidFill>
                <a:latin typeface="Microsoft YaHei"/>
              </a:rPr>
              <a:t>联立解析求出</a:t>
            </a:r>
            <a:r>
              <a:rPr sz="1040" b="0" i="0">
                <a:solidFill>
                  <a:srgbClr val="1A1A1A"/>
                </a:solidFill>
                <a:latin typeface="Microsoft YaHei"/>
              </a:rPr>
              <a:t>。</a:t>
            </a:r>
          </a:p>
        </p:txBody>
      </p:sp>
      <p:sp>
        <p:nvSpPr>
          <p:cNvPr id="15" name="TextBox 14"/>
          <p:cNvSpPr txBox="1"/>
          <p:nvPr/>
        </p:nvSpPr>
        <p:spPr>
          <a:xfrm>
            <a:off x="638175" y="5700117"/>
            <a:ext cx="5276850" cy="682674"/>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部分遮挡的处理。</a:t>
            </a:r>
            <a:r>
              <a:rPr sz="1040" b="0" i="0">
                <a:solidFill>
                  <a:srgbClr val="1A1A1A"/>
                </a:solidFill>
                <a:latin typeface="Microsoft YaHei"/>
              </a:rPr>
              <a:t>遮挡比例介于 0 与 1 之间的过渡段极短（60 km/h 下约 0.15 s），故按完全遮挡处理并声明该近似。</a:t>
            </a:r>
            <a:r>
              <a:rPr sz="1040" b="1" i="0">
                <a:solidFill>
                  <a:srgbClr val="1A1A1A"/>
                </a:solidFill>
                <a:latin typeface="Microsoft YaHei"/>
              </a:rPr>
              <a:t>解析解由实验 1 以视线锥仿真与实测眼动双重核验</a:t>
            </a:r>
            <a:r>
              <a:rPr sz="1040" b="0" i="0">
                <a:solidFill>
                  <a:srgbClr val="1A1A1A"/>
                </a:solidFill>
                <a:latin typeface="Microsoft YaHei"/>
              </a:rPr>
              <a:t>，误差超阈值时以实测为准。</a:t>
            </a:r>
          </a:p>
        </p:txBody>
      </p:sp>
      <p:sp>
        <p:nvSpPr>
          <p:cNvPr id="16" name="Rounded Rectangle 15"/>
          <p:cNvSpPr/>
          <p:nvPr/>
        </p:nvSpPr>
        <p:spPr>
          <a:xfrm>
            <a:off x="6181725" y="4389834"/>
            <a:ext cx="5572125" cy="2078682"/>
          </a:xfrm>
          <a:prstGeom prst="roundRect">
            <a:avLst>
              <a:gd name="adj" fmla="val 3207"/>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15075" y="4723209"/>
            <a:ext cx="530542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5075" y="4485084"/>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三类不计入本研究「盲区」的情形</a:t>
            </a:r>
          </a:p>
        </p:txBody>
      </p:sp>
      <p:sp>
        <p:nvSpPr>
          <p:cNvPr id="19" name="TextBox 18"/>
          <p:cNvSpPr txBox="1"/>
          <p:nvPr/>
        </p:nvSpPr>
        <p:spPr>
          <a:xfrm>
            <a:off x="6381750" y="4789884"/>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传感器盲区。</a:t>
            </a:r>
            <a:r>
              <a:rPr sz="1040" b="0" i="0">
                <a:solidFill>
                  <a:srgbClr val="1A1A1A"/>
                </a:solidFill>
                <a:latin typeface="Microsoft YaHei"/>
              </a:rPr>
              <a:t>属工程问题，以程序设定的探测时刻代替，不作情境自变量；其随遮挡比例的退化曲线列为已知缺口。</a:t>
            </a:r>
          </a:p>
        </p:txBody>
      </p:sp>
      <p:sp>
        <p:nvSpPr>
          <p:cNvPr id="20" name="TextBox 19"/>
          <p:cNvSpPr txBox="1"/>
          <p:nvPr/>
        </p:nvSpPr>
        <p:spPr>
          <a:xfrm>
            <a:off x="6381750" y="5245000"/>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后视与侧后盲区。</a:t>
            </a:r>
            <a:r>
              <a:rPr sz="1040" b="0" i="0">
                <a:solidFill>
                  <a:srgbClr val="1A1A1A"/>
                </a:solidFill>
                <a:latin typeface="Microsoft YaHei"/>
              </a:rPr>
              <a:t>后向危险不进入前视野 AR 的可锚定空间，故四类锚定策略在该情形下不可比较。</a:t>
            </a:r>
          </a:p>
        </p:txBody>
      </p:sp>
      <p:sp>
        <p:nvSpPr>
          <p:cNvPr id="21" name="TextBox 20"/>
          <p:cNvSpPr txBox="1"/>
          <p:nvPr/>
        </p:nvSpPr>
        <p:spPr>
          <a:xfrm>
            <a:off x="6381750" y="5700117"/>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认知性盲区。</a:t>
            </a:r>
            <a:r>
              <a:rPr sz="1040" b="0" i="0">
                <a:solidFill>
                  <a:srgbClr val="1A1A1A"/>
                </a:solidFill>
                <a:latin typeface="Microsoft YaHei"/>
              </a:rPr>
              <a:t>信号已入视网膜而未被注意选中，可干预点不同；作</a:t>
            </a:r>
            <a:r>
              <a:rPr sz="1040" b="1" i="0">
                <a:solidFill>
                  <a:srgbClr val="1A1A1A"/>
                </a:solidFill>
                <a:latin typeface="Microsoft YaHei"/>
              </a:rPr>
              <a:t>代价指标</a:t>
            </a:r>
            <a:r>
              <a:rPr sz="1040" b="0" i="0">
                <a:solidFill>
                  <a:srgbClr val="1A1A1A"/>
                </a:solidFill>
                <a:latin typeface="Microsoft YaHei"/>
              </a:rPr>
              <a:t>纳入因变量集，而非情境自变量。</a:t>
            </a:r>
          </a:p>
        </p:txBody>
      </p:sp>
      <p:sp>
        <p:nvSpPr>
          <p:cNvPr id="22" name="TextBox 21"/>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核心理论</a:t>
            </a:r>
            <a:r>
              <a:rPr sz="1580" b="1" i="0">
                <a:solidFill>
                  <a:srgbClr val="4472C4"/>
                </a:solidFill>
                <a:latin typeface="Microsoft YaHei"/>
              </a:rPr>
              <a:t>盲区把注意加工的五个阶段在时间轴上强制拆成两段</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 / 6</a:t>
            </a:r>
          </a:p>
        </p:txBody>
      </p:sp>
      <p:sp>
        <p:nvSpPr>
          <p:cNvPr id="6" name="TextBox 5"/>
          <p:cNvSpPr txBox="1"/>
          <p:nvPr/>
        </p:nvSpPr>
        <p:spPr>
          <a:xfrm>
            <a:off x="438150" y="781050"/>
            <a:ext cx="11353800" cy="219075"/>
          </a:xfrm>
          <a:prstGeom prst="rect">
            <a:avLst/>
          </a:prstGeom>
          <a:noFill/>
        </p:spPr>
        <p:txBody>
          <a:bodyPr wrap="square" lIns="0" rIns="0" tIns="0" bIns="0" anchor="t">
            <a:normAutofit/>
          </a:bodyPr>
          <a:lstStyle/>
          <a:p>
            <a:pPr algn="l">
              <a:lnSpc>
                <a:spcPct val="125000"/>
              </a:lnSpc>
              <a:spcBef>
                <a:spcPts val="0"/>
              </a:spcBef>
              <a:spcAft>
                <a:spcPts val="0"/>
              </a:spcAft>
            </a:pPr>
            <a:r>
              <a:rPr sz="1010" b="1" i="0">
                <a:solidFill>
                  <a:srgbClr val="2F528F"/>
                </a:solidFill>
                <a:latin typeface="Microsoft YaHei"/>
              </a:rPr>
              <a:t>非盲区情境：预警到冲突为</a:t>
            </a:r>
            <a:r>
              <a:rPr sz="1010" b="1" i="0">
                <a:solidFill>
                  <a:srgbClr val="2F528F"/>
                </a:solidFill>
                <a:latin typeface="Microsoft YaHei"/>
              </a:rPr>
              <a:t>单一连续加工段</a:t>
            </a:r>
            <a:r>
              <a:rPr sz="1010" b="1" i="0">
                <a:solidFill>
                  <a:srgbClr val="2F528F"/>
                </a:solidFill>
                <a:latin typeface="Microsoft YaHei"/>
              </a:rPr>
              <a:t>，五阶段依次完成</a:t>
            </a:r>
          </a:p>
        </p:txBody>
      </p:sp>
      <p:sp>
        <p:nvSpPr>
          <p:cNvPr id="7" name="Rounded Rectangle 6"/>
          <p:cNvSpPr/>
          <p:nvPr/>
        </p:nvSpPr>
        <p:spPr>
          <a:xfrm>
            <a:off x="438150" y="1028700"/>
            <a:ext cx="11315700" cy="438150"/>
          </a:xfrm>
          <a:prstGeom prst="roundRect">
            <a:avLst>
              <a:gd name="adj" fmla="val 10869"/>
            </a:avLst>
          </a:prstGeom>
          <a:noFill/>
          <a:ln w="9525">
            <a:solidFill>
              <a:srgbClr val="CFCF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47675" y="1038225"/>
            <a:ext cx="2937123" cy="41910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04825" y="1038225"/>
            <a:ext cx="2860923" cy="447675"/>
          </a:xfrm>
          <a:prstGeom prst="rect">
            <a:avLst/>
          </a:prstGeom>
          <a:noFill/>
        </p:spPr>
        <p:txBody>
          <a:bodyPr wrap="square" lIns="0" rIns="0" tIns="0" bIns="0" anchor="ctr">
            <a:normAutofit/>
          </a:bodyPr>
          <a:lstStyle/>
          <a:p>
            <a:pPr algn="ctr">
              <a:lnSpc>
                <a:spcPct val="132000"/>
              </a:lnSpc>
              <a:spcBef>
                <a:spcPts val="0"/>
              </a:spcBef>
              <a:spcAft>
                <a:spcPts val="0"/>
              </a:spcAft>
            </a:pPr>
            <a:r>
              <a:rPr sz="930" b="1" i="0">
                <a:solidFill>
                  <a:srgbClr val="6B6B6B"/>
                </a:solidFill>
                <a:latin typeface="Microsoft YaHei"/>
              </a:rPr>
              <a:t>预警前</a:t>
            </a:r>
          </a:p>
          <a:p>
            <a:pPr algn="ctr">
              <a:lnSpc>
                <a:spcPct val="132000"/>
              </a:lnSpc>
              <a:spcBef>
                <a:spcPts val="0"/>
              </a:spcBef>
              <a:spcAft>
                <a:spcPts val="0"/>
              </a:spcAft>
            </a:pPr>
            <a:r>
              <a:rPr sz="810" b="1" i="0">
                <a:solidFill>
                  <a:srgbClr val="6B6B6B"/>
                </a:solidFill>
                <a:latin typeface="Microsoft YaHei"/>
              </a:rPr>
              <a:t>驾驶员尚未获得任何提示</a:t>
            </a:r>
          </a:p>
          <a:p>
            <a:pPr algn="ctr">
              <a:lnSpc>
                <a:spcPct val="132000"/>
              </a:lnSpc>
              <a:spcBef>
                <a:spcPts val="0"/>
              </a:spcBef>
              <a:spcAft>
                <a:spcPts val="0"/>
              </a:spcAft>
            </a:pPr>
          </a:p>
        </p:txBody>
      </p:sp>
      <p:sp>
        <p:nvSpPr>
          <p:cNvPr id="10" name="Rectangle 9"/>
          <p:cNvSpPr/>
          <p:nvPr/>
        </p:nvSpPr>
        <p:spPr>
          <a:xfrm>
            <a:off x="3384798" y="1038225"/>
            <a:ext cx="2711053" cy="419100"/>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45198" y="1005482"/>
            <a:ext cx="647253" cy="200025"/>
          </a:xfrm>
          <a:prstGeom prst="rect">
            <a:avLst/>
          </a:prstGeom>
          <a:noFill/>
        </p:spPr>
        <p:txBody>
          <a:bodyPr wrap="square" lIns="0" rIns="0" tIns="0" bIns="0" anchor="ctr">
            <a:normAutofit/>
          </a:bodyPr>
          <a:lstStyle/>
          <a:p>
            <a:pPr algn="ctr">
              <a:lnSpc>
                <a:spcPct val="132000"/>
              </a:lnSpc>
              <a:spcBef>
                <a:spcPts val="0"/>
              </a:spcBef>
              <a:spcAft>
                <a:spcPts val="0"/>
              </a:spcAft>
            </a:pPr>
            <a:r>
              <a:rPr sz="930" b="1" i="0">
                <a:solidFill>
                  <a:srgbClr val="2F528F"/>
                </a:solidFill>
                <a:latin typeface="Microsoft YaHei"/>
              </a:rPr>
              <a:t>相对提前量 </a:t>
            </a:r>
          </a:p>
        </p:txBody>
      </p:sp>
      <p:sp>
        <p:nvSpPr>
          <p:cNvPr id="12" name="TextBox 11"/>
          <p:cNvSpPr txBox="1"/>
          <p:nvPr/>
        </p:nvSpPr>
        <p:spPr>
          <a:xfrm>
            <a:off x="4682430" y="1190029"/>
            <a:ext cx="153739" cy="164306"/>
          </a:xfrm>
          <a:prstGeom prst="rect">
            <a:avLst/>
          </a:prstGeom>
          <a:noFill/>
        </p:spPr>
        <p:txBody>
          <a:bodyPr wrap="square" lIns="0" rIns="0" tIns="0" bIns="0" anchor="t">
            <a:normAutofit/>
          </a:bodyPr>
          <a:lstStyle/>
          <a:p>
            <a:pPr algn="ctr">
              <a:lnSpc>
                <a:spcPct val="132000"/>
              </a:lnSpc>
              <a:spcBef>
                <a:spcPts val="0"/>
              </a:spcBef>
              <a:spcAft>
                <a:spcPts val="0"/>
              </a:spcAft>
            </a:pPr>
            <a:r>
              <a:rPr sz="810" b="0" i="1">
                <a:solidFill>
                  <a:srgbClr val="2F528F"/>
                </a:solidFill>
                <a:latin typeface="Microsoft YaHei"/>
              </a:rPr>
              <a:t>Δt</a:t>
            </a:r>
          </a:p>
        </p:txBody>
      </p:sp>
      <p:sp>
        <p:nvSpPr>
          <p:cNvPr id="13" name="TextBox 12"/>
          <p:cNvSpPr txBox="1"/>
          <p:nvPr/>
        </p:nvSpPr>
        <p:spPr>
          <a:xfrm>
            <a:off x="3940671" y="1344810"/>
            <a:ext cx="1637407" cy="164306"/>
          </a:xfrm>
          <a:prstGeom prst="rect">
            <a:avLst/>
          </a:prstGeom>
          <a:noFill/>
        </p:spPr>
        <p:txBody>
          <a:bodyPr wrap="square" lIns="0" rIns="0" tIns="0" bIns="0" anchor="t">
            <a:normAutofit/>
          </a:bodyPr>
          <a:lstStyle/>
          <a:p>
            <a:pPr algn="ctr">
              <a:lnSpc>
                <a:spcPct val="132000"/>
              </a:lnSpc>
              <a:spcBef>
                <a:spcPts val="0"/>
              </a:spcBef>
              <a:spcAft>
                <a:spcPts val="0"/>
              </a:spcAft>
            </a:pPr>
            <a:r>
              <a:rPr sz="810" b="0" i="0">
                <a:solidFill>
                  <a:srgbClr val="2F528F"/>
                </a:solidFill>
                <a:latin typeface="Microsoft YaHei"/>
              </a:rPr>
              <a:t>Scanning 已可启动：行人本就可见</a:t>
            </a:r>
          </a:p>
        </p:txBody>
      </p:sp>
      <p:sp>
        <p:nvSpPr>
          <p:cNvPr id="14" name="Rectangle 13"/>
          <p:cNvSpPr/>
          <p:nvPr/>
        </p:nvSpPr>
        <p:spPr>
          <a:xfrm>
            <a:off x="6095851" y="1038225"/>
            <a:ext cx="5648473" cy="419100"/>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53001" y="1038225"/>
            <a:ext cx="5572273" cy="447675"/>
          </a:xfrm>
          <a:prstGeom prst="rect">
            <a:avLst/>
          </a:prstGeom>
          <a:noFill/>
        </p:spPr>
        <p:txBody>
          <a:bodyPr wrap="square" lIns="0" rIns="0" tIns="0" bIns="0" anchor="ctr">
            <a:normAutofit/>
          </a:bodyPr>
          <a:lstStyle/>
          <a:p>
            <a:pPr algn="ctr">
              <a:lnSpc>
                <a:spcPct val="132000"/>
              </a:lnSpc>
              <a:spcBef>
                <a:spcPts val="0"/>
              </a:spcBef>
              <a:spcAft>
                <a:spcPts val="0"/>
              </a:spcAft>
            </a:pPr>
            <a:r>
              <a:rPr sz="930" b="1" i="0">
                <a:solidFill>
                  <a:srgbClr val="2F528F"/>
                </a:solidFill>
                <a:latin typeface="Microsoft YaHei"/>
              </a:rPr>
              <a:t>S · P · I · D · E 在同一连续区段内完成</a:t>
            </a:r>
          </a:p>
          <a:p>
            <a:pPr algn="ctr">
              <a:lnSpc>
                <a:spcPct val="132000"/>
              </a:lnSpc>
              <a:spcBef>
                <a:spcPts val="0"/>
              </a:spcBef>
              <a:spcAft>
                <a:spcPts val="0"/>
              </a:spcAft>
            </a:pPr>
            <a:r>
              <a:rPr sz="810" b="1" i="0">
                <a:solidFill>
                  <a:srgbClr val="2F528F"/>
                </a:solidFill>
                <a:latin typeface="Microsoft YaHei"/>
              </a:rPr>
              <a:t>预警的作用是</a:t>
            </a:r>
            <a:r>
              <a:rPr sz="810" b="1" i="0">
                <a:solidFill>
                  <a:srgbClr val="2F528F"/>
                </a:solidFill>
                <a:latin typeface="Microsoft YaHei"/>
              </a:rPr>
              <a:t>加速</a:t>
            </a:r>
            <a:r>
              <a:rPr sz="810" b="1" i="0">
                <a:solidFill>
                  <a:srgbClr val="2F528F"/>
                </a:solidFill>
                <a:latin typeface="Microsoft YaHei"/>
              </a:rPr>
              <a:t>一条本已存在的加工链条</a:t>
            </a:r>
          </a:p>
          <a:p>
            <a:pPr algn="ctr">
              <a:lnSpc>
                <a:spcPct val="132000"/>
              </a:lnSpc>
              <a:spcBef>
                <a:spcPts val="0"/>
              </a:spcBef>
              <a:spcAft>
                <a:spcPts val="0"/>
              </a:spcAft>
            </a:pPr>
          </a:p>
        </p:txBody>
      </p:sp>
      <p:sp>
        <p:nvSpPr>
          <p:cNvPr id="16" name="TextBox 15"/>
          <p:cNvSpPr txBox="1"/>
          <p:nvPr/>
        </p:nvSpPr>
        <p:spPr>
          <a:xfrm>
            <a:off x="495300" y="1495425"/>
            <a:ext cx="2922984" cy="253156"/>
          </a:xfrm>
          <a:prstGeom prst="rect">
            <a:avLst/>
          </a:prstGeom>
          <a:noFill/>
        </p:spPr>
        <p:txBody>
          <a:bodyPr wrap="square" lIns="0" rIns="0" tIns="0" bIns="0" anchor="t">
            <a:normAutofit/>
          </a:bodyPr>
          <a:lstStyle/>
          <a:p>
            <a:pPr algn="r">
              <a:lnSpc>
                <a:spcPct val="196900"/>
              </a:lnSpc>
              <a:spcBef>
                <a:spcPts val="0"/>
              </a:spcBef>
              <a:spcAft>
                <a:spcPts val="0"/>
              </a:spcAft>
            </a:pPr>
            <a:r>
              <a:rPr sz="520" b="0" i="0">
                <a:solidFill>
                  <a:srgbClr val="B4B4B4"/>
                </a:solidFill>
                <a:latin typeface="Microsoft YaHei"/>
              </a:rPr>
              <a:t>▲</a:t>
            </a:r>
          </a:p>
          <a:p>
            <a:pPr algn="r">
              <a:lnSpc>
                <a:spcPct val="130000"/>
              </a:lnSpc>
              <a:spcBef>
                <a:spcPts val="0"/>
              </a:spcBef>
              <a:spcAft>
                <a:spcPts val="0"/>
              </a:spcAft>
            </a:pPr>
            <a:r>
              <a:rPr sz="790" b="0" i="0">
                <a:solidFill>
                  <a:srgbClr val="8C8C8C"/>
                </a:solidFill>
                <a:latin typeface="Microsoft YaHei"/>
              </a:rPr>
              <a:t>t</a:t>
            </a:r>
            <a:r>
              <a:rPr sz="660" b="0" i="0" baseline="-25000">
                <a:solidFill>
                  <a:srgbClr val="8C8C8C"/>
                </a:solidFill>
                <a:latin typeface="Microsoft YaHei"/>
              </a:rPr>
              <a:t>warn</a:t>
            </a:r>
          </a:p>
        </p:txBody>
      </p:sp>
      <p:sp>
        <p:nvSpPr>
          <p:cNvPr id="17" name="TextBox 16"/>
          <p:cNvSpPr txBox="1"/>
          <p:nvPr/>
        </p:nvSpPr>
        <p:spPr>
          <a:xfrm>
            <a:off x="3437334" y="1495425"/>
            <a:ext cx="2696616" cy="253156"/>
          </a:xfrm>
          <a:prstGeom prst="rect">
            <a:avLst/>
          </a:prstGeom>
          <a:noFill/>
        </p:spPr>
        <p:txBody>
          <a:bodyPr wrap="square" lIns="0" rIns="0" tIns="0" bIns="0" anchor="t">
            <a:normAutofit/>
          </a:bodyPr>
          <a:lstStyle/>
          <a:p>
            <a:pPr algn="r">
              <a:lnSpc>
                <a:spcPct val="196900"/>
              </a:lnSpc>
              <a:spcBef>
                <a:spcPts val="0"/>
              </a:spcBef>
              <a:spcAft>
                <a:spcPts val="0"/>
              </a:spcAft>
            </a:pPr>
            <a:r>
              <a:rPr sz="520" b="0" i="0">
                <a:solidFill>
                  <a:srgbClr val="B4B4B4"/>
                </a:solidFill>
                <a:latin typeface="Microsoft YaHei"/>
              </a:rPr>
              <a:t>▲</a:t>
            </a:r>
          </a:p>
          <a:p>
            <a:pPr algn="r">
              <a:lnSpc>
                <a:spcPct val="130000"/>
              </a:lnSpc>
              <a:spcBef>
                <a:spcPts val="0"/>
              </a:spcBef>
              <a:spcAft>
                <a:spcPts val="0"/>
              </a:spcAft>
            </a:pPr>
            <a:r>
              <a:rPr sz="790" b="0" i="0">
                <a:solidFill>
                  <a:srgbClr val="8C8C8C"/>
                </a:solidFill>
                <a:latin typeface="Microsoft YaHei"/>
              </a:rPr>
              <a:t>t</a:t>
            </a:r>
            <a:r>
              <a:rPr sz="660" b="0" i="0" baseline="-25000">
                <a:solidFill>
                  <a:srgbClr val="8C8C8C"/>
                </a:solidFill>
                <a:latin typeface="Microsoft YaHei"/>
              </a:rPr>
              <a:t>0</a:t>
            </a:r>
            <a:r>
              <a:rPr sz="790" b="0" i="0">
                <a:solidFill>
                  <a:srgbClr val="8C8C8C"/>
                </a:solidFill>
                <a:latin typeface="Microsoft YaHei"/>
              </a:rPr>
              <a:t>（自发察觉，须实测）</a:t>
            </a:r>
          </a:p>
        </p:txBody>
      </p:sp>
      <p:sp>
        <p:nvSpPr>
          <p:cNvPr id="18" name="TextBox 17"/>
          <p:cNvSpPr txBox="1"/>
          <p:nvPr/>
        </p:nvSpPr>
        <p:spPr>
          <a:xfrm>
            <a:off x="6153001" y="1495425"/>
            <a:ext cx="5638948" cy="253156"/>
          </a:xfrm>
          <a:prstGeom prst="rect">
            <a:avLst/>
          </a:prstGeom>
          <a:noFill/>
        </p:spPr>
        <p:txBody>
          <a:bodyPr wrap="square" lIns="0" rIns="0" tIns="0" bIns="0" anchor="t">
            <a:normAutofit/>
          </a:bodyPr>
          <a:lstStyle/>
          <a:p>
            <a:pPr algn="r">
              <a:lnSpc>
                <a:spcPct val="196900"/>
              </a:lnSpc>
              <a:spcBef>
                <a:spcPts val="0"/>
              </a:spcBef>
              <a:spcAft>
                <a:spcPts val="0"/>
              </a:spcAft>
            </a:pPr>
            <a:r>
              <a:rPr sz="520" b="0" i="0">
                <a:solidFill>
                  <a:srgbClr val="B4B4B4"/>
                </a:solidFill>
                <a:latin typeface="Microsoft YaHei"/>
              </a:rPr>
              <a:t>▲</a:t>
            </a:r>
          </a:p>
          <a:p>
            <a:pPr algn="r">
              <a:lnSpc>
                <a:spcPct val="130000"/>
              </a:lnSpc>
              <a:spcBef>
                <a:spcPts val="0"/>
              </a:spcBef>
              <a:spcAft>
                <a:spcPts val="0"/>
              </a:spcAft>
            </a:pPr>
            <a:r>
              <a:rPr sz="790" b="0" i="0">
                <a:solidFill>
                  <a:srgbClr val="8C8C8C"/>
                </a:solidFill>
                <a:latin typeface="Microsoft YaHei"/>
              </a:rPr>
              <a:t>冲突</a:t>
            </a:r>
          </a:p>
        </p:txBody>
      </p:sp>
      <p:sp>
        <p:nvSpPr>
          <p:cNvPr id="19" name="Rectangle 18"/>
          <p:cNvSpPr/>
          <p:nvPr/>
        </p:nvSpPr>
        <p:spPr>
          <a:xfrm>
            <a:off x="438150" y="1843831"/>
            <a:ext cx="11315700"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8150" y="1977181"/>
            <a:ext cx="11353800" cy="219075"/>
          </a:xfrm>
          <a:prstGeom prst="rect">
            <a:avLst/>
          </a:prstGeom>
          <a:noFill/>
        </p:spPr>
        <p:txBody>
          <a:bodyPr wrap="square" lIns="0" rIns="0" tIns="0" bIns="0" anchor="t">
            <a:normAutofit/>
          </a:bodyPr>
          <a:lstStyle/>
          <a:p>
            <a:pPr algn="l">
              <a:lnSpc>
                <a:spcPct val="125000"/>
              </a:lnSpc>
              <a:spcBef>
                <a:spcPts val="0"/>
              </a:spcBef>
              <a:spcAft>
                <a:spcPts val="0"/>
              </a:spcAft>
            </a:pPr>
            <a:r>
              <a:rPr sz="1010" b="1" i="0">
                <a:solidFill>
                  <a:srgbClr val="2F528F"/>
                </a:solidFill>
                <a:latin typeface="Microsoft YaHei"/>
              </a:rPr>
              <a:t>盲区情境：被自然显露时刻</a:t>
            </a:r>
            <a:r>
              <a:rPr sz="1010" b="1" i="0">
                <a:solidFill>
                  <a:srgbClr val="2F528F"/>
                </a:solidFill>
                <a:latin typeface="Microsoft YaHei"/>
              </a:rPr>
              <a:t>切成两段</a:t>
            </a:r>
            <a:r>
              <a:rPr sz="1010" b="1" i="0">
                <a:solidFill>
                  <a:srgbClr val="2F528F"/>
                </a:solidFill>
                <a:latin typeface="Microsoft YaHei"/>
              </a:rPr>
              <a:t>，两段可做的加工不同</a:t>
            </a:r>
          </a:p>
        </p:txBody>
      </p:sp>
      <p:sp>
        <p:nvSpPr>
          <p:cNvPr id="21" name="Rounded Rectangle 20"/>
          <p:cNvSpPr/>
          <p:nvPr/>
        </p:nvSpPr>
        <p:spPr>
          <a:xfrm>
            <a:off x="438150" y="2224831"/>
            <a:ext cx="11315700" cy="438150"/>
          </a:xfrm>
          <a:prstGeom prst="roundRect">
            <a:avLst>
              <a:gd name="adj" fmla="val 10869"/>
            </a:avLst>
          </a:prstGeom>
          <a:noFill/>
          <a:ln w="9525">
            <a:solidFill>
              <a:srgbClr val="CFCF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7675" y="2234356"/>
            <a:ext cx="1468487" cy="41910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04825" y="2234356"/>
            <a:ext cx="1392287" cy="447675"/>
          </a:xfrm>
          <a:prstGeom prst="rect">
            <a:avLst/>
          </a:prstGeom>
          <a:noFill/>
        </p:spPr>
        <p:txBody>
          <a:bodyPr wrap="square" lIns="0" rIns="0" tIns="0" bIns="0" anchor="ctr">
            <a:normAutofit/>
          </a:bodyPr>
          <a:lstStyle/>
          <a:p>
            <a:pPr algn="ctr">
              <a:lnSpc>
                <a:spcPct val="132000"/>
              </a:lnSpc>
              <a:spcBef>
                <a:spcPts val="0"/>
              </a:spcBef>
              <a:spcAft>
                <a:spcPts val="0"/>
              </a:spcAft>
            </a:pPr>
            <a:r>
              <a:rPr sz="930" b="1" i="0">
                <a:solidFill>
                  <a:srgbClr val="6B6B6B"/>
                </a:solidFill>
                <a:latin typeface="Microsoft YaHei"/>
              </a:rPr>
              <a:t>探测前</a:t>
            </a:r>
          </a:p>
          <a:p>
            <a:pPr algn="ctr">
              <a:lnSpc>
                <a:spcPct val="132000"/>
              </a:lnSpc>
              <a:spcBef>
                <a:spcPts val="0"/>
              </a:spcBef>
              <a:spcAft>
                <a:spcPts val="0"/>
              </a:spcAft>
            </a:pPr>
            <a:r>
              <a:rPr sz="810" b="1" i="0">
                <a:solidFill>
                  <a:srgbClr val="6B6B6B"/>
                </a:solidFill>
                <a:latin typeface="Microsoft YaHei"/>
              </a:rPr>
              <a:t>系统亦不可见</a:t>
            </a:r>
          </a:p>
          <a:p>
            <a:pPr algn="ctr">
              <a:lnSpc>
                <a:spcPct val="132000"/>
              </a:lnSpc>
              <a:spcBef>
                <a:spcPts val="0"/>
              </a:spcBef>
              <a:spcAft>
                <a:spcPts val="0"/>
              </a:spcAft>
            </a:pPr>
          </a:p>
        </p:txBody>
      </p:sp>
      <p:sp>
        <p:nvSpPr>
          <p:cNvPr id="24" name="Rectangle 23"/>
          <p:cNvSpPr/>
          <p:nvPr/>
        </p:nvSpPr>
        <p:spPr>
          <a:xfrm>
            <a:off x="1916162" y="2234356"/>
            <a:ext cx="1468487" cy="419100"/>
          </a:xfrm>
          <a:prstGeom prst="rect">
            <a:avLst/>
          </a:prstGeom>
          <a:solidFill>
            <a:srgbClr val="F7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973312" y="2234356"/>
            <a:ext cx="1392287" cy="447675"/>
          </a:xfrm>
          <a:prstGeom prst="rect">
            <a:avLst/>
          </a:prstGeom>
          <a:noFill/>
        </p:spPr>
        <p:txBody>
          <a:bodyPr wrap="square" lIns="0" rIns="0" tIns="0" bIns="0" anchor="ctr">
            <a:normAutofit/>
          </a:bodyPr>
          <a:lstStyle/>
          <a:p>
            <a:pPr algn="ctr">
              <a:lnSpc>
                <a:spcPct val="132000"/>
              </a:lnSpc>
              <a:spcBef>
                <a:spcPts val="0"/>
              </a:spcBef>
              <a:spcAft>
                <a:spcPts val="0"/>
              </a:spcAft>
            </a:pPr>
            <a:r>
              <a:rPr sz="930" b="1" i="0">
                <a:solidFill>
                  <a:srgbClr val="7A7A8A"/>
                </a:solidFill>
                <a:latin typeface="Microsoft YaHei"/>
              </a:rPr>
              <a:t>已探测 · 未预警</a:t>
            </a:r>
          </a:p>
          <a:p>
            <a:pPr algn="ctr">
              <a:lnSpc>
                <a:spcPct val="132000"/>
              </a:lnSpc>
              <a:spcBef>
                <a:spcPts val="0"/>
              </a:spcBef>
              <a:spcAft>
                <a:spcPts val="0"/>
              </a:spcAft>
            </a:pPr>
            <a:r>
              <a:rPr sz="810" b="1" i="0">
                <a:solidFill>
                  <a:srgbClr val="7A7A8A"/>
                </a:solidFill>
                <a:latin typeface="Microsoft YaHei"/>
              </a:rPr>
              <a:t>预警最早只能提前至此</a:t>
            </a:r>
          </a:p>
          <a:p>
            <a:pPr algn="ctr">
              <a:lnSpc>
                <a:spcPct val="132000"/>
              </a:lnSpc>
              <a:spcBef>
                <a:spcPts val="0"/>
              </a:spcBef>
              <a:spcAft>
                <a:spcPts val="0"/>
              </a:spcAft>
            </a:pPr>
          </a:p>
        </p:txBody>
      </p:sp>
      <p:sp>
        <p:nvSpPr>
          <p:cNvPr id="26" name="Rectangle 25"/>
          <p:cNvSpPr/>
          <p:nvPr/>
        </p:nvSpPr>
        <p:spPr>
          <a:xfrm>
            <a:off x="3384649" y="2234356"/>
            <a:ext cx="3614886" cy="419100"/>
          </a:xfrm>
          <a:prstGeom prst="rect">
            <a:avLst/>
          </a:prstGeom>
          <a:solidFill>
            <a:srgbClr val="EF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55976" y="2201614"/>
            <a:ext cx="529232" cy="200025"/>
          </a:xfrm>
          <a:prstGeom prst="rect">
            <a:avLst/>
          </a:prstGeom>
          <a:noFill/>
        </p:spPr>
        <p:txBody>
          <a:bodyPr wrap="square" lIns="0" rIns="0" tIns="0" bIns="0" anchor="ctr">
            <a:normAutofit/>
          </a:bodyPr>
          <a:lstStyle/>
          <a:p>
            <a:pPr algn="ctr">
              <a:lnSpc>
                <a:spcPct val="132000"/>
              </a:lnSpc>
              <a:spcBef>
                <a:spcPts val="0"/>
              </a:spcBef>
              <a:spcAft>
                <a:spcPts val="0"/>
              </a:spcAft>
            </a:pPr>
            <a:r>
              <a:rPr sz="930" b="1" i="0">
                <a:solidFill>
                  <a:srgbClr val="5B4382"/>
                </a:solidFill>
                <a:latin typeface="Microsoft YaHei"/>
              </a:rPr>
              <a:t>预告区段 </a:t>
            </a:r>
          </a:p>
        </p:txBody>
      </p:sp>
      <p:sp>
        <p:nvSpPr>
          <p:cNvPr id="28" name="TextBox 27"/>
          <p:cNvSpPr txBox="1"/>
          <p:nvPr/>
        </p:nvSpPr>
        <p:spPr>
          <a:xfrm>
            <a:off x="5122515" y="2386161"/>
            <a:ext cx="177105" cy="164306"/>
          </a:xfrm>
          <a:prstGeom prst="rect">
            <a:avLst/>
          </a:prstGeom>
          <a:noFill/>
        </p:spPr>
        <p:txBody>
          <a:bodyPr wrap="square" lIns="0" rIns="0" tIns="0" bIns="0" anchor="t">
            <a:normAutofit/>
          </a:bodyPr>
          <a:lstStyle/>
          <a:p>
            <a:pPr algn="ctr">
              <a:lnSpc>
                <a:spcPct val="132000"/>
              </a:lnSpc>
              <a:spcBef>
                <a:spcPts val="0"/>
              </a:spcBef>
              <a:spcAft>
                <a:spcPts val="0"/>
              </a:spcAft>
            </a:pPr>
            <a:r>
              <a:rPr sz="810" b="0" i="1">
                <a:solidFill>
                  <a:srgbClr val="5B4382"/>
                </a:solidFill>
                <a:latin typeface="Microsoft YaHei"/>
              </a:rPr>
              <a:t>Δt′</a:t>
            </a:r>
          </a:p>
        </p:txBody>
      </p:sp>
      <p:sp>
        <p:nvSpPr>
          <p:cNvPr id="29" name="TextBox 28"/>
          <p:cNvSpPr txBox="1"/>
          <p:nvPr/>
        </p:nvSpPr>
        <p:spPr>
          <a:xfrm>
            <a:off x="3806130" y="2540942"/>
            <a:ext cx="2809875" cy="164306"/>
          </a:xfrm>
          <a:prstGeom prst="rect">
            <a:avLst/>
          </a:prstGeom>
          <a:noFill/>
        </p:spPr>
        <p:txBody>
          <a:bodyPr wrap="square" lIns="0" rIns="0" tIns="0" bIns="0" anchor="t">
            <a:normAutofit/>
          </a:bodyPr>
          <a:lstStyle/>
          <a:p>
            <a:pPr algn="ctr">
              <a:lnSpc>
                <a:spcPct val="132000"/>
              </a:lnSpc>
              <a:spcBef>
                <a:spcPts val="0"/>
              </a:spcBef>
              <a:spcAft>
                <a:spcPts val="0"/>
              </a:spcAft>
            </a:pPr>
            <a:r>
              <a:rPr sz="810" b="0" i="0">
                <a:solidFill>
                  <a:srgbClr val="5B4382"/>
                </a:solidFill>
                <a:latin typeface="Microsoft YaHei"/>
              </a:rPr>
              <a:t>可做 P、预置 D · </a:t>
            </a:r>
            <a:r>
              <a:rPr sz="810" b="1" i="0">
                <a:solidFill>
                  <a:srgbClr val="5B4382"/>
                </a:solidFill>
                <a:latin typeface="Microsoft YaHei"/>
              </a:rPr>
              <a:t>不能做 S、I</a:t>
            </a:r>
            <a:r>
              <a:rPr sz="810" b="0" i="0">
                <a:solidFill>
                  <a:srgbClr val="5B4382"/>
                </a:solidFill>
                <a:latin typeface="Microsoft YaHei"/>
              </a:rPr>
              <a:t>（无目标可扫视、可确认）</a:t>
            </a:r>
          </a:p>
        </p:txBody>
      </p:sp>
      <p:sp>
        <p:nvSpPr>
          <p:cNvPr id="30" name="Rectangle 29"/>
          <p:cNvSpPr/>
          <p:nvPr/>
        </p:nvSpPr>
        <p:spPr>
          <a:xfrm>
            <a:off x="6999535" y="2234356"/>
            <a:ext cx="4744789" cy="419100"/>
          </a:xfrm>
          <a:prstGeom prst="rect">
            <a:avLst/>
          </a:prstGeom>
          <a:solidFill>
            <a:srgbClr val="DC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6685" y="2234356"/>
            <a:ext cx="4668589" cy="447675"/>
          </a:xfrm>
          <a:prstGeom prst="rect">
            <a:avLst/>
          </a:prstGeom>
          <a:noFill/>
        </p:spPr>
        <p:txBody>
          <a:bodyPr wrap="square" lIns="0" rIns="0" tIns="0" bIns="0" anchor="ctr">
            <a:normAutofit/>
          </a:bodyPr>
          <a:lstStyle/>
          <a:p>
            <a:pPr algn="ctr">
              <a:lnSpc>
                <a:spcPct val="132000"/>
              </a:lnSpc>
              <a:spcBef>
                <a:spcPts val="0"/>
              </a:spcBef>
              <a:spcAft>
                <a:spcPts val="0"/>
              </a:spcAft>
            </a:pPr>
            <a:r>
              <a:rPr sz="930" b="1" i="0">
                <a:solidFill>
                  <a:srgbClr val="2C5E2C"/>
                </a:solidFill>
                <a:latin typeface="Microsoft YaHei"/>
              </a:rPr>
              <a:t>显露区段</a:t>
            </a:r>
          </a:p>
          <a:p>
            <a:pPr algn="ctr">
              <a:lnSpc>
                <a:spcPct val="132000"/>
              </a:lnSpc>
              <a:spcBef>
                <a:spcPts val="0"/>
              </a:spcBef>
              <a:spcAft>
                <a:spcPts val="0"/>
              </a:spcAft>
            </a:pPr>
            <a:r>
              <a:rPr sz="810" b="1" i="0">
                <a:solidFill>
                  <a:srgbClr val="2C5E2C"/>
                </a:solidFill>
                <a:latin typeface="Microsoft YaHei"/>
              </a:rPr>
              <a:t>S · I · D · E 全可做；预警的作用是</a:t>
            </a:r>
            <a:r>
              <a:rPr sz="810" b="1" i="0">
                <a:solidFill>
                  <a:srgbClr val="2C5E2C"/>
                </a:solidFill>
                <a:latin typeface="Microsoft YaHei"/>
              </a:rPr>
              <a:t>从无到有创造</a:t>
            </a:r>
            <a:r>
              <a:rPr sz="810" b="1" i="0">
                <a:solidFill>
                  <a:srgbClr val="2C5E2C"/>
                </a:solidFill>
                <a:latin typeface="Microsoft YaHei"/>
              </a:rPr>
              <a:t>一个加工窗口</a:t>
            </a:r>
          </a:p>
          <a:p>
            <a:pPr algn="ctr">
              <a:lnSpc>
                <a:spcPct val="132000"/>
              </a:lnSpc>
              <a:spcBef>
                <a:spcPts val="0"/>
              </a:spcBef>
              <a:spcAft>
                <a:spcPts val="0"/>
              </a:spcAft>
            </a:pPr>
          </a:p>
        </p:txBody>
      </p:sp>
      <p:sp>
        <p:nvSpPr>
          <p:cNvPr id="32" name="TextBox 31"/>
          <p:cNvSpPr txBox="1"/>
          <p:nvPr/>
        </p:nvSpPr>
        <p:spPr>
          <a:xfrm>
            <a:off x="495300" y="2691556"/>
            <a:ext cx="1451967" cy="253156"/>
          </a:xfrm>
          <a:prstGeom prst="rect">
            <a:avLst/>
          </a:prstGeom>
          <a:noFill/>
        </p:spPr>
        <p:txBody>
          <a:bodyPr wrap="square" lIns="0" rIns="0" tIns="0" bIns="0" anchor="t">
            <a:normAutofit/>
          </a:bodyPr>
          <a:lstStyle/>
          <a:p>
            <a:pPr algn="r">
              <a:lnSpc>
                <a:spcPct val="196900"/>
              </a:lnSpc>
              <a:spcBef>
                <a:spcPts val="0"/>
              </a:spcBef>
              <a:spcAft>
                <a:spcPts val="0"/>
              </a:spcAft>
            </a:pPr>
            <a:r>
              <a:rPr sz="520" b="0" i="0">
                <a:solidFill>
                  <a:srgbClr val="B4B4B4"/>
                </a:solidFill>
                <a:latin typeface="Microsoft YaHei"/>
              </a:rPr>
              <a:t>▲</a:t>
            </a:r>
          </a:p>
          <a:p>
            <a:pPr algn="r">
              <a:lnSpc>
                <a:spcPct val="130000"/>
              </a:lnSpc>
              <a:spcBef>
                <a:spcPts val="0"/>
              </a:spcBef>
              <a:spcAft>
                <a:spcPts val="0"/>
              </a:spcAft>
            </a:pPr>
            <a:r>
              <a:rPr sz="790" b="0" i="0">
                <a:solidFill>
                  <a:srgbClr val="8C8C8C"/>
                </a:solidFill>
                <a:latin typeface="Microsoft YaHei"/>
              </a:rPr>
              <a:t>t</a:t>
            </a:r>
            <a:r>
              <a:rPr sz="660" b="0" i="0" baseline="-25000">
                <a:solidFill>
                  <a:srgbClr val="8C8C8C"/>
                </a:solidFill>
                <a:latin typeface="Microsoft YaHei"/>
              </a:rPr>
              <a:t>detect</a:t>
            </a:r>
            <a:r>
              <a:rPr sz="790" b="0" i="0">
                <a:solidFill>
                  <a:srgbClr val="8C8C8C"/>
                </a:solidFill>
                <a:latin typeface="Microsoft YaHei"/>
              </a:rPr>
              <a:t>（硬上界）</a:t>
            </a:r>
          </a:p>
        </p:txBody>
      </p:sp>
      <p:sp>
        <p:nvSpPr>
          <p:cNvPr id="33" name="TextBox 32"/>
          <p:cNvSpPr txBox="1"/>
          <p:nvPr/>
        </p:nvSpPr>
        <p:spPr>
          <a:xfrm>
            <a:off x="1966317" y="2691556"/>
            <a:ext cx="1451967" cy="253156"/>
          </a:xfrm>
          <a:prstGeom prst="rect">
            <a:avLst/>
          </a:prstGeom>
          <a:noFill/>
        </p:spPr>
        <p:txBody>
          <a:bodyPr wrap="square" lIns="0" rIns="0" tIns="0" bIns="0" anchor="t">
            <a:normAutofit/>
          </a:bodyPr>
          <a:lstStyle/>
          <a:p>
            <a:pPr algn="r">
              <a:lnSpc>
                <a:spcPct val="196900"/>
              </a:lnSpc>
              <a:spcBef>
                <a:spcPts val="0"/>
              </a:spcBef>
              <a:spcAft>
                <a:spcPts val="0"/>
              </a:spcAft>
            </a:pPr>
            <a:r>
              <a:rPr sz="520" b="0" i="0">
                <a:solidFill>
                  <a:srgbClr val="B4B4B4"/>
                </a:solidFill>
                <a:latin typeface="Microsoft YaHei"/>
              </a:rPr>
              <a:t>▲</a:t>
            </a:r>
          </a:p>
          <a:p>
            <a:pPr algn="r">
              <a:lnSpc>
                <a:spcPct val="130000"/>
              </a:lnSpc>
              <a:spcBef>
                <a:spcPts val="0"/>
              </a:spcBef>
              <a:spcAft>
                <a:spcPts val="0"/>
              </a:spcAft>
            </a:pPr>
            <a:r>
              <a:rPr sz="790" b="0" i="0">
                <a:solidFill>
                  <a:srgbClr val="8C8C8C"/>
                </a:solidFill>
                <a:latin typeface="Microsoft YaHei"/>
              </a:rPr>
              <a:t>t</a:t>
            </a:r>
            <a:r>
              <a:rPr sz="660" b="0" i="0" baseline="-25000">
                <a:solidFill>
                  <a:srgbClr val="8C8C8C"/>
                </a:solidFill>
                <a:latin typeface="Microsoft YaHei"/>
              </a:rPr>
              <a:t>warn</a:t>
            </a:r>
          </a:p>
        </p:txBody>
      </p:sp>
      <p:sp>
        <p:nvSpPr>
          <p:cNvPr id="34" name="TextBox 33"/>
          <p:cNvSpPr txBox="1"/>
          <p:nvPr/>
        </p:nvSpPr>
        <p:spPr>
          <a:xfrm>
            <a:off x="3437334" y="2691556"/>
            <a:ext cx="3601938" cy="253156"/>
          </a:xfrm>
          <a:prstGeom prst="rect">
            <a:avLst/>
          </a:prstGeom>
          <a:noFill/>
        </p:spPr>
        <p:txBody>
          <a:bodyPr wrap="square" lIns="0" rIns="0" tIns="0" bIns="0" anchor="t">
            <a:normAutofit/>
          </a:bodyPr>
          <a:lstStyle/>
          <a:p>
            <a:pPr algn="r">
              <a:lnSpc>
                <a:spcPct val="196900"/>
              </a:lnSpc>
              <a:spcBef>
                <a:spcPts val="0"/>
              </a:spcBef>
              <a:spcAft>
                <a:spcPts val="0"/>
              </a:spcAft>
            </a:pPr>
            <a:r>
              <a:rPr sz="520" b="0" i="0">
                <a:solidFill>
                  <a:srgbClr val="B4B4B4"/>
                </a:solidFill>
                <a:latin typeface="Microsoft YaHei"/>
              </a:rPr>
              <a:t>▲</a:t>
            </a:r>
          </a:p>
          <a:p>
            <a:pPr algn="r">
              <a:lnSpc>
                <a:spcPct val="130000"/>
              </a:lnSpc>
              <a:spcBef>
                <a:spcPts val="0"/>
              </a:spcBef>
              <a:spcAft>
                <a:spcPts val="0"/>
              </a:spcAft>
            </a:pPr>
            <a:r>
              <a:rPr sz="790" b="0" i="0">
                <a:solidFill>
                  <a:srgbClr val="8C8C8C"/>
                </a:solidFill>
                <a:latin typeface="Microsoft YaHei"/>
              </a:rPr>
              <a:t>t</a:t>
            </a:r>
            <a:r>
              <a:rPr sz="660" b="0" i="0" baseline="-25000">
                <a:solidFill>
                  <a:srgbClr val="8C8C8C"/>
                </a:solidFill>
                <a:latin typeface="Microsoft YaHei"/>
              </a:rPr>
              <a:t>reveal</a:t>
            </a:r>
            <a:r>
              <a:rPr sz="790" b="0" i="0">
                <a:solidFill>
                  <a:srgbClr val="8C8C8C"/>
                </a:solidFill>
                <a:latin typeface="Microsoft YaHei"/>
              </a:rPr>
              <a:t>（自然显露，可解析）</a:t>
            </a:r>
          </a:p>
        </p:txBody>
      </p:sp>
      <p:sp>
        <p:nvSpPr>
          <p:cNvPr id="35" name="TextBox 34"/>
          <p:cNvSpPr txBox="1"/>
          <p:nvPr/>
        </p:nvSpPr>
        <p:spPr>
          <a:xfrm>
            <a:off x="7058322" y="2691556"/>
            <a:ext cx="4733627" cy="253156"/>
          </a:xfrm>
          <a:prstGeom prst="rect">
            <a:avLst/>
          </a:prstGeom>
          <a:noFill/>
        </p:spPr>
        <p:txBody>
          <a:bodyPr wrap="square" lIns="0" rIns="0" tIns="0" bIns="0" anchor="t">
            <a:normAutofit/>
          </a:bodyPr>
          <a:lstStyle/>
          <a:p>
            <a:pPr algn="r">
              <a:lnSpc>
                <a:spcPct val="196900"/>
              </a:lnSpc>
              <a:spcBef>
                <a:spcPts val="0"/>
              </a:spcBef>
              <a:spcAft>
                <a:spcPts val="0"/>
              </a:spcAft>
            </a:pPr>
            <a:r>
              <a:rPr sz="520" b="0" i="0">
                <a:solidFill>
                  <a:srgbClr val="B4B4B4"/>
                </a:solidFill>
                <a:latin typeface="Microsoft YaHei"/>
              </a:rPr>
              <a:t>▲</a:t>
            </a:r>
          </a:p>
          <a:p>
            <a:pPr algn="r">
              <a:lnSpc>
                <a:spcPct val="130000"/>
              </a:lnSpc>
              <a:spcBef>
                <a:spcPts val="0"/>
              </a:spcBef>
              <a:spcAft>
                <a:spcPts val="0"/>
              </a:spcAft>
            </a:pPr>
            <a:r>
              <a:rPr sz="790" b="0" i="0">
                <a:solidFill>
                  <a:srgbClr val="8C8C8C"/>
                </a:solidFill>
                <a:latin typeface="Microsoft YaHei"/>
              </a:rPr>
              <a:t>冲突</a:t>
            </a:r>
          </a:p>
        </p:txBody>
      </p:sp>
      <p:sp>
        <p:nvSpPr>
          <p:cNvPr id="36" name="Rectangle 35"/>
          <p:cNvSpPr/>
          <p:nvPr/>
        </p:nvSpPr>
        <p:spPr>
          <a:xfrm>
            <a:off x="438150" y="3039963"/>
            <a:ext cx="11315700" cy="806946"/>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38150" y="3039963"/>
            <a:ext cx="38100" cy="80694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1975" y="3125688"/>
            <a:ext cx="11106150" cy="664071"/>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由此导出三条可否证预测：</a:t>
            </a:r>
            <a:r>
              <a:rPr sz="990" b="1" i="0">
                <a:solidFill>
                  <a:srgbClr val="1F5A1F"/>
                </a:solidFill>
                <a:latin typeface="Microsoft YaHei"/>
              </a:rPr>
              <a:t>P1′</a:t>
            </a:r>
            <a:r>
              <a:rPr sz="990" b="0" i="0">
                <a:solidFill>
                  <a:srgbClr val="1F5A1F"/>
                </a:solidFill>
                <a:latin typeface="Microsoft YaHei"/>
              </a:rPr>
              <a:t> 若 </a:t>
            </a:r>
            <a:r>
              <a:rPr sz="990" b="0" i="1">
                <a:solidFill>
                  <a:srgbClr val="1F5A1F"/>
                </a:solidFill>
                <a:latin typeface="Microsoft YaHei"/>
              </a:rPr>
              <a:t>Δt′ ≤ 0</a:t>
            </a:r>
            <a:r>
              <a:rPr sz="990" b="0" i="0">
                <a:solidFill>
                  <a:srgbClr val="1F5A1F"/>
                </a:solidFill>
                <a:latin typeface="Microsoft YaHei"/>
              </a:rPr>
              <a:t>（预警发于显露之后，即放弃预告区段），绩效应显著劣于 </a:t>
            </a:r>
            <a:r>
              <a:rPr sz="990" b="0" i="1">
                <a:solidFill>
                  <a:srgbClr val="1F5A1F"/>
                </a:solidFill>
                <a:latin typeface="Microsoft YaHei"/>
              </a:rPr>
              <a:t>Δt′ &gt; 0</a:t>
            </a:r>
            <a:r>
              <a:rPr sz="990" b="0" i="0">
                <a:solidFill>
                  <a:srgbClr val="1F5A1F"/>
                </a:solidFill>
                <a:latin typeface="Microsoft YaHei"/>
              </a:rPr>
              <a:t>；</a:t>
            </a:r>
            <a:r>
              <a:rPr sz="990" b="1" i="0">
                <a:solidFill>
                  <a:srgbClr val="1F5A1F"/>
                </a:solidFill>
                <a:latin typeface="Microsoft YaHei"/>
              </a:rPr>
              <a:t>P2′</a:t>
            </a:r>
            <a:r>
              <a:rPr sz="990" b="0" i="0">
                <a:solidFill>
                  <a:srgbClr val="1F5A1F"/>
                </a:solidFill>
                <a:latin typeface="Microsoft YaHei"/>
              </a:rPr>
              <a:t> 盲区情境的最优 </a:t>
            </a:r>
            <a:r>
              <a:rPr sz="990" b="0" i="1">
                <a:solidFill>
                  <a:srgbClr val="1F5A1F"/>
                </a:solidFill>
                <a:latin typeface="Microsoft YaHei"/>
              </a:rPr>
              <a:t>Δt′</a:t>
            </a:r>
            <a:r>
              <a:rPr sz="990" b="0" i="0">
                <a:solidFill>
                  <a:srgbClr val="1F5A1F"/>
                </a:solidFill>
                <a:latin typeface="Microsoft YaHei"/>
              </a:rPr>
              <a:t> 应显著</a:t>
            </a:r>
            <a:r>
              <a:rPr sz="990" b="1" i="0">
                <a:solidFill>
                  <a:srgbClr val="1F5A1F"/>
                </a:solidFill>
                <a:latin typeface="Microsoft YaHei"/>
              </a:rPr>
              <a:t>大于</a:t>
            </a:r>
            <a:r>
              <a:rPr sz="990" b="0" i="0">
                <a:solidFill>
                  <a:srgbClr val="1F5A1F"/>
                </a:solidFill>
                <a:latin typeface="Microsoft YaHei"/>
              </a:rPr>
              <a:t>非盲区情境的最优 </a:t>
            </a:r>
            <a:r>
              <a:rPr sz="990" b="0" i="1">
                <a:solidFill>
                  <a:srgbClr val="1F5A1F"/>
                </a:solidFill>
                <a:latin typeface="Microsoft YaHei"/>
              </a:rPr>
              <a:t>Δt</a:t>
            </a:r>
            <a:r>
              <a:rPr sz="990" b="0" i="0">
                <a:solidFill>
                  <a:srgbClr val="1F5A1F"/>
                </a:solidFill>
                <a:latin typeface="Microsoft YaHei"/>
              </a:rPr>
              <a:t>——遮挡使预期性注视无从建立，且遮挡场景在注意机制上属</a:t>
            </a:r>
            <a:r>
              <a:rPr sz="990" b="1" i="0">
                <a:solidFill>
                  <a:srgbClr val="1F5A1F"/>
                </a:solidFill>
                <a:latin typeface="Microsoft YaHei"/>
              </a:rPr>
              <a:t>刺激驱动</a:t>
            </a:r>
            <a:r>
              <a:rPr sz="990" b="0" i="0">
                <a:solidFill>
                  <a:srgbClr val="1F5A1F"/>
                </a:solidFill>
                <a:latin typeface="Microsoft YaHei"/>
              </a:rPr>
              <a:t>而非目标导向（Merenda 等, 2018），刺激驱动定向本身有额外耗时；</a:t>
            </a:r>
            <a:r>
              <a:rPr sz="990" b="1" i="0">
                <a:solidFill>
                  <a:srgbClr val="1F5A1F"/>
                </a:solidFill>
                <a:latin typeface="Microsoft YaHei"/>
              </a:rPr>
              <a:t>P3′</a:t>
            </a:r>
            <a:r>
              <a:rPr sz="990" b="0" i="0">
                <a:solidFill>
                  <a:srgbClr val="1F5A1F"/>
                </a:solidFill>
                <a:latin typeface="Microsoft YaHei"/>
              </a:rPr>
              <a:t> 预告区段的收益单调递增但</a:t>
            </a:r>
            <a:r>
              <a:rPr sz="990" b="1" i="0">
                <a:solidFill>
                  <a:srgbClr val="1F5A1F"/>
                </a:solidFill>
                <a:latin typeface="Microsoft YaHei"/>
              </a:rPr>
              <a:t>存在饱和</a:t>
            </a:r>
            <a:r>
              <a:rPr sz="990" b="0" i="0">
                <a:solidFill>
                  <a:srgbClr val="1F5A1F"/>
                </a:solidFill>
                <a:latin typeface="Microsoft YaHei"/>
              </a:rPr>
              <a:t>，饱和点对应 Predicting 与预置 Deciding 的完成时间——此即盲区情境下「过早预警收益递减」的机制性解释。</a:t>
            </a:r>
          </a:p>
        </p:txBody>
      </p:sp>
      <p:sp>
        <p:nvSpPr>
          <p:cNvPr id="39" name="Rounded Rectangle 38"/>
          <p:cNvSpPr/>
          <p:nvPr/>
        </p:nvSpPr>
        <p:spPr>
          <a:xfrm>
            <a:off x="438150" y="3951684"/>
            <a:ext cx="5572125" cy="1965424"/>
          </a:xfrm>
          <a:prstGeom prst="roundRect">
            <a:avLst>
              <a:gd name="adj" fmla="val 3392"/>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581025" y="4323159"/>
            <a:ext cx="528637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1025" y="4075509"/>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非盲区：预警</a:t>
            </a:r>
            <a:r>
              <a:rPr sz="1120" b="1" i="0">
                <a:solidFill>
                  <a:srgbClr val="2F528F"/>
                </a:solidFill>
                <a:latin typeface="Microsoft YaHei"/>
              </a:rPr>
              <a:t>加速</a:t>
            </a:r>
            <a:r>
              <a:rPr sz="1120" b="1" i="0">
                <a:solidFill>
                  <a:srgbClr val="2F528F"/>
                </a:solidFill>
                <a:latin typeface="Microsoft YaHei"/>
              </a:rPr>
              <a:t>已有加工链条</a:t>
            </a:r>
          </a:p>
        </p:txBody>
      </p:sp>
      <p:sp>
        <p:nvSpPr>
          <p:cNvPr id="42" name="TextBox 41"/>
          <p:cNvSpPr txBox="1"/>
          <p:nvPr/>
        </p:nvSpPr>
        <p:spPr>
          <a:xfrm>
            <a:off x="647700" y="4408884"/>
            <a:ext cx="5257800"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行人自始可见，故 Scanning 在预警前已可启动；</a:t>
            </a:r>
            <a:r>
              <a:rPr sz="1040" b="1" i="0">
                <a:solidFill>
                  <a:srgbClr val="1A1A1A"/>
                </a:solidFill>
                <a:latin typeface="Microsoft YaHei"/>
              </a:rPr>
              <a:t>驾驶员本就会在 </a:t>
            </a:r>
            <a:r>
              <a:rPr sz="1040" b="1" i="1">
                <a:solidFill>
                  <a:srgbClr val="1A1A1A"/>
                </a:solidFill>
                <a:latin typeface="Microsoft YaHei"/>
              </a:rPr>
              <a:t>t</a:t>
            </a:r>
            <a:r>
              <a:rPr sz="720" b="1" i="1" baseline="-25000">
                <a:solidFill>
                  <a:srgbClr val="1A1A1A"/>
                </a:solidFill>
                <a:latin typeface="Microsoft YaHei"/>
              </a:rPr>
              <a:t>0</a:t>
            </a:r>
            <a:r>
              <a:rPr sz="1040" b="1" i="0">
                <a:solidFill>
                  <a:srgbClr val="1A1A1A"/>
                </a:solidFill>
                <a:latin typeface="Microsoft YaHei"/>
              </a:rPr>
              <a:t> 自行发现行人</a:t>
            </a:r>
            <a:r>
              <a:rPr sz="1040" b="0" i="0">
                <a:solidFill>
                  <a:srgbClr val="1A1A1A"/>
                </a:solidFill>
                <a:latin typeface="Microsoft YaHei"/>
              </a:rPr>
              <a:t>。有实测证据显示 50% 被试在预警呈现前已开始制动。</a:t>
            </a:r>
          </a:p>
        </p:txBody>
      </p:sp>
      <p:sp>
        <p:nvSpPr>
          <p:cNvPr id="43" name="TextBox 42"/>
          <p:cNvSpPr txBox="1"/>
          <p:nvPr/>
        </p:nvSpPr>
        <p:spPr>
          <a:xfrm>
            <a:off x="647700" y="4873525"/>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预警的价值 = 把整条链条前移，即</a:t>
            </a:r>
            <a:r>
              <a:rPr sz="1040" b="1" i="0">
                <a:solidFill>
                  <a:srgbClr val="1A1A1A"/>
                </a:solidFill>
                <a:latin typeface="Microsoft YaHei"/>
              </a:rPr>
              <a:t>缩短从可见到动作的时距</a:t>
            </a:r>
            <a:r>
              <a:rPr sz="1040" b="0" i="0">
                <a:solidFill>
                  <a:srgbClr val="1A1A1A"/>
                </a:solidFill>
                <a:latin typeface="Microsoft YaHei"/>
              </a:rPr>
              <a:t>。收益有天然上限：不可能早于「行人已可见」这一事实。</a:t>
            </a:r>
          </a:p>
        </p:txBody>
      </p:sp>
      <p:sp>
        <p:nvSpPr>
          <p:cNvPr id="44" name="TextBox 43"/>
          <p:cNvSpPr txBox="1"/>
          <p:nvPr/>
        </p:nvSpPr>
        <p:spPr>
          <a:xfrm>
            <a:off x="647700" y="5328642"/>
            <a:ext cx="5257800"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故可干预点在 S 与 I 两阶段，代价在注意捕获与对未增强危险的漏检。</a:t>
            </a:r>
          </a:p>
        </p:txBody>
      </p:sp>
      <p:sp>
        <p:nvSpPr>
          <p:cNvPr id="45" name="Rounded Rectangle 44"/>
          <p:cNvSpPr/>
          <p:nvPr/>
        </p:nvSpPr>
        <p:spPr>
          <a:xfrm>
            <a:off x="6181725" y="3951684"/>
            <a:ext cx="5572125" cy="1965424"/>
          </a:xfrm>
          <a:prstGeom prst="roundRect">
            <a:avLst>
              <a:gd name="adj" fmla="val 3392"/>
            </a:avLst>
          </a:prstGeom>
          <a:solidFill>
            <a:srgbClr val="FAF7FD"/>
          </a:solidFill>
          <a:ln w="9525">
            <a:solidFill>
              <a:srgbClr val="7B5E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6324600" y="4323159"/>
            <a:ext cx="5286375" cy="9525"/>
          </a:xfrm>
          <a:prstGeom prst="rect">
            <a:avLst/>
          </a:prstGeom>
          <a:solidFill>
            <a:srgbClr val="E4D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24600" y="4075509"/>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7B5EA7"/>
                </a:solidFill>
                <a:latin typeface="Microsoft YaHei"/>
              </a:rPr>
              <a:t>盲区：预警</a:t>
            </a:r>
            <a:r>
              <a:rPr sz="1120" b="1" i="0">
                <a:solidFill>
                  <a:srgbClr val="7B5EA7"/>
                </a:solidFill>
                <a:latin typeface="Microsoft YaHei"/>
              </a:rPr>
              <a:t>创造</a:t>
            </a:r>
            <a:r>
              <a:rPr sz="1120" b="1" i="0">
                <a:solidFill>
                  <a:srgbClr val="7B5EA7"/>
                </a:solidFill>
                <a:latin typeface="Microsoft YaHei"/>
              </a:rPr>
              <a:t>一个原本不存在的窗口</a:t>
            </a:r>
          </a:p>
        </p:txBody>
      </p:sp>
      <p:sp>
        <p:nvSpPr>
          <p:cNvPr id="48" name="TextBox 47"/>
          <p:cNvSpPr txBox="1"/>
          <p:nvPr/>
        </p:nvSpPr>
        <p:spPr>
          <a:xfrm>
            <a:off x="6391275" y="4408884"/>
            <a:ext cx="5257800"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显露前无信号可采样，</a:t>
            </a:r>
            <a:r>
              <a:rPr sz="1040" b="1" i="0">
                <a:solidFill>
                  <a:srgbClr val="1A1A1A"/>
                </a:solidFill>
                <a:latin typeface="Microsoft YaHei"/>
              </a:rPr>
              <a:t>Scanning 与 Identification 在物理上无法启动</a:t>
            </a:r>
            <a:r>
              <a:rPr sz="1040" b="0" i="0">
                <a:solidFill>
                  <a:srgbClr val="1A1A1A"/>
                </a:solidFill>
                <a:latin typeface="Microsoft YaHei"/>
              </a:rPr>
              <a:t>；若无预警，驾驶员最早只能在 </a:t>
            </a:r>
            <a:r>
              <a:rPr sz="1040" b="0" i="1">
                <a:solidFill>
                  <a:srgbClr val="1A1A1A"/>
                </a:solidFill>
                <a:latin typeface="Microsoft YaHei"/>
              </a:rPr>
              <a:t>t</a:t>
            </a:r>
            <a:r>
              <a:rPr sz="720" b="0" i="1" baseline="-25000">
                <a:solidFill>
                  <a:srgbClr val="1A1A1A"/>
                </a:solidFill>
                <a:latin typeface="Microsoft YaHei"/>
              </a:rPr>
              <a:t>reveal</a:t>
            </a:r>
            <a:r>
              <a:rPr sz="1040" b="0" i="0">
                <a:solidFill>
                  <a:srgbClr val="1A1A1A"/>
                </a:solidFill>
                <a:latin typeface="Microsoft YaHei"/>
              </a:rPr>
              <a:t> 起步。</a:t>
            </a:r>
          </a:p>
        </p:txBody>
      </p:sp>
      <p:sp>
        <p:nvSpPr>
          <p:cNvPr id="49" name="TextBox 48"/>
          <p:cNvSpPr txBox="1"/>
          <p:nvPr/>
        </p:nvSpPr>
        <p:spPr>
          <a:xfrm>
            <a:off x="6391275" y="4873525"/>
            <a:ext cx="5257800"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预警的价值 = 在 </a:t>
            </a:r>
            <a:r>
              <a:rPr sz="1040" b="0" i="1">
                <a:solidFill>
                  <a:srgbClr val="1A1A1A"/>
                </a:solidFill>
                <a:latin typeface="Microsoft YaHei"/>
              </a:rPr>
              <a:t>t</a:t>
            </a:r>
            <a:r>
              <a:rPr sz="720" b="0" i="1" baseline="-25000">
                <a:solidFill>
                  <a:srgbClr val="1A1A1A"/>
                </a:solidFill>
                <a:latin typeface="Microsoft YaHei"/>
              </a:rPr>
              <a:t>reveal</a:t>
            </a:r>
            <a:r>
              <a:rPr sz="1040" b="0" i="0">
                <a:solidFill>
                  <a:srgbClr val="1A1A1A"/>
                </a:solidFill>
                <a:latin typeface="Microsoft YaHei"/>
              </a:rPr>
              <a:t> 之前</a:t>
            </a:r>
            <a:r>
              <a:rPr sz="1040" b="1" i="0">
                <a:solidFill>
                  <a:srgbClr val="1A1A1A"/>
                </a:solidFill>
                <a:latin typeface="Microsoft YaHei"/>
              </a:rPr>
              <a:t>凭空腾出一段可用于 Predicting 与预置 Deciding 的时间</a:t>
            </a:r>
            <a:r>
              <a:rPr sz="1040" b="0" i="0">
                <a:solidFill>
                  <a:srgbClr val="1A1A1A"/>
                </a:solidFill>
                <a:latin typeface="Microsoft YaHei"/>
              </a:rPr>
              <a:t>。故其理论收益上限显著高于非盲区情境。</a:t>
            </a:r>
          </a:p>
        </p:txBody>
      </p:sp>
      <p:sp>
        <p:nvSpPr>
          <p:cNvPr id="50" name="TextBox 49"/>
          <p:cNvSpPr txBox="1"/>
          <p:nvPr/>
        </p:nvSpPr>
        <p:spPr>
          <a:xfrm>
            <a:off x="6391275" y="5338167"/>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但代价亦更高：预警不可被视觉核验，且完全依赖系统探测——</a:t>
            </a:r>
            <a:r>
              <a:rPr sz="1040" b="1" i="0">
                <a:solidFill>
                  <a:srgbClr val="1A1A1A"/>
                </a:solidFill>
                <a:latin typeface="Microsoft YaHei"/>
              </a:rPr>
              <a:t>漏检代价升格为第一约束</a:t>
            </a:r>
            <a:r>
              <a:rPr sz="1040" b="0" i="0">
                <a:solidFill>
                  <a:srgbClr val="1A1A1A"/>
                </a:solidFill>
                <a:latin typeface="Microsoft YaHei"/>
              </a:rPr>
              <a:t>。</a:t>
            </a:r>
          </a:p>
        </p:txBody>
      </p:sp>
      <p:sp>
        <p:nvSpPr>
          <p:cNvPr id="51" name="TextBox 50"/>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核心理论</a:t>
            </a:r>
            <a:r>
              <a:rPr sz="1580" b="1" i="0">
                <a:solidFill>
                  <a:srgbClr val="4472C4"/>
                </a:solidFill>
                <a:latin typeface="Microsoft YaHei"/>
              </a:rPr>
              <a:t>三重约束模型的情境分化：软约束变硬约束</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 / 6</a:t>
            </a:r>
          </a:p>
        </p:txBody>
      </p:sp>
      <p:graphicFrame>
        <p:nvGraphicFramePr>
          <p:cNvPr id="6" name="Table 5"/>
          <p:cNvGraphicFramePr>
            <a:graphicFrameLocks noGrp="1"/>
          </p:cNvGraphicFramePr>
          <p:nvPr/>
        </p:nvGraphicFramePr>
        <p:xfrm>
          <a:off x="438150" y="762000"/>
          <a:ext cx="11315698" cy="1960958"/>
        </p:xfrm>
        <a:graphic>
          <a:graphicData uri="http://schemas.openxmlformats.org/drawingml/2006/table">
            <a:tbl>
              <a:tblPr>
                <a:tableStyleId>{5C22544A-7EE6-4342-B048-85BDC9FD1C3A}</a:tableStyleId>
              </a:tblPr>
              <a:tblGrid>
                <a:gridCol w="1584126"/>
                <a:gridCol w="3281511"/>
                <a:gridCol w="3734097"/>
                <a:gridCol w="2715964"/>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约束</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非盲区情境</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盲区情境</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性质变化</a:t>
                      </a:r>
                    </a:p>
                  </a:txBody>
                  <a:tcPr marL="66675" marR="66675" marT="52387" marB="52387" anchor="t">
                    <a:solidFill>
                      <a:srgbClr val="4472C4"/>
                    </a:solidFill>
                  </a:tcPr>
                </a:tc>
              </a:tr>
              <a:tr h="417611">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下界</a:t>
                      </a:r>
                    </a:p>
                    <a:p>
                      <a:pPr algn="l">
                        <a:lnSpc>
                          <a:spcPct val="155000"/>
                        </a:lnSpc>
                        <a:spcBef>
                          <a:spcPts val="0"/>
                        </a:spcBef>
                        <a:spcAft>
                          <a:spcPts val="0"/>
                        </a:spcAft>
                      </a:pPr>
                      <a:r>
                        <a:rPr sz="890" b="0" i="0">
                          <a:solidFill>
                            <a:srgbClr val="1A1A1A"/>
                          </a:solidFill>
                          <a:latin typeface="Microsoft YaHei"/>
                        </a:rPr>
                        <a:t>运动学必要性</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warn</a:t>
                      </a:r>
                      <a:r>
                        <a:rPr sz="890" b="0" i="1">
                          <a:solidFill>
                            <a:srgbClr val="1A1A1A"/>
                          </a:solidFill>
                          <a:latin typeface="Microsoft YaHei"/>
                        </a:rPr>
                        <a:t> ≥ </a:t>
                      </a:r>
                      <a:r>
                        <a:rPr sz="890" b="0" i="1">
                          <a:solidFill>
                            <a:srgbClr val="1A1A1A"/>
                          </a:solidFill>
                          <a:latin typeface="Microsoft YaHei"/>
                        </a:rPr>
                        <a:t>PRT</a:t>
                      </a:r>
                      <a:r>
                        <a:rPr sz="620" b="0" i="1" baseline="-25000">
                          <a:solidFill>
                            <a:srgbClr val="1A1A1A"/>
                          </a:solidFill>
                          <a:latin typeface="Microsoft YaHei"/>
                        </a:rPr>
                        <a:t>p95</a:t>
                      </a:r>
                      <a:r>
                        <a:rPr sz="890" b="0" i="1">
                          <a:solidFill>
                            <a:srgbClr val="1A1A1A"/>
                          </a:solidFill>
                          <a:latin typeface="Microsoft YaHei"/>
                        </a:rPr>
                        <a:t> + </a:t>
                      </a:r>
                      <a:r>
                        <a:rPr sz="890" b="0" i="1">
                          <a:solidFill>
                            <a:srgbClr val="1A1A1A"/>
                          </a:solidFill>
                          <a:latin typeface="Microsoft YaHei"/>
                        </a:rPr>
                        <a:t>v</a:t>
                      </a:r>
                      <a:r>
                        <a:rPr sz="890" b="0" i="1">
                          <a:solidFill>
                            <a:srgbClr val="1A1A1A"/>
                          </a:solidFill>
                          <a:latin typeface="Microsoft YaHei"/>
                        </a:rPr>
                        <a:t>/</a:t>
                      </a:r>
                      <a:r>
                        <a:rPr sz="890" b="0" i="1">
                          <a:solidFill>
                            <a:srgbClr val="1A1A1A"/>
                          </a:solidFill>
                          <a:latin typeface="Microsoft YaHei"/>
                        </a:rPr>
                        <a:t>a</a:t>
                      </a:r>
                      <a:r>
                        <a:rPr sz="620" b="0" i="1" baseline="-25000">
                          <a:solidFill>
                            <a:srgbClr val="1A1A1A"/>
                          </a:solidFill>
                          <a:latin typeface="Microsoft YaHei"/>
                        </a:rPr>
                        <a:t>comf</a:t>
                      </a:r>
                      <a:r>
                        <a:rPr sz="890" b="0" i="1">
                          <a:solidFill>
                            <a:srgbClr val="1A1A1A"/>
                          </a:solidFill>
                          <a:latin typeface="Microsoft YaHei"/>
                        </a:rPr>
                        <a:t> + </a:t>
                      </a:r>
                      <a:r>
                        <a:rPr sz="890" b="0" i="1">
                          <a:solidFill>
                            <a:srgbClr val="1A1A1A"/>
                          </a:solidFill>
                          <a:latin typeface="Microsoft YaHei"/>
                        </a:rPr>
                        <a:t>δ</a:t>
                      </a:r>
                      <a:r>
                        <a:rPr sz="620" b="0" i="1" baseline="-25000">
                          <a:solidFill>
                            <a:srgbClr val="1A1A1A"/>
                          </a:solidFill>
                          <a:latin typeface="Microsoft YaHei"/>
                        </a:rPr>
                        <a:t>brake</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同式，但 </a:t>
                      </a:r>
                      <a:r>
                        <a:rPr sz="890" b="0" i="1">
                          <a:solidFill>
                            <a:srgbClr val="1A1A1A"/>
                          </a:solidFill>
                          <a:latin typeface="Microsoft YaHei"/>
                        </a:rPr>
                        <a:t>PRT</a:t>
                      </a:r>
                      <a:r>
                        <a:rPr sz="890" b="0" i="0">
                          <a:solidFill>
                            <a:srgbClr val="1A1A1A"/>
                          </a:solidFill>
                          <a:latin typeface="Microsoft YaHei"/>
                        </a:rPr>
                        <a:t> 须以 </a:t>
                      </a:r>
                      <a:r>
                        <a:rPr sz="890" b="0" i="1">
                          <a:solidFill>
                            <a:srgbClr val="1A1A1A"/>
                          </a:solidFill>
                          <a:latin typeface="Microsoft YaHei"/>
                        </a:rPr>
                        <a:t>t</a:t>
                      </a:r>
                      <a:r>
                        <a:rPr sz="620" b="0" i="1" baseline="-25000">
                          <a:solidFill>
                            <a:srgbClr val="1A1A1A"/>
                          </a:solidFill>
                          <a:latin typeface="Microsoft YaHei"/>
                        </a:rPr>
                        <a:t>reveal</a:t>
                      </a:r>
                      <a:r>
                        <a:rPr sz="890" b="0" i="0">
                          <a:solidFill>
                            <a:srgbClr val="1A1A1A"/>
                          </a:solidFill>
                          <a:latin typeface="Microsoft YaHei"/>
                        </a:rPr>
                        <a:t> 为起点</a:t>
                      </a:r>
                      <a:r>
                        <a:rPr sz="890" b="1" i="0">
                          <a:solidFill>
                            <a:srgbClr val="1A1A1A"/>
                          </a:solidFill>
                          <a:latin typeface="Microsoft YaHei"/>
                        </a:rPr>
                        <a:t>重新测量</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形式不变，</a:t>
                      </a:r>
                      <a:r>
                        <a:rPr sz="890" b="1" i="0">
                          <a:solidFill>
                            <a:srgbClr val="1A1A1A"/>
                          </a:solidFill>
                          <a:latin typeface="Microsoft YaHei"/>
                        </a:rPr>
                        <a:t>参数须重标定</a:t>
                      </a:r>
                    </a:p>
                  </a:txBody>
                  <a:tcPr marL="66675" marR="66675" marT="32385" marB="32385" anchor="t">
                    <a:solidFill>
                      <a:srgbClr val="FAFBFD"/>
                    </a:solidFill>
                  </a:tcPr>
                </a:tc>
              </a:tr>
              <a:tr h="422374">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上界</a:t>
                      </a:r>
                    </a:p>
                    <a:p>
                      <a:pPr algn="l">
                        <a:lnSpc>
                          <a:spcPct val="155000"/>
                        </a:lnSpc>
                        <a:spcBef>
                          <a:spcPts val="0"/>
                        </a:spcBef>
                        <a:spcAft>
                          <a:spcPts val="0"/>
                        </a:spcAft>
                      </a:pPr>
                      <a:r>
                        <a:rPr sz="890" b="0" i="0">
                          <a:solidFill>
                            <a:srgbClr val="1A1A1A"/>
                          </a:solidFill>
                          <a:latin typeface="Microsoft YaHei"/>
                        </a:rPr>
                        <a:t>可靠性</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warn</a:t>
                      </a:r>
                      <a:r>
                        <a:rPr sz="890" b="0" i="1">
                          <a:solidFill>
                            <a:srgbClr val="1A1A1A"/>
                          </a:solidFill>
                          <a:latin typeface="Microsoft YaHei"/>
                        </a:rPr>
                        <a:t> ≤ t</a:t>
                      </a:r>
                      <a:r>
                        <a:rPr sz="620" b="0" i="1" baseline="-25000">
                          <a:solidFill>
                            <a:srgbClr val="1A1A1A"/>
                          </a:solidFill>
                          <a:latin typeface="Microsoft YaHei"/>
                        </a:rPr>
                        <a:t>pred</a:t>
                      </a:r>
                      <a:r>
                        <a:rPr sz="890" b="0" i="0">
                          <a:solidFill>
                            <a:srgbClr val="1A1A1A"/>
                          </a:solidFill>
                          <a:latin typeface="Microsoft YaHei"/>
                        </a:rPr>
                        <a:t>，由</a:t>
                      </a:r>
                      <a:r>
                        <a:rPr sz="890" b="1" i="0">
                          <a:solidFill>
                            <a:srgbClr val="1A1A1A"/>
                          </a:solidFill>
                          <a:latin typeface="Microsoft YaHei"/>
                        </a:rPr>
                        <a:t>虚警代价</a:t>
                      </a:r>
                      <a:r>
                        <a:rPr sz="890" b="0" i="0">
                          <a:solidFill>
                            <a:srgbClr val="1A1A1A"/>
                          </a:solidFill>
                          <a:latin typeface="Microsoft YaHei"/>
                        </a:rPr>
                        <a:t>决定</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warn</a:t>
                      </a:r>
                      <a:r>
                        <a:rPr sz="890" b="0" i="1">
                          <a:solidFill>
                            <a:srgbClr val="1A1A1A"/>
                          </a:solidFill>
                          <a:latin typeface="Microsoft YaHei"/>
                        </a:rPr>
                        <a:t> ≤ t</a:t>
                      </a:r>
                      <a:r>
                        <a:rPr sz="620" b="0" i="1" baseline="-25000">
                          <a:solidFill>
                            <a:srgbClr val="1A1A1A"/>
                          </a:solidFill>
                          <a:latin typeface="Microsoft YaHei"/>
                        </a:rPr>
                        <a:t>detect</a:t>
                      </a:r>
                      <a:r>
                        <a:rPr sz="890" b="0" i="0">
                          <a:solidFill>
                            <a:srgbClr val="1A1A1A"/>
                          </a:solidFill>
                          <a:latin typeface="Microsoft YaHei"/>
                        </a:rPr>
                        <a:t>，由</a:t>
                      </a:r>
                      <a:r>
                        <a:rPr sz="890" b="1" i="0">
                          <a:solidFill>
                            <a:srgbClr val="1A1A1A"/>
                          </a:solidFill>
                          <a:latin typeface="Microsoft YaHei"/>
                        </a:rPr>
                        <a:t>传感器能否看见</a:t>
                      </a:r>
                      <a:r>
                        <a:rPr sz="890" b="0" i="0">
                          <a:solidFill>
                            <a:srgbClr val="1A1A1A"/>
                          </a:solidFill>
                          <a:latin typeface="Microsoft YaHei"/>
                        </a:rPr>
                        <a:t>决定</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软约束 → 硬约束</a:t>
                      </a:r>
                      <a:r>
                        <a:rPr sz="890" b="0" i="0">
                          <a:solidFill>
                            <a:srgbClr val="1A1A1A"/>
                          </a:solidFill>
                          <a:latin typeface="Microsoft YaHei"/>
                        </a:rPr>
                        <a:t>：前者可由界面设计缓解，后者不可</a:t>
                      </a:r>
                    </a:p>
                  </a:txBody>
                  <a:tcPr marL="66675" marR="66675" marT="32385" marB="32385" anchor="t">
                    <a:noFill/>
                  </a:tcPr>
                </a:tc>
              </a:tr>
              <a:tr h="422374">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窗口</a:t>
                      </a:r>
                    </a:p>
                    <a:p>
                      <a:pPr algn="l">
                        <a:lnSpc>
                          <a:spcPct val="155000"/>
                        </a:lnSpc>
                        <a:spcBef>
                          <a:spcPts val="0"/>
                        </a:spcBef>
                        <a:spcAft>
                          <a:spcPts val="0"/>
                        </a:spcAft>
                      </a:pPr>
                      <a:r>
                        <a:rPr sz="890" b="0" i="0">
                          <a:solidFill>
                            <a:srgbClr val="1A1A1A"/>
                          </a:solidFill>
                          <a:latin typeface="Microsoft YaHei"/>
                        </a:rPr>
                        <a:t>认知加工</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Δt ≥ Σ</a:t>
                      </a:r>
                      <a:r>
                        <a:rPr sz="890" b="0" i="1">
                          <a:solidFill>
                            <a:srgbClr val="1A1A1A"/>
                          </a:solidFill>
                          <a:latin typeface="Microsoft YaHei"/>
                        </a:rPr>
                        <a:t>SPIDER</a:t>
                      </a:r>
                      <a:r>
                        <a:rPr sz="890" b="0" i="0">
                          <a:solidFill>
                            <a:srgbClr val="1A1A1A"/>
                          </a:solidFill>
                          <a:latin typeface="Microsoft YaHei"/>
                        </a:rPr>
                        <a:t>，五阶段连续完成</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五阶段被 </a:t>
                      </a:r>
                      <a:r>
                        <a:rPr sz="890" b="0" i="1">
                          <a:solidFill>
                            <a:srgbClr val="1A1A1A"/>
                          </a:solidFill>
                          <a:latin typeface="Microsoft YaHei"/>
                        </a:rPr>
                        <a:t>t</a:t>
                      </a:r>
                      <a:r>
                        <a:rPr sz="620" b="0" i="1" baseline="-25000">
                          <a:solidFill>
                            <a:srgbClr val="1A1A1A"/>
                          </a:solidFill>
                          <a:latin typeface="Microsoft YaHei"/>
                        </a:rPr>
                        <a:t>reveal</a:t>
                      </a:r>
                      <a:r>
                        <a:rPr sz="890" b="0" i="0">
                          <a:solidFill>
                            <a:srgbClr val="1A1A1A"/>
                          </a:solidFill>
                          <a:latin typeface="Microsoft YaHei"/>
                        </a:rPr>
                        <a:t> </a:t>
                      </a:r>
                      <a:r>
                        <a:rPr sz="890" b="1" i="0">
                          <a:solidFill>
                            <a:srgbClr val="1A1A1A"/>
                          </a:solidFill>
                          <a:latin typeface="Microsoft YaHei"/>
                        </a:rPr>
                        <a:t>强制拆成两段</a:t>
                      </a:r>
                      <a:r>
                        <a:rPr sz="890" b="0" i="0">
                          <a:solidFill>
                            <a:srgbClr val="1A1A1A"/>
                          </a:solidFill>
                          <a:latin typeface="Microsoft YaHei"/>
                        </a:rPr>
                        <a:t>（见上页）</a:t>
                      </a:r>
                    </a:p>
                  </a:txBody>
                  <a:tcPr marL="66675" marR="66675" marT="32385" marB="32385"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连续 → 分段</a:t>
                      </a:r>
                    </a:p>
                  </a:txBody>
                  <a:tcPr marL="66675" marR="66675" marT="32385" marB="32385" anchor="t">
                    <a:solidFill>
                      <a:srgbClr val="FAFBFD"/>
                    </a:solidFill>
                  </a:tcPr>
                </a:tc>
              </a:tr>
              <a:tr h="431899">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零点</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0</a:t>
                      </a:r>
                      <a:r>
                        <a:rPr sz="890" b="0" i="0">
                          <a:solidFill>
                            <a:srgbClr val="1A1A1A"/>
                          </a:solidFill>
                          <a:latin typeface="Microsoft YaHei"/>
                        </a:rPr>
                        <a:t>：</a:t>
                      </a:r>
                      <a:r>
                        <a:rPr sz="890" b="1" i="0">
                          <a:solidFill>
                            <a:srgbClr val="1A1A1A"/>
                          </a:solidFill>
                          <a:latin typeface="Microsoft YaHei"/>
                        </a:rPr>
                        <a:t>心理量</a:t>
                      </a:r>
                      <a:r>
                        <a:rPr sz="890" b="0" i="0">
                          <a:solidFill>
                            <a:srgbClr val="1A1A1A"/>
                          </a:solidFill>
                          <a:latin typeface="Microsoft YaHei"/>
                        </a:rPr>
                        <a:t>，随被试与场景变化，须实测</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reveal</a:t>
                      </a:r>
                      <a:r>
                        <a:rPr sz="890" b="0" i="0">
                          <a:solidFill>
                            <a:srgbClr val="1A1A1A"/>
                          </a:solidFill>
                          <a:latin typeface="Microsoft YaHei"/>
                        </a:rPr>
                        <a:t>：</a:t>
                      </a:r>
                      <a:r>
                        <a:rPr sz="890" b="1" i="0">
                          <a:solidFill>
                            <a:srgbClr val="1A1A1A"/>
                          </a:solidFill>
                          <a:latin typeface="Microsoft YaHei"/>
                        </a:rPr>
                        <a:t>几何量</a:t>
                      </a:r>
                      <a:r>
                        <a:rPr sz="890" b="0" i="0">
                          <a:solidFill>
                            <a:srgbClr val="1A1A1A"/>
                          </a:solidFill>
                          <a:latin typeface="Microsoft YaHei"/>
                        </a:rPr>
                        <a:t>，由遮挡体位置尺寸、行人步速、本车轨迹与眼点位置</a:t>
                      </a:r>
                      <a:r>
                        <a:rPr sz="890" b="1" i="0">
                          <a:solidFill>
                            <a:srgbClr val="1A1A1A"/>
                          </a:solidFill>
                          <a:latin typeface="Microsoft YaHei"/>
                        </a:rPr>
                        <a:t>解析求出</a:t>
                      </a:r>
                    </a:p>
                  </a:txBody>
                  <a:tcPr marL="66675" marR="66675" marT="32385" marB="32385" anchor="t">
                    <a:noFill/>
                  </a:tcPr>
                </a:tc>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可变 → 恒定</a:t>
                      </a:r>
                    </a:p>
                  </a:txBody>
                  <a:tcPr marL="66675" marR="66675" marT="32385" marB="32385" anchor="t">
                    <a:noFill/>
                  </a:tcPr>
                </a:tc>
              </a:tr>
            </a:tbl>
          </a:graphicData>
        </a:graphic>
      </p:graphicFrame>
      <p:sp>
        <p:nvSpPr>
          <p:cNvPr id="7" name="Rounded Rectangle 6"/>
          <p:cNvSpPr/>
          <p:nvPr/>
        </p:nvSpPr>
        <p:spPr>
          <a:xfrm>
            <a:off x="438150" y="2803921"/>
            <a:ext cx="5572125" cy="1782067"/>
          </a:xfrm>
          <a:prstGeom prst="roundRect">
            <a:avLst>
              <a:gd name="adj" fmla="val 3741"/>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71500" y="3137296"/>
            <a:ext cx="530542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1500" y="2899171"/>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零点几何化的三项方法学收益</a:t>
            </a:r>
          </a:p>
        </p:txBody>
      </p:sp>
      <p:sp>
        <p:nvSpPr>
          <p:cNvPr id="10" name="TextBox 9"/>
          <p:cNvSpPr txBox="1"/>
          <p:nvPr/>
        </p:nvSpPr>
        <p:spPr>
          <a:xfrm>
            <a:off x="638175" y="3203971"/>
            <a:ext cx="5276850" cy="243036"/>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不需按个体校准自变量。</a:t>
            </a:r>
            <a:r>
              <a:rPr sz="1040" b="0" i="0">
                <a:solidFill>
                  <a:srgbClr val="1A1A1A"/>
                </a:solidFill>
                <a:latin typeface="Microsoft YaHei"/>
              </a:rPr>
              <a:t>显露时刻被试间恒定，故 </a:t>
            </a:r>
            <a:r>
              <a:rPr sz="1040" b="0" i="1">
                <a:solidFill>
                  <a:srgbClr val="1A1A1A"/>
                </a:solidFill>
                <a:latin typeface="Microsoft YaHei"/>
              </a:rPr>
              <a:t>Δt′</a:t>
            </a:r>
            <a:r>
              <a:rPr sz="1040" b="0" i="0">
                <a:solidFill>
                  <a:srgbClr val="1A1A1A"/>
                </a:solidFill>
                <a:latin typeface="Microsoft YaHei"/>
              </a:rPr>
              <a:t> 可直接作被试内因子操纵。</a:t>
            </a:r>
          </a:p>
        </p:txBody>
      </p:sp>
      <p:sp>
        <p:nvSpPr>
          <p:cNvPr id="11" name="TextBox 10"/>
          <p:cNvSpPr txBox="1"/>
          <p:nvPr/>
        </p:nvSpPr>
        <p:spPr>
          <a:xfrm>
            <a:off x="638175" y="3437483"/>
            <a:ext cx="5276850" cy="447972"/>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不需复用被试。</a:t>
            </a:r>
            <a:r>
              <a:rPr sz="1040" b="0" i="0">
                <a:solidFill>
                  <a:srgbClr val="1A1A1A"/>
                </a:solidFill>
                <a:latin typeface="Microsoft YaHei"/>
              </a:rPr>
              <a:t>实验 4 无须承接实验 1 的个体数据；而实验 2 因 </a:t>
            </a:r>
            <a:r>
              <a:rPr sz="1040" b="0" i="1">
                <a:solidFill>
                  <a:srgbClr val="1A1A1A"/>
                </a:solidFill>
                <a:latin typeface="Microsoft YaHei"/>
              </a:rPr>
              <a:t>Δt</a:t>
            </a:r>
            <a:r>
              <a:rPr sz="1040" b="0" i="0">
                <a:solidFill>
                  <a:srgbClr val="1A1A1A"/>
                </a:solidFill>
                <a:latin typeface="Microsoft YaHei"/>
              </a:rPr>
              <a:t> 依赖被试自身 </a:t>
            </a:r>
            <a:r>
              <a:rPr sz="1040" b="0" i="1">
                <a:solidFill>
                  <a:srgbClr val="1A1A1A"/>
                </a:solidFill>
                <a:latin typeface="Microsoft YaHei"/>
              </a:rPr>
              <a:t>t</a:t>
            </a:r>
            <a:r>
              <a:rPr sz="720" b="0" i="1" baseline="-25000">
                <a:solidFill>
                  <a:srgbClr val="1A1A1A"/>
                </a:solidFill>
                <a:latin typeface="Microsoft YaHei"/>
              </a:rPr>
              <a:t>0</a:t>
            </a:r>
            <a:r>
              <a:rPr sz="1040" b="0" i="0">
                <a:solidFill>
                  <a:srgbClr val="1A1A1A"/>
                </a:solidFill>
                <a:latin typeface="Microsoft YaHei"/>
              </a:rPr>
              <a:t>，仍须与实验 1 复用同批被试。</a:t>
            </a:r>
          </a:p>
        </p:txBody>
      </p:sp>
      <p:sp>
        <p:nvSpPr>
          <p:cNvPr id="12" name="TextBox 11"/>
          <p:cNvSpPr txBox="1"/>
          <p:nvPr/>
        </p:nvSpPr>
        <p:spPr>
          <a:xfrm>
            <a:off x="638175" y="3875930"/>
            <a:ext cx="5276850" cy="447972"/>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级间间隔不再是自由参数。</a:t>
            </a:r>
            <a:r>
              <a:rPr sz="1040" b="0" i="0">
                <a:solidFill>
                  <a:srgbClr val="1A1A1A"/>
                </a:solidFill>
                <a:latin typeface="Microsoft YaHei"/>
              </a:rPr>
              <a:t>盲区分层的两级分别锚于 </a:t>
            </a:r>
            <a:r>
              <a:rPr sz="1040" b="0" i="1">
                <a:solidFill>
                  <a:srgbClr val="1A1A1A"/>
                </a:solidFill>
                <a:latin typeface="Microsoft YaHei"/>
              </a:rPr>
              <a:t>t</a:t>
            </a:r>
            <a:r>
              <a:rPr sz="720" b="0" i="1" baseline="-25000">
                <a:solidFill>
                  <a:srgbClr val="1A1A1A"/>
                </a:solidFill>
                <a:latin typeface="Microsoft YaHei"/>
              </a:rPr>
              <a:t>detect</a:t>
            </a:r>
            <a:r>
              <a:rPr sz="1040" b="0" i="0">
                <a:solidFill>
                  <a:srgbClr val="1A1A1A"/>
                </a:solidFill>
                <a:latin typeface="Microsoft YaHei"/>
              </a:rPr>
              <a:t> 与 </a:t>
            </a:r>
            <a:r>
              <a:rPr sz="1040" b="0" i="1">
                <a:solidFill>
                  <a:srgbClr val="1A1A1A"/>
                </a:solidFill>
                <a:latin typeface="Microsoft YaHei"/>
              </a:rPr>
              <a:t>t</a:t>
            </a:r>
            <a:r>
              <a:rPr sz="720" b="0" i="1" baseline="-25000">
                <a:solidFill>
                  <a:srgbClr val="1A1A1A"/>
                </a:solidFill>
                <a:latin typeface="Microsoft YaHei"/>
              </a:rPr>
              <a:t>reveal</a:t>
            </a:r>
            <a:r>
              <a:rPr sz="1040" b="0" i="0">
                <a:solidFill>
                  <a:srgbClr val="1A1A1A"/>
                </a:solidFill>
                <a:latin typeface="Microsoft YaHei"/>
              </a:rPr>
              <a:t>，间隔由场景几何与传感架构共同决定，而非待搜索的取值。</a:t>
            </a:r>
          </a:p>
        </p:txBody>
      </p:sp>
      <p:sp>
        <p:nvSpPr>
          <p:cNvPr id="13" name="Rounded Rectangle 12"/>
          <p:cNvSpPr/>
          <p:nvPr/>
        </p:nvSpPr>
        <p:spPr>
          <a:xfrm>
            <a:off x="6181725" y="2803921"/>
            <a:ext cx="5572125" cy="1782067"/>
          </a:xfrm>
          <a:prstGeom prst="roundRect">
            <a:avLst>
              <a:gd name="adj" fmla="val 3741"/>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15075" y="3137296"/>
            <a:ext cx="530542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5075" y="2899171"/>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三项新代价</a:t>
            </a:r>
          </a:p>
        </p:txBody>
      </p:sp>
      <p:sp>
        <p:nvSpPr>
          <p:cNvPr id="16" name="TextBox 15"/>
          <p:cNvSpPr txBox="1"/>
          <p:nvPr/>
        </p:nvSpPr>
        <p:spPr>
          <a:xfrm>
            <a:off x="6381750" y="3203971"/>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可行域被硬上界压缩。</a:t>
            </a:r>
            <a:r>
              <a:rPr sz="1040" b="0" i="0">
                <a:solidFill>
                  <a:srgbClr val="1A1A1A"/>
                </a:solidFill>
                <a:latin typeface="Microsoft YaHei"/>
              </a:rPr>
              <a:t>若探测时刻晚于人因所需时刻，则无论界面如何设计，所需提前量在物理上不可达。</a:t>
            </a:r>
          </a:p>
        </p:txBody>
      </p:sp>
      <p:sp>
        <p:nvSpPr>
          <p:cNvPr id="17" name="TextBox 16"/>
          <p:cNvSpPr txBox="1"/>
          <p:nvPr/>
        </p:nvSpPr>
        <p:spPr>
          <a:xfrm>
            <a:off x="6381750" y="3632894"/>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解析式不可跨车型迁移。</a:t>
            </a:r>
            <a:r>
              <a:rPr sz="1040" b="0" i="0">
                <a:solidFill>
                  <a:srgbClr val="1A1A1A"/>
                </a:solidFill>
                <a:latin typeface="Microsoft YaHei"/>
              </a:rPr>
              <a:t>显露时刻依赖眼点位置与遮挡体几何，本研究只提供解析式而非固定秒数。</a:t>
            </a:r>
          </a:p>
        </p:txBody>
      </p:sp>
      <p:sp>
        <p:nvSpPr>
          <p:cNvPr id="18" name="TextBox 17"/>
          <p:cNvSpPr txBox="1"/>
          <p:nvPr/>
        </p:nvSpPr>
        <p:spPr>
          <a:xfrm>
            <a:off x="6381750" y="4061817"/>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场景可预期性无法消除。</a:t>
            </a:r>
            <a:r>
              <a:rPr sz="1040" b="0" i="0">
                <a:solidFill>
                  <a:srgbClr val="1A1A1A"/>
                </a:solidFill>
                <a:latin typeface="Microsoft YaHei"/>
              </a:rPr>
              <a:t>被试数试次后即习得「遮挡体后必有行人」，须以 filler 稀释、catch trials 与首试次单独分析三重手段控制。</a:t>
            </a:r>
          </a:p>
        </p:txBody>
      </p:sp>
      <p:sp>
        <p:nvSpPr>
          <p:cNvPr id="19" name="Rounded Rectangle 18"/>
          <p:cNvSpPr/>
          <p:nvPr/>
        </p:nvSpPr>
        <p:spPr>
          <a:xfrm>
            <a:off x="438150" y="4662189"/>
            <a:ext cx="5572125" cy="1782067"/>
          </a:xfrm>
          <a:prstGeom prst="roundRect">
            <a:avLst>
              <a:gd name="adj" fmla="val 3741"/>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71500" y="4995564"/>
            <a:ext cx="53054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500" y="4757439"/>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为何取显露时刻而非探测时刻</a:t>
            </a:r>
          </a:p>
        </p:txBody>
      </p:sp>
      <p:sp>
        <p:nvSpPr>
          <p:cNvPr id="22" name="TextBox 21"/>
          <p:cNvSpPr txBox="1"/>
          <p:nvPr/>
        </p:nvSpPr>
        <p:spPr>
          <a:xfrm>
            <a:off x="638175" y="5062239"/>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探测时刻是约束，不是参照。</a:t>
            </a:r>
            <a:r>
              <a:rPr sz="1040" b="0" i="0">
                <a:solidFill>
                  <a:srgbClr val="1A1A1A"/>
                </a:solidFill>
                <a:latin typeface="Microsoft YaHei"/>
              </a:rPr>
              <a:t>它由传感与通信架构决定，跨系统差异极大；以它作零点会使参数</a:t>
            </a:r>
            <a:r>
              <a:rPr sz="1040" b="1" i="0">
                <a:solidFill>
                  <a:srgbClr val="1A1A1A"/>
                </a:solidFill>
                <a:latin typeface="Microsoft YaHei"/>
              </a:rPr>
              <a:t>随硬件配置漂移</a:t>
            </a:r>
            <a:r>
              <a:rPr sz="1040" b="0" i="0">
                <a:solidFill>
                  <a:srgbClr val="1A1A1A"/>
                </a:solidFill>
                <a:latin typeface="Microsoft YaHei"/>
              </a:rPr>
              <a:t>。</a:t>
            </a:r>
          </a:p>
        </p:txBody>
      </p:sp>
      <p:sp>
        <p:nvSpPr>
          <p:cNvPr id="23" name="TextBox 22"/>
          <p:cNvSpPr txBox="1"/>
          <p:nvPr/>
        </p:nvSpPr>
        <p:spPr>
          <a:xfrm>
            <a:off x="638175" y="5491162"/>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显露时刻才是驾驶员侧的事件。</a:t>
            </a:r>
            <a:r>
              <a:rPr sz="1040" b="0" i="0">
                <a:solidFill>
                  <a:srgbClr val="1A1A1A"/>
                </a:solidFill>
                <a:latin typeface="Microsoft YaHei"/>
              </a:rPr>
              <a:t>它标记「若无辅助，驾驶员最早可能获得信息的时刻」，与自发察觉时刻</a:t>
            </a:r>
            <a:r>
              <a:rPr sz="1040" b="1" i="0">
                <a:solidFill>
                  <a:srgbClr val="1A1A1A"/>
                </a:solidFill>
                <a:latin typeface="Microsoft YaHei"/>
              </a:rPr>
              <a:t>功能同位</a:t>
            </a:r>
            <a:r>
              <a:rPr sz="1040" b="0" i="0">
                <a:solidFill>
                  <a:srgbClr val="1A1A1A"/>
                </a:solidFill>
                <a:latin typeface="Microsoft YaHei"/>
              </a:rPr>
              <a:t>——两者都是驾驶员自力可及的起点。</a:t>
            </a:r>
          </a:p>
        </p:txBody>
      </p:sp>
      <p:sp>
        <p:nvSpPr>
          <p:cNvPr id="24" name="TextBox 23"/>
          <p:cNvSpPr txBox="1"/>
          <p:nvPr/>
        </p:nvSpPr>
        <p:spPr>
          <a:xfrm>
            <a:off x="638175" y="5920085"/>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故双情境共用同一记法思想：</a:t>
            </a:r>
            <a:r>
              <a:rPr sz="1040" b="0" i="0">
                <a:solidFill>
                  <a:srgbClr val="1A1A1A"/>
                </a:solidFill>
                <a:latin typeface="Microsoft YaHei"/>
              </a:rPr>
              <a:t>提前量一律定义为相对</a:t>
            </a:r>
            <a:r>
              <a:rPr sz="1040" b="1" i="0">
                <a:solidFill>
                  <a:srgbClr val="1A1A1A"/>
                </a:solidFill>
                <a:latin typeface="Microsoft YaHei"/>
              </a:rPr>
              <a:t>驾驶员自力起点</a:t>
            </a:r>
            <a:r>
              <a:rPr sz="1040" b="0" i="0">
                <a:solidFill>
                  <a:srgbClr val="1A1A1A"/>
                </a:solidFill>
                <a:latin typeface="Microsoft YaHei"/>
              </a:rPr>
              <a:t>的提前量，只是该起点在非盲区为心理量、在盲区为几何量。</a:t>
            </a:r>
          </a:p>
        </p:txBody>
      </p:sp>
      <p:sp>
        <p:nvSpPr>
          <p:cNvPr id="25" name="Rounded Rectangle 24"/>
          <p:cNvSpPr/>
          <p:nvPr/>
        </p:nvSpPr>
        <p:spPr>
          <a:xfrm>
            <a:off x="6181725" y="4662189"/>
            <a:ext cx="5572125" cy="1782067"/>
          </a:xfrm>
          <a:prstGeom prst="roundRect">
            <a:avLst>
              <a:gd name="adj" fmla="val 3741"/>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315075" y="4995564"/>
            <a:ext cx="530542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15075" y="4757439"/>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两情境自变量的可比性如何保证</a:t>
            </a:r>
          </a:p>
        </p:txBody>
      </p:sp>
      <p:sp>
        <p:nvSpPr>
          <p:cNvPr id="28" name="TextBox 27"/>
          <p:cNvSpPr txBox="1"/>
          <p:nvPr/>
        </p:nvSpPr>
        <p:spPr>
          <a:xfrm>
            <a:off x="6381750" y="5062239"/>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刻度对齐。</a:t>
            </a:r>
            <a:r>
              <a:rPr sz="1040" b="0" i="0">
                <a:solidFill>
                  <a:srgbClr val="1A1A1A"/>
                </a:solidFill>
                <a:latin typeface="Microsoft YaHei"/>
              </a:rPr>
              <a:t>两情境提前量取相同水平（+1.0／+2.5 s）；盲区另加 −0.5 与 0 以检验预告区段。</a:t>
            </a:r>
          </a:p>
        </p:txBody>
      </p:sp>
      <p:sp>
        <p:nvSpPr>
          <p:cNvPr id="29" name="TextBox 28"/>
          <p:cNvSpPr txBox="1"/>
          <p:nvPr/>
        </p:nvSpPr>
        <p:spPr>
          <a:xfrm>
            <a:off x="6381750" y="5491162"/>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场景族对齐。</a:t>
            </a:r>
            <a:r>
              <a:rPr sz="1040" b="0" i="0">
                <a:solidFill>
                  <a:srgbClr val="1A1A1A"/>
                </a:solidFill>
                <a:latin typeface="Microsoft YaHei"/>
              </a:rPr>
              <a:t>实验 1／2／4 共用场景族与标定单元，车速与遮挡按四单元分别标定，故运动学难度可比。</a:t>
            </a:r>
          </a:p>
        </p:txBody>
      </p:sp>
      <p:sp>
        <p:nvSpPr>
          <p:cNvPr id="30" name="TextBox 29"/>
          <p:cNvSpPr txBox="1"/>
          <p:nvPr/>
        </p:nvSpPr>
        <p:spPr>
          <a:xfrm>
            <a:off x="6381750" y="5920085"/>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归一化量对齐。</a:t>
            </a:r>
            <a:r>
              <a:rPr sz="1040" b="0" i="0">
                <a:solidFill>
                  <a:srgbClr val="1A1A1A"/>
                </a:solidFill>
                <a:latin typeface="Microsoft YaHei"/>
              </a:rPr>
              <a:t>触发准则与风险量映射一律采用制动威胁数，分母由实验 1 在两情境中</a:t>
            </a:r>
            <a:r>
              <a:rPr sz="1040" b="1" i="0">
                <a:solidFill>
                  <a:srgbClr val="1A1A1A"/>
                </a:solidFill>
                <a:latin typeface="Microsoft YaHei"/>
              </a:rPr>
              <a:t>分别实测</a:t>
            </a:r>
            <a:r>
              <a:rPr sz="1040" b="0" i="0">
                <a:solidFill>
                  <a:srgbClr val="1A1A1A"/>
                </a:solidFill>
                <a:latin typeface="Microsoft YaHei"/>
              </a:rPr>
              <a:t>，故强度标度可比。</a:t>
            </a:r>
          </a:p>
        </p:txBody>
      </p:sp>
      <p:sp>
        <p:nvSpPr>
          <p:cNvPr id="31" name="TextBox 30"/>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证据基础</a:t>
            </a:r>
            <a:r>
              <a:rPr sz="1580" b="1" i="0">
                <a:solidFill>
                  <a:srgbClr val="4472C4"/>
                </a:solidFill>
                <a:latin typeface="Microsoft YaHei"/>
              </a:rPr>
              <a:t>主库 102 篇中以遮挡为核心条件者 6 篇</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3 / 6</a:t>
            </a:r>
          </a:p>
        </p:txBody>
      </p:sp>
      <p:sp>
        <p:nvSpPr>
          <p:cNvPr id="6" name="TextBox 5"/>
          <p:cNvSpPr txBox="1"/>
          <p:nvPr/>
        </p:nvSpPr>
        <p:spPr>
          <a:xfrm>
            <a:off x="438150" y="762000"/>
            <a:ext cx="11353800"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b="0" i="0">
                <a:solidFill>
                  <a:srgbClr val="1A1A1A"/>
                </a:solidFill>
                <a:latin typeface="Microsoft YaHei"/>
              </a:rPr>
              <a:t>全库以 30 项中英关键词正则扫描，85 条命中，按与本框架的关系强度重新分级后可用者 21 篇，其中</a:t>
            </a:r>
            <a:r>
              <a:rPr sz="1040" b="1" i="0">
                <a:solidFill>
                  <a:srgbClr val="1A1A1A"/>
                </a:solidFill>
                <a:latin typeface="Microsoft YaHei"/>
              </a:rPr>
              <a:t>遮挡作为自变量或场景核心构成条件者仅 6 篇</a:t>
            </a:r>
            <a:r>
              <a:rPr sz="1040" b="0" i="0">
                <a:solidFill>
                  <a:srgbClr val="1A1A1A"/>
                </a:solidFill>
                <a:latin typeface="Microsoft YaHei"/>
              </a:rPr>
              <a:t>。</a:t>
            </a:r>
          </a:p>
        </p:txBody>
      </p:sp>
      <p:graphicFrame>
        <p:nvGraphicFramePr>
          <p:cNvPr id="7" name="Table 6"/>
          <p:cNvGraphicFramePr>
            <a:graphicFrameLocks noGrp="1"/>
          </p:cNvGraphicFramePr>
          <p:nvPr/>
        </p:nvGraphicFramePr>
        <p:xfrm>
          <a:off x="438150" y="1084808"/>
          <a:ext cx="11315698" cy="3587053"/>
        </p:xfrm>
        <a:graphic>
          <a:graphicData uri="http://schemas.openxmlformats.org/drawingml/2006/table">
            <a:tbl>
              <a:tblPr>
                <a:tableStyleId>{5C22544A-7EE6-4342-B048-85BDC9FD1C3A}</a:tableStyleId>
              </a:tblPr>
              <a:tblGrid>
                <a:gridCol w="1471017"/>
                <a:gridCol w="905172"/>
                <a:gridCol w="7128867"/>
                <a:gridCol w="1810642"/>
              </a:tblGrid>
              <a:tr h="239910">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文献</a:t>
                      </a:r>
                    </a:p>
                  </a:txBody>
                  <a:tcPr marL="57150" marR="57150" marT="43815" marB="43815"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类型</a:t>
                      </a:r>
                    </a:p>
                  </a:txBody>
                  <a:tcPr marL="57150" marR="57150" marT="43815" marB="43815"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遮挡设置与关键数值</a:t>
                      </a:r>
                    </a:p>
                  </a:txBody>
                  <a:tcPr marL="57150" marR="57150" marT="43815" marB="43815"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证据等级</a:t>
                      </a:r>
                    </a:p>
                  </a:txBody>
                  <a:tcPr marL="57150" marR="57150" marT="43815" marB="43815" anchor="t">
                    <a:solidFill>
                      <a:srgbClr val="4472C4"/>
                    </a:solidFill>
                  </a:tcPr>
                </a:tc>
              </a:tr>
              <a:tr h="731043">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Merenda 等</a:t>
                      </a:r>
                    </a:p>
                    <a:p>
                      <a:pPr algn="l">
                        <a:lnSpc>
                          <a:spcPct val="148000"/>
                        </a:lnSpc>
                        <a:spcBef>
                          <a:spcPts val="0"/>
                        </a:spcBef>
                        <a:spcAft>
                          <a:spcPts val="0"/>
                        </a:spcAft>
                      </a:pPr>
                      <a:r>
                        <a:rPr sz="819" b="1" i="0">
                          <a:solidFill>
                            <a:srgbClr val="1A1A1A"/>
                          </a:solidFill>
                          <a:latin typeface="Microsoft YaHei"/>
                        </a:rPr>
                        <a:t>（2018）</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实车</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本库唯一的实车「遮挡后横穿」范式。</a:t>
                      </a:r>
                      <a:r>
                        <a:rPr sz="819" b="0" i="0">
                          <a:solidFill>
                            <a:srgbClr val="1A1A1A"/>
                          </a:solidFill>
                          <a:latin typeface="Microsoft YaHei"/>
                        </a:rPr>
                        <a:t>事件区左右各停 </a:t>
                      </a:r>
                      <a:r>
                        <a:rPr sz="819" b="1" i="0">
                          <a:solidFill>
                            <a:srgbClr val="1A1A1A"/>
                          </a:solidFill>
                          <a:latin typeface="Microsoft YaHei"/>
                        </a:rPr>
                        <a:t>3 辆同色货车（共 6 辆）</a:t>
                      </a:r>
                      <a:r>
                        <a:rPr sz="819" b="0" i="0">
                          <a:solidFill>
                            <a:srgbClr val="1A1A1A"/>
                          </a:solidFill>
                          <a:latin typeface="Microsoft YaHei"/>
                        </a:rPr>
                        <a:t>；研究 2 在每辆货车尾部</a:t>
                      </a:r>
                      <a:r>
                        <a:rPr sz="819" b="1" i="0">
                          <a:solidFill>
                            <a:srgbClr val="1A1A1A"/>
                          </a:solidFill>
                          <a:latin typeface="Microsoft YaHei"/>
                        </a:rPr>
                        <a:t>悬挂黑布以阻止被试在行人步出前看到其双脚</a:t>
                      </a:r>
                      <a:r>
                        <a:rPr sz="819" b="0" i="0">
                          <a:solidFill>
                            <a:srgbClr val="1A1A1A"/>
                          </a:solidFill>
                          <a:latin typeface="Microsoft YaHei"/>
                        </a:rPr>
                        <a:t>。车速 10 mph，紧迫度三级 </a:t>
                      </a:r>
                      <a:r>
                        <a:rPr sz="819" b="1" i="0">
                          <a:solidFill>
                            <a:srgbClr val="1A1A1A"/>
                          </a:solidFill>
                          <a:latin typeface="Microsoft YaHei"/>
                        </a:rPr>
                        <a:t>TTC 2 / 3 / 4 s = 9 / 13.5 / 18 m</a:t>
                      </a:r>
                      <a:r>
                        <a:rPr sz="819" b="0" i="0">
                          <a:solidFill>
                            <a:srgbClr val="1A1A1A"/>
                          </a:solidFill>
                          <a:latin typeface="Microsoft YaHei"/>
                        </a:rPr>
                        <a:t>。结果：</a:t>
                      </a:r>
                      <a:r>
                        <a:rPr sz="819" b="1" i="0">
                          <a:solidFill>
                            <a:srgbClr val="1A1A1A"/>
                          </a:solidFill>
                          <a:latin typeface="Microsoft YaHei"/>
                        </a:rPr>
                        <a:t>屏幕固定线索捕获快、引导慢；世界固定共形线索捕获慢、引导快</a:t>
                      </a:r>
                      <a:r>
                        <a:rPr sz="819" b="0" i="0">
                          <a:solidFill>
                            <a:srgbClr val="1A1A1A"/>
                          </a:solidFill>
                          <a:latin typeface="Microsoft YaHei"/>
                        </a:rPr>
                        <a:t>（</a:t>
                      </a:r>
                      <a:r>
                        <a:rPr sz="819" b="0" i="1">
                          <a:solidFill>
                            <a:srgbClr val="1A1A1A"/>
                          </a:solidFill>
                          <a:latin typeface="Microsoft YaHei"/>
                        </a:rPr>
                        <a:t>t</a:t>
                      </a:r>
                      <a:r>
                        <a:rPr sz="819" b="0" i="0">
                          <a:solidFill>
                            <a:srgbClr val="1A1A1A"/>
                          </a:solidFill>
                          <a:latin typeface="Microsoft YaHei"/>
                        </a:rPr>
                        <a:t>(53) = 3.022, </a:t>
                      </a:r>
                      <a:r>
                        <a:rPr sz="819" b="0" i="1">
                          <a:solidFill>
                            <a:srgbClr val="1A1A1A"/>
                          </a:solidFill>
                          <a:latin typeface="Microsoft YaHei"/>
                        </a:rPr>
                        <a:t>p</a:t>
                      </a:r>
                      <a:r>
                        <a:rPr sz="819" b="0" i="0">
                          <a:solidFill>
                            <a:srgbClr val="1A1A1A"/>
                          </a:solidFill>
                          <a:latin typeface="Microsoft YaHei"/>
                        </a:rPr>
                        <a:t> = .019；</a:t>
                      </a:r>
                      <a:r>
                        <a:rPr sz="819" b="0" i="1">
                          <a:solidFill>
                            <a:srgbClr val="1A1A1A"/>
                          </a:solidFill>
                          <a:latin typeface="Microsoft YaHei"/>
                        </a:rPr>
                        <a:t>t</a:t>
                      </a:r>
                      <a:r>
                        <a:rPr sz="819" b="0" i="0">
                          <a:solidFill>
                            <a:srgbClr val="1A1A1A"/>
                          </a:solidFill>
                          <a:latin typeface="Microsoft YaHei"/>
                        </a:rPr>
                        <a:t>(176) = 3.904, </a:t>
                      </a:r>
                      <a:r>
                        <a:rPr sz="819" b="0" i="1">
                          <a:solidFill>
                            <a:srgbClr val="1A1A1A"/>
                          </a:solidFill>
                          <a:latin typeface="Microsoft YaHei"/>
                        </a:rPr>
                        <a:t>p</a:t>
                      </a:r>
                      <a:r>
                        <a:rPr sz="819" b="0" i="0">
                          <a:solidFill>
                            <a:srgbClr val="1A1A1A"/>
                          </a:solidFill>
                          <a:latin typeface="Microsoft YaHei"/>
                        </a:rPr>
                        <a:t> &lt; .001），总定位时间无显著差异。</a:t>
                      </a:r>
                      <a:r>
                        <a:rPr sz="819" b="1" i="0">
                          <a:solidFill>
                            <a:srgbClr val="1A1A1A"/>
                          </a:solidFill>
                          <a:latin typeface="Microsoft YaHei"/>
                        </a:rPr>
                        <a:t>与本车运动耦合的动画在 2 s TTC 下产生负的停车间隙（即理论碰撞）</a:t>
                      </a:r>
                      <a:r>
                        <a:rPr sz="819" b="0" i="0">
                          <a:solidFill>
                            <a:srgbClr val="1A1A1A"/>
                          </a:solidFill>
                          <a:latin typeface="Microsoft YaHei"/>
                        </a:rPr>
                        <a:t>；</a:t>
                      </a:r>
                      <a:r>
                        <a:rPr sz="819" b="1" i="0">
                          <a:solidFill>
                            <a:srgbClr val="1A1A1A"/>
                          </a:solidFill>
                          <a:latin typeface="Microsoft YaHei"/>
                        </a:rPr>
                        <a:t>17° 视场下近距侧方共形图形移出视场而失效</a:t>
                      </a:r>
                      <a:r>
                        <a:rPr sz="819" b="0" i="0">
                          <a:solidFill>
                            <a:srgbClr val="1A1A1A"/>
                          </a:solidFill>
                          <a:latin typeface="Microsoft YaHei"/>
                        </a:rPr>
                        <a:t>。</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A</a:t>
                      </a:r>
                      <a:r>
                        <a:rPr sz="819" b="0" i="0">
                          <a:solidFill>
                            <a:srgbClr val="1A1A1A"/>
                          </a:solidFill>
                          <a:latin typeface="Microsoft YaHei"/>
                        </a:rPr>
                        <a:t> 全文</a:t>
                      </a:r>
                    </a:p>
                  </a:txBody>
                  <a:tcPr marL="57150" marR="57150" marT="34290" marB="34290" anchor="t">
                    <a:solidFill>
                      <a:srgbClr val="FAFBFD"/>
                    </a:solidFill>
                  </a:tcPr>
                </a:tc>
              </a:tr>
              <a:tr h="599926">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Zhang 等</a:t>
                      </a:r>
                    </a:p>
                    <a:p>
                      <a:pPr algn="l">
                        <a:lnSpc>
                          <a:spcPct val="148000"/>
                        </a:lnSpc>
                        <a:spcBef>
                          <a:spcPts val="0"/>
                        </a:spcBef>
                        <a:spcAft>
                          <a:spcPts val="0"/>
                        </a:spcAft>
                      </a:pPr>
                      <a:r>
                        <a:rPr sz="819" b="1" i="0">
                          <a:solidFill>
                            <a:srgbClr val="1A1A1A"/>
                          </a:solidFill>
                          <a:latin typeface="Microsoft YaHei"/>
                        </a:rPr>
                        <a:t>（2024）</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模拟</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行人位于机动车道右边线外 </a:t>
                      </a:r>
                      <a:r>
                        <a:rPr sz="819" b="1" i="0">
                          <a:solidFill>
                            <a:srgbClr val="1A1A1A"/>
                          </a:solidFill>
                          <a:latin typeface="Microsoft YaHei"/>
                        </a:rPr>
                        <a:t>2.5 m，被路边公交车遮挡</a:t>
                      </a:r>
                      <a:r>
                        <a:rPr sz="819" b="0" i="0">
                          <a:solidFill>
                            <a:srgbClr val="1A1A1A"/>
                          </a:solidFill>
                          <a:latin typeface="Microsoft YaHei"/>
                        </a:rPr>
                        <a:t>；主车距 </a:t>
                      </a:r>
                      <a:r>
                        <a:rPr sz="819" b="1" i="0">
                          <a:solidFill>
                            <a:srgbClr val="1A1A1A"/>
                          </a:solidFill>
                          <a:latin typeface="Microsoft YaHei"/>
                        </a:rPr>
                        <a:t>100 m</a:t>
                      </a:r>
                      <a:r>
                        <a:rPr sz="819" b="0" i="0">
                          <a:solidFill>
                            <a:srgbClr val="1A1A1A"/>
                          </a:solidFill>
                          <a:latin typeface="Microsoft YaHei"/>
                        </a:rPr>
                        <a:t> 时路侧 V2I 触发，距行人 </a:t>
                      </a:r>
                      <a:r>
                        <a:rPr sz="819" b="1" i="0">
                          <a:solidFill>
                            <a:srgbClr val="1A1A1A"/>
                          </a:solidFill>
                          <a:latin typeface="Microsoft YaHei"/>
                        </a:rPr>
                        <a:t>60 m</a:t>
                      </a:r>
                      <a:r>
                        <a:rPr sz="819" b="0" i="0">
                          <a:solidFill>
                            <a:srgbClr val="1A1A1A"/>
                          </a:solidFill>
                          <a:latin typeface="Microsoft YaHei"/>
                        </a:rPr>
                        <a:t> 时行人以 1 m/s 起步横穿；</a:t>
                      </a:r>
                      <a:r>
                        <a:rPr sz="819" b="0" i="1">
                          <a:solidFill>
                            <a:srgbClr val="1A1A1A"/>
                          </a:solidFill>
                          <a:latin typeface="Microsoft YaHei"/>
                        </a:rPr>
                        <a:t>N</a:t>
                      </a:r>
                      <a:r>
                        <a:rPr sz="819" b="0" i="0">
                          <a:solidFill>
                            <a:srgbClr val="1A1A1A"/>
                          </a:solidFill>
                          <a:latin typeface="Microsoft YaHei"/>
                        </a:rPr>
                        <a:t> = 34，3 × 2（晴／雾 240 m）。</a:t>
                      </a:r>
                      <a:r>
                        <a:rPr sz="819" b="1" i="0">
                          <a:solidFill>
                            <a:srgbClr val="1A1A1A"/>
                          </a:solidFill>
                          <a:latin typeface="Microsoft YaHei"/>
                        </a:rPr>
                        <a:t>HUD 使油门松开提前 36.29 m、首次制动提前 39.10 m、最大减速度绝对值降低约 3.45 m/s²、最小冲突距离增加 9.41 m</a:t>
                      </a:r>
                      <a:r>
                        <a:rPr sz="819" b="0" i="0">
                          <a:solidFill>
                            <a:srgbClr val="1A1A1A"/>
                          </a:solidFill>
                          <a:latin typeface="Microsoft YaHei"/>
                        </a:rPr>
                        <a:t>（均 </a:t>
                      </a:r>
                      <a:r>
                        <a:rPr sz="819" b="0" i="1">
                          <a:solidFill>
                            <a:srgbClr val="1A1A1A"/>
                          </a:solidFill>
                          <a:latin typeface="Microsoft YaHei"/>
                        </a:rPr>
                        <a:t>p</a:t>
                      </a:r>
                      <a:r>
                        <a:rPr sz="819" b="0" i="0">
                          <a:solidFill>
                            <a:srgbClr val="1A1A1A"/>
                          </a:solidFill>
                          <a:latin typeface="Microsoft YaHei"/>
                        </a:rPr>
                        <a:t> &lt; .001）；</a:t>
                      </a:r>
                      <a:r>
                        <a:rPr sz="819" b="1" i="0">
                          <a:solidFill>
                            <a:srgbClr val="1A1A1A"/>
                          </a:solidFill>
                          <a:latin typeface="Microsoft YaHei"/>
                        </a:rPr>
                        <a:t>雾天放大该优势</a:t>
                      </a:r>
                      <a:r>
                        <a:rPr sz="819" b="0" i="0">
                          <a:solidFill>
                            <a:srgbClr val="1A1A1A"/>
                          </a:solidFill>
                          <a:latin typeface="Microsoft YaHei"/>
                        </a:rPr>
                        <a:t>（油门提前多 27.7 m, </a:t>
                      </a:r>
                      <a:r>
                        <a:rPr sz="819" b="0" i="1">
                          <a:solidFill>
                            <a:srgbClr val="1A1A1A"/>
                          </a:solidFill>
                          <a:latin typeface="Microsoft YaHei"/>
                        </a:rPr>
                        <a:t>p</a:t>
                      </a:r>
                      <a:r>
                        <a:rPr sz="819" b="0" i="0">
                          <a:solidFill>
                            <a:srgbClr val="1A1A1A"/>
                          </a:solidFill>
                          <a:latin typeface="Microsoft YaHei"/>
                        </a:rPr>
                        <a:t> = .032）。</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A</a:t>
                      </a:r>
                      <a:r>
                        <a:rPr sz="819" b="0" i="0">
                          <a:solidFill>
                            <a:srgbClr val="1A1A1A"/>
                          </a:solidFill>
                          <a:latin typeface="Microsoft YaHei"/>
                        </a:rPr>
                        <a:t> 全文</a:t>
                      </a:r>
                    </a:p>
                    <a:p>
                      <a:pPr algn="l">
                        <a:lnSpc>
                          <a:spcPct val="148000"/>
                        </a:lnSpc>
                        <a:spcBef>
                          <a:spcPts val="0"/>
                        </a:spcBef>
                        <a:spcAft>
                          <a:spcPts val="0"/>
                        </a:spcAft>
                      </a:pPr>
                      <a:r>
                        <a:rPr sz="819" b="1" i="0">
                          <a:solidFill>
                            <a:srgbClr val="1A1A1A"/>
                          </a:solidFill>
                          <a:latin typeface="Microsoft YaHei"/>
                        </a:rPr>
                        <a:t>唯一可引用数值源</a:t>
                      </a:r>
                    </a:p>
                  </a:txBody>
                  <a:tcPr marL="57150" marR="57150" marT="34290" marB="34290" anchor="t">
                    <a:noFill/>
                  </a:tcPr>
                </a:tc>
              </a:tr>
              <a:tr h="542776">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You 等</a:t>
                      </a:r>
                    </a:p>
                    <a:p>
                      <a:pPr algn="l">
                        <a:lnSpc>
                          <a:spcPct val="148000"/>
                        </a:lnSpc>
                        <a:spcBef>
                          <a:spcPts val="0"/>
                        </a:spcBef>
                        <a:spcAft>
                          <a:spcPts val="0"/>
                        </a:spcAft>
                      </a:pPr>
                      <a:r>
                        <a:rPr sz="819" b="1" i="0">
                          <a:solidFill>
                            <a:srgbClr val="1A1A1A"/>
                          </a:solidFill>
                          <a:latin typeface="Microsoft YaHei"/>
                        </a:rPr>
                        <a:t>（2023）</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模拟</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以</a:t>
                      </a:r>
                      <a:r>
                        <a:rPr sz="819" b="1" i="0">
                          <a:solidFill>
                            <a:srgbClr val="1A1A1A"/>
                          </a:solidFill>
                          <a:latin typeface="Microsoft YaHei"/>
                        </a:rPr>
                        <a:t>团队协同感知模型</a:t>
                      </a:r>
                      <a:r>
                        <a:rPr sz="819" b="0" i="0">
                          <a:solidFill>
                            <a:srgbClr val="1A1A1A"/>
                          </a:solidFill>
                          <a:latin typeface="Microsoft YaHei"/>
                        </a:rPr>
                        <a:t>（人 + 智能体双感知循环）设计「不可见危险」预警，把 AR-HUD 定位为承载智能体认知信息的载体；报告 SA 与反应时在</a:t>
                      </a:r>
                      <a:r>
                        <a:rPr sz="819" b="1" i="0">
                          <a:solidFill>
                            <a:srgbClr val="1A1A1A"/>
                          </a:solidFill>
                          <a:latin typeface="Microsoft YaHei"/>
                        </a:rPr>
                        <a:t>手动与自动两模式下均改善</a:t>
                      </a:r>
                      <a:r>
                        <a:rPr sz="819" b="0" i="0">
                          <a:solidFill>
                            <a:srgbClr val="1A1A1A"/>
                          </a:solidFill>
                          <a:latin typeface="Microsoft YaHei"/>
                        </a:rPr>
                        <a:t>。</a:t>
                      </a:r>
                      <a:r>
                        <a:rPr sz="819" b="1" i="0">
                          <a:solidFill>
                            <a:srgbClr val="1A1A1A"/>
                          </a:solidFill>
                          <a:latin typeface="Microsoft YaHei"/>
                        </a:rPr>
                        <a:t>但为仅摘要级，零个数值，反应时计时起止点未定义。</a:t>
                      </a:r>
                      <a:r>
                        <a:rPr sz="819" b="0" i="0">
                          <a:solidFill>
                            <a:srgbClr val="1A1A1A"/>
                          </a:solidFill>
                          <a:latin typeface="Microsoft YaHei"/>
                        </a:rPr>
                        <a:t>其真正价值在于揭示 BW 在遮挡下不可实现，从而界定 Wu 等（2024）结论的适用边界。</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B</a:t>
                      </a:r>
                      <a:r>
                        <a:rPr sz="819" b="0" i="0">
                          <a:solidFill>
                            <a:srgbClr val="1A1A1A"/>
                          </a:solidFill>
                          <a:latin typeface="Microsoft YaHei"/>
                        </a:rPr>
                        <a:t> 仅摘要</a:t>
                      </a:r>
                    </a:p>
                    <a:p>
                      <a:pPr algn="l">
                        <a:lnSpc>
                          <a:spcPct val="148000"/>
                        </a:lnSpc>
                        <a:spcBef>
                          <a:spcPts val="0"/>
                        </a:spcBef>
                        <a:spcAft>
                          <a:spcPts val="0"/>
                        </a:spcAft>
                      </a:pPr>
                      <a:r>
                        <a:rPr sz="819" b="1" i="0">
                          <a:solidFill>
                            <a:srgbClr val="C00000"/>
                          </a:solidFill>
                          <a:latin typeface="Microsoft YaHei"/>
                        </a:rPr>
                        <a:t>禁引数值</a:t>
                      </a:r>
                    </a:p>
                  </a:txBody>
                  <a:tcPr marL="57150" marR="57150" marT="34290" marB="34290" anchor="t">
                    <a:solidFill>
                      <a:srgbClr val="FAFBFD"/>
                    </a:solidFill>
                  </a:tcPr>
                </a:tc>
              </a:tr>
              <a:tr h="542776">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Chang 等</a:t>
                      </a:r>
                    </a:p>
                    <a:p>
                      <a:pPr algn="l">
                        <a:lnSpc>
                          <a:spcPct val="148000"/>
                        </a:lnSpc>
                        <a:spcBef>
                          <a:spcPts val="0"/>
                        </a:spcBef>
                        <a:spcAft>
                          <a:spcPts val="0"/>
                        </a:spcAft>
                      </a:pPr>
                      <a:r>
                        <a:rPr sz="819" b="1" i="0">
                          <a:solidFill>
                            <a:srgbClr val="1A1A1A"/>
                          </a:solidFill>
                          <a:latin typeface="Microsoft YaHei"/>
                        </a:rPr>
                        <a:t>（2009）</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仿真</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交叉口公交—行人，车体构成相互遮挡；50 km/h、紧急减速率约 3 m/s²、有预警时感知—反应时 2.1–2.3 s。</a:t>
                      </a:r>
                      <a:r>
                        <a:rPr sz="819" b="1" i="0">
                          <a:solidFill>
                            <a:srgbClr val="1A1A1A"/>
                          </a:solidFill>
                          <a:latin typeface="Microsoft YaHei"/>
                        </a:rPr>
                        <a:t>预警须在碰撞点前 6.07 s（视觉）／6.28 s（语音）发出</a:t>
                      </a:r>
                      <a:r>
                        <a:rPr sz="819" b="0" i="0">
                          <a:solidFill>
                            <a:srgbClr val="1A1A1A"/>
                          </a:solidFill>
                          <a:latin typeface="Microsoft YaHei"/>
                        </a:rPr>
                        <a:t>；检测须覆盖</a:t>
                      </a:r>
                      <a:r>
                        <a:rPr sz="819" b="1" i="0">
                          <a:solidFill>
                            <a:srgbClr val="1A1A1A"/>
                          </a:solidFill>
                          <a:latin typeface="Microsoft YaHei"/>
                        </a:rPr>
                        <a:t>距路缘 7.1 m</a:t>
                      </a:r>
                      <a:r>
                        <a:rPr sz="819" b="0" i="0">
                          <a:solidFill>
                            <a:srgbClr val="1A1A1A"/>
                          </a:solidFill>
                          <a:latin typeface="Microsoft YaHei"/>
                        </a:rPr>
                        <a:t>、危险感知距离 </a:t>
                      </a:r>
                      <a:r>
                        <a:rPr sz="819" b="1" i="0">
                          <a:solidFill>
                            <a:srgbClr val="1A1A1A"/>
                          </a:solidFill>
                          <a:latin typeface="Microsoft YaHei"/>
                        </a:rPr>
                        <a:t>≥ 61 m</a:t>
                      </a:r>
                      <a:r>
                        <a:rPr sz="819" b="0" i="0">
                          <a:solidFill>
                            <a:srgbClr val="1A1A1A"/>
                          </a:solidFill>
                          <a:latin typeface="Microsoft YaHei"/>
                        </a:rPr>
                        <a:t>。收益形式为</a:t>
                      </a:r>
                      <a:r>
                        <a:rPr sz="819" b="1" i="0">
                          <a:solidFill>
                            <a:srgbClr val="1A1A1A"/>
                          </a:solidFill>
                          <a:latin typeface="Microsoft YaHei"/>
                        </a:rPr>
                        <a:t>紧急减速率由 3.10–3.56 降至 2.77–3.18 m/s²，即制动平顺化而非反应时缩短</a:t>
                      </a:r>
                      <a:r>
                        <a:rPr sz="819" b="0" i="0">
                          <a:solidFill>
                            <a:srgbClr val="1A1A1A"/>
                          </a:solidFill>
                          <a:latin typeface="Microsoft YaHei"/>
                        </a:rPr>
                        <a:t>。</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A</a:t>
                      </a:r>
                      <a:r>
                        <a:rPr sz="819" b="0" i="0">
                          <a:solidFill>
                            <a:srgbClr val="1A1A1A"/>
                          </a:solidFill>
                          <a:latin typeface="Microsoft YaHei"/>
                        </a:rPr>
                        <a:t> 全文</a:t>
                      </a:r>
                    </a:p>
                  </a:txBody>
                  <a:tcPr marL="57150" marR="57150" marT="34290" marB="34290" anchor="t">
                    <a:noFill/>
                  </a:tcPr>
                </a:tc>
              </a:tr>
              <a:tr h="387846">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Kim 等</a:t>
                      </a:r>
                    </a:p>
                    <a:p>
                      <a:pPr algn="l">
                        <a:lnSpc>
                          <a:spcPct val="148000"/>
                        </a:lnSpc>
                        <a:spcBef>
                          <a:spcPts val="0"/>
                        </a:spcBef>
                        <a:spcAft>
                          <a:spcPts val="0"/>
                        </a:spcAft>
                      </a:pPr>
                      <a:r>
                        <a:rPr sz="819" b="1" i="0">
                          <a:solidFill>
                            <a:srgbClr val="1A1A1A"/>
                          </a:solidFill>
                          <a:latin typeface="Microsoft YaHei"/>
                        </a:rPr>
                        <a:t>（2022）</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工程</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基于 3D 姿态估计的路侧 P2CWS + V2X，实现</a:t>
                      </a:r>
                      <a:r>
                        <a:rPr sz="819" b="1" i="0">
                          <a:solidFill>
                            <a:srgbClr val="1A1A1A"/>
                          </a:solidFill>
                          <a:latin typeface="Microsoft YaHei"/>
                        </a:rPr>
                        <a:t>非视距</a:t>
                      </a:r>
                      <a:r>
                        <a:rPr sz="819" b="0" i="0">
                          <a:solidFill>
                            <a:srgbClr val="1A1A1A"/>
                          </a:solidFill>
                          <a:latin typeface="Microsoft YaHei"/>
                        </a:rPr>
                        <a:t>行人预警；朝向识别 100 FPS、意图预测 35 FPS。</a:t>
                      </a:r>
                      <a:r>
                        <a:rPr sz="819" b="1" i="0">
                          <a:solidFill>
                            <a:srgbClr val="1A1A1A"/>
                          </a:solidFill>
                          <a:latin typeface="Microsoft YaHei"/>
                        </a:rPr>
                        <a:t>给出 AR-HUD 行人预警的最低时间预算 1.66 s = 1.5 s 意图预测 + 0.16 s 制动响应</a:t>
                      </a:r>
                      <a:r>
                        <a:rPr sz="819" b="0" i="0">
                          <a:solidFill>
                            <a:srgbClr val="1A1A1A"/>
                          </a:solidFill>
                          <a:latin typeface="Microsoft YaHei"/>
                        </a:rPr>
                        <a:t>；主张同时接受车载与路侧双重输入。</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A</a:t>
                      </a:r>
                      <a:r>
                        <a:rPr sz="819" b="0" i="0">
                          <a:solidFill>
                            <a:srgbClr val="1A1A1A"/>
                          </a:solidFill>
                          <a:latin typeface="Microsoft YaHei"/>
                        </a:rPr>
                        <a:t> 全文</a:t>
                      </a:r>
                    </a:p>
                  </a:txBody>
                  <a:tcPr marL="57150" marR="57150" marT="34290" marB="34290" anchor="t">
                    <a:solidFill>
                      <a:srgbClr val="FAFBFD"/>
                    </a:solidFill>
                  </a:tcPr>
                </a:tc>
              </a:tr>
              <a:tr h="542776">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Char</a:t>
                      </a:r>
                    </a:p>
                    <a:p>
                      <a:pPr algn="l">
                        <a:lnSpc>
                          <a:spcPct val="148000"/>
                        </a:lnSpc>
                        <a:spcBef>
                          <a:spcPts val="0"/>
                        </a:spcBef>
                        <a:spcAft>
                          <a:spcPts val="0"/>
                        </a:spcAft>
                      </a:pPr>
                      <a:r>
                        <a:rPr sz="819" b="1" i="0">
                          <a:solidFill>
                            <a:srgbClr val="1A1A1A"/>
                          </a:solidFill>
                          <a:latin typeface="Microsoft YaHei"/>
                        </a:rPr>
                        <a:t>（2022）</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事故重建</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3700 余例事故重建，遮挡为本库遮挡关键词密度最高的事故学来源。</a:t>
                      </a:r>
                      <a:r>
                        <a:rPr sz="819" b="1" i="0">
                          <a:solidFill>
                            <a:srgbClr val="1A1A1A"/>
                          </a:solidFill>
                          <a:latin typeface="Microsoft YaHei"/>
                        </a:rPr>
                        <a:t>硬下界 tLTTB = 碰撞前 1.5 s</a:t>
                      </a:r>
                      <a:r>
                        <a:rPr sz="819" b="0" i="0">
                          <a:solidFill>
                            <a:srgbClr val="1A1A1A"/>
                          </a:solidFill>
                          <a:latin typeface="Microsoft YaHei"/>
                        </a:rPr>
                        <a:t>；FCW 于 2 s 时制动反应 0.97 ± 0.31 s，于 1.7 s 时</a:t>
                      </a:r>
                      <a:r>
                        <a:rPr sz="819" b="1" i="0">
                          <a:solidFill>
                            <a:srgbClr val="1A1A1A"/>
                          </a:solidFill>
                          <a:latin typeface="Microsoft YaHei"/>
                        </a:rPr>
                        <a:t>反而增至 1.17 ± 0.24 s</a:t>
                      </a:r>
                      <a:r>
                        <a:rPr sz="819" b="0" i="0">
                          <a:solidFill>
                            <a:srgbClr val="1A1A1A"/>
                          </a:solidFill>
                          <a:latin typeface="Microsoft YaHei"/>
                        </a:rPr>
                        <a:t>；</a:t>
                      </a:r>
                      <a:r>
                        <a:rPr sz="819" b="1" i="0">
                          <a:solidFill>
                            <a:srgbClr val="1A1A1A"/>
                          </a:solidFill>
                          <a:latin typeface="Microsoft YaHei"/>
                        </a:rPr>
                        <a:t>传感视场 70° + FCW 2.6 s + 反应 0.6 s 可正面影响 84% 行人事故</a:t>
                      </a:r>
                      <a:r>
                        <a:rPr sz="819" b="0" i="0">
                          <a:solidFill>
                            <a:srgbClr val="1A1A1A"/>
                          </a:solidFill>
                          <a:latin typeface="Microsoft YaHei"/>
                        </a:rPr>
                        <a:t>，视场 &gt; 30° 时 TTC 2 s 检出率 &gt; 90%。反证：180 人模拟器实验中 FCW 几乎无统计效果，</a:t>
                      </a:r>
                      <a:r>
                        <a:rPr sz="819" b="1" i="0">
                          <a:solidFill>
                            <a:srgbClr val="1A1A1A"/>
                          </a:solidFill>
                          <a:latin typeface="Microsoft YaHei"/>
                        </a:rPr>
                        <a:t>40–56% 被试认为 1.7／2 s 太晚</a:t>
                      </a:r>
                      <a:r>
                        <a:rPr sz="819" b="0" i="0">
                          <a:solidFill>
                            <a:srgbClr val="1A1A1A"/>
                          </a:solidFill>
                          <a:latin typeface="Microsoft YaHei"/>
                        </a:rPr>
                        <a:t>。</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A</a:t>
                      </a:r>
                      <a:r>
                        <a:rPr sz="819" b="0" i="0">
                          <a:solidFill>
                            <a:srgbClr val="1A1A1A"/>
                          </a:solidFill>
                          <a:latin typeface="Microsoft YaHei"/>
                        </a:rPr>
                        <a:t> 博士论文</a:t>
                      </a:r>
                    </a:p>
                  </a:txBody>
                  <a:tcPr marL="57150" marR="57150" marT="34290" marB="34290" anchor="t">
                    <a:noFill/>
                  </a:tcPr>
                </a:tc>
              </a:tr>
            </a:tbl>
          </a:graphicData>
        </a:graphic>
      </p:graphicFrame>
      <p:sp>
        <p:nvSpPr>
          <p:cNvPr id="8" name="Rounded Rectangle 7"/>
          <p:cNvSpPr/>
          <p:nvPr/>
        </p:nvSpPr>
        <p:spPr>
          <a:xfrm>
            <a:off x="438150" y="4781401"/>
            <a:ext cx="5572125" cy="1709291"/>
          </a:xfrm>
          <a:prstGeom prst="roundRect">
            <a:avLst>
              <a:gd name="adj" fmla="val 3900"/>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81025" y="5152876"/>
            <a:ext cx="528637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1025" y="4905226"/>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支撑性证据 11 篇</a:t>
            </a:r>
          </a:p>
        </p:txBody>
      </p:sp>
      <p:sp>
        <p:nvSpPr>
          <p:cNvPr id="11" name="TextBox 10"/>
          <p:cNvSpPr txBox="1"/>
          <p:nvPr/>
        </p:nvSpPr>
        <p:spPr>
          <a:xfrm>
            <a:off x="647700" y="5238601"/>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工程可行性。</a:t>
            </a:r>
            <a:r>
              <a:rPr sz="1040" b="0" i="0">
                <a:solidFill>
                  <a:srgbClr val="1A1A1A"/>
                </a:solidFill>
                <a:latin typeface="Microsoft YaHei"/>
              </a:rPr>
              <a:t>边缘计算把 AR 延迟由 125 ms 降至 92 ms，视野共享可扩展物理视野以解决</a:t>
            </a:r>
            <a:r>
              <a:rPr sz="1040" b="1" i="0">
                <a:solidFill>
                  <a:srgbClr val="1A1A1A"/>
                </a:solidFill>
                <a:latin typeface="Microsoft YaHei"/>
              </a:rPr>
              <a:t>停泊车辆盲区</a:t>
            </a:r>
            <a:r>
              <a:rPr sz="1040" b="0" i="0">
                <a:solidFill>
                  <a:srgbClr val="1A1A1A"/>
                </a:solidFill>
                <a:latin typeface="Microsoft YaHei"/>
              </a:rPr>
              <a:t>；车路链路存在通信时延，故延迟列为必测项。</a:t>
            </a:r>
          </a:p>
        </p:txBody>
      </p:sp>
      <p:sp>
        <p:nvSpPr>
          <p:cNvPr id="12" name="TextBox 11"/>
          <p:cNvSpPr txBox="1"/>
          <p:nvPr/>
        </p:nvSpPr>
        <p:spPr>
          <a:xfrm>
            <a:off x="647700" y="5693717"/>
            <a:ext cx="5257800" cy="682674"/>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低行动要求的容错。</a:t>
            </a:r>
            <a:r>
              <a:rPr sz="1040" b="0" i="0">
                <a:solidFill>
                  <a:srgbClr val="1A1A1A"/>
                </a:solidFill>
                <a:latin typeface="Microsoft YaHei"/>
              </a:rPr>
              <a:t>以目标为中心的黄色菱形把老年驾驶员行人检出率由 66.10% 提升至 91.13%，且 15% 误报加 15% 漏报</a:t>
            </a:r>
            <a:r>
              <a:rPr sz="1040" b="1" i="0">
                <a:solidFill>
                  <a:srgbClr val="1A1A1A"/>
                </a:solidFill>
                <a:latin typeface="Microsoft YaHei"/>
              </a:rPr>
              <a:t>对所有因变量无显著效应</a:t>
            </a:r>
            <a:r>
              <a:rPr sz="1040" b="0" i="0">
                <a:solidFill>
                  <a:srgbClr val="1A1A1A"/>
                </a:solidFill>
                <a:latin typeface="Microsoft YaHei"/>
              </a:rPr>
              <a:t>——但其条件是提示提前 11–13 s 且</a:t>
            </a:r>
            <a:r>
              <a:rPr sz="1040" b="1" i="0">
                <a:solidFill>
                  <a:srgbClr val="1A1A1A"/>
                </a:solidFill>
                <a:latin typeface="Microsoft YaHei"/>
              </a:rPr>
              <a:t>不要求立即动作</a:t>
            </a:r>
            <a:r>
              <a:rPr sz="1040" b="0" i="0">
                <a:solidFill>
                  <a:srgbClr val="1A1A1A"/>
                </a:solidFill>
                <a:latin typeface="Microsoft YaHei"/>
              </a:rPr>
              <a:t>。</a:t>
            </a:r>
          </a:p>
        </p:txBody>
      </p:sp>
      <p:sp>
        <p:nvSpPr>
          <p:cNvPr id="13" name="Rounded Rectangle 12"/>
          <p:cNvSpPr/>
          <p:nvPr/>
        </p:nvSpPr>
        <p:spPr>
          <a:xfrm>
            <a:off x="6181725" y="4781401"/>
            <a:ext cx="5572125" cy="1709291"/>
          </a:xfrm>
          <a:prstGeom prst="roundRect">
            <a:avLst>
              <a:gd name="adj" fmla="val 3900"/>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24600" y="5152876"/>
            <a:ext cx="528637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4600" y="4905226"/>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认知性盲区 4 篇：构念不同，须严格区分</a:t>
            </a:r>
          </a:p>
        </p:txBody>
      </p:sp>
      <p:sp>
        <p:nvSpPr>
          <p:cNvPr id="16" name="TextBox 15"/>
          <p:cNvSpPr txBox="1"/>
          <p:nvPr/>
        </p:nvSpPr>
        <p:spPr>
          <a:xfrm>
            <a:off x="6391275" y="5238601"/>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区分依据。</a:t>
            </a:r>
            <a:r>
              <a:rPr sz="1040" b="0" i="0">
                <a:solidFill>
                  <a:srgbClr val="1A1A1A"/>
                </a:solidFill>
                <a:latin typeface="Microsoft YaHei"/>
              </a:rPr>
              <a:t>几何遮挡下</a:t>
            </a:r>
            <a:r>
              <a:rPr sz="1040" b="1" i="0">
                <a:solidFill>
                  <a:srgbClr val="1A1A1A"/>
                </a:solidFill>
                <a:latin typeface="Microsoft YaHei"/>
              </a:rPr>
              <a:t>无信号可采样</a:t>
            </a:r>
            <a:r>
              <a:rPr sz="1040" b="0" i="0">
                <a:solidFill>
                  <a:srgbClr val="1A1A1A"/>
                </a:solidFill>
                <a:latin typeface="Microsoft YaHei"/>
              </a:rPr>
              <a:t>（Scanning 无法启动）；认知性盲区下</a:t>
            </a:r>
            <a:r>
              <a:rPr sz="1040" b="1" i="0">
                <a:solidFill>
                  <a:srgbClr val="1A1A1A"/>
                </a:solidFill>
                <a:latin typeface="Microsoft YaHei"/>
              </a:rPr>
              <a:t>信号已入视网膜而未被注意选中</a:t>
            </a:r>
            <a:r>
              <a:rPr sz="1040" b="0" i="0">
                <a:solidFill>
                  <a:srgbClr val="1A1A1A"/>
                </a:solidFill>
                <a:latin typeface="Microsoft YaHei"/>
              </a:rPr>
              <a:t>（Identification 失败）。故只以前者作情境自变量。</a:t>
            </a:r>
          </a:p>
        </p:txBody>
      </p:sp>
      <p:sp>
        <p:nvSpPr>
          <p:cNvPr id="17" name="TextBox 16"/>
          <p:cNvSpPr txBox="1"/>
          <p:nvPr/>
        </p:nvSpPr>
        <p:spPr>
          <a:xfrm>
            <a:off x="6391275" y="5693717"/>
            <a:ext cx="5257800" cy="682674"/>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但后者进入因变量集。</a:t>
            </a:r>
            <a:r>
              <a:rPr sz="1040" b="0" i="0">
                <a:solidFill>
                  <a:srgbClr val="1A1A1A"/>
                </a:solidFill>
                <a:latin typeface="Microsoft YaHei"/>
              </a:rPr>
              <a:t>边界框使无意视盲由 46 降至 11，</a:t>
            </a:r>
            <a:r>
              <a:rPr sz="1040" b="1" i="0">
                <a:solidFill>
                  <a:srgbClr val="1A1A1A"/>
                </a:solidFill>
                <a:latin typeface="Microsoft YaHei"/>
              </a:rPr>
              <a:t>而系统一旦漏检行人，无意视盲反高于不用 AR-HUD</a:t>
            </a:r>
            <a:r>
              <a:rPr sz="1040" b="0" i="0">
                <a:solidFill>
                  <a:srgbClr val="1A1A1A"/>
                </a:solidFill>
                <a:latin typeface="Microsoft YaHei"/>
              </a:rPr>
              <a:t>；任一注意阶段成功率降 5% 即使碰撞风险翻倍。</a:t>
            </a:r>
            <a:r>
              <a:rPr sz="1040" b="1" i="0">
                <a:solidFill>
                  <a:srgbClr val="1A1A1A"/>
                </a:solidFill>
                <a:latin typeface="Microsoft YaHei"/>
              </a:rPr>
              <a:t>故盲区情境下漏检率升格为第一约束。</a:t>
            </a:r>
          </a:p>
        </p:txBody>
      </p:sp>
      <p:sp>
        <p:nvSpPr>
          <p:cNvPr id="18" name="TextBox 17"/>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证据基础</a:t>
            </a:r>
            <a:r>
              <a:rPr sz="1580" b="1" i="0">
                <a:solidFill>
                  <a:srgbClr val="4472C4"/>
                </a:solidFill>
                <a:latin typeface="Microsoft YaHei"/>
              </a:rPr>
              <a:t>盲区情境可用的数值锚点与一处工程—人因缺口</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3 / 6</a:t>
            </a:r>
          </a:p>
        </p:txBody>
      </p:sp>
      <p:graphicFrame>
        <p:nvGraphicFramePr>
          <p:cNvPr id="6" name="Table 5"/>
          <p:cNvGraphicFramePr>
            <a:graphicFrameLocks noGrp="1"/>
          </p:cNvGraphicFramePr>
          <p:nvPr/>
        </p:nvGraphicFramePr>
        <p:xfrm>
          <a:off x="438150" y="762000"/>
          <a:ext cx="6479082" cy="4754461"/>
        </p:xfrm>
        <a:graphic>
          <a:graphicData uri="http://schemas.openxmlformats.org/drawingml/2006/table">
            <a:tbl>
              <a:tblPr>
                <a:tableStyleId>{5C22544A-7EE6-4342-B048-85BDC9FD1C3A}</a:tableStyleId>
              </a:tblPr>
              <a:tblGrid>
                <a:gridCol w="2721173"/>
                <a:gridCol w="2656284"/>
                <a:gridCol w="1101625"/>
              </a:tblGrid>
              <a:tr h="239910">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参数</a:t>
                      </a:r>
                    </a:p>
                  </a:txBody>
                  <a:tcPr marL="57150" marR="57150" marT="43815" marB="43815"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取值</a:t>
                      </a:r>
                    </a:p>
                  </a:txBody>
                  <a:tcPr marL="57150" marR="57150" marT="43815" marB="43815"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出处</a:t>
                      </a:r>
                    </a:p>
                  </a:txBody>
                  <a:tcPr marL="57150" marR="57150" marT="43815" marB="43815" anchor="t">
                    <a:solidFill>
                      <a:srgbClr val="4472C4"/>
                    </a:solidFill>
                  </a:tcPr>
                </a:tc>
              </a:tr>
              <a:tr h="228153">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遮挡后横穿的紧迫度分级</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TTC 2 / 3 / 4 s（@10 mph 即 9 / 13.5 / 18 m）</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Merenda 等, 2018</a:t>
                      </a:r>
                    </a:p>
                  </a:txBody>
                  <a:tcPr marL="57150" marR="57150" marT="34290" marB="34290" anchor="t">
                    <a:solidFill>
                      <a:srgbClr val="FAFBFD"/>
                    </a:solidFill>
                  </a:tcPr>
                </a:tc>
              </a:tr>
              <a:tr h="38784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隐藏行人的路侧触发距离</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100 m（≈ 6 s @60 km/h）；行人于 60 m 处以 1 m/s 起步</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Zhang 等, 2024</a:t>
                      </a:r>
                    </a:p>
                  </a:txBody>
                  <a:tcPr marL="57150" marR="57150" marT="34290" marB="34290" anchor="t">
                    <a:noFill/>
                  </a:tcPr>
                </a:tc>
              </a:tr>
              <a:tr h="387846">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遮挡预警的收益幅度</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松油门提前 36.29 m；首次制动提前 39.10 m；最大减速度绝对值降 3.45 m/s²；最小冲突距离 +9.41 m</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Zhang 等, 2024</a:t>
                      </a:r>
                    </a:p>
                  </a:txBody>
                  <a:tcPr marL="57150" marR="57150" marT="34290" marB="34290" anchor="t">
                    <a:solidFill>
                      <a:srgbClr val="FAFBFD"/>
                    </a:solidFill>
                  </a:tcPr>
                </a:tc>
              </a:tr>
              <a:tr h="23291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遮挡场景最低时间预算</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1.66 s = 1.5 s 意图预测 + 0.16 s 制动响应</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Kim 等, 2022</a:t>
                      </a:r>
                    </a:p>
                  </a:txBody>
                  <a:tcPr marL="57150" marR="57150" marT="34290" marB="34290" anchor="t">
                    <a:noFill/>
                  </a:tcPr>
                </a:tc>
              </a:tr>
              <a:tr h="38784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意图预测可提供的安全缓冲</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0.5–2.0 s（观测窗 15 帧 ≈ 0.5 s；查准 85.02%／查全 84.13%／F1 84.57%）</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Cangut 等, 2026</a:t>
                      </a:r>
                    </a:p>
                  </a:txBody>
                  <a:tcPr marL="57150" marR="57150" marT="34290" marB="34290" anchor="t">
                    <a:solidFill>
                      <a:srgbClr val="FAFBFD"/>
                    </a:solidFill>
                  </a:tcPr>
                </a:tc>
              </a:tr>
              <a:tr h="23291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交叉口遮挡的预警时序需求</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碰撞点前 6.07 s（视觉）／6.28 s（语音）</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Chang 等, 2009</a:t>
                      </a:r>
                    </a:p>
                  </a:txBody>
                  <a:tcPr marL="57150" marR="57150" marT="34290" marB="34290" anchor="t">
                    <a:noFill/>
                  </a:tcPr>
                </a:tc>
              </a:tr>
              <a:tr h="23291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行人预警硬下界</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tLTTB = 碰撞前 1.5 s</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Char, 2022</a:t>
                      </a:r>
                    </a:p>
                  </a:txBody>
                  <a:tcPr marL="57150" marR="57150" marT="34290" marB="34290" anchor="t">
                    <a:solidFill>
                      <a:srgbClr val="FAFBFD"/>
                    </a:solidFill>
                  </a:tcPr>
                </a:tc>
              </a:tr>
              <a:tr h="23291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传感视场门槛</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70° + FCW 2.6 s + 反应 0.6 s → 正面影响 84% 行人事故</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Char, 2022</a:t>
                      </a:r>
                    </a:p>
                  </a:txBody>
                  <a:tcPr marL="57150" marR="57150" marT="34290" marB="34290" anchor="t">
                    <a:noFill/>
                  </a:tcPr>
                </a:tc>
              </a:tr>
              <a:tr h="232916">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显示视场失效边界</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17° 圆形视场下近距侧方行人共形图形移出视场</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Merenda 等, 2018</a:t>
                      </a:r>
                    </a:p>
                  </a:txBody>
                  <a:tcPr marL="57150" marR="57150" marT="34290" marB="34290" anchor="t">
                    <a:solidFill>
                      <a:srgbClr val="FAFBFD"/>
                    </a:solidFill>
                  </a:tcPr>
                </a:tc>
              </a:tr>
              <a:tr h="38784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低行动要求下的误报容忍</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15% 误报 + 15% 漏报对所有因变量无显著效应（提示提前 11–13 s、警示级语义）</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Schall 等, 2013</a:t>
                      </a:r>
                    </a:p>
                  </a:txBody>
                  <a:tcPr marL="57150" marR="57150" marT="34290" marB="34290" anchor="t">
                    <a:noFill/>
                  </a:tcPr>
                </a:tc>
              </a:tr>
              <a:tr h="40689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高行动要求下的误报代价</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报警晚于自主响应基线 0.72 s → 信任 7.3 降至 4.3，</a:t>
                      </a:r>
                      <a:r>
                        <a:rPr sz="819" b="0" i="1">
                          <a:solidFill>
                            <a:srgbClr val="1A1A1A"/>
                          </a:solidFill>
                          <a:latin typeface="Microsoft YaHei"/>
                        </a:rPr>
                        <a:t>R</a:t>
                      </a:r>
                      <a:r>
                        <a:rPr sz="819" b="0" i="0">
                          <a:solidFill>
                            <a:srgbClr val="1A1A1A"/>
                          </a:solidFill>
                          <a:latin typeface="Microsoft YaHei"/>
                        </a:rPr>
                        <a:t> = −0.46</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Abe 与 Richardson, 2006</a:t>
                      </a:r>
                    </a:p>
                  </a:txBody>
                  <a:tcPr marL="57150" marR="57150" marT="34290" marB="34290" anchor="t">
                    <a:solidFill>
                      <a:srgbClr val="FAFBFD"/>
                    </a:solidFill>
                  </a:tcPr>
                </a:tc>
              </a:tr>
              <a:tr h="387846">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系统漏检的代价</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边界框使无意视盲 46 → 11、反应时快约 112 ms；</a:t>
                      </a:r>
                      <a:r>
                        <a:rPr sz="819" b="1" i="0">
                          <a:solidFill>
                            <a:srgbClr val="1A1A1A"/>
                          </a:solidFill>
                          <a:latin typeface="Microsoft YaHei"/>
                        </a:rPr>
                        <a:t>但系统漏检行人时无意视盲反高于不用 AR</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Wang 等, 2021</a:t>
                      </a:r>
                    </a:p>
                  </a:txBody>
                  <a:tcPr marL="57150" marR="57150" marT="34290" marB="34290" anchor="t">
                    <a:noFill/>
                  </a:tcPr>
                </a:tc>
              </a:tr>
              <a:tr h="38784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图形掩蔽风险</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外周视野下危险叠加于 AR 图形上时漏检率最高且反应时最长</a:t>
                      </a:r>
                    </a:p>
                  </a:txBody>
                  <a:tcPr marL="57150" marR="57150" marT="34290" marB="34290"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Chen 等, 2023</a:t>
                      </a:r>
                    </a:p>
                  </a:txBody>
                  <a:tcPr marL="57150" marR="57150" marT="34290" marB="34290" anchor="t">
                    <a:solidFill>
                      <a:srgbClr val="FAFBFD"/>
                    </a:solidFill>
                  </a:tcPr>
                </a:tc>
              </a:tr>
              <a:tr h="387846">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不透明度</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0.6–0.75 四源收敛；0.75 无意视盲最低而 0.5 反应时最短（安全最优与体验最优分离）</a:t>
                      </a:r>
                    </a:p>
                  </a:txBody>
                  <a:tcPr marL="57150" marR="57150" marT="34290" marB="34290"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Hou 等, 2025 等四源</a:t>
                      </a:r>
                    </a:p>
                  </a:txBody>
                  <a:tcPr marL="57150" marR="57150" marT="34290" marB="34290" anchor="t">
                    <a:noFill/>
                  </a:tcPr>
                </a:tc>
              </a:tr>
            </a:tbl>
          </a:graphicData>
        </a:graphic>
      </p:graphicFrame>
      <p:sp>
        <p:nvSpPr>
          <p:cNvPr id="7" name="Rounded Rectangle 6"/>
          <p:cNvSpPr/>
          <p:nvPr/>
        </p:nvSpPr>
        <p:spPr>
          <a:xfrm>
            <a:off x="7088683" y="762000"/>
            <a:ext cx="4665166" cy="1661666"/>
          </a:xfrm>
          <a:prstGeom prst="roundRect">
            <a:avLst>
              <a:gd name="adj" fmla="val 4012"/>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222033" y="1095375"/>
            <a:ext cx="4398466"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2033" y="857250"/>
            <a:ext cx="4436566"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一处必须显式承认的缺口</a:t>
            </a:r>
          </a:p>
        </p:txBody>
      </p:sp>
      <p:sp>
        <p:nvSpPr>
          <p:cNvPr id="10" name="TextBox 9"/>
          <p:cNvSpPr txBox="1"/>
          <p:nvPr/>
        </p:nvSpPr>
        <p:spPr>
          <a:xfrm>
            <a:off x="7222033" y="1162050"/>
            <a:ext cx="4436566"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b="0" i="0">
                <a:solidFill>
                  <a:srgbClr val="1A1A1A"/>
                </a:solidFill>
                <a:latin typeface="Microsoft YaHei"/>
              </a:rPr>
              <a:t>车载意图预测可提供的安全缓冲仅 </a:t>
            </a:r>
            <a:r>
              <a:rPr sz="1040" b="1" i="0">
                <a:solidFill>
                  <a:srgbClr val="1A1A1A"/>
                </a:solidFill>
                <a:latin typeface="Microsoft YaHei"/>
              </a:rPr>
              <a:t>0.5–2.0 s</a:t>
            </a:r>
            <a:r>
              <a:rPr sz="1040" b="0" i="0">
                <a:solidFill>
                  <a:srgbClr val="1A1A1A"/>
                </a:solidFill>
                <a:latin typeface="Microsoft YaHei"/>
              </a:rPr>
              <a:t>，而由制动动力学反推的遮挡场景需求为 </a:t>
            </a:r>
            <a:r>
              <a:rPr sz="1040" b="1" i="0">
                <a:solidFill>
                  <a:srgbClr val="1A1A1A"/>
                </a:solidFill>
                <a:latin typeface="Microsoft YaHei"/>
              </a:rPr>
              <a:t>6.07–6.28 s</a:t>
            </a:r>
            <a:r>
              <a:rPr sz="1040" b="0" i="0">
                <a:solidFill>
                  <a:srgbClr val="1A1A1A"/>
                </a:solidFill>
                <a:latin typeface="Microsoft YaHei"/>
              </a:rPr>
              <a:t>——</a:t>
            </a:r>
            <a:r>
              <a:rPr sz="1040" b="1" i="0">
                <a:solidFill>
                  <a:srgbClr val="1A1A1A"/>
                </a:solidFill>
                <a:latin typeface="Microsoft YaHei"/>
              </a:rPr>
              <a:t>相差三倍以上</a:t>
            </a:r>
            <a:r>
              <a:rPr sz="1040" b="0" i="0">
                <a:solidFill>
                  <a:srgbClr val="1A1A1A"/>
                </a:solidFill>
                <a:latin typeface="Microsoft YaHei"/>
              </a:rPr>
              <a:t>。</a:t>
            </a:r>
          </a:p>
        </p:txBody>
      </p:sp>
      <p:sp>
        <p:nvSpPr>
          <p:cNvPr id="11" name="TextBox 10"/>
          <p:cNvSpPr txBox="1"/>
          <p:nvPr/>
        </p:nvSpPr>
        <p:spPr>
          <a:xfrm>
            <a:off x="7222033" y="1664791"/>
            <a:ext cx="4436566" cy="692199"/>
          </a:xfrm>
          <a:prstGeom prst="rect">
            <a:avLst/>
          </a:prstGeom>
          <a:noFill/>
        </p:spPr>
        <p:txBody>
          <a:bodyPr wrap="square" lIns="0" rIns="0" tIns="0" bIns="0" anchor="t">
            <a:normAutofit/>
          </a:bodyPr>
          <a:lstStyle/>
          <a:p>
            <a:pPr algn="l">
              <a:lnSpc>
                <a:spcPct val="166000"/>
              </a:lnSpc>
              <a:spcBef>
                <a:spcPts val="0"/>
              </a:spcBef>
              <a:spcAft>
                <a:spcPts val="0"/>
              </a:spcAft>
            </a:pPr>
            <a:r>
              <a:rPr sz="1040" b="1" i="0">
                <a:solidFill>
                  <a:srgbClr val="1A1A1A"/>
                </a:solidFill>
                <a:latin typeface="Microsoft YaHei"/>
              </a:rPr>
              <a:t>后果：</a:t>
            </a:r>
            <a:r>
              <a:rPr sz="1040" b="0" i="0">
                <a:solidFill>
                  <a:srgbClr val="1A1A1A"/>
                </a:solidFill>
                <a:latin typeface="Microsoft YaHei"/>
              </a:rPr>
              <a:t>仅依赖车载感知时，盲区预警在物理上无法达到人因所需提前量。本研究的 </a:t>
            </a:r>
            <a:r>
              <a:rPr sz="1040" b="0" i="1">
                <a:solidFill>
                  <a:srgbClr val="1A1A1A"/>
                </a:solidFill>
                <a:latin typeface="Microsoft YaHei"/>
              </a:rPr>
              <a:t>t</a:t>
            </a:r>
            <a:r>
              <a:rPr sz="720" b="0" i="1" baseline="-25000">
                <a:solidFill>
                  <a:srgbClr val="1A1A1A"/>
                </a:solidFill>
                <a:latin typeface="Microsoft YaHei"/>
              </a:rPr>
              <a:t>detect</a:t>
            </a:r>
            <a:r>
              <a:rPr sz="1040" b="0" i="0">
                <a:solidFill>
                  <a:srgbClr val="1A1A1A"/>
                </a:solidFill>
                <a:latin typeface="Microsoft YaHei"/>
              </a:rPr>
              <a:t> 设定因而依赖路侧／V2X 输入，此为结论的</a:t>
            </a:r>
            <a:r>
              <a:rPr sz="1040" b="1" i="0">
                <a:solidFill>
                  <a:srgbClr val="1A1A1A"/>
                </a:solidFill>
                <a:latin typeface="Microsoft YaHei"/>
              </a:rPr>
              <a:t>外部效度边界</a:t>
            </a:r>
            <a:r>
              <a:rPr sz="1040" b="0" i="0">
                <a:solidFill>
                  <a:srgbClr val="1A1A1A"/>
                </a:solidFill>
                <a:latin typeface="Microsoft YaHei"/>
              </a:rPr>
              <a:t>，须在论文中声明。</a:t>
            </a:r>
          </a:p>
        </p:txBody>
      </p:sp>
      <p:sp>
        <p:nvSpPr>
          <p:cNvPr id="12" name="Rounded Rectangle 11"/>
          <p:cNvSpPr/>
          <p:nvPr/>
        </p:nvSpPr>
        <p:spPr>
          <a:xfrm>
            <a:off x="7088683" y="2480816"/>
            <a:ext cx="4665166" cy="1661666"/>
          </a:xfrm>
          <a:prstGeom prst="roundRect">
            <a:avLst>
              <a:gd name="adj" fmla="val 4012"/>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222033" y="2814191"/>
            <a:ext cx="4398466"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2033" y="2576066"/>
            <a:ext cx="4436566"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9A6E00"/>
                </a:solidFill>
                <a:latin typeface="Microsoft YaHei"/>
              </a:rPr>
              <a:t>补检结果的处理</a:t>
            </a:r>
          </a:p>
        </p:txBody>
      </p:sp>
      <p:sp>
        <p:nvSpPr>
          <p:cNvPr id="15" name="TextBox 14"/>
          <p:cNvSpPr txBox="1"/>
          <p:nvPr/>
        </p:nvSpPr>
        <p:spPr>
          <a:xfrm>
            <a:off x="7222033" y="2880866"/>
            <a:ext cx="4436566" cy="692199"/>
          </a:xfrm>
          <a:prstGeom prst="rect">
            <a:avLst/>
          </a:prstGeom>
          <a:noFill/>
        </p:spPr>
        <p:txBody>
          <a:bodyPr wrap="square" lIns="0" rIns="0" tIns="0" bIns="0" anchor="t">
            <a:normAutofit/>
          </a:bodyPr>
          <a:lstStyle/>
          <a:p>
            <a:pPr algn="l">
              <a:lnSpc>
                <a:spcPct val="166000"/>
              </a:lnSpc>
              <a:spcBef>
                <a:spcPts val="0"/>
              </a:spcBef>
              <a:spcAft>
                <a:spcPts val="0"/>
              </a:spcAft>
            </a:pPr>
            <a:r>
              <a:rPr sz="1040" b="0" i="0">
                <a:solidFill>
                  <a:srgbClr val="1A1A1A"/>
                </a:solidFill>
                <a:latin typeface="Microsoft YaHei"/>
              </a:rPr>
              <a:t>本轮补检新增 </a:t>
            </a:r>
            <a:r>
              <a:rPr sz="1040" b="1" i="0">
                <a:solidFill>
                  <a:srgbClr val="1A1A1A"/>
                </a:solidFill>
                <a:latin typeface="Microsoft YaHei"/>
              </a:rPr>
              <a:t>12 条题录</a:t>
            </a:r>
            <a:r>
              <a:rPr sz="1040" b="0" i="0">
                <a:solidFill>
                  <a:srgbClr val="1A1A1A"/>
                </a:solidFill>
                <a:latin typeface="Microsoft YaHei"/>
              </a:rPr>
              <a:t>，含盲区 AR 可视化奠基文献（穿透式墙体显示，2012）、遮挡情境下参照系比较的唯一直接先例（</a:t>
            </a:r>
            <a:r>
              <a:rPr sz="1040" b="0" i="1">
                <a:solidFill>
                  <a:srgbClr val="1A1A1A"/>
                </a:solidFill>
                <a:latin typeface="Microsoft YaHei"/>
              </a:rPr>
              <a:t>N</a:t>
            </a:r>
            <a:r>
              <a:rPr sz="1040" b="0" i="0">
                <a:solidFill>
                  <a:srgbClr val="1A1A1A"/>
                </a:solidFill>
                <a:latin typeface="Microsoft YaHei"/>
              </a:rPr>
              <a:t> = 28）、遮挡比例与检出率退化曲线、遮挡在行人事故中的占比（13%–17%）。</a:t>
            </a:r>
          </a:p>
        </p:txBody>
      </p:sp>
      <p:sp>
        <p:nvSpPr>
          <p:cNvPr id="16" name="TextBox 15"/>
          <p:cNvSpPr txBox="1"/>
          <p:nvPr/>
        </p:nvSpPr>
        <p:spPr>
          <a:xfrm>
            <a:off x="7222033" y="3611165"/>
            <a:ext cx="4436566"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b="1" i="0">
                <a:solidFill>
                  <a:srgbClr val="C00000"/>
                </a:solidFill>
                <a:latin typeface="Microsoft YaHei"/>
              </a:rPr>
              <a:t>全部为题录级，一律不得作为数值依据。</a:t>
            </a:r>
            <a:r>
              <a:rPr sz="1040" b="0" i="0">
                <a:solidFill>
                  <a:srgbClr val="1A1A1A"/>
                </a:solidFill>
                <a:latin typeface="Microsoft YaHei"/>
              </a:rPr>
              <a:t>其中参照系比较一篇的佩戴者是</a:t>
            </a:r>
            <a:r>
              <a:rPr sz="1040" b="1" i="0">
                <a:solidFill>
                  <a:srgbClr val="1A1A1A"/>
                </a:solidFill>
                <a:latin typeface="Microsoft YaHei"/>
              </a:rPr>
              <a:t>行人而非驾驶员</a:t>
            </a:r>
            <a:r>
              <a:rPr sz="1040" b="0" i="0">
                <a:solidFill>
                  <a:srgbClr val="1A1A1A"/>
                </a:solidFill>
                <a:latin typeface="Microsoft YaHei"/>
              </a:rPr>
              <a:t>，范围限定须显式声明。</a:t>
            </a:r>
          </a:p>
        </p:txBody>
      </p:sp>
      <p:sp>
        <p:nvSpPr>
          <p:cNvPr id="17" name="Rounded Rectangle 16"/>
          <p:cNvSpPr/>
          <p:nvPr/>
        </p:nvSpPr>
        <p:spPr>
          <a:xfrm>
            <a:off x="7088683" y="4199632"/>
            <a:ext cx="4665166" cy="2097732"/>
          </a:xfrm>
          <a:prstGeom prst="roundRect">
            <a:avLst>
              <a:gd name="adj" fmla="val 3178"/>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22033" y="4533007"/>
            <a:ext cx="4398466"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2033" y="4294882"/>
            <a:ext cx="4436566"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引用禁则</a:t>
            </a:r>
          </a:p>
        </p:txBody>
      </p:sp>
      <p:sp>
        <p:nvSpPr>
          <p:cNvPr id="20" name="TextBox 19"/>
          <p:cNvSpPr txBox="1"/>
          <p:nvPr/>
        </p:nvSpPr>
        <p:spPr>
          <a:xfrm>
            <a:off x="7288708" y="4599682"/>
            <a:ext cx="4369891"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「不可见危险」一篇</a:t>
            </a:r>
            <a:r>
              <a:rPr sz="1040" b="1" i="0">
                <a:solidFill>
                  <a:srgbClr val="1A1A1A"/>
                </a:solidFill>
                <a:latin typeface="Microsoft YaHei"/>
              </a:rPr>
              <a:t>仅摘要级、零数值</a:t>
            </a:r>
            <a:r>
              <a:rPr sz="1040" b="0" i="0">
                <a:solidFill>
                  <a:srgbClr val="1A1A1A"/>
                </a:solidFill>
                <a:latin typeface="Microsoft YaHei"/>
              </a:rPr>
              <a:t>，其信任结论</a:t>
            </a:r>
            <a:r>
              <a:rPr sz="1040" b="1" i="0">
                <a:solidFill>
                  <a:srgbClr val="1A1A1A"/>
                </a:solidFill>
                <a:latin typeface="Microsoft YaHei"/>
              </a:rPr>
              <a:t>不可外推至含误报系统</a:t>
            </a:r>
            <a:r>
              <a:rPr sz="1040" b="0" i="0">
                <a:solidFill>
                  <a:srgbClr val="1A1A1A"/>
                </a:solidFill>
                <a:latin typeface="Microsoft YaHei"/>
              </a:rPr>
              <a:t>。</a:t>
            </a:r>
          </a:p>
        </p:txBody>
      </p:sp>
      <p:sp>
        <p:nvSpPr>
          <p:cNvPr id="21" name="TextBox 20"/>
          <p:cNvSpPr txBox="1"/>
          <p:nvPr/>
        </p:nvSpPr>
        <p:spPr>
          <a:xfrm>
            <a:off x="7288708" y="5054798"/>
            <a:ext cx="4369891"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「目标锁定优于道路锁定」</a:t>
            </a:r>
            <a:r>
              <a:rPr sz="1040" b="1" i="0">
                <a:solidFill>
                  <a:srgbClr val="1A1A1A"/>
                </a:solidFill>
                <a:latin typeface="Microsoft YaHei"/>
              </a:rPr>
              <a:t>不得用于盲区情境</a:t>
            </a:r>
            <a:r>
              <a:rPr sz="1040" b="0" i="0">
                <a:solidFill>
                  <a:srgbClr val="1A1A1A"/>
                </a:solidFill>
                <a:latin typeface="Microsoft YaHei"/>
              </a:rPr>
              <a:t>，须声明其前提为目标可见。</a:t>
            </a:r>
          </a:p>
        </p:txBody>
      </p:sp>
      <p:sp>
        <p:nvSpPr>
          <p:cNvPr id="22" name="TextBox 21"/>
          <p:cNvSpPr txBox="1"/>
          <p:nvPr/>
        </p:nvSpPr>
        <p:spPr>
          <a:xfrm>
            <a:off x="7288708" y="5509914"/>
            <a:ext cx="4369891"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15%／15% 零效应</a:t>
            </a:r>
            <a:r>
              <a:rPr sz="1040" b="1" i="0">
                <a:solidFill>
                  <a:srgbClr val="1A1A1A"/>
                </a:solidFill>
                <a:latin typeface="Microsoft YaHei"/>
              </a:rPr>
              <a:t>不得外推至高行动要求预警</a:t>
            </a:r>
            <a:r>
              <a:rPr sz="1040" b="0" i="0">
                <a:solidFill>
                  <a:srgbClr val="1A1A1A"/>
                </a:solidFill>
                <a:latin typeface="Microsoft YaHei"/>
              </a:rPr>
              <a:t>；事故占比一条为新闻稿层级。</a:t>
            </a:r>
          </a:p>
        </p:txBody>
      </p:sp>
      <p:sp>
        <p:nvSpPr>
          <p:cNvPr id="23" name="TextBox 22"/>
          <p:cNvSpPr txBox="1"/>
          <p:nvPr/>
        </p:nvSpPr>
        <p:spPr>
          <a:xfrm>
            <a:off x="7288708" y="5965031"/>
            <a:ext cx="4369891"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两处秒数的零点为</a:t>
            </a:r>
            <a:r>
              <a:rPr sz="1040" b="1" i="0">
                <a:solidFill>
                  <a:srgbClr val="1A1A1A"/>
                </a:solidFill>
                <a:latin typeface="Microsoft YaHei"/>
              </a:rPr>
              <a:t>空间距离</a:t>
            </a:r>
            <a:r>
              <a:rPr sz="1040" b="0" i="0">
                <a:solidFill>
                  <a:srgbClr val="1A1A1A"/>
                </a:solidFill>
                <a:latin typeface="Microsoft YaHei"/>
              </a:rPr>
              <a:t>与</a:t>
            </a:r>
            <a:r>
              <a:rPr sz="1040" b="1" i="0">
                <a:solidFill>
                  <a:srgbClr val="1A1A1A"/>
                </a:solidFill>
                <a:latin typeface="Microsoft YaHei"/>
              </a:rPr>
              <a:t>碰撞点</a:t>
            </a:r>
            <a:r>
              <a:rPr sz="1040" b="0" i="0">
                <a:solidFill>
                  <a:srgbClr val="1A1A1A"/>
                </a:solidFill>
                <a:latin typeface="Microsoft YaHei"/>
              </a:rPr>
              <a:t>，跨引须换算至显露时刻零点。</a:t>
            </a:r>
          </a:p>
        </p:txBody>
      </p:sp>
      <p:sp>
        <p:nvSpPr>
          <p:cNvPr id="24" name="TextBox 23"/>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研究一</a:t>
            </a:r>
            <a:r>
              <a:rPr sz="1580" b="1" i="0">
                <a:solidFill>
                  <a:srgbClr val="4472C4"/>
                </a:solidFill>
                <a:latin typeface="Microsoft YaHei"/>
              </a:rPr>
              <a:t>非盲区情境：时间参数与空间参照系</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4 / 6</a:t>
            </a:r>
          </a:p>
        </p:txBody>
      </p:sp>
      <p:sp>
        <p:nvSpPr>
          <p:cNvPr id="6" name="Rounded Rectangle 5"/>
          <p:cNvSpPr/>
          <p:nvPr/>
        </p:nvSpPr>
        <p:spPr>
          <a:xfrm>
            <a:off x="438150" y="762000"/>
            <a:ext cx="5572125" cy="4992885"/>
          </a:xfrm>
          <a:prstGeom prst="roundRect">
            <a:avLst>
              <a:gd name="adj" fmla="val 1335"/>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1025" y="1133475"/>
            <a:ext cx="528637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85825"/>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实验 2 单层预警的时间参数</a:t>
            </a:r>
          </a:p>
        </p:txBody>
      </p:sp>
      <p:sp>
        <p:nvSpPr>
          <p:cNvPr id="9" name="TextBox 8"/>
          <p:cNvSpPr txBox="1"/>
          <p:nvPr/>
        </p:nvSpPr>
        <p:spPr>
          <a:xfrm>
            <a:off x="581025" y="1219200"/>
            <a:ext cx="5324475"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b="1" i="0">
                <a:solidFill>
                  <a:srgbClr val="1A1A1A"/>
                </a:solidFill>
                <a:latin typeface="Microsoft YaHei"/>
              </a:rPr>
              <a:t>设计：</a:t>
            </a:r>
            <a:r>
              <a:rPr sz="1040" b="0" i="0">
                <a:solidFill>
                  <a:srgbClr val="1A1A1A"/>
                </a:solidFill>
                <a:latin typeface="Microsoft YaHei"/>
              </a:rPr>
              <a:t>触发准则（固定时间阈值／BTN）× 相对提前量 </a:t>
            </a:r>
            <a:r>
              <a:rPr sz="1040" b="0" i="1">
                <a:solidFill>
                  <a:srgbClr val="1A1A1A"/>
                </a:solidFill>
                <a:latin typeface="Microsoft YaHei"/>
              </a:rPr>
              <a:t>Δt</a:t>
            </a:r>
            <a:r>
              <a:rPr sz="1040" b="0" i="0">
                <a:solidFill>
                  <a:srgbClr val="1A1A1A"/>
                </a:solidFill>
                <a:latin typeface="Microsoft YaHei"/>
              </a:rPr>
              <a:t>（0／+1.0／+2.5 s）= 2 × 3 被试内；区块 B 另比较持续与撤销三水平（固定 1.5 s／状态维持／风险耦合衰减）。</a:t>
            </a:r>
          </a:p>
        </p:txBody>
      </p:sp>
      <p:sp>
        <p:nvSpPr>
          <p:cNvPr id="10" name="TextBox 9"/>
          <p:cNvSpPr txBox="1"/>
          <p:nvPr/>
        </p:nvSpPr>
        <p:spPr>
          <a:xfrm>
            <a:off x="647700" y="1731466"/>
            <a:ext cx="5257800" cy="692199"/>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水平依据。</a:t>
            </a:r>
            <a:r>
              <a:rPr sz="1040" b="0" i="1">
                <a:solidFill>
                  <a:srgbClr val="1A1A1A"/>
                </a:solidFill>
                <a:latin typeface="Microsoft YaHei"/>
              </a:rPr>
              <a:t>Δt</a:t>
            </a:r>
            <a:r>
              <a:rPr sz="1040" b="0" i="0">
                <a:solidFill>
                  <a:srgbClr val="1A1A1A"/>
                </a:solidFill>
                <a:latin typeface="Microsoft YaHei"/>
              </a:rPr>
              <a:t> = 0 为「与自发察觉同时」的对照；+1.0 s 对应 Scanning 与 Identification 的工程估计，有产业级联的 1.0 s 级间与 1.0 s 档距双源支持；+2.5 s 用于检验收益递减与代价递增。</a:t>
            </a:r>
          </a:p>
        </p:txBody>
      </p:sp>
      <p:sp>
        <p:nvSpPr>
          <p:cNvPr id="11" name="TextBox 10"/>
          <p:cNvSpPr txBox="1"/>
          <p:nvPr/>
        </p:nvSpPr>
        <p:spPr>
          <a:xfrm>
            <a:off x="647700" y="2414141"/>
            <a:ext cx="5257800" cy="682674"/>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准则对照的必要性。</a:t>
            </a:r>
            <a:r>
              <a:rPr sz="1040" b="0" i="0">
                <a:solidFill>
                  <a:srgbClr val="1A1A1A"/>
                </a:solidFill>
                <a:latin typeface="Microsoft YaHei"/>
              </a:rPr>
              <a:t>同一 TTC 2 s 在 40 km/h 下所需减速度 2.78 m/s²（BTN 0.35，温和制动），在 80 km/h 下 5.56 m/s²（BTN 0.69，接近全力制动）——</a:t>
            </a:r>
            <a:r>
              <a:rPr sz="1040" b="1" i="0">
                <a:solidFill>
                  <a:srgbClr val="1A1A1A"/>
                </a:solidFill>
                <a:latin typeface="Microsoft YaHei"/>
              </a:rPr>
              <a:t>固定秒数在物理上不可跨车速迁移，而人因侧从未做过准则类型的对照</a:t>
            </a:r>
            <a:r>
              <a:rPr sz="1040" b="0" i="0">
                <a:solidFill>
                  <a:srgbClr val="1A1A1A"/>
                </a:solidFill>
                <a:latin typeface="Microsoft YaHei"/>
              </a:rPr>
              <a:t>。</a:t>
            </a:r>
          </a:p>
        </p:txBody>
      </p:sp>
      <p:sp>
        <p:nvSpPr>
          <p:cNvPr id="12" name="TextBox 11"/>
          <p:cNvSpPr txBox="1"/>
          <p:nvPr/>
        </p:nvSpPr>
        <p:spPr>
          <a:xfrm>
            <a:off x="647700" y="3087290"/>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撤销侧</a:t>
            </a:r>
            <a:r>
              <a:rPr sz="1040" b="0" i="0">
                <a:solidFill>
                  <a:srgbClr val="1A1A1A"/>
                </a:solidFill>
                <a:latin typeface="Microsoft YaHei"/>
              </a:rPr>
              <a:t>沿用 2 : 1 滞环（进入 4.0、解除 2.0 m/s²），原文目的即避免极短促的报警；此为本库唯一以运动学量定义级间关系的先例。</a:t>
            </a:r>
          </a:p>
        </p:txBody>
      </p:sp>
      <p:sp>
        <p:nvSpPr>
          <p:cNvPr id="13" name="TextBox 12"/>
          <p:cNvSpPr txBox="1"/>
          <p:nvPr/>
        </p:nvSpPr>
        <p:spPr>
          <a:xfrm>
            <a:off x="647700" y="3542407"/>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主要终点：</a:t>
            </a:r>
            <a:r>
              <a:rPr sz="1040" b="0" i="0">
                <a:solidFill>
                  <a:srgbClr val="1A1A1A"/>
                </a:solidFill>
                <a:latin typeface="Microsoft YaHei"/>
              </a:rPr>
              <a:t>最小 TTMD（安全非劣）；次要为峰值减速度、抖动率、首次注视时间、漏检率。</a:t>
            </a:r>
          </a:p>
        </p:txBody>
      </p:sp>
      <p:sp>
        <p:nvSpPr>
          <p:cNvPr id="14" name="Rounded Rectangle 13"/>
          <p:cNvSpPr/>
          <p:nvPr/>
        </p:nvSpPr>
        <p:spPr>
          <a:xfrm>
            <a:off x="6181725" y="762000"/>
            <a:ext cx="5572125" cy="4992885"/>
          </a:xfrm>
          <a:prstGeom prst="roundRect">
            <a:avLst>
              <a:gd name="adj" fmla="val 1335"/>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324600" y="1133475"/>
            <a:ext cx="528637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885825"/>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实验 3 空间参照系与锁定策略</a:t>
            </a:r>
          </a:p>
        </p:txBody>
      </p:sp>
      <p:sp>
        <p:nvSpPr>
          <p:cNvPr id="17" name="TextBox 16"/>
          <p:cNvSpPr txBox="1"/>
          <p:nvPr/>
        </p:nvSpPr>
        <p:spPr>
          <a:xfrm>
            <a:off x="6324600" y="1219200"/>
            <a:ext cx="5324475" cy="682674"/>
          </a:xfrm>
          <a:prstGeom prst="rect">
            <a:avLst/>
          </a:prstGeom>
          <a:noFill/>
        </p:spPr>
        <p:txBody>
          <a:bodyPr wrap="square" lIns="0" rIns="0" tIns="0" bIns="0" anchor="t">
            <a:normAutofit/>
          </a:bodyPr>
          <a:lstStyle/>
          <a:p>
            <a:pPr algn="l">
              <a:lnSpc>
                <a:spcPct val="166000"/>
              </a:lnSpc>
              <a:spcBef>
                <a:spcPts val="0"/>
              </a:spcBef>
              <a:spcAft>
                <a:spcPts val="0"/>
              </a:spcAft>
            </a:pPr>
            <a:r>
              <a:rPr sz="1040" b="1" i="0">
                <a:solidFill>
                  <a:srgbClr val="1A1A1A"/>
                </a:solidFill>
                <a:latin typeface="Microsoft YaHei"/>
              </a:rPr>
              <a:t>主设计：</a:t>
            </a:r>
            <a:r>
              <a:rPr sz="1040" b="0" i="0">
                <a:solidFill>
                  <a:srgbClr val="1A1A1A"/>
                </a:solidFill>
                <a:latin typeface="Microsoft YaHei"/>
              </a:rPr>
              <a:t>锁定策略 5 水平（Baseline／BD／BR／BW／BW+BR）× 背景视觉复杂度 2 水平被试内；时间参数固定为实验 2 入选组合。</a:t>
            </a:r>
            <a:r>
              <a:rPr sz="1040" b="1" i="0">
                <a:solidFill>
                  <a:srgbClr val="1A1A1A"/>
                </a:solidFill>
                <a:latin typeface="Microsoft YaHei"/>
              </a:rPr>
              <a:t>另设次任务负荷区块</a:t>
            </a:r>
            <a:r>
              <a:rPr sz="1040" b="0" i="0">
                <a:solidFill>
                  <a:srgbClr val="1A1A1A"/>
                </a:solidFill>
                <a:latin typeface="Microsoft YaHei"/>
              </a:rPr>
              <a:t>：BD／BW × 次任务负荷 2 水平（纯音乐／意图诱导型听觉问答），背景固定为高拥挤，检验共形增益是否依赖负荷。</a:t>
            </a:r>
          </a:p>
        </p:txBody>
      </p:sp>
      <p:sp>
        <p:nvSpPr>
          <p:cNvPr id="18" name="TextBox 17"/>
          <p:cNvSpPr txBox="1"/>
          <p:nvPr/>
        </p:nvSpPr>
        <p:spPr>
          <a:xfrm>
            <a:off x="6391275" y="1939974"/>
            <a:ext cx="5257800"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最强证据。</a:t>
            </a:r>
            <a:r>
              <a:rPr sz="1040" b="0" i="0">
                <a:solidFill>
                  <a:srgbClr val="1A1A1A"/>
                </a:solidFill>
                <a:latin typeface="Microsoft YaHei"/>
              </a:rPr>
              <a:t>三方对照（</a:t>
            </a:r>
            <a:r>
              <a:rPr sz="1040" b="0" i="1">
                <a:solidFill>
                  <a:srgbClr val="1A1A1A"/>
                </a:solidFill>
                <a:latin typeface="Microsoft YaHei"/>
              </a:rPr>
              <a:t>N</a:t>
            </a:r>
            <a:r>
              <a:rPr sz="1040" b="0" i="0">
                <a:solidFill>
                  <a:srgbClr val="1A1A1A"/>
                </a:solidFill>
                <a:latin typeface="Microsoft YaHei"/>
              </a:rPr>
              <a:t> = 36）：BW 首次注视 </a:t>
            </a:r>
            <a:r>
              <a:rPr sz="1040" b="1" i="0">
                <a:solidFill>
                  <a:srgbClr val="1A1A1A"/>
                </a:solidFill>
                <a:latin typeface="Microsoft YaHei"/>
              </a:rPr>
              <a:t>617 ms</a:t>
            </a:r>
            <a:r>
              <a:rPr sz="1040" b="0" i="0">
                <a:solidFill>
                  <a:srgbClr val="1A1A1A"/>
                </a:solidFill>
                <a:latin typeface="Microsoft YaHei"/>
              </a:rPr>
              <a:t>、BD </a:t>
            </a:r>
            <a:r>
              <a:rPr sz="1040" b="1" i="0">
                <a:solidFill>
                  <a:srgbClr val="1A1A1A"/>
                </a:solidFill>
                <a:latin typeface="Microsoft YaHei"/>
              </a:rPr>
              <a:t>2563 ms</a:t>
            </a:r>
            <a:r>
              <a:rPr sz="1040" b="0" i="0">
                <a:solidFill>
                  <a:srgbClr val="1A1A1A"/>
                </a:solidFill>
                <a:latin typeface="Microsoft YaHei"/>
              </a:rPr>
              <a:t>、BR </a:t>
            </a:r>
            <a:r>
              <a:rPr sz="1040" b="1" i="0">
                <a:solidFill>
                  <a:srgbClr val="1A1A1A"/>
                </a:solidFill>
                <a:latin typeface="Microsoft YaHei"/>
              </a:rPr>
              <a:t>2730 ms</a:t>
            </a:r>
            <a:r>
              <a:rPr sz="1040" b="0" i="0">
                <a:solidFill>
                  <a:srgbClr val="1A1A1A"/>
                </a:solidFill>
                <a:latin typeface="Microsoft YaHei"/>
              </a:rPr>
              <a:t>，差异接近四倍。</a:t>
            </a:r>
          </a:p>
        </p:txBody>
      </p:sp>
      <p:sp>
        <p:nvSpPr>
          <p:cNvPr id="19" name="TextBox 18"/>
          <p:cNvSpPr txBox="1"/>
          <p:nvPr/>
        </p:nvSpPr>
        <p:spPr>
          <a:xfrm>
            <a:off x="6391275" y="2404616"/>
            <a:ext cx="5257800" cy="682674"/>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但基线设定须修正。</a:t>
            </a:r>
            <a:r>
              <a:rPr sz="1040" b="0" i="0">
                <a:solidFill>
                  <a:srgbClr val="1A1A1A"/>
                </a:solidFill>
                <a:latin typeface="Microsoft YaHei"/>
              </a:rPr>
              <a:t>碰撞预警平视显示本身即屏幕固定式前视野显示，却已取得制动反应时快约 200 ms、漏报 1 次对 17 次的优势。</a:t>
            </a:r>
            <a:r>
              <a:rPr sz="1040" b="1" i="0">
                <a:solidFill>
                  <a:srgbClr val="1A1A1A"/>
                </a:solidFill>
                <a:latin typeface="Microsoft YaHei"/>
              </a:rPr>
              <a:t>故 AR 的收益必须拆成位置增益与共形增益两项</a:t>
            </a:r>
            <a:r>
              <a:rPr sz="1040" b="0" i="0">
                <a:solidFill>
                  <a:srgbClr val="1A1A1A"/>
                </a:solidFill>
                <a:latin typeface="Microsoft YaHei"/>
              </a:rPr>
              <a:t>，混在一起会系统性高估共形性。</a:t>
            </a:r>
          </a:p>
        </p:txBody>
      </p:sp>
      <p:sp>
        <p:nvSpPr>
          <p:cNvPr id="20" name="TextBox 19"/>
          <p:cNvSpPr txBox="1"/>
          <p:nvPr/>
        </p:nvSpPr>
        <p:spPr>
          <a:xfrm>
            <a:off x="6391275" y="3077765"/>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方法学后果。</a:t>
            </a:r>
            <a:r>
              <a:rPr sz="1040" b="0" i="0">
                <a:solidFill>
                  <a:srgbClr val="1A1A1A"/>
                </a:solidFill>
                <a:latin typeface="Microsoft YaHei"/>
              </a:rPr>
              <a:t>BD 条件已含平视位置的大部分收益，故 BW／BR 相对 BD 的增量必然更小，</a:t>
            </a:r>
            <a:r>
              <a:rPr sz="1040" b="1" i="0">
                <a:solidFill>
                  <a:srgbClr val="1A1A1A"/>
                </a:solidFill>
                <a:latin typeface="Microsoft YaHei"/>
              </a:rPr>
              <a:t>样本量估计须按更小的效应量做</a:t>
            </a:r>
            <a:r>
              <a:rPr sz="1040" b="0" i="0">
                <a:solidFill>
                  <a:srgbClr val="1A1A1A"/>
                </a:solidFill>
                <a:latin typeface="Microsoft YaHei"/>
              </a:rPr>
              <a:t>。</a:t>
            </a:r>
          </a:p>
        </p:txBody>
      </p:sp>
      <p:sp>
        <p:nvSpPr>
          <p:cNvPr id="21" name="TextBox 20"/>
          <p:cNvSpPr txBox="1"/>
          <p:nvPr/>
        </p:nvSpPr>
        <p:spPr>
          <a:xfrm>
            <a:off x="6391275" y="3532882"/>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并列主要终点：</a:t>
            </a:r>
            <a:r>
              <a:rPr sz="1040" b="0" i="0">
                <a:solidFill>
                  <a:srgbClr val="1A1A1A"/>
                </a:solidFill>
                <a:latin typeface="Microsoft YaHei"/>
              </a:rPr>
              <a:t>漏检率、以及注视时长是否越过 2000 ms 分心上界——贴地共形箭头曾把图形注视时长推到 3.33 s。</a:t>
            </a:r>
          </a:p>
        </p:txBody>
      </p:sp>
      <p:sp>
        <p:nvSpPr>
          <p:cNvPr id="22" name="Rectangle 21"/>
          <p:cNvSpPr/>
          <p:nvPr/>
        </p:nvSpPr>
        <p:spPr>
          <a:xfrm>
            <a:off x="438150" y="5859660"/>
            <a:ext cx="11315700" cy="598289"/>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8150" y="5859660"/>
            <a:ext cx="38100" cy="598289"/>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975" y="5945385"/>
            <a:ext cx="11106150" cy="455414"/>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硬约束：</a:t>
            </a:r>
            <a:r>
              <a:rPr sz="990" b="0" i="0">
                <a:solidFill>
                  <a:srgbClr val="6B5200"/>
                </a:solidFill>
                <a:latin typeface="Microsoft YaHei"/>
              </a:rPr>
              <a:t>实验 1 与实验 2 </a:t>
            </a:r>
            <a:r>
              <a:rPr sz="990" b="1" i="0">
                <a:solidFill>
                  <a:srgbClr val="8A6A00"/>
                </a:solidFill>
                <a:latin typeface="Microsoft YaHei"/>
              </a:rPr>
              <a:t>必须共用同一场景族与同一套零点标定单元</a:t>
            </a:r>
            <a:r>
              <a:rPr sz="990" b="0" i="0">
                <a:solidFill>
                  <a:srgbClr val="6B5200"/>
                </a:solidFill>
                <a:latin typeface="Microsoft YaHei"/>
              </a:rPr>
              <a:t>，且</a:t>
            </a:r>
            <a:r>
              <a:rPr sz="990" b="1" i="0">
                <a:solidFill>
                  <a:srgbClr val="8A6A00"/>
                </a:solidFill>
                <a:latin typeface="Microsoft YaHei"/>
              </a:rPr>
              <a:t>复用同一批被试</a:t>
            </a:r>
            <a:r>
              <a:rPr sz="990" b="0" i="0">
                <a:solidFill>
                  <a:srgbClr val="6B5200"/>
                </a:solidFill>
                <a:latin typeface="Microsoft YaHei"/>
              </a:rPr>
              <a:t>——自变量 </a:t>
            </a:r>
            <a:r>
              <a:rPr sz="990" b="0" i="1">
                <a:solidFill>
                  <a:srgbClr val="6B5200"/>
                </a:solidFill>
                <a:latin typeface="Microsoft YaHei"/>
              </a:rPr>
              <a:t>Δt</a:t>
            </a:r>
            <a:r>
              <a:rPr sz="990" b="0" i="0">
                <a:solidFill>
                  <a:srgbClr val="6B5200"/>
                </a:solidFill>
                <a:latin typeface="Microsoft YaHei"/>
              </a:rPr>
              <a:t> 需要被试自身的 </a:t>
            </a:r>
            <a:r>
              <a:rPr sz="990" b="0" i="1">
                <a:solidFill>
                  <a:srgbClr val="6B5200"/>
                </a:solidFill>
                <a:latin typeface="Microsoft YaHei"/>
              </a:rPr>
              <a:t>t</a:t>
            </a:r>
            <a:r>
              <a:rPr sz="690" b="0" i="1" baseline="-25000">
                <a:solidFill>
                  <a:srgbClr val="6B5200"/>
                </a:solidFill>
                <a:latin typeface="Microsoft YaHei"/>
              </a:rPr>
              <a:t>0</a:t>
            </a:r>
            <a:r>
              <a:rPr sz="990" b="0" i="0">
                <a:solidFill>
                  <a:srgbClr val="6B5200"/>
                </a:solidFill>
                <a:latin typeface="Microsoft YaHei"/>
              </a:rPr>
              <a:t>。实验 1 按「情境（非盲区／盲区）× 车速（40／60 km/h）」</a:t>
            </a:r>
            <a:r>
              <a:rPr sz="990" b="1" i="0">
                <a:solidFill>
                  <a:srgbClr val="8A6A00"/>
                </a:solidFill>
                <a:latin typeface="Microsoft YaHei"/>
              </a:rPr>
              <a:t>四个单元分别标定</a:t>
            </a:r>
            <a:r>
              <a:rPr sz="990" b="0" i="0">
                <a:solidFill>
                  <a:srgbClr val="6B5200"/>
                </a:solidFill>
                <a:latin typeface="Microsoft YaHei"/>
              </a:rPr>
              <a:t>：零点随车速与遮挡系统变化，遮挡直接改变光学膨胀率越过知觉阈值的时刻。实验 3 已固定全部时间参数，可另设场景操纵，不受此约束。</a:t>
            </a:r>
          </a:p>
        </p:txBody>
      </p:sp>
      <p:sp>
        <p:nvSpPr>
          <p:cNvPr id="25" name="TextBox 24"/>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研究二</a:t>
            </a:r>
            <a:r>
              <a:rPr sz="1580" b="1" i="0">
                <a:solidFill>
                  <a:srgbClr val="4472C4"/>
                </a:solidFill>
                <a:latin typeface="Microsoft YaHei"/>
              </a:rPr>
              <a:t>盲区情境：时间参数、预告区段与系统可靠性</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4 / 6</a:t>
            </a:r>
          </a:p>
        </p:txBody>
      </p:sp>
      <p:sp>
        <p:nvSpPr>
          <p:cNvPr id="6" name="Rectangle 5"/>
          <p:cNvSpPr/>
          <p:nvPr/>
        </p:nvSpPr>
        <p:spPr>
          <a:xfrm>
            <a:off x="438150" y="762000"/>
            <a:ext cx="11315700" cy="70365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70365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2268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实验 4 设计：相对提前量 </a:t>
            </a:r>
            <a:r>
              <a:rPr sz="1090" b="0" i="1">
                <a:solidFill>
                  <a:srgbClr val="2F528F"/>
                </a:solidFill>
                <a:latin typeface="Microsoft YaHei"/>
              </a:rPr>
              <a:t>Δt′</a:t>
            </a:r>
            <a:r>
              <a:rPr sz="1090" b="0" i="1">
                <a:solidFill>
                  <a:srgbClr val="2F528F"/>
                </a:solidFill>
                <a:latin typeface="Microsoft YaHei"/>
              </a:rPr>
              <a:t> = </a:t>
            </a:r>
            <a:r>
              <a:rPr sz="1090" b="0" i="1">
                <a:solidFill>
                  <a:srgbClr val="2F528F"/>
                </a:solidFill>
                <a:latin typeface="Microsoft YaHei"/>
              </a:rPr>
              <a:t>t</a:t>
            </a:r>
            <a:r>
              <a:rPr sz="760" b="0" i="1" baseline="-25000">
                <a:solidFill>
                  <a:srgbClr val="2F528F"/>
                </a:solidFill>
                <a:latin typeface="Microsoft YaHei"/>
              </a:rPr>
              <a:t>reveal</a:t>
            </a:r>
            <a:r>
              <a:rPr sz="1090" b="0" i="1">
                <a:solidFill>
                  <a:srgbClr val="2F528F"/>
                </a:solidFill>
                <a:latin typeface="Microsoft YaHei"/>
              </a:rPr>
              <a:t> − </a:t>
            </a:r>
            <a:r>
              <a:rPr sz="1090" b="0" i="1">
                <a:solidFill>
                  <a:srgbClr val="2F528F"/>
                </a:solidFill>
                <a:latin typeface="Microsoft YaHei"/>
              </a:rPr>
              <a:t>t</a:t>
            </a:r>
            <a:r>
              <a:rPr sz="760" b="0" i="1" baseline="-25000">
                <a:solidFill>
                  <a:srgbClr val="2F528F"/>
                </a:solidFill>
                <a:latin typeface="Microsoft YaHei"/>
              </a:rPr>
              <a:t>warn</a:t>
            </a:r>
            <a:r>
              <a:rPr sz="1090" b="0" i="0">
                <a:solidFill>
                  <a:srgbClr val="2F528F"/>
                </a:solidFill>
                <a:latin typeface="Microsoft YaHei"/>
              </a:rPr>
              <a:t>（</a:t>
            </a:r>
            <a:r>
              <a:rPr sz="1090" b="1" i="0">
                <a:solidFill>
                  <a:srgbClr val="2F528F"/>
                </a:solidFill>
                <a:latin typeface="Microsoft YaHei"/>
              </a:rPr>
              <a:t>−0.5／0／+1.0／+2.5 s</a:t>
            </a:r>
            <a:r>
              <a:rPr sz="1090" b="0" i="0">
                <a:solidFill>
                  <a:srgbClr val="2F528F"/>
                </a:solidFill>
                <a:latin typeface="Microsoft YaHei"/>
              </a:rPr>
              <a:t>）× 系统可靠性（</a:t>
            </a:r>
            <a:r>
              <a:rPr sz="1090" b="1" i="0">
                <a:solidFill>
                  <a:srgbClr val="2F528F"/>
                </a:solidFill>
                <a:latin typeface="Microsoft YaHei"/>
              </a:rPr>
              <a:t>100%／80%</a:t>
            </a:r>
            <a:r>
              <a:rPr sz="1090" b="0" i="0">
                <a:solidFill>
                  <a:srgbClr val="2F528F"/>
                </a:solidFill>
                <a:latin typeface="Microsoft YaHei"/>
              </a:rPr>
              <a:t>）= 4 × 2 被试内，另加无预警基线对照；区块 B 比较分层语义分化与单层。所有水平须满足 </a:t>
            </a:r>
            <a:r>
              <a:rPr sz="1090" b="0" i="1">
                <a:solidFill>
                  <a:srgbClr val="2F528F"/>
                </a:solidFill>
                <a:latin typeface="Microsoft YaHei"/>
              </a:rPr>
              <a:t>t</a:t>
            </a:r>
            <a:r>
              <a:rPr sz="760" b="0" i="1" baseline="-25000">
                <a:solidFill>
                  <a:srgbClr val="2F528F"/>
                </a:solidFill>
                <a:latin typeface="Microsoft YaHei"/>
              </a:rPr>
              <a:t>warn</a:t>
            </a:r>
            <a:r>
              <a:rPr sz="1090" b="0" i="1">
                <a:solidFill>
                  <a:srgbClr val="2F528F"/>
                </a:solidFill>
                <a:latin typeface="Microsoft YaHei"/>
              </a:rPr>
              <a:t> ≥ t</a:t>
            </a:r>
            <a:r>
              <a:rPr sz="760" b="0" i="1" baseline="-25000">
                <a:solidFill>
                  <a:srgbClr val="2F528F"/>
                </a:solidFill>
                <a:latin typeface="Microsoft YaHei"/>
              </a:rPr>
              <a:t>detect</a:t>
            </a:r>
            <a:r>
              <a:rPr sz="1090" b="0" i="0">
                <a:solidFill>
                  <a:srgbClr val="2F528F"/>
                </a:solidFill>
                <a:latin typeface="Microsoft YaHei"/>
              </a:rPr>
              <a:t>。</a:t>
            </a:r>
          </a:p>
        </p:txBody>
      </p:sp>
      <p:sp>
        <p:nvSpPr>
          <p:cNvPr id="9" name="Rounded Rectangle 8"/>
          <p:cNvSpPr/>
          <p:nvPr/>
        </p:nvSpPr>
        <p:spPr>
          <a:xfrm>
            <a:off x="438150" y="1570434"/>
            <a:ext cx="4665017" cy="3966269"/>
          </a:xfrm>
          <a:prstGeom prst="roundRect">
            <a:avLst>
              <a:gd name="adj" fmla="val 1681"/>
            </a:avLst>
          </a:prstGeom>
          <a:solidFill>
            <a:srgbClr val="FAF7FD"/>
          </a:solidFill>
          <a:ln w="9525">
            <a:solidFill>
              <a:srgbClr val="7B5E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81025" y="1941909"/>
            <a:ext cx="4379267" cy="9525"/>
          </a:xfrm>
          <a:prstGeom prst="rect">
            <a:avLst/>
          </a:prstGeom>
          <a:solidFill>
            <a:srgbClr val="E4D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1025" y="1694259"/>
            <a:ext cx="4417367"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7B5EA7"/>
                </a:solidFill>
                <a:latin typeface="Microsoft YaHei"/>
              </a:rPr>
              <a:t>四个水平的分工</a:t>
            </a:r>
          </a:p>
        </p:txBody>
      </p:sp>
      <p:sp>
        <p:nvSpPr>
          <p:cNvPr id="12" name="TextBox 11"/>
          <p:cNvSpPr txBox="1"/>
          <p:nvPr/>
        </p:nvSpPr>
        <p:spPr>
          <a:xfrm>
            <a:off x="647700" y="2027634"/>
            <a:ext cx="4350692"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C00000"/>
                </a:solidFill>
                <a:latin typeface="Microsoft YaHei"/>
              </a:rPr>
              <a:t>−0.5 s</a:t>
            </a:r>
            <a:r>
              <a:rPr sz="1040" b="0" i="0">
                <a:solidFill>
                  <a:srgbClr val="1A1A1A"/>
                </a:solidFill>
                <a:latin typeface="Microsoft YaHei"/>
              </a:rPr>
              <a:t>：预警发于行人已显露之后，即</a:t>
            </a:r>
            <a:r>
              <a:rPr sz="1040" b="1" i="0">
                <a:solidFill>
                  <a:srgbClr val="1A1A1A"/>
                </a:solidFill>
                <a:latin typeface="Microsoft YaHei"/>
              </a:rPr>
              <a:t>完全放弃预告区段</a:t>
            </a:r>
            <a:r>
              <a:rPr sz="1040" b="0" i="0">
                <a:solidFill>
                  <a:srgbClr val="1A1A1A"/>
                </a:solidFill>
                <a:latin typeface="Microsoft YaHei"/>
              </a:rPr>
              <a:t>。此为研究一无对应物的关键对照，直接检验 P1′。</a:t>
            </a:r>
          </a:p>
        </p:txBody>
      </p:sp>
      <p:sp>
        <p:nvSpPr>
          <p:cNvPr id="13" name="TextBox 12"/>
          <p:cNvSpPr txBox="1"/>
          <p:nvPr/>
        </p:nvSpPr>
        <p:spPr>
          <a:xfrm>
            <a:off x="647700" y="2482750"/>
            <a:ext cx="4350692"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0</a:t>
            </a:r>
            <a:r>
              <a:rPr sz="1040" b="0" i="0">
                <a:solidFill>
                  <a:srgbClr val="1A1A1A"/>
                </a:solidFill>
                <a:latin typeface="Microsoft YaHei"/>
              </a:rPr>
              <a:t>：预警与显露同时，仅省去扫视搜索成本，不提供预测窗口。</a:t>
            </a:r>
          </a:p>
        </p:txBody>
      </p:sp>
      <p:sp>
        <p:nvSpPr>
          <p:cNvPr id="14" name="TextBox 13"/>
          <p:cNvSpPr txBox="1"/>
          <p:nvPr/>
        </p:nvSpPr>
        <p:spPr>
          <a:xfrm>
            <a:off x="647700" y="2719833"/>
            <a:ext cx="4350692"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+1.0／+2.5 s</a:t>
            </a:r>
            <a:r>
              <a:rPr sz="1040" b="0" i="0">
                <a:solidFill>
                  <a:srgbClr val="1A1A1A"/>
                </a:solidFill>
                <a:latin typeface="Microsoft YaHei"/>
              </a:rPr>
              <a:t>：与研究一的 </a:t>
            </a:r>
            <a:r>
              <a:rPr sz="1040" b="0" i="1">
                <a:solidFill>
                  <a:srgbClr val="1A1A1A"/>
                </a:solidFill>
                <a:latin typeface="Microsoft YaHei"/>
              </a:rPr>
              <a:t>Δt</a:t>
            </a:r>
            <a:r>
              <a:rPr sz="1040" b="0" i="0">
                <a:solidFill>
                  <a:srgbClr val="1A1A1A"/>
                </a:solidFill>
                <a:latin typeface="Microsoft YaHei"/>
              </a:rPr>
              <a:t> 取值对齐，使跨情境比较在同一刻度上进行（P2′）。</a:t>
            </a:r>
          </a:p>
        </p:txBody>
      </p:sp>
      <p:sp>
        <p:nvSpPr>
          <p:cNvPr id="15" name="Rounded Rectangle 14"/>
          <p:cNvSpPr/>
          <p:nvPr/>
        </p:nvSpPr>
        <p:spPr>
          <a:xfrm>
            <a:off x="5274617" y="1570434"/>
            <a:ext cx="6479232" cy="3966269"/>
          </a:xfrm>
          <a:prstGeom prst="roundRect">
            <a:avLst>
              <a:gd name="adj" fmla="val 1681"/>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17492" y="1941909"/>
            <a:ext cx="619348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17492" y="1694259"/>
            <a:ext cx="6231582"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为何把可靠性操纵置于研究二而非研究一</a:t>
            </a:r>
          </a:p>
        </p:txBody>
      </p:sp>
      <p:sp>
        <p:nvSpPr>
          <p:cNvPr id="18" name="TextBox 17"/>
          <p:cNvSpPr txBox="1"/>
          <p:nvPr/>
        </p:nvSpPr>
        <p:spPr>
          <a:xfrm>
            <a:off x="5484167" y="2027634"/>
            <a:ext cx="6164907"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理论意义最大处。</a:t>
            </a:r>
            <a:r>
              <a:rPr sz="1040" b="0" i="0">
                <a:solidFill>
                  <a:srgbClr val="1A1A1A"/>
                </a:solidFill>
                <a:latin typeface="Microsoft YaHei"/>
              </a:rPr>
              <a:t>虚警代价的机制在盲区情境下才发生质变——</a:t>
            </a:r>
            <a:r>
              <a:rPr sz="1040" b="1" i="0">
                <a:solidFill>
                  <a:srgbClr val="1A1A1A"/>
                </a:solidFill>
                <a:latin typeface="Microsoft YaHei"/>
              </a:rPr>
              <a:t>不可核验</a:t>
            </a:r>
            <a:r>
              <a:rPr sz="1040" b="0" i="0">
                <a:solidFill>
                  <a:srgbClr val="1A1A1A"/>
                </a:solidFill>
                <a:latin typeface="Microsoft YaHei"/>
              </a:rPr>
              <a:t>。在非盲区情境操纵可靠性，只能复现 15%／15% 的零效应或另一项的强效应，而无法解释两者为何冲突。</a:t>
            </a:r>
          </a:p>
        </p:txBody>
      </p:sp>
      <p:sp>
        <p:nvSpPr>
          <p:cNvPr id="19" name="TextBox 18"/>
          <p:cNvSpPr txBox="1"/>
          <p:nvPr/>
        </p:nvSpPr>
        <p:spPr>
          <a:xfrm>
            <a:off x="5484167" y="2482750"/>
            <a:ext cx="6164907" cy="682674"/>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可否证预测最强处。</a:t>
            </a:r>
            <a:r>
              <a:rPr sz="1040" b="1" i="0">
                <a:solidFill>
                  <a:srgbClr val="1A1A1A"/>
                </a:solidFill>
                <a:latin typeface="Microsoft YaHei"/>
              </a:rPr>
              <a:t>P4′</a:t>
            </a:r>
            <a:r>
              <a:rPr sz="1040" b="0" i="0">
                <a:solidFill>
                  <a:srgbClr val="1A1A1A"/>
                </a:solidFill>
                <a:latin typeface="Microsoft YaHei"/>
              </a:rPr>
              <a:t>：同一虚警率下，盲区预警的信任损伤与依从率下降显著</a:t>
            </a:r>
            <a:r>
              <a:rPr sz="1040" b="1" i="0">
                <a:solidFill>
                  <a:srgbClr val="1A1A1A"/>
                </a:solidFill>
                <a:latin typeface="Microsoft YaHei"/>
              </a:rPr>
              <a:t>大于</a:t>
            </a:r>
            <a:r>
              <a:rPr sz="1040" b="0" i="0">
                <a:solidFill>
                  <a:srgbClr val="1A1A1A"/>
                </a:solidFill>
                <a:latin typeface="Microsoft YaHei"/>
              </a:rPr>
              <a:t>非盲区预警。非盲区情境中一次虚警可被归因为「系统略早」而保留信任；盲区情境中虚警</a:t>
            </a:r>
            <a:r>
              <a:rPr sz="1040" b="1" i="0">
                <a:solidFill>
                  <a:srgbClr val="1A1A1A"/>
                </a:solidFill>
                <a:latin typeface="Microsoft YaHei"/>
              </a:rPr>
              <a:t>无法被归因</a:t>
            </a:r>
            <a:r>
              <a:rPr sz="1040" b="0" i="0">
                <a:solidFill>
                  <a:srgbClr val="1A1A1A"/>
                </a:solidFill>
                <a:latin typeface="Microsoft YaHei"/>
              </a:rPr>
              <a:t>，只能计入系统错误。</a:t>
            </a:r>
          </a:p>
        </p:txBody>
      </p:sp>
      <p:sp>
        <p:nvSpPr>
          <p:cNvPr id="20" name="TextBox 19"/>
          <p:cNvSpPr txBox="1"/>
          <p:nvPr/>
        </p:nvSpPr>
        <p:spPr>
          <a:xfrm>
            <a:off x="5484167" y="3155900"/>
            <a:ext cx="6164907" cy="474166"/>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上界性质一致。</a:t>
            </a:r>
            <a:r>
              <a:rPr sz="1040" b="0" i="0">
                <a:solidFill>
                  <a:srgbClr val="1A1A1A"/>
                </a:solidFill>
                <a:latin typeface="Microsoft YaHei"/>
              </a:rPr>
              <a:t>盲区的时间上界本即探测可靠性，故把可靠性与 </a:t>
            </a:r>
            <a:r>
              <a:rPr sz="1040" b="0" i="1">
                <a:solidFill>
                  <a:srgbClr val="1A1A1A"/>
                </a:solidFill>
                <a:latin typeface="Microsoft YaHei"/>
              </a:rPr>
              <a:t>Δt′</a:t>
            </a:r>
            <a:r>
              <a:rPr sz="1040" b="0" i="0">
                <a:solidFill>
                  <a:srgbClr val="1A1A1A"/>
                </a:solidFill>
                <a:latin typeface="Microsoft YaHei"/>
              </a:rPr>
              <a:t> 置于同一实验，使自变量与上界约束在同一物理量上闭合。</a:t>
            </a:r>
          </a:p>
        </p:txBody>
      </p:sp>
      <p:sp>
        <p:nvSpPr>
          <p:cNvPr id="21" name="TextBox 20"/>
          <p:cNvSpPr txBox="1"/>
          <p:nvPr/>
        </p:nvSpPr>
        <p:spPr>
          <a:xfrm>
            <a:off x="5484167" y="3620541"/>
            <a:ext cx="6164907" cy="682674"/>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80% 的依据。</a:t>
            </a:r>
            <a:r>
              <a:rPr sz="1040" b="0" i="0">
                <a:solidFill>
                  <a:srgbClr val="1A1A1A"/>
                </a:solidFill>
                <a:latin typeface="Microsoft YaHei"/>
              </a:rPr>
              <a:t>15% 已证零效应故不提供信息；已有研究的最低操纵档为 20%；工程可达骚扰水平约 13.74%。故 20% 略高于当前最佳水平，属</a:t>
            </a:r>
            <a:r>
              <a:rPr sz="1040" b="1" i="0">
                <a:solidFill>
                  <a:srgbClr val="1A1A1A"/>
                </a:solidFill>
                <a:latin typeface="Microsoft YaHei"/>
              </a:rPr>
              <a:t>保守压力测试</a:t>
            </a:r>
            <a:r>
              <a:rPr sz="1040" b="0" i="0">
                <a:solidFill>
                  <a:srgbClr val="1A1A1A"/>
                </a:solidFill>
                <a:latin typeface="Microsoft YaHei"/>
              </a:rPr>
              <a:t>，用于检验稳健性而非模拟典型系统。虚警</a:t>
            </a:r>
            <a:r>
              <a:rPr sz="1040" b="1" i="0">
                <a:solidFill>
                  <a:srgbClr val="1A1A1A"/>
                </a:solidFill>
                <a:latin typeface="Microsoft YaHei"/>
              </a:rPr>
              <a:t>只施加在预告级</a:t>
            </a:r>
            <a:r>
              <a:rPr sz="1040" b="0" i="0">
                <a:solidFill>
                  <a:srgbClr val="1A1A1A"/>
                </a:solidFill>
                <a:latin typeface="Microsoft YaHei"/>
              </a:rPr>
              <a:t>。</a:t>
            </a:r>
          </a:p>
        </p:txBody>
      </p:sp>
      <p:sp>
        <p:nvSpPr>
          <p:cNvPr id="22" name="Rectangle 21"/>
          <p:cNvSpPr/>
          <p:nvPr/>
        </p:nvSpPr>
        <p:spPr>
          <a:xfrm>
            <a:off x="438150" y="5641478"/>
            <a:ext cx="11315700" cy="81647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8150" y="5641478"/>
            <a:ext cx="38100" cy="81647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975" y="5727203"/>
            <a:ext cx="11106150" cy="67359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区块 B 分层语义分化（盲区情境独有）。</a:t>
            </a:r>
            <a:r>
              <a:rPr sz="990" b="0" i="0">
                <a:solidFill>
                  <a:srgbClr val="1F5A1F"/>
                </a:solidFill>
                <a:latin typeface="Microsoft YaHei"/>
              </a:rPr>
              <a:t>非盲区的两级指向同一可见目标，仅强度不同；盲区的两级承担</a:t>
            </a:r>
            <a:r>
              <a:rPr sz="990" b="1" i="0">
                <a:solidFill>
                  <a:srgbClr val="1F5A1F"/>
                </a:solidFill>
                <a:latin typeface="Microsoft YaHei"/>
              </a:rPr>
              <a:t>本质不同的信息</a:t>
            </a:r>
            <a:r>
              <a:rPr sz="990" b="0" i="0">
                <a:solidFill>
                  <a:srgbClr val="1F5A1F"/>
                </a:solidFill>
                <a:latin typeface="Microsoft YaHei"/>
              </a:rPr>
              <a:t>——</a:t>
            </a:r>
            <a:r>
              <a:rPr sz="990" b="1" i="0">
                <a:solidFill>
                  <a:srgbClr val="1F5A1F"/>
                </a:solidFill>
                <a:latin typeface="Microsoft YaHei"/>
              </a:rPr>
              <a:t>预告级</a:t>
            </a:r>
            <a:r>
              <a:rPr sz="990" b="0" i="0">
                <a:solidFill>
                  <a:srgbClr val="1F5A1F"/>
                </a:solidFill>
                <a:latin typeface="Microsoft YaHei"/>
              </a:rPr>
              <a:t>（锚于 </a:t>
            </a:r>
            <a:r>
              <a:rPr sz="990" b="0" i="1">
                <a:solidFill>
                  <a:srgbClr val="1F5A1F"/>
                </a:solidFill>
                <a:latin typeface="Microsoft YaHei"/>
              </a:rPr>
              <a:t>t</a:t>
            </a:r>
            <a:r>
              <a:rPr sz="690" b="0" i="1" baseline="-25000">
                <a:solidFill>
                  <a:srgbClr val="1F5A1F"/>
                </a:solidFill>
                <a:latin typeface="Microsoft YaHei"/>
              </a:rPr>
              <a:t>detect</a:t>
            </a:r>
            <a:r>
              <a:rPr sz="990" b="0" i="0">
                <a:solidFill>
                  <a:srgbClr val="1F5A1F"/>
                </a:solidFill>
                <a:latin typeface="Microsoft YaHei"/>
              </a:rPr>
              <a:t>）语义为「遮挡体后方存在一个你看不见的行人」，可支持 Predicting 与预置 Deciding；</a:t>
            </a:r>
            <a:r>
              <a:rPr sz="990" b="1" i="0">
                <a:solidFill>
                  <a:srgbClr val="1F5A1F"/>
                </a:solidFill>
                <a:latin typeface="Microsoft YaHei"/>
              </a:rPr>
              <a:t>确认级</a:t>
            </a:r>
            <a:r>
              <a:rPr sz="990" b="0" i="0">
                <a:solidFill>
                  <a:srgbClr val="1F5A1F"/>
                </a:solidFill>
                <a:latin typeface="Microsoft YaHei"/>
              </a:rPr>
              <a:t>（锚于 </a:t>
            </a:r>
            <a:r>
              <a:rPr sz="990" b="0" i="1">
                <a:solidFill>
                  <a:srgbClr val="1F5A1F"/>
                </a:solidFill>
                <a:latin typeface="Microsoft YaHei"/>
              </a:rPr>
              <a:t>t</a:t>
            </a:r>
            <a:r>
              <a:rPr sz="690" b="0" i="1" baseline="-25000">
                <a:solidFill>
                  <a:srgbClr val="1F5A1F"/>
                </a:solidFill>
                <a:latin typeface="Microsoft YaHei"/>
              </a:rPr>
              <a:t>reveal</a:t>
            </a:r>
            <a:r>
              <a:rPr sz="990" b="0" i="0">
                <a:solidFill>
                  <a:srgbClr val="1F5A1F"/>
                </a:solidFill>
                <a:latin typeface="Microsoft YaHei"/>
              </a:rPr>
              <a:t>）语义为「它现在出现了，在这里」，支持 S、I、D、E。故</a:t>
            </a:r>
            <a:r>
              <a:rPr sz="990" b="1" i="0">
                <a:solidFill>
                  <a:srgbClr val="1F5A1F"/>
                </a:solidFill>
                <a:latin typeface="Microsoft YaHei"/>
              </a:rPr>
              <a:t>级间间隔不是自由参数</a:t>
            </a:r>
            <a:r>
              <a:rPr sz="990" b="0" i="0">
                <a:solidFill>
                  <a:srgbClr val="1F5A1F"/>
                </a:solidFill>
                <a:latin typeface="Microsoft YaHei"/>
              </a:rPr>
              <a:t>，而等于 </a:t>
            </a:r>
            <a:r>
              <a:rPr sz="990" b="0" i="1">
                <a:solidFill>
                  <a:srgbClr val="1F5A1F"/>
                </a:solidFill>
                <a:latin typeface="Microsoft YaHei"/>
              </a:rPr>
              <a:t>t</a:t>
            </a:r>
            <a:r>
              <a:rPr sz="690" b="0" i="1" baseline="-25000">
                <a:solidFill>
                  <a:srgbClr val="1F5A1F"/>
                </a:solidFill>
                <a:latin typeface="Microsoft YaHei"/>
              </a:rPr>
              <a:t>reveal</a:t>
            </a:r>
            <a:r>
              <a:rPr sz="990" b="0" i="1">
                <a:solidFill>
                  <a:srgbClr val="1F5A1F"/>
                </a:solidFill>
                <a:latin typeface="Microsoft YaHei"/>
              </a:rPr>
              <a:t> − </a:t>
            </a:r>
            <a:r>
              <a:rPr sz="990" b="0" i="1">
                <a:solidFill>
                  <a:srgbClr val="1F5A1F"/>
                </a:solidFill>
                <a:latin typeface="Microsoft YaHei"/>
              </a:rPr>
              <a:t>t</a:t>
            </a:r>
            <a:r>
              <a:rPr sz="690" b="0" i="1" baseline="-25000">
                <a:solidFill>
                  <a:srgbClr val="1F5A1F"/>
                </a:solidFill>
                <a:latin typeface="Microsoft YaHei"/>
              </a:rPr>
              <a:t>detect</a:t>
            </a:r>
            <a:r>
              <a:rPr sz="990" b="0" i="0">
                <a:solidFill>
                  <a:srgbClr val="1F5A1F"/>
                </a:solidFill>
                <a:latin typeface="Microsoft YaHei"/>
              </a:rPr>
              <a:t>。另设</a:t>
            </a:r>
            <a:r>
              <a:rPr sz="990" b="1" i="0">
                <a:solidFill>
                  <a:srgbClr val="1F5A1F"/>
                </a:solidFill>
                <a:latin typeface="Microsoft YaHei"/>
              </a:rPr>
              <a:t>状态条件化升级仲裁</a:t>
            </a:r>
            <a:r>
              <a:rPr sz="990" b="0" i="0">
                <a:solidFill>
                  <a:srgbClr val="1F5A1F"/>
                </a:solidFill>
                <a:latin typeface="Microsoft YaHei"/>
              </a:rPr>
              <a:t>：确认级前若已检测到有效减速（阈值 −0.075 g）则取消升级——依据是有研究报告 </a:t>
            </a:r>
            <a:r>
              <a:rPr sz="990" b="1" i="0">
                <a:solidFill>
                  <a:srgbClr val="1F5A1F"/>
                </a:solidFill>
                <a:latin typeface="Microsoft YaHei"/>
              </a:rPr>
              <a:t>50% 被试在预警呈现前已开始制动</a:t>
            </a:r>
            <a:r>
              <a:rPr sz="990" b="0" i="0">
                <a:solidFill>
                  <a:srgbClr val="1F5A1F"/>
                </a:solidFill>
                <a:latin typeface="Microsoft YaHei"/>
              </a:rPr>
              <a:t>；记录取消升级率、错误升级率与错误取消率。</a:t>
            </a:r>
          </a:p>
        </p:txBody>
      </p:sp>
      <p:sp>
        <p:nvSpPr>
          <p:cNvPr id="25" name="TextBox 24"/>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研究二</a:t>
            </a:r>
            <a:r>
              <a:rPr sz="1580" b="1" i="0">
                <a:solidFill>
                  <a:srgbClr val="4472C4"/>
                </a:solidFill>
                <a:latin typeface="Microsoft YaHei"/>
              </a:rPr>
              <a:t>盲区情境：目标锁定不可实现时的四类锚定策略</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4 / 6</a:t>
            </a:r>
          </a:p>
        </p:txBody>
      </p:sp>
      <p:sp>
        <p:nvSpPr>
          <p:cNvPr id="6" name="TextBox 5"/>
          <p:cNvSpPr txBox="1"/>
          <p:nvPr/>
        </p:nvSpPr>
        <p:spPr>
          <a:xfrm>
            <a:off x="438150" y="762000"/>
            <a:ext cx="11353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b="0" i="0">
                <a:solidFill>
                  <a:srgbClr val="1A1A1A"/>
                </a:solidFill>
                <a:latin typeface="Microsoft YaHei"/>
              </a:rPr>
              <a:t>实验 5 设计：锚定策略 5 水平 × 遮挡几何 2 水平（近距侧方／远距前方）被试内；时间参数固定为实验 4 入选组合。图形参数按四源收敛区间固定：不透明度 0.6、红与黄日夜鲁棒色对、条件间闪烁状态固定、</a:t>
            </a:r>
            <a:r>
              <a:rPr sz="1040" b="1" i="0">
                <a:solidFill>
                  <a:srgbClr val="1A1A1A"/>
                </a:solidFill>
                <a:latin typeface="Microsoft YaHei"/>
              </a:rPr>
              <a:t>动画不得与本车运动耦合</a:t>
            </a:r>
            <a:r>
              <a:rPr sz="1040" b="0" i="0">
                <a:solidFill>
                  <a:srgbClr val="1A1A1A"/>
                </a:solidFill>
                <a:latin typeface="Microsoft YaHei"/>
              </a:rPr>
              <a:t>。</a:t>
            </a:r>
          </a:p>
        </p:txBody>
      </p:sp>
      <p:graphicFrame>
        <p:nvGraphicFramePr>
          <p:cNvPr id="7" name="Table 6"/>
          <p:cNvGraphicFramePr>
            <a:graphicFrameLocks noGrp="1"/>
          </p:cNvGraphicFramePr>
          <p:nvPr/>
        </p:nvGraphicFramePr>
        <p:xfrm>
          <a:off x="438150" y="1302841"/>
          <a:ext cx="11315697" cy="2488998"/>
        </p:xfrm>
        <a:graphic>
          <a:graphicData uri="http://schemas.openxmlformats.org/drawingml/2006/table">
            <a:tbl>
              <a:tblPr>
                <a:tableStyleId>{5C22544A-7EE6-4342-B048-85BDC9FD1C3A}</a:tableStyleId>
              </a:tblPr>
              <a:tblGrid>
                <a:gridCol w="1697235"/>
                <a:gridCol w="3281511"/>
                <a:gridCol w="3055143"/>
                <a:gridCol w="3281808"/>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水平</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操作化</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理论定位</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主要风险与对应测量</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BO</a:t>
                      </a:r>
                    </a:p>
                    <a:p>
                      <a:pPr algn="l">
                        <a:lnSpc>
                          <a:spcPct val="155000"/>
                        </a:lnSpc>
                        <a:spcBef>
                          <a:spcPts val="0"/>
                        </a:spcBef>
                        <a:spcAft>
                          <a:spcPts val="0"/>
                        </a:spcAft>
                      </a:pPr>
                      <a:r>
                        <a:rPr sz="890" b="0" i="0">
                          <a:solidFill>
                            <a:srgbClr val="1A1A1A"/>
                          </a:solidFill>
                          <a:latin typeface="Microsoft YaHei"/>
                        </a:rPr>
                        <a:t>遮挡体锚定</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高亮或描边绘制于遮挡体表面朝向行人的一侧</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指示「危险来自这个物体后面」</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构成叠加于遮挡物之上的构型，而外周视野下叠加于图形之上的危险漏检率最高且反应时最长 → </a:t>
                      </a:r>
                      <a:r>
                        <a:rPr sz="890" b="1" i="0">
                          <a:solidFill>
                            <a:srgbClr val="1A1A1A"/>
                          </a:solidFill>
                          <a:latin typeface="Microsoft YaHei"/>
                        </a:rPr>
                        <a:t>须测遮挡体误锚定率</a:t>
                      </a:r>
                    </a:p>
                  </a:txBody>
                  <a:tcPr marL="66675" marR="66675" marT="42862" marB="42862" anchor="t">
                    <a:solidFill>
                      <a:srgbClr val="FAFBFD"/>
                    </a:solidFill>
                  </a:tcPr>
                </a:tc>
              </a:tr>
              <a:tr h="453032">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BR-p</a:t>
                      </a:r>
                    </a:p>
                    <a:p>
                      <a:pPr algn="l">
                        <a:lnSpc>
                          <a:spcPct val="155000"/>
                        </a:lnSpc>
                        <a:spcBef>
                          <a:spcPts val="0"/>
                        </a:spcBef>
                        <a:spcAft>
                          <a:spcPts val="0"/>
                        </a:spcAft>
                      </a:pPr>
                      <a:r>
                        <a:rPr sz="890" b="0" i="0">
                          <a:solidFill>
                            <a:srgbClr val="1A1A1A"/>
                          </a:solidFill>
                          <a:latin typeface="Microsoft YaHei"/>
                        </a:rPr>
                        <a:t>推测地面锚定</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贴地图形绘制于行人推测的地面位置（按探测轨迹外推），纵深按 </a:t>
                      </a:r>
                      <a:r>
                        <a:rPr sz="890" b="0" i="1">
                          <a:solidFill>
                            <a:srgbClr val="1A1A1A"/>
                          </a:solidFill>
                          <a:latin typeface="Microsoft YaHei"/>
                        </a:rPr>
                        <a:t>R</a:t>
                      </a:r>
                      <a:r>
                        <a:rPr sz="620" b="0" i="1" baseline="-25000">
                          <a:solidFill>
                            <a:srgbClr val="1A1A1A"/>
                          </a:solidFill>
                          <a:latin typeface="Microsoft YaHei"/>
                        </a:rPr>
                        <a:t>x</a:t>
                      </a:r>
                      <a:r>
                        <a:rPr sz="890" b="0" i="1">
                          <a:solidFill>
                            <a:srgbClr val="1A1A1A"/>
                          </a:solidFill>
                          <a:latin typeface="Microsoft YaHei"/>
                        </a:rPr>
                        <a:t> = </a:t>
                      </a:r>
                      <a:r>
                        <a:rPr sz="890" b="0" i="1">
                          <a:solidFill>
                            <a:srgbClr val="1A1A1A"/>
                          </a:solidFill>
                          <a:latin typeface="Microsoft YaHei"/>
                        </a:rPr>
                        <a:t>T</a:t>
                      </a:r>
                      <a:r>
                        <a:rPr sz="620" b="0" i="1" baseline="-25000">
                          <a:solidFill>
                            <a:srgbClr val="1A1A1A"/>
                          </a:solidFill>
                          <a:latin typeface="Microsoft YaHei"/>
                        </a:rPr>
                        <a:t>tc</a:t>
                      </a:r>
                      <a:r>
                        <a:rPr sz="890" b="0" i="1">
                          <a:solidFill>
                            <a:srgbClr val="1A1A1A"/>
                          </a:solidFill>
                          <a:latin typeface="Microsoft YaHei"/>
                        </a:rPr>
                        <a:t>·</a:t>
                      </a:r>
                      <a:r>
                        <a:rPr sz="890" b="0" i="1">
                          <a:solidFill>
                            <a:srgbClr val="1A1A1A"/>
                          </a:solidFill>
                          <a:latin typeface="Microsoft YaHei"/>
                        </a:rPr>
                        <a:t>V</a:t>
                      </a:r>
                      <a:r>
                        <a:rPr sz="620" b="0" i="1" baseline="-25000">
                          <a:solidFill>
                            <a:srgbClr val="1A1A1A"/>
                          </a:solidFill>
                          <a:latin typeface="Microsoft YaHei"/>
                        </a:rPr>
                        <a:t>car</a:t>
                      </a:r>
                      <a:r>
                        <a:rPr sz="890" b="0" i="0">
                          <a:solidFill>
                            <a:srgbClr val="1A1A1A"/>
                          </a:solidFill>
                          <a:latin typeface="Microsoft YaHei"/>
                        </a:rPr>
                        <a:t> 缩放</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指示「风险将发生于何处」，即 BR 在遮挡条件下的自然延伸</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外推误差直接转为空间误差 → </a:t>
                      </a:r>
                      <a:r>
                        <a:rPr sz="890" b="1" i="0">
                          <a:solidFill>
                            <a:srgbClr val="1A1A1A"/>
                          </a:solidFill>
                          <a:latin typeface="Microsoft YaHei"/>
                        </a:rPr>
                        <a:t>须报告配准误差与冲突点空间误差</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DR</a:t>
                      </a:r>
                    </a:p>
                    <a:p>
                      <a:pPr algn="l">
                        <a:lnSpc>
                          <a:spcPct val="155000"/>
                        </a:lnSpc>
                        <a:spcBef>
                          <a:spcPts val="0"/>
                        </a:spcBef>
                        <a:spcAft>
                          <a:spcPts val="0"/>
                        </a:spcAft>
                      </a:pPr>
                      <a:r>
                        <a:rPr sz="890" b="0" i="0">
                          <a:solidFill>
                            <a:srgbClr val="1A1A1A"/>
                          </a:solidFill>
                          <a:latin typeface="Microsoft YaHei"/>
                        </a:rPr>
                        <a:t>穿透显影</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将遮挡体半透明化以显示其后行人</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保持行人在原空间语境中被感知；对应 2012 年以来穿透式显示的技术路线</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深度歧义</a:t>
                      </a:r>
                      <a:r>
                        <a:rPr sz="890" b="0" i="0">
                          <a:solidFill>
                            <a:srgbClr val="1A1A1A"/>
                          </a:solidFill>
                          <a:latin typeface="Microsoft YaHei"/>
                        </a:rPr>
                        <a:t>（穿透视觉的经典问题）→ </a:t>
                      </a:r>
                      <a:r>
                        <a:rPr sz="890" b="1" i="0">
                          <a:solidFill>
                            <a:srgbClr val="1A1A1A"/>
                          </a:solidFill>
                          <a:latin typeface="Microsoft YaHei"/>
                        </a:rPr>
                        <a:t>须测深度判断误差、晕动与不适</a:t>
                      </a:r>
                      <a:r>
                        <a:rPr sz="890" b="0" i="0">
                          <a:solidFill>
                            <a:srgbClr val="1A1A1A"/>
                          </a:solidFill>
                          <a:latin typeface="Microsoft YaHei"/>
                        </a:rPr>
                        <a:t>；脱落率按 15% 估计</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BD-dir</a:t>
                      </a:r>
                    </a:p>
                    <a:p>
                      <a:pPr algn="l">
                        <a:lnSpc>
                          <a:spcPct val="155000"/>
                        </a:lnSpc>
                        <a:spcBef>
                          <a:spcPts val="0"/>
                        </a:spcBef>
                        <a:spcAft>
                          <a:spcPts val="0"/>
                        </a:spcAft>
                      </a:pPr>
                      <a:r>
                        <a:rPr sz="890" b="0" i="0">
                          <a:solidFill>
                            <a:srgbClr val="1A1A1A"/>
                          </a:solidFill>
                          <a:latin typeface="Microsoft YaHei"/>
                        </a:rPr>
                        <a:t>屏幕方位指示器</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屏幕固定的方向箭头，不做空间配准</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显示视场受限时的</a:t>
                      </a:r>
                      <a:r>
                        <a:rPr sz="890" b="1" i="0">
                          <a:solidFill>
                            <a:srgbClr val="1A1A1A"/>
                          </a:solidFill>
                          <a:latin typeface="Microsoft YaHei"/>
                        </a:rPr>
                        <a:t>退化方案</a:t>
                      </a:r>
                      <a:r>
                        <a:rPr sz="890" b="0" i="0">
                          <a:solidFill>
                            <a:srgbClr val="1A1A1A"/>
                          </a:solidFill>
                          <a:latin typeface="Microsoft YaHei"/>
                        </a:rPr>
                        <a:t>，对应量产视场仅 10°–15° 而文献方案要求 40°–85° 的工程边界</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不携带精确位置信息 → </a:t>
                      </a:r>
                      <a:r>
                        <a:rPr sz="890" b="1" i="0">
                          <a:solidFill>
                            <a:srgbClr val="1A1A1A"/>
                          </a:solidFill>
                          <a:latin typeface="Microsoft YaHei"/>
                        </a:rPr>
                        <a:t>须测定位转换成本</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BO + BR-p</a:t>
                      </a:r>
                    </a:p>
                    <a:p>
                      <a:pPr algn="l">
                        <a:lnSpc>
                          <a:spcPct val="155000"/>
                        </a:lnSpc>
                        <a:spcBef>
                          <a:spcPts val="0"/>
                        </a:spcBef>
                        <a:spcAft>
                          <a:spcPts val="0"/>
                        </a:spcAft>
                      </a:pPr>
                      <a:r>
                        <a:rPr sz="890" b="0" i="0">
                          <a:solidFill>
                            <a:srgbClr val="1A1A1A"/>
                          </a:solidFill>
                          <a:latin typeface="Microsoft YaHei"/>
                        </a:rPr>
                        <a:t>（探索）</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复合</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检验二者是否互补而非同类冗余</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负荷叠加 → </a:t>
                      </a:r>
                      <a:r>
                        <a:rPr sz="890" b="1" i="0">
                          <a:solidFill>
                            <a:srgbClr val="1A1A1A"/>
                          </a:solidFill>
                          <a:latin typeface="Microsoft YaHei"/>
                        </a:rPr>
                        <a:t>须检验注视时长是否越 2000 ms</a:t>
                      </a:r>
                    </a:p>
                  </a:txBody>
                  <a:tcPr marL="66675" marR="66675" marT="42862" marB="42862" anchor="t">
                    <a:solidFill>
                      <a:srgbClr val="FAFBFD"/>
                    </a:solidFill>
                  </a:tcPr>
                </a:tc>
              </a:tr>
            </a:tbl>
          </a:graphicData>
        </a:graphic>
      </p:graphicFrame>
      <p:sp>
        <p:nvSpPr>
          <p:cNvPr id="8" name="Rectangle 7"/>
          <p:cNvSpPr/>
          <p:nvPr/>
        </p:nvSpPr>
        <p:spPr>
          <a:xfrm>
            <a:off x="438150" y="3901380"/>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38150" y="3901380"/>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1975" y="3987105"/>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遮挡几何两水平的设置依据与 P5′。</a:t>
            </a:r>
            <a:r>
              <a:rPr sz="990" b="0" i="0">
                <a:solidFill>
                  <a:srgbClr val="7A1F1F"/>
                </a:solidFill>
                <a:latin typeface="Microsoft YaHei"/>
              </a:rPr>
              <a:t>17° 圆形视场下近距侧方行人的共形图形会移出视场而</a:t>
            </a:r>
            <a:r>
              <a:rPr sz="990" b="1" i="0">
                <a:solidFill>
                  <a:srgbClr val="7A1F1F"/>
                </a:solidFill>
                <a:latin typeface="Microsoft YaHei"/>
              </a:rPr>
              <a:t>彻底失效</a:t>
            </a:r>
            <a:r>
              <a:rPr sz="990" b="0" i="0">
                <a:solidFill>
                  <a:srgbClr val="7A1F1F"/>
                </a:solidFill>
                <a:latin typeface="Microsoft YaHei"/>
              </a:rPr>
              <a:t>，而遮挡后横穿恰是近距侧方构型——行人自停放车辆后走出时方位角随接近迅速增大。故 </a:t>
            </a:r>
            <a:r>
              <a:rPr sz="990" b="1" i="0">
                <a:solidFill>
                  <a:srgbClr val="7A1F1F"/>
                </a:solidFill>
                <a:latin typeface="Microsoft YaHei"/>
              </a:rPr>
              <a:t>P5′ 预测：近距侧方几何下共形类锚定（BO、BR-p、DR）绩效显著低于屏幕方位指示器，远距前方几何下方向相反</a:t>
            </a:r>
            <a:r>
              <a:rPr sz="990" b="0" i="0">
                <a:solidFill>
                  <a:srgbClr val="7A1F1F"/>
                </a:solidFill>
                <a:latin typeface="Microsoft YaHei"/>
              </a:rPr>
              <a:t>，即</a:t>
            </a:r>
            <a:r>
              <a:rPr sz="990" b="1" i="0">
                <a:solidFill>
                  <a:srgbClr val="7A1F1F"/>
                </a:solidFill>
                <a:latin typeface="Microsoft YaHei"/>
              </a:rPr>
              <a:t>盲区情境不存在单一最优锚定策略，最优解是遮挡几何的函数</a:t>
            </a:r>
            <a:r>
              <a:rPr sz="990" b="0" i="0">
                <a:solidFill>
                  <a:srgbClr val="7A1F1F"/>
                </a:solidFill>
                <a:latin typeface="Microsoft YaHei"/>
              </a:rPr>
              <a:t>。</a:t>
            </a:r>
          </a:p>
        </p:txBody>
      </p:sp>
      <p:sp>
        <p:nvSpPr>
          <p:cNvPr id="11" name="Rounded Rectangle 10"/>
          <p:cNvSpPr/>
          <p:nvPr/>
        </p:nvSpPr>
        <p:spPr>
          <a:xfrm>
            <a:off x="438150" y="4594919"/>
            <a:ext cx="5572125" cy="1860649"/>
          </a:xfrm>
          <a:prstGeom prst="roundRect">
            <a:avLst>
              <a:gd name="adj" fmla="val 3583"/>
            </a:avLst>
          </a:prstGeom>
          <a:solidFill>
            <a:srgbClr val="FAF7FD"/>
          </a:solidFill>
          <a:ln w="9525">
            <a:solidFill>
              <a:srgbClr val="7B5E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71500" y="4928294"/>
            <a:ext cx="5305425" cy="9525"/>
          </a:xfrm>
          <a:prstGeom prst="rect">
            <a:avLst/>
          </a:prstGeom>
          <a:solidFill>
            <a:srgbClr val="E4D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 y="4690169"/>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7B5EA7"/>
                </a:solidFill>
                <a:latin typeface="Microsoft YaHei"/>
              </a:rPr>
              <a:t>新水平与研究一记法的对应</a:t>
            </a:r>
          </a:p>
        </p:txBody>
      </p:sp>
      <p:sp>
        <p:nvSpPr>
          <p:cNvPr id="14" name="TextBox 13"/>
          <p:cNvSpPr txBox="1"/>
          <p:nvPr/>
        </p:nvSpPr>
        <p:spPr>
          <a:xfrm>
            <a:off x="638175" y="4994969"/>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BW 被删除而非降级。</a:t>
            </a:r>
            <a:r>
              <a:rPr sz="1040" b="0" i="0">
                <a:solidFill>
                  <a:srgbClr val="1A1A1A"/>
                </a:solidFill>
                <a:latin typeface="Microsoft YaHei"/>
              </a:rPr>
              <a:t>跟随目标锁定</a:t>
            </a:r>
            <a:r>
              <a:rPr sz="1040" b="1" i="0">
                <a:solidFill>
                  <a:srgbClr val="1A1A1A"/>
                </a:solidFill>
                <a:latin typeface="Microsoft YaHei"/>
              </a:rPr>
              <a:t>无对象可锁</a:t>
            </a:r>
            <a:r>
              <a:rPr sz="1040" b="0" i="0">
                <a:solidFill>
                  <a:srgbClr val="1A1A1A"/>
                </a:solidFill>
                <a:latin typeface="Microsoft YaHei"/>
              </a:rPr>
              <a:t>，故不进入候选集——这正是研究一结论无法迁移的空间侧体现。</a:t>
            </a:r>
          </a:p>
        </p:txBody>
      </p:sp>
      <p:sp>
        <p:nvSpPr>
          <p:cNvPr id="15" name="TextBox 14"/>
          <p:cNvSpPr txBox="1"/>
          <p:nvPr/>
        </p:nvSpPr>
        <p:spPr>
          <a:xfrm>
            <a:off x="638175" y="5450085"/>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BR → BR-p。</a:t>
            </a:r>
            <a:r>
              <a:rPr sz="1040" b="0" i="0">
                <a:solidFill>
                  <a:srgbClr val="1A1A1A"/>
                </a:solidFill>
                <a:latin typeface="Microsoft YaHei"/>
              </a:rPr>
              <a:t>锚点由已知冲突点改为按探测轨迹</a:t>
            </a:r>
            <a:r>
              <a:rPr sz="1040" b="1" i="0">
                <a:solidFill>
                  <a:srgbClr val="1A1A1A"/>
                </a:solidFill>
                <a:latin typeface="Microsoft YaHei"/>
              </a:rPr>
              <a:t>外推</a:t>
            </a:r>
            <a:r>
              <a:rPr sz="1040" b="0" i="0">
                <a:solidFill>
                  <a:srgbClr val="1A1A1A"/>
                </a:solidFill>
                <a:latin typeface="Microsoft YaHei"/>
              </a:rPr>
              <a:t>的推测位置，故新增一项误差源。</a:t>
            </a:r>
            <a:r>
              <a:rPr sz="1040" b="1" i="0">
                <a:solidFill>
                  <a:srgbClr val="1A1A1A"/>
                </a:solidFill>
                <a:latin typeface="Microsoft YaHei"/>
              </a:rPr>
              <a:t>BO 与 DR 则为盲区情境新增</a:t>
            </a:r>
            <a:r>
              <a:rPr sz="1040" b="0" i="0">
                <a:solidFill>
                  <a:srgbClr val="1A1A1A"/>
                </a:solidFill>
                <a:latin typeface="Microsoft YaHei"/>
              </a:rPr>
              <a:t>，是「遮挡」本身催生的设计空间。</a:t>
            </a:r>
          </a:p>
        </p:txBody>
      </p:sp>
      <p:sp>
        <p:nvSpPr>
          <p:cNvPr id="16" name="TextBox 15"/>
          <p:cNvSpPr txBox="1"/>
          <p:nvPr/>
        </p:nvSpPr>
        <p:spPr>
          <a:xfrm>
            <a:off x="638175" y="5905202"/>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BD → BD-dir。</a:t>
            </a:r>
            <a:r>
              <a:rPr sz="1040" b="0" i="0">
                <a:solidFill>
                  <a:srgbClr val="1A1A1A"/>
                </a:solidFill>
                <a:latin typeface="Microsoft YaHei"/>
              </a:rPr>
              <a:t>屏幕固定由「低效基线」升为</a:t>
            </a:r>
            <a:r>
              <a:rPr sz="1040" b="1" i="0">
                <a:solidFill>
                  <a:srgbClr val="1A1A1A"/>
                </a:solidFill>
                <a:latin typeface="Microsoft YaHei"/>
              </a:rPr>
              <a:t>视场受限下的正当退化方案</a:t>
            </a:r>
            <a:r>
              <a:rPr sz="1040" b="0" i="0">
                <a:solidFill>
                  <a:srgbClr val="1A1A1A"/>
                </a:solidFill>
                <a:latin typeface="Microsoft YaHei"/>
              </a:rPr>
              <a:t>——它本身已取得约 200 ms 与漏报 1 对 17 的优势。</a:t>
            </a:r>
          </a:p>
        </p:txBody>
      </p:sp>
      <p:sp>
        <p:nvSpPr>
          <p:cNvPr id="17" name="Rounded Rectangle 16"/>
          <p:cNvSpPr/>
          <p:nvPr/>
        </p:nvSpPr>
        <p:spPr>
          <a:xfrm>
            <a:off x="6181725" y="4594919"/>
            <a:ext cx="5572125" cy="1860649"/>
          </a:xfrm>
          <a:prstGeom prst="roundRect">
            <a:avLst>
              <a:gd name="adj" fmla="val 3583"/>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315075" y="4928294"/>
            <a:ext cx="5305425"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5075" y="4690169"/>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9A6E00"/>
                </a:solidFill>
                <a:latin typeface="Microsoft YaHei"/>
              </a:rPr>
              <a:t>量产可实现性判定（应用输出）</a:t>
            </a:r>
          </a:p>
        </p:txBody>
      </p:sp>
      <p:sp>
        <p:nvSpPr>
          <p:cNvPr id="20" name="TextBox 19"/>
          <p:cNvSpPr txBox="1"/>
          <p:nvPr/>
        </p:nvSpPr>
        <p:spPr>
          <a:xfrm>
            <a:off x="6381750" y="4994969"/>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量产平视显示视场当前仅 </a:t>
            </a:r>
            <a:r>
              <a:rPr sz="1040" b="1" i="0">
                <a:solidFill>
                  <a:srgbClr val="1A1A1A"/>
                </a:solidFill>
                <a:latin typeface="Microsoft YaHei"/>
              </a:rPr>
              <a:t>10°–15°</a:t>
            </a:r>
            <a:r>
              <a:rPr sz="1040" b="0" i="0">
                <a:solidFill>
                  <a:srgbClr val="1A1A1A"/>
                </a:solidFill>
                <a:latin typeface="Microsoft YaHei"/>
              </a:rPr>
              <a:t>，文献方案普遍要求 </a:t>
            </a:r>
            <a:r>
              <a:rPr sz="1040" b="1" i="0">
                <a:solidFill>
                  <a:srgbClr val="1A1A1A"/>
                </a:solidFill>
                <a:latin typeface="Microsoft YaHei"/>
              </a:rPr>
              <a:t>40°–85°</a:t>
            </a:r>
            <a:r>
              <a:rPr sz="1040" b="0" i="0">
                <a:solidFill>
                  <a:srgbClr val="1A1A1A"/>
                </a:solidFill>
                <a:latin typeface="Microsoft YaHei"/>
              </a:rPr>
              <a:t>。本实验按此界定三档——</a:t>
            </a:r>
          </a:p>
        </p:txBody>
      </p:sp>
      <p:sp>
        <p:nvSpPr>
          <p:cNvPr id="21" name="TextBox 20"/>
          <p:cNvSpPr txBox="1"/>
          <p:nvPr/>
        </p:nvSpPr>
        <p:spPr>
          <a:xfrm>
            <a:off x="6381750" y="5450085"/>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① 当前可实现</a:t>
            </a:r>
            <a:r>
              <a:rPr sz="1040" b="0" i="0">
                <a:solidFill>
                  <a:srgbClr val="1A1A1A"/>
                </a:solidFill>
                <a:latin typeface="Microsoft YaHei"/>
              </a:rPr>
              <a:t>：屏幕方位指示器，不依赖视场。</a:t>
            </a:r>
            <a:r>
              <a:rPr sz="1040" b="1" i="0">
                <a:solidFill>
                  <a:srgbClr val="1A1A1A"/>
                </a:solidFill>
                <a:latin typeface="Microsoft YaHei"/>
              </a:rPr>
              <a:t>② 有条件可实现</a:t>
            </a:r>
            <a:r>
              <a:rPr sz="1040" b="0" i="0">
                <a:solidFill>
                  <a:srgbClr val="1A1A1A"/>
                </a:solidFill>
                <a:latin typeface="Microsoft YaHei"/>
              </a:rPr>
              <a:t>：远距前方几何下的推测地面锚定。</a:t>
            </a:r>
            <a:r>
              <a:rPr sz="1040" b="1" i="0">
                <a:solidFill>
                  <a:srgbClr val="1A1A1A"/>
                </a:solidFill>
                <a:latin typeface="Microsoft YaHei"/>
              </a:rPr>
              <a:t>③ 当前不可实现</a:t>
            </a:r>
            <a:r>
              <a:rPr sz="1040" b="0" i="0">
                <a:solidFill>
                  <a:srgbClr val="1A1A1A"/>
                </a:solidFill>
                <a:latin typeface="Microsoft YaHei"/>
              </a:rPr>
              <a:t>：近距侧方几何下的一切共形锚定，含穿透显影。</a:t>
            </a:r>
          </a:p>
        </p:txBody>
      </p:sp>
      <p:sp>
        <p:nvSpPr>
          <p:cNvPr id="22" name="TextBox 21"/>
          <p:cNvSpPr txBox="1"/>
          <p:nvPr/>
        </p:nvSpPr>
        <p:spPr>
          <a:xfrm>
            <a:off x="6381750" y="5905202"/>
            <a:ext cx="527685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故输出不是「哪种锚定最好」，而是</a:t>
            </a:r>
            <a:r>
              <a:rPr sz="1040" b="1" i="0">
                <a:solidFill>
                  <a:srgbClr val="1A1A1A"/>
                </a:solidFill>
                <a:latin typeface="Microsoft YaHei"/>
              </a:rPr>
              <a:t>「遮挡几何 × 可用视场 → 推荐锚定」的查表式规范</a:t>
            </a:r>
            <a:r>
              <a:rPr sz="1040" b="0" i="0">
                <a:solidFill>
                  <a:srgbClr val="1A1A1A"/>
                </a:solidFill>
                <a:latin typeface="Microsoft YaHei"/>
              </a:rPr>
              <a:t>。</a:t>
            </a:r>
          </a:p>
        </p:txBody>
      </p:sp>
      <p:sp>
        <p:nvSpPr>
          <p:cNvPr id="23" name="TextBox 22"/>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可否证预测</a:t>
            </a:r>
            <a:r>
              <a:rPr sz="1580" b="1" i="0">
                <a:solidFill>
                  <a:srgbClr val="4472C4"/>
                </a:solidFill>
                <a:latin typeface="Microsoft YaHei"/>
              </a:rPr>
              <a:t>六条由理论导出的预测及其否证条件</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5 / 6</a:t>
            </a:r>
          </a:p>
        </p:txBody>
      </p:sp>
      <p:graphicFrame>
        <p:nvGraphicFramePr>
          <p:cNvPr id="6" name="Table 5"/>
          <p:cNvGraphicFramePr>
            <a:graphicFrameLocks noGrp="1"/>
          </p:cNvGraphicFramePr>
          <p:nvPr/>
        </p:nvGraphicFramePr>
        <p:xfrm>
          <a:off x="438150" y="762000"/>
          <a:ext cx="11315699" cy="2071385"/>
        </p:xfrm>
        <a:graphic>
          <a:graphicData uri="http://schemas.openxmlformats.org/drawingml/2006/table">
            <a:tbl>
              <a:tblPr>
                <a:tableStyleId>{5C22544A-7EE6-4342-B048-85BDC9FD1C3A}</a:tableStyleId>
              </a:tblPr>
              <a:tblGrid>
                <a:gridCol w="1018282"/>
                <a:gridCol w="4639419"/>
                <a:gridCol w="2715666"/>
                <a:gridCol w="2942332"/>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编号</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预测</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否证条件</a:t>
                      </a:r>
                    </a:p>
                  </a:txBody>
                  <a:tcPr marL="66675" marR="66675" marT="52387" marB="52387" anchor="t">
                    <a:solidFill>
                      <a:srgbClr val="4472C4"/>
                    </a:solidFill>
                  </a:tcPr>
                </a:tc>
              </a:tr>
              <a:tr h="274141">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P1′</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放弃预告区段（</a:t>
                      </a:r>
                      <a:r>
                        <a:rPr sz="890" b="0" i="1">
                          <a:solidFill>
                            <a:srgbClr val="1A1A1A"/>
                          </a:solidFill>
                          <a:latin typeface="Microsoft YaHei"/>
                        </a:rPr>
                        <a:t>Δt′ ≤ 0</a:t>
                      </a:r>
                      <a:r>
                        <a:rPr sz="890" b="0" i="0">
                          <a:solidFill>
                            <a:srgbClr val="1A1A1A"/>
                          </a:solidFill>
                          <a:latin typeface="Microsoft YaHei"/>
                        </a:rPr>
                        <a:t>）的绩效显著劣于跨越显露时刻的预警（</a:t>
                      </a:r>
                      <a:r>
                        <a:rPr sz="890" b="0" i="1">
                          <a:solidFill>
                            <a:srgbClr val="1A1A1A"/>
                          </a:solidFill>
                          <a:latin typeface="Microsoft YaHei"/>
                        </a:rPr>
                        <a:t>Δt′ &gt; 0</a:t>
                      </a:r>
                      <a:r>
                        <a:rPr sz="890" b="0" i="0">
                          <a:solidFill>
                            <a:srgbClr val="1A1A1A"/>
                          </a:solidFill>
                          <a:latin typeface="Microsoft YaHei"/>
                        </a:rPr>
                        <a:t>）</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五阶段被强制分段</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两者无显著差异，或 </a:t>
                      </a:r>
                      <a:r>
                        <a:rPr sz="890" b="0" i="1">
                          <a:solidFill>
                            <a:srgbClr val="1A1A1A"/>
                          </a:solidFill>
                          <a:latin typeface="Microsoft YaHei"/>
                        </a:rPr>
                        <a:t>Δt′ ≤ 0</a:t>
                      </a:r>
                      <a:r>
                        <a:rPr sz="890" b="0" i="0">
                          <a:solidFill>
                            <a:srgbClr val="1A1A1A"/>
                          </a:solidFill>
                          <a:latin typeface="Microsoft YaHei"/>
                        </a:rPr>
                        <a:t> 反而更优</a:t>
                      </a:r>
                    </a:p>
                  </a:txBody>
                  <a:tcPr marL="66675" marR="66675" marT="42862" marB="42862" anchor="t">
                    <a:solidFill>
                      <a:srgbClr val="FAFBFD"/>
                    </a:solidFill>
                  </a:tcPr>
                </a:tc>
              </a:tr>
              <a:tr h="27890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P2′</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盲区情境的最优 </a:t>
                      </a:r>
                      <a:r>
                        <a:rPr sz="890" b="0" i="1">
                          <a:solidFill>
                            <a:srgbClr val="1A1A1A"/>
                          </a:solidFill>
                          <a:latin typeface="Microsoft YaHei"/>
                        </a:rPr>
                        <a:t>Δt′</a:t>
                      </a:r>
                      <a:r>
                        <a:rPr sz="890" b="0" i="0">
                          <a:solidFill>
                            <a:srgbClr val="1A1A1A"/>
                          </a:solidFill>
                          <a:latin typeface="Microsoft YaHei"/>
                        </a:rPr>
                        <a:t> 显著</a:t>
                      </a:r>
                      <a:r>
                        <a:rPr sz="890" b="1" i="0">
                          <a:solidFill>
                            <a:srgbClr val="1A1A1A"/>
                          </a:solidFill>
                          <a:latin typeface="Microsoft YaHei"/>
                        </a:rPr>
                        <a:t>大于</a:t>
                      </a:r>
                      <a:r>
                        <a:rPr sz="890" b="0" i="0">
                          <a:solidFill>
                            <a:srgbClr val="1A1A1A"/>
                          </a:solidFill>
                          <a:latin typeface="Microsoft YaHei"/>
                        </a:rPr>
                        <a:t>非盲区情境的最优 </a:t>
                      </a:r>
                      <a:r>
                        <a:rPr sz="890" b="0" i="1">
                          <a:solidFill>
                            <a:srgbClr val="1A1A1A"/>
                          </a:solidFill>
                          <a:latin typeface="Microsoft YaHei"/>
                        </a:rPr>
                        <a:t>Δt</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预期性注视无从建立 + 刺激驱动定向的额外耗时</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两者相等，或盲区所需提前量更小</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P3′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预告区段的收益单调递增但存在饱和，饱和点对应预测与预置决策的完成时间</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五阶段被强制分段</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呈线性而无饱和，或呈倒 U 型</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P4′</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80% 可靠性对盲区预警的信任损伤与依从率下降显著大于对非盲区预警</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预警在显露前不可被视觉核验</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两情境损伤相当，或方向相反</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P5′</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最优锚定策略随遮挡几何反转：近距侧方屏幕方位指示器更优，远距前方共形类更优</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17° 视场下近距侧方共形图形失效</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存在跨几何一致的单一最优锚定</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P6′</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双向迁移损失显著大于零</a:t>
                      </a:r>
                      <a:r>
                        <a:rPr sz="890" b="0" i="0">
                          <a:solidFill>
                            <a:srgbClr val="1A1A1A"/>
                          </a:solidFill>
                          <a:latin typeface="Microsoft YaHei"/>
                        </a:rPr>
                        <a:t>：研究一入选方案施于盲区、研究二入选方案施于非盲区，均产生显著绩效损失</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BD-1 至 BD-6 六项前提失效</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迁移损失不显著 → 本框架的情境切分不成立，应退回单情境处理</a:t>
                      </a:r>
                    </a:p>
                  </a:txBody>
                  <a:tcPr marL="66675" marR="66675" marT="42862" marB="42862" anchor="t">
                    <a:noFill/>
                  </a:tcPr>
                </a:tc>
              </a:tr>
            </a:tbl>
          </a:graphicData>
        </a:graphic>
      </p:graphicFrame>
      <p:sp>
        <p:nvSpPr>
          <p:cNvPr id="7" name="Rounded Rectangle 6"/>
          <p:cNvSpPr/>
          <p:nvPr/>
        </p:nvSpPr>
        <p:spPr>
          <a:xfrm>
            <a:off x="438150" y="2914352"/>
            <a:ext cx="5572125" cy="2454026"/>
          </a:xfrm>
          <a:prstGeom prst="roundRect">
            <a:avLst>
              <a:gd name="adj" fmla="val 2716"/>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71500" y="3247727"/>
            <a:ext cx="530542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1500" y="3009602"/>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由文献归纳的五项假设</a:t>
            </a:r>
          </a:p>
        </p:txBody>
      </p:sp>
      <p:sp>
        <p:nvSpPr>
          <p:cNvPr id="10" name="TextBox 9"/>
          <p:cNvSpPr txBox="1"/>
          <p:nvPr/>
        </p:nvSpPr>
        <p:spPr>
          <a:xfrm>
            <a:off x="638175" y="3314402"/>
            <a:ext cx="5276850" cy="643383"/>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H1′</a:t>
            </a:r>
            <a:r>
              <a:rPr sz="1040" b="0" i="0">
                <a:solidFill>
                  <a:srgbClr val="1A1A1A"/>
                </a:solidFill>
                <a:latin typeface="Microsoft YaHei"/>
              </a:rPr>
              <a:t> 盲区预警使油门松开与首次制动位置显著提前且峰值减速度下降，</a:t>
            </a:r>
            <a:r>
              <a:rPr sz="1040" b="1" i="0">
                <a:solidFill>
                  <a:srgbClr val="1A1A1A"/>
                </a:solidFill>
                <a:latin typeface="Microsoft YaHei"/>
              </a:rPr>
              <a:t>收益形式为制动平顺化而非仅反应时缩短</a:t>
            </a:r>
            <a:r>
              <a:rPr sz="1040" b="0" i="0">
                <a:solidFill>
                  <a:srgbClr val="1A1A1A"/>
                </a:solidFill>
                <a:latin typeface="Microsoft YaHei"/>
              </a:rPr>
              <a:t>（两源同向：距离与减速度指标；紧急减速率 3.10–3.56 → 2.77–3.18 m/s²）。</a:t>
            </a:r>
          </a:p>
        </p:txBody>
      </p:sp>
      <p:sp>
        <p:nvSpPr>
          <p:cNvPr id="11" name="TextBox 10"/>
          <p:cNvSpPr txBox="1"/>
          <p:nvPr/>
        </p:nvSpPr>
        <p:spPr>
          <a:xfrm>
            <a:off x="638175" y="3948261"/>
            <a:ext cx="5276850" cy="45749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H2′</a:t>
            </a:r>
            <a:r>
              <a:rPr sz="1040" b="0" i="0">
                <a:solidFill>
                  <a:srgbClr val="1A1A1A"/>
                </a:solidFill>
                <a:latin typeface="Microsoft YaHei"/>
              </a:rPr>
              <a:t> 能见度下降</a:t>
            </a:r>
            <a:r>
              <a:rPr sz="1040" b="1" i="0">
                <a:solidFill>
                  <a:srgbClr val="1A1A1A"/>
                </a:solidFill>
                <a:latin typeface="Microsoft YaHei"/>
              </a:rPr>
              <a:t>放大</a:t>
            </a:r>
            <a:r>
              <a:rPr sz="1040" b="0" i="0">
                <a:solidFill>
                  <a:srgbClr val="1A1A1A"/>
                </a:solidFill>
                <a:latin typeface="Microsoft YaHei"/>
              </a:rPr>
              <a:t>盲区预警的收益（雾天油门提前多 27.7 m, </a:t>
            </a:r>
            <a:r>
              <a:rPr sz="1040" b="0" i="1">
                <a:solidFill>
                  <a:srgbClr val="1A1A1A"/>
                </a:solidFill>
                <a:latin typeface="Microsoft YaHei"/>
              </a:rPr>
              <a:t>p</a:t>
            </a:r>
            <a:r>
              <a:rPr sz="1040" b="0" i="0">
                <a:solidFill>
                  <a:srgbClr val="1A1A1A"/>
                </a:solidFill>
                <a:latin typeface="Microsoft YaHei"/>
              </a:rPr>
              <a:t> = .032；制动多 27.8 m, </a:t>
            </a:r>
            <a:r>
              <a:rPr sz="1040" b="0" i="1">
                <a:solidFill>
                  <a:srgbClr val="1A1A1A"/>
                </a:solidFill>
                <a:latin typeface="Microsoft YaHei"/>
              </a:rPr>
              <a:t>p</a:t>
            </a:r>
            <a:r>
              <a:rPr sz="1040" b="0" i="0">
                <a:solidFill>
                  <a:srgbClr val="1A1A1A"/>
                </a:solidFill>
                <a:latin typeface="Microsoft YaHei"/>
              </a:rPr>
              <a:t> = .035）。</a:t>
            </a:r>
          </a:p>
        </p:txBody>
      </p:sp>
      <p:sp>
        <p:nvSpPr>
          <p:cNvPr id="12" name="TextBox 11"/>
          <p:cNvSpPr txBox="1"/>
          <p:nvPr/>
        </p:nvSpPr>
        <p:spPr>
          <a:xfrm>
            <a:off x="638175" y="4396233"/>
            <a:ext cx="5276850" cy="233511"/>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H3′</a:t>
            </a:r>
            <a:r>
              <a:rPr sz="1040" b="0" i="0">
                <a:solidFill>
                  <a:srgbClr val="1A1A1A"/>
                </a:solidFill>
                <a:latin typeface="Microsoft YaHei"/>
              </a:rPr>
              <a:t> 遮挡体锚定的误锚定率显著高于推测地面锚定与穿透显影。</a:t>
            </a:r>
          </a:p>
        </p:txBody>
      </p:sp>
      <p:sp>
        <p:nvSpPr>
          <p:cNvPr id="13" name="TextBox 12"/>
          <p:cNvSpPr txBox="1"/>
          <p:nvPr/>
        </p:nvSpPr>
        <p:spPr>
          <a:xfrm>
            <a:off x="638175" y="4620220"/>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H4′</a:t>
            </a:r>
            <a:r>
              <a:rPr sz="1040" b="0" i="0">
                <a:solidFill>
                  <a:srgbClr val="1A1A1A"/>
                </a:solidFill>
                <a:latin typeface="Microsoft YaHei"/>
              </a:rPr>
              <a:t> 系统漏检时，盲区情境的漏检代价显著大于非盲区情境——</a:t>
            </a:r>
            <a:r>
              <a:rPr sz="1040" b="1" i="0">
                <a:solidFill>
                  <a:srgbClr val="1A1A1A"/>
                </a:solidFill>
                <a:latin typeface="Microsoft YaHei"/>
              </a:rPr>
              <a:t>驾驶员无独立视觉信息源可补偿</a:t>
            </a:r>
            <a:r>
              <a:rPr sz="1040" b="0" i="0">
                <a:solidFill>
                  <a:srgbClr val="1A1A1A"/>
                </a:solidFill>
                <a:latin typeface="Microsoft YaHei"/>
              </a:rPr>
              <a:t>。</a:t>
            </a:r>
          </a:p>
        </p:txBody>
      </p:sp>
      <p:sp>
        <p:nvSpPr>
          <p:cNvPr id="14" name="TextBox 13"/>
          <p:cNvSpPr txBox="1"/>
          <p:nvPr/>
        </p:nvSpPr>
        <p:spPr>
          <a:xfrm>
            <a:off x="638175" y="5049142"/>
            <a:ext cx="5276850" cy="233511"/>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H5′</a:t>
            </a:r>
            <a:r>
              <a:rPr sz="1040" b="0" i="0">
                <a:solidFill>
                  <a:srgbClr val="1A1A1A"/>
                </a:solidFill>
                <a:latin typeface="Microsoft YaHei"/>
              </a:rPr>
              <a:t> 分层语义分化优于单层，且优势主要体现在预告区段内的预期性注视上。</a:t>
            </a:r>
          </a:p>
        </p:txBody>
      </p:sp>
      <p:sp>
        <p:nvSpPr>
          <p:cNvPr id="15" name="Rounded Rectangle 14"/>
          <p:cNvSpPr/>
          <p:nvPr/>
        </p:nvSpPr>
        <p:spPr>
          <a:xfrm>
            <a:off x="6181725" y="2914352"/>
            <a:ext cx="5572125" cy="2454026"/>
          </a:xfrm>
          <a:prstGeom prst="roundRect">
            <a:avLst>
              <a:gd name="adj" fmla="val 2716"/>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315075" y="3247727"/>
            <a:ext cx="5305425"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5075" y="3009602"/>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9A6E00"/>
                </a:solidFill>
                <a:latin typeface="Microsoft YaHei"/>
              </a:rPr>
              <a:t>预注册与零结果处理</a:t>
            </a:r>
          </a:p>
        </p:txBody>
      </p:sp>
      <p:sp>
        <p:nvSpPr>
          <p:cNvPr id="18" name="TextBox 17"/>
          <p:cNvSpPr txBox="1"/>
          <p:nvPr/>
        </p:nvSpPr>
        <p:spPr>
          <a:xfrm>
            <a:off x="6381750" y="3314402"/>
            <a:ext cx="5276850" cy="233511"/>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0" i="0">
                <a:solidFill>
                  <a:srgbClr val="1A1A1A"/>
                </a:solidFill>
                <a:latin typeface="Microsoft YaHei"/>
              </a:rPr>
              <a:t>P1′ 至 P6′ 与 H1′ 至 H5′ 全部</a:t>
            </a:r>
            <a:r>
              <a:rPr sz="1040" b="1" i="0">
                <a:solidFill>
                  <a:srgbClr val="1A1A1A"/>
                </a:solidFill>
                <a:latin typeface="Microsoft YaHei"/>
              </a:rPr>
              <a:t>预注册</a:t>
            </a:r>
            <a:r>
              <a:rPr sz="1040" b="0" i="0">
                <a:solidFill>
                  <a:srgbClr val="1A1A1A"/>
                </a:solidFill>
                <a:latin typeface="Microsoft YaHei"/>
              </a:rPr>
              <a:t>；次要结局按错误发现率校正。</a:t>
            </a:r>
          </a:p>
        </p:txBody>
      </p:sp>
      <p:sp>
        <p:nvSpPr>
          <p:cNvPr id="19" name="TextBox 18"/>
          <p:cNvSpPr txBox="1"/>
          <p:nvPr/>
        </p:nvSpPr>
        <p:spPr>
          <a:xfrm>
            <a:off x="6381750" y="3538388"/>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P6′ 是本研究唯一的自我否证条款</a:t>
            </a:r>
            <a:r>
              <a:rPr sz="1040" b="0" i="0">
                <a:solidFill>
                  <a:srgbClr val="1A1A1A"/>
                </a:solidFill>
                <a:latin typeface="Microsoft YaHei"/>
              </a:rPr>
              <a:t>，其零结果将被照实报告并视为对领域的有效贡献——它说明单一套参数即可跨情境使用，从而简化工程实现。</a:t>
            </a:r>
          </a:p>
        </p:txBody>
      </p:sp>
      <p:sp>
        <p:nvSpPr>
          <p:cNvPr id="20" name="TextBox 19"/>
          <p:cNvSpPr txBox="1"/>
          <p:nvPr/>
        </p:nvSpPr>
        <p:spPr>
          <a:xfrm>
            <a:off x="6381750" y="3967311"/>
            <a:ext cx="5276850" cy="233511"/>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0" i="0">
                <a:solidFill>
                  <a:srgbClr val="1A1A1A"/>
                </a:solidFill>
                <a:latin typeface="Microsoft YaHei"/>
              </a:rPr>
              <a:t>「无显著差异」</a:t>
            </a:r>
            <a:r>
              <a:rPr sz="1040" b="1" i="0">
                <a:solidFill>
                  <a:srgbClr val="1A1A1A"/>
                </a:solidFill>
                <a:latin typeface="Microsoft YaHei"/>
              </a:rPr>
              <a:t>不解释为等效</a:t>
            </a:r>
            <a:r>
              <a:rPr sz="1040" b="0" i="0">
                <a:solidFill>
                  <a:srgbClr val="1A1A1A"/>
                </a:solidFill>
                <a:latin typeface="Microsoft YaHei"/>
              </a:rPr>
              <a:t>；一律报告估计差、95% 置信区间与效应量。</a:t>
            </a:r>
          </a:p>
        </p:txBody>
      </p:sp>
      <p:sp>
        <p:nvSpPr>
          <p:cNvPr id="21" name="TextBox 20"/>
          <p:cNvSpPr txBox="1"/>
          <p:nvPr/>
        </p:nvSpPr>
        <p:spPr>
          <a:xfrm>
            <a:off x="6381750" y="4191297"/>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0" i="0">
                <a:solidFill>
                  <a:srgbClr val="1A1A1A"/>
                </a:solidFill>
                <a:latin typeface="Microsoft YaHei"/>
              </a:rPr>
              <a:t>按判定顺序第一条，</a:t>
            </a:r>
            <a:r>
              <a:rPr sz="1040" b="1" i="0">
                <a:solidFill>
                  <a:srgbClr val="1A1A1A"/>
                </a:solidFill>
                <a:latin typeface="Microsoft YaHei"/>
              </a:rPr>
              <a:t>安全非劣即可作为有效结论报告</a:t>
            </a:r>
            <a:r>
              <a:rPr sz="1040" b="0" i="0">
                <a:solidFill>
                  <a:srgbClr val="1A1A1A"/>
                </a:solidFill>
                <a:latin typeface="Microsoft YaHei"/>
              </a:rPr>
              <a:t>；零效应对参数区间的收窄仍有信息价值。</a:t>
            </a:r>
          </a:p>
        </p:txBody>
      </p:sp>
      <p:sp>
        <p:nvSpPr>
          <p:cNvPr id="22" name="Rectangle 21"/>
          <p:cNvSpPr/>
          <p:nvPr/>
        </p:nvSpPr>
        <p:spPr>
          <a:xfrm>
            <a:off x="438150" y="5444579"/>
            <a:ext cx="11315700" cy="79742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8150" y="5444579"/>
            <a:ext cx="38100" cy="79742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975" y="5530304"/>
            <a:ext cx="11106150"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递进设计的风险与退化路径（须预先写入方案书）：</a:t>
            </a:r>
            <a:r>
              <a:rPr sz="990" b="0" i="0">
                <a:solidFill>
                  <a:srgbClr val="7A1F1F"/>
                </a:solidFill>
                <a:latin typeface="Microsoft YaHei"/>
              </a:rPr>
              <a:t>下游实验以上游产出为固定参数，故上游失败会阻塞下游。三条缓解方案——① 若实验 1 的自发察觉时刻方差过大而无法定出稳定基准，</a:t>
            </a:r>
            <a:r>
              <a:rPr sz="990" b="1" i="0">
                <a:solidFill>
                  <a:srgbClr val="7A1F1F"/>
                </a:solidFill>
                <a:latin typeface="Microsoft YaHei"/>
              </a:rPr>
              <a:t>实验 2 退化为绝对时距与相对提前量的双参数化并行报告</a:t>
            </a:r>
            <a:r>
              <a:rPr sz="990" b="0" i="0">
                <a:solidFill>
                  <a:srgbClr val="7A1F1F"/>
                </a:solidFill>
                <a:latin typeface="Microsoft YaHei"/>
              </a:rPr>
              <a:t>，即把提前量作协变量而非自变量；② 若显露时刻的解析解与实测眼动偏差超阈值，</a:t>
            </a:r>
            <a:r>
              <a:rPr sz="990" b="1" i="0">
                <a:solidFill>
                  <a:srgbClr val="7A1F1F"/>
                </a:solidFill>
                <a:latin typeface="Microsoft YaHei"/>
              </a:rPr>
              <a:t>实验 4 改以实测显露时刻为零点</a:t>
            </a:r>
            <a:r>
              <a:rPr sz="990" b="0" i="0">
                <a:solidFill>
                  <a:srgbClr val="7A1F1F"/>
                </a:solidFill>
                <a:latin typeface="Microsoft YaHei"/>
              </a:rPr>
              <a:t>，并把解析误差作为协变量报告；③ 若穿透显影条件的晕动脱落率超过 25%，</a:t>
            </a:r>
            <a:r>
              <a:rPr sz="990" b="1" i="0">
                <a:solidFill>
                  <a:srgbClr val="7A1F1F"/>
                </a:solidFill>
                <a:latin typeface="Microsoft YaHei"/>
              </a:rPr>
              <a:t>该水平降级为探索性分析</a:t>
            </a:r>
            <a:r>
              <a:rPr sz="990" b="0" i="0">
                <a:solidFill>
                  <a:srgbClr val="7A1F1F"/>
                </a:solidFill>
                <a:latin typeface="Microsoft YaHei"/>
              </a:rPr>
              <a:t>，主分析在余下四水平上进行。三条方案均</a:t>
            </a:r>
            <a:r>
              <a:rPr sz="990" b="1" i="0">
                <a:solidFill>
                  <a:srgbClr val="7A1F1F"/>
                </a:solidFill>
                <a:latin typeface="Microsoft YaHei"/>
              </a:rPr>
              <a:t>预先声明</a:t>
            </a:r>
            <a:r>
              <a:rPr sz="990" b="0" i="0">
                <a:solidFill>
                  <a:srgbClr val="7A1F1F"/>
                </a:solidFill>
                <a:latin typeface="Microsoft YaHei"/>
              </a:rPr>
              <a:t>，不得在见数据后选择。</a:t>
            </a:r>
          </a:p>
        </p:txBody>
      </p:sp>
      <p:sp>
        <p:nvSpPr>
          <p:cNvPr id="25" name="TextBox 24"/>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研究设计</a:t>
            </a:r>
            <a:r>
              <a:rPr sz="1580" b="1" i="0">
                <a:solidFill>
                  <a:srgbClr val="4472C4"/>
                </a:solidFill>
                <a:latin typeface="Microsoft YaHei"/>
              </a:rPr>
              <a:t>一个双情境标定实验 + 两组情境内主实验 + 交叉迁移区块</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6 / 6</a:t>
            </a:r>
          </a:p>
        </p:txBody>
      </p:sp>
      <p:graphicFrame>
        <p:nvGraphicFramePr>
          <p:cNvPr id="6" name="Table 5"/>
          <p:cNvGraphicFramePr>
            <a:graphicFrameLocks noGrp="1"/>
          </p:cNvGraphicFramePr>
          <p:nvPr/>
        </p:nvGraphicFramePr>
        <p:xfrm>
          <a:off x="438150" y="762000"/>
          <a:ext cx="11315697" cy="2985937"/>
        </p:xfrm>
        <a:graphic>
          <a:graphicData uri="http://schemas.openxmlformats.org/drawingml/2006/table">
            <a:tbl>
              <a:tblPr>
                <a:tableStyleId>{5C22544A-7EE6-4342-B048-85BDC9FD1C3A}</a:tableStyleId>
              </a:tblPr>
              <a:tblGrid>
                <a:gridCol w="1244649"/>
                <a:gridCol w="1244649"/>
                <a:gridCol w="2942034"/>
                <a:gridCol w="3055143"/>
                <a:gridCol w="2829222"/>
              </a:tblGrid>
              <a:tr h="228600">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研究</a:t>
                      </a:r>
                    </a:p>
                  </a:txBody>
                  <a:tcPr marL="57150" marR="57150" marT="38100" marB="38100"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实验</a:t>
                      </a:r>
                    </a:p>
                  </a:txBody>
                  <a:tcPr marL="57150" marR="57150" marT="38100" marB="38100"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核心问题</a:t>
                      </a:r>
                    </a:p>
                  </a:txBody>
                  <a:tcPr marL="57150" marR="57150" marT="38100" marB="38100"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核心变量与水平</a:t>
                      </a:r>
                    </a:p>
                  </a:txBody>
                  <a:tcPr marL="57150" marR="57150" marT="38100" marB="38100" anchor="t">
                    <a:solidFill>
                      <a:srgbClr val="4472C4"/>
                    </a:solidFill>
                  </a:tcPr>
                </a:tc>
                <a:tc>
                  <a:txBody>
                    <a:bodyPr wrap="square" lIns="0" rIns="0" tIns="0" bIns="0" anchor="t"/>
                    <a:lstStyle/>
                    <a:p>
                      <a:pPr algn="l">
                        <a:lnSpc>
                          <a:spcPct val="125000"/>
                        </a:lnSpc>
                        <a:spcBef>
                          <a:spcPts val="0"/>
                        </a:spcBef>
                        <a:spcAft>
                          <a:spcPts val="0"/>
                        </a:spcAft>
                      </a:pPr>
                      <a:r>
                        <a:rPr sz="819" b="1" i="0">
                          <a:solidFill>
                            <a:srgbClr val="FFFFFF"/>
                          </a:solidFill>
                          <a:latin typeface="Microsoft YaHei"/>
                        </a:rPr>
                        <a:t>主要机制指标</a:t>
                      </a:r>
                    </a:p>
                  </a:txBody>
                  <a:tcPr marL="57150" marR="57150" marT="38100" marB="38100" anchor="t">
                    <a:solidFill>
                      <a:srgbClr val="4472C4"/>
                    </a:solidFill>
                  </a:tcPr>
                </a:tc>
              </a:tr>
              <a:tr h="545752">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共用基础</a:t>
                      </a:r>
                    </a:p>
                    <a:p>
                      <a:pPr algn="l">
                        <a:lnSpc>
                          <a:spcPct val="148000"/>
                        </a:lnSpc>
                        <a:spcBef>
                          <a:spcPts val="0"/>
                        </a:spcBef>
                        <a:spcAft>
                          <a:spcPts val="0"/>
                        </a:spcAft>
                      </a:pPr>
                      <a:r>
                        <a:rPr sz="819" b="0" i="0">
                          <a:solidFill>
                            <a:srgbClr val="1A1A1A"/>
                          </a:solidFill>
                          <a:latin typeface="Microsoft YaHei"/>
                        </a:rPr>
                        <a:t>双情境标定</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实验 1</a:t>
                      </a:r>
                    </a:p>
                    <a:p>
                      <a:pPr algn="l">
                        <a:lnSpc>
                          <a:spcPct val="148000"/>
                        </a:lnSpc>
                        <a:spcBef>
                          <a:spcPts val="0"/>
                        </a:spcBef>
                        <a:spcAft>
                          <a:spcPts val="0"/>
                        </a:spcAft>
                      </a:pPr>
                      <a:r>
                        <a:rPr sz="819" b="0" i="0">
                          <a:solidFill>
                            <a:srgbClr val="1A1A1A"/>
                          </a:solidFill>
                          <a:latin typeface="Microsoft YaHei"/>
                        </a:rPr>
                        <a:t>双情境无预警基线</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两个零点各在何处？运动学可行域多大？</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情境（非盲区／盲区）× 车速（40／60 km/h），</a:t>
                      </a:r>
                      <a:r>
                        <a:rPr sz="819" b="1" i="0">
                          <a:solidFill>
                            <a:srgbClr val="1A1A1A"/>
                          </a:solidFill>
                          <a:latin typeface="Microsoft YaHei"/>
                        </a:rPr>
                        <a:t>无 AR 预警</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非盲区：</a:t>
                      </a:r>
                      <a:r>
                        <a:rPr sz="819" b="0" i="1">
                          <a:solidFill>
                            <a:srgbClr val="1A1A1A"/>
                          </a:solidFill>
                          <a:latin typeface="Microsoft YaHei"/>
                        </a:rPr>
                        <a:t>t</a:t>
                      </a:r>
                      <a:r>
                        <a:rPr sz="580" b="0" i="1" baseline="-25000">
                          <a:solidFill>
                            <a:srgbClr val="1A1A1A"/>
                          </a:solidFill>
                          <a:latin typeface="Microsoft YaHei"/>
                        </a:rPr>
                        <a:t>0</a:t>
                      </a:r>
                      <a:r>
                        <a:rPr sz="819" b="0" i="0">
                          <a:solidFill>
                            <a:srgbClr val="1A1A1A"/>
                          </a:solidFill>
                          <a:latin typeface="Microsoft YaHei"/>
                        </a:rPr>
                        <a:t> 分布；盲区：</a:t>
                      </a:r>
                      <a:r>
                        <a:rPr sz="819" b="0" i="1">
                          <a:solidFill>
                            <a:srgbClr val="1A1A1A"/>
                          </a:solidFill>
                          <a:latin typeface="Microsoft YaHei"/>
                        </a:rPr>
                        <a:t>t</a:t>
                      </a:r>
                      <a:r>
                        <a:rPr sz="580" b="0" i="1" baseline="-25000">
                          <a:solidFill>
                            <a:srgbClr val="1A1A1A"/>
                          </a:solidFill>
                          <a:latin typeface="Microsoft YaHei"/>
                        </a:rPr>
                        <a:t>reveal</a:t>
                      </a:r>
                      <a:r>
                        <a:rPr sz="819" b="0" i="0">
                          <a:solidFill>
                            <a:srgbClr val="1A1A1A"/>
                          </a:solidFill>
                          <a:latin typeface="Microsoft YaHei"/>
                        </a:rPr>
                        <a:t> 几何验证与显露后感知反应时；两情境的反应时分位数、舒适减速度、零点时刻 BTN、渲染延迟、方差成分</a:t>
                      </a:r>
                    </a:p>
                  </a:txBody>
                  <a:tcPr marL="57150" marR="57150" marT="28575" marB="28575" anchor="t">
                    <a:solidFill>
                      <a:srgbClr val="FAFBFD"/>
                    </a:solidFill>
                  </a:tcPr>
                </a:tc>
              </a:tr>
              <a:tr h="395585">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研究一</a:t>
                      </a:r>
                    </a:p>
                    <a:p>
                      <a:pPr algn="l">
                        <a:lnSpc>
                          <a:spcPct val="148000"/>
                        </a:lnSpc>
                        <a:spcBef>
                          <a:spcPts val="0"/>
                        </a:spcBef>
                        <a:spcAft>
                          <a:spcPts val="0"/>
                        </a:spcAft>
                      </a:pPr>
                      <a:r>
                        <a:rPr sz="819" b="0" i="0">
                          <a:solidFill>
                            <a:srgbClr val="1A1A1A"/>
                          </a:solidFill>
                          <a:latin typeface="Microsoft YaHei"/>
                        </a:rPr>
                        <a:t>非盲区情境</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实验 2</a:t>
                      </a:r>
                    </a:p>
                    <a:p>
                      <a:pPr algn="l">
                        <a:lnSpc>
                          <a:spcPct val="148000"/>
                        </a:lnSpc>
                        <a:spcBef>
                          <a:spcPts val="0"/>
                        </a:spcBef>
                        <a:spcAft>
                          <a:spcPts val="0"/>
                        </a:spcAft>
                      </a:pPr>
                      <a:r>
                        <a:rPr sz="819" b="0" i="0">
                          <a:solidFill>
                            <a:srgbClr val="1A1A1A"/>
                          </a:solidFill>
                          <a:latin typeface="Microsoft YaHei"/>
                        </a:rPr>
                        <a:t>时间参数</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相对自发察觉应提前多少？触发准则用时间还是减速度？</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触发准则（固定时间阈值／BTN）× </a:t>
                      </a:r>
                      <a:r>
                        <a:rPr sz="819" b="0" i="1">
                          <a:solidFill>
                            <a:srgbClr val="1A1A1A"/>
                          </a:solidFill>
                          <a:latin typeface="Microsoft YaHei"/>
                        </a:rPr>
                        <a:t>Δt</a:t>
                      </a:r>
                      <a:r>
                        <a:rPr sz="819" b="0" i="0">
                          <a:solidFill>
                            <a:srgbClr val="1A1A1A"/>
                          </a:solidFill>
                          <a:latin typeface="Microsoft YaHei"/>
                        </a:rPr>
                        <a:t>（0／+1.0／+2.5 s）= 2 × 3；区块 B 持续与撤销 3 水平</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首次注视时间（警告／行人）；制动启动、峰值减速度、抖动率；安全约束为最小 TTMD</a:t>
                      </a:r>
                    </a:p>
                  </a:txBody>
                  <a:tcPr marL="57150" marR="57150" marT="28575" marB="28575" anchor="t">
                    <a:noFill/>
                  </a:tcPr>
                </a:tc>
              </a:tr>
              <a:tr h="531465">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实验 3</a:t>
                      </a:r>
                    </a:p>
                    <a:p>
                      <a:pPr algn="l">
                        <a:lnSpc>
                          <a:spcPct val="148000"/>
                        </a:lnSpc>
                        <a:spcBef>
                          <a:spcPts val="0"/>
                        </a:spcBef>
                        <a:spcAft>
                          <a:spcPts val="0"/>
                        </a:spcAft>
                      </a:pPr>
                      <a:r>
                        <a:rPr sz="819" b="0" i="0">
                          <a:solidFill>
                            <a:srgbClr val="1A1A1A"/>
                          </a:solidFill>
                          <a:latin typeface="Microsoft YaHei"/>
                        </a:rPr>
                        <a:t>空间参数</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预警应锁定屏幕、道路、行人还是复合？</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主设计：锁定策略 5 水平（Baseline／BD／BR／BW／BW+BR）× 背景视觉复杂度 2 水平；负荷区块：BD／BW × 次任务负荷 2 水平</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真实行人首次注视时间；定位转换成本；并列终点含漏检率与 2000 ms 上界</a:t>
                      </a:r>
                    </a:p>
                  </a:txBody>
                  <a:tcPr marL="57150" marR="57150" marT="28575" marB="28575" anchor="t">
                    <a:solidFill>
                      <a:srgbClr val="FAFBFD"/>
                    </a:solidFill>
                  </a:tcPr>
                </a:tc>
                <a:tc>
                  <a:txBody>
                    <a:bodyPr/>
                    <a:lstStyle/>
                    <a:p/>
                  </a:txBody>
                  <a:tcPr/>
                </a:tc>
              </a:tr>
              <a:tr h="531465">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研究二</a:t>
                      </a:r>
                    </a:p>
                    <a:p>
                      <a:pPr algn="l">
                        <a:lnSpc>
                          <a:spcPct val="148000"/>
                        </a:lnSpc>
                        <a:spcBef>
                          <a:spcPts val="0"/>
                        </a:spcBef>
                        <a:spcAft>
                          <a:spcPts val="0"/>
                        </a:spcAft>
                      </a:pPr>
                      <a:r>
                        <a:rPr sz="819" b="0" i="0">
                          <a:solidFill>
                            <a:srgbClr val="1A1A1A"/>
                          </a:solidFill>
                          <a:latin typeface="Microsoft YaHei"/>
                        </a:rPr>
                        <a:t>盲区情境</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实验 4</a:t>
                      </a:r>
                    </a:p>
                    <a:p>
                      <a:pPr algn="l">
                        <a:lnSpc>
                          <a:spcPct val="148000"/>
                        </a:lnSpc>
                        <a:spcBef>
                          <a:spcPts val="0"/>
                        </a:spcBef>
                        <a:spcAft>
                          <a:spcPts val="0"/>
                        </a:spcAft>
                      </a:pPr>
                      <a:r>
                        <a:rPr sz="819" b="0" i="0">
                          <a:solidFill>
                            <a:srgbClr val="1A1A1A"/>
                          </a:solidFill>
                          <a:latin typeface="Microsoft YaHei"/>
                        </a:rPr>
                        <a:t>时间参数与可靠性</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相对自然显露应提前多少？预告区段是否有价值？可靠性如何调节？</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1">
                          <a:solidFill>
                            <a:srgbClr val="1A1A1A"/>
                          </a:solidFill>
                          <a:latin typeface="Microsoft YaHei"/>
                        </a:rPr>
                        <a:t>Δt′</a:t>
                      </a:r>
                      <a:r>
                        <a:rPr sz="819" b="0" i="0">
                          <a:solidFill>
                            <a:srgbClr val="1A1A1A"/>
                          </a:solidFill>
                          <a:latin typeface="Microsoft YaHei"/>
                        </a:rPr>
                        <a:t>（−0.5／0／+1.0／+2.5 s）× 可靠性（100%／80%）= 4 × 2，另加无预警基线；区块 B 分层语义分化</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预告区段内的预期性注视；路径侵入预测正确率；显露后行人首次注视时间；信任量表、预告级依从率、取消升级率</a:t>
                      </a:r>
                    </a:p>
                  </a:txBody>
                  <a:tcPr marL="57150" marR="57150" marT="28575" marB="28575" anchor="t">
                    <a:noFill/>
                  </a:tcPr>
                </a:tc>
              </a:tr>
              <a:tr h="376535">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实验 5</a:t>
                      </a:r>
                    </a:p>
                    <a:p>
                      <a:pPr algn="l">
                        <a:lnSpc>
                          <a:spcPct val="148000"/>
                        </a:lnSpc>
                        <a:spcBef>
                          <a:spcPts val="0"/>
                        </a:spcBef>
                        <a:spcAft>
                          <a:spcPts val="0"/>
                        </a:spcAft>
                      </a:pPr>
                      <a:r>
                        <a:rPr sz="819" b="0" i="0">
                          <a:solidFill>
                            <a:srgbClr val="1A1A1A"/>
                          </a:solidFill>
                          <a:latin typeface="Microsoft YaHei"/>
                        </a:rPr>
                        <a:t>空间参数</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目标锁定不可实现时应锚定于何处？最优解是否随遮挡几何变化？</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锚定策略 5 水平（Baseline／BO／BR-p／DR／BD-dir）× 遮挡几何 2 水平</a:t>
                      </a:r>
                    </a:p>
                  </a:txBody>
                  <a:tcPr marL="57150" marR="57150" marT="28575" marB="28575" anchor="t">
                    <a:solidFill>
                      <a:srgbClr val="FAFBFD"/>
                    </a:solid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显露后行人首次注视时间；定位转换成本、</a:t>
                      </a:r>
                      <a:r>
                        <a:rPr sz="819" b="1" i="0">
                          <a:solidFill>
                            <a:srgbClr val="1A1A1A"/>
                          </a:solidFill>
                          <a:latin typeface="Microsoft YaHei"/>
                        </a:rPr>
                        <a:t>遮挡体误锚定率</a:t>
                      </a:r>
                      <a:r>
                        <a:rPr sz="819" b="0" i="0">
                          <a:solidFill>
                            <a:srgbClr val="1A1A1A"/>
                          </a:solidFill>
                          <a:latin typeface="Microsoft YaHei"/>
                        </a:rPr>
                        <a:t>；并列终点含漏检率、深度判断误差、晕动与不适</a:t>
                      </a:r>
                    </a:p>
                  </a:txBody>
                  <a:tcPr marL="57150" marR="57150" marT="28575" marB="28575" anchor="t">
                    <a:solidFill>
                      <a:srgbClr val="FAFBFD"/>
                    </a:solidFill>
                  </a:tcPr>
                </a:tc>
                <a:tc>
                  <a:txBody>
                    <a:bodyPr/>
                    <a:lstStyle/>
                    <a:p/>
                  </a:txBody>
                  <a:tcPr/>
                </a:tc>
              </a:tr>
              <a:tr h="376535">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整合</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1" i="0">
                          <a:solidFill>
                            <a:srgbClr val="1A1A1A"/>
                          </a:solidFill>
                          <a:latin typeface="Microsoft YaHei"/>
                        </a:rPr>
                        <a:t>交叉迁移区块</a:t>
                      </a:r>
                    </a:p>
                    <a:p>
                      <a:pPr algn="l">
                        <a:lnSpc>
                          <a:spcPct val="148000"/>
                        </a:lnSpc>
                        <a:spcBef>
                          <a:spcPts val="0"/>
                        </a:spcBef>
                        <a:spcAft>
                          <a:spcPts val="0"/>
                        </a:spcAft>
                      </a:pPr>
                      <a:r>
                        <a:rPr sz="819" b="0" i="0">
                          <a:solidFill>
                            <a:srgbClr val="1A1A1A"/>
                          </a:solidFill>
                          <a:latin typeface="Microsoft YaHei"/>
                        </a:rPr>
                        <a:t>嵌入实验 3 与实验 5</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两套参数能否互换？</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情境（非盲区／盲区）× 方案来源（本情境入选／他情境入选）</a:t>
                      </a:r>
                    </a:p>
                  </a:txBody>
                  <a:tcPr marL="57150" marR="57150" marT="28575" marB="28575" anchor="t">
                    <a:noFill/>
                  </a:tcPr>
                </a:tc>
                <a:tc>
                  <a:txBody>
                    <a:bodyPr wrap="square" lIns="0" rIns="0" tIns="0" bIns="0" anchor="t"/>
                    <a:lstStyle/>
                    <a:p>
                      <a:pPr algn="l">
                        <a:lnSpc>
                          <a:spcPct val="148000"/>
                        </a:lnSpc>
                        <a:spcBef>
                          <a:spcPts val="0"/>
                        </a:spcBef>
                        <a:spcAft>
                          <a:spcPts val="0"/>
                        </a:spcAft>
                      </a:pPr>
                      <a:r>
                        <a:rPr sz="819" b="0" i="0">
                          <a:solidFill>
                            <a:srgbClr val="1A1A1A"/>
                          </a:solidFill>
                          <a:latin typeface="Microsoft YaHei"/>
                        </a:rPr>
                        <a:t>迁移损失 = 他情境方案绩效 − 本情境方案绩效，报告点估计与 95% 置信区间</a:t>
                      </a:r>
                    </a:p>
                  </a:txBody>
                  <a:tcPr marL="57150" marR="57150" marT="28575" marB="28575" anchor="t">
                    <a:noFill/>
                  </a:tcPr>
                </a:tc>
              </a:tr>
            </a:tbl>
          </a:graphicData>
        </a:graphic>
      </p:graphicFrame>
      <p:sp>
        <p:nvSpPr>
          <p:cNvPr id="7" name="Rectangle 6"/>
          <p:cNvSpPr/>
          <p:nvPr/>
        </p:nvSpPr>
        <p:spPr>
          <a:xfrm>
            <a:off x="438150" y="3828901"/>
            <a:ext cx="11315700" cy="588764"/>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3828901"/>
            <a:ext cx="38100" cy="588764"/>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975" y="3914626"/>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判定顺序（不评选单一冠军，结果以帕累托前沿呈现）：</a:t>
            </a:r>
            <a:r>
              <a:rPr sz="990" b="0" i="0">
                <a:solidFill>
                  <a:srgbClr val="6B5200"/>
                </a:solidFill>
                <a:latin typeface="Microsoft YaHei"/>
              </a:rPr>
              <a:t>① </a:t>
            </a:r>
            <a:r>
              <a:rPr sz="990" b="1" i="0">
                <a:solidFill>
                  <a:srgbClr val="8A6A00"/>
                </a:solidFill>
                <a:latin typeface="Microsoft YaHei"/>
              </a:rPr>
              <a:t>安全非劣</a:t>
            </a:r>
            <a:r>
              <a:rPr sz="990" b="0" i="0">
                <a:solidFill>
                  <a:srgbClr val="6B5200"/>
                </a:solidFill>
                <a:latin typeface="Microsoft YaHei"/>
              </a:rPr>
              <a:t>——最小 TTMD 的组间差下限大于 −0.2 s 且碰撞率不高于基线；② </a:t>
            </a:r>
            <a:r>
              <a:rPr sz="990" b="1" i="0">
                <a:solidFill>
                  <a:srgbClr val="8A6A00"/>
                </a:solidFill>
                <a:latin typeface="Microsoft YaHei"/>
              </a:rPr>
              <a:t>漏检非劣</a:t>
            </a:r>
            <a:r>
              <a:rPr sz="990" b="0" i="0">
                <a:solidFill>
                  <a:srgbClr val="6B5200"/>
                </a:solidFill>
                <a:latin typeface="Microsoft YaHei"/>
              </a:rPr>
              <a:t>——未增强危险漏检率不高于基线（</a:t>
            </a:r>
            <a:r>
              <a:rPr sz="990" b="1" i="0">
                <a:solidFill>
                  <a:srgbClr val="8A6A00"/>
                </a:solidFill>
                <a:latin typeface="Microsoft YaHei"/>
              </a:rPr>
              <a:t>盲区情境下此条前置至第二位</a:t>
            </a:r>
            <a:r>
              <a:rPr sz="990" b="0" i="0">
                <a:solidFill>
                  <a:srgbClr val="6B5200"/>
                </a:solidFill>
                <a:latin typeface="Microsoft YaHei"/>
              </a:rPr>
              <a:t>，依据 H4′）；③ 制动更平顺者；④ 认知代价更低者；⑤ 低可靠性下退化更小者；⑥ 仅在上述条件相当时，才以反应时与主观偏好定选。</a:t>
            </a:r>
          </a:p>
        </p:txBody>
      </p:sp>
      <p:sp>
        <p:nvSpPr>
          <p:cNvPr id="10" name="Rounded Rectangle 9"/>
          <p:cNvSpPr/>
          <p:nvPr/>
        </p:nvSpPr>
        <p:spPr>
          <a:xfrm>
            <a:off x="438150" y="4493865"/>
            <a:ext cx="5572125" cy="1791592"/>
          </a:xfrm>
          <a:prstGeom prst="roundRect">
            <a:avLst>
              <a:gd name="adj" fmla="val 3721"/>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71500" y="4827240"/>
            <a:ext cx="530542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 y="4589115"/>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被试与场次安排</a:t>
            </a:r>
          </a:p>
        </p:txBody>
      </p:sp>
      <p:sp>
        <p:nvSpPr>
          <p:cNvPr id="13" name="TextBox 12"/>
          <p:cNvSpPr txBox="1"/>
          <p:nvPr/>
        </p:nvSpPr>
        <p:spPr>
          <a:xfrm>
            <a:off x="638175" y="4893915"/>
            <a:ext cx="5276850" cy="243036"/>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实验 1 与实验 2 复用同一批被试</a:t>
            </a:r>
            <a:r>
              <a:rPr sz="1040" b="0" i="0">
                <a:solidFill>
                  <a:srgbClr val="1A1A1A"/>
                </a:solidFill>
                <a:latin typeface="Microsoft YaHei"/>
              </a:rPr>
              <a:t>——自变量 </a:t>
            </a:r>
            <a:r>
              <a:rPr sz="1040" b="0" i="1">
                <a:solidFill>
                  <a:srgbClr val="1A1A1A"/>
                </a:solidFill>
                <a:latin typeface="Microsoft YaHei"/>
              </a:rPr>
              <a:t>Δt</a:t>
            </a:r>
            <a:r>
              <a:rPr sz="1040" b="0" i="0">
                <a:solidFill>
                  <a:srgbClr val="1A1A1A"/>
                </a:solidFill>
                <a:latin typeface="Microsoft YaHei"/>
              </a:rPr>
              <a:t> 需要被试自身的 </a:t>
            </a:r>
            <a:r>
              <a:rPr sz="1040" b="0" i="1">
                <a:solidFill>
                  <a:srgbClr val="1A1A1A"/>
                </a:solidFill>
                <a:latin typeface="Microsoft YaHei"/>
              </a:rPr>
              <a:t>t</a:t>
            </a:r>
            <a:r>
              <a:rPr sz="720" b="0" i="1" baseline="-25000">
                <a:solidFill>
                  <a:srgbClr val="1A1A1A"/>
                </a:solidFill>
                <a:latin typeface="Microsoft YaHei"/>
              </a:rPr>
              <a:t>0</a:t>
            </a:r>
            <a:r>
              <a:rPr sz="1040" b="0" i="0">
                <a:solidFill>
                  <a:srgbClr val="1A1A1A"/>
                </a:solidFill>
                <a:latin typeface="Microsoft YaHei"/>
              </a:rPr>
              <a:t>。</a:t>
            </a:r>
          </a:p>
        </p:txBody>
      </p:sp>
      <p:sp>
        <p:nvSpPr>
          <p:cNvPr id="14" name="TextBox 13"/>
          <p:cNvSpPr txBox="1"/>
          <p:nvPr/>
        </p:nvSpPr>
        <p:spPr>
          <a:xfrm>
            <a:off x="638175" y="5127426"/>
            <a:ext cx="5276850" cy="243036"/>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实验 4 无须复用被试</a:t>
            </a:r>
            <a:r>
              <a:rPr sz="1040" b="0" i="0">
                <a:solidFill>
                  <a:srgbClr val="1A1A1A"/>
                </a:solidFill>
                <a:latin typeface="Microsoft YaHei"/>
              </a:rPr>
              <a:t>——</a:t>
            </a:r>
            <a:r>
              <a:rPr sz="1040" b="0" i="1">
                <a:solidFill>
                  <a:srgbClr val="1A1A1A"/>
                </a:solidFill>
                <a:latin typeface="Microsoft YaHei"/>
              </a:rPr>
              <a:t>t</a:t>
            </a:r>
            <a:r>
              <a:rPr sz="720" b="0" i="1" baseline="-25000">
                <a:solidFill>
                  <a:srgbClr val="1A1A1A"/>
                </a:solidFill>
                <a:latin typeface="Microsoft YaHei"/>
              </a:rPr>
              <a:t>reveal</a:t>
            </a:r>
            <a:r>
              <a:rPr sz="1040" b="0" i="0">
                <a:solidFill>
                  <a:srgbClr val="1A1A1A"/>
                </a:solidFill>
                <a:latin typeface="Microsoft YaHei"/>
              </a:rPr>
              <a:t> 为几何量、被试间恒定，故 </a:t>
            </a:r>
            <a:r>
              <a:rPr sz="1040" b="0" i="1">
                <a:solidFill>
                  <a:srgbClr val="1A1A1A"/>
                </a:solidFill>
                <a:latin typeface="Microsoft YaHei"/>
              </a:rPr>
              <a:t>Δt′</a:t>
            </a:r>
            <a:r>
              <a:rPr sz="1040" b="0" i="0">
                <a:solidFill>
                  <a:srgbClr val="1A1A1A"/>
                </a:solidFill>
                <a:latin typeface="Microsoft YaHei"/>
              </a:rPr>
              <a:t> 可直接操纵。</a:t>
            </a:r>
          </a:p>
        </p:txBody>
      </p:sp>
      <p:sp>
        <p:nvSpPr>
          <p:cNvPr id="15" name="TextBox 14"/>
          <p:cNvSpPr txBox="1"/>
          <p:nvPr/>
        </p:nvSpPr>
        <p:spPr>
          <a:xfrm>
            <a:off x="638175" y="5360937"/>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0" i="0">
                <a:solidFill>
                  <a:srgbClr val="1A1A1A"/>
                </a:solidFill>
                <a:latin typeface="Microsoft YaHei"/>
              </a:rPr>
              <a:t>招募受限时两项研究各由一批被试完成两个场次，</a:t>
            </a:r>
            <a:r>
              <a:rPr sz="1040" b="1" i="0">
                <a:solidFill>
                  <a:srgbClr val="1A1A1A"/>
                </a:solidFill>
                <a:latin typeface="Microsoft YaHei"/>
              </a:rPr>
              <a:t>场景集交叉替换并至少间隔 7 天</a:t>
            </a:r>
            <a:r>
              <a:rPr sz="1040" b="0" i="0">
                <a:solidFill>
                  <a:srgbClr val="1A1A1A"/>
                </a:solidFill>
                <a:latin typeface="Microsoft YaHei"/>
              </a:rPr>
              <a:t>；样本量按预实验方差与约 10% 脱落重算（穿透显影按 15%）。</a:t>
            </a:r>
          </a:p>
        </p:txBody>
      </p:sp>
      <p:sp>
        <p:nvSpPr>
          <p:cNvPr id="16" name="Rounded Rectangle 15"/>
          <p:cNvSpPr/>
          <p:nvPr/>
        </p:nvSpPr>
        <p:spPr>
          <a:xfrm>
            <a:off x="6181725" y="4493865"/>
            <a:ext cx="5572125" cy="1791592"/>
          </a:xfrm>
          <a:prstGeom prst="roundRect">
            <a:avLst>
              <a:gd name="adj" fmla="val 3721"/>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15075" y="4827240"/>
            <a:ext cx="53054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5075" y="4589115"/>
            <a:ext cx="53435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统一场景族（实验 1／2／4 共用）</a:t>
            </a:r>
          </a:p>
        </p:txBody>
      </p:sp>
      <p:sp>
        <p:nvSpPr>
          <p:cNvPr id="19" name="TextBox 18"/>
          <p:cNvSpPr txBox="1"/>
          <p:nvPr/>
        </p:nvSpPr>
        <p:spPr>
          <a:xfrm>
            <a:off x="6381750" y="4893915"/>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遮挡体：</a:t>
            </a:r>
            <a:r>
              <a:rPr sz="1040" b="0" i="0">
                <a:solidFill>
                  <a:srgbClr val="1A1A1A"/>
                </a:solidFill>
                <a:latin typeface="Microsoft YaHei"/>
              </a:rPr>
              <a:t>路侧停放的同色厢式货车（近距侧方）与路侧公交车（远距前方），均取自已发表范式。</a:t>
            </a:r>
          </a:p>
        </p:txBody>
      </p:sp>
      <p:sp>
        <p:nvSpPr>
          <p:cNvPr id="20" name="TextBox 19"/>
          <p:cNvSpPr txBox="1"/>
          <p:nvPr/>
        </p:nvSpPr>
        <p:spPr>
          <a:xfrm>
            <a:off x="6381750" y="5322837"/>
            <a:ext cx="5276850" cy="438447"/>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行人：</a:t>
            </a:r>
            <a:r>
              <a:rPr sz="1040" b="0" i="0">
                <a:solidFill>
                  <a:srgbClr val="1A1A1A"/>
                </a:solidFill>
                <a:latin typeface="Microsoft YaHei"/>
              </a:rPr>
              <a:t>机动车道右边线外 2.5 m、斑马线外，步速 1.0 m/s（主）与 1.5 m/s（稳健性检查）。</a:t>
            </a:r>
          </a:p>
        </p:txBody>
      </p:sp>
      <p:sp>
        <p:nvSpPr>
          <p:cNvPr id="21" name="TextBox 20"/>
          <p:cNvSpPr txBox="1"/>
          <p:nvPr/>
        </p:nvSpPr>
        <p:spPr>
          <a:xfrm>
            <a:off x="6381750" y="5751760"/>
            <a:ext cx="5276850" cy="447972"/>
          </a:xfrm>
          <a:prstGeom prst="rect">
            <a:avLst/>
          </a:prstGeom>
          <a:noFill/>
        </p:spPr>
        <p:txBody>
          <a:bodyPr wrap="square" lIns="0" rIns="0" tIns="0" bIns="0" anchor="t">
            <a:normAutofit/>
          </a:bodyPr>
          <a:lstStyle/>
          <a:p>
            <a:pPr algn="l">
              <a:lnSpc>
                <a:spcPct val="156000"/>
              </a:lnSpc>
              <a:spcBef>
                <a:spcPts val="0"/>
              </a:spcBef>
              <a:spcAft>
                <a:spcPts val="0"/>
              </a:spcAft>
            </a:pPr>
            <a:r>
              <a:rPr sz="1040">
                <a:latin typeface="Microsoft YaHei"/>
              </a:rPr>
              <a:t>• </a:t>
            </a:r>
            <a:r>
              <a:rPr sz="1040" b="1" i="0">
                <a:solidFill>
                  <a:srgbClr val="1A1A1A"/>
                </a:solidFill>
                <a:latin typeface="Microsoft YaHei"/>
              </a:rPr>
              <a:t>车速 40／60 km/h；</a:t>
            </a:r>
            <a:r>
              <a:rPr sz="1040" b="1" i="1">
                <a:solidFill>
                  <a:srgbClr val="1A1A1A"/>
                </a:solidFill>
                <a:latin typeface="Microsoft YaHei"/>
              </a:rPr>
              <a:t>t</a:t>
            </a:r>
            <a:r>
              <a:rPr sz="720" b="1" i="1" baseline="-25000">
                <a:solidFill>
                  <a:srgbClr val="1A1A1A"/>
                </a:solidFill>
                <a:latin typeface="Microsoft YaHei"/>
              </a:rPr>
              <a:t>detect</a:t>
            </a:r>
            <a:r>
              <a:rPr sz="1040" b="0" i="0">
                <a:solidFill>
                  <a:srgbClr val="1A1A1A"/>
                </a:solidFill>
                <a:latin typeface="Microsoft YaHei"/>
              </a:rPr>
              <a:t> 设于距行人 100 m（约 6 s @60 km/h）。</a:t>
            </a:r>
            <a:r>
              <a:rPr sz="1040" b="1" i="0">
                <a:solidFill>
                  <a:srgbClr val="1A1A1A"/>
                </a:solidFill>
                <a:latin typeface="Microsoft YaHei"/>
              </a:rPr>
              <a:t>车—人间隙 1.5–7 s</a:t>
            </a:r>
            <a:r>
              <a:rPr sz="1040" b="0" i="0">
                <a:solidFill>
                  <a:srgbClr val="1A1A1A"/>
                </a:solidFill>
                <a:latin typeface="Microsoft YaHei"/>
              </a:rPr>
              <a:t>，主实验取 3–7 s 模糊带（端点属综述转引，</a:t>
            </a:r>
            <a:r>
              <a:rPr sz="1040" b="1" i="0">
                <a:solidFill>
                  <a:srgbClr val="1A1A1A"/>
                </a:solidFill>
                <a:latin typeface="Microsoft YaHei"/>
              </a:rPr>
              <a:t>不作效应量依据</a:t>
            </a:r>
            <a:r>
              <a:rPr sz="1040" b="0" i="0">
                <a:solidFill>
                  <a:srgbClr val="1A1A1A"/>
                </a:solidFill>
                <a:latin typeface="Microsoft YaHei"/>
              </a:rPr>
              <a:t>）。</a:t>
            </a:r>
          </a:p>
        </p:txBody>
      </p:sp>
      <p:sp>
        <p:nvSpPr>
          <p:cNvPr id="22" name="TextBox 21"/>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方法学规范</a:t>
            </a:r>
            <a:r>
              <a:rPr sz="1580" b="1" i="0">
                <a:solidFill>
                  <a:srgbClr val="4472C4"/>
                </a:solidFill>
                <a:latin typeface="Microsoft YaHei"/>
              </a:rPr>
              <a:t>共同规范与盲区情境特有的四项控制</a:t>
            </a:r>
          </a:p>
        </p:txBody>
      </p:sp>
      <p:sp>
        <p:nvSpPr>
          <p:cNvPr id="4" name="Rounded Rectangle 3"/>
          <p:cNvSpPr/>
          <p:nvPr/>
        </p:nvSpPr>
        <p:spPr>
          <a:xfrm>
            <a:off x="11321355" y="209550"/>
            <a:ext cx="43249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6130" y="238125"/>
            <a:ext cx="26104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6 / 6</a:t>
            </a:r>
          </a:p>
        </p:txBody>
      </p:sp>
      <p:sp>
        <p:nvSpPr>
          <p:cNvPr id="6" name="Rounded Rectangle 5"/>
          <p:cNvSpPr/>
          <p:nvPr/>
        </p:nvSpPr>
        <p:spPr>
          <a:xfrm>
            <a:off x="438150" y="762000"/>
            <a:ext cx="5572125" cy="4575571"/>
          </a:xfrm>
          <a:prstGeom prst="roundRect">
            <a:avLst>
              <a:gd name="adj" fmla="val 1457"/>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1025" y="1133475"/>
            <a:ext cx="528637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85825"/>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2F528F"/>
                </a:solidFill>
                <a:latin typeface="Microsoft YaHei"/>
              </a:rPr>
              <a:t>两情境共同规范</a:t>
            </a:r>
          </a:p>
        </p:txBody>
      </p:sp>
      <p:sp>
        <p:nvSpPr>
          <p:cNvPr id="9" name="TextBox 8"/>
          <p:cNvSpPr txBox="1"/>
          <p:nvPr/>
        </p:nvSpPr>
        <p:spPr>
          <a:xfrm>
            <a:off x="647700" y="1219200"/>
            <a:ext cx="5257800"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被试内设计加混合模型，被试与场景为随机效应；反应时按右偏分布处理。</a:t>
            </a:r>
          </a:p>
        </p:txBody>
      </p:sp>
      <p:sp>
        <p:nvSpPr>
          <p:cNvPr id="10" name="TextBox 9"/>
          <p:cNvSpPr txBox="1"/>
          <p:nvPr/>
        </p:nvSpPr>
        <p:spPr>
          <a:xfrm>
            <a:off x="647700" y="1456283"/>
            <a:ext cx="5257800"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主要结局</a:t>
            </a:r>
            <a:r>
              <a:rPr sz="1040" b="1" i="0">
                <a:solidFill>
                  <a:srgbClr val="1A1A1A"/>
                </a:solidFill>
                <a:latin typeface="Microsoft YaHei"/>
              </a:rPr>
              <a:t>预注册</a:t>
            </a:r>
            <a:r>
              <a:rPr sz="1040" b="0" i="0">
                <a:solidFill>
                  <a:srgbClr val="1A1A1A"/>
                </a:solidFill>
                <a:latin typeface="Microsoft YaHei"/>
              </a:rPr>
              <a:t>；次要结局按错误发现率校正；报告估计差、95% 置信区间与效应量。</a:t>
            </a:r>
          </a:p>
        </p:txBody>
      </p:sp>
      <p:sp>
        <p:nvSpPr>
          <p:cNvPr id="11" name="TextBox 10"/>
          <p:cNvSpPr txBox="1"/>
          <p:nvPr/>
        </p:nvSpPr>
        <p:spPr>
          <a:xfrm>
            <a:off x="647700" y="1693366"/>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眼动采用动态兴趣区、有效率不低于 80%，</a:t>
            </a:r>
            <a:r>
              <a:rPr sz="1040" b="1" i="0">
                <a:solidFill>
                  <a:srgbClr val="1A1A1A"/>
                </a:solidFill>
                <a:latin typeface="Microsoft YaHei"/>
              </a:rPr>
              <a:t>并区分四类兴趣区</a:t>
            </a:r>
            <a:r>
              <a:rPr sz="1040" b="0" i="0">
                <a:solidFill>
                  <a:srgbClr val="1A1A1A"/>
                </a:solidFill>
                <a:latin typeface="Microsoft YaHei"/>
              </a:rPr>
              <a:t>：警告、真实行人、</a:t>
            </a:r>
            <a:r>
              <a:rPr sz="1040" b="1" i="0">
                <a:solidFill>
                  <a:srgbClr val="1A1A1A"/>
                </a:solidFill>
                <a:latin typeface="Microsoft YaHei"/>
              </a:rPr>
              <a:t>遮挡体</a:t>
            </a:r>
            <a:r>
              <a:rPr sz="1040" b="0" i="0">
                <a:solidFill>
                  <a:srgbClr val="1A1A1A"/>
                </a:solidFill>
                <a:latin typeface="Microsoft YaHei"/>
              </a:rPr>
              <a:t>、未增强危险。</a:t>
            </a:r>
          </a:p>
        </p:txBody>
      </p:sp>
      <p:sp>
        <p:nvSpPr>
          <p:cNvPr id="12" name="TextBox 11"/>
          <p:cNvSpPr txBox="1"/>
          <p:nvPr/>
        </p:nvSpPr>
        <p:spPr>
          <a:xfrm>
            <a:off x="647700" y="2148482"/>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相邻危险事件间隔取 60 秒。</a:t>
            </a:r>
            <a:r>
              <a:rPr sz="1040" b="0" i="0">
                <a:solidFill>
                  <a:srgbClr val="1A1A1A"/>
                </a:solidFill>
                <a:latin typeface="Microsoft YaHei"/>
              </a:rPr>
              <a:t>依据：次任务结束后分心影响仍持续 30 秒以上，取 60 秒留一倍冗余；并插入填充试次与捕获试次抑制预期与习惯化。</a:t>
            </a:r>
          </a:p>
        </p:txBody>
      </p:sp>
      <p:sp>
        <p:nvSpPr>
          <p:cNvPr id="13" name="TextBox 12"/>
          <p:cNvSpPr txBox="1"/>
          <p:nvPr/>
        </p:nvSpPr>
        <p:spPr>
          <a:xfrm>
            <a:off x="647700" y="2603599"/>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0" i="0">
                <a:solidFill>
                  <a:srgbClr val="1A1A1A"/>
                </a:solidFill>
                <a:latin typeface="Microsoft YaHei"/>
              </a:rPr>
              <a:t>样本量以最小具有实际意义的差异加混合模型模拟确定，并按预实验方差与约 10% 的眼动无效或晕动脱落重新计算；穿透显影条件按 15% 估计。</a:t>
            </a:r>
          </a:p>
        </p:txBody>
      </p:sp>
      <p:sp>
        <p:nvSpPr>
          <p:cNvPr id="14" name="TextBox 13"/>
          <p:cNvSpPr txBox="1"/>
          <p:nvPr/>
        </p:nvSpPr>
        <p:spPr>
          <a:xfrm>
            <a:off x="647700" y="3058715"/>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被试与场次安排：</a:t>
            </a:r>
            <a:r>
              <a:rPr sz="1040" b="0" i="0">
                <a:solidFill>
                  <a:srgbClr val="1A1A1A"/>
                </a:solidFill>
                <a:latin typeface="Microsoft YaHei"/>
              </a:rPr>
              <a:t>实验 1 与实验 2 复用同一批被试；实验 4 因零点被试间恒定</a:t>
            </a:r>
            <a:r>
              <a:rPr sz="1040" b="1" i="0">
                <a:solidFill>
                  <a:srgbClr val="1A1A1A"/>
                </a:solidFill>
                <a:latin typeface="Microsoft YaHei"/>
              </a:rPr>
              <a:t>无须复用</a:t>
            </a:r>
            <a:r>
              <a:rPr sz="1040" b="0" i="0">
                <a:solidFill>
                  <a:srgbClr val="1A1A1A"/>
                </a:solidFill>
                <a:latin typeface="Microsoft YaHei"/>
              </a:rPr>
              <a:t>，可独立招募。</a:t>
            </a:r>
          </a:p>
        </p:txBody>
      </p:sp>
      <p:sp>
        <p:nvSpPr>
          <p:cNvPr id="15" name="Rounded Rectangle 14"/>
          <p:cNvSpPr/>
          <p:nvPr/>
        </p:nvSpPr>
        <p:spPr>
          <a:xfrm>
            <a:off x="6181725" y="762000"/>
            <a:ext cx="5572125" cy="4575571"/>
          </a:xfrm>
          <a:prstGeom prst="roundRect">
            <a:avLst>
              <a:gd name="adj" fmla="val 1457"/>
            </a:avLst>
          </a:prstGeom>
          <a:solidFill>
            <a:srgbClr val="FAF7FD"/>
          </a:solidFill>
          <a:ln w="9525">
            <a:solidFill>
              <a:srgbClr val="7B5E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324600" y="1133475"/>
            <a:ext cx="5286375" cy="9525"/>
          </a:xfrm>
          <a:prstGeom prst="rect">
            <a:avLst/>
          </a:prstGeom>
          <a:solidFill>
            <a:srgbClr val="E4D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0" y="885825"/>
            <a:ext cx="532447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7B5EA7"/>
                </a:solidFill>
                <a:latin typeface="Microsoft YaHei"/>
              </a:rPr>
              <a:t>盲区情境特有的四项控制</a:t>
            </a:r>
          </a:p>
        </p:txBody>
      </p:sp>
      <p:sp>
        <p:nvSpPr>
          <p:cNvPr id="18" name="TextBox 17"/>
          <p:cNvSpPr txBox="1"/>
          <p:nvPr/>
        </p:nvSpPr>
        <p:spPr>
          <a:xfrm>
            <a:off x="6324600" y="1219200"/>
            <a:ext cx="53244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b="1" i="0">
                <a:solidFill>
                  <a:srgbClr val="1A1A1A"/>
                </a:solidFill>
                <a:latin typeface="Microsoft YaHei"/>
              </a:rPr>
              <a:t>问题：</a:t>
            </a:r>
            <a:r>
              <a:rPr sz="1040" b="0" i="0">
                <a:solidFill>
                  <a:srgbClr val="1A1A1A"/>
                </a:solidFill>
                <a:latin typeface="Microsoft YaHei"/>
              </a:rPr>
              <a:t>遮挡场景高度可预期，被试经数试次即习得「遮挡体后必有行人」，从而以预期性注视代替对预警的响应，使效应量被系统性污染。</a:t>
            </a:r>
          </a:p>
        </p:txBody>
      </p:sp>
      <p:sp>
        <p:nvSpPr>
          <p:cNvPr id="19" name="TextBox 18"/>
          <p:cNvSpPr txBox="1"/>
          <p:nvPr/>
        </p:nvSpPr>
        <p:spPr>
          <a:xfrm>
            <a:off x="6391275" y="1712416"/>
            <a:ext cx="5257800"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① 密度稀释。</a:t>
            </a:r>
            <a:r>
              <a:rPr sz="1040" b="0" i="0">
                <a:solidFill>
                  <a:srgbClr val="1A1A1A"/>
                </a:solidFill>
                <a:latin typeface="Microsoft YaHei"/>
              </a:rPr>
              <a:t>以填充试次把遮挡事件密度压至不超过总事件的四分之一。</a:t>
            </a:r>
          </a:p>
        </p:txBody>
      </p:sp>
      <p:sp>
        <p:nvSpPr>
          <p:cNvPr id="20" name="TextBox 19"/>
          <p:cNvSpPr txBox="1"/>
          <p:nvPr/>
        </p:nvSpPr>
        <p:spPr>
          <a:xfrm>
            <a:off x="6391275" y="1949499"/>
            <a:ext cx="5257800"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② 捕获试次。</a:t>
            </a:r>
            <a:r>
              <a:rPr sz="1040" b="0" i="0">
                <a:solidFill>
                  <a:srgbClr val="1A1A1A"/>
                </a:solidFill>
                <a:latin typeface="Microsoft YaHei"/>
              </a:rPr>
              <a:t>设置</a:t>
            </a:r>
            <a:r>
              <a:rPr sz="1040" b="1" i="0">
                <a:solidFill>
                  <a:srgbClr val="1A1A1A"/>
                </a:solidFill>
                <a:latin typeface="Microsoft YaHei"/>
              </a:rPr>
              <a:t>遮挡体后无行人</a:t>
            </a:r>
            <a:r>
              <a:rPr sz="1040" b="0" i="0">
                <a:solidFill>
                  <a:srgbClr val="1A1A1A"/>
                </a:solidFill>
                <a:latin typeface="Microsoft YaHei"/>
              </a:rPr>
              <a:t>的试次，以测虚警条件下的行为，并使「遮挡必有行人」的规则不成立。</a:t>
            </a:r>
          </a:p>
        </p:txBody>
      </p:sp>
      <p:sp>
        <p:nvSpPr>
          <p:cNvPr id="21" name="TextBox 20"/>
          <p:cNvSpPr txBox="1"/>
          <p:nvPr/>
        </p:nvSpPr>
        <p:spPr>
          <a:xfrm>
            <a:off x="6391275" y="2404616"/>
            <a:ext cx="5257800"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③ 序号协变量。</a:t>
            </a:r>
            <a:r>
              <a:rPr sz="1040" b="0" i="0">
                <a:solidFill>
                  <a:srgbClr val="1A1A1A"/>
                </a:solidFill>
                <a:latin typeface="Microsoft YaHei"/>
              </a:rPr>
              <a:t>在模型中把试次序号作为协变量，显式检验并报告学习效应。</a:t>
            </a:r>
          </a:p>
        </p:txBody>
      </p:sp>
      <p:sp>
        <p:nvSpPr>
          <p:cNvPr id="22" name="TextBox 21"/>
          <p:cNvSpPr txBox="1"/>
          <p:nvPr/>
        </p:nvSpPr>
        <p:spPr>
          <a:xfrm>
            <a:off x="6391275" y="2641699"/>
            <a:ext cx="5257800" cy="246608"/>
          </a:xfrm>
          <a:prstGeom prst="rect">
            <a:avLst/>
          </a:prstGeom>
          <a:noFill/>
        </p:spPr>
        <p:txBody>
          <a:bodyPr wrap="square" lIns="0" rIns="0" tIns="0" bIns="0" anchor="t">
            <a:normAutofit/>
          </a:bodyPr>
          <a:lstStyle/>
          <a:p>
            <a:pPr algn="l">
              <a:lnSpc>
                <a:spcPct val="166000"/>
              </a:lnSpc>
              <a:spcBef>
                <a:spcPts val="0"/>
              </a:spcBef>
              <a:spcAft>
                <a:spcPts val="0"/>
              </a:spcAft>
            </a:pPr>
            <a:r>
              <a:rPr sz="1040">
                <a:latin typeface="Microsoft YaHei"/>
              </a:rPr>
              <a:t>• </a:t>
            </a:r>
            <a:r>
              <a:rPr sz="1040" b="1" i="0">
                <a:solidFill>
                  <a:srgbClr val="1A1A1A"/>
                </a:solidFill>
                <a:latin typeface="Microsoft YaHei"/>
              </a:rPr>
              <a:t>④ 首试次单独分析。</a:t>
            </a:r>
            <a:r>
              <a:rPr sz="1040" b="0" i="0">
                <a:solidFill>
                  <a:srgbClr val="1A1A1A"/>
                </a:solidFill>
                <a:latin typeface="Microsoft YaHei"/>
              </a:rPr>
              <a:t>报告首个遮挡试次的单独结果，作为「无预期」条件的近似。</a:t>
            </a:r>
          </a:p>
        </p:txBody>
      </p:sp>
      <p:sp>
        <p:nvSpPr>
          <p:cNvPr id="23" name="TextBox 22"/>
          <p:cNvSpPr txBox="1"/>
          <p:nvPr/>
        </p:nvSpPr>
        <p:spPr>
          <a:xfrm>
            <a:off x="6324600" y="2916882"/>
            <a:ext cx="5324475" cy="464641"/>
          </a:xfrm>
          <a:prstGeom prst="rect">
            <a:avLst/>
          </a:prstGeom>
          <a:noFill/>
        </p:spPr>
        <p:txBody>
          <a:bodyPr wrap="square" lIns="0" rIns="0" tIns="0" bIns="0" anchor="t">
            <a:normAutofit/>
          </a:bodyPr>
          <a:lstStyle/>
          <a:p>
            <a:pPr algn="l">
              <a:lnSpc>
                <a:spcPct val="166000"/>
              </a:lnSpc>
              <a:spcBef>
                <a:spcPts val="0"/>
              </a:spcBef>
              <a:spcAft>
                <a:spcPts val="0"/>
              </a:spcAft>
            </a:pPr>
            <a:r>
              <a:rPr sz="1040" b="1" i="0">
                <a:solidFill>
                  <a:srgbClr val="1A1A1A"/>
                </a:solidFill>
                <a:latin typeface="Microsoft YaHei"/>
              </a:rPr>
              <a:t>残余局限（须在讨论中声明）：</a:t>
            </a:r>
            <a:r>
              <a:rPr sz="1040" b="0" i="0">
                <a:solidFill>
                  <a:srgbClr val="1A1A1A"/>
                </a:solidFill>
                <a:latin typeface="Microsoft YaHei"/>
              </a:rPr>
              <a:t>可预期性无法完全消除，故本研究的效应量相对真实突发遮挡事件的</a:t>
            </a:r>
            <a:r>
              <a:rPr sz="1040" b="1" i="0">
                <a:solidFill>
                  <a:srgbClr val="1A1A1A"/>
                </a:solidFill>
                <a:latin typeface="Microsoft YaHei"/>
              </a:rPr>
              <a:t>偏误方向不明</a:t>
            </a:r>
            <a:r>
              <a:rPr sz="1040" b="0" i="0">
                <a:solidFill>
                  <a:srgbClr val="1A1A1A"/>
                </a:solidFill>
                <a:latin typeface="Microsoft YaHei"/>
              </a:rPr>
              <a:t>，须并列陈述高估与低估两种可能，不得单向断言保守。</a:t>
            </a:r>
          </a:p>
        </p:txBody>
      </p:sp>
      <p:sp>
        <p:nvSpPr>
          <p:cNvPr id="24" name="Rectangle 23"/>
          <p:cNvSpPr/>
          <p:nvPr/>
        </p:nvSpPr>
        <p:spPr>
          <a:xfrm>
            <a:off x="438150" y="5442346"/>
            <a:ext cx="11315700" cy="1015603"/>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8150" y="5442346"/>
            <a:ext cx="38100" cy="1015603"/>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1975" y="5528071"/>
            <a:ext cx="11106150" cy="872728"/>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结论边界（七条，须在论文中显式声明）：</a:t>
            </a:r>
            <a:r>
              <a:rPr sz="990" b="0" i="0">
                <a:solidFill>
                  <a:srgbClr val="7A1F1F"/>
                </a:solidFill>
                <a:latin typeface="Microsoft YaHei"/>
              </a:rPr>
              <a:t>① 短期模拟驾驶、视觉 AR-HUD、城市行人横穿，不外推长期使用与最后时刻的多模态干预；② 盲区限于</a:t>
            </a:r>
            <a:r>
              <a:rPr sz="990" b="1" i="0">
                <a:solidFill>
                  <a:srgbClr val="7A1F1F"/>
                </a:solidFill>
                <a:latin typeface="Microsoft YaHei"/>
              </a:rPr>
              <a:t>单一遮挡体的几何遮挡</a:t>
            </a:r>
            <a:r>
              <a:rPr sz="990" b="0" i="0">
                <a:solidFill>
                  <a:srgbClr val="7A1F1F"/>
                </a:solidFill>
                <a:latin typeface="Microsoft YaHei"/>
              </a:rPr>
              <a:t>，多重遮挡、行进车辆造成的间歇遮挡与天气致能见度下降均不在范围内；③ </a:t>
            </a:r>
            <a:r>
              <a:rPr sz="990" b="0" i="1">
                <a:solidFill>
                  <a:srgbClr val="7A1F1F"/>
                </a:solidFill>
                <a:latin typeface="Microsoft YaHei"/>
              </a:rPr>
              <a:t>t</a:t>
            </a:r>
            <a:r>
              <a:rPr sz="690" b="0" i="1" baseline="-25000">
                <a:solidFill>
                  <a:srgbClr val="7A1F1F"/>
                </a:solidFill>
                <a:latin typeface="Microsoft YaHei"/>
              </a:rPr>
              <a:t>reveal</a:t>
            </a:r>
            <a:r>
              <a:rPr sz="990" b="0" i="0">
                <a:solidFill>
                  <a:srgbClr val="7A1F1F"/>
                </a:solidFill>
                <a:latin typeface="Microsoft YaHei"/>
              </a:rPr>
              <a:t> 的解析解依赖遮挡体几何与眼点位置，</a:t>
            </a:r>
            <a:r>
              <a:rPr sz="990" b="1" i="0">
                <a:solidFill>
                  <a:srgbClr val="7A1F1F"/>
                </a:solidFill>
                <a:latin typeface="Microsoft YaHei"/>
              </a:rPr>
              <a:t>跨车型须重算</a:t>
            </a:r>
            <a:r>
              <a:rPr sz="990" b="0" i="0">
                <a:solidFill>
                  <a:srgbClr val="7A1F1F"/>
                </a:solidFill>
                <a:latin typeface="Microsoft YaHei"/>
              </a:rPr>
              <a:t>，本研究只提供解析式而非固定秒数；④ </a:t>
            </a:r>
            <a:r>
              <a:rPr sz="990" b="0" i="1">
                <a:solidFill>
                  <a:srgbClr val="7A1F1F"/>
                </a:solidFill>
                <a:latin typeface="Microsoft YaHei"/>
              </a:rPr>
              <a:t>t</a:t>
            </a:r>
            <a:r>
              <a:rPr sz="690" b="0" i="1" baseline="-25000">
                <a:solidFill>
                  <a:srgbClr val="7A1F1F"/>
                </a:solidFill>
                <a:latin typeface="Microsoft YaHei"/>
              </a:rPr>
              <a:t>detect</a:t>
            </a:r>
            <a:r>
              <a:rPr sz="990" b="0" i="0">
                <a:solidFill>
                  <a:srgbClr val="7A1F1F"/>
                </a:solidFill>
                <a:latin typeface="Microsoft YaHei"/>
              </a:rPr>
              <a:t> 在模拟器中为程序设定而非真实传感器性能，其随遮挡比例的退化曲线为已知缺口；⑤ 本研究的探测时刻设定依赖路侧与车路协同输入；⑥ 穿透显影条件受模拟器渲染保真度限制，不可外推至真实光学 AR-HUD；⑦ 遮挡场景可预期性的偏误方向不明。</a:t>
            </a:r>
          </a:p>
        </p:txBody>
      </p:sp>
      <p:sp>
        <p:nvSpPr>
          <p:cNvPr id="27" name="TextBox 26"/>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