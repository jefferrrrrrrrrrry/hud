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78149" y="1856184"/>
            <a:ext cx="7073800" cy="9885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2620" b="1" i="0">
                <a:solidFill>
                  <a:srgbClr val="2F528F"/>
                </a:solidFill>
                <a:latin typeface="Microsoft YaHei"/>
              </a:rPr>
              <a:t>AR-HUD 行人碰撞预警的盲区情境专题文献综述</a:t>
            </a:r>
          </a:p>
          <a:p>
            <a:pPr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2620" b="1" i="0">
                <a:solidFill>
                  <a:srgbClr val="2F528F"/>
                </a:solidFill>
                <a:latin typeface="Microsoft YaHei"/>
              </a:rPr>
              <a:t>零点、锚定与信任的三重前提失效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76875" y="2949475"/>
            <a:ext cx="1238250" cy="28575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524000" y="3263800"/>
            <a:ext cx="9144000" cy="851296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524000" y="3263800"/>
            <a:ext cx="38100" cy="85129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4500" y="3406675"/>
            <a:ext cx="8801100" cy="59412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2F528F"/>
                </a:solidFill>
                <a:latin typeface="Microsoft YaHei"/>
              </a:rPr>
              <a:t>核心论断：</a:t>
            </a:r>
            <a:r>
              <a:rPr sz="1240" b="0" i="0">
                <a:solidFill>
                  <a:srgbClr val="2F528F"/>
                </a:solidFill>
                <a:latin typeface="Microsoft YaHei"/>
              </a:rPr>
              <a:t>AR-HUD 行人碰撞预警的时空参数</a:t>
            </a:r>
            <a:r>
              <a:rPr sz="1240" b="1" i="0">
                <a:solidFill>
                  <a:srgbClr val="2F528F"/>
                </a:solidFill>
                <a:latin typeface="Microsoft YaHei"/>
              </a:rPr>
              <a:t>不存在跨情境通用的取值</a:t>
            </a:r>
            <a:r>
              <a:rPr sz="1240" b="0" i="0">
                <a:solidFill>
                  <a:srgbClr val="2F528F"/>
                </a:solidFill>
                <a:latin typeface="Microsoft YaHei"/>
              </a:rPr>
              <a:t>；决定取值的首要因素不是显示技术， 而是</a:t>
            </a:r>
            <a:r>
              <a:rPr sz="1240" b="1" i="0">
                <a:solidFill>
                  <a:srgbClr val="2F528F"/>
                </a:solidFill>
                <a:latin typeface="Microsoft YaHei"/>
              </a:rPr>
              <a:t>危险目标在预警时刻是否可见</a:t>
            </a:r>
            <a:r>
              <a:rPr sz="1240" b="0" i="0">
                <a:solidFill>
                  <a:srgbClr val="2F528F"/>
                </a:solidFill>
                <a:latin typeface="Microsoft YaHei"/>
              </a:rPr>
              <a:t>。盲区并非使非盲区结论的效应量变小，而是使其</a:t>
            </a:r>
            <a:r>
              <a:rPr sz="1240" b="1" i="0">
                <a:solidFill>
                  <a:srgbClr val="2F528F"/>
                </a:solidFill>
                <a:latin typeface="Microsoft YaHei"/>
              </a:rPr>
              <a:t>成立前提不成立</a:t>
            </a:r>
            <a:r>
              <a:rPr sz="1240" b="0" i="0">
                <a:solidFill>
                  <a:srgbClr val="2F528F"/>
                </a:solidFill>
                <a:latin typeface="Microsoft YaHei"/>
              </a:rPr>
              <a:t>。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5487" y="4257972"/>
            <a:ext cx="8239125" cy="7724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528F"/>
                </a:solidFill>
                <a:latin typeface="Microsoft YaHei"/>
              </a:rPr>
              <a:t>综述范围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 主库 102 篇的全库正则筛查（30 项中英关键词）＋定向补检 12 条题录；以遮挡为核心条件者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6 篇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，占比不足 6%。</a:t>
            </a:r>
          </a:p>
          <a:p>
            <a:pPr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Microsoft YaHei"/>
              </a:rPr>
              <a:t>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口径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 「盲区」专指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驾驶员视线的几何遮挡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（中文语境的「鬼探头」）；不含传感器盲区与后视盲区，认知性盲区作代价指标而非情境自变量。</a:t>
            </a:r>
          </a:p>
          <a:p>
            <a:pPr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Microsoft YaHei"/>
              </a:rPr>
              <a:t>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编号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 小节编号用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2B.x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 以免与主线第 2 章冲突；空白编号用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BG1–BG7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，预测编号用 </a:t>
            </a:r>
            <a:r>
              <a:rPr sz="1050" b="1" i="0">
                <a:solidFill>
                  <a:srgbClr val="2F528F"/>
                </a:solidFill>
                <a:latin typeface="Microsoft YaHei"/>
              </a:rPr>
              <a:t>P1′–P6′</a:t>
            </a:r>
            <a:r>
              <a:rPr sz="1050" b="0" i="0">
                <a:solidFill>
                  <a:srgbClr val="444444"/>
                </a:solidFill>
                <a:latin typeface="Microsoft YaHei"/>
              </a:rPr>
              <a:t>。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2B.1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「盲区」的三重歧义与本研究口径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概念界定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516284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51628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2972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在车辆人因文献中，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blind spot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 与「盲区」至少指称三类互不相同的现象，三者的成因、可干预点与预警机制均不同。 混用将使自变量含义不清，故须先行分离。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383059"/>
          <a:ext cx="11315700" cy="2732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3950"/>
                <a:gridCol w="2381250"/>
                <a:gridCol w="7810500"/>
              </a:tblGrid>
              <a:tr h="3619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本质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可干预点与本研究处置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78700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① 几何遮挡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光学事实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：目标在视网膜上不成像，驾驶员无论如何分配注意均无法获取信息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本研究的口径。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可干预点为「在目标成像之前以显示补足信息」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79176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② 传感器盲区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工程限制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：目标不在车载传感的视场或量程内（Char, 2022：视场 &gt; 30° 时 TTC 2 s 检出率 &gt; 90%）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排除。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其效应在本研究中由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程序设定的探测时刻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代替；否则自变量将同时含「人看不见」与「机器看不见」两种状态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79176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③ 认知性盲区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注意失败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：目标已成像而未被注意选中（Wang 等, 2021：边界框使无意视盲 46 → 11、反应时快约 112 ms）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排除为情境自变量，保留为代价指标全程测量。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其可干预点与几何遮挡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方向相反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150" y="4225081"/>
            <a:ext cx="11315700" cy="718839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150" y="4225081"/>
            <a:ext cx="38100" cy="71883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339381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7A1F1F"/>
                </a:solidFill>
                <a:latin typeface="Microsoft YaHei"/>
              </a:rPr>
              <a:t>①与③的方向相反，是本研究不将二者合并的决定性理由。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几何遮挡下扫描阶段</a:t>
            </a:r>
            <a:r>
              <a:rPr sz="1070" b="1" i="0">
                <a:solidFill>
                  <a:srgbClr val="7A1F1F"/>
                </a:solidFill>
                <a:latin typeface="Microsoft YaHei"/>
              </a:rPr>
              <a:t>无信号可采样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，故在物理上无法启动； 认知性盲区下信号已入视网膜而未被注意选中，故扫描已启动而识别失败。二者在注意加工阶段上分属不同环节，不可混称。 </a:t>
            </a:r>
            <a:r>
              <a:rPr sz="1070" b="1" i="0">
                <a:solidFill>
                  <a:srgbClr val="7A1F1F"/>
                </a:solidFill>
                <a:latin typeface="Microsoft YaHei"/>
              </a:rPr>
              <a:t>后视与侧后盲区同样排除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——后向危险不进入前视野 AR-HUD 的可锚定空间，故锚定策略在该情形下不可比较。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2B.1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遮挡场景的时间刻画：四个特征时刻与两个区段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651" y="209550"/>
            <a:ext cx="7811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77426" y="238125"/>
            <a:ext cx="6097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运动学刻画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535334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53533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3162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主线以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自发察觉时刻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 </a:t>
            </a:r>
            <a:r>
              <a:rPr sz="1160" b="0" i="1">
                <a:solidFill>
                  <a:srgbClr val="2F528F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2F528F"/>
                </a:solidFill>
                <a:latin typeface="Microsoft YaHei"/>
              </a:rPr>
              <a:t>0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 为零点，盲区情境下该零点在物理上不存在，故须另建时间刻画。四个时刻均以「距冲突点的剩余时间」表示。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402109"/>
          <a:ext cx="11315700" cy="21276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3143250"/>
                <a:gridCol w="1238250"/>
                <a:gridCol w="6019800"/>
              </a:tblGrid>
              <a:tr h="3619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符号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性质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取得方式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389334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7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detect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系统首次以给定置信度探测到被遮挡行人的时刻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工程量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由传感与通信架构决定；构成 </a:t>
                      </a:r>
                      <a:r>
                        <a:rPr sz="104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7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warn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 的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硬上界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94096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7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warn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预警呈现时刻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自变量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7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reveal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行人前缘越过遮挡体边缘、首次进入驾驶员视线锥的时刻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几何量，被试间恒定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由遮挡体位置尺寸、行人步速、本车轨迹与眼点位置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解析求出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94096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7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conflict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若双方均不改变运动状态则发生碰撞的时刻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运动学量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由场景运动学确定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38150" y="3639294"/>
            <a:ext cx="5572125" cy="2818655"/>
          </a:xfrm>
          <a:prstGeom prst="roundRect">
            <a:avLst>
              <a:gd name="adj" fmla="val 2365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9125" y="4096494"/>
            <a:ext cx="5210175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25" y="3791694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6E00"/>
                </a:solidFill>
                <a:latin typeface="Microsoft YaHei"/>
              </a:rPr>
              <a:t>两个区段：本研究的核心构念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10794"/>
            <a:ext cx="5181600" cy="6346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预告区段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[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,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]：预警已呈现而行人尚不可见。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该区段在非盲区情境中不存在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，故其独立价值无法由既有研究回答（BG2）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3022"/>
            <a:ext cx="5181600" cy="3411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显露区段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[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,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conflict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]：行人已可见，与非盲区情境的加工段同质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5281761"/>
            <a:ext cx="5248275" cy="2931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A1A1A"/>
                </a:solidFill>
                <a:latin typeface="Microsoft YaHei"/>
              </a:rPr>
              <a:t>盲区提前量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−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 受硬约束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≥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detect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，即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≤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−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detect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725" y="3639294"/>
            <a:ext cx="5572125" cy="2818655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362700" y="4096494"/>
            <a:ext cx="52101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2700" y="3791694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28F"/>
                </a:solidFill>
                <a:latin typeface="Microsoft YaHei"/>
              </a:rPr>
              <a:t>两处操作化与其核验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210794"/>
            <a:ext cx="5181600" cy="6346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遮挡判据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：以驾驶员眼点为顶点的视线锥被遮挡体完全阻断，即行人在像平面上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可见像素占比为零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；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即该占比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由零转正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的时刻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893022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部分遮挡的近似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：过渡段极短（60 km/h 下约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0.15 s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，本研究推导），故按完全遮挡处理并在方法章声明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5556200"/>
            <a:ext cx="5181600" cy="6346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核验路径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：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的解析解须由视线锥几何仿真与实测眼动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两条独立路径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核验；偏差超阈值时以实测值为准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2B.2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证据格局：以遮挡为核心条件者仅 6 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证据基础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8491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8491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56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对主库 102 篇做中英混合关键词正则扫描（30 项，含遮挡／盲区／A 柱／停放／V2X／occluded／dart-out／鬼探头等），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85 条命中至少一项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。但命中不等于相关——绝大多数属「顺带提及遮挡」。按与本框架的关系强度重新分级后， 可用于盲区情境论证者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21 篇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，其中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以遮挡为核心条件者仅 6 篇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（不足 6%）。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651694"/>
          <a:ext cx="11315700" cy="2687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500"/>
                <a:gridCol w="3143250"/>
                <a:gridCol w="533400"/>
                <a:gridCol w="7067550"/>
              </a:tblGrid>
              <a:tr h="3619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分级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判据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篇数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该级的最强来源与其贡献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583406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遮挡是自变量或场景的核心构成条件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Merenda 等（2018）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——本库唯一的实车「遮挡后横穿」范式，给出双解离与 17° 视场失效两条约束； 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Zhang 等（2024）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——遮挡收益幅度的唯一强量化来源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场景含遮挡但未操纵，遮挡仅作生态背景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提供场景生态效度的旁证，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不提供遮挡的效应量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不讨论遮挡本身，但提出「呈现驾驶员不可见危险」的显示方法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You 等（2023）——理论路径的关键来源，但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仅摘要级、零数值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认知性盲区——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构念不同，单列对照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Wang 等（2021）、Chen 等（2023）——作为代价指标的来源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车路协同提前告知，为非视距预警提供工程可行性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确立盲区预警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必须走车路协同路线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这一前置约束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150" y="4448472"/>
            <a:ext cx="11315700" cy="718839"/>
          </a:xfrm>
          <a:prstGeom prst="rect">
            <a:avLst/>
          </a:prstGeom>
          <a:solidFill>
            <a:srgbClr val="F2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150" y="4448472"/>
            <a:ext cx="38100" cy="718839"/>
          </a:xfrm>
          <a:prstGeom prst="rect">
            <a:avLst/>
          </a:prstGeom>
          <a:solidFill>
            <a:srgbClr val="3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562772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F5A1F"/>
                </a:solidFill>
                <a:latin typeface="Microsoft YaHei"/>
              </a:rPr>
              <a:t>两条引用规则。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其一，凡需「被遮挡行人预警的距离与减速度增益」数值，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一律引 Zhang 等（2024）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—— 主库其余盲区文献均无可引用数值。其二，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补检 12 条题录（S-01–S-12）一律不得作为数值依据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； 其中遮挡情境下参照系比较的唯一直接先例，其 AR 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佩戴者是行人而非驾驶员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，范围限定须显式声明。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2B.2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A 类的两处证据主干：唯一实车范式与唯一强量化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逐篇评述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4872335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19125" y="1219200"/>
            <a:ext cx="52101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25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28F"/>
                </a:solidFill>
                <a:latin typeface="Microsoft YaHei"/>
              </a:rPr>
              <a:t>Merenda 等（2018）——唯一实车「遮挡后横穿」范式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3500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范式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户外测试床 100 × 110 m，事件区左右各停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3 辆同色货车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； 研究 2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在货车尾部悬挂黑布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，以阻止被试在行人步出前看到其双脚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6678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运动学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车速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10 mph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；紧迫度三级 TTC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2／3／4 s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（＝ 9／13.5／18 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6367"/>
            <a:ext cx="5181600" cy="9090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核心结果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屏幕固定「捕获快、引导慢」，世界固定共形「捕获慢、引导快」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（共形被注视更慢 t(53) = 3.022, p = .019；共形→目标转移最快 t(176) = 3.904, p &lt; .001）；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两者总定位时间无显著差异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23034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关键副作用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与本车运动耦合的动画在 2 s TTC 高紧迫度下产生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负的停车间隙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，即理论碰撞 → 危险线索的动画必须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独立于本车运动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86212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关键约束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17° 圆形视场下近距侧方行人的共形图形移出视场而彻底失效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725" y="762000"/>
            <a:ext cx="5572125" cy="4872335"/>
          </a:xfrm>
          <a:prstGeom prst="roundRect">
            <a:avLst>
              <a:gd name="adj" fmla="val 1368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700" y="1219200"/>
            <a:ext cx="52101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2700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7D3E"/>
                </a:solidFill>
                <a:latin typeface="Microsoft YaHei"/>
              </a:rPr>
              <a:t>Zhang 等（2024）——遮挡收益幅度的唯一强量化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1333500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遮挡设置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行人位于机动车道右边线 2.5 m 处，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被路边公交车遮挡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；斑马线外隐藏行人横穿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1996678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触发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主车距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100 m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时路侧车路协同单元触发；距行人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60 m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时行人以 1 m/s 起步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659856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设计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N = 34，3（Baseline／低头显示／平视显示）× 2（晴／雾 240 m）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029545"/>
            <a:ext cx="5181600" cy="9090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核心量化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平视显示使油门松开位置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提前 36.29 m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、首次制动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提前 39.10 m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、 峰值减速度绝对值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降约 3.45 m/s²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、最小冲突距离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+9.41 m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；7 项指标中 6 项 p &lt; 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986212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雾天交互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能见度下降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放大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遮挡预警的收益（油门提前多 27.7 m, p = .032） → 本研究假设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H2′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的来源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150" y="5739110"/>
            <a:ext cx="11315700" cy="718839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8150" y="5739110"/>
            <a:ext cx="38100" cy="718839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550" y="5853410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8A6A00"/>
                </a:solidFill>
                <a:latin typeface="Microsoft YaHei"/>
              </a:rPr>
              <a:t>一处方法学观察。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Merenda 等的遮挡须以黑布与演员配合实现，且车速被限制在 10 mph； 即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「遮挡场景高度可预期」这一效度威胁并非模拟器所特有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，实车范式同样受其影响。 本研究据此设四项控制（密度稀释、捕获试次、序号协变量、首试次单独分析），并声明残余偏误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方向不明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。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2B.3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六处边界推翻（一）：零点、空间与上界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01833" y="209550"/>
            <a:ext cx="652016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06608" y="238125"/>
            <a:ext cx="480566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边界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8491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8491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56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F528F"/>
                </a:solidFill>
                <a:latin typeface="Microsoft YaHei"/>
              </a:rPr>
              <a:t>本节是双情境切分的充分性论证。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核心主张：盲区并非使非盲区结论的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效应量变小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，而是使其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前提不成立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若仅是效应量变小，盲区可作非盲区研究的一个附加水平（「遮挡：无／有」）处理；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若是前提不成立，则必须另立一项研究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50" y="1651694"/>
            <a:ext cx="11315700" cy="1390798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8150" y="1651694"/>
            <a:ext cx="28575" cy="139079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1025" y="1737419"/>
            <a:ext cx="1028700" cy="12479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BD-1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零点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5450" y="1737419"/>
            <a:ext cx="10096500" cy="12479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存在自发察觉时刻，可实测、可作提前量的零点（三条实测：预警前已制动 50%、觉察约 TTC 3 s、自主松油 0.72 s）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行人在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前不在视线锥内成像，扫描阶段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无信号可采样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0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在物理上不存在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；于是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Δt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0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−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无定义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——不是难以测量，而是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被减数不存在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" y="3128218"/>
            <a:ext cx="11315700" cy="1617166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150" y="3128218"/>
            <a:ext cx="28575" cy="161716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025" y="3213943"/>
            <a:ext cx="1028700" cy="1474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5450" y="3213943"/>
            <a:ext cx="10096500" cy="1474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目标可见，故跟随目标的锁定可实现且最优（首次注视 617 ms 对 2563／2730 ms，差异近四倍）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完全遮挡下目标锁定只有两种画法：绘于遮挡体表面——实际锚定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遮挡物而非行人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，语义退化为「危险在此物之后」；或穿透绘制——引入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深度歧义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，可能被判断为位于遮挡物之前。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两者均不构成严格的目标锁定，候选集本身改变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150" y="4831109"/>
            <a:ext cx="11315700" cy="1626840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8150" y="4831109"/>
            <a:ext cx="28575" cy="1626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4916834"/>
            <a:ext cx="1028700" cy="14839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BD-3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上界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5450" y="4916834"/>
            <a:ext cx="10096500" cy="14839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提前量上界由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人因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决定（虚警代价与认知窗口），且是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软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的——可由降低行动要求或分层结构缓解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预警最早只能发于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760" b="0" i="1" baseline="-25000">
                <a:solidFill>
                  <a:srgbClr val="1A1A1A"/>
                </a:solidFill>
                <a:latin typeface="Microsoft YaHei"/>
              </a:rPr>
              <a:t>detect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此上界是硬的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——传感器看不见，任何界面设计均无法补偿。三条数值刻画其严峻：最低时间预算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1.66 s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、意图预测缓冲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0.5–2.0 s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、而制动动力学需求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6.07–6.28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2B.3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六处边界推翻（二）：信任、视场与理论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01833" y="209550"/>
            <a:ext cx="652016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06608" y="238125"/>
            <a:ext cx="480566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边界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8491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8491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56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续前页。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六条并非并列：BD-1 是根本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——零点不存在直接使自变量无定义；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BD-3 与 BD-4 是独立约束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，分别来自工程侧与心理侧，即使 BD-1 得到解决它们依然成立；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BD-2 与 BD-5 属空间侧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，二者叠加使锚定策略的候选集与最优解同时改变；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BD-6 是 BD-1 的理论侧后果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50" y="1651694"/>
            <a:ext cx="11315700" cy="1538585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8150" y="1651694"/>
            <a:ext cx="28575" cy="153858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1025" y="1737419"/>
            <a:ext cx="1028700" cy="1395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信任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5450" y="1737419"/>
            <a:ext cx="10096500" cy="1395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驾驶员可用自身视觉核验预警真伪，信任由「报警是否与自身判断吻合」建立（时机偏差使信任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7.3 → 4.3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，报警时刻与信任相关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R = −0.46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）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预警发出时行人不可见，驾驶员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无从核验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，信任只能依赖长期可靠性经验。旁证：晚警报在信任、信心、可取性、可预测性、依赖与风险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六项主观指标上全部最差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，尽管其误报率最低——说明主观评价对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时机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的敏感性高于对误报率的敏感性，而盲区中时机恰恰无法被判断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" y="3276004"/>
            <a:ext cx="11315700" cy="1538585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150" y="3276004"/>
            <a:ext cx="28575" cy="153858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025" y="3361729"/>
            <a:ext cx="1028700" cy="1395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BD-5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视场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5450" y="3361729"/>
            <a:ext cx="10096500" cy="1395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共形图形可稳定贴合于目标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17° 圆形视场下近距侧方行人的共形图形移出视场而彻底失效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；而遮挡后横穿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恰是近距侧方构型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——行人自停放车辆后走出时，其方位角随接近迅速增大。量产平视显示视场当前仅 10°–15°，而实验室方案多要求 40°–85°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150" y="4900314"/>
            <a:ext cx="11315700" cy="1557635"/>
          </a:xfrm>
          <a:prstGeom prst="rect">
            <a:avLst/>
          </a:prstGeom>
          <a:solidFill>
            <a:srgbClr val="FE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8150" y="4900314"/>
            <a:ext cx="28575" cy="155763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4986039"/>
            <a:ext cx="1028700" cy="1414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BD-6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666666"/>
                </a:solidFill>
                <a:latin typeface="Microsoft YaHei"/>
              </a:rPr>
              <a:t>理论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5450" y="4986039"/>
            <a:ext cx="10096500" cy="1414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前提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可由 tau 理论推导零点的理论下界——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dθ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/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dt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越阈时刻反推，60 km/h 无遮挡校验值约 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3.2 s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，与实测约 3 s 吻合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失效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dθ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/</a:t>
            </a:r>
            <a:r>
              <a:rPr sz="1080" b="0" i="1">
                <a:solidFill>
                  <a:srgbClr val="1A1A1A"/>
                </a:solidFill>
                <a:latin typeface="Microsoft YaHei"/>
              </a:rPr>
              <a:t>dt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 序列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自 </a:t>
            </a:r>
            <a:r>
              <a:rPr sz="1010" b="1" i="1">
                <a:solidFill>
                  <a:srgbClr val="C00000"/>
                </a:solidFill>
                <a:latin typeface="Microsoft YaHei"/>
              </a:rPr>
              <a:t>t</a:t>
            </a:r>
            <a:r>
              <a:rPr sz="710" b="1" i="1" baseline="-25000">
                <a:solidFill>
                  <a:srgbClr val="C00000"/>
                </a:solidFill>
                <a:latin typeface="Microsoft YaHei"/>
              </a:rPr>
              <a:t>reveal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 起才存在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——此前行人在像平面上无投影，故无膨胀率可言。该下界的推导必须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以 </a:t>
            </a:r>
            <a:r>
              <a:rPr sz="1010" b="1" i="1">
                <a:solidFill>
                  <a:srgbClr val="C00000"/>
                </a:solidFill>
                <a:latin typeface="Microsoft YaHei"/>
              </a:rPr>
              <a:t>t</a:t>
            </a:r>
            <a:r>
              <a:rPr sz="710" b="1" i="1" baseline="-25000">
                <a:solidFill>
                  <a:srgbClr val="C00000"/>
                </a:solidFill>
                <a:latin typeface="Microsoft YaHei"/>
              </a:rPr>
              <a:t>reveal</a:t>
            </a:r>
            <a:r>
              <a:rPr sz="1010" b="1" i="0">
                <a:solidFill>
                  <a:srgbClr val="C00000"/>
                </a:solidFill>
                <a:latin typeface="Microsoft YaHei"/>
              </a:rPr>
              <a:t> 为起点重做</a:t>
            </a:r>
            <a:r>
              <a:rPr sz="1080" b="0" i="0">
                <a:solidFill>
                  <a:srgbClr val="1A1A1A"/>
                </a:solidFill>
                <a:latin typeface="Microsoft YaHei"/>
              </a:rPr>
              <a:t>，且重做后的意义由「何时能自行察觉」变为「显露后最快何时能形成碰撞判断」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2B.4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理论重构：零点替换、区段分化与约束分化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理论重构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4627215"/>
          </a:xfrm>
          <a:prstGeom prst="roundRect">
            <a:avLst>
              <a:gd name="adj" fmla="val 1440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19125" y="1219200"/>
            <a:ext cx="52101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25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7D3E"/>
                </a:solidFill>
                <a:latin typeface="Microsoft YaHei"/>
              </a:rPr>
              <a:t>零点替换：由心理量改为几何量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3500"/>
            <a:ext cx="5181600" cy="9280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研究一以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0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（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心理量，须实测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）为零点；盲区情境无法沿用，故改以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（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几何量，可解析求出且被试间恒定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）为零点，同时保留「以驾驶员为参照」这一核心思想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9217"/>
            <a:ext cx="5181600" cy="3411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自变量相应改为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reveal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−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，受硬约束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warn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≥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t</a:t>
            </a:r>
            <a:r>
              <a:rPr sz="810" b="0" i="1" baseline="-25000">
                <a:solidFill>
                  <a:srgbClr val="1A1A1A"/>
                </a:solidFill>
                <a:latin typeface="Microsoft YaHe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956"/>
            <a:ext cx="5181600" cy="124063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由此得到一条可否证的跨研究预测（P2′）：盲区情境的最优 </a:t>
            </a:r>
            <a:r>
              <a:rPr sz="1160" b="1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 应显著大于非盲区情境的最优 </a:t>
            </a:r>
            <a:r>
              <a:rPr sz="1160" b="1" i="1">
                <a:solidFill>
                  <a:srgbClr val="1A1A1A"/>
                </a:solidFill>
                <a:latin typeface="Microsoft YaHei"/>
              </a:rPr>
              <a:t>Δt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。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机制有二——遮挡下预期性注视无从建立，故理解与决策窗口更长；遮挡场景在注意机制上属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刺激驱动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而非目标导向， 而刺激驱动的定向本身有额外耗时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725" y="762000"/>
            <a:ext cx="5572125" cy="4627215"/>
          </a:xfrm>
          <a:prstGeom prst="roundRect">
            <a:avLst>
              <a:gd name="adj" fmla="val 1440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362700" y="1219200"/>
            <a:ext cx="5210175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6E00"/>
                </a:solidFill>
                <a:latin typeface="Microsoft YaHei"/>
              </a:rPr>
              <a:t>约束分化：软上界变硬上界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1333500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非盲区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可行区间＝运动学下界／可靠性上界／认知窗口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三者的交集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，上界为软约束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1996678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盲区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可行区间＝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两条硬边界之间的窄带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，且该窄带宽度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不由人因研究决定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 而由探测架构决定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659856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对结论表述方式的直接影响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：不能只报告最优提前量，还须报告该最优值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在何种探测架构下可达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150" y="5493990"/>
            <a:ext cx="11315700" cy="963959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8150" y="5493990"/>
            <a:ext cx="38100" cy="963959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550" y="5608290"/>
            <a:ext cx="11049000" cy="763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8A6A00"/>
                </a:solidFill>
                <a:latin typeface="Microsoft YaHei"/>
              </a:rPr>
              <a:t>分层语义的分化（空白 BG6）。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产业级联的两级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均指向同一可见目标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，其分层是强度分层； 盲区情境的分层是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语义分层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——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预告级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（行人尚不可见，语义为「此遮挡体后可能有行人」，低行动要求） 与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确认级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（行人已显露，语义为「立即制动」，高行动要求）。二者的差异不在强度而在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指称对象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： 预告级指称遮挡体，确认级指称行人。这一语义分化的分层设计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本库无一篇实现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。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2B.5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冲突 A 与 B：收益形式之争与三倍提前量缺口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97951" y="209550"/>
            <a:ext cx="755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02726" y="238125"/>
            <a:ext cx="584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冲突辨析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8491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8491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56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主线第 2 章已辨析七组主要冲突，其对象是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参数取值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。本节辨析四组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遮挡情境特有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的冲突，其对象是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机制与可行性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辨析框架沿用主线：先确认冲突是否为真，再识别第三变量，最后判断该冲突应被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升格为自变量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、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归为口径差异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，抑或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归为适用边界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50" y="2586037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150" y="1775519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冲突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1756469"/>
            <a:ext cx="10334625" cy="5438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遮挡预警的收益是反应时缩短还是制动平顺化？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一侧报告反应时改善（快约 112 ms）；另一侧明确报告收益体现为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紧急减速率由 3.10–3.56 降至 2.77–3.18 m/s²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，而非反应时缩短，且七项指标中效应最大者是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位置类与减速度类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（提前 36.29／39.10 m、减速度绝对值降 3.45 m/s²）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" y="3577976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" y="2719387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辨析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7325" y="2700337"/>
            <a:ext cx="10334625" cy="8014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非真冲突，为因变量选择差异叠加零点差异。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前者的指标是「从某一事件到响应的时距」，后者是「在何处开始动作」与「动作有多剧烈」。若预警成功创造了预告区段，驾驶员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提前进入预置减速状态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，其结果必然首先表现为动作位置前移与峰值减速度下降，而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显露后反应时反而可能不变或变长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——因为驾驶员已在制动，其对显露事件的「反应」不再是一次全新的启动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150" y="4521993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150" y="3711326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E0A100"/>
                </a:solidFill>
                <a:latin typeface="Microsoft YaHei"/>
              </a:rPr>
              <a:t>结论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3692276"/>
            <a:ext cx="10334625" cy="5438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升格为假设 H1′。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主要终点设为最小侵入余量、峰值减速度与抖动率，显露后反应时列为次要终点；并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预先声明反应时的零效应不作为预警无效的证据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——该预注册声明防止了一种可预见的误判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150" y="5466010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4655343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F528F"/>
                </a:solidFill>
                <a:latin typeface="Microsoft YaHei"/>
              </a:rPr>
              <a:t>冲突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4636293"/>
            <a:ext cx="10334625" cy="5438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工程可达与人因所需相差三倍以上。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工程侧：意图预测缓冲 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0.5–2.0 s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、最低时间预算 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1.66 s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；人因—动力学侧：制动动力学反推需 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6.07–6.28 s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，且实际有效触发在距行人 100 m 即约 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50" y="5599360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7B5EA7"/>
                </a:solidFill>
                <a:latin typeface="Microsoft YaHei"/>
              </a:rPr>
              <a:t>结论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325" y="5580310"/>
            <a:ext cx="10334625" cy="8014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真冲突，不可由界面设计消解；归为适用边界并前置声明。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第三变量是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信息来源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——0.5–2.0 s 是车载单车感知在行人动作发生前的预测时域，而 6 s 级提前量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只有路侧或车路协同才能提供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。故本研究结论的适用范围是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具备车路协同能力的场景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；仅依赖车载感知时，所建议的提前量在物理上不可达。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附带结论：盲区行人预警必须走车路协同路线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——此为前置约束而非研究发现，因其由既有数值直接推出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2B.5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冲突 C 与 D：锚定策略之争与不可核验预警的信任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97951" y="209550"/>
            <a:ext cx="755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02726" y="238125"/>
            <a:ext cx="584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冲突辨析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516284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51628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2972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续前页。这两组冲突的共同结构是：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表面上的结论对立，实为边界条件差异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； 而辨清边界条件之后，两组均须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升格为自变量并设交叉因子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，而非择一采信。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50" y="2390328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150" y="1506884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3E7D3E"/>
                </a:solidFill>
                <a:latin typeface="Microsoft YaHei"/>
              </a:rPr>
              <a:t>冲突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1487834"/>
            <a:ext cx="10334625" cy="8014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遮挡下的最优锚定是共形还是屏幕固定？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一侧：首次注视 617 ms 对 2563／2730 ms，支持跟随目标的共形锁定。另一侧：屏幕固定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捕获快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而共形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引导快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总定位时间无显著差异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，且共形图形在 17° 视场近距侧方彻底失效；48 名中国新手上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行人场景边界框的反应时反而更短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（约 1051–1063 ms 对接触式类比 1354–1508 ms）；屏幕固定式平视显示已取得快约 200 ms、漏报 1 次对 17 次的优势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" y="3407271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" y="2523678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00000"/>
                </a:solidFill>
                <a:latin typeface="Microsoft YaHei"/>
              </a:rPr>
              <a:t>辨析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7325" y="2504628"/>
            <a:ext cx="10334625" cy="8014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须先分离两个混淆。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第一，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位置增益与共形增益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——平视显示本身即屏幕固定式前视野显示，其大部分收益来自「信息在前视野内」这一位置属性，而非共形配准。第二，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捕获与引导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——二者可方向相反，故只报告总定位时间会掩盖机制差异。分离之后，冲突的实质是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边界条件而非结论真伪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：共形的优势条件为「目标可见 ＋ 图形落在可用视场内 ＋ 场景复杂度不过高」，遮挡情境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至少违反前两条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150" y="4424064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150" y="3540621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E0A100"/>
                </a:solidFill>
                <a:latin typeface="Microsoft YaHei"/>
              </a:rPr>
              <a:t>结论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3521571"/>
            <a:ext cx="10334625" cy="5438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升格为自变量，设遮挡几何为交叉因子（P5′）。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不预设共形优于屏幕固定，而以四类锚定策略乘遮挡几何两水平（近距侧方／远距前方）直接检验；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预期最优解随几何反转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。输出形式相应由「哪种锚定最好」改为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「遮挡几何 × 可用视场 → 推荐锚定」的查表式规范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150" y="5441007"/>
            <a:ext cx="113157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4557414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F528F"/>
                </a:solidFill>
                <a:latin typeface="Microsoft YaHei"/>
              </a:rPr>
              <a:t>冲突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4538364"/>
            <a:ext cx="10334625" cy="5438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不可见危险预警的信任是提升还是不可建立？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一侧报告信任提升，且 15% 误报加 15% 漏报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对所有因变量无显著效应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；另一侧证明信任由「报警是否与自身判断吻合」决定（7.3 → 4.3, R = −0.46），而不可见危险预警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无从核验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50" y="5574357"/>
            <a:ext cx="914400" cy="221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7B5EA7"/>
                </a:solidFill>
                <a:latin typeface="Microsoft YaHei"/>
              </a:rPr>
              <a:t>结论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325" y="5555307"/>
            <a:ext cx="10334625" cy="8014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A1A1A"/>
                </a:solidFill>
                <a:latin typeface="Microsoft YaHei"/>
              </a:rPr>
              <a:t>第三变量是行动要求强度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——零效应取自「提前 11–13 s、警示级语义、不要求立即动作」，强效应取自「要求立即制动」，两者刻画同一条曲线的两端。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遮挡情境引入第二个变量：可核验性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——非盲区中一次虚警可被归因为「系统略早」而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保留信任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，盲区中同一次虚警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无法被归因，只能计入系统错误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。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升格为自变量并设可靠性为交叉因子（P4′）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；虚警</a:t>
            </a:r>
            <a:r>
              <a:rPr sz="1140" b="1" i="0">
                <a:solidFill>
                  <a:srgbClr val="1A1A1A"/>
                </a:solidFill>
                <a:latin typeface="Microsoft YaHei"/>
              </a:rPr>
              <a:t>只施加在预告级</a:t>
            </a:r>
            <a:r>
              <a:rPr sz="1140" b="0" i="0">
                <a:solidFill>
                  <a:srgbClr val="1A1A1A"/>
                </a:solidFill>
                <a:latin typeface="Microsoft YaHei"/>
              </a:rPr>
              <a:t>，可靠性取 100% 与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2B.6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七项研究空白与其对应实验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研究空白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8491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8491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56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528F"/>
                </a:solidFill>
                <a:latin typeface="Microsoft YaHei"/>
              </a:rPr>
              <a:t> 综合证据格局、六处边界推翻与四组冲突，识别七项研究空白。编号加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B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 前缀以区别于主线第 2 章的 G1–G9。 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七项的证据状态均为「零对照」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——即本库中无一项研究以该问题为自变量。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651694"/>
          <a:ext cx="11315699" cy="3646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50"/>
                <a:gridCol w="8584703"/>
                <a:gridCol w="1626096"/>
                <a:gridCol w="552450"/>
              </a:tblGrid>
              <a:tr h="5524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对应实验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优先级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583406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BG1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自然显露时刻从未被作为预警设计的零点。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本库遮挡研究一律以碰撞点或空间距离为零点；无一篇测量或计算显露时刻，亦无一篇以相对显露时刻的提前量为自变量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1 ＋ 实验 4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BG2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预告区段的独立价值从未被检验。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无任何研究比较「预警跨越显露时刻」与「预警发于显露之后」两种条件，故不知预告信息本身是否有增益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4（负提前量水平）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BG3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遮挡条件下的锚定策略从未被正交比较。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遮挡体锚定、推测地面锚定、穿透显影与屏幕方位指示器四类的同实验对照至今无一实现；唯一直接先例的 AR 佩戴者是行人而非驾驶员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5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BG4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最优锚定是否随遮挡几何变化，无人检验。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17° 视场的失效边界已知，但无研究把遮挡几何设为因子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5（几何交叉）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BG5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不可核验预警的信任与可靠性交互从未被分离。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信任研究均在可见目标条件下进行；不可见危险预警的信任研究未涉误报条件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4（可靠性交叉）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BG6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盲区分层的语义分化未被检验。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产业级联两级均指向同一可见目标；「预告级 ＋ 确认级」的语义分化本库无一篇实现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 4 区块 B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BG7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跨情境参数迁移损失从未被测量。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无任何研究在同一被试或同一场景族内比较「本情境入选方案」与「他情境入选方案」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交叉迁移区块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150" y="5408116"/>
            <a:ext cx="11315700" cy="718839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150" y="5408116"/>
            <a:ext cx="38100" cy="718839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5522416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8A6A00"/>
                </a:solidFill>
                <a:latin typeface="Microsoft YaHei"/>
              </a:rPr>
              <a:t>三项须声明的已知缺口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（不构成本研究的空白，但影响结论边界）：遮挡比例与检出率的退化曲线仅有题录； 遮挡在行人事故中的精确占比与分母定义，四条题录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均待核验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；系统渲染与通信延迟的实测报告率极低。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2B.6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可否证预测与假设：含一条自我否证条款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假设汇总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4872335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19125" y="1219200"/>
            <a:ext cx="52101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25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28F"/>
                </a:solidFill>
                <a:latin typeface="Microsoft YaHei"/>
              </a:rPr>
              <a:t>由理论导出的可否证预测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3500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P1′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预告区段具有独立价值：跨越显露时刻的预警优于显露后预警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03189"/>
            <a:ext cx="5181600" cy="3411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P2′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最优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（盲区）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显著大于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最优 </a:t>
            </a:r>
            <a:r>
              <a:rPr sz="1160" b="0" i="1">
                <a:solidFill>
                  <a:srgbClr val="1A1A1A"/>
                </a:solidFill>
                <a:latin typeface="Microsoft YaHei"/>
              </a:rPr>
              <a:t>Δt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（非盲区）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91928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P3′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收益随提前量增加而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饱和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，而非单调上升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1617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P4′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同一虚警率下，盲区预警的信任损伤与依从率下降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显著大于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非盲区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1306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P5′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锚定策略的优劣序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随遮挡几何反转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——近距侧方与远距前方的最优解不同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94484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P6′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双向迁移损失显著大于零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960" b="0" i="0">
                <a:solidFill>
                  <a:srgbClr val="8C8C8C"/>
                </a:solidFill>
                <a:latin typeface="Microsoft YaHei"/>
              </a:rPr>
              <a:t>本研究唯一的自我否证条款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762000"/>
            <a:ext cx="5572125" cy="4872335"/>
          </a:xfrm>
          <a:prstGeom prst="roundRect">
            <a:avLst>
              <a:gd name="adj" fmla="val 1368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62700" y="1219200"/>
            <a:ext cx="5210175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2700" y="914400"/>
            <a:ext cx="5248275" cy="266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6E00"/>
                </a:solidFill>
                <a:latin typeface="Microsoft YaHei"/>
              </a:rPr>
              <a:t>由文献归纳的假设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1333500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H1′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收益形式主要为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制动平顺化与动作位置前移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，而非显露后反应时缩短（冲突 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1996678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H2′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能见度下降放大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盲区预警的收益（雾天交互，Zhang 等 2024）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2366367"/>
            <a:ext cx="5181600" cy="61555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H3′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遮挡体锚定的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误锚定率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显著高于推测地面锚定与穿透显影（图形掩蔽效应）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029545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H4′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系统漏检时，盲区情境的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漏检代价显著大于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非盲区情境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399234"/>
            <a:ext cx="5181600" cy="32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1160">
                <a:latin typeface="Microsoft YaHei"/>
              </a:rPr>
              <a:t>• 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H5′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 分层语义分化优于单层，优势主要体现在</a:t>
            </a:r>
            <a:r>
              <a:rPr sz="1160" b="1" i="0">
                <a:solidFill>
                  <a:srgbClr val="1A1A1A"/>
                </a:solidFill>
                <a:latin typeface="Microsoft YaHei"/>
              </a:rPr>
              <a:t>预告区段内的预期性注视</a:t>
            </a:r>
            <a:r>
              <a:rPr sz="1160" b="0" i="0">
                <a:solidFill>
                  <a:srgbClr val="1A1A1A"/>
                </a:solidFill>
                <a:latin typeface="Microsoft YaHei"/>
              </a:rPr>
              <a:t>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150" y="5739110"/>
            <a:ext cx="11315700" cy="718839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8150" y="5739110"/>
            <a:ext cx="38100" cy="71883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550" y="5853410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7A1F1F"/>
                </a:solidFill>
                <a:latin typeface="Microsoft YaHei"/>
              </a:rPr>
              <a:t>P6′ 的否证条件与其处置。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「盲区必须另立一项研究」这一判断本身可被否证： </a:t>
            </a:r>
            <a:r>
              <a:rPr sz="1070" b="1" i="0">
                <a:solidFill>
                  <a:srgbClr val="7A1F1F"/>
                </a:solidFill>
                <a:latin typeface="Microsoft YaHei"/>
              </a:rPr>
              <a:t>若交叉迁移区块显示双向迁移损失不显著，则本切分不成立，应退回单情境处理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。 该条款已写入预注册；其</a:t>
            </a:r>
            <a:r>
              <a:rPr sz="1070" b="1" i="0">
                <a:solidFill>
                  <a:srgbClr val="7A1F1F"/>
                </a:solidFill>
                <a:latin typeface="Microsoft YaHei"/>
              </a:rPr>
              <a:t>零结果将被照实报告并视为对领域的有效贡献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—— 它意味着单一套参数即可跨情境使用，从而简化工程实现。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2B.6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盲区情境特有的四项方法学控制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86951" y="209550"/>
            <a:ext cx="6668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91726" y="238125"/>
            <a:ext cx="4954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效度威胁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718839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71883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876300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7A1F1F"/>
                </a:solidFill>
                <a:latin typeface="Microsoft YaHei"/>
              </a:rPr>
              <a:t>核心效度威胁：遮挡场景高度可预期。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被试经数试次即习得「遮挡体后必有行人」， 从而以</a:t>
            </a:r>
            <a:r>
              <a:rPr sz="1070" b="1" i="0">
                <a:solidFill>
                  <a:srgbClr val="7A1F1F"/>
                </a:solidFill>
                <a:latin typeface="Microsoft YaHei"/>
              </a:rPr>
              <a:t>预期性注视代替对预警的响应</a:t>
            </a:r>
            <a:r>
              <a:rPr sz="1070" b="0" i="0">
                <a:solidFill>
                  <a:srgbClr val="7A1F1F"/>
                </a:solidFill>
                <a:latin typeface="Microsoft YaHei"/>
              </a:rPr>
              <a:t>，使效应量被系统性污染。 该威胁在非盲区情境中不存在或弱得多，故须专设控制。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585614"/>
          <a:ext cx="11315700" cy="230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50"/>
                <a:gridCol w="9886950"/>
              </a:tblGrid>
              <a:tr h="3619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控制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做法与其针对的机制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379809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① 密度稀释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以填充试次把遮挡事件密度压至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不超过总事件的四分之一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，降低规则习得的速率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② 捕获试次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设置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遮挡体后无行人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的试次：既测虚警条件下的行为，也使「遮挡必有行人」这一规则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不成立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。 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须注意其与可靠性操纵存在交互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，故二者比例须在设计阶段联合确定，并在分析中作为固定效应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显式建模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③ 序号协变量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在混合模型中把试次序号作为协变量，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显式检验并报告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学习效应，而非假定其可忽略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④ 首试次单独分析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报告首个遮挡试次的单独结果，作为「无预期」条件的近似。 其统计功效很低，故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只作方向性参照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；其价值在于提供一个不受学习污染的锚点，以判断主分析的偏误方向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150" y="3997821"/>
            <a:ext cx="11315700" cy="718839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150" y="3997821"/>
            <a:ext cx="38100" cy="718839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112121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8A6A00"/>
                </a:solidFill>
                <a:latin typeface="Microsoft YaHei"/>
              </a:rPr>
              <a:t>残余局限须照实声明。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可预期性无法完全消除，故本研究的效应量相对真实突发遮挡事件的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偏误方向不明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， 须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并列陈述高估与低估两种可能，不得单向断言保守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。 须一并指出：本库中的实车遮挡研究亦须以黑布遮挡与演员配合实现，且车速被限制在 10 mph—— 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该威胁并非模拟器所特有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，故不构成对本研究方法选择的独立批评。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2B.7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小结：四步证据链与本综述的结论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15551" y="209550"/>
            <a:ext cx="438298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0326" y="238125"/>
            <a:ext cx="266848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516284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51628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75" y="885825"/>
            <a:ext cx="11029950" cy="2972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F528F"/>
                </a:solidFill>
                <a:latin typeface="Microsoft YaHei"/>
              </a:rPr>
              <a:t>核心论断：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AR-HUD 行人碰撞预警的时空参数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不存在跨情境通用的取值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； 决定取值的首要因素不是显示技术，而是</a:t>
            </a:r>
            <a:r>
              <a:rPr sz="1160" b="1" i="0">
                <a:solidFill>
                  <a:srgbClr val="2F528F"/>
                </a:solidFill>
                <a:latin typeface="Microsoft YaHei"/>
              </a:rPr>
              <a:t>危险目标在预警时刻是否可见</a:t>
            </a:r>
            <a:r>
              <a:rPr sz="1160" b="0" i="0">
                <a:solidFill>
                  <a:srgbClr val="2F528F"/>
                </a:solidFill>
                <a:latin typeface="Microsoft YaHei"/>
              </a:rPr>
              <a:t>。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150" y="1383059"/>
          <a:ext cx="11315700" cy="25062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0401300"/>
              </a:tblGrid>
              <a:tr h="36195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FFFFF"/>
                          </a:solidFill>
                          <a:latin typeface="Microsoft YaHei"/>
                        </a:rPr>
                        <a:t>内容与其结论</a:t>
                      </a:r>
                    </a:p>
                  </a:txBody>
                  <a:tcPr marL="104775" marR="104775" marT="85725" marB="85725" anchor="t">
                    <a:solidFill>
                      <a:srgbClr val="4472C4"/>
                    </a:solidFill>
                  </a:tcPr>
                </a:tc>
              </a:tr>
              <a:tr h="58340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① 证据格局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以遮挡为核心条件者仅 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6 篇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（不足 6%）。唯一实车范式给出「屏幕固定捕获快、共形引导快」的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双解离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与 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17° 视场失效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两条约束；唯一强量化来源给出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提前 36.29／39.10 m、减速度绝对值降 3.45 m/s²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的收益幅度； 而理论路径一篇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仅摘要级、零数值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② 前提失效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六处边界推翻（BD-1–BD-6）说明盲区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并非使效应量变小，而是使前提不成立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 零点在物理上不存在、目标锁定不可实现、软上界变硬上界、预警不可被核验、共形图形移出视场、理论下界的原点被截断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  <a:tr h="384571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③ 理论重构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零点由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心理量改为几何量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，自变量由绝对提前量改为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相对显露时刻的提前量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 新增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预告区段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这一在非盲区情境中不存在的构念；分层由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强度分层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改为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语义分层</a:t>
                      </a:r>
                    </a:p>
                  </a:txBody>
                  <a:tcPr marL="104775" marR="104775" marT="85725" marB="85725" anchor="t">
                    <a:solidFill>
                      <a:srgbClr val="FAFBFD"/>
                    </a:solidFill>
                  </a:tcPr>
                </a:tc>
              </a:tr>
              <a:tr h="58816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④ 空白与预测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七项空白（BG1–BG7）证据状态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均为零对照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；六条可否证预测（P1′–P6′）中 </a:t>
                      </a:r>
                      <a:r>
                        <a:rPr sz="1040" b="1" i="0">
                          <a:solidFill>
                            <a:srgbClr val="1A1A1A"/>
                          </a:solidFill>
                          <a:latin typeface="Microsoft YaHei"/>
                        </a:rPr>
                        <a:t>P6′ 为自我否证条款</a:t>
                      </a:r>
                      <a:r>
                        <a:rPr sz="1040" b="0" i="0">
                          <a:solidFill>
                            <a:srgbClr val="1A1A1A"/>
                          </a:solidFill>
                          <a:latin typeface="Microsoft YaHei"/>
                        </a:rPr>
                        <a:t>——若双向迁移损失不显著，则本切分不成立</a:t>
                      </a:r>
                    </a:p>
                  </a:txBody>
                  <a:tcPr marL="104775" marR="104775" marT="85725" marB="85725" anchor="t"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150" y="3998862"/>
            <a:ext cx="11315700" cy="718839"/>
          </a:xfrm>
          <a:prstGeom prst="rect">
            <a:avLst/>
          </a:prstGeom>
          <a:solidFill>
            <a:srgbClr val="F2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150" y="3998862"/>
            <a:ext cx="38100" cy="718839"/>
          </a:xfrm>
          <a:prstGeom prst="rect">
            <a:avLst/>
          </a:prstGeom>
          <a:solidFill>
            <a:srgbClr val="3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113162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F5A1F"/>
                </a:solidFill>
                <a:latin typeface="Microsoft YaHei"/>
              </a:rPr>
              <a:t>本综述对研究设计的三项直接约束。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其一，盲区实验的零点必须由几何解析求出并经眼动实测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双路核验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； 其二，锚定策略的输出形式必须是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「遮挡几何 × 可用视场 → 推荐锚定」的查表式规范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，而非单一冠军方案； 其三，本研究结论的适用范围限于</a:t>
            </a:r>
            <a:r>
              <a:rPr sz="1070" b="1" i="0">
                <a:solidFill>
                  <a:srgbClr val="1F5A1F"/>
                </a:solidFill>
                <a:latin typeface="Microsoft YaHei"/>
              </a:rPr>
              <a:t>具备车路协同能力的场景</a:t>
            </a:r>
            <a:r>
              <a:rPr sz="1070" b="0" i="0">
                <a:solidFill>
                  <a:srgbClr val="1F5A1F"/>
                </a:solidFill>
                <a:latin typeface="Microsoft YaHei"/>
              </a:rPr>
              <a:t>——此项须写入结论边界，而非留在讨论中承认。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" y="4822477"/>
            <a:ext cx="11315700" cy="718839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150" y="4822477"/>
            <a:ext cx="38100" cy="718839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" y="4936777"/>
            <a:ext cx="11049000" cy="51881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8A6A00"/>
                </a:solidFill>
                <a:latin typeface="Microsoft YaHei"/>
              </a:rPr>
              <a:t>因变量归属（与主线共用一套构念）。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本专题的全部指标归入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安全绩效／认知负荷／情境意识／用户体验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四类构念： 情境意识按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感知·理解·预测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三阶段分别计分，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预告区段内的预期性注视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为预测层代理量，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危险漏检率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为并列主要终点； 情境意识</a:t>
            </a:r>
            <a:r>
              <a:rPr sz="1070" b="1" i="0">
                <a:solidFill>
                  <a:srgbClr val="8A6A00"/>
                </a:solidFill>
                <a:latin typeface="Microsoft YaHei"/>
              </a:rPr>
              <a:t>单列而不并入认知负荷</a:t>
            </a:r>
            <a:r>
              <a:rPr sz="1070" b="0" i="0">
                <a:solidFill>
                  <a:srgbClr val="6B5200"/>
                </a:solidFill>
                <a:latin typeface="Microsoft YaHei"/>
              </a:rPr>
              <a:t>，因存在主观负荷下降而漏检率上升的可解离条件。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