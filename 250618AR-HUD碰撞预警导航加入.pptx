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306" r:id="rId4"/>
    <p:sldId id="305" r:id="rId5"/>
    <p:sldId id="303" r:id="rId7"/>
    <p:sldId id="307" r:id="rId8"/>
    <p:sldId id="308" r:id="rId9"/>
  </p:sldIdLst>
  <p:sldSz cx="12192000" cy="6858000"/>
  <p:notesSz cx="6858000" cy="9144000"/>
  <p:custDataLst>
    <p:tags r:id="rId1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12" userDrawn="1">
          <p15:clr>
            <a:srgbClr val="747775"/>
          </p15:clr>
        </p15:guide>
        <p15:guide id="2" pos="2811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55" initials="8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9EBF5"/>
    <a:srgbClr val="4472C4"/>
    <a:srgbClr val="E6E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712"/>
        <p:guide pos="281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6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Hou等人 (</a:t>
            </a:r>
            <a:r>
              <a:rPr lang="en-US" altLang="zh-CN">
                <a:sym typeface="+mn-ea"/>
              </a:rPr>
              <a:t>2025</a:t>
            </a:r>
            <a:r>
              <a:rPr lang="en-US">
                <a:sym typeface="+mn-ea"/>
              </a:rPr>
              <a:t>)</a:t>
            </a:r>
            <a:r>
              <a:rPr lang="zh-CN" altLang="en-US">
                <a:sym typeface="+mn-ea"/>
              </a:rPr>
              <a:t>的研究系统操控了AR-HUD导航图形的颜色透明度（T1, T0.75, T0.5, T0.35），发现：透明度T0.75（即降低导航信息的不透明度/显著性25%）时非注意盲视率最低，而T0.5则与最短反应时间相关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7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7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3"/>
          </p:nvPr>
        </p:nvSpPr>
        <p:spPr>
          <a:xfrm>
            <a:off x="8362950" y="1809750"/>
            <a:ext cx="2857500" cy="2438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54536" y="330590"/>
            <a:ext cx="2174882" cy="45606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7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7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7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400" y="1313870"/>
            <a:ext cx="10969200" cy="4759200"/>
          </a:xfrm>
        </p:spPr>
        <p:txBody>
          <a:bodyPr/>
          <a:p>
            <a:r>
              <a:rPr lang="en-US" altLang="zh-CN" sz="1800"/>
              <a:t>·</a:t>
            </a:r>
            <a:r>
              <a:rPr lang="zh-CN" altLang="en-US" sz="1800"/>
              <a:t>从传统</a:t>
            </a:r>
            <a:r>
              <a:rPr lang="en-US" altLang="zh-CN" sz="1800"/>
              <a:t>HUD</a:t>
            </a:r>
            <a:r>
              <a:rPr lang="zh-CN" altLang="en-US" sz="1800"/>
              <a:t>行人碰撞预警到</a:t>
            </a:r>
            <a:r>
              <a:rPr lang="en-US" altLang="zh-CN" sz="1800"/>
              <a:t>ar</a:t>
            </a:r>
            <a:r>
              <a:rPr lang="en-US" altLang="zh-CN" sz="1800"/>
              <a:t> HUD </a:t>
            </a:r>
            <a:r>
              <a:rPr lang="zh-CN" altLang="en-US" sz="1800"/>
              <a:t>行人碰撞预警的变化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708660" y="1713865"/>
          <a:ext cx="10868025" cy="4858385"/>
        </p:xfrm>
        <a:graphic>
          <a:graphicData uri="http://schemas.openxmlformats.org/drawingml/2006/table">
            <a:tbl>
              <a:tblPr/>
              <a:tblGrid>
                <a:gridCol w="1691640"/>
                <a:gridCol w="4211955"/>
                <a:gridCol w="4964430"/>
              </a:tblGrid>
              <a:tr h="469265">
                <a:tc>
                  <a:txBody>
                    <a:bodyPr/>
                    <a:p>
                      <a:pPr algn="ctr"/>
                      <a:r>
                        <a:rPr lang="zh-CN" altLang="en-US" sz="18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</a:rPr>
                        <a:t>维度</a:t>
                      </a:r>
                      <a:endParaRPr lang="zh-CN" altLang="en-US" sz="1800" b="1">
                        <a:solidFill>
                          <a:schemeClr val="bg1"/>
                        </a:solidFill>
                        <a:latin typeface="Arial" panose="020B07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传统 </a:t>
                      </a:r>
                      <a:r>
                        <a:rPr lang="en-US" altLang="zh-CN" sz="18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HUD </a:t>
                      </a:r>
                      <a:r>
                        <a:rPr lang="zh-CN" altLang="en-US" sz="18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行人碰撞预警</a:t>
                      </a:r>
                      <a:endParaRPr lang="zh-CN" altLang="en-US" sz="1800" b="1">
                        <a:solidFill>
                          <a:schemeClr val="bg1"/>
                        </a:solidFill>
                        <a:latin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8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AR-HUD </a:t>
                      </a:r>
                      <a:r>
                        <a:rPr lang="zh-CN" altLang="en-US" sz="18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行人碰撞预警</a:t>
                      </a:r>
                      <a:endParaRPr lang="zh-CN" altLang="en-US" sz="1800" b="1">
                        <a:solidFill>
                          <a:schemeClr val="bg1"/>
                        </a:solidFill>
                        <a:latin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信息呈现逻辑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事件触发式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持续叠加式：</a:t>
                      </a:r>
                      <a:r>
                        <a:rPr lang="zh-CN" altLang="en-US" sz="1600"/>
                        <a:t>导航箭头、车道线、速度等 </a:t>
                      </a:r>
                      <a:r>
                        <a:rPr lang="en-US" altLang="zh-CN" sz="1600"/>
                        <a:t>AR </a:t>
                      </a:r>
                      <a:r>
                        <a:rPr lang="zh-CN" altLang="en-US" sz="1600"/>
                        <a:t>信息在绝大多数场景下持续呈现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视觉场景复杂度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低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高</a:t>
                      </a:r>
                      <a:r>
                        <a:rPr lang="en-US" altLang="zh-CN" sz="1800"/>
                        <a:t>——</a:t>
                      </a:r>
                      <a:r>
                        <a:rPr lang="zh-CN" altLang="en-US" sz="1600"/>
                        <a:t>预警必须与已有的 </a:t>
                      </a:r>
                      <a:r>
                        <a:rPr lang="en-US" altLang="zh-CN" sz="1600"/>
                        <a:t>AR </a:t>
                      </a:r>
                      <a:r>
                        <a:rPr lang="zh-CN" altLang="en-US" sz="1600"/>
                        <a:t>叠加层竞争注意资源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</a:tr>
              <a:tr h="109728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注意捕获条件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>
                          <a:sym typeface="+mn-ea"/>
                        </a:rPr>
                        <a:t>提升绝对显著性</a:t>
                      </a:r>
                      <a:endParaRPr lang="zh-CN" altLang="en-US" sz="1800"/>
                    </a:p>
                    <a:p>
                      <a:r>
                        <a:rPr lang="zh-CN" altLang="en-US" sz="1800"/>
                        <a:t>预警从无到有的本身即为强显著性信号，几乎不存在与其他显示元素的显著性竞争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>
                          <a:highlight>
                            <a:srgbClr val="FFFF00"/>
                          </a:highlight>
                        </a:rPr>
                        <a:t>提升相对显著性</a:t>
                      </a:r>
                      <a:endParaRPr lang="zh-CN" altLang="en-US" sz="1800">
                        <a:highlight>
                          <a:srgbClr val="FFFF00"/>
                        </a:highlight>
                      </a:endParaRPr>
                    </a:p>
                    <a:p>
                      <a:r>
                        <a:rPr lang="zh-CN" altLang="en-US" sz="1800"/>
                        <a:t>由于导航箭头等 </a:t>
                      </a:r>
                      <a:r>
                        <a:rPr lang="en-US" altLang="zh-CN" sz="1800"/>
                        <a:t>AR </a:t>
                      </a:r>
                      <a:r>
                        <a:rPr lang="zh-CN" altLang="en-US" sz="1800"/>
                        <a:t>元素已具备运动、色彩等显著性特征，可能导致非注意盲视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其他认知负荷来源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主要为驾驶任务本身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双重来源：</a:t>
                      </a:r>
                      <a:r>
                        <a:rPr lang="en-US" altLang="zh-CN" sz="1800"/>
                        <a:t>① </a:t>
                      </a:r>
                      <a:r>
                        <a:rPr lang="zh-CN" altLang="en-US" sz="1800"/>
                        <a:t>驾驶任务负荷；</a:t>
                      </a:r>
                      <a:endParaRPr lang="zh-CN" altLang="en-US" sz="1800"/>
                    </a:p>
                    <a:p>
                      <a:r>
                        <a:rPr lang="en-US" altLang="zh-CN" sz="1800"/>
                        <a:t>② AR </a:t>
                      </a:r>
                      <a:r>
                        <a:rPr lang="zh-CN" altLang="en-US" sz="1800"/>
                        <a:t>持续信息维持的外在认知负荷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</a:tr>
              <a:tr h="948055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潜在风险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可能因信息呈现时间短、</a:t>
                      </a:r>
                      <a:endParaRPr lang="zh-CN" altLang="en-US" sz="1800"/>
                    </a:p>
                    <a:p>
                      <a:r>
                        <a:rPr lang="zh-CN" altLang="en-US" sz="1800"/>
                        <a:t>缺乏空间指向而导致驾驶员定位困难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800"/>
                        <a:t>① </a:t>
                      </a:r>
                      <a:r>
                        <a:rPr lang="zh-CN" altLang="en-US" sz="1800"/>
                        <a:t>注意力竞争</a:t>
                      </a:r>
                      <a:endParaRPr lang="zh-CN" altLang="en-US" sz="1800"/>
                    </a:p>
                    <a:p>
                      <a:r>
                        <a:rPr lang="en-US" altLang="zh-CN" sz="1800"/>
                        <a:t>②</a:t>
                      </a:r>
                      <a:r>
                        <a:rPr lang="zh-CN" altLang="en-US" sz="1800"/>
                        <a:t>非注意盲视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</a:tr>
              <a:tr h="697865">
                <a:tc>
                  <a:txBody>
                    <a:bodyPr/>
                    <a:p>
                      <a:pPr algn="ctr"/>
                      <a:r>
                        <a:rPr lang="zh-CN" altLang="en-US" sz="1800"/>
                        <a:t>设计核心矛盾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/>
                        <a:t>如何在有限呈现时间内传达足够信息</a:t>
                      </a:r>
                      <a:endParaRPr lang="zh-CN" alt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>
                          <a:solidFill>
                            <a:srgbClr val="C00000"/>
                          </a:solidFill>
                        </a:rPr>
                        <a:t>如何在已有 </a:t>
                      </a:r>
                      <a:r>
                        <a:rPr lang="en-US" altLang="zh-CN" sz="1800">
                          <a:solidFill>
                            <a:srgbClr val="C00000"/>
                          </a:solidFill>
                        </a:rPr>
                        <a:t>AR </a:t>
                      </a:r>
                      <a:r>
                        <a:rPr lang="zh-CN" altLang="en-US" sz="1800">
                          <a:solidFill>
                            <a:srgbClr val="C00000"/>
                          </a:solidFill>
                        </a:rPr>
                        <a:t>信息持续占据注意资源的前提下，使碰撞预警仍能突破注意阈限被有效感知 </a:t>
                      </a:r>
                      <a:r>
                        <a:rPr lang="en-US" altLang="zh-CN" sz="1800">
                          <a:solidFill>
                            <a:srgbClr val="C00000"/>
                          </a:solidFill>
                        </a:rPr>
                        <a:t>？</a:t>
                      </a:r>
                      <a:endParaRPr lang="en-US" altLang="zh-CN" sz="180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sp>
        <p:nvSpPr>
          <p:cNvPr id="9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</a:t>
            </a:r>
            <a:endParaRPr lang="zh-CN" altLang="en-US" sz="28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08330" y="1270000"/>
          <a:ext cx="10688955" cy="4005580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1965325"/>
                <a:gridCol w="4486910"/>
                <a:gridCol w="4236720"/>
              </a:tblGrid>
              <a:tr h="934085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</a:rPr>
                        <a:t>维度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Arial" panose="020B0704020202020204" pitchFamily="34" charset="0"/>
                      </a:endParaRPr>
                    </a:p>
                  </a:txBody>
                  <a:tcPr marL="0" marR="0" marT="0" marB="0" anchor="ctr" anchorCtr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路径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1</a:t>
                      </a: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：直接增强目标显著性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Arial" panose="020B0704020202020204" pitchFamily="34" charset="0"/>
                        <a:cs typeface="Arial" panose="020B0704020202020204" pitchFamily="34" charset="0"/>
                      </a:endParaRPr>
                    </a:p>
                    <a:p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（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Attentional Capture</a:t>
                      </a: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）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0" marR="0" marT="0" marB="0" anchor="ctr" anchorCtr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路径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2</a:t>
                      </a: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：信号抑制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//</a:t>
                      </a: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竞争者削弱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-</a:t>
                      </a: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提升相对显著性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Arial" panose="020B0704020202020204" pitchFamily="34" charset="0"/>
                        <a:cs typeface="Arial" panose="020B0704020202020204" pitchFamily="34" charset="0"/>
                      </a:endParaRPr>
                    </a:p>
                    <a:p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（</a:t>
                      </a:r>
                      <a:r>
                        <a:rPr lang="en-US" altLang="zh-CN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Signal Suppression</a:t>
                      </a:r>
                      <a:r>
                        <a:rPr lang="zh-CN" altLang="en-US" sz="1600" b="1">
                          <a:solidFill>
                            <a:schemeClr val="bg1"/>
                          </a:solidFill>
                          <a:latin typeface="Arial" panose="020B0704020202020204" pitchFamily="34" charset="0"/>
                          <a:cs typeface="Arial" panose="020B0704020202020204" pitchFamily="34" charset="0"/>
                        </a:rPr>
                        <a:t>）</a:t>
                      </a:r>
                      <a:endParaRPr lang="zh-CN" altLang="en-US" sz="1600" b="1">
                        <a:solidFill>
                          <a:schemeClr val="bg1"/>
                        </a:solidFill>
                        <a:latin typeface="Arial" panose="020B0704020202020204" pitchFamily="34" charset="0"/>
                        <a:cs typeface="Arial" panose="020B0704020202020204" pitchFamily="34" charset="0"/>
                      </a:endParaRPr>
                    </a:p>
                  </a:txBody>
                  <a:tcPr marL="0" marR="0" marT="0" marB="0" anchor="ctr" anchorCtr="0">
                    <a:solidFill>
                      <a:srgbClr val="4472C4"/>
                    </a:solidFill>
                  </a:tcPr>
                </a:tc>
              </a:tr>
              <a:tr h="511810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机制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增强目标</a:t>
                      </a:r>
                      <a:r>
                        <a:rPr lang="en-US" altLang="zh-CN" sz="1600"/>
                        <a:t>salience → </a:t>
                      </a:r>
                      <a:r>
                        <a:rPr lang="zh-CN" altLang="en-US" sz="1600"/>
                        <a:t>自动捕获注意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降低竞争者</a:t>
                      </a:r>
                      <a:r>
                        <a:rPr lang="en-US" altLang="zh-CN" sz="1600"/>
                        <a:t>salience → </a:t>
                      </a:r>
                      <a:r>
                        <a:rPr lang="zh-CN" altLang="en-US" sz="1600"/>
                        <a:t>目标相对突出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  <a:tr h="511810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理论基础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自下而上注意捕获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 b="1">
                          <a:latin typeface="Arial" panose="020B0704020202020204" pitchFamily="34" charset="0"/>
                        </a:rPr>
                        <a:t>信号抑制假说</a:t>
                      </a:r>
                      <a:r>
                        <a:rPr lang="zh-CN" altLang="en-US" sz="1600"/>
                        <a:t> </a:t>
                      </a:r>
                      <a:r>
                        <a:rPr lang="en-US" altLang="zh-CN" sz="1600"/>
                        <a:t>+ </a:t>
                      </a:r>
                      <a:r>
                        <a:rPr lang="zh-CN" altLang="en-US" sz="1600"/>
                        <a:t>相对显著性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  <a:tr h="511810">
                <a:tc>
                  <a:txBody>
                    <a:bodyPr/>
                    <a:p>
                      <a:pPr algn="ctr"/>
                      <a:r>
                        <a:rPr lang="en-US" altLang="zh-CN" sz="1600"/>
                        <a:t>AR-HUD</a:t>
                      </a:r>
                      <a:r>
                        <a:rPr lang="zh-CN" altLang="en-US" sz="1600"/>
                        <a:t>中的操作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高亮行人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弱化导航、降低非关键信息透明度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  <a:tr h="51244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优势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直接、可靠、强制性高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低干扰、低认知负荷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  <a:tr h="51117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风险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视觉杂乱、认知过载、多信息竞争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如果弱化不足则预警可能被遗漏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  <a:tr h="512445">
                <a:tc>
                  <a:txBody>
                    <a:bodyPr/>
                    <a:p>
                      <a:pPr algn="ctr"/>
                      <a:r>
                        <a:rPr lang="zh-CN" altLang="en-US" sz="1600"/>
                        <a:t>文献支撑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600"/>
                        <a:t>先前所有与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</a:rPr>
                        <a:t>行人标注方式</a:t>
                      </a:r>
                      <a:r>
                        <a:rPr lang="zh-CN" altLang="en-US" sz="1600"/>
                        <a:t>相关的都可属于此思路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600"/>
                        <a:t>Hou et al., 2025; </a:t>
                      </a:r>
                      <a:r>
                        <a:rPr lang="zh-CN" altLang="en-US" sz="1600"/>
                        <a:t>有使用这个思路</a:t>
                      </a:r>
                      <a:endParaRPr lang="zh-CN" altLang="en-US" sz="16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005" y="5169535"/>
            <a:ext cx="2780030" cy="15798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8500" y="5516880"/>
            <a:ext cx="7070090" cy="1076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Char char="•"/>
            </a:pPr>
            <a:r>
              <a:rPr lang="zh-CN" altLang="en-US" sz="1600" b="0" i="0">
                <a:solidFill>
                  <a:srgbClr val="1D2129"/>
                </a:solidFill>
                <a:latin typeface="PingFang SC"/>
                <a:ea typeface="PingFang SC"/>
              </a:rPr>
              <a:t>基于信号抑制假说：</a:t>
            </a:r>
            <a:r>
              <a:rPr lang="zh-CN" altLang="en-US" sz="1600" b="0" i="0">
                <a:solidFill>
                  <a:srgbClr val="1D2129"/>
                </a:solidFill>
                <a:latin typeface="PingFang SC"/>
                <a:ea typeface="PingFang SC"/>
              </a:rPr>
              <a:t>抑制策略</a:t>
            </a:r>
            <a:r>
              <a:rPr lang="zh-CN" altLang="en-US" sz="1600" b="0" i="0">
                <a:solidFill>
                  <a:srgbClr val="1D2129"/>
                </a:solidFill>
                <a:latin typeface="PingFang SC"/>
                <a:ea typeface="PingFang SC"/>
              </a:rPr>
              <a:t>应能降低认知负荷的同时维持较好的危险感知</a:t>
            </a:r>
            <a:endParaRPr lang="zh-CN" altLang="en-US" sz="1600" b="0" i="0">
              <a:solidFill>
                <a:srgbClr val="1D2129"/>
              </a:solidFill>
              <a:latin typeface="PingFang SC"/>
              <a:ea typeface="PingFang SC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Char char="•"/>
            </a:pPr>
            <a:r>
              <a:rPr lang="zh-CN" altLang="en-US" sz="1600" b="0" i="0">
                <a:solidFill>
                  <a:srgbClr val="1D2129"/>
                </a:solidFill>
                <a:latin typeface="PingFang SC"/>
                <a:ea typeface="PingFang SC"/>
              </a:rPr>
              <a:t>基于注意捕获理论：</a:t>
            </a:r>
            <a:r>
              <a:rPr lang="zh-CN" altLang="en-US" sz="1600" b="0" i="0">
                <a:solidFill>
                  <a:srgbClr val="1D2129"/>
                </a:solidFill>
                <a:latin typeface="PingFang SC"/>
                <a:ea typeface="PingFang SC"/>
              </a:rPr>
              <a:t>捕获策略</a:t>
            </a:r>
            <a:r>
              <a:rPr lang="zh-CN" altLang="en-US" sz="1600" b="0" i="0">
                <a:solidFill>
                  <a:srgbClr val="1D2129"/>
                </a:solidFill>
                <a:latin typeface="PingFang SC"/>
                <a:ea typeface="PingFang SC"/>
              </a:rPr>
              <a:t>应产生最快的反应时间，但可能伴随更高认知负荷</a:t>
            </a:r>
            <a:endParaRPr lang="zh-CN" altLang="en-US" sz="1600" b="0" i="0">
              <a:solidFill>
                <a:srgbClr val="1D2129"/>
              </a:solidFill>
              <a:latin typeface="PingFang SC"/>
              <a:ea typeface="PingFang SC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704020202020204"/>
              <a:buChar char="•"/>
            </a:pPr>
            <a:r>
              <a:rPr lang="zh-CN" altLang="en-US" sz="1600" b="0" i="0">
                <a:solidFill>
                  <a:srgbClr val="1D2129"/>
                </a:solidFill>
                <a:latin typeface="PingFang SC"/>
                <a:ea typeface="PingFang SC"/>
              </a:rPr>
              <a:t>组合策略是否优于单一策略</a:t>
            </a:r>
            <a:r>
              <a:rPr lang="zh-CN" altLang="en-US" sz="1600" b="0" i="0">
                <a:solidFill>
                  <a:srgbClr val="1D2129"/>
                </a:solidFill>
                <a:latin typeface="PingFang SC"/>
                <a:ea typeface="PingFang SC"/>
              </a:rPr>
              <a:t>？两者是否存在交互效应？</a:t>
            </a:r>
            <a:endParaRPr lang="zh-CN" altLang="en-US" sz="1600" b="0" i="0">
              <a:solidFill>
                <a:srgbClr val="1D2129"/>
              </a:solidFill>
              <a:latin typeface="PingFang SC"/>
              <a:ea typeface="PingFang SC"/>
            </a:endParaRPr>
          </a:p>
        </p:txBody>
      </p:sp>
      <p:sp>
        <p:nvSpPr>
          <p:cNvPr id="9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提升对意外刺激注意的策略</a:t>
            </a:r>
            <a:endParaRPr lang="zh-CN" altLang="en-US" sz="28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508000" y="1547495"/>
          <a:ext cx="11367770" cy="4711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330"/>
                <a:gridCol w="1936115"/>
                <a:gridCol w="1336675"/>
                <a:gridCol w="1598930"/>
                <a:gridCol w="1661795"/>
                <a:gridCol w="1884680"/>
                <a:gridCol w="1325245"/>
              </a:tblGrid>
              <a:tr h="33528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自变量</a:t>
                      </a:r>
                      <a:endParaRPr lang="zh-CN" altLang="en-US" sz="1800"/>
                    </a:p>
                  </a:txBody>
                  <a:tcPr/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各水平</a:t>
                      </a:r>
                      <a:endParaRPr lang="zh-CN" altLang="en-US" sz="18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具体操纵说明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参考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理论依据</a:t>
                      </a:r>
                      <a:endParaRPr lang="zh-CN" altLang="en-US" sz="1800"/>
                    </a:p>
                  </a:txBody>
                  <a:tcPr/>
                </a:tc>
              </a:tr>
              <a:tr h="33528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C00000"/>
                          </a:solidFill>
                        </a:rPr>
                        <a:t>预警信息</a:t>
                      </a:r>
                      <a:endParaRPr lang="zh-CN" altLang="en-US" sz="180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非预警信息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57912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提升对影响意外刺激注意的策略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基线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正常亮度</a:t>
                      </a:r>
                      <a:r>
                        <a:rPr lang="en-US" altLang="zh-CN" sz="1800">
                          <a:sym typeface="+mn-ea"/>
                        </a:rPr>
                        <a:t>、</a:t>
                      </a:r>
                      <a:r>
                        <a:rPr lang="zh-CN" altLang="en-US" sz="1800">
                          <a:sym typeface="+mn-ea"/>
                        </a:rPr>
                        <a:t>透明度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131064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捕获策略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标注行人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正常亮度</a:t>
                      </a:r>
                      <a:r>
                        <a:rPr lang="en-US" altLang="zh-CN" sz="1800"/>
                        <a:t>、</a:t>
                      </a:r>
                      <a:r>
                        <a:rPr lang="zh-CN" altLang="en-US" sz="1800"/>
                        <a:t>透明度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预警信息</a:t>
                      </a:r>
                      <a:r>
                        <a:rPr lang="en-US" altLang="zh-CN" sz="1800"/>
                        <a:t>：</a:t>
                      </a:r>
                      <a:r>
                        <a:rPr lang="zh-CN" altLang="en-US" sz="1800"/>
                        <a:t>用特定方式进行标注</a:t>
                      </a:r>
                      <a:r>
                        <a:rPr lang="en-US" altLang="zh-CN" sz="1800"/>
                        <a:t>，TTC1.5</a:t>
                      </a:r>
                      <a:r>
                        <a:rPr lang="zh-CN" altLang="en-US" sz="1800"/>
                        <a:t>秒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600"/>
                        <a:t>可通过预实验确认</a:t>
                      </a:r>
                      <a:r>
                        <a:rPr lang="en-US" altLang="zh-CN" sz="1600"/>
                        <a:t>-</a:t>
                      </a:r>
                      <a:r>
                        <a:rPr lang="zh-CN" altLang="en-US" sz="1600"/>
                        <a:t>三角符号</a:t>
                      </a:r>
                      <a:r>
                        <a:rPr lang="en-US" altLang="zh-CN" sz="1600"/>
                        <a:t>；</a:t>
                      </a:r>
                      <a:r>
                        <a:rPr lang="zh-CN" altLang="en-US" sz="1600"/>
                        <a:t>阴影框</a:t>
                      </a:r>
                      <a:r>
                        <a:rPr lang="en-US" altLang="zh-CN" sz="1600"/>
                        <a:t>；</a:t>
                      </a:r>
                      <a:r>
                        <a:rPr lang="zh-CN" altLang="en-US" sz="1600"/>
                        <a:t>接触模拟</a:t>
                      </a:r>
                      <a:r>
                        <a:rPr lang="en-US" altLang="zh-CN" sz="1600"/>
                        <a:t>；</a:t>
                      </a:r>
                      <a:r>
                        <a:rPr lang="zh-CN" altLang="en-US" sz="1600"/>
                        <a:t>虚拟阴影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注意捕获</a:t>
                      </a:r>
                      <a:endParaRPr lang="zh-CN" altLang="en-US" sz="1800"/>
                    </a:p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自下而上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</a:tr>
              <a:tr h="1388745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抑制策略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⬇️</a:t>
                      </a:r>
                      <a:r>
                        <a:rPr lang="zh-CN" altLang="en-US" sz="1800">
                          <a:sym typeface="+mn-ea"/>
                        </a:rPr>
                        <a:t>亮度</a:t>
                      </a:r>
                      <a:r>
                        <a:rPr lang="en-US" altLang="zh-CN" sz="1800">
                          <a:sym typeface="+mn-ea"/>
                        </a:rPr>
                        <a:t>、</a:t>
                      </a:r>
                      <a:r>
                        <a:rPr lang="zh-CN" altLang="en-US" sz="1800">
                          <a:sym typeface="+mn-ea"/>
                        </a:rPr>
                        <a:t>透明度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导航信息</a:t>
                      </a:r>
                      <a:r>
                        <a:rPr lang="en-US" altLang="zh-CN" sz="1800"/>
                        <a:t>：</a:t>
                      </a:r>
                      <a:r>
                        <a:rPr lang="zh-CN" altLang="en-US" sz="1800"/>
                        <a:t>调整亮度</a:t>
                      </a:r>
                      <a:r>
                        <a:rPr lang="en-US" altLang="zh-CN" sz="1800"/>
                        <a:t>、</a:t>
                      </a:r>
                      <a:r>
                        <a:rPr lang="zh-CN" altLang="en-US" sz="1800"/>
                        <a:t>透明度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Hou等人 (</a:t>
                      </a:r>
                      <a:r>
                        <a:rPr lang="en-US" altLang="zh-CN" sz="1600">
                          <a:sym typeface="+mn-ea"/>
                        </a:rPr>
                        <a:t>2025</a:t>
                      </a:r>
                      <a:r>
                        <a:rPr lang="en-US" sz="1600">
                          <a:sym typeface="+mn-ea"/>
                        </a:rPr>
                        <a:t>)</a:t>
                      </a:r>
                      <a:r>
                        <a:rPr lang="zh-CN" altLang="en-US" sz="1600">
                          <a:sym typeface="+mn-ea"/>
                        </a:rPr>
                        <a:t>的研究发现：T0.75时非注意盲视率最低，而T0.5则与最短反应时间相关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信号抑制</a:t>
                      </a:r>
                      <a:endParaRPr lang="zh-CN" altLang="en-US" sz="1800"/>
                    </a:p>
                  </a:txBody>
                  <a:tcPr/>
                </a:tc>
              </a:tr>
              <a:tr h="57912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组合策略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标注行人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⬇️</a:t>
                      </a:r>
                      <a:r>
                        <a:rPr lang="zh-CN" altLang="en-US" sz="1800">
                          <a:sym typeface="+mn-ea"/>
                        </a:rPr>
                        <a:t>亮度</a:t>
                      </a:r>
                      <a:r>
                        <a:rPr lang="en-US" altLang="zh-CN" sz="1800">
                          <a:sym typeface="+mn-ea"/>
                        </a:rPr>
                        <a:t>、</a:t>
                      </a:r>
                      <a:r>
                        <a:rPr lang="zh-CN" altLang="en-US" sz="1800">
                          <a:sym typeface="+mn-ea"/>
                        </a:rPr>
                        <a:t>透明度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标题 11"/>
          <p:cNvSpPr/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3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关键自变量及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操纵</a:t>
            </a:r>
            <a:endParaRPr lang="zh-CN" altLang="en-US" sz="28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467360" y="1254760"/>
          <a:ext cx="11216640" cy="501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685"/>
                <a:gridCol w="2087245"/>
                <a:gridCol w="2625090"/>
                <a:gridCol w="1666240"/>
                <a:gridCol w="1564640"/>
                <a:gridCol w="1602740"/>
              </a:tblGrid>
              <a:tr h="481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自变量</a:t>
                      </a:r>
                      <a:endParaRPr lang="zh-CN" altLang="en-US" sz="1800"/>
                    </a:p>
                  </a:txBody>
                  <a:tcPr/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各水平</a:t>
                      </a:r>
                      <a:endParaRPr lang="zh-CN" altLang="en-US" sz="1800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具体操纵说明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参考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理论依据</a:t>
                      </a:r>
                      <a:endParaRPr lang="zh-CN" altLang="en-US" sz="1800"/>
                    </a:p>
                  </a:txBody>
                  <a:tcPr/>
                </a:tc>
              </a:tr>
              <a:tr h="57912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分级预警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有提前预警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典型值如</a:t>
                      </a:r>
                      <a:r>
                        <a:rPr lang="en-US" altLang="zh-CN" sz="1800"/>
                        <a:t>3.5</a:t>
                      </a:r>
                      <a:r>
                        <a:rPr lang="zh-CN" altLang="en-US" sz="1800"/>
                        <a:t>秒、</a:t>
                      </a:r>
                      <a:r>
                        <a:rPr lang="en-US" altLang="zh-CN" sz="1800"/>
                        <a:t>4.5</a:t>
                      </a:r>
                      <a:r>
                        <a:rPr lang="zh-CN" altLang="en-US" sz="1800"/>
                        <a:t>秒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用现有盲区色块显示的方案</a:t>
                      </a:r>
                      <a:endParaRPr lang="zh-CN" altLang="en-US" sz="1600"/>
                    </a:p>
                  </a:txBody>
                  <a:tcPr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情境意识三阶段</a:t>
                      </a:r>
                      <a:r>
                        <a:rPr lang="zh-CN" altLang="en-US" sz="1800">
                          <a:sym typeface="+mn-ea"/>
                        </a:rPr>
                        <a:t>理论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</a:tr>
              <a:tr h="57912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无提前预警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时机参考现行标注中的</a:t>
                      </a:r>
                      <a:r>
                        <a:rPr lang="en-US" altLang="zh-CN" sz="1600"/>
                        <a:t>TTC</a:t>
                      </a:r>
                      <a:r>
                        <a:rPr lang="zh-CN" altLang="en-US" sz="1600"/>
                        <a:t>边界</a:t>
                      </a:r>
                      <a:endParaRPr lang="zh-CN" altLang="en-US" sz="1600"/>
                    </a:p>
                  </a:txBody>
                  <a:tcPr/>
                </a:tc>
                <a:tc vMerge="1">
                  <a:tcPr/>
                </a:tc>
                <a:tc vMerge="1">
                  <a:tcPr/>
                </a:tc>
              </a:tr>
              <a:tr h="36576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背景与事件相似度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能见度高</a:t>
                      </a:r>
                      <a:r>
                        <a:rPr lang="en-US" altLang="zh-CN" sz="1800"/>
                        <a:t>/</a:t>
                      </a:r>
                      <a:r>
                        <a:rPr lang="zh-CN" altLang="en-US" sz="1800"/>
                        <a:t>相似度低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晴朗白天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36576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能见度低</a:t>
                      </a:r>
                      <a:r>
                        <a:rPr lang="en-US" altLang="zh-CN" sz="1800"/>
                        <a:t>/</a:t>
                      </a:r>
                      <a:r>
                        <a:rPr lang="zh-CN" altLang="en-US" sz="1800"/>
                        <a:t>相似度高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大雾</a:t>
                      </a:r>
                      <a:r>
                        <a:rPr lang="en-US" altLang="zh-CN" sz="1800"/>
                        <a:t>/</a:t>
                      </a:r>
                      <a:r>
                        <a:rPr lang="zh-CN" altLang="en-US" sz="1800"/>
                        <a:t>黑夜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36576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交通密度</a:t>
                      </a:r>
                      <a:r>
                        <a:rPr lang="en-US" altLang="zh-CN" sz="1800"/>
                        <a:t>/</a:t>
                      </a:r>
                      <a:r>
                        <a:rPr lang="zh-CN" altLang="en-US" sz="1800"/>
                        <a:t>环境复杂度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高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每</a:t>
                      </a:r>
                      <a:r>
                        <a:rPr lang="en-US" altLang="zh-CN" sz="1800">
                          <a:sym typeface="+mn-ea"/>
                        </a:rPr>
                        <a:t>150</a:t>
                      </a:r>
                      <a:r>
                        <a:rPr lang="zh-CN" altLang="en-US" sz="1800">
                          <a:sym typeface="+mn-ea"/>
                        </a:rPr>
                        <a:t>米一辆车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根据</a:t>
                      </a:r>
                      <a:r>
                        <a:rPr lang="en-US" altLang="zh-CN" sz="1600">
                          <a:sym typeface="+mn-ea"/>
                        </a:rPr>
                        <a:t>Trick</a:t>
                      </a:r>
                      <a:r>
                        <a:rPr lang="zh-CN" altLang="en-US" sz="1600">
                          <a:sym typeface="+mn-ea"/>
                        </a:rPr>
                        <a:t>等人（</a:t>
                      </a:r>
                      <a:r>
                        <a:rPr lang="en-US" altLang="zh-CN" sz="1600">
                          <a:sym typeface="+mn-ea"/>
                        </a:rPr>
                        <a:t>2010</a:t>
                      </a:r>
                      <a:r>
                        <a:rPr lang="zh-CN" altLang="en-US" sz="1600">
                          <a:sym typeface="+mn-ea"/>
                        </a:rPr>
                        <a:t>）提出的交通密度定义，</a:t>
                      </a:r>
                      <a:endParaRPr lang="zh-CN" altLang="en-US" sz="1600"/>
                    </a:p>
                    <a:p>
                      <a:pPr algn="ctr">
                        <a:buNone/>
                      </a:pPr>
                      <a:r>
                        <a:rPr lang="en-US" altLang="zh-CN" sz="1600"/>
                        <a:t>Chen et al., 2024</a:t>
                      </a:r>
                      <a:r>
                        <a:rPr lang="zh-CN" altLang="en-US" sz="1600"/>
                        <a:t>也有参考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94488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低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每</a:t>
                      </a:r>
                      <a:r>
                        <a:rPr lang="en-US" altLang="zh-CN" sz="1800">
                          <a:sym typeface="+mn-ea"/>
                        </a:rPr>
                        <a:t>1500</a:t>
                      </a:r>
                      <a:r>
                        <a:rPr lang="zh-CN" altLang="en-US" sz="1800">
                          <a:sym typeface="+mn-ea"/>
                        </a:rPr>
                        <a:t>米一辆车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 vMerge="1">
                  <a:tcPr/>
                </a:tc>
              </a:tr>
              <a:tr h="60325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对</a:t>
                      </a:r>
                      <a:r>
                        <a:rPr lang="en-US" altLang="zh-CN" sz="1800"/>
                        <a:t>AR-HUD</a:t>
                      </a:r>
                      <a:r>
                        <a:rPr lang="zh-CN" altLang="en-US" sz="1800"/>
                        <a:t>界面的熟悉度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高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抑制依赖内隐学习</a:t>
                      </a:r>
                      <a:endParaRPr lang="zh-CN" altLang="en-US" sz="1600"/>
                    </a:p>
                    <a:p>
                      <a:pPr algn="ctr">
                        <a:buNone/>
                      </a:pPr>
                      <a:r>
                        <a:rPr lang="zh-CN" altLang="en-US" sz="1600"/>
                        <a:t>熟悉度可能起调节作用</a:t>
                      </a:r>
                      <a:endParaRPr lang="zh-CN" altLang="en-US" sz="1600"/>
                    </a:p>
                  </a:txBody>
                  <a:tcPr/>
                </a:tc>
              </a:tr>
              <a:tr h="728345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/>
                        <a:t>低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13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其他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自变量及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操纵</a:t>
            </a:r>
            <a:endParaRPr lang="zh-CN" altLang="en-US" sz="28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426720" y="1313815"/>
          <a:ext cx="1096899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6330"/>
                <a:gridCol w="3740785"/>
                <a:gridCol w="3571875"/>
              </a:tblGrid>
              <a:tr h="635000"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/>
                        <a:t>因变量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/>
                        <a:t>各水平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/>
                        <a:t>具体操纵说明</a:t>
                      </a:r>
                      <a:endParaRPr lang="zh-CN" altLang="en-US" sz="1800"/>
                    </a:p>
                  </a:txBody>
                  <a:tcPr/>
                </a:tc>
              </a:tr>
              <a:tr h="526415">
                <a:tc rowSpan="2"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/>
                        <a:t>行为指标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非注意盲视发生率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524510">
                <a:tc vMerge="1"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反应时间（无盲视时）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490220">
                <a:tc rowSpan="3"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眼动指标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首次注视时间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518160">
                <a:tc vMerge="1"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总注视时长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544195">
                <a:tc vMerge="1"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注视次数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532765">
                <a:tc rowSpan="2"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主观指标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/>
                        <a:t>认知负荷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  <a:tr h="648335">
                <a:tc vMerge="1"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r>
                        <a:rPr lang="zh-CN" altLang="en-US" sz="1800"/>
                        <a:t>用户满意度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SzTx/>
                        <a:buNone/>
                      </a:pPr>
                      <a:endParaRPr lang="zh-CN" altLang="en-US" sz="1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标题 4"/>
          <p:cNvSpPr/>
          <p:nvPr>
            <p:ph type="title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3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因变量及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操纵</a:t>
            </a:r>
            <a:endParaRPr lang="zh-CN" altLang="en-US" sz="28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TABLE_ENDDRAG_ORIGIN_RECT" val="822*349"/>
  <p:tag name="TABLE_ENDDRAG_RECT" val="55*134*822*349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TABLE_ENDDRAG_ORIGIN_RECT" val="825*311"/>
  <p:tag name="TABLE_ENDDRAG_RECT" val="56*151*825*31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895*388"/>
  <p:tag name="TABLE_ENDDRAG_RECT" val="25*88*895*388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883*383"/>
  <p:tag name="TABLE_ENDDRAG_RECT" val="36*98*883*383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863*315"/>
  <p:tag name="TABLE_ENDDRAG_RECT" val="33*103*863*315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resource_record_key" val="{&quot;29&quot;:[50000113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WPS 演示</Application>
  <PresentationFormat/>
  <Paragraphs>298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38" baseType="lpstr">
      <vt:lpstr>Arial</vt:lpstr>
      <vt:lpstr>宋体</vt:lpstr>
      <vt:lpstr>Wingdings</vt:lpstr>
      <vt:lpstr>Arial</vt:lpstr>
      <vt:lpstr>Noto Sans SC</vt:lpstr>
      <vt:lpstr>Thonburi</vt:lpstr>
      <vt:lpstr>PingFang SC</vt:lpstr>
      <vt:lpstr>Aptos Display</vt:lpstr>
      <vt:lpstr>Helvetica Neue</vt:lpstr>
      <vt:lpstr>Aptos Display</vt:lpstr>
      <vt:lpstr>Aptos Display</vt:lpstr>
      <vt:lpstr>Aptos</vt:lpstr>
      <vt:lpstr>Aptos</vt:lpstr>
      <vt:lpstr>Aptos</vt:lpstr>
      <vt:lpstr>宋体</vt:lpstr>
      <vt:lpstr>宋体</vt:lpstr>
      <vt:lpstr>汉仪书宋二KW</vt:lpstr>
      <vt:lpstr>Apple Color Emoji</vt:lpstr>
      <vt:lpstr>微软雅黑</vt:lpstr>
      <vt:lpstr>汉仪旗黑</vt:lpstr>
      <vt:lpstr>Arial Unicode MS</vt:lpstr>
      <vt:lpstr>-apple-system</vt:lpstr>
      <vt:lpstr>Times New Roman</vt:lpstr>
      <vt:lpstr>思源黑体</vt:lpstr>
      <vt:lpstr>汉仪中黑KW</vt:lpstr>
      <vt:lpstr>-apple-system</vt:lpstr>
      <vt:lpstr>Noto Sans SC</vt:lpstr>
      <vt:lpstr>PingFang SC</vt:lpstr>
      <vt:lpstr>思源黑体</vt:lpstr>
      <vt:lpstr>苹方-简</vt:lpstr>
      <vt:lpstr>宋体-简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臻妈</cp:lastModifiedBy>
  <cp:revision>9</cp:revision>
  <dcterms:created xsi:type="dcterms:W3CDTF">2026-06-28T09:18:52Z</dcterms:created>
  <dcterms:modified xsi:type="dcterms:W3CDTF">2026-06-28T09:18:52Z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C230E4AF8066D7D5FBE6406A19F95046_43</vt:lpwstr>
  </property>
</Properties>
</file>