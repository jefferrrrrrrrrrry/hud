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icrosoft YaHei"/>
              </a:rPr>
              <a:t>HUD/AR-HUD 行人碰撞预警的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FDC700"/>
                </a:solidFill>
                <a:latin typeface="Microsoft YaHei"/>
              </a:rPr>
              <a:t>时间-空间元素设计规范研究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Design Specification for Temporal-Spatial Elements in HUD/AR-HUD Pedestrian Collision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答辩人：[姓名]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CCDDEE"/>
                </a:solidFill>
                <a:latin typeface="Microsoft YaHei"/>
              </a:rPr>
              <a:t>指导老师：[导师]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Microsoft YaHei"/>
              </a:rPr>
              <a:t>2026年[月]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19456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文献综述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301752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84048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466344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研究工作计划与进度安排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0" b="1">
                <a:solidFill>
                  <a:srgbClr val="FDC700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45720" cy="914400"/>
          </a:xfrm>
          <a:prstGeom prst="rect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858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Research Background and Significance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1.1 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Microsoft YaHei"/>
              </a:rPr>
              <a:t>HUD/AR-HUD 技术正快速进入量产车型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700" b="0">
                <a:solidFill>
                  <a:srgbClr val="212121"/>
                </a:solidFill>
                <a:latin typeface="Microsoft YaHei"/>
              </a:rPr>
              <a:t>·  据 IDC 预测，2030 年全球 AR-HUD 装机量将达约百万套量级</a:t>
            </a:r>
          </a:p>
          <a:p>
            <a:r>
              <a:rPr sz="1700" b="0">
                <a:solidFill>
                  <a:srgbClr val="212121"/>
                </a:solidFill>
                <a:latin typeface="Microsoft YaHei"/>
              </a:rPr>
              <a:t>·  2024 年蔚来、奔驰、奥迪等品牌已大规模量产 AR-HUD 系统</a:t>
            </a:r>
          </a:p>
          <a:p>
            <a:r>
              <a:rPr sz="1700" b="0">
                <a:solidFill>
                  <a:srgbClr val="E05239"/>
                </a:solidFill>
                <a:latin typeface="Microsoft YaHei"/>
              </a:rPr>
              <a:t>·  行人事故是道路致死的第一大成因（WHO, 2023：约 35%）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200" b="1">
                <a:solidFill>
                  <a:srgbClr val="1F3A68"/>
                </a:solidFill>
                <a:latin typeface="Microsoft YaHei"/>
              </a:rPr>
              <a:t>AR-HUD 为行人碰撞预警提供新的可能性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700" b="0">
                <a:solidFill>
                  <a:srgbClr val="212121"/>
                </a:solidFill>
                <a:latin typeface="Microsoft YaHei"/>
              </a:rPr>
              <a:t>·  共形增强（contact-analog）：将虚拟图形与真实行人在视野中精准对齐</a:t>
            </a:r>
          </a:p>
          <a:p>
            <a:r>
              <a:rPr sz="1700" b="0">
                <a:solidFill>
                  <a:srgbClr val="212121"/>
                </a:solidFill>
                <a:latin typeface="Microsoft YaHei"/>
              </a:rPr>
              <a:t>·  无需视线下移，减少注意力切换成本</a:t>
            </a:r>
          </a:p>
          <a:p>
            <a:r>
              <a:rPr sz="1500" b="0">
                <a:solidFill>
                  <a:srgbClr val="555555"/>
                </a:solidFill>
                <a:latin typeface="Microsoft YaHei"/>
              </a:rPr>
              <a:t>·  代表性研究：Kim 等（2018）、Wu 等（2024）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1.2 研究问题的现实困境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Microsoft YaHei"/>
              </a:rPr>
              <a:t>AR-HUD 行人预警的『时空设计规范』尚未确立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时间维度争议：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何时出现？TTC=2.5s vs 5.0s（Kim et al., 2018）vs 100m 前提示（Zhang et al., 2024）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持续多久？显示到危险解除 vs 固定 3-15s（Ma et al., 2021）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是否分级？两级 vs 三级 vs 不分级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空间维度争议：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锁定方式：屏幕固定 vs 行人共形 vs 路面共形（Wu et al., 2024）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颜色编码：单色红 vs 红黄绿渐变（Ma et al., 2024）vs 优先级编码（Chen et al., 2025）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动效：静态 vs 动态共形跟随 vs 闪烁（Huo &amp; Alla, 2025）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→ 现有研究碎片化，缺乏跨时空维度的整合设计规范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1.3 研究意义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05239"/>
                </a:solidFill>
                <a:latin typeface="Microsoft YaHei"/>
              </a:rPr>
              <a:t>理论意义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整合时间×空间维度，建立 HUD/AR-HUD 行人预警的统一设计框架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验证经典视觉注意理论（Wickens 多资源理论、Mack &amp; Rock 非注意盲视）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  在 AR-HUD 场景下的适用性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000" b="1">
                <a:solidFill>
                  <a:srgbClr val="E05239"/>
                </a:solidFill>
                <a:latin typeface="Microsoft YaHei"/>
              </a:rPr>
              <a:t>实践意义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为量产车 AR-HUD 的 HMI 设计提供量化规范（颜色 RGB / 形状 / FOV / TTC 阈值）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重点服务新手驾驶员（占国内新增驾照 70%）的安全需求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000" b="1">
                <a:solidFill>
                  <a:srgbClr val="E05239"/>
                </a:solidFill>
                <a:latin typeface="Microsoft YaHei"/>
              </a:rPr>
              <a:t>应用价值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输出可被 ISO 15008 / SAE J2400 等标准引用的设计参数表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推动新手驾驶员培训系统的可视化辅助标准化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194560"/>
            <a:ext cx="640080" cy="640080"/>
          </a:xfrm>
          <a:prstGeom prst="ellipse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05239"/>
                </a:solidFill>
                <a:latin typeface="Microsoft YaHei"/>
              </a:rPr>
              <a:t>文献综述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301752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84048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466344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研究工作计划与进度安排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0" b="1">
                <a:solidFill>
                  <a:srgbClr val="FDC700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45720" cy="914400"/>
          </a:xfrm>
          <a:prstGeom prst="rect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858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文献综述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2.1 文献检索方案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Microsoft YaHei"/>
              </a:rPr>
              <a:t>检索范围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关键词：HUD / AR-HUD / pedestrian / collision warning / contact-analog / virtual shadow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时间：2008–2025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数据库：Web of Science、Scopus、IEEE Xplore、OpenAlex、CNKI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补充检索：科研通互助、sci-hub、Cambridge Apollo、ResearchGate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000" b="1">
                <a:solidFill>
                  <a:srgbClr val="E05239"/>
                </a:solidFill>
                <a:latin typeface="Microsoft YaHei"/>
              </a:rPr>
              <a:t>最终纳入：40 篇核心文献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期刊论文 31 篇（含 IEEE TVCG、IJHCI、Sensors、Sustainability、IEEE Access）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会议论文 6 篇（CHI、AutomotiveUI、IEEE ITSC、ICCE 等）</a:t>
            </a:r>
          </a:p>
          <a:p>
            <a:r>
              <a:rPr sz="1500" b="0">
                <a:solidFill>
                  <a:srgbClr val="212121"/>
                </a:solidFill>
                <a:latin typeface="Microsoft YaHei"/>
              </a:rPr>
              <a:t>·  综述论文 3 篇（Winkler &amp; Soleimani 2025、Kettle &amp; Lee 2022、Skirnewskaja 2022）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500" b="0">
                <a:solidFill>
                  <a:srgbClr val="555555"/>
                </a:solidFill>
                <a:latin typeface="Microsoft YaHei"/>
              </a:rPr>
              <a:t>按时间分布：2008–2015 (4) → 2016–2020 (12) → 2021–2025 (24)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→ 研究呈爆发增长趋势，反映 AR-HUD 量产化驱动学术关注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2.2 核心概念界定（时间维度）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5239"/>
                </a:solidFill>
                <a:latin typeface="Microsoft YaHei"/>
              </a:rPr>
              <a:t>TTC (Time-to-Collision)  碰撞时间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定义：以当前相对速度恒定计算，本车与目标到达同一位置的剩余时间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来源：Hayward (1972) 在 Highway Research Record 首次系统提出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公式：TTC = d / v_rel；典型阈值：2-5s 用于警告触发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PRT (Perception-Reaction Time)  感知反应时间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PIEV 模型 (Hooper, 1936): Perception-Identification-Emotion-Volition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典型范围：0.7-1.5s（清醒驾驶员）；分心条件下显著延长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TTFF (Time to First Fixation)  首次注视时间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来源：眼动追踪研究标准指标 (Rayner, 1998)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在 AR-HUD 评估中：衡量警示捕获注意的速度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Warning Onset / Duration  警告出现时机 / 持续时长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Onset：通常以 TTC 阈值或距离阈值表征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Duration：可分为『至危险解除』模式与『固定时长』模式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2.3 核心概念界定（空间维度）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5239"/>
                </a:solidFill>
                <a:latin typeface="Microsoft YaHei"/>
              </a:rPr>
              <a:t>Contact-Analog / Conformal  接触类比 / 共形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Tönnis et al. (2007)：虚拟图形与真实世界对象在驾驶员视野中精确对齐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核心子类：行人锁定 / 路面锁定 / 世界锁定 vs 屏幕固定 (Wu et al., 2024)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FOV (Field of View)  视场角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HUD 虚像可见的水平×垂直角度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量产 HUD：10-20°×3-5°；AR-HUD：25-40°×7-12°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颜色与可见度参数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CIE 色坐标 (x, y)：1931 年 CIE 国际照明委员会色度图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亮度 Lv (cd/m²)、对比度 Weber/Michelson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颜色语义编码：红=danger / 黄=caution / 绿=safe（源于 SAE J2400、交通灯）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Gaze Entropy  注视熵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基于 Shannon (1948) 信息熵；量化注视分布的随机性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熵 ↑ = 注意力分散；熵 ↓ = 注意力集中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2.4 文献综述（1）警告出现时机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固定 TTC 阈值类研究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Kim et al. (2018, IEEE TVCG)：2.5s（近）/5.0s（远）双距离条件 + GPS 触发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Lübbe (2017, J Safety Res)：cautionary HUD @ TTC=2.5s → imminent audio-visual @ 1.8s，间隔 0.7s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Huo &amp; Alla (2025)：TTC=2.5s / 距离 34.72m 触发，flashing 动态明确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Wu et al. (2024)：TTC&lt;3s 触发；60m 处行人激活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距离阈值类研究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Phan et al. (2016, ITSC)：tWP = min(t(TTC=2s), t(d=16.6m))，组合阈值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Zhang et al. (2024, 中文版华南理工大学学报)：100m 前语音预警 + 60m 行人激活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自适应触发类研究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Frémont et al. (2019)：基于头眼监测的自适应触发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Doshi et al. (2008)：主动注视方向跟踪 + 预测性 HUD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E05239"/>
                </a:solidFill>
                <a:latin typeface="Microsoft YaHei"/>
              </a:rPr>
              <a:t>→ 问题提出 1：警告出现时机的最优 TTC 阈值是多少？</a:t>
            </a:r>
          </a:p>
          <a:p>
            <a:r>
              <a:rPr sz="1600" b="0">
                <a:solidFill>
                  <a:srgbClr val="E05239"/>
                </a:solidFill>
                <a:latin typeface="Microsoft YaHei"/>
              </a:rPr>
              <a:t>    是否随驾驶员经验 / 场景变化？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2.5 文献综述（2）警告持续时长与分级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持续时长：两种模式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『至危险解除』模式（多数研究）：Kim 2018、Phan 2016、Zhang 2024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『固定时长』模式：Ma (2021, IEEE Access) 3s 常规 / 10-15s 紧急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分级警告设计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两级（cautionary → imminent）：Lübbe 2017（间隔 0.7s）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三级威胁等级：Yoon 2014（基于 TTC 计算，未量化阈值）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颜色×饱和度渐变三级：Ma 2024 EID（绿/黄/红 + saturation 渐变）</a:t>
            </a:r>
          </a:p>
          <a:p>
            <a:r>
              <a:rPr sz="1400" b="1">
                <a:solidFill>
                  <a:srgbClr val="E05239"/>
                </a:solidFill>
                <a:latin typeface="Microsoft YaHei"/>
              </a:rPr>
              <a:t>·  优先级颜色编码：Chen et al. 2025 IJHCI（多目标场景，N=45 新手）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速度自适应分级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Ma (2021)、Teng (2023)：FOV 与显示密度随车速分级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E05239"/>
                </a:solidFill>
                <a:latin typeface="Microsoft YaHei"/>
              </a:rPr>
              <a:t>→ 问题提出 2：分级警告的级别数与级别间隔如何最优化？</a:t>
            </a:r>
          </a:p>
          <a:p>
            <a:r>
              <a:rPr sz="1600" b="0">
                <a:solidFill>
                  <a:srgbClr val="E05239"/>
                </a:solidFill>
                <a:latin typeface="Microsoft YaHei"/>
              </a:rPr>
              <a:t>    单目标 vs 多目标场景下的差异？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2.6 文献综述（3）色彩编码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单色警示主流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红色：Kim 2018、Wu 2024 RGB(255,0,0)、Kazazi 2015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黄色：Phan 2016（避免过度紧迫感）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分级配色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红/黄/绿 + 饱和度渐变：Ma 2024 EID 'carpet' 设计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4 色 HEX 分区：Teng 2023（#2979FF / #FE0000 / #4ADE80 / #F26D21）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红=紧急 + 青蓝=辅助：Ma 2021</a:t>
            </a:r>
          </a:p>
          <a:p>
            <a:r>
              <a:rPr sz="1400" b="1">
                <a:solidFill>
                  <a:srgbClr val="E05239"/>
                </a:solidFill>
                <a:latin typeface="Microsoft YaHei"/>
              </a:rPr>
              <a:t>·  优先级颜色：Chen 2025（Hierarchical vs Equivalent vs Baseline）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色彩可见度专题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Zhong (2022)：7 色 × 3 描边 × 2 照度（100,000lx vs 30lx）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发现：高照度下饱和度差异减小，需通过描边补偿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→ 颜色研究共识：『红=紧急』；分级配色优于单色</a:t>
            </a:r>
          </a:p>
          <a:p>
            <a:r>
              <a:rPr sz="1600" b="0">
                <a:solidFill>
                  <a:srgbClr val="E05239"/>
                </a:solidFill>
                <a:latin typeface="Microsoft YaHei"/>
              </a:rPr>
              <a:t>→ 空白：中国驾驶员的颜色语义偏好尚未系统研究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2.7 文献综述（4）形状与动效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形状/图标研究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Bounding Box（矩形包围框）：Phan 2016、Wu 2024、Kim 2018 对照组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Contact-Analog（与目标共形）：Chen 2024、Kim 2018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Virtual Shadow / Dome+Tether：Kim 2016 / 2018（生态界面 EID）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Stop Sign / Caution Sign：Kazazi 2015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多元图标组合：Ma 2024 EID 'carpet'（梯形布局多组件）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动效设计研究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静态 vs 动态共形：多数研究偏好动态（Kim 2018、Wu 2024）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闪烁注意捕获：Huo &amp; Alla 2025（flashing 显著缩短反应时）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跟随距离缩放：Kim 2018 virtual shadow 视角 2°–8° 动态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Ma 2024 EID：颜色随风险增加从绿→黄→红渐变 + saturation 调整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→ 共识：动态共形优于静态屏幕固定；闪烁可补偿低紧迫感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2.8 文献综述（5）空间分布与 FOV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平面定位研究</a:t>
            </a:r>
          </a:p>
          <a:p>
            <a:r>
              <a:rPr sz="1400" b="1">
                <a:solidFill>
                  <a:srgbClr val="E05239"/>
                </a:solidFill>
                <a:latin typeface="Microsoft YaHei"/>
              </a:rPr>
              <a:t>·  Ye &amp; Yin (2025, MDPI Electronics)：垂直面 vs 水平面 vs 混合面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→ 水平面（路面投射）显著降低 inattentional blindness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Kim 2018：单目 vs 体三维 HUD 对比 → 单目深度线索已足够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锁定方式研究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Wu et al. (2024)：BD（驾驶员视线）vs BR（路面投射）vs BW（行人跟随）</a:t>
            </a:r>
          </a:p>
          <a:p>
            <a:r>
              <a:rPr sz="1400" b="1">
                <a:solidFill>
                  <a:srgbClr val="E05239"/>
                </a:solidFill>
                <a:latin typeface="Microsoft YaHei"/>
              </a:rPr>
              <a:t>    → BW（行人锁定）右转场景显著优于 BD/BR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→ 首次注视时间：BW=616ms vs BD=2562ms vs BR=2729ms（p&lt;0.001）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FOV 分级研究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Ma (2021)：65°（低速）/ 40°（高速）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Teng (2023)：85° / 65° / 40°（速度三段）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Zhong (2022)：FOV 12°×5° 用于颜色测量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E05239"/>
                </a:solidFill>
                <a:latin typeface="Microsoft YaHei"/>
              </a:rPr>
              <a:t>→ 问题提出 3：空间锁定方式与 FOV 如何匹配不同驾驶场景？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2.9 文献综述（6）驾驶员个体差异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新手 vs 熟练驾驶员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Chen et al. (2024)：N=48 中国新手，contact-analog 在行人场景下反应更快</a:t>
            </a:r>
          </a:p>
          <a:p>
            <a:r>
              <a:rPr sz="1400" b="1">
                <a:solidFill>
                  <a:srgbClr val="E05239"/>
                </a:solidFill>
                <a:latin typeface="Microsoft YaHei"/>
              </a:rPr>
              <a:t>·  Chen et al. (2025)：N=45 新手，多目标优先级显著优化反应时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（Hierarchical 模式：RT ↓、saccade counts ↓、gaze entropy ↓）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Huo &amp; Alla (2025)：新手对 AR 预警依赖度更高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老年 vs 年轻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Kazazi (2015)：老年组对 flow-point 触发感受不同；触发时机需个性化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环境差异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雾天/夜间：Zhang (2024) 中文版报告雾天 HUD 优势更显著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城市/高速：FOV、TTC 阈值的最优值不同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→ 驾驶员经验是关键调节变量；本研究将聚焦『新手驾驶员』场景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2.10 文献综述（7）认知负荷与测量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行为指标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刹车反应时 SRT、最小 TTC、最大减速度、首次制动距离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眼动指标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首次注视时间 TTFF：警示捕获注意的速度（Wu 2024、Chen 2025）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注视次数 Fixation count、扫视次数 Saccade count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瞳孔直径：认知负荷的生理标志（Ma 2024）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注视熵 Gaze Entropy：注意力分散程度（Chen 2025）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生理指标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EEG：N2/P3 波幅反映冲突监测（Strle 2023）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HRV、GSR：唤醒水平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主观量表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NASA-TLX：6 维度心理负荷量表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DALI：专用驾驶负荷量表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SUS：系统可用性量表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2.11 研究空白与共识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Microsoft YaHei"/>
              </a:rPr>
              <a:t>已有共识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0">
                <a:solidFill>
                  <a:srgbClr val="207E3D"/>
                </a:solidFill>
                <a:latin typeface="Microsoft YaHei"/>
              </a:rPr>
              <a:t>  ✓ 共形增强 &gt; 屏幕固定（Wu 2024、Kim 2018）</a:t>
            </a:r>
          </a:p>
          <a:p>
            <a:r>
              <a:rPr sz="1600" b="0">
                <a:solidFill>
                  <a:srgbClr val="207E3D"/>
                </a:solidFill>
                <a:latin typeface="Microsoft YaHei"/>
              </a:rPr>
              <a:t>  ✓ TTC = 2.5s 是常用警告触发点（Kim 2018、Lübbe 2017、Huo &amp; Alla 2025）</a:t>
            </a:r>
          </a:p>
          <a:p>
            <a:r>
              <a:rPr sz="1600" b="0">
                <a:solidFill>
                  <a:srgbClr val="207E3D"/>
                </a:solidFill>
                <a:latin typeface="Microsoft YaHei"/>
              </a:rPr>
              <a:t>  ✓ 红色用于紧急警示，黄色用于注意提示</a:t>
            </a:r>
          </a:p>
          <a:p>
            <a:r>
              <a:rPr sz="1600" b="0">
                <a:solidFill>
                  <a:srgbClr val="207E3D"/>
                </a:solidFill>
                <a:latin typeface="Microsoft YaHei"/>
              </a:rPr>
              <a:t>  ✓ AR 预警显著提升新手驾驶员表现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000" b="1">
                <a:solidFill>
                  <a:srgbClr val="E05239"/>
                </a:solidFill>
                <a:latin typeface="Microsoft YaHei"/>
              </a:rPr>
              <a:t>研究空白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✗ 时间×空间维度的交互效应未系统研究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✗ 多目标场景下的优先级设计研究极少（仅 Chen 2025 一项）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✗ 中国驾驶员（特别是新手）的本土数据稀缺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✗ 量化的、可被标准引用的设计参数表缺失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✗ 多数研究为单一实验范式，缺乏跨场景验证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→ 本研究将聚焦上述空白，建立中国语境下的整合设计规范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2.12 研究的理论基础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1. Multiple Resource Theory  多资源理论 (Wickens, 2002)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AR-HUD 占用视觉空间-中央资源，但避免下视占用空间-外周资源</a:t>
            </a:r>
          </a:p>
          <a:p>
            <a:r>
              <a:rPr sz="1400" b="0">
                <a:solidFill>
                  <a:srgbClr val="555555"/>
                </a:solidFill>
                <a:latin typeface="Microsoft YaHei"/>
              </a:rPr>
              <a:t>    → 解释为何 HUD 优于 HDD（仪表盘下视）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2. Inattentional Blindness  非注意盲视 (Mack &amp; Rock, 1998)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非共形显示导致驾驶员忽视真实行人（『错觉感』）</a:t>
            </a:r>
          </a:p>
          <a:p>
            <a:r>
              <a:rPr sz="1400" b="0">
                <a:solidFill>
                  <a:srgbClr val="555555"/>
                </a:solidFill>
                <a:latin typeface="Microsoft YaHei"/>
              </a:rPr>
              <a:t>    → Ye &amp; Yin (2025) 验证水平面共形减少 inattentional blindness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3. Contact-Analog Display Theory  接触类比显示 (Tönnis et al., 2007)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与真实对象一一对应的虚拟显示降低认知映射成本</a:t>
            </a:r>
          </a:p>
          <a:p>
            <a:r>
              <a:rPr sz="1400" b="0">
                <a:solidFill>
                  <a:srgbClr val="555555"/>
                </a:solidFill>
                <a:latin typeface="Microsoft YaHei"/>
              </a:rPr>
              <a:t>    → 解释 Wu (2024) BW（行人锁定）优于 BD/BR（屏幕/路面）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4. PIEV Reaction Time Model  感知-识别-决策-行动模型 (Hooper, 1936)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警告时机需为感知-识别-决策-行动提供足够时间</a:t>
            </a:r>
          </a:p>
          <a:p>
            <a:r>
              <a:rPr sz="1400" b="0">
                <a:solidFill>
                  <a:srgbClr val="555555"/>
                </a:solidFill>
                <a:latin typeface="Microsoft YaHei"/>
              </a:rPr>
              <a:t>    → 解释 TTC ≥ 2.5s 阈值的认知合理性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19456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文献综述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3017520"/>
            <a:ext cx="640080" cy="640080"/>
          </a:xfrm>
          <a:prstGeom prst="ellipse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05239"/>
                </a:solidFill>
                <a:latin typeface="Microsoft YaHei"/>
              </a:rPr>
              <a:t>研究问题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84048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466344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研究工作计划与进度安排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0" b="1">
                <a:solidFill>
                  <a:srgbClr val="FDC700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45720" cy="914400"/>
          </a:xfrm>
          <a:prstGeom prst="rect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858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Research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3.1 研究问题汇总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Microsoft YaHei"/>
              </a:rPr>
              <a:t>基于文献综述识别的三个核心问题：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问题 1：AR-HUD 警告时机如何影响驾驶员对横穿行人的响应？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不同 TTC 阈值（1.5s / 2.5s / 5.0s）的对比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是否随驾驶员经验调整？（新手 vs 熟练）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问题 2：AR-HUD 空间锁定方式如何影响行人感知？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屏幕固定 vs 行人锁定 vs 路面锁定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在不同 FOV 与转向场景下的差异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问题 3：时间×空间设计因素是否存在交互效应？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早警告 + 屏幕固定 vs 晚警告 + 行人锁定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多目标场景下的优先级编码效用（拓展 Chen 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3.2 研究框架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驾驶员因素（新手 vs 熟练）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                            ↓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    ┌─── 时间设计（IV） ───┐    ┌─── 空间设计（IV） ───┐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    │  TTC 阈值（1.5/2.5/5.0s） │    │  锁定方式（BD/BR/BW）   │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    │  分级方式（无/2级/3级）   │    │  颜色编码（单色/分级）   │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    │  持续时长                │    │  FOV / 形状 / 动效      │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    └───────────────────────────┘    └───────────────────────────┘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                            ↓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    驾驶绩效 + 注意分配（DV）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·  行为：刹车反应时 SRT、最小 TTC、最大减速度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·  眼动：TTFF、注视次数、扫视次数、注视熵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·  主观：NASA-TLX、SUS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                              ↓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    实验 1：时间维度  /  实验 2：空间维度  /  实验 3：交互×多目标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19456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文献综述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301752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840480"/>
            <a:ext cx="640080" cy="640080"/>
          </a:xfrm>
          <a:prstGeom prst="ellipse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05239"/>
                </a:solidFill>
                <a:latin typeface="Microsoft YaHei"/>
              </a:rPr>
              <a:t>研究方案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466344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研究工作计划与进度安排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0" b="1">
                <a:solidFill>
                  <a:srgbClr val="FDC700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45720" cy="914400"/>
          </a:xfrm>
          <a:prstGeom prst="rect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858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研究方案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Research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4.1 研究方案总览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Microsoft YaHei"/>
              </a:rPr>
              <a:t>本研究包含 3 项研究、4 个实验：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研究一：警告时机研究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实验 1：TTC 阈值 × 驾驶经验对驾驶绩效的影响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研究二：空间锁定与共形设计研究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实验 2a：屏幕固定 vs 共形（驾驶员经验调节）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实验 2b：FOV 分级与车速场景的匹配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E05239"/>
                </a:solidFill>
                <a:latin typeface="Microsoft YaHei"/>
              </a:rPr>
              <a:t>研究三：时间×空间交互效应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·  实验 3：多目标场景的优先级颜色编码（拓展 Chen 2025）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→ 总样本量约 210 人；预计 8 个月完成数据采集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4.2 实验 1 — 警告时机研究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实验目的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探究不同 TTC 阈值下 AR-HUD 警告对驾驶员制动反应的影响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研究方法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实验设计：3（TTC：1.5s / 2.5s / 4.0s）× 2（经验：新手 / 熟练）混合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被试：60 名（g*power 计算，α=.05, 1-β=.80, f=.25）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控制变量：车速 50km/h、行人触发距离、AR 图形（红色 bounding box）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DV：刹车反应时 SRT、最小 TTC、最大减速度、首次制动距离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实验材料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STISIM 驾驶模拟器 + AR-HUD 仿真（垂直虚像面，FOV 12°×5°）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10 试次 / 条件；单目标横穿行人场景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数据分析与预期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2×3 混合 ANOVA + post-hoc</a:t>
            </a:r>
          </a:p>
          <a:p>
            <a:r>
              <a:rPr sz="1400" b="0">
                <a:solidFill>
                  <a:srgbClr val="E05239"/>
                </a:solidFill>
                <a:latin typeface="Microsoft YaHei"/>
              </a:rPr>
              <a:t>  预期：TTC=2.5s 显著优于 1.5s（更早响应）和 4.0s（避免误警）；新手×短 TTC 交互显著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4.3 实验 2a — 空间锁定方式与经验调节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实验目的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探究不同锁定方式（屏幕固定 / 行人锁定 / 路面锁定）的认知负荷与绩效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研究方法（参照 Wu et al., 2024 设计）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实验设计：3（锁定：BD/BR/BW）× 2（经验：新手/熟练）混合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被试：54 名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DV：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  行为：刹车反应时、最小 TTC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  眼动：TTFF、注视次数、注视熵 Gaze Entropy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    主观：NASA-TLX、SUS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实验材料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HTC VIVE Pro Eye + Tobii Pro Lab 眼动 + Unity AR-HUD 仿真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场景：直行 / 左转 / 右转（参照 Wu 2024）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图形规格：红色 RGB(255,0,0) bounding box，TTC&lt;3s 触发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400" b="0">
                <a:solidFill>
                  <a:srgbClr val="E05239"/>
                </a:solidFill>
                <a:latin typeface="Microsoft YaHei"/>
              </a:rPr>
              <a:t>预期：BW（行人锁定）在转向场景下显著优于 BD/BR；新手依赖度更高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4.4 实验 2b — FOV 与车速场景匹配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实验目的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探究最优 FOV 与车速的匹配关系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研究方法（参照 Ma 2021、Teng 2023）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实验设计：3（FOV：12° / 25° / 40°）× 3（车速：30 / 60 / 90 km/h）组内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被试：36 名（重复测量设计）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DV：识别正确率、首次注视时间、主观可用性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控制：颜色、形状、锁定方式（均固定为 BW 行人锁定）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实验材料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可调 FOV 的 AR-HUD 仿真平台（基于实验 2a 平台扩展）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数据分析与预期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3×3 重复测量 ANOVA</a:t>
            </a:r>
          </a:p>
          <a:p>
            <a:r>
              <a:rPr sz="1400" b="0">
                <a:solidFill>
                  <a:srgbClr val="E05239"/>
                </a:solidFill>
                <a:latin typeface="Microsoft YaHei"/>
              </a:rPr>
              <a:t>  预期：低速下窄 FOV 足够；高速需宽 FOV；FOV×车速交互显著</a:t>
            </a:r>
          </a:p>
          <a:p>
            <a:r>
              <a:rPr sz="1400" b="0">
                <a:solidFill>
                  <a:srgbClr val="E05239"/>
                </a:solidFill>
                <a:latin typeface="Microsoft YaHei"/>
              </a:rPr>
              <a:t>  预期落点：低速 12° / 中速 25° / 高速 40°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4.5 实验 3 — 多目标优先级编码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实验目的（拓展 Chen et al., 2025）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探究分级颜色优先级在多目标 AR-HUD 警告中的效用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扩展至中国驾驶员样本 + 增加目标数量维度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研究方法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实验设计：3（警告模式：Equivalent / Hierarchical / Baseline）× 2（目标数：2 / 3）混合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被试：60 名新手驾驶员（驾龄 &lt; 1 年）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DV：反应时、saccade counts、gaze entropy、TTFF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实验材料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AR 增强驾驶视频（参照 Chen 2025 范式）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Hierarchical：红=最高优先级，黄=次优先级，绿=低优先级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Equivalent：所有目标同色（红）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Baseline：无 AR 警告</a:t>
            </a:r>
          </a:p>
          <a:p>
            <a:r>
              <a:rPr sz="4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400" b="0">
                <a:solidFill>
                  <a:srgbClr val="E05239"/>
                </a:solidFill>
                <a:latin typeface="Microsoft YaHei"/>
              </a:rPr>
              <a:t>预期：Hierarchical 在 3 目标场景下显著优于 Equivalent；复制 Chen 2025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4.6 实验技术路线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阶段 1 — 准备期（M1-M3）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文献综述完善（已基本完成 - 40 篇核心文献）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实验平台搭建（STISIM + HTC VIVE + Tobii）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AR 警示刺激材料制作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预实验（N=10）&amp; 程序调试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阶段 2 — 数据收集（M4-M9）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 1（M4-M5）：60 被试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 2a（M6）：54 被试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 2b（M7）：36 被试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实验 3（M8-M9）：60 被试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800" b="1">
                <a:solidFill>
                  <a:srgbClr val="1F3A68"/>
                </a:solidFill>
                <a:latin typeface="Microsoft YaHei"/>
              </a:rPr>
              <a:t>阶段 3 — 分析与写作（M10-M12）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数据清洗与统计分析（SPSS / R / JASP）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论文撰写与修改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·  答辩准备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4.7 实验设计汇总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latin typeface="Microsoft YaHei"/>
              </a:rPr>
              <a:t>实验汇总表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┌─────┬───────────┬─────────┬────┬───────────────────────┬──────────────────┐</a:t>
            </a:r>
          </a:p>
          <a:p>
            <a:r>
              <a:rPr sz="1200" b="1">
                <a:solidFill>
                  <a:srgbClr val="212121"/>
                </a:solidFill>
                <a:latin typeface="Consolas"/>
              </a:rPr>
              <a:t>│ 实验 │   设计     │  IV    │ N  │     主要 DV           │   统计方法       │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├─────┼───────────┼─────────┼────┼───────────────────────┼──────────────────┤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│  1  │ 3×2 混合  │ TTC×经验 │ 60 │ SRT, TTC, deceleration│ 2×3 混合 ANOVA   │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│ 2a  │ 3×2 混合  │ 锁定×经验│ 54 │ SRT, TTFF, gaze ent.  │ 2×3 混合 ANOVA   │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│ 2b  │ 3×3 组内  │ FOV×车速 │ 36 │ 识别率, TTFF          │ 3×3 RM-ANOVA     │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│  3  │ 3×2 混合  │ 模式×目标│ 60 │ RT, saccade, entropy  │ 2×3 混合 ANOVA   │</a:t>
            </a:r>
          </a:p>
          <a:p>
            <a:r>
              <a:rPr sz="1200" b="0">
                <a:solidFill>
                  <a:srgbClr val="212121"/>
                </a:solidFill>
                <a:latin typeface="Consolas"/>
              </a:rPr>
              <a:t>└─────┴───────────┴─────────┴────┴───────────────────────┴──────────────────┘</a:t>
            </a:r>
          </a:p>
          <a:p>
            <a:r>
              <a:rPr sz="6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E05239"/>
                </a:solidFill>
                <a:latin typeface="Microsoft YaHei"/>
              </a:rPr>
              <a:t>总样本：210 人（新手 ~120 + 熟练 ~90）</a:t>
            </a:r>
          </a:p>
          <a:p>
            <a:r>
              <a:rPr sz="1400" b="0">
                <a:solidFill>
                  <a:srgbClr val="555555"/>
                </a:solidFill>
                <a:latin typeface="Microsoft YaHei"/>
              </a:rPr>
              <a:t>总试次：约 14,400 次（210 × 平均 68 试次/被试）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19456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文献综述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301752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840480"/>
            <a:ext cx="640080" cy="640080"/>
          </a:xfrm>
          <a:prstGeom prst="ellipse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Microsoft YaHei"/>
              </a:rPr>
              <a:t>研究方案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4663440"/>
            <a:ext cx="640080" cy="640080"/>
          </a:xfrm>
          <a:prstGeom prst="ellipse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7315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05239"/>
                </a:solidFill>
                <a:latin typeface="Microsoft YaHei"/>
              </a:rPr>
              <a:t>研究工作计划与进度安排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0" b="1">
                <a:solidFill>
                  <a:srgbClr val="FDC700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45720" cy="914400"/>
          </a:xfrm>
          <a:prstGeom prst="rect">
            <a:avLst/>
          </a:prstGeom>
          <a:solidFill>
            <a:srgbClr val="E05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858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研究工作计划与进度安排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Work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5.1 工作计划与进度安排（Gantt 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300" b="1">
                <a:solidFill>
                  <a:srgbClr val="212121"/>
                </a:solidFill>
                <a:latin typeface="Consolas"/>
              </a:rPr>
              <a:t>                       M1 M2 M3 M4 M5 M6 M7 M8 M9 M10 M11 M12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文献综述完善           ■■■■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实验平台搭建           ■■■■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预实验                       ■■</a:t>
            </a:r>
          </a:p>
          <a:p>
            <a:r>
              <a:rPr sz="1400" b="0">
                <a:solidFill>
                  <a:srgbClr val="E05239"/>
                </a:solidFill>
                <a:latin typeface="Consolas"/>
              </a:rPr>
              <a:t>实验 1 数据采集                  ■■■■</a:t>
            </a:r>
          </a:p>
          <a:p>
            <a:r>
              <a:rPr sz="1400" b="0">
                <a:solidFill>
                  <a:srgbClr val="E05239"/>
                </a:solidFill>
                <a:latin typeface="Consolas"/>
              </a:rPr>
              <a:t>实验 2a 数据采集                       ■■</a:t>
            </a:r>
          </a:p>
          <a:p>
            <a:r>
              <a:rPr sz="1400" b="0">
                <a:solidFill>
                  <a:srgbClr val="E05239"/>
                </a:solidFill>
                <a:latin typeface="Consolas"/>
              </a:rPr>
              <a:t>实验 2b 数据采集                           ■■</a:t>
            </a:r>
          </a:p>
          <a:p>
            <a:r>
              <a:rPr sz="1400" b="0">
                <a:solidFill>
                  <a:srgbClr val="E05239"/>
                </a:solidFill>
                <a:latin typeface="Consolas"/>
              </a:rPr>
              <a:t>实验 3 数据采集                              ■■■■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数据分析                             ■■■■■■■■■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论文撰写                                 ■■■■■■■■</a:t>
            </a:r>
          </a:p>
          <a:p>
            <a:r>
              <a:rPr sz="1400" b="0">
                <a:solidFill>
                  <a:srgbClr val="212121"/>
                </a:solidFill>
                <a:latin typeface="Consolas"/>
              </a:rPr>
              <a:t>论文修改 + 答辩准备                            ■■■■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1600" b="1">
                <a:solidFill>
                  <a:srgbClr val="1F3A68"/>
                </a:solidFill>
                <a:latin typeface="Microsoft YaHei"/>
              </a:rPr>
              <a:t>里程碑节点：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M3 末：完成预实验 + 平台验收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M9 末：完成所有数据采集</a:t>
            </a:r>
          </a:p>
          <a:p>
            <a:r>
              <a:rPr sz="1400" b="0">
                <a:solidFill>
                  <a:srgbClr val="212121"/>
                </a:solidFill>
                <a:latin typeface="Microsoft YaHei"/>
              </a:rPr>
              <a:t>  M11 末：论文初稿完成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5.2 预期产出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38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Microsoft YaHei"/>
              </a:rPr>
              <a:t>学术成果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1 篇 SSCI 二区论文（IJHCI / Ergonomics / Applied Ergonomics）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1 篇 中文核心论文（《心理学报》 / 《人类工效学》）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1 篇 会议论文（CHI / AutomotiveUI / HFES）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000" b="1">
                <a:solidFill>
                  <a:srgbClr val="1F3A68"/>
                </a:solidFill>
                <a:latin typeface="Microsoft YaHei"/>
              </a:rPr>
              <a:t>应用产出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AR-HUD 行人预警时空设计规范（草案）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可复用的 AR 驾驶模拟实验平台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4 项实验完整数据集（开源）</a:t>
            </a:r>
          </a:p>
          <a:p>
            <a:r>
              <a:rPr sz="800" b="0">
                <a:solidFill>
                  <a:srgbClr val="212121"/>
                </a:solidFill>
                <a:latin typeface="Microsoft YaHei"/>
              </a:rPr>
              <a:t> </a:t>
            </a:r>
          </a:p>
          <a:p>
            <a:r>
              <a:rPr sz="2000" b="1">
                <a:solidFill>
                  <a:srgbClr val="1F3A68"/>
                </a:solidFill>
                <a:latin typeface="Microsoft YaHei"/>
              </a:rPr>
              <a:t>学术贡献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首次系统整合时间×空间维度的 AR-HUD 行人预警设计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补充中国驾驶员（特别是新手）的本土证据</a:t>
            </a:r>
          </a:p>
          <a:p>
            <a:r>
              <a:rPr sz="1600" b="0">
                <a:solidFill>
                  <a:srgbClr val="212121"/>
                </a:solidFill>
                <a:latin typeface="Microsoft YaHei"/>
              </a:rPr>
              <a:t>·  扩展 Chen et al. (2025) 的多目标优先级研究框架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icrosoft YaHei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D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600" b="1">
                <a:solidFill>
                  <a:srgbClr val="FDC700"/>
                </a:solidFill>
                <a:latin typeface="Calibri"/>
              </a:rPr>
              <a:t>Thanks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敬请老师们提出宝贵意见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Microsoft YaHei"/>
              </a:rPr>
              <a:t>致谢：导师、实验室、家人、所有 40 篇文献的作者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