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660" r:id="rId2"/>
    <p:sldMasterId id="2147483672" r:id="rId3"/>
  </p:sldMasterIdLst>
  <p:notesMasterIdLst>
    <p:notesMasterId r:id="rId48"/>
  </p:notesMasterIdLst>
  <p:handoutMasterIdLst>
    <p:handoutMasterId r:id="rId49"/>
  </p:handoutMasterIdLst>
  <p:sldIdLst>
    <p:sldId id="261" r:id="rId4"/>
    <p:sldId id="269" r:id="rId5"/>
    <p:sldId id="309" r:id="rId6"/>
    <p:sldId id="325" r:id="rId7"/>
    <p:sldId id="321" r:id="rId8"/>
    <p:sldId id="281" r:id="rId9"/>
    <p:sldId id="287" r:id="rId10"/>
    <p:sldId id="288" r:id="rId11"/>
    <p:sldId id="289" r:id="rId12"/>
    <p:sldId id="282" r:id="rId13"/>
    <p:sldId id="310" r:id="rId14"/>
    <p:sldId id="334" r:id="rId15"/>
    <p:sldId id="312" r:id="rId16"/>
    <p:sldId id="314" r:id="rId17"/>
    <p:sldId id="315" r:id="rId18"/>
    <p:sldId id="335" r:id="rId19"/>
    <p:sldId id="272" r:id="rId20"/>
    <p:sldId id="274" r:id="rId21"/>
    <p:sldId id="277" r:id="rId22"/>
    <p:sldId id="327" r:id="rId23"/>
    <p:sldId id="275" r:id="rId24"/>
    <p:sldId id="284" r:id="rId25"/>
    <p:sldId id="285" r:id="rId26"/>
    <p:sldId id="328" r:id="rId27"/>
    <p:sldId id="280" r:id="rId28"/>
    <p:sldId id="276" r:id="rId29"/>
    <p:sldId id="291" r:id="rId30"/>
    <p:sldId id="322" r:id="rId31"/>
    <p:sldId id="329" r:id="rId32"/>
    <p:sldId id="295" r:id="rId33"/>
    <p:sldId id="323" r:id="rId34"/>
    <p:sldId id="296" r:id="rId35"/>
    <p:sldId id="299" r:id="rId36"/>
    <p:sldId id="301" r:id="rId37"/>
    <p:sldId id="330" r:id="rId38"/>
    <p:sldId id="317" r:id="rId39"/>
    <p:sldId id="304" r:id="rId40"/>
    <p:sldId id="305" r:id="rId41"/>
    <p:sldId id="331" r:id="rId42"/>
    <p:sldId id="332" r:id="rId43"/>
    <p:sldId id="333" r:id="rId44"/>
    <p:sldId id="324" r:id="rId45"/>
    <p:sldId id="306" r:id="rId46"/>
    <p:sldId id="308" r:id="rId4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a:srgbClr val="B368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41"/>
    <p:restoredTop sz="70408"/>
  </p:normalViewPr>
  <p:slideViewPr>
    <p:cSldViewPr snapToGrid="0">
      <p:cViewPr varScale="1">
        <p:scale>
          <a:sx n="88" d="100"/>
          <a:sy n="88" d="100"/>
        </p:scale>
        <p:origin x="928" y="176"/>
      </p:cViewPr>
      <p:guideLst>
        <p:guide orient="horz" pos="2160"/>
        <p:guide pos="38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ableStyles" Target="tableStyle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8BF027-628C-164D-9E8D-BB73791BFC39}" type="doc">
      <dgm:prSet loTypeId="urn:microsoft.com/office/officeart/2005/8/layout/radial6" loCatId="" qsTypeId="urn:microsoft.com/office/officeart/2005/8/quickstyle/simple1" qsCatId="simple" csTypeId="urn:microsoft.com/office/officeart/2005/8/colors/accent1_2" csCatId="accent1" phldr="1"/>
      <dgm:spPr/>
      <dgm:t>
        <a:bodyPr/>
        <a:lstStyle/>
        <a:p>
          <a:endParaRPr lang="zh-CN" altLang="en-US"/>
        </a:p>
      </dgm:t>
    </dgm:pt>
    <dgm:pt modelId="{16D5F13A-5EC0-554F-A18D-80219EE55CBB}">
      <dgm:prSet phldrT="[文本]"/>
      <dgm:spPr/>
      <dgm:t>
        <a:bodyPr/>
        <a:lstStyle/>
        <a:p>
          <a:r>
            <a:rPr lang="zh-CN" altLang="en-US" dirty="0"/>
            <a:t>音乐构架</a:t>
          </a:r>
        </a:p>
      </dgm:t>
    </dgm:pt>
    <dgm:pt modelId="{808F6F4E-7F8F-A041-815E-8C285E105107}" type="parTrans" cxnId="{AF5A4838-8345-614A-9B63-9586F04A9530}">
      <dgm:prSet/>
      <dgm:spPr/>
      <dgm:t>
        <a:bodyPr/>
        <a:lstStyle/>
        <a:p>
          <a:endParaRPr lang="zh-CN" altLang="en-US"/>
        </a:p>
      </dgm:t>
    </dgm:pt>
    <dgm:pt modelId="{F19945C4-A132-BC42-A2A1-1B4A3A16AB3F}" type="sibTrans" cxnId="{AF5A4838-8345-614A-9B63-9586F04A9530}">
      <dgm:prSet/>
      <dgm:spPr/>
      <dgm:t>
        <a:bodyPr/>
        <a:lstStyle/>
        <a:p>
          <a:endParaRPr lang="zh-CN" altLang="en-US"/>
        </a:p>
      </dgm:t>
    </dgm:pt>
    <dgm:pt modelId="{B4DF2118-494A-4C4D-9BFF-728B77A1E5A6}">
      <dgm:prSet phldrT="[文本]"/>
      <dgm:spPr>
        <a:solidFill>
          <a:schemeClr val="accent2"/>
        </a:solidFill>
      </dgm:spPr>
      <dgm:t>
        <a:bodyPr/>
        <a:lstStyle/>
        <a:p>
          <a:r>
            <a:rPr lang="zh-CN" altLang="en-US" dirty="0"/>
            <a:t>音高</a:t>
          </a:r>
        </a:p>
      </dgm:t>
    </dgm:pt>
    <dgm:pt modelId="{DE9D036B-DD67-3146-9B76-37F2BE99E693}" type="parTrans" cxnId="{BF511779-BDA9-8E4F-A55D-BAE4707EA525}">
      <dgm:prSet/>
      <dgm:spPr/>
      <dgm:t>
        <a:bodyPr/>
        <a:lstStyle/>
        <a:p>
          <a:endParaRPr lang="zh-CN" altLang="en-US"/>
        </a:p>
      </dgm:t>
    </dgm:pt>
    <dgm:pt modelId="{F1FB4E82-A9D2-8049-88CF-792E075CF3C2}" type="sibTrans" cxnId="{BF511779-BDA9-8E4F-A55D-BAE4707EA525}">
      <dgm:prSet/>
      <dgm:spPr/>
      <dgm:t>
        <a:bodyPr/>
        <a:lstStyle/>
        <a:p>
          <a:endParaRPr lang="zh-CN" altLang="en-US"/>
        </a:p>
      </dgm:t>
    </dgm:pt>
    <dgm:pt modelId="{084C56CD-F0EB-FB41-8352-2C042351CB98}">
      <dgm:prSet phldrT="[文本]"/>
      <dgm:spPr/>
      <dgm:t>
        <a:bodyPr/>
        <a:lstStyle/>
        <a:p>
          <a:r>
            <a:rPr lang="zh-CN" altLang="en-US" dirty="0"/>
            <a:t>音色</a:t>
          </a:r>
        </a:p>
      </dgm:t>
    </dgm:pt>
    <dgm:pt modelId="{E708854D-39EE-3743-9F98-781673F733C2}" type="parTrans" cxnId="{85CB9533-6B35-AF44-9865-CB0D575E5999}">
      <dgm:prSet/>
      <dgm:spPr/>
      <dgm:t>
        <a:bodyPr/>
        <a:lstStyle/>
        <a:p>
          <a:endParaRPr lang="zh-CN" altLang="en-US"/>
        </a:p>
      </dgm:t>
    </dgm:pt>
    <dgm:pt modelId="{C8A20C32-150A-464B-A735-085374CABF67}" type="sibTrans" cxnId="{85CB9533-6B35-AF44-9865-CB0D575E5999}">
      <dgm:prSet/>
      <dgm:spPr/>
      <dgm:t>
        <a:bodyPr/>
        <a:lstStyle/>
        <a:p>
          <a:endParaRPr lang="zh-CN" altLang="en-US"/>
        </a:p>
      </dgm:t>
    </dgm:pt>
    <dgm:pt modelId="{0DBA2D5F-18A9-474B-8B63-7ED0E1F834E7}">
      <dgm:prSet phldrT="[文本]"/>
      <dgm:spPr>
        <a:solidFill>
          <a:schemeClr val="accent2"/>
        </a:solidFill>
      </dgm:spPr>
      <dgm:t>
        <a:bodyPr/>
        <a:lstStyle/>
        <a:p>
          <a:r>
            <a:rPr lang="zh-CN" altLang="en-US" dirty="0"/>
            <a:t>节奏</a:t>
          </a:r>
        </a:p>
      </dgm:t>
    </dgm:pt>
    <dgm:pt modelId="{06D5D12E-0DF0-884F-A934-ECE7C7918CA0}" type="parTrans" cxnId="{9B83AA4E-0731-F04A-8C2A-E505635E054F}">
      <dgm:prSet/>
      <dgm:spPr/>
      <dgm:t>
        <a:bodyPr/>
        <a:lstStyle/>
        <a:p>
          <a:endParaRPr lang="zh-CN" altLang="en-US"/>
        </a:p>
      </dgm:t>
    </dgm:pt>
    <dgm:pt modelId="{7FC57703-3920-5643-978B-5D7853AF253F}" type="sibTrans" cxnId="{9B83AA4E-0731-F04A-8C2A-E505635E054F}">
      <dgm:prSet/>
      <dgm:spPr/>
      <dgm:t>
        <a:bodyPr/>
        <a:lstStyle/>
        <a:p>
          <a:endParaRPr lang="zh-CN" altLang="en-US"/>
        </a:p>
      </dgm:t>
    </dgm:pt>
    <dgm:pt modelId="{31EB5BCE-5C61-044C-832F-0659B91AD3EC}">
      <dgm:prSet phldrT="[文本]"/>
      <dgm:spPr/>
      <dgm:t>
        <a:bodyPr/>
        <a:lstStyle/>
        <a:p>
          <a:r>
            <a:rPr lang="zh-CN" altLang="en-US" dirty="0"/>
            <a:t>响度</a:t>
          </a:r>
        </a:p>
      </dgm:t>
    </dgm:pt>
    <dgm:pt modelId="{4A015D6A-E890-F249-8650-E5BDA38D010B}" type="parTrans" cxnId="{72DD0076-1C8F-E142-949E-6012A93BC652}">
      <dgm:prSet/>
      <dgm:spPr/>
      <dgm:t>
        <a:bodyPr/>
        <a:lstStyle/>
        <a:p>
          <a:endParaRPr lang="zh-CN" altLang="en-US"/>
        </a:p>
      </dgm:t>
    </dgm:pt>
    <dgm:pt modelId="{7C74F562-6FAC-1E4E-8AB5-313A0A9BD64C}" type="sibTrans" cxnId="{72DD0076-1C8F-E142-949E-6012A93BC652}">
      <dgm:prSet/>
      <dgm:spPr/>
      <dgm:t>
        <a:bodyPr/>
        <a:lstStyle/>
        <a:p>
          <a:endParaRPr lang="zh-CN" altLang="en-US"/>
        </a:p>
      </dgm:t>
    </dgm:pt>
    <dgm:pt modelId="{32AF9AD6-F4E7-FF43-B9FE-89D9CC923FC3}" type="pres">
      <dgm:prSet presAssocID="{A48BF027-628C-164D-9E8D-BB73791BFC39}" presName="Name0" presStyleCnt="0">
        <dgm:presLayoutVars>
          <dgm:chMax val="1"/>
          <dgm:dir/>
          <dgm:animLvl val="ctr"/>
          <dgm:resizeHandles val="exact"/>
        </dgm:presLayoutVars>
      </dgm:prSet>
      <dgm:spPr/>
    </dgm:pt>
    <dgm:pt modelId="{E781A7D8-5AF1-9A47-8B05-B4EABD46AB60}" type="pres">
      <dgm:prSet presAssocID="{16D5F13A-5EC0-554F-A18D-80219EE55CBB}" presName="centerShape" presStyleLbl="node0" presStyleIdx="0" presStyleCnt="1"/>
      <dgm:spPr/>
    </dgm:pt>
    <dgm:pt modelId="{172EA8D6-FB46-7945-A217-D74B46604F7C}" type="pres">
      <dgm:prSet presAssocID="{B4DF2118-494A-4C4D-9BFF-728B77A1E5A6}" presName="node" presStyleLbl="node1" presStyleIdx="0" presStyleCnt="4">
        <dgm:presLayoutVars>
          <dgm:bulletEnabled val="1"/>
        </dgm:presLayoutVars>
      </dgm:prSet>
      <dgm:spPr/>
    </dgm:pt>
    <dgm:pt modelId="{DED77655-064B-A14A-9358-AE543B474221}" type="pres">
      <dgm:prSet presAssocID="{B4DF2118-494A-4C4D-9BFF-728B77A1E5A6}" presName="dummy" presStyleCnt="0"/>
      <dgm:spPr/>
    </dgm:pt>
    <dgm:pt modelId="{07974523-ACD3-DF4C-B8FA-745B6166E400}" type="pres">
      <dgm:prSet presAssocID="{F1FB4E82-A9D2-8049-88CF-792E075CF3C2}" presName="sibTrans" presStyleLbl="sibTrans2D1" presStyleIdx="0" presStyleCnt="4"/>
      <dgm:spPr/>
    </dgm:pt>
    <dgm:pt modelId="{A20A68E4-5255-654C-938E-32C690A6E027}" type="pres">
      <dgm:prSet presAssocID="{084C56CD-F0EB-FB41-8352-2C042351CB98}" presName="node" presStyleLbl="node1" presStyleIdx="1" presStyleCnt="4">
        <dgm:presLayoutVars>
          <dgm:bulletEnabled val="1"/>
        </dgm:presLayoutVars>
      </dgm:prSet>
      <dgm:spPr/>
    </dgm:pt>
    <dgm:pt modelId="{58612DA7-73C6-EF42-9BB2-1C5C798E1CA3}" type="pres">
      <dgm:prSet presAssocID="{084C56CD-F0EB-FB41-8352-2C042351CB98}" presName="dummy" presStyleCnt="0"/>
      <dgm:spPr/>
    </dgm:pt>
    <dgm:pt modelId="{8F02AB7D-3F44-7A49-928E-AA8952B0BB4B}" type="pres">
      <dgm:prSet presAssocID="{C8A20C32-150A-464B-A735-085374CABF67}" presName="sibTrans" presStyleLbl="sibTrans2D1" presStyleIdx="1" presStyleCnt="4"/>
      <dgm:spPr/>
    </dgm:pt>
    <dgm:pt modelId="{652B3FDF-2F1C-3348-8BBD-1EDAB86BC60F}" type="pres">
      <dgm:prSet presAssocID="{0DBA2D5F-18A9-474B-8B63-7ED0E1F834E7}" presName="node" presStyleLbl="node1" presStyleIdx="2" presStyleCnt="4">
        <dgm:presLayoutVars>
          <dgm:bulletEnabled val="1"/>
        </dgm:presLayoutVars>
      </dgm:prSet>
      <dgm:spPr/>
    </dgm:pt>
    <dgm:pt modelId="{DF9440A1-09EF-1C43-A6FA-87254EF38B7F}" type="pres">
      <dgm:prSet presAssocID="{0DBA2D5F-18A9-474B-8B63-7ED0E1F834E7}" presName="dummy" presStyleCnt="0"/>
      <dgm:spPr/>
    </dgm:pt>
    <dgm:pt modelId="{AACF573B-0000-C847-958C-56A7D3384E72}" type="pres">
      <dgm:prSet presAssocID="{7FC57703-3920-5643-978B-5D7853AF253F}" presName="sibTrans" presStyleLbl="sibTrans2D1" presStyleIdx="2" presStyleCnt="4"/>
      <dgm:spPr/>
    </dgm:pt>
    <dgm:pt modelId="{928CDAE3-48DE-E14A-9254-26E05601D677}" type="pres">
      <dgm:prSet presAssocID="{31EB5BCE-5C61-044C-832F-0659B91AD3EC}" presName="node" presStyleLbl="node1" presStyleIdx="3" presStyleCnt="4">
        <dgm:presLayoutVars>
          <dgm:bulletEnabled val="1"/>
        </dgm:presLayoutVars>
      </dgm:prSet>
      <dgm:spPr/>
    </dgm:pt>
    <dgm:pt modelId="{A15FB94F-7357-6140-B90D-FF70FD11D7DB}" type="pres">
      <dgm:prSet presAssocID="{31EB5BCE-5C61-044C-832F-0659B91AD3EC}" presName="dummy" presStyleCnt="0"/>
      <dgm:spPr/>
    </dgm:pt>
    <dgm:pt modelId="{82DDAE11-52A8-2A42-8569-3862D7A97E46}" type="pres">
      <dgm:prSet presAssocID="{7C74F562-6FAC-1E4E-8AB5-313A0A9BD64C}" presName="sibTrans" presStyleLbl="sibTrans2D1" presStyleIdx="3" presStyleCnt="4"/>
      <dgm:spPr/>
    </dgm:pt>
  </dgm:ptLst>
  <dgm:cxnLst>
    <dgm:cxn modelId="{C6AAD106-5451-D64A-84FA-F1826AF82E74}" type="presOf" srcId="{C8A20C32-150A-464B-A735-085374CABF67}" destId="{8F02AB7D-3F44-7A49-928E-AA8952B0BB4B}" srcOrd="0" destOrd="0" presId="urn:microsoft.com/office/officeart/2005/8/layout/radial6"/>
    <dgm:cxn modelId="{307E461B-6107-EE4D-BD4D-C35C7E49F956}" type="presOf" srcId="{084C56CD-F0EB-FB41-8352-2C042351CB98}" destId="{A20A68E4-5255-654C-938E-32C690A6E027}" srcOrd="0" destOrd="0" presId="urn:microsoft.com/office/officeart/2005/8/layout/radial6"/>
    <dgm:cxn modelId="{85CB9533-6B35-AF44-9865-CB0D575E5999}" srcId="{16D5F13A-5EC0-554F-A18D-80219EE55CBB}" destId="{084C56CD-F0EB-FB41-8352-2C042351CB98}" srcOrd="1" destOrd="0" parTransId="{E708854D-39EE-3743-9F98-781673F733C2}" sibTransId="{C8A20C32-150A-464B-A735-085374CABF67}"/>
    <dgm:cxn modelId="{9D96B136-453E-0746-91E4-5FC4F598A061}" type="presOf" srcId="{0DBA2D5F-18A9-474B-8B63-7ED0E1F834E7}" destId="{652B3FDF-2F1C-3348-8BBD-1EDAB86BC60F}" srcOrd="0" destOrd="0" presId="urn:microsoft.com/office/officeart/2005/8/layout/radial6"/>
    <dgm:cxn modelId="{AF5A4838-8345-614A-9B63-9586F04A9530}" srcId="{A48BF027-628C-164D-9E8D-BB73791BFC39}" destId="{16D5F13A-5EC0-554F-A18D-80219EE55CBB}" srcOrd="0" destOrd="0" parTransId="{808F6F4E-7F8F-A041-815E-8C285E105107}" sibTransId="{F19945C4-A132-BC42-A2A1-1B4A3A16AB3F}"/>
    <dgm:cxn modelId="{EF689B39-B480-C945-ACF9-071166CEB125}" type="presOf" srcId="{7C74F562-6FAC-1E4E-8AB5-313A0A9BD64C}" destId="{82DDAE11-52A8-2A42-8569-3862D7A97E46}" srcOrd="0" destOrd="0" presId="urn:microsoft.com/office/officeart/2005/8/layout/radial6"/>
    <dgm:cxn modelId="{FEF70440-5E95-C94C-ADAA-E2346F53ECCA}" type="presOf" srcId="{31EB5BCE-5C61-044C-832F-0659B91AD3EC}" destId="{928CDAE3-48DE-E14A-9254-26E05601D677}" srcOrd="0" destOrd="0" presId="urn:microsoft.com/office/officeart/2005/8/layout/radial6"/>
    <dgm:cxn modelId="{9B83AA4E-0731-F04A-8C2A-E505635E054F}" srcId="{16D5F13A-5EC0-554F-A18D-80219EE55CBB}" destId="{0DBA2D5F-18A9-474B-8B63-7ED0E1F834E7}" srcOrd="2" destOrd="0" parTransId="{06D5D12E-0DF0-884F-A934-ECE7C7918CA0}" sibTransId="{7FC57703-3920-5643-978B-5D7853AF253F}"/>
    <dgm:cxn modelId="{72DD0076-1C8F-E142-949E-6012A93BC652}" srcId="{16D5F13A-5EC0-554F-A18D-80219EE55CBB}" destId="{31EB5BCE-5C61-044C-832F-0659B91AD3EC}" srcOrd="3" destOrd="0" parTransId="{4A015D6A-E890-F249-8650-E5BDA38D010B}" sibTransId="{7C74F562-6FAC-1E4E-8AB5-313A0A9BD64C}"/>
    <dgm:cxn modelId="{BF511779-BDA9-8E4F-A55D-BAE4707EA525}" srcId="{16D5F13A-5EC0-554F-A18D-80219EE55CBB}" destId="{B4DF2118-494A-4C4D-9BFF-728B77A1E5A6}" srcOrd="0" destOrd="0" parTransId="{DE9D036B-DD67-3146-9B76-37F2BE99E693}" sibTransId="{F1FB4E82-A9D2-8049-88CF-792E075CF3C2}"/>
    <dgm:cxn modelId="{7707A5A0-A613-7348-8BBA-67972EFE1B54}" type="presOf" srcId="{A48BF027-628C-164D-9E8D-BB73791BFC39}" destId="{32AF9AD6-F4E7-FF43-B9FE-89D9CC923FC3}" srcOrd="0" destOrd="0" presId="urn:microsoft.com/office/officeart/2005/8/layout/radial6"/>
    <dgm:cxn modelId="{74BD02A2-F687-574F-B061-82DA404AE6E0}" type="presOf" srcId="{F1FB4E82-A9D2-8049-88CF-792E075CF3C2}" destId="{07974523-ACD3-DF4C-B8FA-745B6166E400}" srcOrd="0" destOrd="0" presId="urn:microsoft.com/office/officeart/2005/8/layout/radial6"/>
    <dgm:cxn modelId="{8C70E8AF-7612-964B-9814-25FCF0436056}" type="presOf" srcId="{7FC57703-3920-5643-978B-5D7853AF253F}" destId="{AACF573B-0000-C847-958C-56A7D3384E72}" srcOrd="0" destOrd="0" presId="urn:microsoft.com/office/officeart/2005/8/layout/radial6"/>
    <dgm:cxn modelId="{379207B2-6D39-414C-913D-564A2F4E81BC}" type="presOf" srcId="{16D5F13A-5EC0-554F-A18D-80219EE55CBB}" destId="{E781A7D8-5AF1-9A47-8B05-B4EABD46AB60}" srcOrd="0" destOrd="0" presId="urn:microsoft.com/office/officeart/2005/8/layout/radial6"/>
    <dgm:cxn modelId="{DBDFE6B3-A692-CE46-AB2D-D3FFD1ECB611}" type="presOf" srcId="{B4DF2118-494A-4C4D-9BFF-728B77A1E5A6}" destId="{172EA8D6-FB46-7945-A217-D74B46604F7C}" srcOrd="0" destOrd="0" presId="urn:microsoft.com/office/officeart/2005/8/layout/radial6"/>
    <dgm:cxn modelId="{697175FD-14C5-AD44-8850-6020A481832C}" type="presParOf" srcId="{32AF9AD6-F4E7-FF43-B9FE-89D9CC923FC3}" destId="{E781A7D8-5AF1-9A47-8B05-B4EABD46AB60}" srcOrd="0" destOrd="0" presId="urn:microsoft.com/office/officeart/2005/8/layout/radial6"/>
    <dgm:cxn modelId="{49418DCA-046C-184C-B239-08106707D4A5}" type="presParOf" srcId="{32AF9AD6-F4E7-FF43-B9FE-89D9CC923FC3}" destId="{172EA8D6-FB46-7945-A217-D74B46604F7C}" srcOrd="1" destOrd="0" presId="urn:microsoft.com/office/officeart/2005/8/layout/radial6"/>
    <dgm:cxn modelId="{E0BEAF2C-820A-F24B-BB67-0B39B4C19B90}" type="presParOf" srcId="{32AF9AD6-F4E7-FF43-B9FE-89D9CC923FC3}" destId="{DED77655-064B-A14A-9358-AE543B474221}" srcOrd="2" destOrd="0" presId="urn:microsoft.com/office/officeart/2005/8/layout/radial6"/>
    <dgm:cxn modelId="{A1737A58-3E34-D144-BD63-38DE0B42ED47}" type="presParOf" srcId="{32AF9AD6-F4E7-FF43-B9FE-89D9CC923FC3}" destId="{07974523-ACD3-DF4C-B8FA-745B6166E400}" srcOrd="3" destOrd="0" presId="urn:microsoft.com/office/officeart/2005/8/layout/radial6"/>
    <dgm:cxn modelId="{3F87738A-B41A-0D4F-AB79-8BFFCC1B042F}" type="presParOf" srcId="{32AF9AD6-F4E7-FF43-B9FE-89D9CC923FC3}" destId="{A20A68E4-5255-654C-938E-32C690A6E027}" srcOrd="4" destOrd="0" presId="urn:microsoft.com/office/officeart/2005/8/layout/radial6"/>
    <dgm:cxn modelId="{455A3374-3C95-9A4B-8E83-16CAD0BAB7C1}" type="presParOf" srcId="{32AF9AD6-F4E7-FF43-B9FE-89D9CC923FC3}" destId="{58612DA7-73C6-EF42-9BB2-1C5C798E1CA3}" srcOrd="5" destOrd="0" presId="urn:microsoft.com/office/officeart/2005/8/layout/radial6"/>
    <dgm:cxn modelId="{2F3F12E1-052F-294D-ADF2-E6F55F6C160B}" type="presParOf" srcId="{32AF9AD6-F4E7-FF43-B9FE-89D9CC923FC3}" destId="{8F02AB7D-3F44-7A49-928E-AA8952B0BB4B}" srcOrd="6" destOrd="0" presId="urn:microsoft.com/office/officeart/2005/8/layout/radial6"/>
    <dgm:cxn modelId="{C737C45E-B905-4A45-9D26-6895AAD21ACC}" type="presParOf" srcId="{32AF9AD6-F4E7-FF43-B9FE-89D9CC923FC3}" destId="{652B3FDF-2F1C-3348-8BBD-1EDAB86BC60F}" srcOrd="7" destOrd="0" presId="urn:microsoft.com/office/officeart/2005/8/layout/radial6"/>
    <dgm:cxn modelId="{92ED18F8-6CB8-3C41-BD2F-7DEC43354CF0}" type="presParOf" srcId="{32AF9AD6-F4E7-FF43-B9FE-89D9CC923FC3}" destId="{DF9440A1-09EF-1C43-A6FA-87254EF38B7F}" srcOrd="8" destOrd="0" presId="urn:microsoft.com/office/officeart/2005/8/layout/radial6"/>
    <dgm:cxn modelId="{FA616D21-6AEC-5D45-9D9D-FEFD7945F4DF}" type="presParOf" srcId="{32AF9AD6-F4E7-FF43-B9FE-89D9CC923FC3}" destId="{AACF573B-0000-C847-958C-56A7D3384E72}" srcOrd="9" destOrd="0" presId="urn:microsoft.com/office/officeart/2005/8/layout/radial6"/>
    <dgm:cxn modelId="{D647A6B0-FD2D-5B46-B876-F26A56131872}" type="presParOf" srcId="{32AF9AD6-F4E7-FF43-B9FE-89D9CC923FC3}" destId="{928CDAE3-48DE-E14A-9254-26E05601D677}" srcOrd="10" destOrd="0" presId="urn:microsoft.com/office/officeart/2005/8/layout/radial6"/>
    <dgm:cxn modelId="{AEF1CE14-20A2-0549-A927-C8B35930291C}" type="presParOf" srcId="{32AF9AD6-F4E7-FF43-B9FE-89D9CC923FC3}" destId="{A15FB94F-7357-6140-B90D-FF70FD11D7DB}" srcOrd="11" destOrd="0" presId="urn:microsoft.com/office/officeart/2005/8/layout/radial6"/>
    <dgm:cxn modelId="{9A6288FA-F473-4147-B0D5-97DA4CEFE999}" type="presParOf" srcId="{32AF9AD6-F4E7-FF43-B9FE-89D9CC923FC3}" destId="{82DDAE11-52A8-2A42-8569-3862D7A97E46}" srcOrd="12"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48BF027-628C-164D-9E8D-BB73791BFC39}" type="doc">
      <dgm:prSet loTypeId="urn:microsoft.com/office/officeart/2005/8/layout/radial6" loCatId="" qsTypeId="urn:microsoft.com/office/officeart/2005/8/quickstyle/simple1" qsCatId="simple" csTypeId="urn:microsoft.com/office/officeart/2005/8/colors/accent1_2" csCatId="accent1" phldr="1"/>
      <dgm:spPr/>
      <dgm:t>
        <a:bodyPr/>
        <a:lstStyle/>
        <a:p>
          <a:endParaRPr lang="zh-CN" altLang="en-US"/>
        </a:p>
      </dgm:t>
    </dgm:pt>
    <dgm:pt modelId="{16D5F13A-5EC0-554F-A18D-80219EE55CBB}">
      <dgm:prSet phldrT="[文本]"/>
      <dgm:spPr/>
      <dgm:t>
        <a:bodyPr/>
        <a:lstStyle/>
        <a:p>
          <a:r>
            <a:rPr lang="zh-CN" altLang="en-US" dirty="0"/>
            <a:t>音乐构架</a:t>
          </a:r>
        </a:p>
      </dgm:t>
    </dgm:pt>
    <dgm:pt modelId="{808F6F4E-7F8F-A041-815E-8C285E105107}" type="parTrans" cxnId="{AF5A4838-8345-614A-9B63-9586F04A9530}">
      <dgm:prSet/>
      <dgm:spPr/>
      <dgm:t>
        <a:bodyPr/>
        <a:lstStyle/>
        <a:p>
          <a:endParaRPr lang="zh-CN" altLang="en-US"/>
        </a:p>
      </dgm:t>
    </dgm:pt>
    <dgm:pt modelId="{F19945C4-A132-BC42-A2A1-1B4A3A16AB3F}" type="sibTrans" cxnId="{AF5A4838-8345-614A-9B63-9586F04A9530}">
      <dgm:prSet/>
      <dgm:spPr/>
      <dgm:t>
        <a:bodyPr/>
        <a:lstStyle/>
        <a:p>
          <a:endParaRPr lang="zh-CN" altLang="en-US"/>
        </a:p>
      </dgm:t>
    </dgm:pt>
    <dgm:pt modelId="{B4DF2118-494A-4C4D-9BFF-728B77A1E5A6}">
      <dgm:prSet phldrT="[文本]"/>
      <dgm:spPr>
        <a:solidFill>
          <a:schemeClr val="bg2">
            <a:lumMod val="90000"/>
          </a:schemeClr>
        </a:solidFill>
      </dgm:spPr>
      <dgm:t>
        <a:bodyPr/>
        <a:lstStyle/>
        <a:p>
          <a:r>
            <a:rPr lang="zh-CN" altLang="en-US" dirty="0"/>
            <a:t>音高</a:t>
          </a:r>
        </a:p>
      </dgm:t>
    </dgm:pt>
    <dgm:pt modelId="{DE9D036B-DD67-3146-9B76-37F2BE99E693}" type="parTrans" cxnId="{BF511779-BDA9-8E4F-A55D-BAE4707EA525}">
      <dgm:prSet/>
      <dgm:spPr/>
      <dgm:t>
        <a:bodyPr/>
        <a:lstStyle/>
        <a:p>
          <a:endParaRPr lang="zh-CN" altLang="en-US"/>
        </a:p>
      </dgm:t>
    </dgm:pt>
    <dgm:pt modelId="{F1FB4E82-A9D2-8049-88CF-792E075CF3C2}" type="sibTrans" cxnId="{BF511779-BDA9-8E4F-A55D-BAE4707EA525}">
      <dgm:prSet/>
      <dgm:spPr/>
      <dgm:t>
        <a:bodyPr/>
        <a:lstStyle/>
        <a:p>
          <a:endParaRPr lang="zh-CN" altLang="en-US"/>
        </a:p>
      </dgm:t>
    </dgm:pt>
    <dgm:pt modelId="{084C56CD-F0EB-FB41-8352-2C042351CB98}">
      <dgm:prSet phldrT="[文本]"/>
      <dgm:spPr>
        <a:solidFill>
          <a:schemeClr val="bg2">
            <a:lumMod val="90000"/>
          </a:schemeClr>
        </a:solidFill>
      </dgm:spPr>
      <dgm:t>
        <a:bodyPr/>
        <a:lstStyle/>
        <a:p>
          <a:r>
            <a:rPr lang="zh-CN" altLang="en-US" dirty="0"/>
            <a:t>音色</a:t>
          </a:r>
        </a:p>
      </dgm:t>
    </dgm:pt>
    <dgm:pt modelId="{E708854D-39EE-3743-9F98-781673F733C2}" type="parTrans" cxnId="{85CB9533-6B35-AF44-9865-CB0D575E5999}">
      <dgm:prSet/>
      <dgm:spPr/>
      <dgm:t>
        <a:bodyPr/>
        <a:lstStyle/>
        <a:p>
          <a:endParaRPr lang="zh-CN" altLang="en-US"/>
        </a:p>
      </dgm:t>
    </dgm:pt>
    <dgm:pt modelId="{C8A20C32-150A-464B-A735-085374CABF67}" type="sibTrans" cxnId="{85CB9533-6B35-AF44-9865-CB0D575E5999}">
      <dgm:prSet/>
      <dgm:spPr/>
      <dgm:t>
        <a:bodyPr/>
        <a:lstStyle/>
        <a:p>
          <a:endParaRPr lang="zh-CN" altLang="en-US"/>
        </a:p>
      </dgm:t>
    </dgm:pt>
    <dgm:pt modelId="{0DBA2D5F-18A9-474B-8B63-7ED0E1F834E7}">
      <dgm:prSet phldrT="[文本]"/>
      <dgm:spPr>
        <a:solidFill>
          <a:schemeClr val="accent2"/>
        </a:solidFill>
      </dgm:spPr>
      <dgm:t>
        <a:bodyPr/>
        <a:lstStyle/>
        <a:p>
          <a:r>
            <a:rPr lang="zh-CN" altLang="en-US" dirty="0"/>
            <a:t>节奏</a:t>
          </a:r>
        </a:p>
      </dgm:t>
    </dgm:pt>
    <dgm:pt modelId="{06D5D12E-0DF0-884F-A934-ECE7C7918CA0}" type="parTrans" cxnId="{9B83AA4E-0731-F04A-8C2A-E505635E054F}">
      <dgm:prSet/>
      <dgm:spPr/>
      <dgm:t>
        <a:bodyPr/>
        <a:lstStyle/>
        <a:p>
          <a:endParaRPr lang="zh-CN" altLang="en-US"/>
        </a:p>
      </dgm:t>
    </dgm:pt>
    <dgm:pt modelId="{7FC57703-3920-5643-978B-5D7853AF253F}" type="sibTrans" cxnId="{9B83AA4E-0731-F04A-8C2A-E505635E054F}">
      <dgm:prSet/>
      <dgm:spPr/>
      <dgm:t>
        <a:bodyPr/>
        <a:lstStyle/>
        <a:p>
          <a:endParaRPr lang="zh-CN" altLang="en-US"/>
        </a:p>
      </dgm:t>
    </dgm:pt>
    <dgm:pt modelId="{31EB5BCE-5C61-044C-832F-0659B91AD3EC}">
      <dgm:prSet phldrT="[文本]"/>
      <dgm:spPr>
        <a:solidFill>
          <a:schemeClr val="bg2">
            <a:lumMod val="90000"/>
          </a:schemeClr>
        </a:solidFill>
      </dgm:spPr>
      <dgm:t>
        <a:bodyPr/>
        <a:lstStyle/>
        <a:p>
          <a:r>
            <a:rPr lang="zh-CN" altLang="en-US" dirty="0"/>
            <a:t>响度</a:t>
          </a:r>
        </a:p>
      </dgm:t>
    </dgm:pt>
    <dgm:pt modelId="{4A015D6A-E890-F249-8650-E5BDA38D010B}" type="parTrans" cxnId="{72DD0076-1C8F-E142-949E-6012A93BC652}">
      <dgm:prSet/>
      <dgm:spPr/>
      <dgm:t>
        <a:bodyPr/>
        <a:lstStyle/>
        <a:p>
          <a:endParaRPr lang="zh-CN" altLang="en-US"/>
        </a:p>
      </dgm:t>
    </dgm:pt>
    <dgm:pt modelId="{7C74F562-6FAC-1E4E-8AB5-313A0A9BD64C}" type="sibTrans" cxnId="{72DD0076-1C8F-E142-949E-6012A93BC652}">
      <dgm:prSet/>
      <dgm:spPr/>
      <dgm:t>
        <a:bodyPr/>
        <a:lstStyle/>
        <a:p>
          <a:endParaRPr lang="zh-CN" altLang="en-US"/>
        </a:p>
      </dgm:t>
    </dgm:pt>
    <dgm:pt modelId="{32AF9AD6-F4E7-FF43-B9FE-89D9CC923FC3}" type="pres">
      <dgm:prSet presAssocID="{A48BF027-628C-164D-9E8D-BB73791BFC39}" presName="Name0" presStyleCnt="0">
        <dgm:presLayoutVars>
          <dgm:chMax val="1"/>
          <dgm:dir/>
          <dgm:animLvl val="ctr"/>
          <dgm:resizeHandles val="exact"/>
        </dgm:presLayoutVars>
      </dgm:prSet>
      <dgm:spPr/>
    </dgm:pt>
    <dgm:pt modelId="{E781A7D8-5AF1-9A47-8B05-B4EABD46AB60}" type="pres">
      <dgm:prSet presAssocID="{16D5F13A-5EC0-554F-A18D-80219EE55CBB}" presName="centerShape" presStyleLbl="node0" presStyleIdx="0" presStyleCnt="1"/>
      <dgm:spPr/>
    </dgm:pt>
    <dgm:pt modelId="{172EA8D6-FB46-7945-A217-D74B46604F7C}" type="pres">
      <dgm:prSet presAssocID="{B4DF2118-494A-4C4D-9BFF-728B77A1E5A6}" presName="node" presStyleLbl="node1" presStyleIdx="0" presStyleCnt="4">
        <dgm:presLayoutVars>
          <dgm:bulletEnabled val="1"/>
        </dgm:presLayoutVars>
      </dgm:prSet>
      <dgm:spPr/>
    </dgm:pt>
    <dgm:pt modelId="{DED77655-064B-A14A-9358-AE543B474221}" type="pres">
      <dgm:prSet presAssocID="{B4DF2118-494A-4C4D-9BFF-728B77A1E5A6}" presName="dummy" presStyleCnt="0"/>
      <dgm:spPr/>
    </dgm:pt>
    <dgm:pt modelId="{07974523-ACD3-DF4C-B8FA-745B6166E400}" type="pres">
      <dgm:prSet presAssocID="{F1FB4E82-A9D2-8049-88CF-792E075CF3C2}" presName="sibTrans" presStyleLbl="sibTrans2D1" presStyleIdx="0" presStyleCnt="4"/>
      <dgm:spPr/>
    </dgm:pt>
    <dgm:pt modelId="{A20A68E4-5255-654C-938E-32C690A6E027}" type="pres">
      <dgm:prSet presAssocID="{084C56CD-F0EB-FB41-8352-2C042351CB98}" presName="node" presStyleLbl="node1" presStyleIdx="1" presStyleCnt="4">
        <dgm:presLayoutVars>
          <dgm:bulletEnabled val="1"/>
        </dgm:presLayoutVars>
      </dgm:prSet>
      <dgm:spPr/>
    </dgm:pt>
    <dgm:pt modelId="{58612DA7-73C6-EF42-9BB2-1C5C798E1CA3}" type="pres">
      <dgm:prSet presAssocID="{084C56CD-F0EB-FB41-8352-2C042351CB98}" presName="dummy" presStyleCnt="0"/>
      <dgm:spPr/>
    </dgm:pt>
    <dgm:pt modelId="{8F02AB7D-3F44-7A49-928E-AA8952B0BB4B}" type="pres">
      <dgm:prSet presAssocID="{C8A20C32-150A-464B-A735-085374CABF67}" presName="sibTrans" presStyleLbl="sibTrans2D1" presStyleIdx="1" presStyleCnt="4"/>
      <dgm:spPr/>
    </dgm:pt>
    <dgm:pt modelId="{652B3FDF-2F1C-3348-8BBD-1EDAB86BC60F}" type="pres">
      <dgm:prSet presAssocID="{0DBA2D5F-18A9-474B-8B63-7ED0E1F834E7}" presName="node" presStyleLbl="node1" presStyleIdx="2" presStyleCnt="4">
        <dgm:presLayoutVars>
          <dgm:bulletEnabled val="1"/>
        </dgm:presLayoutVars>
      </dgm:prSet>
      <dgm:spPr/>
    </dgm:pt>
    <dgm:pt modelId="{DF9440A1-09EF-1C43-A6FA-87254EF38B7F}" type="pres">
      <dgm:prSet presAssocID="{0DBA2D5F-18A9-474B-8B63-7ED0E1F834E7}" presName="dummy" presStyleCnt="0"/>
      <dgm:spPr/>
    </dgm:pt>
    <dgm:pt modelId="{AACF573B-0000-C847-958C-56A7D3384E72}" type="pres">
      <dgm:prSet presAssocID="{7FC57703-3920-5643-978B-5D7853AF253F}" presName="sibTrans" presStyleLbl="sibTrans2D1" presStyleIdx="2" presStyleCnt="4"/>
      <dgm:spPr/>
    </dgm:pt>
    <dgm:pt modelId="{928CDAE3-48DE-E14A-9254-26E05601D677}" type="pres">
      <dgm:prSet presAssocID="{31EB5BCE-5C61-044C-832F-0659B91AD3EC}" presName="node" presStyleLbl="node1" presStyleIdx="3" presStyleCnt="4">
        <dgm:presLayoutVars>
          <dgm:bulletEnabled val="1"/>
        </dgm:presLayoutVars>
      </dgm:prSet>
      <dgm:spPr/>
    </dgm:pt>
    <dgm:pt modelId="{A15FB94F-7357-6140-B90D-FF70FD11D7DB}" type="pres">
      <dgm:prSet presAssocID="{31EB5BCE-5C61-044C-832F-0659B91AD3EC}" presName="dummy" presStyleCnt="0"/>
      <dgm:spPr/>
    </dgm:pt>
    <dgm:pt modelId="{82DDAE11-52A8-2A42-8569-3862D7A97E46}" type="pres">
      <dgm:prSet presAssocID="{7C74F562-6FAC-1E4E-8AB5-313A0A9BD64C}" presName="sibTrans" presStyleLbl="sibTrans2D1" presStyleIdx="3" presStyleCnt="4"/>
      <dgm:spPr/>
    </dgm:pt>
  </dgm:ptLst>
  <dgm:cxnLst>
    <dgm:cxn modelId="{C6AAD106-5451-D64A-84FA-F1826AF82E74}" type="presOf" srcId="{C8A20C32-150A-464B-A735-085374CABF67}" destId="{8F02AB7D-3F44-7A49-928E-AA8952B0BB4B}" srcOrd="0" destOrd="0" presId="urn:microsoft.com/office/officeart/2005/8/layout/radial6"/>
    <dgm:cxn modelId="{307E461B-6107-EE4D-BD4D-C35C7E49F956}" type="presOf" srcId="{084C56CD-F0EB-FB41-8352-2C042351CB98}" destId="{A20A68E4-5255-654C-938E-32C690A6E027}" srcOrd="0" destOrd="0" presId="urn:microsoft.com/office/officeart/2005/8/layout/radial6"/>
    <dgm:cxn modelId="{85CB9533-6B35-AF44-9865-CB0D575E5999}" srcId="{16D5F13A-5EC0-554F-A18D-80219EE55CBB}" destId="{084C56CD-F0EB-FB41-8352-2C042351CB98}" srcOrd="1" destOrd="0" parTransId="{E708854D-39EE-3743-9F98-781673F733C2}" sibTransId="{C8A20C32-150A-464B-A735-085374CABF67}"/>
    <dgm:cxn modelId="{9D96B136-453E-0746-91E4-5FC4F598A061}" type="presOf" srcId="{0DBA2D5F-18A9-474B-8B63-7ED0E1F834E7}" destId="{652B3FDF-2F1C-3348-8BBD-1EDAB86BC60F}" srcOrd="0" destOrd="0" presId="urn:microsoft.com/office/officeart/2005/8/layout/radial6"/>
    <dgm:cxn modelId="{AF5A4838-8345-614A-9B63-9586F04A9530}" srcId="{A48BF027-628C-164D-9E8D-BB73791BFC39}" destId="{16D5F13A-5EC0-554F-A18D-80219EE55CBB}" srcOrd="0" destOrd="0" parTransId="{808F6F4E-7F8F-A041-815E-8C285E105107}" sibTransId="{F19945C4-A132-BC42-A2A1-1B4A3A16AB3F}"/>
    <dgm:cxn modelId="{EF689B39-B480-C945-ACF9-071166CEB125}" type="presOf" srcId="{7C74F562-6FAC-1E4E-8AB5-313A0A9BD64C}" destId="{82DDAE11-52A8-2A42-8569-3862D7A97E46}" srcOrd="0" destOrd="0" presId="urn:microsoft.com/office/officeart/2005/8/layout/radial6"/>
    <dgm:cxn modelId="{FEF70440-5E95-C94C-ADAA-E2346F53ECCA}" type="presOf" srcId="{31EB5BCE-5C61-044C-832F-0659B91AD3EC}" destId="{928CDAE3-48DE-E14A-9254-26E05601D677}" srcOrd="0" destOrd="0" presId="urn:microsoft.com/office/officeart/2005/8/layout/radial6"/>
    <dgm:cxn modelId="{9B83AA4E-0731-F04A-8C2A-E505635E054F}" srcId="{16D5F13A-5EC0-554F-A18D-80219EE55CBB}" destId="{0DBA2D5F-18A9-474B-8B63-7ED0E1F834E7}" srcOrd="2" destOrd="0" parTransId="{06D5D12E-0DF0-884F-A934-ECE7C7918CA0}" sibTransId="{7FC57703-3920-5643-978B-5D7853AF253F}"/>
    <dgm:cxn modelId="{72DD0076-1C8F-E142-949E-6012A93BC652}" srcId="{16D5F13A-5EC0-554F-A18D-80219EE55CBB}" destId="{31EB5BCE-5C61-044C-832F-0659B91AD3EC}" srcOrd="3" destOrd="0" parTransId="{4A015D6A-E890-F249-8650-E5BDA38D010B}" sibTransId="{7C74F562-6FAC-1E4E-8AB5-313A0A9BD64C}"/>
    <dgm:cxn modelId="{BF511779-BDA9-8E4F-A55D-BAE4707EA525}" srcId="{16D5F13A-5EC0-554F-A18D-80219EE55CBB}" destId="{B4DF2118-494A-4C4D-9BFF-728B77A1E5A6}" srcOrd="0" destOrd="0" parTransId="{DE9D036B-DD67-3146-9B76-37F2BE99E693}" sibTransId="{F1FB4E82-A9D2-8049-88CF-792E075CF3C2}"/>
    <dgm:cxn modelId="{7707A5A0-A613-7348-8BBA-67972EFE1B54}" type="presOf" srcId="{A48BF027-628C-164D-9E8D-BB73791BFC39}" destId="{32AF9AD6-F4E7-FF43-B9FE-89D9CC923FC3}" srcOrd="0" destOrd="0" presId="urn:microsoft.com/office/officeart/2005/8/layout/radial6"/>
    <dgm:cxn modelId="{74BD02A2-F687-574F-B061-82DA404AE6E0}" type="presOf" srcId="{F1FB4E82-A9D2-8049-88CF-792E075CF3C2}" destId="{07974523-ACD3-DF4C-B8FA-745B6166E400}" srcOrd="0" destOrd="0" presId="urn:microsoft.com/office/officeart/2005/8/layout/radial6"/>
    <dgm:cxn modelId="{8C70E8AF-7612-964B-9814-25FCF0436056}" type="presOf" srcId="{7FC57703-3920-5643-978B-5D7853AF253F}" destId="{AACF573B-0000-C847-958C-56A7D3384E72}" srcOrd="0" destOrd="0" presId="urn:microsoft.com/office/officeart/2005/8/layout/radial6"/>
    <dgm:cxn modelId="{379207B2-6D39-414C-913D-564A2F4E81BC}" type="presOf" srcId="{16D5F13A-5EC0-554F-A18D-80219EE55CBB}" destId="{E781A7D8-5AF1-9A47-8B05-B4EABD46AB60}" srcOrd="0" destOrd="0" presId="urn:microsoft.com/office/officeart/2005/8/layout/radial6"/>
    <dgm:cxn modelId="{DBDFE6B3-A692-CE46-AB2D-D3FFD1ECB611}" type="presOf" srcId="{B4DF2118-494A-4C4D-9BFF-728B77A1E5A6}" destId="{172EA8D6-FB46-7945-A217-D74B46604F7C}" srcOrd="0" destOrd="0" presId="urn:microsoft.com/office/officeart/2005/8/layout/radial6"/>
    <dgm:cxn modelId="{697175FD-14C5-AD44-8850-6020A481832C}" type="presParOf" srcId="{32AF9AD6-F4E7-FF43-B9FE-89D9CC923FC3}" destId="{E781A7D8-5AF1-9A47-8B05-B4EABD46AB60}" srcOrd="0" destOrd="0" presId="urn:microsoft.com/office/officeart/2005/8/layout/radial6"/>
    <dgm:cxn modelId="{49418DCA-046C-184C-B239-08106707D4A5}" type="presParOf" srcId="{32AF9AD6-F4E7-FF43-B9FE-89D9CC923FC3}" destId="{172EA8D6-FB46-7945-A217-D74B46604F7C}" srcOrd="1" destOrd="0" presId="urn:microsoft.com/office/officeart/2005/8/layout/radial6"/>
    <dgm:cxn modelId="{E0BEAF2C-820A-F24B-BB67-0B39B4C19B90}" type="presParOf" srcId="{32AF9AD6-F4E7-FF43-B9FE-89D9CC923FC3}" destId="{DED77655-064B-A14A-9358-AE543B474221}" srcOrd="2" destOrd="0" presId="urn:microsoft.com/office/officeart/2005/8/layout/radial6"/>
    <dgm:cxn modelId="{A1737A58-3E34-D144-BD63-38DE0B42ED47}" type="presParOf" srcId="{32AF9AD6-F4E7-FF43-B9FE-89D9CC923FC3}" destId="{07974523-ACD3-DF4C-B8FA-745B6166E400}" srcOrd="3" destOrd="0" presId="urn:microsoft.com/office/officeart/2005/8/layout/radial6"/>
    <dgm:cxn modelId="{3F87738A-B41A-0D4F-AB79-8BFFCC1B042F}" type="presParOf" srcId="{32AF9AD6-F4E7-FF43-B9FE-89D9CC923FC3}" destId="{A20A68E4-5255-654C-938E-32C690A6E027}" srcOrd="4" destOrd="0" presId="urn:microsoft.com/office/officeart/2005/8/layout/radial6"/>
    <dgm:cxn modelId="{455A3374-3C95-9A4B-8E83-16CAD0BAB7C1}" type="presParOf" srcId="{32AF9AD6-F4E7-FF43-B9FE-89D9CC923FC3}" destId="{58612DA7-73C6-EF42-9BB2-1C5C798E1CA3}" srcOrd="5" destOrd="0" presId="urn:microsoft.com/office/officeart/2005/8/layout/radial6"/>
    <dgm:cxn modelId="{2F3F12E1-052F-294D-ADF2-E6F55F6C160B}" type="presParOf" srcId="{32AF9AD6-F4E7-FF43-B9FE-89D9CC923FC3}" destId="{8F02AB7D-3F44-7A49-928E-AA8952B0BB4B}" srcOrd="6" destOrd="0" presId="urn:microsoft.com/office/officeart/2005/8/layout/radial6"/>
    <dgm:cxn modelId="{C737C45E-B905-4A45-9D26-6895AAD21ACC}" type="presParOf" srcId="{32AF9AD6-F4E7-FF43-B9FE-89D9CC923FC3}" destId="{652B3FDF-2F1C-3348-8BBD-1EDAB86BC60F}" srcOrd="7" destOrd="0" presId="urn:microsoft.com/office/officeart/2005/8/layout/radial6"/>
    <dgm:cxn modelId="{92ED18F8-6CB8-3C41-BD2F-7DEC43354CF0}" type="presParOf" srcId="{32AF9AD6-F4E7-FF43-B9FE-89D9CC923FC3}" destId="{DF9440A1-09EF-1C43-A6FA-87254EF38B7F}" srcOrd="8" destOrd="0" presId="urn:microsoft.com/office/officeart/2005/8/layout/radial6"/>
    <dgm:cxn modelId="{FA616D21-6AEC-5D45-9D9D-FEFD7945F4DF}" type="presParOf" srcId="{32AF9AD6-F4E7-FF43-B9FE-89D9CC923FC3}" destId="{AACF573B-0000-C847-958C-56A7D3384E72}" srcOrd="9" destOrd="0" presId="urn:microsoft.com/office/officeart/2005/8/layout/radial6"/>
    <dgm:cxn modelId="{D647A6B0-FD2D-5B46-B876-F26A56131872}" type="presParOf" srcId="{32AF9AD6-F4E7-FF43-B9FE-89D9CC923FC3}" destId="{928CDAE3-48DE-E14A-9254-26E05601D677}" srcOrd="10" destOrd="0" presId="urn:microsoft.com/office/officeart/2005/8/layout/radial6"/>
    <dgm:cxn modelId="{AEF1CE14-20A2-0549-A927-C8B35930291C}" type="presParOf" srcId="{32AF9AD6-F4E7-FF43-B9FE-89D9CC923FC3}" destId="{A15FB94F-7357-6140-B90D-FF70FD11D7DB}" srcOrd="11" destOrd="0" presId="urn:microsoft.com/office/officeart/2005/8/layout/radial6"/>
    <dgm:cxn modelId="{9A6288FA-F473-4147-B0D5-97DA4CEFE999}" type="presParOf" srcId="{32AF9AD6-F4E7-FF43-B9FE-89D9CC923FC3}" destId="{82DDAE11-52A8-2A42-8569-3862D7A97E46}" srcOrd="12"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2EE6EF9-3144-4542-B526-466C3E2290DA}" type="doc">
      <dgm:prSet loTypeId="urn:microsoft.com/office/officeart/2005/8/layout/radial3" loCatId="" qsTypeId="urn:microsoft.com/office/officeart/2005/8/quickstyle/simple1" qsCatId="simple" csTypeId="urn:microsoft.com/office/officeart/2005/8/colors/accent1_2" csCatId="accent1" phldr="1"/>
      <dgm:spPr/>
      <dgm:t>
        <a:bodyPr/>
        <a:lstStyle/>
        <a:p>
          <a:endParaRPr lang="zh-CN" altLang="en-US"/>
        </a:p>
      </dgm:t>
    </dgm:pt>
    <dgm:pt modelId="{92121EE5-050A-CE4D-88A5-E036482FAAF5}">
      <dgm:prSet phldrT="[文本]" custT="1"/>
      <dgm:spPr/>
      <dgm:t>
        <a:bodyPr/>
        <a:lstStyle/>
        <a:p>
          <a:r>
            <a:rPr lang="zh-CN" altLang="en-US" sz="3600" dirty="0">
              <a:latin typeface="Microsoft YaHei" panose="020B0503020204020204" pitchFamily="34" charset="-122"/>
              <a:ea typeface="Microsoft YaHei" panose="020B0503020204020204" pitchFamily="34" charset="-122"/>
            </a:rPr>
            <a:t>节奏</a:t>
          </a:r>
        </a:p>
      </dgm:t>
    </dgm:pt>
    <dgm:pt modelId="{D5834164-8E60-3D41-B719-4CBA1FB42160}" type="parTrans" cxnId="{F0F02581-A1F6-AB44-9C3B-02A82439A03E}">
      <dgm:prSet/>
      <dgm:spPr/>
      <dgm:t>
        <a:bodyPr/>
        <a:lstStyle/>
        <a:p>
          <a:endParaRPr lang="zh-CN" altLang="en-US" sz="2000">
            <a:latin typeface="Microsoft YaHei" panose="020B0503020204020204" pitchFamily="34" charset="-122"/>
            <a:ea typeface="Microsoft YaHei" panose="020B0503020204020204" pitchFamily="34" charset="-122"/>
          </a:endParaRPr>
        </a:p>
      </dgm:t>
    </dgm:pt>
    <dgm:pt modelId="{9F64E972-0F62-F243-8C26-28323BE3CAEA}" type="sibTrans" cxnId="{F0F02581-A1F6-AB44-9C3B-02A82439A03E}">
      <dgm:prSet/>
      <dgm:spPr/>
      <dgm:t>
        <a:bodyPr/>
        <a:lstStyle/>
        <a:p>
          <a:endParaRPr lang="zh-CN" altLang="en-US" sz="2000">
            <a:latin typeface="Microsoft YaHei" panose="020B0503020204020204" pitchFamily="34" charset="-122"/>
            <a:ea typeface="Microsoft YaHei" panose="020B0503020204020204" pitchFamily="34" charset="-122"/>
          </a:endParaRPr>
        </a:p>
      </dgm:t>
    </dgm:pt>
    <dgm:pt modelId="{C215A439-06CC-154A-B93B-2ABA2166A65B}">
      <dgm:prSet phldrT="[文本]" custT="1"/>
      <dgm:spPr/>
      <dgm:t>
        <a:bodyPr/>
        <a:lstStyle/>
        <a:p>
          <a:r>
            <a:rPr lang="zh-CN" altLang="en-US" sz="1600" dirty="0">
              <a:latin typeface="Microsoft YaHei" panose="020B0503020204020204" pitchFamily="34" charset="-122"/>
              <a:ea typeface="Microsoft YaHei" panose="020B0503020204020204" pitchFamily="34" charset="-122"/>
            </a:rPr>
            <a:t>节拍</a:t>
          </a:r>
          <a:endParaRPr lang="en-US" altLang="zh-CN" sz="1600" dirty="0">
            <a:latin typeface="Microsoft YaHei" panose="020B0503020204020204" pitchFamily="34" charset="-122"/>
            <a:ea typeface="Microsoft YaHei" panose="020B0503020204020204" pitchFamily="34" charset="-122"/>
          </a:endParaRPr>
        </a:p>
        <a:p>
          <a:r>
            <a:rPr lang="zh-CN" altLang="en-US" sz="1400" dirty="0">
              <a:latin typeface="Microsoft YaHei" panose="020B0503020204020204" pitchFamily="34" charset="-122"/>
              <a:ea typeface="Microsoft YaHei" panose="020B0503020204020204" pitchFamily="34" charset="-122"/>
            </a:rPr>
            <a:t>（节拍感）</a:t>
          </a:r>
        </a:p>
      </dgm:t>
    </dgm:pt>
    <dgm:pt modelId="{AD9462A9-ADAB-3344-8245-0C3AE029DE21}" type="parTrans" cxnId="{42322895-B332-B447-A811-929454AA5961}">
      <dgm:prSet/>
      <dgm:spPr/>
      <dgm:t>
        <a:bodyPr/>
        <a:lstStyle/>
        <a:p>
          <a:endParaRPr lang="zh-CN" altLang="en-US" sz="2000">
            <a:latin typeface="Microsoft YaHei" panose="020B0503020204020204" pitchFamily="34" charset="-122"/>
            <a:ea typeface="Microsoft YaHei" panose="020B0503020204020204" pitchFamily="34" charset="-122"/>
          </a:endParaRPr>
        </a:p>
      </dgm:t>
    </dgm:pt>
    <dgm:pt modelId="{24E99493-1635-F541-8835-41F841893D84}" type="sibTrans" cxnId="{42322895-B332-B447-A811-929454AA5961}">
      <dgm:prSet/>
      <dgm:spPr/>
      <dgm:t>
        <a:bodyPr/>
        <a:lstStyle/>
        <a:p>
          <a:endParaRPr lang="zh-CN" altLang="en-US" sz="2000">
            <a:latin typeface="Microsoft YaHei" panose="020B0503020204020204" pitchFamily="34" charset="-122"/>
            <a:ea typeface="Microsoft YaHei" panose="020B0503020204020204" pitchFamily="34" charset="-122"/>
          </a:endParaRPr>
        </a:p>
      </dgm:t>
    </dgm:pt>
    <dgm:pt modelId="{A76B4A03-CFC1-6E4D-AB79-184B5FF7DE5D}">
      <dgm:prSet phldrT="[文本]" custT="1"/>
      <dgm:spPr>
        <a:solidFill>
          <a:schemeClr val="accent1">
            <a:hueOff val="0"/>
            <a:satOff val="0"/>
            <a:lumOff val="0"/>
          </a:schemeClr>
        </a:solidFill>
      </dgm:spPr>
      <dgm:t>
        <a:bodyPr/>
        <a:lstStyle/>
        <a:p>
          <a:r>
            <a:rPr lang="zh-CN" altLang="en-US" sz="1600" dirty="0">
              <a:solidFill>
                <a:schemeClr val="bg1"/>
              </a:solidFill>
              <a:latin typeface="Microsoft YaHei" panose="020B0503020204020204" pitchFamily="34" charset="-122"/>
              <a:ea typeface="Microsoft YaHei" panose="020B0503020204020204" pitchFamily="34" charset="-122"/>
            </a:rPr>
            <a:t>速度</a:t>
          </a:r>
          <a:endParaRPr lang="en-US" altLang="zh-CN" sz="1600" dirty="0">
            <a:solidFill>
              <a:schemeClr val="bg1"/>
            </a:solidFill>
            <a:latin typeface="Microsoft YaHei" panose="020B0503020204020204" pitchFamily="34" charset="-122"/>
            <a:ea typeface="Microsoft YaHei" panose="020B0503020204020204" pitchFamily="34" charset="-122"/>
          </a:endParaRPr>
        </a:p>
        <a:p>
          <a:r>
            <a:rPr lang="zh-CN" altLang="en-US" sz="1400" dirty="0">
              <a:solidFill>
                <a:schemeClr val="bg1"/>
              </a:solidFill>
              <a:latin typeface="Microsoft YaHei" panose="020B0503020204020204" pitchFamily="34" charset="-122"/>
              <a:ea typeface="Microsoft YaHei" panose="020B0503020204020204" pitchFamily="34" charset="-122"/>
            </a:rPr>
            <a:t>（速度感）</a:t>
          </a:r>
        </a:p>
      </dgm:t>
    </dgm:pt>
    <dgm:pt modelId="{27252A4A-5E78-1143-B99C-D5C2D9C6E817}" type="parTrans" cxnId="{8C3D4239-F568-CF47-9561-E358EE6F6B79}">
      <dgm:prSet/>
      <dgm:spPr/>
      <dgm:t>
        <a:bodyPr/>
        <a:lstStyle/>
        <a:p>
          <a:endParaRPr lang="zh-CN" altLang="en-US" sz="2000">
            <a:latin typeface="Microsoft YaHei" panose="020B0503020204020204" pitchFamily="34" charset="-122"/>
            <a:ea typeface="Microsoft YaHei" panose="020B0503020204020204" pitchFamily="34" charset="-122"/>
          </a:endParaRPr>
        </a:p>
      </dgm:t>
    </dgm:pt>
    <dgm:pt modelId="{5F781313-C962-8D4B-93BE-B4884CD7A384}" type="sibTrans" cxnId="{8C3D4239-F568-CF47-9561-E358EE6F6B79}">
      <dgm:prSet/>
      <dgm:spPr/>
      <dgm:t>
        <a:bodyPr/>
        <a:lstStyle/>
        <a:p>
          <a:endParaRPr lang="zh-CN" altLang="en-US" sz="2000">
            <a:latin typeface="Microsoft YaHei" panose="020B0503020204020204" pitchFamily="34" charset="-122"/>
            <a:ea typeface="Microsoft YaHei" panose="020B0503020204020204" pitchFamily="34" charset="-122"/>
          </a:endParaRPr>
        </a:p>
      </dgm:t>
    </dgm:pt>
    <dgm:pt modelId="{66E3432B-C31C-124F-AF04-D03597027FC9}">
      <dgm:prSet phldrT="[文本]" custT="1"/>
      <dgm:spPr/>
      <dgm:t>
        <a:bodyPr/>
        <a:lstStyle/>
        <a:p>
          <a:r>
            <a:rPr lang="zh-CN" altLang="en-US" sz="1600" dirty="0">
              <a:latin typeface="Microsoft YaHei" panose="020B0503020204020204" pitchFamily="34" charset="-122"/>
              <a:ea typeface="Microsoft YaHei" panose="020B0503020204020204" pitchFamily="34" charset="-122"/>
            </a:rPr>
            <a:t>节奏型</a:t>
          </a:r>
          <a:endParaRPr lang="en-US" altLang="zh-CN" sz="1600" dirty="0">
            <a:latin typeface="Microsoft YaHei" panose="020B0503020204020204" pitchFamily="34" charset="-122"/>
            <a:ea typeface="Microsoft YaHei" panose="020B0503020204020204" pitchFamily="34" charset="-122"/>
          </a:endParaRPr>
        </a:p>
        <a:p>
          <a:r>
            <a:rPr lang="zh-CN" altLang="en-US" sz="1400" dirty="0">
              <a:latin typeface="Microsoft YaHei" panose="020B0503020204020204" pitchFamily="34" charset="-122"/>
              <a:ea typeface="Microsoft YaHei" panose="020B0503020204020204" pitchFamily="34" charset="-122"/>
            </a:rPr>
            <a:t>（模式感）</a:t>
          </a:r>
        </a:p>
      </dgm:t>
    </dgm:pt>
    <dgm:pt modelId="{7FA86423-F0AC-0348-BFE3-C8A72D934A48}" type="parTrans" cxnId="{4AD3355A-AB6D-394C-96A2-A79C52C79B73}">
      <dgm:prSet/>
      <dgm:spPr/>
      <dgm:t>
        <a:bodyPr/>
        <a:lstStyle/>
        <a:p>
          <a:endParaRPr lang="zh-CN" altLang="en-US" sz="2000">
            <a:latin typeface="Microsoft YaHei" panose="020B0503020204020204" pitchFamily="34" charset="-122"/>
            <a:ea typeface="Microsoft YaHei" panose="020B0503020204020204" pitchFamily="34" charset="-122"/>
          </a:endParaRPr>
        </a:p>
      </dgm:t>
    </dgm:pt>
    <dgm:pt modelId="{43795D63-F383-EB46-AB80-1AB48416D4A6}" type="sibTrans" cxnId="{4AD3355A-AB6D-394C-96A2-A79C52C79B73}">
      <dgm:prSet/>
      <dgm:spPr/>
      <dgm:t>
        <a:bodyPr/>
        <a:lstStyle/>
        <a:p>
          <a:endParaRPr lang="zh-CN" altLang="en-US" sz="2000">
            <a:latin typeface="Microsoft YaHei" panose="020B0503020204020204" pitchFamily="34" charset="-122"/>
            <a:ea typeface="Microsoft YaHei" panose="020B0503020204020204" pitchFamily="34" charset="-122"/>
          </a:endParaRPr>
        </a:p>
      </dgm:t>
    </dgm:pt>
    <dgm:pt modelId="{05571373-E9F8-984F-86A0-C7A74D2ADCFF}" type="pres">
      <dgm:prSet presAssocID="{02EE6EF9-3144-4542-B526-466C3E2290DA}" presName="composite" presStyleCnt="0">
        <dgm:presLayoutVars>
          <dgm:chMax val="1"/>
          <dgm:dir/>
          <dgm:resizeHandles val="exact"/>
        </dgm:presLayoutVars>
      </dgm:prSet>
      <dgm:spPr/>
    </dgm:pt>
    <dgm:pt modelId="{6D54597D-8C64-8749-9501-9A82DCC63291}" type="pres">
      <dgm:prSet presAssocID="{02EE6EF9-3144-4542-B526-466C3E2290DA}" presName="radial" presStyleCnt="0">
        <dgm:presLayoutVars>
          <dgm:animLvl val="ctr"/>
        </dgm:presLayoutVars>
      </dgm:prSet>
      <dgm:spPr/>
    </dgm:pt>
    <dgm:pt modelId="{D88BB289-456B-C940-BCD7-57CF76C7A43A}" type="pres">
      <dgm:prSet presAssocID="{92121EE5-050A-CE4D-88A5-E036482FAAF5}" presName="centerShape" presStyleLbl="vennNode1" presStyleIdx="0" presStyleCnt="4" custScaleX="81666" custScaleY="81061" custLinFactNeighborX="-299" custLinFactNeighborY="598"/>
      <dgm:spPr/>
    </dgm:pt>
    <dgm:pt modelId="{44E48DA2-C491-6C4F-B069-32F9347BDBC9}" type="pres">
      <dgm:prSet presAssocID="{C215A439-06CC-154A-B93B-2ABA2166A65B}" presName="node" presStyleLbl="vennNode1" presStyleIdx="1" presStyleCnt="4" custRadScaleRad="88300">
        <dgm:presLayoutVars>
          <dgm:bulletEnabled val="1"/>
        </dgm:presLayoutVars>
      </dgm:prSet>
      <dgm:spPr/>
    </dgm:pt>
    <dgm:pt modelId="{B5231FAB-D516-A148-B72E-C1345A53DCCB}" type="pres">
      <dgm:prSet presAssocID="{A76B4A03-CFC1-6E4D-AB79-184B5FF7DE5D}" presName="node" presStyleLbl="vennNode1" presStyleIdx="2" presStyleCnt="4" custRadScaleRad="90895" custRadScaleInc="-782">
        <dgm:presLayoutVars>
          <dgm:bulletEnabled val="1"/>
        </dgm:presLayoutVars>
      </dgm:prSet>
      <dgm:spPr/>
    </dgm:pt>
    <dgm:pt modelId="{A58454F2-D549-3342-8391-A354F8CD5532}" type="pres">
      <dgm:prSet presAssocID="{66E3432B-C31C-124F-AF04-D03597027FC9}" presName="node" presStyleLbl="vennNode1" presStyleIdx="3" presStyleCnt="4" custRadScaleRad="92750" custRadScaleInc="-223">
        <dgm:presLayoutVars>
          <dgm:bulletEnabled val="1"/>
        </dgm:presLayoutVars>
      </dgm:prSet>
      <dgm:spPr/>
    </dgm:pt>
  </dgm:ptLst>
  <dgm:cxnLst>
    <dgm:cxn modelId="{168DF707-23F0-154A-AC89-7A9E4DAF6BFC}" type="presOf" srcId="{C215A439-06CC-154A-B93B-2ABA2166A65B}" destId="{44E48DA2-C491-6C4F-B069-32F9347BDBC9}" srcOrd="0" destOrd="0" presId="urn:microsoft.com/office/officeart/2005/8/layout/radial3"/>
    <dgm:cxn modelId="{8C3D4239-F568-CF47-9561-E358EE6F6B79}" srcId="{92121EE5-050A-CE4D-88A5-E036482FAAF5}" destId="{A76B4A03-CFC1-6E4D-AB79-184B5FF7DE5D}" srcOrd="1" destOrd="0" parTransId="{27252A4A-5E78-1143-B99C-D5C2D9C6E817}" sibTransId="{5F781313-C962-8D4B-93BE-B4884CD7A384}"/>
    <dgm:cxn modelId="{4AD3355A-AB6D-394C-96A2-A79C52C79B73}" srcId="{92121EE5-050A-CE4D-88A5-E036482FAAF5}" destId="{66E3432B-C31C-124F-AF04-D03597027FC9}" srcOrd="2" destOrd="0" parTransId="{7FA86423-F0AC-0348-BFE3-C8A72D934A48}" sibTransId="{43795D63-F383-EB46-AB80-1AB48416D4A6}"/>
    <dgm:cxn modelId="{F0F02581-A1F6-AB44-9C3B-02A82439A03E}" srcId="{02EE6EF9-3144-4542-B526-466C3E2290DA}" destId="{92121EE5-050A-CE4D-88A5-E036482FAAF5}" srcOrd="0" destOrd="0" parTransId="{D5834164-8E60-3D41-B719-4CBA1FB42160}" sibTransId="{9F64E972-0F62-F243-8C26-28323BE3CAEA}"/>
    <dgm:cxn modelId="{42322895-B332-B447-A811-929454AA5961}" srcId="{92121EE5-050A-CE4D-88A5-E036482FAAF5}" destId="{C215A439-06CC-154A-B93B-2ABA2166A65B}" srcOrd="0" destOrd="0" parTransId="{AD9462A9-ADAB-3344-8245-0C3AE029DE21}" sibTransId="{24E99493-1635-F541-8835-41F841893D84}"/>
    <dgm:cxn modelId="{98F5D5BD-2457-A849-B818-1B203534BD5A}" type="presOf" srcId="{66E3432B-C31C-124F-AF04-D03597027FC9}" destId="{A58454F2-D549-3342-8391-A354F8CD5532}" srcOrd="0" destOrd="0" presId="urn:microsoft.com/office/officeart/2005/8/layout/radial3"/>
    <dgm:cxn modelId="{23EF5CD0-99DA-AA44-8507-1B9E928FB544}" type="presOf" srcId="{92121EE5-050A-CE4D-88A5-E036482FAAF5}" destId="{D88BB289-456B-C940-BCD7-57CF76C7A43A}" srcOrd="0" destOrd="0" presId="urn:microsoft.com/office/officeart/2005/8/layout/radial3"/>
    <dgm:cxn modelId="{B5C27BF3-9705-9C4C-BC68-FD59AB17D772}" type="presOf" srcId="{02EE6EF9-3144-4542-B526-466C3E2290DA}" destId="{05571373-E9F8-984F-86A0-C7A74D2ADCFF}" srcOrd="0" destOrd="0" presId="urn:microsoft.com/office/officeart/2005/8/layout/radial3"/>
    <dgm:cxn modelId="{EB8FA1FA-6D03-7C4B-A3B8-E59B17F0B6D2}" type="presOf" srcId="{A76B4A03-CFC1-6E4D-AB79-184B5FF7DE5D}" destId="{B5231FAB-D516-A148-B72E-C1345A53DCCB}" srcOrd="0" destOrd="0" presId="urn:microsoft.com/office/officeart/2005/8/layout/radial3"/>
    <dgm:cxn modelId="{DEB41C2F-29DF-9647-9EAD-000659E28F8D}" type="presParOf" srcId="{05571373-E9F8-984F-86A0-C7A74D2ADCFF}" destId="{6D54597D-8C64-8749-9501-9A82DCC63291}" srcOrd="0" destOrd="0" presId="urn:microsoft.com/office/officeart/2005/8/layout/radial3"/>
    <dgm:cxn modelId="{B3B2F830-A50A-5B43-B2E3-61DCE06AF979}" type="presParOf" srcId="{6D54597D-8C64-8749-9501-9A82DCC63291}" destId="{D88BB289-456B-C940-BCD7-57CF76C7A43A}" srcOrd="0" destOrd="0" presId="urn:microsoft.com/office/officeart/2005/8/layout/radial3"/>
    <dgm:cxn modelId="{3DE59790-1D24-C74E-8E15-63A8DEC9CCB4}" type="presParOf" srcId="{6D54597D-8C64-8749-9501-9A82DCC63291}" destId="{44E48DA2-C491-6C4F-B069-32F9347BDBC9}" srcOrd="1" destOrd="0" presId="urn:microsoft.com/office/officeart/2005/8/layout/radial3"/>
    <dgm:cxn modelId="{A8741516-0D41-C047-AF18-A366AE751375}" type="presParOf" srcId="{6D54597D-8C64-8749-9501-9A82DCC63291}" destId="{B5231FAB-D516-A148-B72E-C1345A53DCCB}" srcOrd="2" destOrd="0" presId="urn:microsoft.com/office/officeart/2005/8/layout/radial3"/>
    <dgm:cxn modelId="{DBB7F25B-4488-E842-AA38-FE1F16FC1F84}" type="presParOf" srcId="{6D54597D-8C64-8749-9501-9A82DCC63291}" destId="{A58454F2-D549-3342-8391-A354F8CD5532}" srcOrd="3"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DDAE11-52A8-2A42-8569-3862D7A97E46}">
      <dsp:nvSpPr>
        <dsp:cNvPr id="0" name=""/>
        <dsp:cNvSpPr/>
      </dsp:nvSpPr>
      <dsp:spPr>
        <a:xfrm>
          <a:off x="3246727" y="423945"/>
          <a:ext cx="2832761" cy="2832761"/>
        </a:xfrm>
        <a:prstGeom prst="blockArc">
          <a:avLst>
            <a:gd name="adj1" fmla="val 10800000"/>
            <a:gd name="adj2" fmla="val 16200000"/>
            <a:gd name="adj3" fmla="val 4634"/>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ACF573B-0000-C847-958C-56A7D3384E72}">
      <dsp:nvSpPr>
        <dsp:cNvPr id="0" name=""/>
        <dsp:cNvSpPr/>
      </dsp:nvSpPr>
      <dsp:spPr>
        <a:xfrm>
          <a:off x="3246727" y="423945"/>
          <a:ext cx="2832761" cy="2832761"/>
        </a:xfrm>
        <a:prstGeom prst="blockArc">
          <a:avLst>
            <a:gd name="adj1" fmla="val 5400000"/>
            <a:gd name="adj2" fmla="val 10800000"/>
            <a:gd name="adj3" fmla="val 4634"/>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F02AB7D-3F44-7A49-928E-AA8952B0BB4B}">
      <dsp:nvSpPr>
        <dsp:cNvPr id="0" name=""/>
        <dsp:cNvSpPr/>
      </dsp:nvSpPr>
      <dsp:spPr>
        <a:xfrm>
          <a:off x="3246727" y="423945"/>
          <a:ext cx="2832761" cy="2832761"/>
        </a:xfrm>
        <a:prstGeom prst="blockArc">
          <a:avLst>
            <a:gd name="adj1" fmla="val 0"/>
            <a:gd name="adj2" fmla="val 5400000"/>
            <a:gd name="adj3" fmla="val 4634"/>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7974523-ACD3-DF4C-B8FA-745B6166E400}">
      <dsp:nvSpPr>
        <dsp:cNvPr id="0" name=""/>
        <dsp:cNvSpPr/>
      </dsp:nvSpPr>
      <dsp:spPr>
        <a:xfrm>
          <a:off x="3246727" y="423945"/>
          <a:ext cx="2832761" cy="2832761"/>
        </a:xfrm>
        <a:prstGeom prst="blockArc">
          <a:avLst>
            <a:gd name="adj1" fmla="val 16200000"/>
            <a:gd name="adj2" fmla="val 0"/>
            <a:gd name="adj3" fmla="val 4634"/>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781A7D8-5AF1-9A47-8B05-B4EABD46AB60}">
      <dsp:nvSpPr>
        <dsp:cNvPr id="0" name=""/>
        <dsp:cNvSpPr/>
      </dsp:nvSpPr>
      <dsp:spPr>
        <a:xfrm>
          <a:off x="4011912" y="1189130"/>
          <a:ext cx="1302391" cy="130239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t>音乐构架</a:t>
          </a:r>
        </a:p>
      </dsp:txBody>
      <dsp:txXfrm>
        <a:off x="4202643" y="1379861"/>
        <a:ext cx="920929" cy="920929"/>
      </dsp:txXfrm>
    </dsp:sp>
    <dsp:sp modelId="{172EA8D6-FB46-7945-A217-D74B46604F7C}">
      <dsp:nvSpPr>
        <dsp:cNvPr id="0" name=""/>
        <dsp:cNvSpPr/>
      </dsp:nvSpPr>
      <dsp:spPr>
        <a:xfrm>
          <a:off x="4207271" y="929"/>
          <a:ext cx="911674" cy="911674"/>
        </a:xfrm>
        <a:prstGeom prst="ellipse">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zh-CN" altLang="en-US" sz="2300" kern="1200" dirty="0"/>
            <a:t>音高</a:t>
          </a:r>
        </a:p>
      </dsp:txBody>
      <dsp:txXfrm>
        <a:off x="4340783" y="134441"/>
        <a:ext cx="644650" cy="644650"/>
      </dsp:txXfrm>
    </dsp:sp>
    <dsp:sp modelId="{A20A68E4-5255-654C-938E-32C690A6E027}">
      <dsp:nvSpPr>
        <dsp:cNvPr id="0" name=""/>
        <dsp:cNvSpPr/>
      </dsp:nvSpPr>
      <dsp:spPr>
        <a:xfrm>
          <a:off x="5590831" y="1384489"/>
          <a:ext cx="911674" cy="91167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zh-CN" altLang="en-US" sz="2300" kern="1200" dirty="0"/>
            <a:t>音色</a:t>
          </a:r>
        </a:p>
      </dsp:txBody>
      <dsp:txXfrm>
        <a:off x="5724343" y="1518001"/>
        <a:ext cx="644650" cy="644650"/>
      </dsp:txXfrm>
    </dsp:sp>
    <dsp:sp modelId="{652B3FDF-2F1C-3348-8BBD-1EDAB86BC60F}">
      <dsp:nvSpPr>
        <dsp:cNvPr id="0" name=""/>
        <dsp:cNvSpPr/>
      </dsp:nvSpPr>
      <dsp:spPr>
        <a:xfrm>
          <a:off x="4207271" y="2768049"/>
          <a:ext cx="911674" cy="911674"/>
        </a:xfrm>
        <a:prstGeom prst="ellipse">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zh-CN" altLang="en-US" sz="2300" kern="1200" dirty="0"/>
            <a:t>节奏</a:t>
          </a:r>
        </a:p>
      </dsp:txBody>
      <dsp:txXfrm>
        <a:off x="4340783" y="2901561"/>
        <a:ext cx="644650" cy="644650"/>
      </dsp:txXfrm>
    </dsp:sp>
    <dsp:sp modelId="{928CDAE3-48DE-E14A-9254-26E05601D677}">
      <dsp:nvSpPr>
        <dsp:cNvPr id="0" name=""/>
        <dsp:cNvSpPr/>
      </dsp:nvSpPr>
      <dsp:spPr>
        <a:xfrm>
          <a:off x="2823711" y="1384489"/>
          <a:ext cx="911674" cy="91167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zh-CN" altLang="en-US" sz="2300" kern="1200" dirty="0"/>
            <a:t>响度</a:t>
          </a:r>
        </a:p>
      </dsp:txBody>
      <dsp:txXfrm>
        <a:off x="2957223" y="1518001"/>
        <a:ext cx="644650" cy="6446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DDAE11-52A8-2A42-8569-3862D7A97E46}">
      <dsp:nvSpPr>
        <dsp:cNvPr id="0" name=""/>
        <dsp:cNvSpPr/>
      </dsp:nvSpPr>
      <dsp:spPr>
        <a:xfrm>
          <a:off x="3246727" y="423945"/>
          <a:ext cx="2832761" cy="2832761"/>
        </a:xfrm>
        <a:prstGeom prst="blockArc">
          <a:avLst>
            <a:gd name="adj1" fmla="val 10800000"/>
            <a:gd name="adj2" fmla="val 16200000"/>
            <a:gd name="adj3" fmla="val 4634"/>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ACF573B-0000-C847-958C-56A7D3384E72}">
      <dsp:nvSpPr>
        <dsp:cNvPr id="0" name=""/>
        <dsp:cNvSpPr/>
      </dsp:nvSpPr>
      <dsp:spPr>
        <a:xfrm>
          <a:off x="3246727" y="423945"/>
          <a:ext cx="2832761" cy="2832761"/>
        </a:xfrm>
        <a:prstGeom prst="blockArc">
          <a:avLst>
            <a:gd name="adj1" fmla="val 5400000"/>
            <a:gd name="adj2" fmla="val 10800000"/>
            <a:gd name="adj3" fmla="val 4634"/>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F02AB7D-3F44-7A49-928E-AA8952B0BB4B}">
      <dsp:nvSpPr>
        <dsp:cNvPr id="0" name=""/>
        <dsp:cNvSpPr/>
      </dsp:nvSpPr>
      <dsp:spPr>
        <a:xfrm>
          <a:off x="3246727" y="423945"/>
          <a:ext cx="2832761" cy="2832761"/>
        </a:xfrm>
        <a:prstGeom prst="blockArc">
          <a:avLst>
            <a:gd name="adj1" fmla="val 0"/>
            <a:gd name="adj2" fmla="val 5400000"/>
            <a:gd name="adj3" fmla="val 4634"/>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7974523-ACD3-DF4C-B8FA-745B6166E400}">
      <dsp:nvSpPr>
        <dsp:cNvPr id="0" name=""/>
        <dsp:cNvSpPr/>
      </dsp:nvSpPr>
      <dsp:spPr>
        <a:xfrm>
          <a:off x="3246727" y="423945"/>
          <a:ext cx="2832761" cy="2832761"/>
        </a:xfrm>
        <a:prstGeom prst="blockArc">
          <a:avLst>
            <a:gd name="adj1" fmla="val 16200000"/>
            <a:gd name="adj2" fmla="val 0"/>
            <a:gd name="adj3" fmla="val 4634"/>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781A7D8-5AF1-9A47-8B05-B4EABD46AB60}">
      <dsp:nvSpPr>
        <dsp:cNvPr id="0" name=""/>
        <dsp:cNvSpPr/>
      </dsp:nvSpPr>
      <dsp:spPr>
        <a:xfrm>
          <a:off x="4011912" y="1189130"/>
          <a:ext cx="1302391" cy="130239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t>音乐构架</a:t>
          </a:r>
        </a:p>
      </dsp:txBody>
      <dsp:txXfrm>
        <a:off x="4202643" y="1379861"/>
        <a:ext cx="920929" cy="920929"/>
      </dsp:txXfrm>
    </dsp:sp>
    <dsp:sp modelId="{172EA8D6-FB46-7945-A217-D74B46604F7C}">
      <dsp:nvSpPr>
        <dsp:cNvPr id="0" name=""/>
        <dsp:cNvSpPr/>
      </dsp:nvSpPr>
      <dsp:spPr>
        <a:xfrm>
          <a:off x="4207271" y="929"/>
          <a:ext cx="911674" cy="911674"/>
        </a:xfrm>
        <a:prstGeom prst="ellipse">
          <a:avLst/>
        </a:prstGeom>
        <a:solidFill>
          <a:schemeClr val="bg2">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zh-CN" altLang="en-US" sz="2300" kern="1200" dirty="0"/>
            <a:t>音高</a:t>
          </a:r>
        </a:p>
      </dsp:txBody>
      <dsp:txXfrm>
        <a:off x="4340783" y="134441"/>
        <a:ext cx="644650" cy="644650"/>
      </dsp:txXfrm>
    </dsp:sp>
    <dsp:sp modelId="{A20A68E4-5255-654C-938E-32C690A6E027}">
      <dsp:nvSpPr>
        <dsp:cNvPr id="0" name=""/>
        <dsp:cNvSpPr/>
      </dsp:nvSpPr>
      <dsp:spPr>
        <a:xfrm>
          <a:off x="5590831" y="1384489"/>
          <a:ext cx="911674" cy="911674"/>
        </a:xfrm>
        <a:prstGeom prst="ellipse">
          <a:avLst/>
        </a:prstGeom>
        <a:solidFill>
          <a:schemeClr val="bg2">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zh-CN" altLang="en-US" sz="2300" kern="1200" dirty="0"/>
            <a:t>音色</a:t>
          </a:r>
        </a:p>
      </dsp:txBody>
      <dsp:txXfrm>
        <a:off x="5724343" y="1518001"/>
        <a:ext cx="644650" cy="644650"/>
      </dsp:txXfrm>
    </dsp:sp>
    <dsp:sp modelId="{652B3FDF-2F1C-3348-8BBD-1EDAB86BC60F}">
      <dsp:nvSpPr>
        <dsp:cNvPr id="0" name=""/>
        <dsp:cNvSpPr/>
      </dsp:nvSpPr>
      <dsp:spPr>
        <a:xfrm>
          <a:off x="4207271" y="2768049"/>
          <a:ext cx="911674" cy="911674"/>
        </a:xfrm>
        <a:prstGeom prst="ellipse">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zh-CN" altLang="en-US" sz="2300" kern="1200" dirty="0"/>
            <a:t>节奏</a:t>
          </a:r>
        </a:p>
      </dsp:txBody>
      <dsp:txXfrm>
        <a:off x="4340783" y="2901561"/>
        <a:ext cx="644650" cy="644650"/>
      </dsp:txXfrm>
    </dsp:sp>
    <dsp:sp modelId="{928CDAE3-48DE-E14A-9254-26E05601D677}">
      <dsp:nvSpPr>
        <dsp:cNvPr id="0" name=""/>
        <dsp:cNvSpPr/>
      </dsp:nvSpPr>
      <dsp:spPr>
        <a:xfrm>
          <a:off x="2823711" y="1384489"/>
          <a:ext cx="911674" cy="911674"/>
        </a:xfrm>
        <a:prstGeom prst="ellipse">
          <a:avLst/>
        </a:prstGeom>
        <a:solidFill>
          <a:schemeClr val="bg2">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zh-CN" altLang="en-US" sz="2300" kern="1200" dirty="0"/>
            <a:t>响度</a:t>
          </a:r>
        </a:p>
      </dsp:txBody>
      <dsp:txXfrm>
        <a:off x="2957223" y="1518001"/>
        <a:ext cx="644650" cy="6446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8BB289-456B-C940-BCD7-57CF76C7A43A}">
      <dsp:nvSpPr>
        <dsp:cNvPr id="0" name=""/>
        <dsp:cNvSpPr/>
      </dsp:nvSpPr>
      <dsp:spPr>
        <a:xfrm>
          <a:off x="2413790" y="1296070"/>
          <a:ext cx="1827700" cy="1814160"/>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r>
            <a:rPr lang="zh-CN" altLang="en-US" sz="3600" kern="1200" dirty="0">
              <a:latin typeface="Microsoft YaHei" panose="020B0503020204020204" pitchFamily="34" charset="-122"/>
              <a:ea typeface="Microsoft YaHei" panose="020B0503020204020204" pitchFamily="34" charset="-122"/>
            </a:rPr>
            <a:t>节奏</a:t>
          </a:r>
        </a:p>
      </dsp:txBody>
      <dsp:txXfrm>
        <a:off x="2681450" y="1561748"/>
        <a:ext cx="1292380" cy="1282804"/>
      </dsp:txXfrm>
    </dsp:sp>
    <dsp:sp modelId="{44E48DA2-C491-6C4F-B069-32F9347BDBC9}">
      <dsp:nvSpPr>
        <dsp:cNvPr id="0" name=""/>
        <dsp:cNvSpPr/>
      </dsp:nvSpPr>
      <dsp:spPr>
        <a:xfrm>
          <a:off x="2776843" y="340547"/>
          <a:ext cx="1119009" cy="1119009"/>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Microsoft YaHei" panose="020B0503020204020204" pitchFamily="34" charset="-122"/>
              <a:ea typeface="Microsoft YaHei" panose="020B0503020204020204" pitchFamily="34" charset="-122"/>
            </a:rPr>
            <a:t>节拍</a:t>
          </a:r>
          <a:endParaRPr lang="en-US" altLang="zh-CN" sz="1600" kern="1200" dirty="0">
            <a:latin typeface="Microsoft YaHei" panose="020B0503020204020204" pitchFamily="34" charset="-122"/>
            <a:ea typeface="Microsoft YaHei" panose="020B0503020204020204" pitchFamily="34" charset="-122"/>
          </a:endParaRPr>
        </a:p>
        <a:p>
          <a:pPr marL="0" lvl="0" indent="0" algn="ctr" defTabSz="711200">
            <a:lnSpc>
              <a:spcPct val="90000"/>
            </a:lnSpc>
            <a:spcBef>
              <a:spcPct val="0"/>
            </a:spcBef>
            <a:spcAft>
              <a:spcPct val="35000"/>
            </a:spcAft>
            <a:buNone/>
          </a:pPr>
          <a:r>
            <a:rPr lang="zh-CN" altLang="en-US" sz="1400" kern="1200" dirty="0">
              <a:latin typeface="Microsoft YaHei" panose="020B0503020204020204" pitchFamily="34" charset="-122"/>
              <a:ea typeface="Microsoft YaHei" panose="020B0503020204020204" pitchFamily="34" charset="-122"/>
            </a:rPr>
            <a:t>（节拍感）</a:t>
          </a:r>
        </a:p>
      </dsp:txBody>
      <dsp:txXfrm>
        <a:off x="2940718" y="504422"/>
        <a:ext cx="791259" cy="791259"/>
      </dsp:txXfrm>
    </dsp:sp>
    <dsp:sp modelId="{B5231FAB-D516-A148-B72E-C1345A53DCCB}">
      <dsp:nvSpPr>
        <dsp:cNvPr id="0" name=""/>
        <dsp:cNvSpPr/>
      </dsp:nvSpPr>
      <dsp:spPr>
        <a:xfrm>
          <a:off x="3933683" y="2269105"/>
          <a:ext cx="1119009" cy="1119009"/>
        </a:xfrm>
        <a:prstGeom prst="ellipse">
          <a:avLst/>
        </a:prstGeom>
        <a:solidFill>
          <a:schemeClr val="accent1">
            <a:hueOff val="0"/>
            <a:satOff val="0"/>
            <a:lum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solidFill>
                <a:schemeClr val="bg1"/>
              </a:solidFill>
              <a:latin typeface="Microsoft YaHei" panose="020B0503020204020204" pitchFamily="34" charset="-122"/>
              <a:ea typeface="Microsoft YaHei" panose="020B0503020204020204" pitchFamily="34" charset="-122"/>
            </a:rPr>
            <a:t>速度</a:t>
          </a:r>
          <a:endParaRPr lang="en-US" altLang="zh-CN" sz="1600" kern="1200" dirty="0">
            <a:solidFill>
              <a:schemeClr val="bg1"/>
            </a:solidFill>
            <a:latin typeface="Microsoft YaHei" panose="020B0503020204020204" pitchFamily="34" charset="-122"/>
            <a:ea typeface="Microsoft YaHei" panose="020B0503020204020204" pitchFamily="34" charset="-122"/>
          </a:endParaRPr>
        </a:p>
        <a:p>
          <a:pPr marL="0" lvl="0" indent="0" algn="ctr" defTabSz="711200">
            <a:lnSpc>
              <a:spcPct val="90000"/>
            </a:lnSpc>
            <a:spcBef>
              <a:spcPct val="0"/>
            </a:spcBef>
            <a:spcAft>
              <a:spcPct val="35000"/>
            </a:spcAft>
            <a:buNone/>
          </a:pPr>
          <a:r>
            <a:rPr lang="zh-CN" altLang="en-US" sz="1400" kern="1200" dirty="0">
              <a:solidFill>
                <a:schemeClr val="bg1"/>
              </a:solidFill>
              <a:latin typeface="Microsoft YaHei" panose="020B0503020204020204" pitchFamily="34" charset="-122"/>
              <a:ea typeface="Microsoft YaHei" panose="020B0503020204020204" pitchFamily="34" charset="-122"/>
            </a:rPr>
            <a:t>（速度感）</a:t>
          </a:r>
        </a:p>
      </dsp:txBody>
      <dsp:txXfrm>
        <a:off x="4097558" y="2432980"/>
        <a:ext cx="791259" cy="791259"/>
      </dsp:txXfrm>
    </dsp:sp>
    <dsp:sp modelId="{A58454F2-D549-3342-8391-A354F8CD5532}">
      <dsp:nvSpPr>
        <dsp:cNvPr id="0" name=""/>
        <dsp:cNvSpPr/>
      </dsp:nvSpPr>
      <dsp:spPr>
        <a:xfrm>
          <a:off x="1610461" y="2306925"/>
          <a:ext cx="1119009" cy="1119009"/>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Microsoft YaHei" panose="020B0503020204020204" pitchFamily="34" charset="-122"/>
              <a:ea typeface="Microsoft YaHei" panose="020B0503020204020204" pitchFamily="34" charset="-122"/>
            </a:rPr>
            <a:t>节奏型</a:t>
          </a:r>
          <a:endParaRPr lang="en-US" altLang="zh-CN" sz="1600" kern="1200" dirty="0">
            <a:latin typeface="Microsoft YaHei" panose="020B0503020204020204" pitchFamily="34" charset="-122"/>
            <a:ea typeface="Microsoft YaHei" panose="020B0503020204020204" pitchFamily="34" charset="-122"/>
          </a:endParaRPr>
        </a:p>
        <a:p>
          <a:pPr marL="0" lvl="0" indent="0" algn="ctr" defTabSz="711200">
            <a:lnSpc>
              <a:spcPct val="90000"/>
            </a:lnSpc>
            <a:spcBef>
              <a:spcPct val="0"/>
            </a:spcBef>
            <a:spcAft>
              <a:spcPct val="35000"/>
            </a:spcAft>
            <a:buNone/>
          </a:pPr>
          <a:r>
            <a:rPr lang="zh-CN" altLang="en-US" sz="1400" kern="1200" dirty="0">
              <a:latin typeface="Microsoft YaHei" panose="020B0503020204020204" pitchFamily="34" charset="-122"/>
              <a:ea typeface="Microsoft YaHei" panose="020B0503020204020204" pitchFamily="34" charset="-122"/>
            </a:rPr>
            <a:t>（模式感）</a:t>
          </a:r>
        </a:p>
      </dsp:txBody>
      <dsp:txXfrm>
        <a:off x="1774336" y="2470800"/>
        <a:ext cx="791259" cy="791259"/>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EC03DE3-F281-227B-EA93-F0C273DCF88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61EC92B6-AD32-9361-3658-6E8839EEFE8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B489B9-D1E3-1943-8C5F-B335D3A01C5A}" type="datetimeFigureOut">
              <a:rPr kumimoji="1" lang="zh-CN" altLang="en-US" smtClean="0"/>
              <a:t>2023/8/31</a:t>
            </a:fld>
            <a:endParaRPr kumimoji="1" lang="zh-CN" altLang="en-US"/>
          </a:p>
        </p:txBody>
      </p:sp>
      <p:sp>
        <p:nvSpPr>
          <p:cNvPr id="4" name="页脚占位符 3">
            <a:extLst>
              <a:ext uri="{FF2B5EF4-FFF2-40B4-BE49-F238E27FC236}">
                <a16:creationId xmlns:a16="http://schemas.microsoft.com/office/drawing/2014/main" id="{85AA6410-A984-617A-739C-8CCE6F8D869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6194361C-C161-E4C3-3C80-328710D31CF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10C8A56-5C0C-934F-A327-CD56C4953DFE}" type="slidenum">
              <a:rPr kumimoji="1" lang="zh-CN" altLang="en-US" smtClean="0"/>
              <a:t>‹#›</a:t>
            </a:fld>
            <a:endParaRPr kumimoji="1" lang="zh-CN" altLang="en-US"/>
          </a:p>
        </p:txBody>
      </p:sp>
    </p:spTree>
    <p:extLst>
      <p:ext uri="{BB962C8B-B14F-4D97-AF65-F5344CB8AC3E}">
        <p14:creationId xmlns:p14="http://schemas.microsoft.com/office/powerpoint/2010/main" val="33686239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A53403-0FA5-574D-9AB6-84315FF418CC}" type="datetimeFigureOut">
              <a:rPr kumimoji="1" lang="zh-CN" altLang="en-US" smtClean="0"/>
              <a:t>2023/8/31</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A3482D-F046-0240-A6CA-ED6C30B306EA}" type="slidenum">
              <a:rPr kumimoji="1" lang="zh-CN" altLang="en-US" smtClean="0"/>
              <a:t>‹#›</a:t>
            </a:fld>
            <a:endParaRPr kumimoji="1" lang="zh-CN" altLang="en-US"/>
          </a:p>
        </p:txBody>
      </p:sp>
    </p:spTree>
    <p:extLst>
      <p:ext uri="{BB962C8B-B14F-4D97-AF65-F5344CB8AC3E}">
        <p14:creationId xmlns:p14="http://schemas.microsoft.com/office/powerpoint/2010/main" val="25717352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19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各位老师好，感谢老师们来参加我的开题报告，我的研究主题是音乐流派对驾驶行为影响的多维分析：个人偏好与音乐元素的影响。我的指导老师是葛燕老师</a:t>
            </a:r>
          </a:p>
        </p:txBody>
      </p:sp>
      <p:sp>
        <p:nvSpPr>
          <p:cNvPr id="819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Arial" panose="020B0604020202090204" pitchFamily="34" charset="0"/>
                <a:ea typeface="华文中宋" panose="02010600040101010101" charset="-122"/>
              </a:defRPr>
            </a:lvl1pPr>
            <a:lvl2pPr marL="742950" indent="-285750">
              <a:defRPr sz="2000" b="1">
                <a:solidFill>
                  <a:schemeClr val="tx1"/>
                </a:solidFill>
                <a:latin typeface="Arial" panose="020B0604020202090204" pitchFamily="34" charset="0"/>
                <a:ea typeface="华文中宋" panose="02010600040101010101" charset="-122"/>
              </a:defRPr>
            </a:lvl2pPr>
            <a:lvl3pPr marL="1143000" indent="-228600">
              <a:defRPr sz="2000" b="1">
                <a:solidFill>
                  <a:schemeClr val="tx1"/>
                </a:solidFill>
                <a:latin typeface="Arial" panose="020B0604020202090204" pitchFamily="34" charset="0"/>
                <a:ea typeface="华文中宋" panose="02010600040101010101" charset="-122"/>
              </a:defRPr>
            </a:lvl3pPr>
            <a:lvl4pPr marL="1600200" indent="-228600">
              <a:defRPr sz="2000" b="1">
                <a:solidFill>
                  <a:schemeClr val="tx1"/>
                </a:solidFill>
                <a:latin typeface="Arial" panose="020B0604020202090204" pitchFamily="34" charset="0"/>
                <a:ea typeface="华文中宋" panose="02010600040101010101" charset="-122"/>
              </a:defRPr>
            </a:lvl4pPr>
            <a:lvl5pPr marL="2057400" indent="-228600">
              <a:defRPr sz="2000" b="1">
                <a:solidFill>
                  <a:schemeClr val="tx1"/>
                </a:solidFill>
                <a:latin typeface="Arial" panose="020B0604020202090204" pitchFamily="34" charset="0"/>
                <a:ea typeface="华文中宋" panose="02010600040101010101" charset="-122"/>
              </a:defRPr>
            </a:lvl5pPr>
            <a:lvl6pPr marL="2514600" indent="-228600" eaLnBrk="0" fontAlgn="base" hangingPunct="0">
              <a:spcBef>
                <a:spcPct val="0"/>
              </a:spcBef>
              <a:spcAft>
                <a:spcPct val="0"/>
              </a:spcAft>
              <a:defRPr sz="2000" b="1">
                <a:solidFill>
                  <a:schemeClr val="tx1"/>
                </a:solidFill>
                <a:latin typeface="Arial" panose="020B0604020202090204" pitchFamily="34" charset="0"/>
                <a:ea typeface="华文中宋" panose="02010600040101010101" charset="-122"/>
              </a:defRPr>
            </a:lvl6pPr>
            <a:lvl7pPr marL="2971800" indent="-228600" eaLnBrk="0" fontAlgn="base" hangingPunct="0">
              <a:spcBef>
                <a:spcPct val="0"/>
              </a:spcBef>
              <a:spcAft>
                <a:spcPct val="0"/>
              </a:spcAft>
              <a:defRPr sz="2000" b="1">
                <a:solidFill>
                  <a:schemeClr val="tx1"/>
                </a:solidFill>
                <a:latin typeface="Arial" panose="020B0604020202090204" pitchFamily="34" charset="0"/>
                <a:ea typeface="华文中宋" panose="02010600040101010101" charset="-122"/>
              </a:defRPr>
            </a:lvl7pPr>
            <a:lvl8pPr marL="3429000" indent="-228600" eaLnBrk="0" fontAlgn="base" hangingPunct="0">
              <a:spcBef>
                <a:spcPct val="0"/>
              </a:spcBef>
              <a:spcAft>
                <a:spcPct val="0"/>
              </a:spcAft>
              <a:defRPr sz="2000" b="1">
                <a:solidFill>
                  <a:schemeClr val="tx1"/>
                </a:solidFill>
                <a:latin typeface="Arial" panose="020B0604020202090204" pitchFamily="34" charset="0"/>
                <a:ea typeface="华文中宋" panose="02010600040101010101" charset="-122"/>
              </a:defRPr>
            </a:lvl8pPr>
            <a:lvl9pPr marL="3886200" indent="-228600" eaLnBrk="0" fontAlgn="base" hangingPunct="0">
              <a:spcBef>
                <a:spcPct val="0"/>
              </a:spcBef>
              <a:spcAft>
                <a:spcPct val="0"/>
              </a:spcAft>
              <a:defRPr sz="2000" b="1">
                <a:solidFill>
                  <a:schemeClr val="tx1"/>
                </a:solidFill>
                <a:latin typeface="Arial" panose="020B0604020202090204" pitchFamily="34" charset="0"/>
                <a:ea typeface="华文中宋" panose="02010600040101010101"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F000F6D-74D8-0C46-B428-4DE0EB034880}" type="slidenum">
              <a:rPr kumimoji="0" lang="zh-CN" altLang="en-US" sz="1200" b="0" i="0" u="none" strike="noStrike" kern="1200" cap="none" spc="0" normalizeH="0" baseline="0" noProof="0">
                <a:ln>
                  <a:noFill/>
                </a:ln>
                <a:solidFill>
                  <a:prstClr val="black"/>
                </a:solidFill>
                <a:effectLst/>
                <a:uLnTx/>
                <a:uFillTx/>
                <a:latin typeface="Arial" panose="020B060402020209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zh-CN" sz="1200" b="0" i="0" u="none" strike="noStrike" kern="1200" cap="none" spc="0" normalizeH="0" baseline="0" noProof="0">
              <a:ln>
                <a:noFill/>
              </a:ln>
              <a:solidFill>
                <a:prstClr val="black"/>
              </a:solidFill>
              <a:effectLst/>
              <a:uLnTx/>
              <a:uFillTx/>
              <a:latin typeface="Arial" panose="020B0604020202090204" pitchFamily="34" charset="0"/>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接下来，我将从以下</a:t>
            </a:r>
            <a:r>
              <a:rPr lang="en-US" altLang="zh-CN" dirty="0"/>
              <a:t>5</a:t>
            </a:r>
            <a:r>
              <a:rPr lang="zh-CN" altLang="en-US" dirty="0"/>
              <a:t>个部分展开，首先进入背景部分</a:t>
            </a:r>
          </a:p>
        </p:txBody>
      </p:sp>
      <p:sp>
        <p:nvSpPr>
          <p:cNvPr id="4" name="灯片编号占位符 3"/>
          <p:cNvSpPr>
            <a:spLocks noGrp="1"/>
          </p:cNvSpPr>
          <p:nvPr>
            <p:ph type="sldNum" sz="quarter" idx="10"/>
          </p:nvPr>
        </p:nvSpPr>
        <p:spPr/>
        <p:txBody>
          <a:bodyPr/>
          <a:lstStyle/>
          <a:p>
            <a:fld id="{5FD4487E-253C-4F2A-AD3B-D7DF4058A670}" type="slidenum">
              <a:rPr lang="zh-CN" altLang="en-US" smtClean="0"/>
              <a:t>2</a:t>
            </a:fld>
            <a:endParaRPr lang="zh-CN" altLang="en-US"/>
          </a:p>
        </p:txBody>
      </p:sp>
    </p:spTree>
    <p:extLst>
      <p:ext uri="{BB962C8B-B14F-4D97-AF65-F5344CB8AC3E}">
        <p14:creationId xmlns:p14="http://schemas.microsoft.com/office/powerpoint/2010/main" val="24764595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00" dirty="0">
                <a:effectLst/>
                <a:latin typeface="Times New Roman" panose="02020603050405020304" pitchFamily="18" charset="0"/>
                <a:ea typeface="宋体" panose="02010600030101010101" pitchFamily="2" charset="-122"/>
              </a:rPr>
              <a:t>根据一项针对车载收听行为的调查结果显示 ，驾驶时听音乐是普遍的，绝大多数的</a:t>
            </a:r>
            <a:r>
              <a:rPr lang="zh-CN" altLang="en-US" sz="1200" kern="100" dirty="0">
                <a:effectLst/>
                <a:latin typeface="Times New Roman" panose="02020603050405020304" pitchFamily="18" charset="0"/>
                <a:ea typeface="宋体" panose="02010600030101010101" pitchFamily="2" charset="-122"/>
              </a:rPr>
              <a:t>驾驶员</a:t>
            </a:r>
            <a:r>
              <a:rPr lang="zh-CN" altLang="zh-CN" sz="1200" kern="100" dirty="0">
                <a:effectLst/>
                <a:latin typeface="Times New Roman" panose="02020603050405020304" pitchFamily="18" charset="0"/>
                <a:ea typeface="宋体" panose="02010600030101010101" pitchFamily="2" charset="-122"/>
              </a:rPr>
              <a:t>更喜欢在开车时听音乐，而不是其他类型的音频内容。</a:t>
            </a:r>
            <a:endParaRPr lang="en-US" altLang="zh-CN" sz="1200" kern="100" dirty="0">
              <a:effectLst/>
              <a:latin typeface="Times New Roman" panose="02020603050405020304" pitchFamily="18" charset="0"/>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1200" kern="100" dirty="0">
              <a:effectLst/>
              <a:latin typeface="Times New Roman" panose="02020603050405020304" pitchFamily="18" charset="0"/>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00" dirty="0">
                <a:effectLst/>
                <a:latin typeface="Times New Roman" panose="02020603050405020304" pitchFamily="18" charset="0"/>
                <a:ea typeface="宋体" panose="02010600030101010101" pitchFamily="2" charset="-122"/>
              </a:rPr>
              <a:t>而音</a:t>
            </a:r>
            <a:r>
              <a:rPr lang="zh-CN" altLang="zh-CN" sz="1200" kern="100" dirty="0">
                <a:effectLst/>
                <a:latin typeface="Times New Roman" panose="02020603050405020304" pitchFamily="18" charset="0"/>
                <a:ea typeface="宋体" panose="02010600030101010101" pitchFamily="2" charset="-122"/>
              </a:rPr>
              <a:t>乐对驾驶的影响是复杂的。</a:t>
            </a:r>
            <a:r>
              <a:rPr lang="zh-CN" altLang="en-US" sz="1200" kern="100" dirty="0">
                <a:effectLst/>
                <a:latin typeface="Times New Roman" panose="02020603050405020304" pitchFamily="18" charset="0"/>
                <a:ea typeface="宋体" panose="02010600030101010101" pitchFamily="2" charset="-122"/>
              </a:rPr>
              <a:t>一方面 </a:t>
            </a:r>
            <a:r>
              <a:rPr lang="zh-CN" altLang="zh-CN" sz="1200" kern="100" dirty="0">
                <a:effectLst/>
                <a:latin typeface="Times New Roman" panose="02020603050405020304" pitchFamily="18" charset="0"/>
                <a:ea typeface="宋体" panose="02010600030101010101" pitchFamily="2" charset="-122"/>
              </a:rPr>
              <a:t>“唤醒假设” ，认为音乐的激活效应能够减轻疲劳，帮助驾驶</a:t>
            </a:r>
            <a:r>
              <a:rPr lang="zh-CN" altLang="en-US" sz="1200" kern="100" dirty="0">
                <a:effectLst/>
                <a:latin typeface="Times New Roman" panose="02020603050405020304" pitchFamily="18" charset="0"/>
                <a:ea typeface="宋体" panose="02010600030101010101" pitchFamily="2" charset="-122"/>
              </a:rPr>
              <a:t>员</a:t>
            </a:r>
            <a:r>
              <a:rPr lang="zh-CN" altLang="zh-CN" sz="1200" kern="100" dirty="0">
                <a:effectLst/>
                <a:latin typeface="Times New Roman" panose="02020603050405020304" pitchFamily="18" charset="0"/>
                <a:ea typeface="宋体" panose="02010600030101010101" pitchFamily="2" charset="-122"/>
              </a:rPr>
              <a:t>长期保持警觉状态 </a:t>
            </a:r>
            <a:r>
              <a:rPr lang="en-US" altLang="zh-CN" sz="1200" kern="100" dirty="0">
                <a:effectLst/>
                <a:latin typeface="Times New Roman" panose="02020603050405020304" pitchFamily="18" charset="0"/>
                <a:ea typeface="宋体" panose="02010600030101010101" pitchFamily="2" charset="-122"/>
              </a:rPr>
              <a:t>(Brown, 1965)</a:t>
            </a:r>
            <a:r>
              <a:rPr lang="zh-CN" altLang="zh-CN" sz="1200" kern="100" dirty="0">
                <a:effectLst/>
                <a:latin typeface="Times New Roman" panose="02020603050405020304" pitchFamily="18" charset="0"/>
                <a:ea typeface="宋体" panose="02010600030101010101" pitchFamily="2" charset="-122"/>
              </a:rPr>
              <a:t>。驾驶员报告说听音乐可以放松心情，消除无聊和疲劳</a:t>
            </a:r>
            <a:r>
              <a:rPr lang="zh-CN" altLang="en-US" sz="1200" kern="100" dirty="0">
                <a:effectLst/>
                <a:latin typeface="Times New Roman" panose="02020603050405020304" pitchFamily="18" charset="0"/>
                <a:ea typeface="宋体" panose="02010600030101010101" pitchFamily="2" charset="-122"/>
              </a:rPr>
              <a:t>，</a:t>
            </a:r>
            <a:r>
              <a:rPr lang="zh-CN" altLang="zh-CN" sz="1200" kern="100" dirty="0">
                <a:effectLst/>
                <a:latin typeface="Times New Roman" panose="02020603050405020304" pitchFamily="18" charset="0"/>
                <a:ea typeface="宋体" panose="02010600030101010101" pitchFamily="2" charset="-122"/>
              </a:rPr>
              <a:t>促使他们更加集中注意力 </a:t>
            </a:r>
            <a:r>
              <a:rPr lang="en-US" altLang="zh-CN" sz="1200" kern="0" dirty="0">
                <a:effectLst/>
                <a:latin typeface="Times New Roman" panose="02020603050405020304" pitchFamily="18" charset="0"/>
                <a:ea typeface="宋体" panose="02010600030101010101" pitchFamily="2" charset="-122"/>
              </a:rPr>
              <a:t>(</a:t>
            </a:r>
            <a:r>
              <a:rPr lang="en-US" altLang="zh-CN" sz="1200" kern="0" dirty="0" err="1">
                <a:effectLst/>
                <a:latin typeface="Times New Roman" panose="02020603050405020304" pitchFamily="18" charset="0"/>
                <a:ea typeface="宋体" panose="02010600030101010101" pitchFamily="2" charset="-122"/>
              </a:rPr>
              <a:t>Ünal</a:t>
            </a:r>
            <a:r>
              <a:rPr lang="zh-CN" altLang="zh-CN" sz="1200" kern="0" dirty="0">
                <a:effectLst/>
                <a:latin typeface="Times New Roman" panose="02020603050405020304" pitchFamily="18" charset="0"/>
                <a:ea typeface="宋体" panose="02010600030101010101" pitchFamily="2" charset="-122"/>
              </a:rPr>
              <a:t>等</a:t>
            </a:r>
            <a:r>
              <a:rPr lang="en-US" altLang="zh-CN" sz="1200" kern="0" dirty="0">
                <a:effectLst/>
                <a:latin typeface="Times New Roman" panose="02020603050405020304" pitchFamily="18" charset="0"/>
                <a:ea typeface="宋体" panose="02010600030101010101" pitchFamily="2" charset="-122"/>
              </a:rPr>
              <a:t>, 2012a)</a:t>
            </a:r>
            <a:r>
              <a:rPr lang="zh-CN" altLang="zh-CN" sz="1200" kern="100" dirty="0">
                <a:effectLst/>
                <a:latin typeface="Times New Roman" panose="02020603050405020304" pitchFamily="18" charset="0"/>
                <a:ea typeface="宋体" panose="02010600030101010101" pitchFamily="2"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00" dirty="0">
                <a:effectLst/>
                <a:latin typeface="Times New Roman" panose="02020603050405020304" pitchFamily="18" charset="0"/>
                <a:ea typeface="宋体" panose="02010600030101010101" pitchFamily="2" charset="-122"/>
              </a:rPr>
              <a:t>另一方面，</a:t>
            </a:r>
            <a:r>
              <a:rPr lang="en-US" altLang="zh-CN" sz="1200" kern="100" dirty="0">
                <a:effectLst/>
                <a:latin typeface="Times New Roman" panose="02020603050405020304" pitchFamily="18" charset="0"/>
                <a:ea typeface="宋体" panose="02010600030101010101" pitchFamily="2" charset="-122"/>
              </a:rPr>
              <a:t>"</a:t>
            </a:r>
            <a:r>
              <a:rPr lang="zh-CN" altLang="zh-CN" sz="1200" kern="100" dirty="0">
                <a:effectLst/>
                <a:latin typeface="Times New Roman" panose="02020603050405020304" pitchFamily="18" charset="0"/>
                <a:ea typeface="宋体" panose="02010600030101010101" pitchFamily="2" charset="-122"/>
              </a:rPr>
              <a:t>分心假设</a:t>
            </a:r>
            <a:r>
              <a:rPr lang="en-US" altLang="zh-CN" sz="1200" kern="100" dirty="0">
                <a:effectLst/>
                <a:latin typeface="Times New Roman" panose="02020603050405020304" pitchFamily="18" charset="0"/>
                <a:ea typeface="宋体" panose="02010600030101010101" pitchFamily="2" charset="-122"/>
              </a:rPr>
              <a:t>"</a:t>
            </a:r>
            <a:r>
              <a:rPr lang="zh-CN" altLang="zh-CN" sz="1200" kern="100" dirty="0">
                <a:effectLst/>
                <a:latin typeface="Times New Roman" panose="02020603050405020304" pitchFamily="18" charset="0"/>
                <a:ea typeface="宋体" panose="02010600030101010101" pitchFamily="2" charset="-122"/>
              </a:rPr>
              <a:t>，认为音乐可能会导致驾驶员的注意力分散，临时性地降低驾驶员对危险的感知 ，从而提高事故的。研究表明，相比没有音乐的驾驶，</a:t>
            </a:r>
            <a:r>
              <a:rPr lang="zh-CN" altLang="en-US" sz="1200" kern="100" dirty="0">
                <a:effectLst/>
                <a:latin typeface="Times New Roman" panose="02020603050405020304" pitchFamily="18" charset="0"/>
                <a:ea typeface="宋体" panose="02010600030101010101" pitchFamily="2" charset="-122"/>
              </a:rPr>
              <a:t>音乐下</a:t>
            </a:r>
            <a:r>
              <a:rPr lang="zh-CN" altLang="zh-CN" sz="1200" kern="100" dirty="0">
                <a:effectLst/>
                <a:latin typeface="Times New Roman" panose="02020603050405020304" pitchFamily="18" charset="0"/>
                <a:ea typeface="宋体" panose="02010600030101010101" pitchFamily="2" charset="-122"/>
              </a:rPr>
              <a:t>驾驶更容易犯驾驶错误、违规，</a:t>
            </a:r>
            <a:r>
              <a:rPr lang="zh-CN" altLang="en-US" sz="1200" kern="100" dirty="0">
                <a:effectLst/>
                <a:latin typeface="Times New Roman" panose="02020603050405020304" pitchFamily="18" charset="0"/>
                <a:ea typeface="宋体" panose="02010600030101010101" pitchFamily="2" charset="-122"/>
              </a:rPr>
              <a:t>有</a:t>
            </a:r>
            <a:r>
              <a:rPr lang="zh-CN" altLang="zh-CN" sz="1200" kern="100" dirty="0">
                <a:effectLst/>
                <a:latin typeface="Times New Roman" panose="02020603050405020304" pitchFamily="18" charset="0"/>
                <a:ea typeface="宋体" panose="02010600030101010101" pitchFamily="2" charset="-122"/>
              </a:rPr>
              <a:t>危险或激进的驾驶行为 。</a:t>
            </a:r>
            <a:endParaRPr lang="en-US" altLang="zh-CN" sz="1200" kern="100" dirty="0">
              <a:effectLst/>
              <a:latin typeface="Times New Roman" panose="02020603050405020304" pitchFamily="18" charset="0"/>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3</a:t>
            </a:fld>
            <a:endParaRPr kumimoji="1" lang="zh-CN" altLang="en-US"/>
          </a:p>
        </p:txBody>
      </p:sp>
    </p:spTree>
    <p:extLst>
      <p:ext uri="{BB962C8B-B14F-4D97-AF65-F5344CB8AC3E}">
        <p14:creationId xmlns:p14="http://schemas.microsoft.com/office/powerpoint/2010/main" val="39176311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驾驶员受到音乐的影响，从而改变他们的心理状态，进一步影响他们的驾驶行为</a:t>
            </a:r>
            <a:r>
              <a:rPr lang="zh-CN" altLang="zh-CN" sz="1200" kern="100" dirty="0">
                <a:effectLst/>
                <a:ea typeface="Times New Roman" panose="02020603050405020304" pitchFamily="18" charset="0"/>
              </a:rPr>
              <a:t> </a:t>
            </a:r>
            <a:r>
              <a:rPr lang="en-US" altLang="zh-CN" sz="1200" dirty="0">
                <a:effectLst/>
                <a:latin typeface="Times New Roman" panose="02020603050405020304" pitchFamily="18" charset="0"/>
                <a:ea typeface="宋体" panose="02010600030101010101" pitchFamily="2" charset="-122"/>
              </a:rPr>
              <a:t>(Hughes</a:t>
            </a:r>
            <a:r>
              <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rPr>
              <a:t>等</a:t>
            </a:r>
            <a:r>
              <a:rPr lang="en-US" altLang="zh-CN" sz="1200" dirty="0">
                <a:effectLst/>
                <a:latin typeface="Times New Roman" panose="02020603050405020304" pitchFamily="18" charset="0"/>
                <a:ea typeface="宋体" panose="02010600030101010101" pitchFamily="2" charset="-122"/>
              </a:rPr>
              <a:t>, 2013)</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rPr>
              <a:t> </a:t>
            </a:r>
            <a:endParaRPr lang="zh-CN" altLang="zh-CN" sz="1200" kern="100" dirty="0">
              <a:effectLst/>
              <a:latin typeface="Times New Roman" panose="02020603050405020304" pitchFamily="18" charset="0"/>
              <a:ea typeface="宋体" panose="02010600030101010101" pitchFamily="2" charset="-122"/>
            </a:endParaRPr>
          </a:p>
          <a:p>
            <a:pPr>
              <a:lnSpc>
                <a:spcPct val="150000"/>
              </a:lnSpc>
            </a:pPr>
            <a:endParaRPr lang="en-US" altLang="zh-CN" dirty="0">
              <a:effectLst/>
              <a:latin typeface="Microsoft YaHei" panose="020B0503020204020204" pitchFamily="34" charset="-122"/>
            </a:endParaRPr>
          </a:p>
          <a:p>
            <a:pPr>
              <a:lnSpc>
                <a:spcPct val="150000"/>
              </a:lnSpc>
            </a:pPr>
            <a:r>
              <a:rPr lang="zh-CN" altLang="en-US" dirty="0">
                <a:effectLst/>
                <a:latin typeface="Microsoft YaHei" panose="020B0503020204020204" pitchFamily="34" charset="-122"/>
              </a:rPr>
              <a:t>本研究系统探究音乐对驾驶行为的影响</a:t>
            </a:r>
            <a:endParaRPr lang="en-US" altLang="zh-CN" dirty="0">
              <a:effectLst/>
              <a:latin typeface="Microsoft YaHei" panose="020B0503020204020204" pitchFamily="34" charset="-122"/>
            </a:endParaRPr>
          </a:p>
          <a:p>
            <a:pPr>
              <a:lnSpc>
                <a:spcPct val="150000"/>
              </a:lnSpc>
            </a:pPr>
            <a:r>
              <a:rPr lang="zh-CN" altLang="en-US" dirty="0">
                <a:effectLst/>
                <a:latin typeface="Microsoft YaHei" panose="020B0503020204020204" pitchFamily="34" charset="-122"/>
              </a:rPr>
              <a:t>基于驾驶员和音乐属性的角度来进行全面、细致的分析</a:t>
            </a:r>
            <a:endParaRPr lang="en-US" altLang="zh-CN" dirty="0">
              <a:effectLst/>
              <a:latin typeface="Microsoft YaHei" panose="020B0503020204020204" pitchFamily="34" charset="-122"/>
            </a:endParaRPr>
          </a:p>
          <a:p>
            <a:pPr>
              <a:lnSpc>
                <a:spcPct val="150000"/>
              </a:lnSpc>
            </a:pPr>
            <a:r>
              <a:rPr lang="zh-CN" altLang="en-US" b="0" i="0" dirty="0">
                <a:solidFill>
                  <a:srgbClr val="D1D5DB"/>
                </a:solidFill>
                <a:effectLst/>
                <a:latin typeface="Söhne"/>
              </a:rPr>
              <a:t>考虑到驾驶员个体差异的影响，研究结果会更具准确性</a:t>
            </a:r>
            <a:endParaRPr lang="en-US" altLang="zh-CN" b="0" i="0" dirty="0">
              <a:solidFill>
                <a:srgbClr val="D1D5DB"/>
              </a:solidFill>
              <a:effectLst/>
              <a:latin typeface="Söhne"/>
            </a:endParaRPr>
          </a:p>
          <a:p>
            <a:pPr>
              <a:lnSpc>
                <a:spcPct val="150000"/>
              </a:lnSpc>
            </a:pPr>
            <a:r>
              <a:rPr lang="zh-CN" altLang="en-US" b="0" i="0" dirty="0">
                <a:solidFill>
                  <a:srgbClr val="D1D5DB"/>
                </a:solidFill>
                <a:effectLst/>
                <a:latin typeface="Söhne"/>
              </a:rPr>
              <a:t>音乐属性可以更为精确地量化，这有助于科学地分析和解释研究结果。通过理解音乐元素如何影响驾驶行为，可以更有针对性地设计干预措施，具备操作性。</a:t>
            </a:r>
            <a:endParaRPr lang="en-US" altLang="zh-CN" b="0" i="0" dirty="0">
              <a:solidFill>
                <a:srgbClr val="D1D5DB"/>
              </a:solidFill>
              <a:effectLst/>
              <a:latin typeface="Söhne"/>
            </a:endParaRPr>
          </a:p>
          <a:p>
            <a:pPr>
              <a:lnSpc>
                <a:spcPct val="150000"/>
              </a:lnSpc>
            </a:pPr>
            <a:r>
              <a:rPr lang="zh-CN" altLang="en-US" b="0" i="0" dirty="0">
                <a:solidFill>
                  <a:srgbClr val="D1D5DB"/>
                </a:solidFill>
                <a:effectLst/>
                <a:latin typeface="Söhne"/>
              </a:rPr>
              <a:t>驾驶情境具有多样性和复杂性，可能与音乐相互作用，共同影响驾驶行为。针对不同情境进行研究后，结果会更具应用性。</a:t>
            </a:r>
            <a:endParaRPr lang="en-US" altLang="zh-CN" b="0" i="0" dirty="0">
              <a:solidFill>
                <a:srgbClr val="D1D5DB"/>
              </a:solidFill>
              <a:effectLst/>
              <a:latin typeface="Söhne"/>
            </a:endParaRPr>
          </a:p>
          <a:p>
            <a:endParaRPr kumimoji="1" lang="en-US" altLang="zh-CN" dirty="0"/>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4</a:t>
            </a:fld>
            <a:endParaRPr kumimoji="1" lang="zh-CN" altLang="en-US"/>
          </a:p>
        </p:txBody>
      </p:sp>
    </p:spTree>
    <p:extLst>
      <p:ext uri="{BB962C8B-B14F-4D97-AF65-F5344CB8AC3E}">
        <p14:creationId xmlns:p14="http://schemas.microsoft.com/office/powerpoint/2010/main" val="41048194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下面进入文献综述</a:t>
            </a:r>
          </a:p>
        </p:txBody>
      </p:sp>
      <p:sp>
        <p:nvSpPr>
          <p:cNvPr id="4" name="灯片编号占位符 3"/>
          <p:cNvSpPr>
            <a:spLocks noGrp="1"/>
          </p:cNvSpPr>
          <p:nvPr>
            <p:ph type="sldNum" sz="quarter" idx="10"/>
          </p:nvPr>
        </p:nvSpPr>
        <p:spPr/>
        <p:txBody>
          <a:bodyPr/>
          <a:lstStyle/>
          <a:p>
            <a:fld id="{5FD4487E-253C-4F2A-AD3B-D7DF4058A670}" type="slidenum">
              <a:rPr lang="zh-CN" altLang="en-US" smtClean="0"/>
              <a:t>5</a:t>
            </a:fld>
            <a:endParaRPr lang="zh-CN" altLang="en-US"/>
          </a:p>
        </p:txBody>
      </p:sp>
    </p:spTree>
    <p:extLst>
      <p:ext uri="{BB962C8B-B14F-4D97-AF65-F5344CB8AC3E}">
        <p14:creationId xmlns:p14="http://schemas.microsoft.com/office/powerpoint/2010/main" val="40341764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effectLst/>
              </a:rPr>
              <a:t>在音乐对驾驶研究的主题下，研究者们通常会探究不同音乐流派的影响</a:t>
            </a:r>
            <a:endParaRPr kumimoji="1" lang="en-US" altLang="zh-CN" dirty="0">
              <a:effectLst/>
            </a:endParaRPr>
          </a:p>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音乐流派是不同时间、不同地域、不同文化形成的不同音乐风格类别，它通过不同音乐元素以特有的组织形式形成了个性化派别，比如爵土、古典、摇滚就是不同的音乐流派</a:t>
            </a:r>
            <a:r>
              <a:rPr lang="zh-CN" altLang="zh-CN" sz="1800" kern="100" dirty="0">
                <a:effectLst/>
                <a:ea typeface="Times New Roman" panose="02020603050405020304" pitchFamily="18" charset="0"/>
              </a:rPr>
              <a:t> </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刘寅</a:t>
            </a:r>
            <a:r>
              <a:rPr lang="en-US" altLang="zh-CN" sz="1800" dirty="0">
                <a:effectLst/>
                <a:latin typeface="Times New Roman" panose="02020603050405020304" pitchFamily="18" charset="0"/>
                <a:ea typeface="宋体" panose="02010600030101010101" pitchFamily="2" charset="-122"/>
              </a:rPr>
              <a:t>, 2011)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6</a:t>
            </a:fld>
            <a:endParaRPr kumimoji="1" lang="zh-CN" altLang="en-US"/>
          </a:p>
        </p:txBody>
      </p:sp>
    </p:spTree>
    <p:extLst>
      <p:ext uri="{BB962C8B-B14F-4D97-AF65-F5344CB8AC3E}">
        <p14:creationId xmlns:p14="http://schemas.microsoft.com/office/powerpoint/2010/main" val="32284074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effectLst/>
                <a:latin typeface="Times New Roman" panose="02020603050405020304" pitchFamily="18" charset="0"/>
                <a:ea typeface="宋体" panose="02010600030101010101" pitchFamily="2" charset="-122"/>
              </a:rPr>
              <a:t>Dalton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a:t>
            </a:r>
            <a:r>
              <a:rPr lang="en-US" altLang="zh-CN" sz="1800" dirty="0">
                <a:effectLst/>
                <a:latin typeface="Times New Roman" panose="02020603050405020304" pitchFamily="18" charset="0"/>
                <a:ea typeface="宋体" panose="02010600030101010101" pitchFamily="2" charset="-122"/>
              </a:rPr>
              <a:t> (2007)</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发现</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相比于</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无音乐条件下</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摇滚音乐背景下</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唤醒更高，</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对驾驶</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相关</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警惕</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任务</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反应更快。</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另有研究者</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发现重金属音乐背景下，驾驶员对红绿灯、警觉、跟踪目标的任务反应更快。</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7</a:t>
            </a:fld>
            <a:endParaRPr kumimoji="1" lang="zh-CN" altLang="en-US"/>
          </a:p>
        </p:txBody>
      </p:sp>
    </p:spTree>
    <p:extLst>
      <p:ext uri="{BB962C8B-B14F-4D97-AF65-F5344CB8AC3E}">
        <p14:creationId xmlns:p14="http://schemas.microsoft.com/office/powerpoint/2010/main" val="4296592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但是有研究者发现</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相比于古典音乐、自然音乐，在摇滚音乐下，驾驶员对车辆稳定性控制最差，</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最容易分心</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effectLst/>
              </a:rPr>
              <a:t> </a:t>
            </a:r>
            <a:endParaRPr lang="en-US" altLang="zh-CN" dirty="0">
              <a:effectLst/>
            </a:endParaRPr>
          </a:p>
          <a:p>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Wen</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等也</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发现在摇滚音乐下，驾驶员的心理负荷更大，速度标准差和越线频率都显著</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更</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高。</a:t>
            </a:r>
            <a:r>
              <a:rPr lang="zh-CN" altLang="zh-CN" dirty="0">
                <a:effectLst/>
              </a:rPr>
              <a:t> </a:t>
            </a:r>
            <a:endParaRPr kumimoji="1" lang="en-US" altLang="zh-CN" dirty="0">
              <a:effectLst/>
            </a:endParaRPr>
          </a:p>
          <a:p>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（图）另有研究对比了</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5</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种流派，发现</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在金属和巴尔干民间音乐</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这种</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更激进、</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速度</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更快</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的音乐</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条件下，驾驶速度更快，有更多的驾驶错误、偏离。</a:t>
            </a:r>
            <a:r>
              <a:rPr lang="zh-CN" altLang="zh-CN" dirty="0">
                <a:effectLst/>
              </a:rPr>
              <a:t> </a:t>
            </a:r>
            <a:endParaRPr lang="en-US" altLang="zh-CN" dirty="0">
              <a:effectLst/>
            </a:endParaRPr>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8</a:t>
            </a:fld>
            <a:endParaRPr kumimoji="1" lang="zh-CN" altLang="en-US"/>
          </a:p>
        </p:txBody>
      </p:sp>
    </p:spTree>
    <p:extLst>
      <p:ext uri="{BB962C8B-B14F-4D97-AF65-F5344CB8AC3E}">
        <p14:creationId xmlns:p14="http://schemas.microsoft.com/office/powerpoint/2010/main" val="1454642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而在流行音乐和古典音乐对比中，发现</a:t>
            </a: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流行</a:t>
            </a:r>
            <a:r>
              <a:rPr lang="zh-CN" altLang="en-US" sz="1200" kern="100" dirty="0">
                <a:effectLst/>
                <a:latin typeface="Microsoft YaHei" panose="020B0503020204020204" pitchFamily="34" charset="-122"/>
                <a:ea typeface="Microsoft YaHei" panose="020B0503020204020204" pitchFamily="34" charset="-122"/>
                <a:cs typeface="Times New Roman" panose="02020603050405020304" pitchFamily="18" charset="0"/>
              </a:rPr>
              <a:t>更能让驾驶员集中（瞳孔直径更大），保持更稳定的驾驶性能（速度标准差更小），但对前方车辆的速度和间隔的调整可能不够灵活（间隔时间更短）</a:t>
            </a:r>
            <a:endParaRPr lang="en-US" altLang="zh-CN" sz="1200"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p>
            <a:endParaRPr kumimoji="1" lang="en-US" altLang="zh-CN" sz="1200"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p>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脑电图数据和 </a:t>
            </a:r>
            <a:r>
              <a:rPr lang="en" altLang="zh-CN" sz="1200" kern="100" dirty="0">
                <a:latin typeface="Microsoft YaHei" panose="020B0503020204020204" pitchFamily="34" charset="-122"/>
                <a:ea typeface="Microsoft YaHei" panose="020B0503020204020204" pitchFamily="34" charset="-122"/>
                <a:cs typeface="Times New Roman" panose="02020603050405020304" pitchFamily="18" charset="0"/>
              </a:rPr>
              <a:t>VAS</a:t>
            </a:r>
            <a:r>
              <a:rPr lang="zh-CN" altLang="en" sz="1200" kern="100" dirty="0">
                <a:latin typeface="Microsoft YaHei" panose="020B0503020204020204" pitchFamily="34" charset="-122"/>
                <a:ea typeface="Microsoft YaHei" panose="020B0503020204020204" pitchFamily="34" charset="-122"/>
                <a:cs typeface="Times New Roman" panose="02020603050405020304" pitchFamily="18" charset="0"/>
              </a:rPr>
              <a:t>主观</a:t>
            </a: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数据显示，听</a:t>
            </a:r>
            <a:r>
              <a:rPr lang="zh-CN" altLang="en-US" sz="1200" b="1" kern="100" dirty="0">
                <a:latin typeface="Microsoft YaHei" panose="020B0503020204020204" pitchFamily="34" charset="-122"/>
                <a:ea typeface="Microsoft YaHei" panose="020B0503020204020204" pitchFamily="34" charset="-122"/>
                <a:cs typeface="Times New Roman" panose="02020603050405020304" pitchFamily="18" charset="0"/>
              </a:rPr>
              <a:t>流行音乐</a:t>
            </a:r>
            <a:r>
              <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rPr>
              <a:t>缓解驾驶疲劳。</a:t>
            </a:r>
            <a:endParaRPr kumimoji="1" lang="zh-CN" altLang="en-US" dirty="0"/>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9</a:t>
            </a:fld>
            <a:endParaRPr kumimoji="1" lang="zh-CN" altLang="en-US"/>
          </a:p>
        </p:txBody>
      </p:sp>
    </p:spTree>
    <p:extLst>
      <p:ext uri="{BB962C8B-B14F-4D97-AF65-F5344CB8AC3E}">
        <p14:creationId xmlns:p14="http://schemas.microsoft.com/office/powerpoint/2010/main" val="35383452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kern="100" dirty="0">
                <a:latin typeface="Microsoft YaHei" panose="020B0503020204020204" pitchFamily="34" charset="-122"/>
                <a:ea typeface="Microsoft YaHei" panose="020B0503020204020204" pitchFamily="34" charset="-122"/>
                <a:cs typeface="Times New Roman" panose="02020603050405020304" pitchFamily="18" charset="0"/>
              </a:rPr>
              <a:t>不同流派对驾驶行为的影响不同，而</a:t>
            </a:r>
            <a:r>
              <a:rPr lang="zh-CN" altLang="zh-CN" sz="1800" kern="100" dirty="0">
                <a:effectLst/>
                <a:latin typeface="Microsoft YaHei" panose="020B0503020204020204" pitchFamily="34" charset="-122"/>
                <a:ea typeface="Microsoft YaHei" panose="020B0503020204020204" pitchFamily="34" charset="-122"/>
                <a:cs typeface="Times New Roman" panose="02020603050405020304" pitchFamily="18" charset="0"/>
              </a:rPr>
              <a:t>驾驶任务是</a:t>
            </a:r>
            <a:r>
              <a:rPr lang="zh-CN" altLang="zh-CN" sz="18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复杂的的感知</a:t>
            </a:r>
            <a:r>
              <a:rPr lang="en-US" altLang="zh-CN" sz="1800" b="1" kern="100" dirty="0">
                <a:effectLst/>
                <a:latin typeface="Microsoft YaHei" panose="020B0503020204020204" pitchFamily="34" charset="-122"/>
                <a:ea typeface="Microsoft YaHei" panose="020B0503020204020204" pitchFamily="34" charset="-122"/>
              </a:rPr>
              <a:t>-</a:t>
            </a:r>
            <a:r>
              <a:rPr lang="zh-CN" altLang="zh-CN" sz="18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信息</a:t>
            </a:r>
            <a:r>
              <a:rPr lang="en-US" altLang="zh-CN" sz="1800" b="1" kern="100" dirty="0">
                <a:effectLst/>
                <a:latin typeface="Microsoft YaHei" panose="020B0503020204020204" pitchFamily="34" charset="-122"/>
                <a:ea typeface="Microsoft YaHei" panose="020B0503020204020204" pitchFamily="34" charset="-122"/>
              </a:rPr>
              <a:t>-</a:t>
            </a:r>
            <a:r>
              <a:rPr lang="zh-CN" altLang="zh-CN" sz="18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处理任务</a:t>
            </a:r>
            <a:r>
              <a:rPr lang="zh-CN" altLang="en-US" sz="18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a:t>
            </a:r>
            <a:r>
              <a:rPr lang="zh-CN" altLang="zh-CN" sz="18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依赖认知能力</a:t>
            </a:r>
            <a:endParaRPr lang="en-US" altLang="zh-CN" sz="1800" b="1"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0" i="0" dirty="0">
                <a:solidFill>
                  <a:srgbClr val="D1D5DB"/>
                </a:solidFill>
                <a:effectLst/>
                <a:latin typeface="Söhne"/>
              </a:rPr>
              <a:t>音乐对认知功能的影响将直接或间接地影响驾驶表现。</a:t>
            </a:r>
            <a:endParaRPr lang="en-US" altLang="zh-CN" sz="2800" b="0" i="0" dirty="0">
              <a:solidFill>
                <a:srgbClr val="D1D5DB"/>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0" i="0" dirty="0">
                <a:solidFill>
                  <a:srgbClr val="D1D5DB"/>
                </a:solidFill>
                <a:effectLst/>
                <a:latin typeface="Söhne"/>
              </a:rPr>
              <a:t>因此进一步通过关注音乐对认知的影响，我们可以更全面地了解它如何影响驾驶行为。</a:t>
            </a:r>
            <a:r>
              <a:rPr lang="zh-CN" altLang="zh-CN" sz="1800" dirty="0">
                <a:effectLst/>
                <a:latin typeface="Microsoft YaHei" panose="020B0503020204020204" pitchFamily="34" charset="-122"/>
                <a:ea typeface="Microsoft YaHei" panose="020B0503020204020204" pitchFamily="34" charset="-122"/>
              </a:rPr>
              <a:t> </a:t>
            </a:r>
            <a:endParaRPr lang="en-US" altLang="zh-CN" sz="1800" dirty="0">
              <a:effectLst/>
              <a:latin typeface="Microsoft YaHei" panose="020B0503020204020204" pitchFamily="34" charset="-122"/>
              <a:ea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800" dirty="0">
              <a:latin typeface="Microsoft YaHei" panose="020B0503020204020204" pitchFamily="34" charset="-122"/>
              <a:ea typeface="Microsoft YaHei" panose="020B0503020204020204" pitchFamily="34" charset="-122"/>
            </a:endParaRPr>
          </a:p>
          <a:p>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研究发现音乐流派对记忆、空间处理速度、注意反应有影响</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说唱</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音乐下</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被试记忆任务表现最好，</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古典</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音乐</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下</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表现最差</a:t>
            </a:r>
            <a:endParaRPr lang="en-US" altLang="zh-CN" dirty="0">
              <a:effectLst/>
            </a:endParaRPr>
          </a:p>
          <a:p>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其它</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发现相比于无音乐条件，在古典音乐和重金属音乐下，</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记忆被损坏</a:t>
            </a:r>
            <a:endParaRPr lang="en-US" altLang="zh-CN" sz="1800" kern="10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tx1">
                    <a:lumMod val="50000"/>
                    <a:lumOff val="50000"/>
                  </a:schemeClr>
                </a:solidFill>
                <a:effectLst/>
                <a:latin typeface="Microsoft YaHei" panose="020B0503020204020204" pitchFamily="34" charset="-122"/>
                <a:ea typeface="Microsoft YaHei" panose="020B0503020204020204" pitchFamily="34" charset="-122"/>
              </a:rPr>
              <a:t>Angel</a:t>
            </a:r>
            <a:r>
              <a:rPr lang="zh-CN" altLang="en-US" sz="1200" dirty="0">
                <a:solidFill>
                  <a:schemeClr val="tx1">
                    <a:lumMod val="50000"/>
                    <a:lumOff val="50000"/>
                  </a:schemeClr>
                </a:solidFill>
                <a:effectLst/>
                <a:latin typeface="Microsoft YaHei" panose="020B0503020204020204" pitchFamily="34" charset="-122"/>
                <a:ea typeface="Microsoft YaHei" panose="020B0503020204020204" pitchFamily="34" charset="-122"/>
              </a:rPr>
              <a:t>则发现音乐对图形空间处理速度的影响，</a:t>
            </a:r>
            <a:r>
              <a:rPr lang="zh-CN" altLang="en-US" sz="1200" kern="100" dirty="0">
                <a:effectLst/>
                <a:latin typeface="Microsoft YaHei" panose="020B0503020204020204" pitchFamily="34" charset="-122"/>
                <a:ea typeface="Microsoft YaHei" panose="020B0503020204020204" pitchFamily="34" charset="-122"/>
                <a:cs typeface="Times New Roman" panose="02020603050405020304" pitchFamily="18" charset="0"/>
              </a:rPr>
              <a:t>在</a:t>
            </a:r>
            <a:r>
              <a:rPr lang="zh-CN" altLang="zh-CN" sz="12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古典</a:t>
            </a:r>
            <a:r>
              <a:rPr lang="zh-CN" altLang="zh-CN" sz="1200" kern="100" dirty="0">
                <a:effectLst/>
                <a:latin typeface="Microsoft YaHei" panose="020B0503020204020204" pitchFamily="34" charset="-122"/>
                <a:ea typeface="Microsoft YaHei" panose="020B0503020204020204" pitchFamily="34" charset="-122"/>
                <a:cs typeface="Times New Roman" panose="02020603050405020304" pitchFamily="18" charset="0"/>
              </a:rPr>
              <a:t>音乐</a:t>
            </a:r>
            <a:r>
              <a:rPr lang="zh-CN" altLang="en-US" sz="1200" kern="100" dirty="0">
                <a:effectLst/>
                <a:latin typeface="Microsoft YaHei" panose="020B0503020204020204" pitchFamily="34" charset="-122"/>
                <a:ea typeface="Microsoft YaHei" panose="020B0503020204020204" pitchFamily="34" charset="-122"/>
                <a:cs typeface="Times New Roman" panose="02020603050405020304" pitchFamily="18" charset="0"/>
              </a:rPr>
              <a:t>下，图形空间处理速度更快</a:t>
            </a:r>
            <a:endParaRPr lang="en-US" altLang="zh-CN" sz="1200"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Microsoft YaHei" panose="020B0503020204020204" pitchFamily="34" charset="-122"/>
                <a:ea typeface="Microsoft YaHei" panose="020B0503020204020204" pitchFamily="34" charset="-122"/>
              </a:rPr>
              <a:t>另外，与轻音乐相比，</a:t>
            </a:r>
            <a:r>
              <a:rPr lang="zh-CN" altLang="en-US" sz="1200" b="1" dirty="0">
                <a:latin typeface="Microsoft YaHei" panose="020B0503020204020204" pitchFamily="34" charset="-122"/>
                <a:ea typeface="Microsoft YaHei" panose="020B0503020204020204" pitchFamily="34" charset="-122"/>
              </a:rPr>
              <a:t>摇滚音乐提高</a:t>
            </a:r>
            <a:r>
              <a:rPr lang="zh-CN" altLang="en-US" sz="1200" dirty="0">
                <a:latin typeface="Microsoft YaHei" panose="020B0503020204020204" pitchFamily="34" charset="-122"/>
                <a:ea typeface="Microsoft YaHei" panose="020B0503020204020204" pitchFamily="34" charset="-122"/>
              </a:rPr>
              <a:t>了在信号检测任务中的表现</a:t>
            </a:r>
            <a:endParaRPr kumimoji="1" lang="en-US" altLang="zh-CN" sz="1200" dirty="0">
              <a:effectLst/>
              <a:latin typeface="Microsoft YaHei" panose="020B0503020204020204" pitchFamily="34" charset="-122"/>
              <a:ea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dirty="0">
                <a:effectLst/>
                <a:latin typeface="Microsoft YaHei" panose="020B0503020204020204" pitchFamily="34" charset="-122"/>
                <a:ea typeface="Microsoft YaHei" panose="020B0503020204020204" pitchFamily="34" charset="-122"/>
              </a:rPr>
              <a:t>由此，发现不同流派的音乐对不同认知能力的影响不同</a:t>
            </a:r>
            <a:endParaRPr kumimoji="1" lang="en-US" altLang="zh-CN" dirty="0">
              <a:effectLst/>
            </a:endParaRPr>
          </a:p>
          <a:p>
            <a:endPar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kumimoji="1" lang="en-US" altLang="zh-CN" dirty="0">
              <a:effectLst/>
            </a:endParaRPr>
          </a:p>
          <a:p>
            <a:endParaRPr kumimoji="1" lang="zh-CN" altLang="en-US" dirty="0"/>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10</a:t>
            </a:fld>
            <a:endParaRPr kumimoji="1" lang="zh-CN" altLang="en-US"/>
          </a:p>
        </p:txBody>
      </p:sp>
    </p:spTree>
    <p:extLst>
      <p:ext uri="{BB962C8B-B14F-4D97-AF65-F5344CB8AC3E}">
        <p14:creationId xmlns:p14="http://schemas.microsoft.com/office/powerpoint/2010/main" val="22594482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ffectLst/>
              </a:rPr>
              <a:t>另外，从音乐欣赏的注意注意过程来考虑不一致的原因</a:t>
            </a:r>
            <a:endParaRPr lang="en-US" altLang="zh-CN" dirty="0">
              <a:effectLst/>
            </a:endParaRPr>
          </a:p>
          <a:p>
            <a:r>
              <a:rPr lang="zh-CN" altLang="en-US" dirty="0">
                <a:effectLst/>
              </a:rPr>
              <a:t>音乐欣赏注意分为自上而下和自下而上两个过程，</a:t>
            </a:r>
            <a:r>
              <a:rPr lang="zh-CN" altLang="zh-CN" sz="1200" kern="100" dirty="0">
                <a:effectLst/>
                <a:latin typeface="Times New Roman" panose="02020603050405020304" pitchFamily="18" charset="0"/>
                <a:ea typeface="宋体" panose="02010600030101010101" pitchFamily="2" charset="-122"/>
              </a:rPr>
              <a:t>当音乐信息符合听众的现有知识期望时，听觉皮层内的注意力会增强，这是自上而下的注意过程。当突然从外部传来强烈的音乐刺激时，对音乐刺激产生注意，这是自下而上的过程。自上而下是使用</a:t>
            </a:r>
            <a:r>
              <a:rPr lang="zh-CN" altLang="en-US" sz="1200" kern="100" dirty="0">
                <a:effectLst/>
                <a:latin typeface="Times New Roman" panose="02020603050405020304" pitchFamily="18" charset="0"/>
                <a:ea typeface="宋体" panose="02010600030101010101" pitchFamily="2" charset="-122"/>
              </a:rPr>
              <a:t>个体</a:t>
            </a:r>
            <a:r>
              <a:rPr lang="zh-CN" altLang="zh-CN" sz="1200" kern="100" dirty="0">
                <a:effectLst/>
                <a:latin typeface="Times New Roman" panose="02020603050405020304" pitchFamily="18" charset="0"/>
                <a:ea typeface="宋体" panose="02010600030101010101" pitchFamily="2" charset="-122"/>
              </a:rPr>
              <a:t>先前的</a:t>
            </a:r>
            <a:r>
              <a:rPr lang="zh-CN" altLang="en-US" sz="1200" kern="100" dirty="0">
                <a:effectLst/>
                <a:latin typeface="Times New Roman" panose="02020603050405020304" pitchFamily="18" charset="0"/>
                <a:ea typeface="宋体" panose="02010600030101010101" pitchFamily="2" charset="-122"/>
              </a:rPr>
              <a:t>经验</a:t>
            </a:r>
            <a:r>
              <a:rPr lang="zh-CN" altLang="zh-CN" sz="1200" kern="100" dirty="0">
                <a:effectLst/>
                <a:latin typeface="Times New Roman" panose="02020603050405020304" pitchFamily="18" charset="0"/>
                <a:ea typeface="宋体" panose="02010600030101010101" pitchFamily="2" charset="-122"/>
              </a:rPr>
              <a:t>和期望来理解音乐的深层含义。</a:t>
            </a:r>
            <a:endParaRPr lang="en-US" altLang="zh-CN" sz="1200" kern="100" dirty="0">
              <a:effectLst/>
              <a:latin typeface="Times New Roman" panose="02020603050405020304" pitchFamily="18" charset="0"/>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00" dirty="0">
                <a:effectLst/>
                <a:latin typeface="Times New Roman" panose="02020603050405020304" pitchFamily="18" charset="0"/>
                <a:ea typeface="宋体" panose="02010600030101010101" pitchFamily="2" charset="-122"/>
              </a:rPr>
              <a:t>而</a:t>
            </a:r>
            <a:r>
              <a:rPr lang="zh-CN" altLang="zh-CN" sz="1200" kern="100" dirty="0">
                <a:effectLst/>
                <a:latin typeface="Times New Roman" panose="02020603050405020304" pitchFamily="18" charset="0"/>
                <a:ea typeface="宋体" panose="02010600030101010101" pitchFamily="2" charset="-122"/>
              </a:rPr>
              <a:t>自下而上是被音乐元素吸引。</a:t>
            </a:r>
            <a:endParaRPr lang="en-US" altLang="zh-CN" sz="1200" kern="100" dirty="0">
              <a:effectLst/>
              <a:latin typeface="Times New Roman" panose="02020603050405020304" pitchFamily="18" charset="0"/>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00" dirty="0">
              <a:effectLst/>
              <a:latin typeface="Times New Roman" panose="02020603050405020304" pitchFamily="18" charset="0"/>
              <a:ea typeface="宋体" panose="02010600030101010101" pitchFamily="2" charset="-122"/>
            </a:endParaRPr>
          </a:p>
          <a:p>
            <a:r>
              <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rPr>
              <a:t>据此认为在音乐对驾驶的影响中，还需要考虑驾驶员差异和音乐元素的影响</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effectLst/>
              </a:rPr>
              <a:t> </a:t>
            </a:r>
            <a:endParaRPr lang="en-US" altLang="zh-CN" dirty="0">
              <a:effectLst/>
            </a:endParaRPr>
          </a:p>
          <a:p>
            <a:endParaRPr kumimoji="1" lang="en-US" altLang="zh-CN"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00" dirty="0">
              <a:effectLst/>
              <a:latin typeface="Times New Roman" panose="02020603050405020304" pitchFamily="18" charset="0"/>
              <a:ea typeface="宋体" panose="02010600030101010101" pitchFamily="2" charset="-122"/>
            </a:endParaRPr>
          </a:p>
          <a:p>
            <a:endParaRPr lang="en-US" altLang="zh-CN" dirty="0">
              <a:effectLst/>
            </a:endParaRPr>
          </a:p>
          <a:p>
            <a:endParaRPr kumimoji="1" lang="zh-CN" altLang="en-US" dirty="0"/>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11</a:t>
            </a:fld>
            <a:endParaRPr kumimoji="1" lang="zh-CN" altLang="en-US"/>
          </a:p>
        </p:txBody>
      </p:sp>
    </p:spTree>
    <p:extLst>
      <p:ext uri="{BB962C8B-B14F-4D97-AF65-F5344CB8AC3E}">
        <p14:creationId xmlns:p14="http://schemas.microsoft.com/office/powerpoint/2010/main" val="30799615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有研究考虑了驾驶员差异的影响，</a:t>
            </a:r>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12</a:t>
            </a:fld>
            <a:endParaRPr kumimoji="1" lang="zh-CN" altLang="en-US"/>
          </a:p>
        </p:txBody>
      </p:sp>
    </p:spTree>
    <p:extLst>
      <p:ext uri="{BB962C8B-B14F-4D97-AF65-F5344CB8AC3E}">
        <p14:creationId xmlns:p14="http://schemas.microsoft.com/office/powerpoint/2010/main" val="29432650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已有研究发现内外向、气质类型的影响。内向驾驶员在慢速音乐下，驾驶更安全，而外向驾驶员在快速音乐下，则更好。相比于粘液质的驾驶员，胆汁质和多血质的驾驶员在听音乐时，更容易分心、车辆控制更差。</a:t>
            </a:r>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13</a:t>
            </a:fld>
            <a:endParaRPr kumimoji="1" lang="zh-CN" altLang="en-US"/>
          </a:p>
        </p:txBody>
      </p:sp>
    </p:spTree>
    <p:extLst>
      <p:ext uri="{BB962C8B-B14F-4D97-AF65-F5344CB8AC3E}">
        <p14:creationId xmlns:p14="http://schemas.microsoft.com/office/powerpoint/2010/main" val="41086748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人们如果对某类音乐有偏好，那么在日常中更可能倾向于收听该类音乐，</a:t>
            </a:r>
            <a:r>
              <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rPr>
              <a:t>受</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到该类音乐的影响更大。已发现，驾驶员的偏好</a:t>
            </a:r>
            <a:r>
              <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rPr>
              <a:t>在</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音乐对驾驶</a:t>
            </a:r>
            <a:r>
              <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rPr>
              <a:t>影响起</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作用</a:t>
            </a:r>
            <a:endParaRPr kumimoji="1" lang="en-US" altLang="zh-CN" dirty="0">
              <a:effectLst/>
            </a:endParaRPr>
          </a:p>
          <a:p>
            <a:endParaRPr kumimoji="1" lang="en-US" altLang="zh-CN" dirty="0"/>
          </a:p>
          <a:p>
            <a:r>
              <a:rPr kumimoji="1" lang="zh-CN" altLang="en-US" dirty="0"/>
              <a:t>在高偏好的音乐下，驾驶员才会有更高的唤醒和警觉，</a:t>
            </a:r>
            <a:endParaRPr kumimoji="1" lang="en-US" altLang="zh-CN" dirty="0"/>
          </a:p>
          <a:p>
            <a:r>
              <a:rPr lang="en-US" altLang="zh-CN" sz="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Cassidy </a:t>
            </a:r>
            <a:r>
              <a:rPr kumimoji="1" lang="zh-CN" altLang="en-US" sz="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也发现，在偏好的音乐下，躲避障碍物的准确性更高、</a:t>
            </a:r>
            <a:r>
              <a:rPr lang="zh-CN" altLang="en-US" sz="1200" dirty="0">
                <a:latin typeface="Microsoft YaHei" panose="020B0503020204020204" pitchFamily="34" charset="-122"/>
                <a:ea typeface="Microsoft YaHei" panose="020B0503020204020204" pitchFamily="34" charset="-122"/>
              </a:rPr>
              <a:t>愉悦度和集中度也最好</a:t>
            </a:r>
            <a:r>
              <a:rPr kumimoji="1" lang="zh-CN" altLang="en-US" sz="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a:t>
            </a:r>
            <a:endParaRPr kumimoji="1" lang="en-US" altLang="zh-CN" sz="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endParaRPr>
          </a:p>
          <a:p>
            <a:r>
              <a:rPr kumimoji="1" lang="zh-CN" altLang="en-US" sz="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另有研究调查了</a:t>
            </a:r>
            <a:r>
              <a:rPr kumimoji="1" lang="en-US" altLang="zh-CN" sz="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14</a:t>
            </a:r>
            <a:r>
              <a:rPr kumimoji="1" lang="zh-CN" altLang="en-US" sz="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类流派音乐偏好和冒险行为的关系，发现偏好古典、流行音乐的人与更少的冒险行为相关，偏好</a:t>
            </a:r>
            <a:r>
              <a:rPr lang="zh-CN" altLang="en-US" sz="1200" kern="100" dirty="0">
                <a:effectLst/>
                <a:latin typeface="+mj-ea"/>
                <a:ea typeface="+mj-ea"/>
                <a:cs typeface="Times New Roman" panose="02020603050405020304" pitchFamily="18" charset="0"/>
              </a:rPr>
              <a:t>说唱、金属类</a:t>
            </a:r>
            <a:r>
              <a:rPr lang="zh-CN" altLang="zh-CN" sz="1200" kern="100" dirty="0">
                <a:effectLst/>
                <a:latin typeface="+mj-ea"/>
                <a:ea typeface="+mj-ea"/>
                <a:cs typeface="Times New Roman" panose="02020603050405020304" pitchFamily="18" charset="0"/>
              </a:rPr>
              <a:t>的人</a:t>
            </a:r>
            <a:r>
              <a:rPr lang="zh-CN" altLang="en-US" sz="1200" kern="100" dirty="0">
                <a:effectLst/>
                <a:latin typeface="+mj-ea"/>
                <a:ea typeface="+mj-ea"/>
                <a:cs typeface="Times New Roman" panose="02020603050405020304" pitchFamily="18" charset="0"/>
              </a:rPr>
              <a:t>与</a:t>
            </a:r>
            <a:r>
              <a:rPr lang="zh-CN" altLang="zh-CN" sz="1200" kern="100" dirty="0">
                <a:effectLst/>
                <a:latin typeface="+mj-ea"/>
                <a:ea typeface="+mj-ea"/>
                <a:cs typeface="Times New Roman" panose="02020603050405020304" pitchFamily="18" charset="0"/>
              </a:rPr>
              <a:t>更高的</a:t>
            </a:r>
            <a:r>
              <a:rPr lang="zh-CN" altLang="en-US" sz="1200" kern="100" dirty="0">
                <a:effectLst/>
                <a:latin typeface="+mj-ea"/>
                <a:ea typeface="+mj-ea"/>
                <a:cs typeface="Times New Roman" panose="02020603050405020304" pitchFamily="18" charset="0"/>
              </a:rPr>
              <a:t>冒险行为相关</a:t>
            </a:r>
            <a:r>
              <a:rPr lang="en-US" altLang="zh-CN" sz="1200" dirty="0">
                <a:solidFill>
                  <a:schemeClr val="tx1">
                    <a:lumMod val="50000"/>
                    <a:lumOff val="50000"/>
                  </a:schemeClr>
                </a:solidFill>
                <a:latin typeface="+mj-ea"/>
                <a:ea typeface="+mj-ea"/>
              </a:rPr>
              <a:t> </a:t>
            </a:r>
            <a:r>
              <a:rPr lang="zh-CN" altLang="en-US" sz="1200" dirty="0">
                <a:solidFill>
                  <a:schemeClr val="tx1">
                    <a:lumMod val="50000"/>
                    <a:lumOff val="50000"/>
                  </a:schemeClr>
                </a:solidFill>
                <a:latin typeface="+mj-ea"/>
                <a:ea typeface="+mj-ea"/>
              </a:rPr>
              <a:t>。</a:t>
            </a:r>
            <a:endParaRPr kumimoji="1" lang="zh-CN" altLang="en-US" dirty="0"/>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14</a:t>
            </a:fld>
            <a:endParaRPr kumimoji="1" lang="zh-CN" altLang="en-US"/>
          </a:p>
        </p:txBody>
      </p:sp>
    </p:spTree>
    <p:extLst>
      <p:ext uri="{BB962C8B-B14F-4D97-AF65-F5344CB8AC3E}">
        <p14:creationId xmlns:p14="http://schemas.microsoft.com/office/powerpoint/2010/main" val="18461966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effectLst/>
            </a:endParaRPr>
          </a:p>
          <a:p>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目前研究已</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发现</a:t>
            </a:r>
            <a:r>
              <a:rPr lang="zh-CN" altLang="zh-CN" sz="1800" kern="100" dirty="0">
                <a:effectLst/>
                <a:latin typeface="+mj-ea"/>
                <a:ea typeface="+mj-ea"/>
                <a:cs typeface="Times New Roman" panose="02020603050405020304" pitchFamily="18" charset="0"/>
              </a:rPr>
              <a:t>对摇滚</a:t>
            </a:r>
            <a:r>
              <a:rPr lang="zh-CN" altLang="en-US" sz="1800" kern="100" dirty="0">
                <a:effectLst/>
                <a:latin typeface="+mj-ea"/>
                <a:ea typeface="+mj-ea"/>
                <a:cs typeface="Times New Roman" panose="02020603050405020304" pitchFamily="18" charset="0"/>
              </a:rPr>
              <a:t>等</a:t>
            </a:r>
            <a:r>
              <a:rPr lang="zh-CN" altLang="zh-CN" sz="1800" kern="100" dirty="0">
                <a:effectLst/>
                <a:latin typeface="+mj-ea"/>
                <a:ea typeface="+mj-ea"/>
                <a:cs typeface="Times New Roman" panose="02020603050405020304" pitchFamily="18" charset="0"/>
              </a:rPr>
              <a:t>音乐偏好的人</a:t>
            </a:r>
            <a:r>
              <a:rPr lang="zh-CN" altLang="en-US" sz="1800" kern="100" dirty="0">
                <a:effectLst/>
                <a:latin typeface="+mj-ea"/>
                <a:ea typeface="+mj-ea"/>
                <a:cs typeface="Times New Roman" panose="02020603050405020304" pitchFamily="18" charset="0"/>
              </a:rPr>
              <a:t>与</a:t>
            </a:r>
            <a:r>
              <a:rPr lang="zh-CN" altLang="zh-CN" sz="1800" kern="100" dirty="0">
                <a:effectLst/>
                <a:latin typeface="+mj-ea"/>
                <a:ea typeface="+mj-ea"/>
                <a:cs typeface="Times New Roman" panose="02020603050405020304" pitchFamily="18" charset="0"/>
              </a:rPr>
              <a:t>更高的感觉寻求</a:t>
            </a:r>
            <a:r>
              <a:rPr lang="zh-CN" altLang="zh-CN" sz="1800" kern="100" dirty="0">
                <a:effectLst/>
                <a:latin typeface="+mj-ea"/>
                <a:ea typeface="+mj-ea"/>
              </a:rPr>
              <a:t> </a:t>
            </a:r>
            <a:r>
              <a:rPr lang="en-US" altLang="zh-CN" sz="1200" dirty="0">
                <a:solidFill>
                  <a:schemeClr val="tx1">
                    <a:lumMod val="50000"/>
                    <a:lumOff val="50000"/>
                  </a:schemeClr>
                </a:solidFill>
                <a:latin typeface="+mj-ea"/>
                <a:ea typeface="+mj-ea"/>
              </a:rPr>
              <a:t>(Arnett, 1991)</a:t>
            </a:r>
            <a:r>
              <a:rPr lang="zh-CN" altLang="zh-CN" sz="1800" kern="100" dirty="0">
                <a:effectLst/>
                <a:latin typeface="+mj-ea"/>
                <a:ea typeface="+mj-ea"/>
                <a:cs typeface="Times New Roman" panose="02020603050405020304" pitchFamily="18" charset="0"/>
              </a:rPr>
              <a:t>、</a:t>
            </a:r>
            <a:r>
              <a:rPr lang="zh-CN" altLang="en-US" sz="1800" kern="100" dirty="0">
                <a:effectLst/>
                <a:latin typeface="+mj-ea"/>
                <a:ea typeface="+mj-ea"/>
                <a:cs typeface="Times New Roman" panose="02020603050405020304" pitchFamily="18" charset="0"/>
              </a:rPr>
              <a:t>冒险</a:t>
            </a:r>
            <a:r>
              <a:rPr lang="zh-CN" altLang="zh-CN" sz="1800" kern="100" dirty="0">
                <a:effectLst/>
                <a:latin typeface="+mj-ea"/>
                <a:ea typeface="+mj-ea"/>
                <a:cs typeface="Times New Roman" panose="02020603050405020304" pitchFamily="18" charset="0"/>
              </a:rPr>
              <a:t>行为倾向有关</a:t>
            </a:r>
            <a:r>
              <a:rPr lang="zh-CN" altLang="zh-CN" sz="1800" kern="100" dirty="0">
                <a:effectLst/>
                <a:latin typeface="+mj-ea"/>
                <a:ea typeface="+mj-ea"/>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1" kern="100" dirty="0">
                <a:effectLst/>
                <a:latin typeface="+mj-ea"/>
                <a:ea typeface="+mj-ea"/>
                <a:cs typeface="Times New Roman" panose="02020603050405020304" pitchFamily="18" charset="0"/>
              </a:rPr>
              <a:t>但没有研究关注音乐偏好对驾驶行为的影响</a:t>
            </a:r>
            <a:endParaRPr lang="en-US" altLang="zh-CN" sz="1800" b="1" kern="100" dirty="0">
              <a:effectLst/>
              <a:latin typeface="+mj-ea"/>
              <a:ea typeface="+mj-ea"/>
              <a:cs typeface="Times New Roman" panose="02020603050405020304" pitchFamily="18" charset="0"/>
            </a:endParaRPr>
          </a:p>
          <a:p>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因此需要进一步探究音乐偏好对驾驶行为有什么影响</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另一方面发现</a:t>
            </a:r>
            <a:r>
              <a:rPr lang="zh-CN" altLang="zh-CN" sz="1800" kern="100" dirty="0">
                <a:solidFill>
                  <a:srgbClr val="5B9BD5"/>
                </a:solidFill>
                <a:effectLst/>
                <a:latin typeface="Times New Roman Regular"/>
                <a:ea typeface="宋体" panose="02010600030101010101" pitchFamily="2" charset="-122"/>
                <a:cs typeface="Times New Roman Regular"/>
              </a:rPr>
              <a:t>健康人</a:t>
            </a:r>
            <a:r>
              <a:rPr lang="zh-CN" altLang="en-US" sz="1800" kern="100" dirty="0">
                <a:solidFill>
                  <a:srgbClr val="5B9BD5"/>
                </a:solidFill>
                <a:effectLst/>
                <a:latin typeface="Times New Roman Regular"/>
                <a:ea typeface="宋体" panose="02010600030101010101" pitchFamily="2" charset="-122"/>
                <a:cs typeface="Times New Roman Regular"/>
              </a:rPr>
              <a:t>群</a:t>
            </a:r>
            <a:r>
              <a:rPr lang="zh-CN" altLang="zh-CN" sz="1800" kern="100" dirty="0">
                <a:solidFill>
                  <a:srgbClr val="5B9BD5"/>
                </a:solidFill>
                <a:effectLst/>
                <a:latin typeface="Times New Roman Regular"/>
                <a:ea typeface="宋体" panose="02010600030101010101" pitchFamily="2" charset="-122"/>
                <a:cs typeface="Times New Roman Regular"/>
              </a:rPr>
              <a:t>听</a:t>
            </a:r>
            <a:r>
              <a:rPr lang="zh-CN" altLang="en-US" sz="1800" kern="100" dirty="0">
                <a:solidFill>
                  <a:srgbClr val="5B9BD5"/>
                </a:solidFill>
                <a:effectLst/>
                <a:latin typeface="Times New Roman Regular"/>
                <a:ea typeface="宋体" panose="02010600030101010101" pitchFamily="2" charset="-122"/>
                <a:cs typeface="Times New Roman Regular"/>
              </a:rPr>
              <a:t>悲伤</a:t>
            </a:r>
            <a:r>
              <a:rPr lang="zh-CN" altLang="zh-CN" sz="1800" kern="100" dirty="0">
                <a:solidFill>
                  <a:srgbClr val="5B9BD5"/>
                </a:solidFill>
                <a:effectLst/>
                <a:latin typeface="Times New Roman Regular"/>
                <a:ea typeface="宋体" panose="02010600030101010101" pitchFamily="2" charset="-122"/>
                <a:cs typeface="Times New Roman Regular"/>
              </a:rPr>
              <a:t>的音乐</a:t>
            </a:r>
            <a:r>
              <a:rPr lang="zh-CN" altLang="en-US" sz="1800" kern="100" dirty="0">
                <a:solidFill>
                  <a:srgbClr val="5B9BD5"/>
                </a:solidFill>
                <a:effectLst/>
                <a:latin typeface="Times New Roman Regular"/>
                <a:ea typeface="宋体" panose="02010600030101010101" pitchFamily="2" charset="-122"/>
                <a:cs typeface="Times New Roman Regular"/>
              </a:rPr>
              <a:t>可以获得</a:t>
            </a:r>
            <a:r>
              <a:rPr lang="zh-CN" altLang="zh-CN" sz="1800" kern="100" dirty="0">
                <a:solidFill>
                  <a:srgbClr val="5B9BD5"/>
                </a:solidFill>
                <a:effectLst/>
                <a:latin typeface="Times New Roman Regular"/>
                <a:ea typeface="宋体" panose="02010600030101010101" pitchFamily="2" charset="-122"/>
                <a:cs typeface="Times New Roman Regular"/>
              </a:rPr>
              <a:t>安慰、对情绪状态</a:t>
            </a:r>
            <a:r>
              <a:rPr lang="zh-CN" altLang="en-US" sz="1800" kern="100" dirty="0">
                <a:solidFill>
                  <a:srgbClr val="5B9BD5"/>
                </a:solidFill>
                <a:effectLst/>
                <a:latin typeface="Times New Roman Regular"/>
                <a:ea typeface="宋体" panose="02010600030101010101" pitchFamily="2" charset="-122"/>
                <a:cs typeface="Times New Roman Regular"/>
              </a:rPr>
              <a:t>有</a:t>
            </a:r>
            <a:r>
              <a:rPr lang="zh-CN" altLang="zh-CN" sz="1800" kern="100" dirty="0">
                <a:solidFill>
                  <a:srgbClr val="5B9BD5"/>
                </a:solidFill>
                <a:effectLst/>
                <a:latin typeface="Times New Roman Regular"/>
                <a:ea typeface="宋体" panose="02010600030101010101" pitchFamily="2" charset="-122"/>
                <a:cs typeface="Times New Roman Regular"/>
              </a:rPr>
              <a:t>更多洞察力</a:t>
            </a:r>
            <a:r>
              <a:rPr lang="en-US" altLang="zh-CN" sz="1800" kern="100" dirty="0">
                <a:solidFill>
                  <a:srgbClr val="5B9BD5"/>
                </a:solidFill>
                <a:effectLst/>
                <a:latin typeface="Times New Roman Regular"/>
                <a:ea typeface="宋体" panose="02010600030101010101" pitchFamily="2" charset="-122"/>
                <a:cs typeface="Times New Roman" panose="02020603050405020304" pitchFamily="18" charset="0"/>
              </a:rPr>
              <a:t>(</a:t>
            </a:r>
            <a:r>
              <a:rPr lang="en-US" altLang="zh-CN" sz="1800" kern="100" dirty="0" err="1">
                <a:solidFill>
                  <a:srgbClr val="5B9BD5"/>
                </a:solidFill>
                <a:effectLst/>
                <a:latin typeface="Times New Roman Regular"/>
                <a:ea typeface="宋体" panose="02010600030101010101" pitchFamily="2" charset="-122"/>
                <a:cs typeface="Times New Roman" panose="02020603050405020304" pitchFamily="18" charset="0"/>
              </a:rPr>
              <a:t>Skånland</a:t>
            </a:r>
            <a:r>
              <a:rPr lang="en-US" altLang="zh-CN" sz="1800" kern="100" dirty="0">
                <a:solidFill>
                  <a:srgbClr val="5B9BD5"/>
                </a:solidFill>
                <a:effectLst/>
                <a:latin typeface="Times New Roman Regular"/>
                <a:ea typeface="宋体" panose="02010600030101010101" pitchFamily="2" charset="-122"/>
                <a:cs typeface="Times New Roman" panose="02020603050405020304" pitchFamily="18" charset="0"/>
              </a:rPr>
              <a:t>, 2013)</a:t>
            </a:r>
            <a:r>
              <a:rPr lang="zh-CN" altLang="zh-CN" sz="1800" kern="100" dirty="0">
                <a:solidFill>
                  <a:srgbClr val="5B9BD5"/>
                </a:solidFill>
                <a:effectLst/>
                <a:latin typeface="Times New Roman Regular"/>
                <a:ea typeface="宋体" panose="02010600030101010101" pitchFamily="2" charset="-122"/>
                <a:cs typeface="Times New Roman Regular"/>
              </a:rPr>
              <a:t>。</a:t>
            </a:r>
            <a:r>
              <a:rPr lang="zh-CN" altLang="en-US" sz="1800" dirty="0">
                <a:effectLst/>
                <a:latin typeface="+mj-ea"/>
                <a:ea typeface="+mj-ea"/>
              </a:rPr>
              <a:t>而抑郁人群听悲伤音乐与更高的反刍、社会隔离和情绪调节失败有关，说明</a:t>
            </a:r>
            <a:r>
              <a:rPr lang="zh-CN" altLang="zh-CN" sz="1800" kern="100" dirty="0">
                <a:solidFill>
                  <a:srgbClr val="5B9BD5"/>
                </a:solidFill>
                <a:effectLst/>
                <a:latin typeface="Times New Roman Regular"/>
                <a:ea typeface="宋体" panose="02010600030101010101" pitchFamily="2" charset="-122"/>
                <a:cs typeface="Times New Roman Regular"/>
              </a:rPr>
              <a:t>情绪调控能力会影响一个人</a:t>
            </a:r>
            <a:r>
              <a:rPr lang="zh-CN" altLang="en-US" sz="1800" kern="100" dirty="0">
                <a:solidFill>
                  <a:srgbClr val="5B9BD5"/>
                </a:solidFill>
                <a:effectLst/>
                <a:latin typeface="Times New Roman Regular"/>
                <a:ea typeface="宋体" panose="02010600030101010101" pitchFamily="2" charset="-122"/>
                <a:cs typeface="Times New Roman Regular"/>
              </a:rPr>
              <a:t>对音乐的反应</a:t>
            </a:r>
            <a:r>
              <a:rPr lang="zh-CN" altLang="zh-CN" sz="1800" kern="100" dirty="0">
                <a:solidFill>
                  <a:srgbClr val="5B9BD5"/>
                </a:solidFill>
                <a:effectLst/>
                <a:latin typeface="Times New Roman Regular"/>
                <a:ea typeface="宋体" panose="02010600030101010101" pitchFamily="2" charset="-122"/>
                <a:cs typeface="Times New Roman Regular"/>
              </a:rPr>
              <a:t>。</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而</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情绪调控</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能力与驾驶安全相关</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。情绪调控能力越差，有更多的危险驾驶</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行为</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因此，在音乐偏好对驾驶行为的影响中，情绪调控能力可能有调节作用。</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需要进一步探究这三者间的关系</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15</a:t>
            </a:fld>
            <a:endParaRPr kumimoji="1" lang="zh-CN" altLang="en-US"/>
          </a:p>
        </p:txBody>
      </p:sp>
    </p:spTree>
    <p:extLst>
      <p:ext uri="{BB962C8B-B14F-4D97-AF65-F5344CB8AC3E}">
        <p14:creationId xmlns:p14="http://schemas.microsoft.com/office/powerpoint/2010/main" val="7532659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rPr>
              <a:t>在音乐对驾驶的影响中，另一方面考虑音乐元素的影响</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effectLst/>
              </a:rPr>
              <a:t> </a:t>
            </a:r>
            <a:endParaRPr lang="en-US" altLang="zh-CN" dirty="0">
              <a:effectLst/>
            </a:endParaRPr>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16</a:t>
            </a:fld>
            <a:endParaRPr kumimoji="1" lang="zh-CN" altLang="en-US"/>
          </a:p>
        </p:txBody>
      </p:sp>
    </p:spTree>
    <p:extLst>
      <p:ext uri="{BB962C8B-B14F-4D97-AF65-F5344CB8AC3E}">
        <p14:creationId xmlns:p14="http://schemas.microsoft.com/office/powerpoint/2010/main" val="29828293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rPr>
              <a:t>音乐感知的基本元素有音高、音色、节奏和响度</a:t>
            </a:r>
            <a:r>
              <a:rPr lang="zh-CN" altLang="en-US"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这四种基本要素的相互结合塑造了音乐整体的构架 </a:t>
            </a:r>
            <a:r>
              <a:rPr lang="en-US" altLang="zh-CN" sz="1800" kern="0" dirty="0">
                <a:effectLst/>
                <a:latin typeface="Times New Roman" panose="02020603050405020304" pitchFamily="18" charset="0"/>
                <a:ea typeface="宋体" panose="02010600030101010101" pitchFamily="2" charset="-122"/>
              </a:rPr>
              <a:t>(</a:t>
            </a:r>
            <a:r>
              <a:rPr lang="zh-CN" altLang="zh-CN" sz="1800" kern="0" dirty="0">
                <a:effectLst/>
                <a:latin typeface="Times New Roman" panose="02020603050405020304" pitchFamily="18" charset="0"/>
                <a:ea typeface="宋体" panose="02010600030101010101" pitchFamily="2" charset="-122"/>
              </a:rPr>
              <a:t>陈玉田</a:t>
            </a:r>
            <a:r>
              <a:rPr lang="en-US" altLang="zh-CN" sz="1800" kern="0" dirty="0">
                <a:effectLst/>
                <a:latin typeface="Times New Roman" panose="02020603050405020304" pitchFamily="18" charset="0"/>
                <a:ea typeface="宋体" panose="02010600030101010101" pitchFamily="2" charset="-122"/>
              </a:rPr>
              <a:t>, 2022)</a:t>
            </a:r>
            <a:r>
              <a:rPr lang="zh-CN" altLang="zh-CN" sz="1800" kern="100" dirty="0">
                <a:effectLst/>
                <a:latin typeface="Times New Roman" panose="02020603050405020304" pitchFamily="18" charset="0"/>
                <a:ea typeface="宋体" panose="02010600030101010101" pitchFamily="2" charset="-122"/>
              </a:rPr>
              <a:t>。</a:t>
            </a:r>
            <a:endParaRPr lang="en-US" altLang="zh-CN" sz="1800" kern="100" dirty="0">
              <a:effectLst/>
              <a:latin typeface="Times New Roman" panose="02020603050405020304" pitchFamily="18" charset="0"/>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1800" kern="100" dirty="0">
              <a:effectLst/>
              <a:latin typeface="Times New Roman" panose="02020603050405020304" pitchFamily="18" charset="0"/>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err="1">
                <a:effectLst/>
                <a:latin typeface="Times New Roman" panose="02020603050405020304" pitchFamily="18" charset="0"/>
                <a:ea typeface="宋体" panose="02010600030101010101" pitchFamily="2" charset="-122"/>
              </a:rPr>
              <a:t>Peretz</a:t>
            </a:r>
            <a:r>
              <a:rPr lang="zh-CN" altLang="zh-CN" sz="1800" kern="100" dirty="0">
                <a:effectLst/>
                <a:latin typeface="Times New Roman" panose="02020603050405020304" pitchFamily="18" charset="0"/>
                <a:ea typeface="宋体" panose="02010600030101010101" pitchFamily="2" charset="-122"/>
              </a:rPr>
              <a:t>等人</a:t>
            </a:r>
            <a:r>
              <a:rPr lang="zh-CN" altLang="en-US" sz="1800" kern="100" dirty="0">
                <a:effectLst/>
                <a:latin typeface="Times New Roman" panose="02020603050405020304" pitchFamily="18" charset="0"/>
                <a:ea typeface="宋体" panose="02010600030101010101" pitchFamily="2" charset="-122"/>
              </a:rPr>
              <a:t>提出了音乐感知模型，</a:t>
            </a:r>
            <a:r>
              <a:rPr lang="zh-CN" altLang="zh-CN" sz="1800" kern="100" dirty="0">
                <a:effectLst/>
                <a:latin typeface="Times New Roman" panose="02020603050405020304" pitchFamily="18" charset="0"/>
                <a:ea typeface="宋体" panose="02010600030101010101" pitchFamily="2" charset="-122"/>
              </a:rPr>
              <a:t>认为在音乐感知过程中，音乐首先是作为一个声音刺激输入，要经过一个声音分析模块</a:t>
            </a:r>
            <a:r>
              <a:rPr lang="zh-CN" altLang="en-US" sz="1800" kern="100" dirty="0">
                <a:effectLst/>
                <a:latin typeface="Times New Roman" panose="02020603050405020304" pitchFamily="18" charset="0"/>
                <a:ea typeface="宋体" panose="02010600030101010101" pitchFamily="2" charset="-122"/>
              </a:rPr>
              <a:t>，包括</a:t>
            </a:r>
            <a:r>
              <a:rPr lang="zh-CN" altLang="zh-CN" sz="1800" kern="100" dirty="0">
                <a:effectLst/>
                <a:latin typeface="Times New Roman" panose="02020603050405020304" pitchFamily="18" charset="0"/>
                <a:ea typeface="宋体" panose="02010600030101010101" pitchFamily="2" charset="-122"/>
              </a:rPr>
              <a:t>两个具有特定功能</a:t>
            </a:r>
            <a:r>
              <a:rPr lang="zh-CN" altLang="en-US"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并行</a:t>
            </a:r>
            <a:r>
              <a:rPr lang="zh-CN" altLang="en-US" sz="1800" kern="100" dirty="0">
                <a:effectLst/>
                <a:latin typeface="Times New Roman" panose="02020603050405020304" pitchFamily="18" charset="0"/>
                <a:ea typeface="宋体" panose="02010600030101010101" pitchFamily="2" charset="-122"/>
              </a:rPr>
              <a:t>的</a:t>
            </a:r>
            <a:r>
              <a:rPr lang="zh-CN" altLang="zh-CN" sz="1800" kern="100" dirty="0">
                <a:effectLst/>
                <a:latin typeface="Times New Roman" panose="02020603050405020304" pitchFamily="18" charset="0"/>
                <a:ea typeface="宋体" panose="02010600030101010101" pitchFamily="2" charset="-122"/>
              </a:rPr>
              <a:t>独立系统：一个系统针对旋律维度，包括了音高、音阶和音程；</a:t>
            </a:r>
            <a:r>
              <a:rPr lang="zh-CN" altLang="en-US" sz="1800" kern="100" dirty="0">
                <a:effectLst/>
                <a:latin typeface="Times New Roman" panose="02020603050405020304" pitchFamily="18" charset="0"/>
                <a:ea typeface="宋体" panose="02010600030101010101" pitchFamily="2" charset="-122"/>
              </a:rPr>
              <a:t>另</a:t>
            </a:r>
            <a:r>
              <a:rPr lang="zh-CN" altLang="zh-CN" sz="1800" kern="100" dirty="0">
                <a:effectLst/>
                <a:latin typeface="Times New Roman" panose="02020603050405020304" pitchFamily="18" charset="0"/>
                <a:ea typeface="宋体" panose="02010600030101010101" pitchFamily="2" charset="-122"/>
              </a:rPr>
              <a:t>一个系统针对时间维度，包括</a:t>
            </a:r>
            <a:r>
              <a:rPr lang="zh-CN" altLang="en-US" sz="1800" kern="100" dirty="0">
                <a:effectLst/>
                <a:latin typeface="Times New Roman" panose="02020603050405020304" pitchFamily="18" charset="0"/>
                <a:ea typeface="宋体" panose="02010600030101010101" pitchFamily="2" charset="-122"/>
              </a:rPr>
              <a:t>声音持续的</a:t>
            </a:r>
            <a:r>
              <a:rPr lang="zh-CN" altLang="zh-CN" sz="1800" kern="100" dirty="0">
                <a:effectLst/>
                <a:latin typeface="Times New Roman" panose="02020603050405020304" pitchFamily="18" charset="0"/>
                <a:ea typeface="宋体" panose="02010600030101010101" pitchFamily="2" charset="-122"/>
              </a:rPr>
              <a:t>分组和规律性分析。</a:t>
            </a:r>
            <a:r>
              <a:rPr lang="zh-CN" altLang="en-US" sz="1800" kern="100" dirty="0">
                <a:effectLst/>
                <a:latin typeface="Times New Roman" panose="02020603050405020304" pitchFamily="18" charset="0"/>
                <a:ea typeface="宋体" panose="02010600030101010101" pitchFamily="2" charset="-122"/>
              </a:rPr>
              <a:t>这个</a:t>
            </a:r>
            <a:r>
              <a:rPr lang="zh-CN" altLang="zh-CN" sz="1800" kern="100" dirty="0">
                <a:effectLst/>
                <a:latin typeface="Times New Roman" panose="02020603050405020304" pitchFamily="18" charset="0"/>
                <a:ea typeface="宋体" panose="02010600030101010101" pitchFamily="2" charset="-122"/>
              </a:rPr>
              <a:t>音乐模型强调了音乐的空间和时间变化两个维度。结合音乐感知的基本元素来看，空间即音高，时间即节奏。</a:t>
            </a:r>
            <a:r>
              <a:rPr lang="zh-CN" altLang="en-US" sz="1800" kern="100" dirty="0">
                <a:effectLst/>
                <a:latin typeface="Times New Roman" panose="02020603050405020304" pitchFamily="18" charset="0"/>
                <a:ea typeface="宋体" panose="02010600030101010101" pitchFamily="2" charset="-122"/>
              </a:rPr>
              <a:t>因此重点考虑音高、节奏的影响。</a:t>
            </a:r>
            <a:endParaRPr lang="zh-CN" altLang="zh-CN" sz="1800" kern="100" dirty="0">
              <a:effectLst/>
              <a:latin typeface="Times New Roman" panose="02020603050405020304" pitchFamily="18" charset="0"/>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17</a:t>
            </a:fld>
            <a:endParaRPr kumimoji="1" lang="zh-CN" altLang="en-US"/>
          </a:p>
        </p:txBody>
      </p:sp>
    </p:spTree>
    <p:extLst>
      <p:ext uri="{BB962C8B-B14F-4D97-AF65-F5344CB8AC3E}">
        <p14:creationId xmlns:p14="http://schemas.microsoft.com/office/powerpoint/2010/main" val="30027008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音高被认为是最主要的音乐特征之一</a:t>
            </a:r>
            <a:r>
              <a:rPr lang="zh-CN" altLang="zh-CN" sz="1800" kern="100" dirty="0">
                <a:effectLst/>
                <a:ea typeface="Times New Roman" panose="02020603050405020304" pitchFamily="18" charset="0"/>
              </a:rPr>
              <a:t> </a:t>
            </a:r>
            <a:r>
              <a:rPr lang="en-US" altLang="zh-CN" sz="1800" kern="100" dirty="0">
                <a:effectLst/>
                <a:latin typeface="Times New Roman" panose="02020603050405020304" pitchFamily="18" charset="0"/>
                <a:ea typeface="宋体" panose="02010600030101010101" pitchFamily="2" charset="-122"/>
              </a:rPr>
              <a:t>(</a:t>
            </a:r>
            <a:r>
              <a:rPr lang="en-US" altLang="zh-CN" sz="1800" kern="100" dirty="0" err="1">
                <a:effectLst/>
                <a:latin typeface="Times New Roman" panose="02020603050405020304" pitchFamily="18" charset="0"/>
                <a:ea typeface="宋体" panose="02010600030101010101" pitchFamily="2" charset="-122"/>
              </a:rPr>
              <a:t>Karydis</a:t>
            </a:r>
            <a:r>
              <a:rPr lang="en-US" altLang="zh-CN" sz="1800" kern="100" dirty="0">
                <a:effectLst/>
                <a:latin typeface="Times New Roman" panose="02020603050405020304" pitchFamily="18" charset="0"/>
                <a:ea typeface="宋体" panose="02010600030101010101" pitchFamily="2" charset="-122"/>
              </a:rPr>
              <a:t>, 2006)</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dirty="0">
              <a:effectLst/>
            </a:endParaRPr>
          </a:p>
          <a:p>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目前在音乐对驾驶研究主题中，没有研究关注音高的影响。但许多研究都发现音高对情绪、认知的影响。而这两者对驾驶行为都会有重要影响。</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。情绪上，在高音下，被试在完成任务时的主观唤醒度更高、觉得更愉快</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2800" dirty="0">
                <a:latin typeface="Microsoft YaHei" panose="020B0503020204020204" pitchFamily="34" charset="-122"/>
                <a:ea typeface="Microsoft YaHei" panose="020B0503020204020204" pitchFamily="34" charset="-122"/>
              </a:rPr>
              <a:t>身体控制速度更快、感觉容易</a:t>
            </a:r>
            <a:endParaRPr lang="en-US" altLang="zh-CN" sz="2800" dirty="0">
              <a:latin typeface="Microsoft YaHei" panose="020B0503020204020204" pitchFamily="34" charset="-122"/>
              <a:ea typeface="Microsoft YaHei" panose="020B0503020204020204" pitchFamily="34" charset="-122"/>
            </a:endParaRPr>
          </a:p>
          <a:p>
            <a:endParaRPr kumimoji="1" lang="en-US" altLang="zh-CN" sz="2800" dirty="0">
              <a:latin typeface="Microsoft YaHei" panose="020B0503020204020204" pitchFamily="34" charset="-122"/>
              <a:ea typeface="Microsoft YaHei" panose="020B0503020204020204" pitchFamily="34" charset="-122"/>
            </a:endParaRPr>
          </a:p>
          <a:p>
            <a:r>
              <a:rPr lang="en-US" altLang="zh-CN" sz="1200" kern="100" dirty="0">
                <a:effectLst/>
                <a:latin typeface="Times New Roman" panose="02020603050405020304" pitchFamily="18" charset="0"/>
                <a:ea typeface="宋体" panose="02010600030101010101" pitchFamily="2" charset="-122"/>
              </a:rPr>
              <a:t>Sunaga (2018)</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则发现音高会影响距离感知，</a:t>
            </a:r>
            <a:r>
              <a:rPr lang="zh-CN" altLang="en-US" sz="1800" dirty="0">
                <a:latin typeface="Microsoft YaHei" panose="020B0503020204020204" pitchFamily="34" charset="-122"/>
                <a:ea typeface="Microsoft YaHei" panose="020B0503020204020204" pitchFamily="34" charset="-122"/>
              </a:rPr>
              <a:t>当参与者听低音音乐时，他们感知的距离更远</a:t>
            </a:r>
            <a:endParaRPr lang="en-US" altLang="zh-CN" sz="1800" dirty="0">
              <a:latin typeface="Microsoft YaHei" panose="020B0503020204020204" pitchFamily="34" charset="-122"/>
              <a:ea typeface="Microsoft YaHei" panose="020B0503020204020204" pitchFamily="34" charset="-122"/>
            </a:endParaRPr>
          </a:p>
          <a:p>
            <a:r>
              <a:rPr lang="en-US" altLang="zh-CN" sz="1200" dirty="0">
                <a:effectLst/>
                <a:latin typeface="Times New Roman" panose="02020603050405020304" pitchFamily="18" charset="0"/>
                <a:ea typeface="宋体" panose="02010600030101010101" pitchFamily="2" charset="-122"/>
              </a:rPr>
              <a:t>Zhang</a:t>
            </a:r>
            <a:r>
              <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rPr>
              <a:t>等</a:t>
            </a:r>
            <a:r>
              <a:rPr lang="en-US" altLang="zh-CN" sz="1200" dirty="0">
                <a:effectLst/>
                <a:latin typeface="Times New Roman" panose="02020603050405020304" pitchFamily="18" charset="0"/>
                <a:ea typeface="宋体" panose="02010600030101010101" pitchFamily="2" charset="-122"/>
              </a:rPr>
              <a:t> (2021)</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设计的任务是让被试去控制挡板，目标是阻挡掉落的小球。结果发现在高音下，被试感知小球掉落的速度更快，因此更快的释放出挡板。</a:t>
            </a:r>
            <a:endParaRPr kumimoji="1" lang="zh-CN" altLang="en-US" dirty="0"/>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18</a:t>
            </a:fld>
            <a:endParaRPr kumimoji="1" lang="zh-CN" altLang="en-US"/>
          </a:p>
        </p:txBody>
      </p:sp>
    </p:spTree>
    <p:extLst>
      <p:ext uri="{BB962C8B-B14F-4D97-AF65-F5344CB8AC3E}">
        <p14:creationId xmlns:p14="http://schemas.microsoft.com/office/powerpoint/2010/main" val="15708527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整合以往研究结果，</a:t>
            </a:r>
            <a:r>
              <a:rPr lang="zh-CN" altLang="zh-CN" sz="1200" kern="100" dirty="0">
                <a:effectLst/>
                <a:latin typeface="Microsoft YaHei" panose="020B0503020204020204" pitchFamily="34" charset="-122"/>
                <a:ea typeface="Microsoft YaHei" panose="020B0503020204020204" pitchFamily="34" charset="-122"/>
                <a:cs typeface="Times New Roman" panose="02020603050405020304" pitchFamily="18" charset="0"/>
              </a:rPr>
              <a:t>音高对情绪、速度感知、距离感知、空间位置感知和运动控制都有影响，而这些</a:t>
            </a:r>
            <a:r>
              <a:rPr lang="zh-CN" altLang="en-US" sz="1200" kern="100" dirty="0">
                <a:effectLst/>
                <a:latin typeface="Microsoft YaHei" panose="020B0503020204020204" pitchFamily="34" charset="-122"/>
                <a:ea typeface="Microsoft YaHei" panose="020B0503020204020204" pitchFamily="34" charset="-122"/>
                <a:cs typeface="Times New Roman" panose="02020603050405020304" pitchFamily="18" charset="0"/>
              </a:rPr>
              <a:t>对驾驶</a:t>
            </a:r>
            <a:r>
              <a:rPr lang="zh-CN" altLang="en-US" sz="1200" b="1" kern="100" dirty="0">
                <a:solidFill>
                  <a:srgbClr val="4472C4"/>
                </a:solidFill>
                <a:effectLst/>
                <a:latin typeface="+mj-ea"/>
                <a:ea typeface="+mj-ea"/>
                <a:cs typeface="Times New Roman" panose="02020603050405020304" pitchFamily="18" charset="0"/>
              </a:rPr>
              <a:t>行为</a:t>
            </a:r>
            <a:r>
              <a:rPr lang="zh-CN" altLang="en-US" sz="1200" kern="100" dirty="0">
                <a:effectLst/>
                <a:latin typeface="Microsoft YaHei" panose="020B0503020204020204" pitchFamily="34" charset="-122"/>
                <a:ea typeface="Microsoft YaHei" panose="020B0503020204020204" pitchFamily="34" charset="-122"/>
                <a:cs typeface="Times New Roman" panose="02020603050405020304" pitchFamily="18" charset="0"/>
              </a:rPr>
              <a:t>都是有重要的影响</a:t>
            </a:r>
            <a:r>
              <a:rPr lang="zh-CN" altLang="zh-CN" sz="1200" kern="100" dirty="0">
                <a:effectLst/>
                <a:latin typeface="Microsoft YaHei" panose="020B0503020204020204" pitchFamily="34" charset="-122"/>
                <a:ea typeface="Microsoft YaHei" panose="020B0503020204020204" pitchFamily="34" charset="-122"/>
                <a:cs typeface="Times New Roman" panose="02020603050405020304" pitchFamily="18" charset="0"/>
              </a:rPr>
              <a:t>。</a:t>
            </a:r>
            <a:endParaRPr lang="en-US" altLang="zh-CN" sz="1200"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目前的研究中，缺乏关注音高的影响。</a:t>
            </a:r>
            <a:r>
              <a:rPr lang="zh-CN" altLang="zh-CN" sz="1200" b="1" dirty="0">
                <a:effectLst/>
                <a:latin typeface="Microsoft YaHei" panose="020B0503020204020204" pitchFamily="34" charset="-122"/>
                <a:ea typeface="Microsoft YaHei" panose="020B0503020204020204" pitchFamily="34" charset="-122"/>
              </a:rPr>
              <a:t> </a:t>
            </a:r>
            <a:endParaRPr lang="en-US" altLang="zh-CN" sz="1200" b="1" dirty="0">
              <a:effectLst/>
              <a:latin typeface="Microsoft YaHei" panose="020B0503020204020204" pitchFamily="34" charset="-122"/>
              <a:ea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effectLst/>
                <a:latin typeface="Microsoft YaHei" panose="020B0503020204020204" pitchFamily="34" charset="-122"/>
                <a:ea typeface="Microsoft YaHei" panose="020B0503020204020204" pitchFamily="34" charset="-122"/>
              </a:rPr>
              <a:t>因此提出问题，</a:t>
            </a:r>
            <a:r>
              <a:rPr lang="zh-CN" altLang="en-US" sz="1200" b="1" kern="100" dirty="0">
                <a:solidFill>
                  <a:srgbClr val="4472C4"/>
                </a:solidFill>
                <a:effectLst/>
                <a:latin typeface="+mj-ea"/>
                <a:ea typeface="+mj-ea"/>
                <a:cs typeface="Times New Roman" panose="02020603050405020304" pitchFamily="18" charset="0"/>
              </a:rPr>
              <a:t>音高如何影响不同流派音乐对驾驶行为的影响？</a:t>
            </a:r>
            <a:endParaRPr lang="zh-CN" altLang="en-US" b="1" dirty="0">
              <a:solidFill>
                <a:srgbClr val="4472C4"/>
              </a:solidFill>
              <a:latin typeface="+mj-ea"/>
              <a:ea typeface="+mj-ea"/>
            </a:endParaRPr>
          </a:p>
          <a:p>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19</a:t>
            </a:fld>
            <a:endParaRPr kumimoji="1" lang="zh-CN" altLang="en-US"/>
          </a:p>
        </p:txBody>
      </p:sp>
    </p:spTree>
    <p:extLst>
      <p:ext uri="{BB962C8B-B14F-4D97-AF65-F5344CB8AC3E}">
        <p14:creationId xmlns:p14="http://schemas.microsoft.com/office/powerpoint/2010/main" val="899530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kern="100" dirty="0">
                <a:effectLst/>
                <a:latin typeface="Times New Roman" panose="02020603050405020304" pitchFamily="18" charset="0"/>
                <a:ea typeface="宋体" panose="02010600030101010101" pitchFamily="2" charset="-122"/>
              </a:rPr>
              <a:t>另一个重要的音乐元素是节奏</a:t>
            </a:r>
            <a:endParaRPr lang="en-US" altLang="zh-CN" sz="1800" kern="100" dirty="0">
              <a:effectLst/>
              <a:latin typeface="Times New Roman" panose="02020603050405020304" pitchFamily="18" charset="0"/>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1800" kern="100" dirty="0">
              <a:effectLst/>
              <a:latin typeface="Times New Roman" panose="02020603050405020304" pitchFamily="18" charset="0"/>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20</a:t>
            </a:fld>
            <a:endParaRPr kumimoji="1" lang="zh-CN" altLang="en-US"/>
          </a:p>
        </p:txBody>
      </p:sp>
    </p:spTree>
    <p:extLst>
      <p:ext uri="{BB962C8B-B14F-4D97-AF65-F5344CB8AC3E}">
        <p14:creationId xmlns:p14="http://schemas.microsoft.com/office/powerpoint/2010/main" val="39841911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effectLst/>
              </a:rPr>
              <a:t>针对节奏这个元素</a:t>
            </a:r>
            <a:endParaRPr kumimoji="1" lang="en-US" altLang="zh-CN"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rPr>
              <a:t>以往研究通常从音乐速度来研究节奏的影响。</a:t>
            </a:r>
            <a:r>
              <a:rPr kumimoji="1" lang="zh-CN" altLang="en-US" sz="1800" dirty="0">
                <a:effectLst/>
              </a:rPr>
              <a:t>速度是节奏的一个亚属性</a:t>
            </a:r>
            <a:endParaRPr kumimoji="1" lang="en-US" altLang="zh-CN" sz="180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rPr>
              <a:t>定义较为统一，是指单位时间内音乐进行的快慢，单位是音乐每分钟的节拍数。对于</a:t>
            </a:r>
            <a:r>
              <a:rPr lang="zh-CN" altLang="en-US" sz="1800" kern="100" dirty="0">
                <a:effectLst/>
                <a:latin typeface="Times New Roman" panose="02020603050405020304" pitchFamily="18" charset="0"/>
                <a:ea typeface="宋体" panose="02010600030101010101" pitchFamily="2" charset="-122"/>
              </a:rPr>
              <a:t>速度划分</a:t>
            </a:r>
            <a:r>
              <a:rPr lang="zh-CN" altLang="zh-CN" sz="1800" kern="100" dirty="0">
                <a:effectLst/>
                <a:latin typeface="Times New Roman" panose="02020603050405020304" pitchFamily="18" charset="0"/>
                <a:ea typeface="宋体" panose="02010600030101010101" pitchFamily="2" charset="-122"/>
              </a:rPr>
              <a:t>，大体都在某一范围。</a:t>
            </a:r>
          </a:p>
          <a:p>
            <a:endParaRPr kumimoji="1" lang="zh-CN" altLang="en-US" dirty="0"/>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21</a:t>
            </a:fld>
            <a:endParaRPr kumimoji="1" lang="zh-CN" altLang="en-US"/>
          </a:p>
        </p:txBody>
      </p:sp>
    </p:spTree>
    <p:extLst>
      <p:ext uri="{BB962C8B-B14F-4D97-AF65-F5344CB8AC3E}">
        <p14:creationId xmlns:p14="http://schemas.microsoft.com/office/powerpoint/2010/main" val="3655388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有很多研究关注速度的影响，但似乎有许多</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争议。一些</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研究</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认为，音乐速度快对驾驶性能有负面影响。</a:t>
            </a:r>
            <a:r>
              <a:rPr lang="en-US" altLang="zh-CN" sz="1800" kern="100" dirty="0">
                <a:effectLst/>
                <a:latin typeface="Times New Roman" panose="02020603050405020304" pitchFamily="18" charset="0"/>
                <a:ea typeface="宋体" panose="02010600030101010101" pitchFamily="2" charset="-122"/>
              </a:rPr>
              <a:t>Brodsky (2001)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让被试在不同速度的音乐下，完成日常模拟驾驶任务时，发现在快速的背乐下，驾驶员有更快的驾驶速度、违规和变道次数也增多。</a:t>
            </a:r>
            <a:r>
              <a:rPr lang="zh-CN" altLang="zh-CN" dirty="0">
                <a:effectLst/>
              </a:rPr>
              <a:t> </a:t>
            </a:r>
            <a:endParaRPr lang="en-US" altLang="zh-CN" dirty="0">
              <a:effectLst/>
            </a:endParaRPr>
          </a:p>
          <a:p>
            <a:endParaRPr kumimoji="1" lang="en-US" altLang="zh-CN" dirty="0">
              <a:effectLst/>
            </a:endParaRPr>
          </a:p>
          <a:p>
            <a:r>
              <a:rPr lang="en-US" altLang="zh-CN" sz="1800" dirty="0">
                <a:effectLst/>
                <a:latin typeface="Times New Roman" panose="02020603050405020304" pitchFamily="18" charset="0"/>
                <a:ea typeface="宋体" panose="02010600030101010101" pitchFamily="2" charset="-122"/>
              </a:rPr>
              <a:t>Miao</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a:t>
            </a:r>
            <a:r>
              <a:rPr lang="en-US" altLang="zh-CN" sz="1800" dirty="0">
                <a:effectLst/>
                <a:latin typeface="Times New Roman" panose="02020603050405020304" pitchFamily="18" charset="0"/>
                <a:ea typeface="宋体" panose="02010600030101010101" pitchFamily="2" charset="-122"/>
              </a:rPr>
              <a:t> (2021)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发现音乐速</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度越快，驾驶员心理负荷越高、危险知觉任务得分越低。</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kumimoji="1"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200" dirty="0">
                <a:latin typeface="Microsoft YaHei" panose="020B0503020204020204" pitchFamily="34" charset="-122"/>
                <a:ea typeface="Microsoft YaHei" panose="020B0503020204020204" pitchFamily="34" charset="-122"/>
              </a:rPr>
              <a:t>在跟车任务中，</a:t>
            </a:r>
            <a:r>
              <a:rPr lang="zh-CN" altLang="en-US" sz="1200" b="1" dirty="0">
                <a:latin typeface="Microsoft YaHei" panose="020B0503020204020204" pitchFamily="34" charset="-122"/>
                <a:ea typeface="Microsoft YaHei" panose="020B0503020204020204" pitchFamily="34" charset="-122"/>
              </a:rPr>
              <a:t>快速的音乐下</a:t>
            </a:r>
            <a:r>
              <a:rPr lang="zh-CN" altLang="en-US" sz="1200" dirty="0">
                <a:latin typeface="Microsoft YaHei" panose="020B0503020204020204" pitchFamily="34" charset="-122"/>
                <a:ea typeface="Microsoft YaHei" panose="020B0503020204020204" pitchFamily="34" charset="-122"/>
              </a:rPr>
              <a:t>，</a:t>
            </a:r>
            <a:r>
              <a:rPr lang="zh-CN" altLang="en-US" sz="1200" b="1" dirty="0">
                <a:latin typeface="Microsoft YaHei" panose="020B0503020204020204" pitchFamily="34" charset="-122"/>
                <a:ea typeface="Microsoft YaHei" panose="020B0503020204020204" pitchFamily="34" charset="-122"/>
              </a:rPr>
              <a:t>跟车表现最差</a:t>
            </a:r>
            <a:endParaRPr kumimoji="1" lang="zh-CN" altLang="en-US" dirty="0"/>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22</a:t>
            </a:fld>
            <a:endParaRPr kumimoji="1" lang="zh-CN" altLang="en-US"/>
          </a:p>
        </p:txBody>
      </p:sp>
    </p:spTree>
    <p:extLst>
      <p:ext uri="{BB962C8B-B14F-4D97-AF65-F5344CB8AC3E}">
        <p14:creationId xmlns:p14="http://schemas.microsoft.com/office/powerpoint/2010/main" val="20758535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rPr>
              <a:t>另一方面，一些研究者认为，快速度的音乐对缓解驾驶过程中的疲劳有利，在快速的音乐下，驾驶员的心率和脑电波活动水平都更高，说明在快速的音乐下，有更高的唤醒和警觉 </a:t>
            </a:r>
            <a:r>
              <a:rPr lang="en-US" altLang="zh-CN" sz="1800" kern="0" dirty="0">
                <a:effectLst/>
                <a:latin typeface="Times New Roman" panose="02020603050405020304" pitchFamily="18" charset="0"/>
                <a:ea typeface="宋体" panose="02010600030101010101" pitchFamily="2" charset="-122"/>
              </a:rPr>
              <a:t>(Hasegawa &amp; </a:t>
            </a:r>
            <a:r>
              <a:rPr lang="en-US" altLang="zh-CN" sz="1800" kern="0" dirty="0" err="1">
                <a:effectLst/>
                <a:latin typeface="Times New Roman" panose="02020603050405020304" pitchFamily="18" charset="0"/>
                <a:ea typeface="宋体" panose="02010600030101010101" pitchFamily="2" charset="-122"/>
              </a:rPr>
              <a:t>Oguri</a:t>
            </a:r>
            <a:r>
              <a:rPr lang="en-US" altLang="zh-CN" sz="1800" kern="0" dirty="0">
                <a:effectLst/>
                <a:latin typeface="Times New Roman" panose="02020603050405020304" pitchFamily="18" charset="0"/>
                <a:ea typeface="宋体" panose="02010600030101010101" pitchFamily="2" charset="-122"/>
              </a:rPr>
              <a:t>, 2006; R. Li</a:t>
            </a:r>
            <a:r>
              <a:rPr lang="zh-CN" altLang="zh-CN" sz="1800" kern="0" dirty="0">
                <a:effectLst/>
                <a:latin typeface="Times New Roman" panose="02020603050405020304" pitchFamily="18" charset="0"/>
                <a:ea typeface="宋体" panose="02010600030101010101" pitchFamily="2" charset="-122"/>
              </a:rPr>
              <a:t>等</a:t>
            </a:r>
            <a:r>
              <a:rPr lang="en-US" altLang="zh-CN" sz="1800" kern="0" dirty="0">
                <a:effectLst/>
                <a:latin typeface="Times New Roman" panose="02020603050405020304" pitchFamily="18" charset="0"/>
                <a:ea typeface="宋体" panose="02010600030101010101" pitchFamily="2" charset="-122"/>
              </a:rPr>
              <a:t>, 2019)</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a:t>
            </a:r>
          </a:p>
          <a:p>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23</a:t>
            </a:fld>
            <a:endParaRPr kumimoji="1" lang="zh-CN" altLang="en-US"/>
          </a:p>
        </p:txBody>
      </p:sp>
    </p:spTree>
    <p:extLst>
      <p:ext uri="{BB962C8B-B14F-4D97-AF65-F5344CB8AC3E}">
        <p14:creationId xmlns:p14="http://schemas.microsoft.com/office/powerpoint/2010/main" val="547403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为了进一步理解音乐速度对驾驶行为的影响不一致的结论，同样也是深入探索了音乐速度对情绪和认知的影响</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kern="100" dirty="0">
                <a:effectLst/>
                <a:latin typeface="Times New Roman" panose="02020603050405020304" pitchFamily="18" charset="0"/>
                <a:ea typeface="宋体" panose="02010600030101010101" pitchFamily="2" charset="-122"/>
              </a:rPr>
              <a:t>Ellis (2009)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发现音乐速度越快，主观</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情绪效价、</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唤醒</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越高，</a:t>
            </a:r>
            <a:r>
              <a:rPr lang="zh-CN" altLang="en-US" sz="2800" dirty="0">
                <a:latin typeface="Microsoft YaHei" panose="020B0503020204020204" pitchFamily="34" charset="-122"/>
                <a:ea typeface="Microsoft YaHei" panose="020B0503020204020204" pitchFamily="34" charset="-122"/>
              </a:rPr>
              <a:t>副交感神经系统活动的降</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effectLst/>
              </a:rPr>
              <a:t> </a:t>
            </a:r>
            <a:endParaRPr lang="en-US" altLang="zh-CN" dirty="0">
              <a:effectLst/>
            </a:endParaRPr>
          </a:p>
          <a:p>
            <a:r>
              <a:rPr lang="zh-CN" altLang="en-US" dirty="0">
                <a:latin typeface="Microsoft YaHei" panose="020B0503020204020204" pitchFamily="34" charset="-122"/>
                <a:ea typeface="Microsoft YaHei" panose="020B0503020204020204" pitchFamily="34" charset="-122"/>
              </a:rPr>
              <a:t>在快速的重金属音乐下，有更高的冒险水平 </a:t>
            </a:r>
            <a:endParaRPr kumimoji="1" lang="zh-CN" altLang="en-US" dirty="0"/>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24</a:t>
            </a:fld>
            <a:endParaRPr kumimoji="1" lang="zh-CN" altLang="en-US"/>
          </a:p>
        </p:txBody>
      </p:sp>
    </p:spTree>
    <p:extLst>
      <p:ext uri="{BB962C8B-B14F-4D97-AF65-F5344CB8AC3E}">
        <p14:creationId xmlns:p14="http://schemas.microsoft.com/office/powerpoint/2010/main" val="5588264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dirty="0">
                <a:effectLst/>
                <a:latin typeface="Times New Roman" panose="02020603050405020304" pitchFamily="18" charset="0"/>
                <a:ea typeface="宋体" panose="02010600030101010101" pitchFamily="2" charset="-122"/>
              </a:rPr>
              <a:t>更快的速度与更快的视觉注意、认知处理有关。</a:t>
            </a:r>
            <a:endParaRPr lang="en-US" altLang="zh-CN" dirty="0">
              <a:effectLst/>
            </a:endParaRPr>
          </a:p>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音乐速度还被发现对抑制控制有影响，在快速的音乐下</a:t>
            </a:r>
            <a:r>
              <a:rPr lang="en-US" altLang="zh-CN" sz="1800" kern="100" dirty="0">
                <a:effectLst/>
                <a:latin typeface="Times New Roman" panose="02020603050405020304" pitchFamily="18" charset="0"/>
                <a:ea typeface="宋体" panose="02010600030101010101" pitchFamily="2" charset="-122"/>
              </a:rPr>
              <a:t>no-go</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任务的正确率更低，</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结合</a:t>
            </a:r>
            <a:r>
              <a:rPr lang="en-US" altLang="zh-CN" sz="1800" kern="100" dirty="0">
                <a:effectLst/>
                <a:latin typeface="Times New Roman" panose="02020603050405020304" pitchFamily="18" charset="0"/>
                <a:ea typeface="宋体" panose="02010600030101010101" pitchFamily="2" charset="-122"/>
              </a:rPr>
              <a:t>ERP</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研究结果，</a:t>
            </a:r>
            <a:r>
              <a:rPr lang="en-US" altLang="zh-CN" sz="1800" kern="100" dirty="0">
                <a:effectLst/>
                <a:latin typeface="Times New Roman" panose="02020603050405020304" pitchFamily="18" charset="0"/>
                <a:ea typeface="宋体" panose="02010600030101010101" pitchFamily="2" charset="-122"/>
              </a:rPr>
              <a:t>No-go</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条件引发了更大的</a:t>
            </a:r>
            <a:r>
              <a:rPr lang="en-US" altLang="zh-CN" sz="1800" kern="100" dirty="0">
                <a:effectLst/>
                <a:latin typeface="Times New Roman" panose="02020603050405020304" pitchFamily="18" charset="0"/>
                <a:ea typeface="宋体" panose="02010600030101010101" pitchFamily="2" charset="-122"/>
              </a:rPr>
              <a:t>N2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kern="100" dirty="0">
                <a:effectLst/>
                <a:latin typeface="Times New Roman" panose="02020603050405020304" pitchFamily="18" charset="0"/>
                <a:ea typeface="宋体" panose="02010600030101010101" pitchFamily="2" charset="-122"/>
              </a:rPr>
              <a:t>P3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波幅，</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而</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快速音乐条件下的</a:t>
            </a:r>
            <a:r>
              <a:rPr lang="en-US" altLang="zh-CN" sz="1800" kern="100" dirty="0">
                <a:effectLst/>
                <a:latin typeface="Times New Roman" panose="02020603050405020304" pitchFamily="18" charset="0"/>
                <a:ea typeface="宋体" panose="02010600030101010101" pitchFamily="2" charset="-122"/>
              </a:rPr>
              <a:t>N2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差异波显著</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最高</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说明</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快速音乐下冲突监测过程</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消耗的</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认知资源增加，快速音乐可能对冲突监测能力产生负面效应</a:t>
            </a:r>
            <a:r>
              <a:rPr lang="zh-CN" altLang="zh-CN" sz="1800" kern="100" dirty="0">
                <a:effectLst/>
                <a:ea typeface="Times New Roman" panose="02020603050405020304" pitchFamily="18" charset="0"/>
              </a:rPr>
              <a:t> </a:t>
            </a:r>
            <a:r>
              <a:rPr lang="en-US" altLang="zh-CN" sz="1800" dirty="0">
                <a:effectLst/>
                <a:latin typeface="Times New Roman" panose="02020603050405020304" pitchFamily="18" charset="0"/>
                <a:ea typeface="宋体" panose="02010600030101010101" pitchFamily="2" charset="-122"/>
              </a:rPr>
              <a:t>(Xiao</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a:t>
            </a:r>
            <a:r>
              <a:rPr lang="en-US" altLang="zh-CN" sz="1800" dirty="0">
                <a:effectLst/>
                <a:latin typeface="Times New Roman" panose="02020603050405020304" pitchFamily="18" charset="0"/>
                <a:ea typeface="宋体" panose="02010600030101010101" pitchFamily="2" charset="-122"/>
              </a:rPr>
              <a:t>, 2020)</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25</a:t>
            </a:fld>
            <a:endParaRPr kumimoji="1" lang="zh-CN" altLang="en-US"/>
          </a:p>
        </p:txBody>
      </p:sp>
    </p:spTree>
    <p:extLst>
      <p:ext uri="{BB962C8B-B14F-4D97-AF65-F5344CB8AC3E}">
        <p14:creationId xmlns:p14="http://schemas.microsoft.com/office/powerpoint/2010/main" val="5732073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整理发现，音乐速度对情绪唤醒、冒险水平、认知处理、抑制水平、记忆、注意力和空间认知的有重要影响。具体看，速度更快，可能会有更高的情绪唤醒、信息处理速度更快、视觉空间认知更好。但速度更快导致更高的冒险水平、抑制能力变差。</a:t>
            </a:r>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26</a:t>
            </a:fld>
            <a:endParaRPr kumimoji="1" lang="zh-CN" altLang="en-US"/>
          </a:p>
        </p:txBody>
      </p:sp>
    </p:spTree>
    <p:extLst>
      <p:ext uri="{BB962C8B-B14F-4D97-AF65-F5344CB8AC3E}">
        <p14:creationId xmlns:p14="http://schemas.microsoft.com/office/powerpoint/2010/main" val="40460038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effectLst/>
              </a:rPr>
              <a:t>另外，研究结论不一致，可能还有两方面的原因</a:t>
            </a:r>
            <a:endParaRPr kumimoji="1" lang="en-US" altLang="zh-CN" dirty="0">
              <a:effectLst/>
            </a:endParaRPr>
          </a:p>
          <a:p>
            <a:endParaRPr kumimoji="1" lang="en-US" altLang="zh-CN"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第一，</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可能是由于以往研究使用的音乐不同。</a:t>
            </a:r>
            <a:r>
              <a:rPr lang="zh-CN" altLang="zh-CN" sz="1800" kern="100" dirty="0">
                <a:effectLst/>
                <a:latin typeface="Times New Roman" panose="02020603050405020304" pitchFamily="18" charset="0"/>
                <a:ea typeface="宋体" panose="02010600030101010101" pitchFamily="2" charset="-122"/>
              </a:rPr>
              <a:t>很有可能造成假阳性错误，</a:t>
            </a:r>
            <a:r>
              <a:rPr lang="zh-CN" altLang="en-US" sz="1800" kern="100" dirty="0">
                <a:effectLst/>
                <a:latin typeface="Times New Roman" panose="02020603050405020304" pitchFamily="18" charset="0"/>
                <a:ea typeface="宋体" panose="02010600030101010101" pitchFamily="2" charset="-122"/>
              </a:rPr>
              <a:t>即</a:t>
            </a:r>
            <a:r>
              <a:rPr lang="zh-CN" altLang="zh-CN" sz="1800" kern="100" dirty="0">
                <a:effectLst/>
                <a:latin typeface="Times New Roman" panose="02020603050405020304" pitchFamily="18" charset="0"/>
                <a:ea typeface="宋体" panose="02010600030101010101" pitchFamily="2" charset="-122"/>
              </a:rPr>
              <a:t>由另一个变量引起的效应被误认为是由研究变量引起的，</a:t>
            </a:r>
            <a:endParaRPr kumimoji="1" lang="en-US" altLang="zh-CN" dirty="0"/>
          </a:p>
          <a:p>
            <a:endParaRPr kumimoji="1" lang="en-US" altLang="zh-CN" dirty="0"/>
          </a:p>
          <a:p>
            <a:r>
              <a:rPr lang="zh-CN" altLang="en-US" sz="1200" b="1" kern="100" dirty="0">
                <a:solidFill>
                  <a:srgbClr val="4472C4"/>
                </a:solidFill>
                <a:effectLst/>
                <a:latin typeface="+mj-ea"/>
                <a:ea typeface="+mj-ea"/>
                <a:cs typeface="Times New Roman" panose="02020603050405020304" pitchFamily="18" charset="0"/>
              </a:rPr>
              <a:t>因此需要进一步探究，明确速度的影响，变速操作对速度操纵更加精准，能避免改变其它变量</a:t>
            </a:r>
            <a:endParaRPr lang="en-US" altLang="zh-CN" sz="1200" b="1" kern="100" dirty="0">
              <a:solidFill>
                <a:srgbClr val="4472C4"/>
              </a:solidFill>
              <a:effectLst/>
              <a:latin typeface="+mj-ea"/>
              <a:ea typeface="+mj-ea"/>
              <a:cs typeface="Times New Roman" panose="02020603050405020304" pitchFamily="18" charset="0"/>
            </a:endParaRPr>
          </a:p>
          <a:p>
            <a:endParaRPr kumimoji="1" lang="en-US" altLang="zh-CN" sz="1200" b="1" kern="100" dirty="0">
              <a:solidFill>
                <a:srgbClr val="4472C4"/>
              </a:solidFill>
              <a:effectLst/>
              <a:latin typeface="+mj-ea"/>
              <a:ea typeface="+mj-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rPr>
              <a:t>第二，驾驶情境不同。</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驾驶情境是复杂的</a:t>
            </a:r>
            <a:r>
              <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根据动态模型，驾驶员负荷水平是适宜性和驾驶情境要求的函数</a:t>
            </a:r>
            <a:r>
              <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rPr>
              <a:t>，可</a:t>
            </a:r>
            <a:r>
              <a:rPr lang="zh-CN" altLang="zh-CN" dirty="0"/>
              <a:t>分为：不足、最佳</a:t>
            </a:r>
            <a:r>
              <a:rPr lang="zh-CN" altLang="en-US" dirty="0"/>
              <a:t>和</a:t>
            </a:r>
            <a:r>
              <a:rPr lang="zh-CN" altLang="zh-CN" dirty="0"/>
              <a:t>超负荷三个水平</a:t>
            </a:r>
            <a:endPar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effectLst/>
                <a:latin typeface="Times New Roman" panose="02020603050405020304" pitchFamily="18" charset="0"/>
                <a:ea typeface="宋体" panose="02010600030101010101" pitchFamily="2" charset="-122"/>
              </a:rPr>
              <a:t>Kim </a:t>
            </a:r>
            <a:r>
              <a:rPr lang="zh-CN" altLang="en-US" sz="1200" dirty="0">
                <a:effectLst/>
                <a:latin typeface="Times New Roman" panose="02020603050405020304" pitchFamily="18" charset="0"/>
                <a:ea typeface="宋体" panose="02010600030101010101" pitchFamily="2" charset="-122"/>
                <a:cs typeface="Times New Roman" panose="02020603050405020304" pitchFamily="18" charset="0"/>
              </a:rPr>
              <a:t>等人</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认为在不同驾驶情境下，所需要的</a:t>
            </a:r>
            <a:r>
              <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rPr>
              <a:t>技能</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是有差异的。他们将驾驶情境分为</a:t>
            </a:r>
            <a:r>
              <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rPr>
              <a:t>日常无风险</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和有风险。</a:t>
            </a:r>
            <a:r>
              <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rPr>
              <a:t>日常</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驾驶情境需要搜索、速度控制和方向控制等能力。有风险情境则需要</a:t>
            </a:r>
            <a:r>
              <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rPr>
              <a:t>搜索</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、危险识别、预测、</a:t>
            </a:r>
            <a:r>
              <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rPr>
              <a:t>危险</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规避等能力。</a:t>
            </a:r>
            <a:r>
              <a:rPr lang="zh-CN" altLang="zh-CN" dirty="0">
                <a:effectLst/>
              </a:rPr>
              <a:t> </a:t>
            </a:r>
            <a:endParaRPr lang="en-US" altLang="zh-CN"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00" dirty="0">
              <a:effectLst/>
              <a:latin typeface="Times New Roman" panose="02020603050405020304" pitchFamily="18" charset="0"/>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00" dirty="0">
                <a:effectLst/>
                <a:latin typeface="Times New Roman" panose="02020603050405020304" pitchFamily="18" charset="0"/>
                <a:ea typeface="宋体" panose="02010600030101010101" pitchFamily="2" charset="-122"/>
              </a:rPr>
              <a:t>因此，需要更好地区分驾驶情境，才能深入了解音乐对驾驶的影响。</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00" dirty="0">
              <a:effectLst/>
              <a:ea typeface="Times New Roman" panose="02020603050405020304" pitchFamily="18" charset="0"/>
            </a:endParaRPr>
          </a:p>
          <a:p>
            <a:endParaRPr kumimoji="1" lang="zh-CN" altLang="en-US" dirty="0"/>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27</a:t>
            </a:fld>
            <a:endParaRPr kumimoji="1" lang="zh-CN" altLang="en-US"/>
          </a:p>
        </p:txBody>
      </p:sp>
    </p:spTree>
    <p:extLst>
      <p:ext uri="{BB962C8B-B14F-4D97-AF65-F5344CB8AC3E}">
        <p14:creationId xmlns:p14="http://schemas.microsoft.com/office/powerpoint/2010/main" val="21171020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综上，提出本研究的研究问题</a:t>
            </a:r>
          </a:p>
        </p:txBody>
      </p:sp>
      <p:sp>
        <p:nvSpPr>
          <p:cNvPr id="4" name="灯片编号占位符 3"/>
          <p:cNvSpPr>
            <a:spLocks noGrp="1"/>
          </p:cNvSpPr>
          <p:nvPr>
            <p:ph type="sldNum" sz="quarter" idx="10"/>
          </p:nvPr>
        </p:nvSpPr>
        <p:spPr/>
        <p:txBody>
          <a:bodyPr/>
          <a:lstStyle/>
          <a:p>
            <a:fld id="{5FD4487E-253C-4F2A-AD3B-D7DF4058A670}" type="slidenum">
              <a:rPr lang="zh-CN" altLang="en-US" smtClean="0"/>
              <a:t>28</a:t>
            </a:fld>
            <a:endParaRPr lang="zh-CN" altLang="en-US"/>
          </a:p>
        </p:txBody>
      </p:sp>
    </p:spTree>
    <p:extLst>
      <p:ext uri="{BB962C8B-B14F-4D97-AF65-F5344CB8AC3E}">
        <p14:creationId xmlns:p14="http://schemas.microsoft.com/office/powerpoint/2010/main" val="9049026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kern="100" dirty="0">
                <a:effectLst/>
                <a:latin typeface="Microsoft YaHei" panose="020B0503020204020204" pitchFamily="34" charset="-122"/>
                <a:ea typeface="Microsoft YaHei" panose="020B0503020204020204" pitchFamily="34" charset="-122"/>
              </a:rPr>
              <a:t>第一是</a:t>
            </a:r>
            <a:r>
              <a:rPr lang="zh-CN" altLang="zh-CN" sz="1200" b="1" kern="100" dirty="0">
                <a:effectLst/>
                <a:latin typeface="Microsoft YaHei" panose="020B0503020204020204" pitchFamily="34" charset="-122"/>
                <a:ea typeface="Microsoft YaHei" panose="020B0503020204020204" pitchFamily="34" charset="-122"/>
              </a:rPr>
              <a:t>音乐</a:t>
            </a:r>
            <a:r>
              <a:rPr lang="zh-CN" altLang="en-US" sz="1200" b="1" kern="100" dirty="0">
                <a:effectLst/>
                <a:latin typeface="Microsoft YaHei" panose="020B0503020204020204" pitchFamily="34" charset="-122"/>
                <a:ea typeface="Microsoft YaHei" panose="020B0503020204020204" pitchFamily="34" charset="-122"/>
              </a:rPr>
              <a:t>流派偏好</a:t>
            </a:r>
            <a:r>
              <a:rPr lang="zh-CN" altLang="zh-CN" sz="1200" b="1" kern="100" dirty="0">
                <a:effectLst/>
                <a:latin typeface="Microsoft YaHei" panose="020B0503020204020204" pitchFamily="34" charset="-122"/>
                <a:ea typeface="Microsoft YaHei" panose="020B0503020204020204" pitchFamily="34" charset="-122"/>
              </a:rPr>
              <a:t>对</a:t>
            </a:r>
            <a:r>
              <a:rPr lang="zh-CN" altLang="en-US" sz="1200" b="1" kern="100" dirty="0">
                <a:effectLst/>
                <a:latin typeface="Microsoft YaHei" panose="020B0503020204020204" pitchFamily="34" charset="-122"/>
                <a:ea typeface="Microsoft YaHei" panose="020B0503020204020204" pitchFamily="34" charset="-122"/>
              </a:rPr>
              <a:t>驾驶行为有什么影响</a:t>
            </a:r>
            <a:r>
              <a:rPr lang="zh-CN" altLang="zh-CN" sz="1200" b="1" kern="100" dirty="0">
                <a:effectLst/>
                <a:latin typeface="Microsoft YaHei" panose="020B0503020204020204" pitchFamily="34" charset="-122"/>
                <a:ea typeface="Microsoft YaHei" panose="020B0503020204020204" pitchFamily="34" charset="-122"/>
              </a:rPr>
              <a:t>？</a:t>
            </a:r>
            <a:endParaRPr lang="en-US" altLang="zh-CN" sz="1200" b="1" kern="100" dirty="0">
              <a:effectLst/>
              <a:latin typeface="Microsoft YaHei" panose="020B0503020204020204" pitchFamily="34" charset="-122"/>
              <a:ea typeface="Microsoft YaHei" panose="020B0503020204020204" pitchFamily="34" charset="-122"/>
            </a:endParaRPr>
          </a:p>
          <a:p>
            <a:r>
              <a:rPr lang="zh-CN" altLang="en-US" b="1" kern="100" dirty="0">
                <a:effectLst/>
                <a:latin typeface="Microsoft YaHei" panose="020B0503020204020204" pitchFamily="34" charset="-122"/>
                <a:ea typeface="Microsoft YaHei" panose="020B0503020204020204" pitchFamily="34" charset="-122"/>
              </a:rPr>
              <a:t>第二是不同流派的音乐属性</a:t>
            </a:r>
            <a:r>
              <a:rPr lang="zh-CN" altLang="zh-CN" b="1" kern="100" dirty="0">
                <a:effectLst/>
                <a:latin typeface="Microsoft YaHei" panose="020B0503020204020204" pitchFamily="34" charset="-122"/>
                <a:ea typeface="Microsoft YaHei" panose="020B0503020204020204" pitchFamily="34" charset="-122"/>
              </a:rPr>
              <a:t>对驾驶行为</a:t>
            </a:r>
            <a:r>
              <a:rPr lang="zh-CN" altLang="en-US" b="1" kern="100" dirty="0">
                <a:effectLst/>
                <a:latin typeface="Microsoft YaHei" panose="020B0503020204020204" pitchFamily="34" charset="-122"/>
                <a:ea typeface="Microsoft YaHei" panose="020B0503020204020204" pitchFamily="34" charset="-122"/>
              </a:rPr>
              <a:t>有什么</a:t>
            </a:r>
            <a:r>
              <a:rPr lang="zh-CN" altLang="zh-CN" b="1" kern="100" dirty="0">
                <a:effectLst/>
                <a:latin typeface="Microsoft YaHei" panose="020B0503020204020204" pitchFamily="34" charset="-122"/>
                <a:ea typeface="Microsoft YaHei" panose="020B0503020204020204" pitchFamily="34" charset="-122"/>
              </a:rPr>
              <a:t>影响？</a:t>
            </a:r>
            <a:endParaRPr lang="en-US" altLang="zh-CN" b="1" kern="100" dirty="0">
              <a:effectLst/>
              <a:latin typeface="Microsoft YaHei" panose="020B0503020204020204" pitchFamily="34" charset="-122"/>
              <a:ea typeface="Microsoft YaHei" panose="020B0503020204020204" pitchFamily="34" charset="-122"/>
            </a:endParaRPr>
          </a:p>
          <a:p>
            <a:pPr marL="342900" indent="-342900">
              <a:lnSpc>
                <a:spcPct val="150000"/>
              </a:lnSpc>
              <a:spcBef>
                <a:spcPts val="1200"/>
              </a:spcBef>
              <a:buFont typeface="+mj-ea"/>
              <a:buAutoNum type="circleNumDbPlain" startAt="2"/>
            </a:pPr>
            <a:r>
              <a:rPr lang="zh-CN" altLang="en-US" sz="1200" kern="100" dirty="0">
                <a:effectLst/>
                <a:latin typeface="Microsoft YaHei" panose="020B0503020204020204" pitchFamily="34" charset="-122"/>
                <a:ea typeface="Microsoft YaHei" panose="020B0503020204020204" pitchFamily="34" charset="-122"/>
                <a:cs typeface="Times New Roman" panose="02020603050405020304" pitchFamily="18" charset="0"/>
              </a:rPr>
              <a:t>具体又包括</a:t>
            </a:r>
            <a:r>
              <a:rPr lang="en-US" altLang="zh-CN" sz="1200" kern="100" dirty="0">
                <a:effectLst/>
                <a:latin typeface="Microsoft YaHei" panose="020B0503020204020204" pitchFamily="34" charset="-122"/>
                <a:ea typeface="Microsoft YaHei" panose="020B0503020204020204" pitchFamily="34" charset="-122"/>
                <a:cs typeface="Times New Roman" panose="02020603050405020304" pitchFamily="18" charset="0"/>
              </a:rPr>
              <a:t>2</a:t>
            </a:r>
            <a:r>
              <a:rPr lang="zh-CN" altLang="en-US" sz="1200" kern="100" dirty="0">
                <a:effectLst/>
                <a:latin typeface="Microsoft YaHei" panose="020B0503020204020204" pitchFamily="34" charset="-122"/>
                <a:ea typeface="Microsoft YaHei" panose="020B0503020204020204" pitchFamily="34" charset="-122"/>
                <a:cs typeface="Times New Roman" panose="02020603050405020304" pitchFamily="18" charset="0"/>
              </a:rPr>
              <a:t>方面的问题：</a:t>
            </a:r>
            <a:r>
              <a:rPr lang="zh-CN" altLang="en-US" sz="12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音乐速度如何影响不</a:t>
            </a:r>
            <a:r>
              <a:rPr lang="zh-CN" altLang="en-US" b="1" kern="100" dirty="0">
                <a:latin typeface="Microsoft YaHei" panose="020B0503020204020204" pitchFamily="34" charset="-122"/>
                <a:ea typeface="Microsoft YaHei" panose="020B0503020204020204" pitchFamily="34" charset="-122"/>
                <a:cs typeface="Times New Roman" panose="02020603050405020304" pitchFamily="18" charset="0"/>
              </a:rPr>
              <a:t>同</a:t>
            </a:r>
            <a:r>
              <a:rPr lang="zh-CN" altLang="en-US" sz="12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流派音乐对驾驶行为的影响？</a:t>
            </a:r>
            <a:endParaRPr lang="en-US" altLang="zh-CN" sz="1200" b="1"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p>
            <a:pPr marL="342900" indent="-342900">
              <a:lnSpc>
                <a:spcPct val="150000"/>
              </a:lnSpc>
              <a:spcBef>
                <a:spcPts val="1200"/>
              </a:spcBef>
              <a:buFont typeface="+mj-ea"/>
              <a:buAutoNum type="circleNumDbPlain" startAt="2"/>
            </a:pPr>
            <a:r>
              <a:rPr lang="zh-CN" altLang="en-US" b="1" kern="100" dirty="0">
                <a:latin typeface="Microsoft YaHei" panose="020B0503020204020204" pitchFamily="34" charset="-122"/>
                <a:ea typeface="Microsoft YaHei" panose="020B0503020204020204" pitchFamily="34" charset="-122"/>
                <a:cs typeface="Times New Roman" panose="02020603050405020304" pitchFamily="18" charset="0"/>
              </a:rPr>
              <a:t>音高如何影响不同流派音乐对驾驶行为的影响？</a:t>
            </a:r>
            <a:endParaRPr lang="en-US" altLang="zh-CN" sz="1200" b="1"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29</a:t>
            </a:fld>
            <a:endParaRPr kumimoji="1" lang="zh-CN" altLang="en-US"/>
          </a:p>
        </p:txBody>
      </p:sp>
    </p:spTree>
    <p:extLst>
      <p:ext uri="{BB962C8B-B14F-4D97-AF65-F5344CB8AC3E}">
        <p14:creationId xmlns:p14="http://schemas.microsoft.com/office/powerpoint/2010/main" val="31097833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本研究包括</a:t>
            </a:r>
            <a:r>
              <a:rPr kumimoji="1" lang="en-US" altLang="zh-CN" dirty="0"/>
              <a:t>3</a:t>
            </a:r>
            <a:r>
              <a:rPr kumimoji="1" lang="zh-CN" altLang="en-US" dirty="0"/>
              <a:t>部分：研究一是通过问卷调查音乐流派偏好对驾驶行为倾向的影响。研究二三是实验室研究，通过模拟驾驶器开展实验。研究二是探究音乐流派和速度对驾驶行为的影响，分别探究无风险驾驶情境下对车辆控制行为的影响和风险驾驶情境下危险规避的行为的影响。研究三则是探究音乐流派和音高对驾驶行为的影响。</a:t>
            </a:r>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30</a:t>
            </a:fld>
            <a:endParaRPr kumimoji="1" lang="zh-CN" altLang="en-US"/>
          </a:p>
        </p:txBody>
      </p:sp>
    </p:spTree>
    <p:extLst>
      <p:ext uri="{BB962C8B-B14F-4D97-AF65-F5344CB8AC3E}">
        <p14:creationId xmlns:p14="http://schemas.microsoft.com/office/powerpoint/2010/main" val="15727633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接下俩是具体研究方案</a:t>
            </a:r>
          </a:p>
        </p:txBody>
      </p:sp>
      <p:sp>
        <p:nvSpPr>
          <p:cNvPr id="4" name="灯片编号占位符 3"/>
          <p:cNvSpPr>
            <a:spLocks noGrp="1"/>
          </p:cNvSpPr>
          <p:nvPr>
            <p:ph type="sldNum" sz="quarter" idx="10"/>
          </p:nvPr>
        </p:nvSpPr>
        <p:spPr/>
        <p:txBody>
          <a:bodyPr/>
          <a:lstStyle/>
          <a:p>
            <a:fld id="{5FD4487E-253C-4F2A-AD3B-D7DF4058A670}" type="slidenum">
              <a:rPr lang="zh-CN" altLang="en-US" smtClean="0"/>
              <a:t>31</a:t>
            </a:fld>
            <a:endParaRPr lang="zh-CN" altLang="en-US"/>
          </a:p>
        </p:txBody>
      </p:sp>
    </p:spTree>
    <p:extLst>
      <p:ext uri="{BB962C8B-B14F-4D97-AF65-F5344CB8AC3E}">
        <p14:creationId xmlns:p14="http://schemas.microsoft.com/office/powerpoint/2010/main" val="29587692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实验一旨在探究</a:t>
            </a:r>
            <a:r>
              <a:rPr kumimoji="1" lang="zh-CN" altLang="en-US" sz="1200" dirty="0"/>
              <a:t>音乐流派偏好、情绪调控能力和驾驶行为倾向</a:t>
            </a:r>
            <a:endParaRPr kumimoji="1" lang="en-US" altLang="zh-CN" sz="1200" dirty="0"/>
          </a:p>
          <a:p>
            <a:endParaRPr kumimoji="1" lang="en-US" altLang="zh-CN" sz="1200" dirty="0"/>
          </a:p>
          <a:p>
            <a:r>
              <a:rPr kumimoji="1" lang="zh-CN" altLang="en-US" sz="1000" dirty="0">
                <a:solidFill>
                  <a:schemeClr val="tx1">
                    <a:lumMod val="50000"/>
                    <a:lumOff val="50000"/>
                  </a:schemeClr>
                </a:solidFill>
              </a:rPr>
              <a:t>对音乐偏好，</a:t>
            </a:r>
            <a:r>
              <a:rPr kumimoji="1" lang="zh-CN" altLang="en-US" sz="1200" dirty="0"/>
              <a:t>测量了</a:t>
            </a:r>
            <a:r>
              <a:rPr kumimoji="1" lang="en-US" altLang="zh-CN" sz="1200" dirty="0"/>
              <a:t>18</a:t>
            </a:r>
            <a:r>
              <a:rPr kumimoji="1" lang="zh-CN" altLang="en-US" sz="1200" dirty="0"/>
              <a:t>类音乐流派，是根据我们预先对</a:t>
            </a:r>
            <a:r>
              <a:rPr kumimoji="1" lang="en-US" altLang="zh-CN" sz="1200" dirty="0"/>
              <a:t>31</a:t>
            </a:r>
            <a:r>
              <a:rPr kumimoji="1" lang="zh-CN" altLang="en-US" sz="1200" dirty="0"/>
              <a:t>类流派的偏好调查，分析了</a:t>
            </a:r>
            <a:r>
              <a:rPr kumimoji="1" lang="en-US" altLang="zh-CN" sz="1200" dirty="0"/>
              <a:t>304</a:t>
            </a:r>
            <a:r>
              <a:rPr kumimoji="1" lang="zh-CN" altLang="en-US" sz="1200" dirty="0"/>
              <a:t>名中国被试的数据后提取出的更适合中国文化环境的流派类别</a:t>
            </a:r>
            <a:endParaRPr kumimoji="1" lang="en-US" altLang="zh-CN" sz="1200" dirty="0"/>
          </a:p>
          <a:p>
            <a:r>
              <a:rPr kumimoji="1" lang="zh-CN" altLang="en-US" sz="1200" dirty="0"/>
              <a:t>之后我们进一步编制了文字版和音频版音乐偏好量表，文字版是直接对流派进行评分，音频版是对音乐片段进行评分，</a:t>
            </a:r>
            <a:endParaRPr kumimoji="1" lang="en-US" altLang="zh-CN" sz="1200" dirty="0">
              <a:latin typeface="SimSun" panose="02010600030101010101" pitchFamily="2" charset="-122"/>
              <a:ea typeface="SimSun" panose="02010600030101010101" pitchFamily="2" charset="-122"/>
            </a:endParaRPr>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32</a:t>
            </a:fld>
            <a:endParaRPr kumimoji="1" lang="zh-CN" altLang="en-US"/>
          </a:p>
        </p:txBody>
      </p:sp>
    </p:spTree>
    <p:extLst>
      <p:ext uri="{BB962C8B-B14F-4D97-AF65-F5344CB8AC3E}">
        <p14:creationId xmlns:p14="http://schemas.microsoft.com/office/powerpoint/2010/main" val="24570487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r>
              <a:rPr kumimoji="1" lang="zh-CN" altLang="en-US" sz="1200" dirty="0"/>
              <a:t>预期对摇滚等音乐的偏好与更高的情绪调控困难和更高的危险驾驶行为倾向相关</a:t>
            </a:r>
            <a:r>
              <a:rPr kumimoji="1" lang="zh-CN" altLang="en-US" sz="1200" dirty="0">
                <a:latin typeface="+mj-ea"/>
                <a:ea typeface="+mj-ea"/>
              </a:rPr>
              <a:t>。音乐偏好将与驾驶行为倾向有显著关联。且这一关系预期会受到情绪调控能力的调节</a:t>
            </a:r>
            <a:endParaRPr kumimoji="1" lang="zh-CN" altLang="en-US" dirty="0"/>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33</a:t>
            </a:fld>
            <a:endParaRPr kumimoji="1" lang="zh-CN" altLang="en-US"/>
          </a:p>
        </p:txBody>
      </p:sp>
    </p:spTree>
    <p:extLst>
      <p:ext uri="{BB962C8B-B14F-4D97-AF65-F5344CB8AC3E}">
        <p14:creationId xmlns:p14="http://schemas.microsoft.com/office/powerpoint/2010/main" val="2521139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dirty="0"/>
              <a:t>实验</a:t>
            </a:r>
            <a:r>
              <a:rPr kumimoji="1" lang="en-US" altLang="zh-CN" sz="1200" dirty="0"/>
              <a:t>2</a:t>
            </a:r>
            <a:r>
              <a:rPr kumimoji="1" lang="zh-CN" altLang="en-US" sz="1200" dirty="0"/>
              <a:t>旨在探究音乐流派和音乐速度对</a:t>
            </a:r>
            <a:r>
              <a:rPr kumimoji="1" lang="zh-CN" altLang="en-US" sz="1200" b="1" dirty="0"/>
              <a:t>无风险情境</a:t>
            </a:r>
            <a:r>
              <a:rPr kumimoji="1" lang="zh-CN" altLang="en-US" sz="1200" dirty="0"/>
              <a:t>下，对车辆控制驾驶行为的影响</a:t>
            </a:r>
            <a:r>
              <a:rPr kumimoji="1" lang="en-US" altLang="zh-CN" sz="1200" dirty="0"/>
              <a:t>.</a:t>
            </a:r>
            <a:r>
              <a:rPr kumimoji="1" lang="zh-CN" altLang="en-US" sz="1200" dirty="0"/>
              <a:t> </a:t>
            </a:r>
            <a:endParaRPr kumimoji="1"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dirty="0"/>
              <a:t>因为以往研究探究音乐速度的影响，是直接选择了不同速度的音乐，在本研究中，为了更加明确速度的影响，我们使用音乐软件对音乐直接进行调速</a:t>
            </a:r>
            <a:r>
              <a:rPr kumimoji="1" lang="zh-CN" altLang="en-US" sz="1200" dirty="0">
                <a:latin typeface="Microsoft YaHei" panose="020B0503020204020204" pitchFamily="34" charset="-122"/>
              </a:rPr>
              <a:t>（支持不改变音高，调整速度）</a:t>
            </a:r>
            <a:r>
              <a:rPr kumimoji="1" lang="zh-CN" altLang="en-US" sz="1200" dirty="0"/>
              <a:t>。</a:t>
            </a:r>
            <a:endParaRPr kumimoji="1" lang="zh-CN" altLang="en-US" dirty="0"/>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34</a:t>
            </a:fld>
            <a:endParaRPr kumimoji="1" lang="zh-CN" altLang="en-US"/>
          </a:p>
        </p:txBody>
      </p:sp>
    </p:spTree>
    <p:extLst>
      <p:ext uri="{BB962C8B-B14F-4D97-AF65-F5344CB8AC3E}">
        <p14:creationId xmlns:p14="http://schemas.microsoft.com/office/powerpoint/2010/main" val="19431021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另外本实验重点关注无风险驾驶情境下，车辆控制的行为。所以设计</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全程道路无障碍驾驶路线，只有限速要求变化。</a:t>
            </a:r>
            <a:r>
              <a:rPr kumimoji="1" lang="zh-CN" altLang="en-US" dirty="0"/>
              <a:t>分析使用重复测量方差分析，预计是</a:t>
            </a:r>
            <a:r>
              <a:rPr kumimoji="1" lang="zh-CN" altLang="en-US" sz="1200" dirty="0"/>
              <a:t>音乐流派和速度主效应显著；交互效应显著；</a:t>
            </a:r>
            <a:r>
              <a:rPr kumimoji="1" lang="zh-CN" altLang="en-US" sz="1200" dirty="0">
                <a:latin typeface="+mj-ea"/>
                <a:ea typeface="+mj-ea"/>
              </a:rPr>
              <a:t>快速的摇滚音乐下，稳定性最差</a:t>
            </a:r>
            <a:endParaRPr kumimoji="1" lang="en-US" altLang="zh-CN" sz="1200" dirty="0">
              <a:latin typeface="+mj-ea"/>
              <a:ea typeface="+mj-ea"/>
            </a:endParaRPr>
          </a:p>
          <a:p>
            <a:endParaRPr kumimoji="1" lang="zh-CN" altLang="en-US" dirty="0"/>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35</a:t>
            </a:fld>
            <a:endParaRPr kumimoji="1" lang="zh-CN" altLang="en-US"/>
          </a:p>
        </p:txBody>
      </p:sp>
    </p:spTree>
    <p:extLst>
      <p:ext uri="{BB962C8B-B14F-4D97-AF65-F5344CB8AC3E}">
        <p14:creationId xmlns:p14="http://schemas.microsoft.com/office/powerpoint/2010/main" val="8555096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实验</a:t>
            </a:r>
            <a:r>
              <a:rPr kumimoji="1" lang="en-US" altLang="zh-CN" dirty="0"/>
              <a:t>3</a:t>
            </a:r>
            <a:r>
              <a:rPr kumimoji="1" lang="zh-CN" altLang="en-US" dirty="0"/>
              <a:t>重点关注音乐流派和音乐速度对风险驾驶情境下，对危险规避的影响。</a:t>
            </a:r>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36</a:t>
            </a:fld>
            <a:endParaRPr kumimoji="1" lang="zh-CN" altLang="en-US"/>
          </a:p>
        </p:txBody>
      </p:sp>
    </p:spTree>
    <p:extLst>
      <p:ext uri="{BB962C8B-B14F-4D97-AF65-F5344CB8AC3E}">
        <p14:creationId xmlns:p14="http://schemas.microsoft.com/office/powerpoint/2010/main" val="35976852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因此设计的场景会涉及</a:t>
            </a:r>
            <a:r>
              <a:rPr kumimoji="1" lang="en-US" altLang="zh-CN" dirty="0"/>
              <a:t>21</a:t>
            </a:r>
            <a:r>
              <a:rPr kumimoji="1" lang="zh-CN" altLang="en-US" dirty="0"/>
              <a:t>个事件，其中包括</a:t>
            </a:r>
            <a:r>
              <a:rPr kumimoji="1" lang="en-US" altLang="zh-CN" dirty="0"/>
              <a:t>11</a:t>
            </a:r>
            <a:r>
              <a:rPr kumimoji="1" lang="zh-CN" altLang="en-US" dirty="0"/>
              <a:t>个突发事件，关注驾驶员对这些突发事件的应对。</a:t>
            </a:r>
            <a:endParaRPr kumimoji="1" lang="en-US" altLang="zh-CN" dirty="0"/>
          </a:p>
          <a:p>
            <a:r>
              <a:rPr kumimoji="1" lang="zh-CN" altLang="en-US" dirty="0"/>
              <a:t>为了避免练习效应，会设计</a:t>
            </a:r>
            <a:r>
              <a:rPr kumimoji="1" lang="en-US" altLang="zh-CN" dirty="0"/>
              <a:t>4</a:t>
            </a:r>
            <a:r>
              <a:rPr kumimoji="1" lang="zh-CN" altLang="en-US" dirty="0"/>
              <a:t>个驾驶场景，变化事件出现的位置和顺序</a:t>
            </a:r>
            <a:endParaRPr kumimoji="1" lang="en-US" altLang="zh-CN" sz="1200" dirty="0"/>
          </a:p>
          <a:p>
            <a:r>
              <a:rPr kumimoji="1" lang="zh-CN" altLang="en-US" sz="1200" dirty="0"/>
              <a:t>预计快速的摇滚音乐下，稳定性最差，危险规避反应更慢，危险性更高</a:t>
            </a:r>
          </a:p>
          <a:p>
            <a:endParaRPr kumimoji="1" lang="en-US" altLang="zh-CN" dirty="0"/>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37</a:t>
            </a:fld>
            <a:endParaRPr kumimoji="1" lang="zh-CN" altLang="en-US"/>
          </a:p>
        </p:txBody>
      </p:sp>
    </p:spTree>
    <p:extLst>
      <p:ext uri="{BB962C8B-B14F-4D97-AF65-F5344CB8AC3E}">
        <p14:creationId xmlns:p14="http://schemas.microsoft.com/office/powerpoint/2010/main" val="34943273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实验</a:t>
            </a:r>
            <a:r>
              <a:rPr kumimoji="1" lang="en-US" altLang="zh-CN" dirty="0"/>
              <a:t>4</a:t>
            </a:r>
            <a:r>
              <a:rPr kumimoji="1" lang="zh-CN" altLang="en-US" dirty="0"/>
              <a:t>关注音乐流派和音高对车辆控制的影响。</a:t>
            </a:r>
            <a:endParaRPr kumimoji="1" lang="en-US" altLang="zh-CN" dirty="0"/>
          </a:p>
          <a:p>
            <a:r>
              <a:rPr kumimoji="1" lang="zh-CN" altLang="en-US" sz="1200" dirty="0">
                <a:latin typeface="Microsoft YaHei" panose="020B0503020204020204" pitchFamily="34" charset="-122"/>
              </a:rPr>
              <a:t>音乐材料也是使用</a:t>
            </a:r>
            <a:r>
              <a:rPr kumimoji="1" lang="en-US" altLang="zh-CN" sz="1200" dirty="0">
                <a:latin typeface="Microsoft YaHei" panose="020B0503020204020204" pitchFamily="34" charset="-122"/>
              </a:rPr>
              <a:t>audacity</a:t>
            </a:r>
            <a:r>
              <a:rPr kumimoji="1" lang="zh-CN" altLang="en-US" sz="1200" dirty="0">
                <a:latin typeface="Microsoft YaHei" panose="020B0503020204020204" pitchFamily="34" charset="-122"/>
              </a:rPr>
              <a:t>去调整（支持不改变节奏，调整音高）</a:t>
            </a:r>
            <a:endParaRPr kumimoji="1" lang="zh-CN" altLang="en-US" dirty="0"/>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38</a:t>
            </a:fld>
            <a:endParaRPr kumimoji="1" lang="zh-CN" altLang="en-US"/>
          </a:p>
        </p:txBody>
      </p:sp>
    </p:spTree>
    <p:extLst>
      <p:ext uri="{BB962C8B-B14F-4D97-AF65-F5344CB8AC3E}">
        <p14:creationId xmlns:p14="http://schemas.microsoft.com/office/powerpoint/2010/main" val="28639591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r>
              <a:rPr kumimoji="1" lang="zh-CN" altLang="en-US" sz="1200" dirty="0"/>
              <a:t>音乐流派和</a:t>
            </a:r>
            <a:r>
              <a:rPr kumimoji="1" lang="zh-CN" altLang="en-US" sz="1200" dirty="0">
                <a:latin typeface="+mj-ea"/>
                <a:ea typeface="+mj-ea"/>
              </a:rPr>
              <a:t>音高</a:t>
            </a:r>
            <a:r>
              <a:rPr kumimoji="1" lang="zh-CN" altLang="en-US" sz="1200" dirty="0"/>
              <a:t>主效应显著；交互效应显著；</a:t>
            </a:r>
            <a:endParaRPr kumimoji="1" lang="en-US" altLang="zh-CN" sz="1200" dirty="0"/>
          </a:p>
          <a:p>
            <a:pPr marL="0" indent="0">
              <a:buFont typeface="Arial" panose="020B0604020202020204" pitchFamily="34" charset="0"/>
              <a:buNone/>
            </a:pPr>
            <a:r>
              <a:rPr kumimoji="1" lang="en-US" altLang="zh-CN" sz="1200" dirty="0">
                <a:latin typeface="+mj-ea"/>
                <a:ea typeface="+mj-ea"/>
              </a:rPr>
              <a:t>	</a:t>
            </a:r>
            <a:r>
              <a:rPr kumimoji="1" lang="zh-CN" altLang="en-US" sz="1200" dirty="0">
                <a:latin typeface="+mj-ea"/>
                <a:ea typeface="+mj-ea"/>
              </a:rPr>
              <a:t>更低的摇滚音乐下，稳定性最差</a:t>
            </a:r>
            <a:endParaRPr kumimoji="1" lang="en-US" altLang="zh-CN" sz="1200" dirty="0">
              <a:latin typeface="+mj-ea"/>
              <a:ea typeface="+mj-ea"/>
            </a:endParaRPr>
          </a:p>
          <a:p>
            <a:endParaRPr kumimoji="1" lang="zh-CN" altLang="en-US" dirty="0"/>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39</a:t>
            </a:fld>
            <a:endParaRPr kumimoji="1" lang="zh-CN" altLang="en-US"/>
          </a:p>
        </p:txBody>
      </p:sp>
    </p:spTree>
    <p:extLst>
      <p:ext uri="{BB962C8B-B14F-4D97-AF65-F5344CB8AC3E}">
        <p14:creationId xmlns:p14="http://schemas.microsoft.com/office/powerpoint/2010/main" val="8874514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实验</a:t>
            </a:r>
            <a:r>
              <a:rPr kumimoji="1" lang="en-US" altLang="zh-CN" dirty="0"/>
              <a:t>5</a:t>
            </a:r>
            <a:r>
              <a:rPr kumimoji="1" lang="zh-CN" altLang="en-US" dirty="0"/>
              <a:t>关注音乐流派和音高对危险规避的影响</a:t>
            </a:r>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40</a:t>
            </a:fld>
            <a:endParaRPr kumimoji="1" lang="zh-CN" altLang="en-US"/>
          </a:p>
        </p:txBody>
      </p:sp>
    </p:spTree>
    <p:extLst>
      <p:ext uri="{BB962C8B-B14F-4D97-AF65-F5344CB8AC3E}">
        <p14:creationId xmlns:p14="http://schemas.microsoft.com/office/powerpoint/2010/main" val="1648510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457200" indent="0">
              <a:buFont typeface="Arial" panose="020B0604020202020204" pitchFamily="34" charset="0"/>
              <a:buNone/>
            </a:pPr>
            <a:r>
              <a:rPr kumimoji="1" lang="zh-CN" altLang="en-US" sz="1200" dirty="0"/>
              <a:t>预计更低的摇滚音乐下，稳定性最差，应急反应更慢，危险性更高</a:t>
            </a:r>
          </a:p>
          <a:p>
            <a:endParaRPr kumimoji="1" lang="en-US" altLang="zh-CN" dirty="0"/>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41</a:t>
            </a:fld>
            <a:endParaRPr kumimoji="1" lang="zh-CN" altLang="en-US"/>
          </a:p>
        </p:txBody>
      </p:sp>
    </p:spTree>
    <p:extLst>
      <p:ext uri="{BB962C8B-B14F-4D97-AF65-F5344CB8AC3E}">
        <p14:creationId xmlns:p14="http://schemas.microsoft.com/office/powerpoint/2010/main" val="209495738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最后是我的工作计划与进度安排</a:t>
            </a:r>
          </a:p>
        </p:txBody>
      </p:sp>
      <p:sp>
        <p:nvSpPr>
          <p:cNvPr id="4" name="灯片编号占位符 3"/>
          <p:cNvSpPr>
            <a:spLocks noGrp="1"/>
          </p:cNvSpPr>
          <p:nvPr>
            <p:ph type="sldNum" sz="quarter" idx="10"/>
          </p:nvPr>
        </p:nvSpPr>
        <p:spPr/>
        <p:txBody>
          <a:bodyPr/>
          <a:lstStyle/>
          <a:p>
            <a:fld id="{5FD4487E-253C-4F2A-AD3B-D7DF4058A670}" type="slidenum">
              <a:rPr lang="zh-CN" altLang="en-US" smtClean="0"/>
              <a:t>42</a:t>
            </a:fld>
            <a:endParaRPr lang="zh-CN" altLang="en-US"/>
          </a:p>
        </p:txBody>
      </p:sp>
    </p:spTree>
    <p:extLst>
      <p:ext uri="{BB962C8B-B14F-4D97-AF65-F5344CB8AC3E}">
        <p14:creationId xmlns:p14="http://schemas.microsoft.com/office/powerpoint/2010/main" val="42105500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目前已经完成了文献综述、研究设计和研究一的数据收集，正在分析中，接下来将开展研究二、三的实验。</a:t>
            </a:r>
          </a:p>
        </p:txBody>
      </p:sp>
      <p:sp>
        <p:nvSpPr>
          <p:cNvPr id="4" name="灯片编号占位符 3"/>
          <p:cNvSpPr>
            <a:spLocks noGrp="1"/>
          </p:cNvSpPr>
          <p:nvPr>
            <p:ph type="sldNum" sz="quarter" idx="5"/>
          </p:nvPr>
        </p:nvSpPr>
        <p:spPr/>
        <p:txBody>
          <a:bodyPr/>
          <a:lstStyle/>
          <a:p>
            <a:fld id="{59A3482D-F046-0240-A6CA-ED6C30B306EA}" type="slidenum">
              <a:rPr kumimoji="1" lang="zh-CN" altLang="en-US" smtClean="0"/>
              <a:t>43</a:t>
            </a:fld>
            <a:endParaRPr kumimoji="1" lang="zh-CN" altLang="en-US"/>
          </a:p>
        </p:txBody>
      </p:sp>
    </p:spTree>
    <p:extLst>
      <p:ext uri="{BB962C8B-B14F-4D97-AF65-F5344CB8AC3E}">
        <p14:creationId xmlns:p14="http://schemas.microsoft.com/office/powerpoint/2010/main" val="99895305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FD4487E-253C-4F2A-AD3B-D7DF4058A670}" type="slidenum">
              <a:rPr lang="zh-CN" altLang="en-US" smtClean="0"/>
              <a:t>44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3AD537-DD53-E1C8-9BC5-877FDA691ADA}"/>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F2B7B636-A0D9-89A8-F4E8-8D3001F95B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DE6F7B45-1204-14C7-DD07-C29346DDB4E6}"/>
              </a:ext>
            </a:extLst>
          </p:cNvPr>
          <p:cNvSpPr>
            <a:spLocks noGrp="1"/>
          </p:cNvSpPr>
          <p:nvPr>
            <p:ph type="dt" sz="half" idx="10"/>
          </p:nvPr>
        </p:nvSpPr>
        <p:spPr/>
        <p:txBody>
          <a:bodyPr/>
          <a:lstStyle/>
          <a:p>
            <a:fld id="{677EB343-41C8-234B-8C0A-F001E788659B}" type="datetime1">
              <a:rPr kumimoji="1" lang="zh-CN" altLang="en-US" smtClean="0"/>
              <a:t>2023/8/31</a:t>
            </a:fld>
            <a:endParaRPr kumimoji="1" lang="zh-CN" altLang="en-US"/>
          </a:p>
        </p:txBody>
      </p:sp>
    </p:spTree>
    <p:extLst>
      <p:ext uri="{BB962C8B-B14F-4D97-AF65-F5344CB8AC3E}">
        <p14:creationId xmlns:p14="http://schemas.microsoft.com/office/powerpoint/2010/main" val="28446821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145752-2BAF-5EEA-6A32-6D81DA07A6C3}"/>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0C2675AC-3D4F-4D10-BD8B-F85B5E2C8ECA}"/>
              </a:ext>
            </a:extLst>
          </p:cNvPr>
          <p:cNvSpPr>
            <a:spLocks noGrp="1"/>
          </p:cNvSpPr>
          <p:nvPr>
            <p:ph idx="1"/>
          </p:nvPr>
        </p:nvSpPr>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A910DB9-5E5A-8F8D-FDA4-FA812D899F2F}"/>
              </a:ext>
            </a:extLst>
          </p:cNvPr>
          <p:cNvSpPr>
            <a:spLocks noGrp="1"/>
          </p:cNvSpPr>
          <p:nvPr>
            <p:ph type="dt" sz="half" idx="10"/>
          </p:nvPr>
        </p:nvSpPr>
        <p:spPr/>
        <p:txBody>
          <a:bodyPr/>
          <a:lstStyle/>
          <a:p>
            <a:fld id="{F3EA9409-0F8D-ED47-A241-364DB5CEDB10}" type="datetime1">
              <a:rPr kumimoji="1" lang="zh-CN" altLang="en-US" smtClean="0"/>
              <a:t>2023/8/31</a:t>
            </a:fld>
            <a:endParaRPr kumimoji="1" lang="zh-CN" altLang="en-US"/>
          </a:p>
        </p:txBody>
      </p:sp>
      <p:sp>
        <p:nvSpPr>
          <p:cNvPr id="5" name="页脚占位符 4">
            <a:extLst>
              <a:ext uri="{FF2B5EF4-FFF2-40B4-BE49-F238E27FC236}">
                <a16:creationId xmlns:a16="http://schemas.microsoft.com/office/drawing/2014/main" id="{9C640DE6-882B-9C88-D1CF-BF2A63A1A2E2}"/>
              </a:ext>
            </a:extLst>
          </p:cNvPr>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Tree>
    <p:extLst>
      <p:ext uri="{BB962C8B-B14F-4D97-AF65-F5344CB8AC3E}">
        <p14:creationId xmlns:p14="http://schemas.microsoft.com/office/powerpoint/2010/main" val="908624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49F1B6-B131-29AF-5444-E7264A49CD6B}"/>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7A4E57B6-61DB-39D3-12A0-F3DD977E4F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CE4F2D64-0939-7047-BE51-1A8047B1A7E2}"/>
              </a:ext>
            </a:extLst>
          </p:cNvPr>
          <p:cNvSpPr>
            <a:spLocks noGrp="1"/>
          </p:cNvSpPr>
          <p:nvPr>
            <p:ph type="dt" sz="half" idx="10"/>
          </p:nvPr>
        </p:nvSpPr>
        <p:spPr/>
        <p:txBody>
          <a:bodyPr/>
          <a:lstStyle/>
          <a:p>
            <a:fld id="{21955975-9FB0-A840-8F26-B6D105552DF1}" type="datetime1">
              <a:rPr kumimoji="1" lang="zh-CN" altLang="en-US" smtClean="0"/>
              <a:t>2023/8/31</a:t>
            </a:fld>
            <a:endParaRPr kumimoji="1" lang="zh-CN" altLang="en-US"/>
          </a:p>
        </p:txBody>
      </p:sp>
      <p:sp>
        <p:nvSpPr>
          <p:cNvPr id="5" name="页脚占位符 4">
            <a:extLst>
              <a:ext uri="{FF2B5EF4-FFF2-40B4-BE49-F238E27FC236}">
                <a16:creationId xmlns:a16="http://schemas.microsoft.com/office/drawing/2014/main" id="{9797ECED-C74D-1ACD-8743-D41DE5FD0018}"/>
              </a:ext>
            </a:extLst>
          </p:cNvPr>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Tree>
    <p:extLst>
      <p:ext uri="{BB962C8B-B14F-4D97-AF65-F5344CB8AC3E}">
        <p14:creationId xmlns:p14="http://schemas.microsoft.com/office/powerpoint/2010/main" val="4054789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2EDDEA-4698-EDEB-8D11-9040F88F8D48}"/>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DE087D70-56B0-2CDD-8EDE-70EE66E5DB29}"/>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AC50B5B6-3807-E901-55E3-3BEFB57B4E21}"/>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F24BA9A6-9862-C6DB-365F-E4EB916F7FE3}"/>
              </a:ext>
            </a:extLst>
          </p:cNvPr>
          <p:cNvSpPr>
            <a:spLocks noGrp="1"/>
          </p:cNvSpPr>
          <p:nvPr>
            <p:ph type="dt" sz="half" idx="10"/>
          </p:nvPr>
        </p:nvSpPr>
        <p:spPr/>
        <p:txBody>
          <a:bodyPr/>
          <a:lstStyle/>
          <a:p>
            <a:fld id="{95CF05C6-8DDC-0146-8E51-F0E2BAE234FB}" type="datetime1">
              <a:rPr kumimoji="1" lang="zh-CN" altLang="en-US" smtClean="0"/>
              <a:t>2023/8/31</a:t>
            </a:fld>
            <a:endParaRPr kumimoji="1" lang="zh-CN" altLang="en-US"/>
          </a:p>
        </p:txBody>
      </p:sp>
      <p:sp>
        <p:nvSpPr>
          <p:cNvPr id="6" name="页脚占位符 5">
            <a:extLst>
              <a:ext uri="{FF2B5EF4-FFF2-40B4-BE49-F238E27FC236}">
                <a16:creationId xmlns:a16="http://schemas.microsoft.com/office/drawing/2014/main" id="{434FE62A-39FD-E9D9-63CC-40906A7B8E81}"/>
              </a:ext>
            </a:extLst>
          </p:cNvPr>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Tree>
    <p:extLst>
      <p:ext uri="{BB962C8B-B14F-4D97-AF65-F5344CB8AC3E}">
        <p14:creationId xmlns:p14="http://schemas.microsoft.com/office/powerpoint/2010/main" val="38911043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F0455C-190B-9812-E466-6562157008E6}"/>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854F4D69-ED1E-7026-7938-983881A1B0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362ADE44-3C27-342F-A226-6F4D1AD10FB4}"/>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760EE41A-9CE5-2729-FAEE-27AB28BF5E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D8EDB0AE-AA70-199F-0355-BAB6EF297582}"/>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98E217B6-5478-2F09-D22A-6D248F659C72}"/>
              </a:ext>
            </a:extLst>
          </p:cNvPr>
          <p:cNvSpPr>
            <a:spLocks noGrp="1"/>
          </p:cNvSpPr>
          <p:nvPr>
            <p:ph type="dt" sz="half" idx="10"/>
          </p:nvPr>
        </p:nvSpPr>
        <p:spPr/>
        <p:txBody>
          <a:bodyPr/>
          <a:lstStyle/>
          <a:p>
            <a:fld id="{3995C9DE-07D7-0448-8240-E7B424FCE8E8}" type="datetime1">
              <a:rPr kumimoji="1" lang="zh-CN" altLang="en-US" smtClean="0"/>
              <a:t>2023/8/31</a:t>
            </a:fld>
            <a:endParaRPr kumimoji="1" lang="zh-CN" altLang="en-US"/>
          </a:p>
        </p:txBody>
      </p:sp>
      <p:sp>
        <p:nvSpPr>
          <p:cNvPr id="8" name="页脚占位符 7">
            <a:extLst>
              <a:ext uri="{FF2B5EF4-FFF2-40B4-BE49-F238E27FC236}">
                <a16:creationId xmlns:a16="http://schemas.microsoft.com/office/drawing/2014/main" id="{6E78508B-9551-F25E-F166-7A534B63F506}"/>
              </a:ext>
            </a:extLst>
          </p:cNvPr>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Tree>
    <p:extLst>
      <p:ext uri="{BB962C8B-B14F-4D97-AF65-F5344CB8AC3E}">
        <p14:creationId xmlns:p14="http://schemas.microsoft.com/office/powerpoint/2010/main" val="2638845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C0E942-6024-2064-E01B-D580350B3BC2}"/>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B5F55431-6F3E-378A-9D2E-546B4CACEF85}"/>
              </a:ext>
            </a:extLst>
          </p:cNvPr>
          <p:cNvSpPr>
            <a:spLocks noGrp="1"/>
          </p:cNvSpPr>
          <p:nvPr>
            <p:ph type="dt" sz="half" idx="10"/>
          </p:nvPr>
        </p:nvSpPr>
        <p:spPr/>
        <p:txBody>
          <a:bodyPr/>
          <a:lstStyle/>
          <a:p>
            <a:fld id="{67A2A356-FD97-6844-9D71-48A1F9D9737F}" type="datetime1">
              <a:rPr kumimoji="1" lang="zh-CN" altLang="en-US" smtClean="0"/>
              <a:t>2023/8/31</a:t>
            </a:fld>
            <a:endParaRPr kumimoji="1" lang="zh-CN" altLang="en-US"/>
          </a:p>
        </p:txBody>
      </p:sp>
      <p:sp>
        <p:nvSpPr>
          <p:cNvPr id="4" name="页脚占位符 3">
            <a:extLst>
              <a:ext uri="{FF2B5EF4-FFF2-40B4-BE49-F238E27FC236}">
                <a16:creationId xmlns:a16="http://schemas.microsoft.com/office/drawing/2014/main" id="{AD050146-B75F-F64B-4160-A4654469E863}"/>
              </a:ext>
            </a:extLst>
          </p:cNvPr>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Tree>
    <p:extLst>
      <p:ext uri="{BB962C8B-B14F-4D97-AF65-F5344CB8AC3E}">
        <p14:creationId xmlns:p14="http://schemas.microsoft.com/office/powerpoint/2010/main" val="2232192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073F441-A35E-15A8-452E-8CCEE0987EF9}"/>
              </a:ext>
            </a:extLst>
          </p:cNvPr>
          <p:cNvSpPr>
            <a:spLocks noGrp="1"/>
          </p:cNvSpPr>
          <p:nvPr>
            <p:ph type="dt" sz="half" idx="10"/>
          </p:nvPr>
        </p:nvSpPr>
        <p:spPr/>
        <p:txBody>
          <a:bodyPr/>
          <a:lstStyle/>
          <a:p>
            <a:fld id="{BD7ADB69-E2F0-7747-8FFD-473E5E439194}" type="datetime1">
              <a:rPr kumimoji="1" lang="zh-CN" altLang="en-US" smtClean="0"/>
              <a:t>2023/8/31</a:t>
            </a:fld>
            <a:endParaRPr kumimoji="1" lang="zh-CN" altLang="en-US"/>
          </a:p>
        </p:txBody>
      </p:sp>
      <p:sp>
        <p:nvSpPr>
          <p:cNvPr id="3" name="页脚占位符 2">
            <a:extLst>
              <a:ext uri="{FF2B5EF4-FFF2-40B4-BE49-F238E27FC236}">
                <a16:creationId xmlns:a16="http://schemas.microsoft.com/office/drawing/2014/main" id="{E63E309D-F4AE-6C2F-4478-6D06F34AB4B4}"/>
              </a:ext>
            </a:extLst>
          </p:cNvPr>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Tree>
    <p:extLst>
      <p:ext uri="{BB962C8B-B14F-4D97-AF65-F5344CB8AC3E}">
        <p14:creationId xmlns:p14="http://schemas.microsoft.com/office/powerpoint/2010/main" val="3208594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0A9290-3BEB-4EB5-506F-4B96E9EB7C6E}"/>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FAB3C785-608D-8FFB-E454-211424C91B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7D62D680-D634-F575-D432-E0BE21125B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085EE3F2-33B4-CEF4-539D-94022190A8B5}"/>
              </a:ext>
            </a:extLst>
          </p:cNvPr>
          <p:cNvSpPr>
            <a:spLocks noGrp="1"/>
          </p:cNvSpPr>
          <p:nvPr>
            <p:ph type="dt" sz="half" idx="10"/>
          </p:nvPr>
        </p:nvSpPr>
        <p:spPr/>
        <p:txBody>
          <a:bodyPr/>
          <a:lstStyle/>
          <a:p>
            <a:fld id="{B9BBFF64-EC5E-AC4C-A3FD-2C86489DFF97}" type="datetime1">
              <a:rPr kumimoji="1" lang="zh-CN" altLang="en-US" smtClean="0"/>
              <a:t>2023/8/31</a:t>
            </a:fld>
            <a:endParaRPr kumimoji="1" lang="zh-CN" altLang="en-US"/>
          </a:p>
        </p:txBody>
      </p:sp>
      <p:sp>
        <p:nvSpPr>
          <p:cNvPr id="6" name="页脚占位符 5">
            <a:extLst>
              <a:ext uri="{FF2B5EF4-FFF2-40B4-BE49-F238E27FC236}">
                <a16:creationId xmlns:a16="http://schemas.microsoft.com/office/drawing/2014/main" id="{F3B23BA9-1ACB-B804-F198-1D5640055DAF}"/>
              </a:ext>
            </a:extLst>
          </p:cNvPr>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Tree>
    <p:extLst>
      <p:ext uri="{BB962C8B-B14F-4D97-AF65-F5344CB8AC3E}">
        <p14:creationId xmlns:p14="http://schemas.microsoft.com/office/powerpoint/2010/main" val="197440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CB00F7-E28C-CDAB-B226-1F09C4B2E478}"/>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D09936FF-29B0-47F8-9724-89814FB3AE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6CEB4174-A907-EA15-9253-8218B1A0D3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DC96A662-3218-B92B-6C30-260BE40C4CD0}"/>
              </a:ext>
            </a:extLst>
          </p:cNvPr>
          <p:cNvSpPr>
            <a:spLocks noGrp="1"/>
          </p:cNvSpPr>
          <p:nvPr>
            <p:ph type="dt" sz="half" idx="10"/>
          </p:nvPr>
        </p:nvSpPr>
        <p:spPr/>
        <p:txBody>
          <a:bodyPr/>
          <a:lstStyle/>
          <a:p>
            <a:fld id="{534DF2DA-67C0-684B-B97B-D6845595BA05}" type="datetime1">
              <a:rPr kumimoji="1" lang="zh-CN" altLang="en-US" smtClean="0"/>
              <a:t>2023/8/31</a:t>
            </a:fld>
            <a:endParaRPr kumimoji="1" lang="zh-CN" altLang="en-US"/>
          </a:p>
        </p:txBody>
      </p:sp>
      <p:sp>
        <p:nvSpPr>
          <p:cNvPr id="6" name="页脚占位符 5">
            <a:extLst>
              <a:ext uri="{FF2B5EF4-FFF2-40B4-BE49-F238E27FC236}">
                <a16:creationId xmlns:a16="http://schemas.microsoft.com/office/drawing/2014/main" id="{ABC9C1D2-A76B-7B38-507A-D825C4ED888C}"/>
              </a:ext>
            </a:extLst>
          </p:cNvPr>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Tree>
    <p:extLst>
      <p:ext uri="{BB962C8B-B14F-4D97-AF65-F5344CB8AC3E}">
        <p14:creationId xmlns:p14="http://schemas.microsoft.com/office/powerpoint/2010/main" val="22202438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F3467A-6B3E-BB80-B18C-4CA5F7F07EA5}"/>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23C4ECB4-74F8-FD85-94A7-3661D3E826FD}"/>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D40D2745-91B6-D17B-5C4C-A2F9CA26A822}"/>
              </a:ext>
            </a:extLst>
          </p:cNvPr>
          <p:cNvSpPr>
            <a:spLocks noGrp="1"/>
          </p:cNvSpPr>
          <p:nvPr>
            <p:ph type="dt" sz="half" idx="10"/>
          </p:nvPr>
        </p:nvSpPr>
        <p:spPr/>
        <p:txBody>
          <a:bodyPr/>
          <a:lstStyle/>
          <a:p>
            <a:fld id="{FD03D27D-A416-064B-B583-D92875238A24}" type="datetime1">
              <a:rPr kumimoji="1" lang="zh-CN" altLang="en-US" smtClean="0"/>
              <a:t>2023/8/31</a:t>
            </a:fld>
            <a:endParaRPr kumimoji="1" lang="zh-CN" altLang="en-US"/>
          </a:p>
        </p:txBody>
      </p:sp>
      <p:sp>
        <p:nvSpPr>
          <p:cNvPr id="5" name="页脚占位符 4">
            <a:extLst>
              <a:ext uri="{FF2B5EF4-FFF2-40B4-BE49-F238E27FC236}">
                <a16:creationId xmlns:a16="http://schemas.microsoft.com/office/drawing/2014/main" id="{E772EEBA-6339-0D0E-DDDE-C614FC4804C2}"/>
              </a:ext>
            </a:extLst>
          </p:cNvPr>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Tree>
    <p:extLst>
      <p:ext uri="{BB962C8B-B14F-4D97-AF65-F5344CB8AC3E}">
        <p14:creationId xmlns:p14="http://schemas.microsoft.com/office/powerpoint/2010/main" val="5816667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D3FA603-D8A5-F645-6FB2-3DDE76386C51}"/>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2EB8A357-2E11-C4E2-9BEE-C0428B2A91E2}"/>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014554FE-E8A8-E2F7-9FCB-CB2C1BEC903D}"/>
              </a:ext>
            </a:extLst>
          </p:cNvPr>
          <p:cNvSpPr>
            <a:spLocks noGrp="1"/>
          </p:cNvSpPr>
          <p:nvPr>
            <p:ph type="dt" sz="half" idx="10"/>
          </p:nvPr>
        </p:nvSpPr>
        <p:spPr/>
        <p:txBody>
          <a:bodyPr/>
          <a:lstStyle/>
          <a:p>
            <a:fld id="{A0430740-8B54-6D46-B49B-1F694BB1A930}" type="datetime1">
              <a:rPr kumimoji="1" lang="zh-CN" altLang="en-US" smtClean="0"/>
              <a:t>2023/8/31</a:t>
            </a:fld>
            <a:endParaRPr kumimoji="1" lang="zh-CN" altLang="en-US"/>
          </a:p>
        </p:txBody>
      </p:sp>
      <p:sp>
        <p:nvSpPr>
          <p:cNvPr id="5" name="页脚占位符 4">
            <a:extLst>
              <a:ext uri="{FF2B5EF4-FFF2-40B4-BE49-F238E27FC236}">
                <a16:creationId xmlns:a16="http://schemas.microsoft.com/office/drawing/2014/main" id="{685F9A7B-EBF6-446D-C1D3-C2BF112AD72B}"/>
              </a:ext>
            </a:extLst>
          </p:cNvPr>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Tree>
    <p:extLst>
      <p:ext uri="{BB962C8B-B14F-4D97-AF65-F5344CB8AC3E}">
        <p14:creationId xmlns:p14="http://schemas.microsoft.com/office/powerpoint/2010/main" val="11210709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F38277-B9E6-C3E3-5CED-C3BF1FA332DD}"/>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C1ECFBA9-31E1-B8E4-1B0E-08CA88EDB2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4F174D2F-AE3F-571A-8BE1-D0E51638EBAF}"/>
              </a:ext>
            </a:extLst>
          </p:cNvPr>
          <p:cNvSpPr>
            <a:spLocks noGrp="1"/>
          </p:cNvSpPr>
          <p:nvPr>
            <p:ph type="dt" sz="half" idx="10"/>
          </p:nvPr>
        </p:nvSpPr>
        <p:spPr/>
        <p:txBody>
          <a:bodyPr/>
          <a:lstStyle/>
          <a:p>
            <a:fld id="{0C3ED40B-EBEB-8047-B9DD-1461F0DA3E65}" type="datetime1">
              <a:rPr kumimoji="1" lang="zh-CN" altLang="en-US" smtClean="0"/>
              <a:t>2023/8/31</a:t>
            </a:fld>
            <a:endParaRPr kumimoji="1" lang="zh-CN" altLang="en-US"/>
          </a:p>
        </p:txBody>
      </p:sp>
      <p:sp>
        <p:nvSpPr>
          <p:cNvPr id="5" name="页脚占位符 4">
            <a:extLst>
              <a:ext uri="{FF2B5EF4-FFF2-40B4-BE49-F238E27FC236}">
                <a16:creationId xmlns:a16="http://schemas.microsoft.com/office/drawing/2014/main" id="{FF7E0D18-AB5C-6A7B-CE07-34BE5AD36C7B}"/>
              </a:ext>
            </a:extLst>
          </p:cNvPr>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
        <p:nvSpPr>
          <p:cNvPr id="6" name="灯片编号占位符 5">
            <a:extLst>
              <a:ext uri="{FF2B5EF4-FFF2-40B4-BE49-F238E27FC236}">
                <a16:creationId xmlns:a16="http://schemas.microsoft.com/office/drawing/2014/main" id="{336F3AB1-11D3-0E7C-62E5-EC129598749B}"/>
              </a:ext>
            </a:extLst>
          </p:cNvPr>
          <p:cNvSpPr>
            <a:spLocks noGrp="1"/>
          </p:cNvSpPr>
          <p:nvPr>
            <p:ph type="sldNum" sz="quarter" idx="12"/>
          </p:nvPr>
        </p:nvSpPr>
        <p:spPr/>
        <p:txBody>
          <a:bodyPr/>
          <a:lstStyle/>
          <a:p>
            <a:fld id="{222D1253-0C84-AF4C-8953-BD0837D879DF}" type="slidenum">
              <a:rPr kumimoji="1" lang="zh-CN" altLang="en-US" smtClean="0"/>
              <a:t>‹#›</a:t>
            </a:fld>
            <a:endParaRPr kumimoji="1" lang="zh-CN" altLang="en-US"/>
          </a:p>
        </p:txBody>
      </p:sp>
    </p:spTree>
    <p:extLst>
      <p:ext uri="{BB962C8B-B14F-4D97-AF65-F5344CB8AC3E}">
        <p14:creationId xmlns:p14="http://schemas.microsoft.com/office/powerpoint/2010/main" val="26678900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3F3F0A-8700-E4FD-0604-020C4E0EF6FE}"/>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21529413-82CF-F006-DD00-7FE19A780464}"/>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47913E8-B195-AD6D-0668-FE339C4D2D76}"/>
              </a:ext>
            </a:extLst>
          </p:cNvPr>
          <p:cNvSpPr>
            <a:spLocks noGrp="1"/>
          </p:cNvSpPr>
          <p:nvPr>
            <p:ph type="dt" sz="half" idx="10"/>
          </p:nvPr>
        </p:nvSpPr>
        <p:spPr/>
        <p:txBody>
          <a:bodyPr/>
          <a:lstStyle/>
          <a:p>
            <a:fld id="{8454992D-27F5-B74D-A58B-BA186A33E5DE}" type="datetime1">
              <a:rPr kumimoji="1" lang="zh-CN" altLang="en-US" smtClean="0"/>
              <a:t>2023/8/31</a:t>
            </a:fld>
            <a:endParaRPr kumimoji="1" lang="zh-CN" altLang="en-US"/>
          </a:p>
        </p:txBody>
      </p:sp>
      <p:sp>
        <p:nvSpPr>
          <p:cNvPr id="5" name="页脚占位符 4">
            <a:extLst>
              <a:ext uri="{FF2B5EF4-FFF2-40B4-BE49-F238E27FC236}">
                <a16:creationId xmlns:a16="http://schemas.microsoft.com/office/drawing/2014/main" id="{D3023378-08B4-4569-485C-A8C0486CDFE0}"/>
              </a:ext>
            </a:extLst>
          </p:cNvPr>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
        <p:nvSpPr>
          <p:cNvPr id="6" name="灯片编号占位符 5">
            <a:extLst>
              <a:ext uri="{FF2B5EF4-FFF2-40B4-BE49-F238E27FC236}">
                <a16:creationId xmlns:a16="http://schemas.microsoft.com/office/drawing/2014/main" id="{3703FF8C-50B7-5454-C66A-CA9A7144A101}"/>
              </a:ext>
            </a:extLst>
          </p:cNvPr>
          <p:cNvSpPr>
            <a:spLocks noGrp="1"/>
          </p:cNvSpPr>
          <p:nvPr>
            <p:ph type="sldNum" sz="quarter" idx="12"/>
          </p:nvPr>
        </p:nvSpPr>
        <p:spPr/>
        <p:txBody>
          <a:bodyPr/>
          <a:lstStyle/>
          <a:p>
            <a:fld id="{222D1253-0C84-AF4C-8953-BD0837D879DF}" type="slidenum">
              <a:rPr kumimoji="1" lang="zh-CN" altLang="en-US" smtClean="0"/>
              <a:t>‹#›</a:t>
            </a:fld>
            <a:endParaRPr kumimoji="1" lang="zh-CN" altLang="en-US"/>
          </a:p>
        </p:txBody>
      </p:sp>
    </p:spTree>
    <p:extLst>
      <p:ext uri="{BB962C8B-B14F-4D97-AF65-F5344CB8AC3E}">
        <p14:creationId xmlns:p14="http://schemas.microsoft.com/office/powerpoint/2010/main" val="23690449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39A591-05C5-9472-4977-5160B62FE045}"/>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24E4B02B-7234-AF35-3BC0-D1F0506816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3F8EA28D-5CD1-7169-252B-35D4FD65F58C}"/>
              </a:ext>
            </a:extLst>
          </p:cNvPr>
          <p:cNvSpPr>
            <a:spLocks noGrp="1"/>
          </p:cNvSpPr>
          <p:nvPr>
            <p:ph type="dt" sz="half" idx="10"/>
          </p:nvPr>
        </p:nvSpPr>
        <p:spPr/>
        <p:txBody>
          <a:bodyPr/>
          <a:lstStyle/>
          <a:p>
            <a:fld id="{E4DA1685-DA94-9D4D-893C-042224596A45}" type="datetime1">
              <a:rPr kumimoji="1" lang="zh-CN" altLang="en-US" smtClean="0"/>
              <a:t>2023/8/31</a:t>
            </a:fld>
            <a:endParaRPr kumimoji="1" lang="zh-CN" altLang="en-US"/>
          </a:p>
        </p:txBody>
      </p:sp>
      <p:sp>
        <p:nvSpPr>
          <p:cNvPr id="5" name="页脚占位符 4">
            <a:extLst>
              <a:ext uri="{FF2B5EF4-FFF2-40B4-BE49-F238E27FC236}">
                <a16:creationId xmlns:a16="http://schemas.microsoft.com/office/drawing/2014/main" id="{0363C891-F667-0BC8-C912-B67F2B05AB80}"/>
              </a:ext>
            </a:extLst>
          </p:cNvPr>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
        <p:nvSpPr>
          <p:cNvPr id="6" name="灯片编号占位符 5">
            <a:extLst>
              <a:ext uri="{FF2B5EF4-FFF2-40B4-BE49-F238E27FC236}">
                <a16:creationId xmlns:a16="http://schemas.microsoft.com/office/drawing/2014/main" id="{D63A14E2-C229-FB02-7DD2-83B03DCE9960}"/>
              </a:ext>
            </a:extLst>
          </p:cNvPr>
          <p:cNvSpPr>
            <a:spLocks noGrp="1"/>
          </p:cNvSpPr>
          <p:nvPr>
            <p:ph type="sldNum" sz="quarter" idx="12"/>
          </p:nvPr>
        </p:nvSpPr>
        <p:spPr/>
        <p:txBody>
          <a:bodyPr/>
          <a:lstStyle/>
          <a:p>
            <a:fld id="{222D1253-0C84-AF4C-8953-BD0837D879DF}" type="slidenum">
              <a:rPr kumimoji="1" lang="zh-CN" altLang="en-US" smtClean="0"/>
              <a:t>‹#›</a:t>
            </a:fld>
            <a:endParaRPr kumimoji="1" lang="zh-CN" altLang="en-US"/>
          </a:p>
        </p:txBody>
      </p:sp>
    </p:spTree>
    <p:extLst>
      <p:ext uri="{BB962C8B-B14F-4D97-AF65-F5344CB8AC3E}">
        <p14:creationId xmlns:p14="http://schemas.microsoft.com/office/powerpoint/2010/main" val="38137389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9BACCA-DF79-96CF-4A09-1C2001C70399}"/>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577AB54E-074B-573A-E23C-CD50290E5BB0}"/>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1FA61729-530C-7FD7-FEA5-E12DC09AEEB4}"/>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CE99B022-F5BD-5A37-984B-3039D6EBE619}"/>
              </a:ext>
            </a:extLst>
          </p:cNvPr>
          <p:cNvSpPr>
            <a:spLocks noGrp="1"/>
          </p:cNvSpPr>
          <p:nvPr>
            <p:ph type="dt" sz="half" idx="10"/>
          </p:nvPr>
        </p:nvSpPr>
        <p:spPr/>
        <p:txBody>
          <a:bodyPr/>
          <a:lstStyle/>
          <a:p>
            <a:fld id="{0C71461D-8537-1E4E-A7B5-CA4314F3AA5E}" type="datetime1">
              <a:rPr kumimoji="1" lang="zh-CN" altLang="en-US" smtClean="0"/>
              <a:t>2023/8/31</a:t>
            </a:fld>
            <a:endParaRPr kumimoji="1" lang="zh-CN" altLang="en-US"/>
          </a:p>
        </p:txBody>
      </p:sp>
      <p:sp>
        <p:nvSpPr>
          <p:cNvPr id="6" name="页脚占位符 5">
            <a:extLst>
              <a:ext uri="{FF2B5EF4-FFF2-40B4-BE49-F238E27FC236}">
                <a16:creationId xmlns:a16="http://schemas.microsoft.com/office/drawing/2014/main" id="{E66C9650-266E-188F-2355-694BF5004201}"/>
              </a:ext>
            </a:extLst>
          </p:cNvPr>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
        <p:nvSpPr>
          <p:cNvPr id="7" name="灯片编号占位符 6">
            <a:extLst>
              <a:ext uri="{FF2B5EF4-FFF2-40B4-BE49-F238E27FC236}">
                <a16:creationId xmlns:a16="http://schemas.microsoft.com/office/drawing/2014/main" id="{39A0425C-64C7-7470-3EFC-B75B18FD236A}"/>
              </a:ext>
            </a:extLst>
          </p:cNvPr>
          <p:cNvSpPr>
            <a:spLocks noGrp="1"/>
          </p:cNvSpPr>
          <p:nvPr>
            <p:ph type="sldNum" sz="quarter" idx="12"/>
          </p:nvPr>
        </p:nvSpPr>
        <p:spPr/>
        <p:txBody>
          <a:bodyPr/>
          <a:lstStyle/>
          <a:p>
            <a:fld id="{222D1253-0C84-AF4C-8953-BD0837D879DF}" type="slidenum">
              <a:rPr kumimoji="1" lang="zh-CN" altLang="en-US" smtClean="0"/>
              <a:t>‹#›</a:t>
            </a:fld>
            <a:endParaRPr kumimoji="1" lang="zh-CN" altLang="en-US"/>
          </a:p>
        </p:txBody>
      </p:sp>
    </p:spTree>
    <p:extLst>
      <p:ext uri="{BB962C8B-B14F-4D97-AF65-F5344CB8AC3E}">
        <p14:creationId xmlns:p14="http://schemas.microsoft.com/office/powerpoint/2010/main" val="35930430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FE0BCE-CD79-02B7-6466-E8A783A91240}"/>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A3AFD503-6071-2D23-1AFC-0E802DBD1C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1A969F24-BA98-508A-D0E9-05CF4283A00C}"/>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0DD97FF1-FCFC-A040-23C2-AC9AC1749F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C8A53714-B78F-E91E-DCF7-EF3F73AD8C7B}"/>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0F75E735-4E28-5374-6508-98EC49387977}"/>
              </a:ext>
            </a:extLst>
          </p:cNvPr>
          <p:cNvSpPr>
            <a:spLocks noGrp="1"/>
          </p:cNvSpPr>
          <p:nvPr>
            <p:ph type="dt" sz="half" idx="10"/>
          </p:nvPr>
        </p:nvSpPr>
        <p:spPr/>
        <p:txBody>
          <a:bodyPr/>
          <a:lstStyle/>
          <a:p>
            <a:fld id="{DCA191C8-6E43-F543-87BD-911BEB684436}" type="datetime1">
              <a:rPr kumimoji="1" lang="zh-CN" altLang="en-US" smtClean="0"/>
              <a:t>2023/8/31</a:t>
            </a:fld>
            <a:endParaRPr kumimoji="1" lang="zh-CN" altLang="en-US"/>
          </a:p>
        </p:txBody>
      </p:sp>
      <p:sp>
        <p:nvSpPr>
          <p:cNvPr id="8" name="页脚占位符 7">
            <a:extLst>
              <a:ext uri="{FF2B5EF4-FFF2-40B4-BE49-F238E27FC236}">
                <a16:creationId xmlns:a16="http://schemas.microsoft.com/office/drawing/2014/main" id="{2DCC3481-ACD1-1FC1-CF85-BBA756ACC22D}"/>
              </a:ext>
            </a:extLst>
          </p:cNvPr>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
        <p:nvSpPr>
          <p:cNvPr id="9" name="灯片编号占位符 8">
            <a:extLst>
              <a:ext uri="{FF2B5EF4-FFF2-40B4-BE49-F238E27FC236}">
                <a16:creationId xmlns:a16="http://schemas.microsoft.com/office/drawing/2014/main" id="{37A2A3AD-5BFD-272B-FC25-C76DE0990185}"/>
              </a:ext>
            </a:extLst>
          </p:cNvPr>
          <p:cNvSpPr>
            <a:spLocks noGrp="1"/>
          </p:cNvSpPr>
          <p:nvPr>
            <p:ph type="sldNum" sz="quarter" idx="12"/>
          </p:nvPr>
        </p:nvSpPr>
        <p:spPr/>
        <p:txBody>
          <a:bodyPr/>
          <a:lstStyle/>
          <a:p>
            <a:fld id="{222D1253-0C84-AF4C-8953-BD0837D879DF}" type="slidenum">
              <a:rPr kumimoji="1" lang="zh-CN" altLang="en-US" smtClean="0"/>
              <a:t>‹#›</a:t>
            </a:fld>
            <a:endParaRPr kumimoji="1" lang="zh-CN" altLang="en-US"/>
          </a:p>
        </p:txBody>
      </p:sp>
    </p:spTree>
    <p:extLst>
      <p:ext uri="{BB962C8B-B14F-4D97-AF65-F5344CB8AC3E}">
        <p14:creationId xmlns:p14="http://schemas.microsoft.com/office/powerpoint/2010/main" val="38464420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723499-D84E-A1CC-796F-1C498ACBD56D}"/>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9C04CB61-EBC4-3DC7-B606-2342EF155661}"/>
              </a:ext>
            </a:extLst>
          </p:cNvPr>
          <p:cNvSpPr>
            <a:spLocks noGrp="1"/>
          </p:cNvSpPr>
          <p:nvPr>
            <p:ph type="dt" sz="half" idx="10"/>
          </p:nvPr>
        </p:nvSpPr>
        <p:spPr/>
        <p:txBody>
          <a:bodyPr/>
          <a:lstStyle/>
          <a:p>
            <a:fld id="{48484D5B-ACAB-2B48-B7CC-5CE53798836E}" type="datetime1">
              <a:rPr kumimoji="1" lang="zh-CN" altLang="en-US" smtClean="0"/>
              <a:t>2023/8/31</a:t>
            </a:fld>
            <a:endParaRPr kumimoji="1" lang="zh-CN" altLang="en-US"/>
          </a:p>
        </p:txBody>
      </p:sp>
      <p:sp>
        <p:nvSpPr>
          <p:cNvPr id="4" name="页脚占位符 3">
            <a:extLst>
              <a:ext uri="{FF2B5EF4-FFF2-40B4-BE49-F238E27FC236}">
                <a16:creationId xmlns:a16="http://schemas.microsoft.com/office/drawing/2014/main" id="{FCAC7075-13B8-9D3C-F431-50C51CC1ED79}"/>
              </a:ext>
            </a:extLst>
          </p:cNvPr>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
        <p:nvSpPr>
          <p:cNvPr id="5" name="灯片编号占位符 4">
            <a:extLst>
              <a:ext uri="{FF2B5EF4-FFF2-40B4-BE49-F238E27FC236}">
                <a16:creationId xmlns:a16="http://schemas.microsoft.com/office/drawing/2014/main" id="{143CF3CB-6024-8F5D-E95E-3BE9A37C7F9D}"/>
              </a:ext>
            </a:extLst>
          </p:cNvPr>
          <p:cNvSpPr>
            <a:spLocks noGrp="1"/>
          </p:cNvSpPr>
          <p:nvPr>
            <p:ph type="sldNum" sz="quarter" idx="12"/>
          </p:nvPr>
        </p:nvSpPr>
        <p:spPr/>
        <p:txBody>
          <a:bodyPr/>
          <a:lstStyle/>
          <a:p>
            <a:fld id="{222D1253-0C84-AF4C-8953-BD0837D879DF}" type="slidenum">
              <a:rPr kumimoji="1" lang="zh-CN" altLang="en-US" smtClean="0"/>
              <a:t>‹#›</a:t>
            </a:fld>
            <a:endParaRPr kumimoji="1" lang="zh-CN" altLang="en-US"/>
          </a:p>
        </p:txBody>
      </p:sp>
    </p:spTree>
    <p:extLst>
      <p:ext uri="{BB962C8B-B14F-4D97-AF65-F5344CB8AC3E}">
        <p14:creationId xmlns:p14="http://schemas.microsoft.com/office/powerpoint/2010/main" val="20565422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6C1CF3-1492-AB96-4BA6-1D3F317E9C51}"/>
              </a:ext>
            </a:extLst>
          </p:cNvPr>
          <p:cNvSpPr>
            <a:spLocks noGrp="1"/>
          </p:cNvSpPr>
          <p:nvPr>
            <p:ph type="dt" sz="half" idx="10"/>
          </p:nvPr>
        </p:nvSpPr>
        <p:spPr/>
        <p:txBody>
          <a:bodyPr/>
          <a:lstStyle/>
          <a:p>
            <a:fld id="{6EEC65C8-83CA-6940-B998-497C56CC030D}" type="datetime1">
              <a:rPr kumimoji="1" lang="zh-CN" altLang="en-US" smtClean="0"/>
              <a:t>2023/8/31</a:t>
            </a:fld>
            <a:endParaRPr kumimoji="1" lang="zh-CN" altLang="en-US"/>
          </a:p>
        </p:txBody>
      </p:sp>
      <p:sp>
        <p:nvSpPr>
          <p:cNvPr id="3" name="页脚占位符 2">
            <a:extLst>
              <a:ext uri="{FF2B5EF4-FFF2-40B4-BE49-F238E27FC236}">
                <a16:creationId xmlns:a16="http://schemas.microsoft.com/office/drawing/2014/main" id="{AC28F1E8-3C0A-9E0B-E7E9-DA26489E1FEE}"/>
              </a:ext>
            </a:extLst>
          </p:cNvPr>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
        <p:nvSpPr>
          <p:cNvPr id="4" name="灯片编号占位符 3">
            <a:extLst>
              <a:ext uri="{FF2B5EF4-FFF2-40B4-BE49-F238E27FC236}">
                <a16:creationId xmlns:a16="http://schemas.microsoft.com/office/drawing/2014/main" id="{40683E47-6BDD-93A7-0008-B24D777212C8}"/>
              </a:ext>
            </a:extLst>
          </p:cNvPr>
          <p:cNvSpPr>
            <a:spLocks noGrp="1"/>
          </p:cNvSpPr>
          <p:nvPr>
            <p:ph type="sldNum" sz="quarter" idx="12"/>
          </p:nvPr>
        </p:nvSpPr>
        <p:spPr/>
        <p:txBody>
          <a:bodyPr/>
          <a:lstStyle/>
          <a:p>
            <a:fld id="{222D1253-0C84-AF4C-8953-BD0837D879DF}" type="slidenum">
              <a:rPr kumimoji="1" lang="zh-CN" altLang="en-US" smtClean="0"/>
              <a:t>‹#›</a:t>
            </a:fld>
            <a:endParaRPr kumimoji="1" lang="zh-CN" altLang="en-US"/>
          </a:p>
        </p:txBody>
      </p:sp>
    </p:spTree>
    <p:extLst>
      <p:ext uri="{BB962C8B-B14F-4D97-AF65-F5344CB8AC3E}">
        <p14:creationId xmlns:p14="http://schemas.microsoft.com/office/powerpoint/2010/main" val="9630842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ADAA36-82FD-8A22-80BA-F683A4718E97}"/>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3946F3F9-7669-E871-DC85-62C4342859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FF1C78E5-BE8A-FAFF-B3E5-88121758AE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4B81FCB7-E7DF-B678-2AF2-204BB9D3FCA6}"/>
              </a:ext>
            </a:extLst>
          </p:cNvPr>
          <p:cNvSpPr>
            <a:spLocks noGrp="1"/>
          </p:cNvSpPr>
          <p:nvPr>
            <p:ph type="dt" sz="half" idx="10"/>
          </p:nvPr>
        </p:nvSpPr>
        <p:spPr/>
        <p:txBody>
          <a:bodyPr/>
          <a:lstStyle/>
          <a:p>
            <a:fld id="{2E2052AA-F57B-2440-95AF-031D5213CEBB}" type="datetime1">
              <a:rPr kumimoji="1" lang="zh-CN" altLang="en-US" smtClean="0"/>
              <a:t>2023/8/31</a:t>
            </a:fld>
            <a:endParaRPr kumimoji="1" lang="zh-CN" altLang="en-US"/>
          </a:p>
        </p:txBody>
      </p:sp>
      <p:sp>
        <p:nvSpPr>
          <p:cNvPr id="6" name="页脚占位符 5">
            <a:extLst>
              <a:ext uri="{FF2B5EF4-FFF2-40B4-BE49-F238E27FC236}">
                <a16:creationId xmlns:a16="http://schemas.microsoft.com/office/drawing/2014/main" id="{47D561ED-5DC7-13CF-4C3B-2F69E5DFFC26}"/>
              </a:ext>
            </a:extLst>
          </p:cNvPr>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
        <p:nvSpPr>
          <p:cNvPr id="7" name="灯片编号占位符 6">
            <a:extLst>
              <a:ext uri="{FF2B5EF4-FFF2-40B4-BE49-F238E27FC236}">
                <a16:creationId xmlns:a16="http://schemas.microsoft.com/office/drawing/2014/main" id="{450B932A-4371-5D1D-88C7-DB52023ED03E}"/>
              </a:ext>
            </a:extLst>
          </p:cNvPr>
          <p:cNvSpPr>
            <a:spLocks noGrp="1"/>
          </p:cNvSpPr>
          <p:nvPr>
            <p:ph type="sldNum" sz="quarter" idx="12"/>
          </p:nvPr>
        </p:nvSpPr>
        <p:spPr/>
        <p:txBody>
          <a:bodyPr/>
          <a:lstStyle/>
          <a:p>
            <a:fld id="{222D1253-0C84-AF4C-8953-BD0837D879DF}" type="slidenum">
              <a:rPr kumimoji="1" lang="zh-CN" altLang="en-US" smtClean="0"/>
              <a:t>‹#›</a:t>
            </a:fld>
            <a:endParaRPr kumimoji="1" lang="zh-CN" altLang="en-US"/>
          </a:p>
        </p:txBody>
      </p:sp>
    </p:spTree>
    <p:extLst>
      <p:ext uri="{BB962C8B-B14F-4D97-AF65-F5344CB8AC3E}">
        <p14:creationId xmlns:p14="http://schemas.microsoft.com/office/powerpoint/2010/main" val="35064223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FAD63A-BDA5-0105-C540-8D2324CDBA10}"/>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E6900A33-5E6C-E614-D7D3-5ACFA650DC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6B43B7B1-F869-1306-4F50-C191A36DFC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6E5BFDBE-C3BC-D70B-479A-C6356918BB85}"/>
              </a:ext>
            </a:extLst>
          </p:cNvPr>
          <p:cNvSpPr>
            <a:spLocks noGrp="1"/>
          </p:cNvSpPr>
          <p:nvPr>
            <p:ph type="dt" sz="half" idx="10"/>
          </p:nvPr>
        </p:nvSpPr>
        <p:spPr/>
        <p:txBody>
          <a:bodyPr/>
          <a:lstStyle/>
          <a:p>
            <a:fld id="{1500E37C-3BFB-0B46-93F5-5CA4C6BC299E}" type="datetime1">
              <a:rPr kumimoji="1" lang="zh-CN" altLang="en-US" smtClean="0"/>
              <a:t>2023/8/31</a:t>
            </a:fld>
            <a:endParaRPr kumimoji="1" lang="zh-CN" altLang="en-US"/>
          </a:p>
        </p:txBody>
      </p:sp>
      <p:sp>
        <p:nvSpPr>
          <p:cNvPr id="6" name="页脚占位符 5">
            <a:extLst>
              <a:ext uri="{FF2B5EF4-FFF2-40B4-BE49-F238E27FC236}">
                <a16:creationId xmlns:a16="http://schemas.microsoft.com/office/drawing/2014/main" id="{E3CCB9A4-DB1D-8A19-A311-5AD539216CC7}"/>
              </a:ext>
            </a:extLst>
          </p:cNvPr>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
        <p:nvSpPr>
          <p:cNvPr id="7" name="灯片编号占位符 6">
            <a:extLst>
              <a:ext uri="{FF2B5EF4-FFF2-40B4-BE49-F238E27FC236}">
                <a16:creationId xmlns:a16="http://schemas.microsoft.com/office/drawing/2014/main" id="{5B5AE8E8-5D1D-BA08-4E3D-FB464C7DB42F}"/>
              </a:ext>
            </a:extLst>
          </p:cNvPr>
          <p:cNvSpPr>
            <a:spLocks noGrp="1"/>
          </p:cNvSpPr>
          <p:nvPr>
            <p:ph type="sldNum" sz="quarter" idx="12"/>
          </p:nvPr>
        </p:nvSpPr>
        <p:spPr/>
        <p:txBody>
          <a:bodyPr/>
          <a:lstStyle/>
          <a:p>
            <a:fld id="{222D1253-0C84-AF4C-8953-BD0837D879DF}" type="slidenum">
              <a:rPr kumimoji="1" lang="zh-CN" altLang="en-US" smtClean="0"/>
              <a:t>‹#›</a:t>
            </a:fld>
            <a:endParaRPr kumimoji="1" lang="zh-CN" altLang="en-US"/>
          </a:p>
        </p:txBody>
      </p:sp>
    </p:spTree>
    <p:extLst>
      <p:ext uri="{BB962C8B-B14F-4D97-AF65-F5344CB8AC3E}">
        <p14:creationId xmlns:p14="http://schemas.microsoft.com/office/powerpoint/2010/main" val="38216647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36AE12-B49D-8560-E251-396B9A7B31D7}"/>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0F3B49E9-E5ED-996A-E4FF-BF429D389B77}"/>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2AD472E-F414-2443-49D9-A728CED01E82}"/>
              </a:ext>
            </a:extLst>
          </p:cNvPr>
          <p:cNvSpPr>
            <a:spLocks noGrp="1"/>
          </p:cNvSpPr>
          <p:nvPr>
            <p:ph type="dt" sz="half" idx="10"/>
          </p:nvPr>
        </p:nvSpPr>
        <p:spPr/>
        <p:txBody>
          <a:bodyPr/>
          <a:lstStyle/>
          <a:p>
            <a:fld id="{DAAF84F7-4FB9-924E-AC49-1F7FC545E831}" type="datetime1">
              <a:rPr kumimoji="1" lang="zh-CN" altLang="en-US" smtClean="0"/>
              <a:t>2023/8/31</a:t>
            </a:fld>
            <a:endParaRPr kumimoji="1" lang="zh-CN" altLang="en-US"/>
          </a:p>
        </p:txBody>
      </p:sp>
      <p:sp>
        <p:nvSpPr>
          <p:cNvPr id="5" name="页脚占位符 4">
            <a:extLst>
              <a:ext uri="{FF2B5EF4-FFF2-40B4-BE49-F238E27FC236}">
                <a16:creationId xmlns:a16="http://schemas.microsoft.com/office/drawing/2014/main" id="{E57D8C7D-5100-0244-6370-0545061B5A47}"/>
              </a:ext>
            </a:extLst>
          </p:cNvPr>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
        <p:nvSpPr>
          <p:cNvPr id="6" name="灯片编号占位符 5">
            <a:extLst>
              <a:ext uri="{FF2B5EF4-FFF2-40B4-BE49-F238E27FC236}">
                <a16:creationId xmlns:a16="http://schemas.microsoft.com/office/drawing/2014/main" id="{8236967D-C155-D556-6DE1-EF77B469C10E}"/>
              </a:ext>
            </a:extLst>
          </p:cNvPr>
          <p:cNvSpPr>
            <a:spLocks noGrp="1"/>
          </p:cNvSpPr>
          <p:nvPr>
            <p:ph type="sldNum" sz="quarter" idx="12"/>
          </p:nvPr>
        </p:nvSpPr>
        <p:spPr/>
        <p:txBody>
          <a:bodyPr/>
          <a:lstStyle/>
          <a:p>
            <a:fld id="{222D1253-0C84-AF4C-8953-BD0837D879DF}" type="slidenum">
              <a:rPr kumimoji="1" lang="zh-CN" altLang="en-US" smtClean="0"/>
              <a:t>‹#›</a:t>
            </a:fld>
            <a:endParaRPr kumimoji="1" lang="zh-CN" altLang="en-US"/>
          </a:p>
        </p:txBody>
      </p:sp>
    </p:spTree>
    <p:extLst>
      <p:ext uri="{BB962C8B-B14F-4D97-AF65-F5344CB8AC3E}">
        <p14:creationId xmlns:p14="http://schemas.microsoft.com/office/powerpoint/2010/main" val="30246347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557EFE7-24AD-183B-387D-1A942B1A3703}"/>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E4FDB798-D2F3-CED2-22A4-A3F9131DC825}"/>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6C05CF6-184C-348B-E5CA-FB29AB568EED}"/>
              </a:ext>
            </a:extLst>
          </p:cNvPr>
          <p:cNvSpPr>
            <a:spLocks noGrp="1"/>
          </p:cNvSpPr>
          <p:nvPr>
            <p:ph type="dt" sz="half" idx="10"/>
          </p:nvPr>
        </p:nvSpPr>
        <p:spPr/>
        <p:txBody>
          <a:bodyPr/>
          <a:lstStyle/>
          <a:p>
            <a:fld id="{C26FCECD-A2FA-BA4E-BD0A-4C7D684FB142}" type="datetime1">
              <a:rPr kumimoji="1" lang="zh-CN" altLang="en-US" smtClean="0"/>
              <a:t>2023/8/31</a:t>
            </a:fld>
            <a:endParaRPr kumimoji="1" lang="zh-CN" altLang="en-US"/>
          </a:p>
        </p:txBody>
      </p:sp>
      <p:sp>
        <p:nvSpPr>
          <p:cNvPr id="5" name="页脚占位符 4">
            <a:extLst>
              <a:ext uri="{FF2B5EF4-FFF2-40B4-BE49-F238E27FC236}">
                <a16:creationId xmlns:a16="http://schemas.microsoft.com/office/drawing/2014/main" id="{31C56CFF-AB90-D743-98B1-7BA88D560343}"/>
              </a:ext>
            </a:extLst>
          </p:cNvPr>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
        <p:nvSpPr>
          <p:cNvPr id="6" name="灯片编号占位符 5">
            <a:extLst>
              <a:ext uri="{FF2B5EF4-FFF2-40B4-BE49-F238E27FC236}">
                <a16:creationId xmlns:a16="http://schemas.microsoft.com/office/drawing/2014/main" id="{9F4FB323-5F94-2D27-F8BD-5A3DFD531FD5}"/>
              </a:ext>
            </a:extLst>
          </p:cNvPr>
          <p:cNvSpPr>
            <a:spLocks noGrp="1"/>
          </p:cNvSpPr>
          <p:nvPr>
            <p:ph type="sldNum" sz="quarter" idx="12"/>
          </p:nvPr>
        </p:nvSpPr>
        <p:spPr/>
        <p:txBody>
          <a:bodyPr/>
          <a:lstStyle/>
          <a:p>
            <a:fld id="{222D1253-0C84-AF4C-8953-BD0837D879DF}" type="slidenum">
              <a:rPr kumimoji="1" lang="zh-CN" altLang="en-US" smtClean="0"/>
              <a:t>‹#›</a:t>
            </a:fld>
            <a:endParaRPr kumimoji="1" lang="zh-CN" altLang="en-US"/>
          </a:p>
        </p:txBody>
      </p:sp>
    </p:spTree>
    <p:extLst>
      <p:ext uri="{BB962C8B-B14F-4D97-AF65-F5344CB8AC3E}">
        <p14:creationId xmlns:p14="http://schemas.microsoft.com/office/powerpoint/2010/main" val="406947433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6F8F0D76-D70C-044F-BE31-C5CB83E14BDE}" type="datetime1">
              <a:rPr kumimoji="0" lang="zh-CN" altLang="en-US" sz="1200" b="1" i="0" u="none" strike="noStrike" kern="1200" cap="none" spc="0" normalizeH="0" baseline="0" noProof="0" smtClean="0">
                <a:ln>
                  <a:noFill/>
                </a:ln>
                <a:solidFill>
                  <a:prstClr val="black">
                    <a:tint val="75000"/>
                  </a:prstClr>
                </a:solidFill>
                <a:effectLst/>
                <a:uLnTx/>
                <a:uFillTx/>
                <a:latin typeface="Arial" panose="020B0604020202090204" pitchFamily="34" charset="0"/>
                <a:ea typeface="华文中宋" panose="02010600040101010101" charset="-122"/>
                <a:cs typeface="+mn-cs"/>
              </a:rPr>
              <a:t>2023/8/31</a:t>
            </a:fld>
            <a:endParaRPr kumimoji="0" lang="zh-CN" altLang="en-US" sz="1200" b="1" i="0" u="none" strike="noStrike" kern="1200" cap="none" spc="0" normalizeH="0" baseline="0" noProof="0">
              <a:ln>
                <a:noFill/>
              </a:ln>
              <a:solidFill>
                <a:prstClr val="black">
                  <a:tint val="75000"/>
                </a:prstClr>
              </a:solidFill>
              <a:effectLst/>
              <a:uLnTx/>
              <a:uFillTx/>
              <a:latin typeface="Arial" panose="020B0604020202090204" pitchFamily="34" charset="0"/>
              <a:ea typeface="华文中宋" panose="02010600040101010101"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prstClr val="black">
                  <a:tint val="75000"/>
                </a:prstClr>
              </a:solidFill>
              <a:effectLst/>
              <a:uLnTx/>
              <a:uFillTx/>
              <a:latin typeface="Arial" panose="020B0604020202090204" pitchFamily="34" charset="0"/>
              <a:ea typeface="华文中宋" panose="02010600040101010101"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E3597BDB-C194-6F4E-8639-1B954A600FDB}" type="slidenum">
              <a:rPr kumimoji="0" lang="zh-CN" altLang="en-US" sz="1200" b="1" i="0" u="none" strike="noStrike" kern="1200" cap="none" spc="0" normalizeH="0" baseline="0" noProof="0" smtClean="0">
                <a:ln>
                  <a:noFill/>
                </a:ln>
                <a:solidFill>
                  <a:prstClr val="black">
                    <a:tint val="75000"/>
                  </a:prstClr>
                </a:solidFill>
                <a:effectLst/>
                <a:uLnTx/>
                <a:uFillTx/>
                <a:latin typeface="Arial" panose="020B0604020202090204" pitchFamily="34" charset="0"/>
                <a:ea typeface="华文中宋" panose="02010600040101010101" charset="-122"/>
                <a:cs typeface="+mn-cs"/>
              </a:rPr>
              <a:t>‹#›</a:t>
            </a:fld>
            <a:endParaRPr kumimoji="0" lang="en-US" altLang="zh-CN" sz="1200" b="1" i="0" u="none" strike="noStrike" kern="1200" cap="none" spc="0" normalizeH="0" baseline="0" noProof="0">
              <a:ln>
                <a:noFill/>
              </a:ln>
              <a:solidFill>
                <a:prstClr val="black">
                  <a:tint val="75000"/>
                </a:prstClr>
              </a:solidFill>
              <a:effectLst/>
              <a:uLnTx/>
              <a:uFillTx/>
              <a:latin typeface="Arial" panose="020B0604020202090204" pitchFamily="34" charset="0"/>
              <a:ea typeface="华文中宋" panose="02010600040101010101" charset="-122"/>
              <a:cs typeface="+mn-cs"/>
            </a:endParaRPr>
          </a:p>
        </p:txBody>
      </p:sp>
    </p:spTree>
    <p:extLst>
      <p:ext uri="{BB962C8B-B14F-4D97-AF65-F5344CB8AC3E}">
        <p14:creationId xmlns:p14="http://schemas.microsoft.com/office/powerpoint/2010/main" val="6909553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838200" y="1340768"/>
            <a:ext cx="10515600" cy="5061482"/>
          </a:xfr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r>
              <a:rPr lang="en-US" altLang="zh-CN" dirty="0"/>
              <a:t>·</a:t>
            </a:r>
            <a:endParaRPr lang="en-US" dirty="0"/>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43D749D9-60D0-5B48-ADDB-2B50F5EF0526}" type="datetime1">
              <a:rPr kumimoji="0" lang="zh-CN" altLang="en-US" sz="1200" b="1" i="0" u="none" strike="noStrike" kern="1200" cap="none" spc="0" normalizeH="0" baseline="0" noProof="0" smtClean="0">
                <a:ln>
                  <a:noFill/>
                </a:ln>
                <a:solidFill>
                  <a:prstClr val="black">
                    <a:tint val="75000"/>
                  </a:prstClr>
                </a:solidFill>
                <a:effectLst/>
                <a:uLnTx/>
                <a:uFillTx/>
                <a:latin typeface="Arial" panose="020B0604020202090204" pitchFamily="34" charset="0"/>
                <a:ea typeface="华文中宋" panose="02010600040101010101" charset="-122"/>
                <a:cs typeface="+mn-cs"/>
              </a:rPr>
              <a:t>2023/8/31</a:t>
            </a:fld>
            <a:endParaRPr kumimoji="0" lang="zh-CN" altLang="en-US" sz="1200" b="1" i="0" u="none" strike="noStrike" kern="1200" cap="none" spc="0" normalizeH="0" baseline="0" noProof="0">
              <a:ln>
                <a:noFill/>
              </a:ln>
              <a:solidFill>
                <a:prstClr val="black">
                  <a:tint val="75000"/>
                </a:prstClr>
              </a:solidFill>
              <a:effectLst/>
              <a:uLnTx/>
              <a:uFillTx/>
              <a:latin typeface="Arial" panose="020B0604020202090204" pitchFamily="34" charset="0"/>
              <a:ea typeface="华文中宋" panose="02010600040101010101"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prstClr val="black">
                  <a:tint val="75000"/>
                </a:prstClr>
              </a:solidFill>
              <a:effectLst/>
              <a:uLnTx/>
              <a:uFillTx/>
              <a:latin typeface="Arial" panose="020B0604020202090204" pitchFamily="34" charset="0"/>
              <a:ea typeface="华文中宋" panose="02010600040101010101"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EADB0674-9F2F-9048-8F8C-240B2AE1FAC2}" type="slidenum">
              <a:rPr kumimoji="0" lang="zh-CN" altLang="en-US" sz="1200" b="1" i="0" u="none" strike="noStrike" kern="1200" cap="none" spc="0" normalizeH="0" baseline="0" noProof="0" smtClean="0">
                <a:ln>
                  <a:noFill/>
                </a:ln>
                <a:solidFill>
                  <a:prstClr val="black">
                    <a:tint val="75000"/>
                  </a:prstClr>
                </a:solidFill>
                <a:effectLst/>
                <a:uLnTx/>
                <a:uFillTx/>
                <a:latin typeface="Arial" panose="020B0604020202090204" pitchFamily="34" charset="0"/>
                <a:ea typeface="华文中宋" panose="02010600040101010101" charset="-122"/>
                <a:cs typeface="+mn-cs"/>
              </a:rPr>
              <a:t>‹#›</a:t>
            </a:fld>
            <a:endParaRPr kumimoji="0" lang="en-US" altLang="zh-CN" sz="1200" b="1" i="0" u="none" strike="noStrike" kern="1200" cap="none" spc="0" normalizeH="0" baseline="0" noProof="0">
              <a:ln>
                <a:noFill/>
              </a:ln>
              <a:solidFill>
                <a:prstClr val="black">
                  <a:tint val="75000"/>
                </a:prstClr>
              </a:solidFill>
              <a:effectLst/>
              <a:uLnTx/>
              <a:uFillTx/>
              <a:latin typeface="Arial" panose="020B0604020202090204" pitchFamily="34" charset="0"/>
              <a:ea typeface="华文中宋" panose="02010600040101010101" charset="-122"/>
              <a:cs typeface="+mn-cs"/>
            </a:endParaRPr>
          </a:p>
        </p:txBody>
      </p:sp>
      <p:sp>
        <p:nvSpPr>
          <p:cNvPr id="2" name="Title 1"/>
          <p:cNvSpPr>
            <a:spLocks noGrp="1"/>
          </p:cNvSpPr>
          <p:nvPr>
            <p:ph type="title"/>
          </p:nvPr>
        </p:nvSpPr>
        <p:spPr>
          <a:xfrm>
            <a:off x="815009" y="0"/>
            <a:ext cx="10538791" cy="1021543"/>
          </a:xfrm>
        </p:spPr>
        <p:txBody>
          <a:bodyPr anchor="b">
            <a:normAutofit/>
          </a:bodyPr>
          <a:lstStyle>
            <a:lvl1pPr>
              <a:lnSpc>
                <a:spcPct val="100000"/>
              </a:lnSpc>
              <a:defRPr sz="4000" b="1"/>
            </a:lvl1pPr>
          </a:lstStyle>
          <a:p>
            <a:r>
              <a:rPr lang="zh-CN" altLang="en-US" dirty="0"/>
              <a:t>单击此处编辑母版标题样式</a:t>
            </a:r>
            <a:endParaRPr lang="en-US" dirty="0"/>
          </a:p>
        </p:txBody>
      </p:sp>
      <p:grpSp>
        <p:nvGrpSpPr>
          <p:cNvPr id="16" name="组合 15"/>
          <p:cNvGrpSpPr/>
          <p:nvPr userDrawn="1"/>
        </p:nvGrpSpPr>
        <p:grpSpPr>
          <a:xfrm>
            <a:off x="815009" y="1021543"/>
            <a:ext cx="10538791" cy="0"/>
            <a:chOff x="815009" y="1021543"/>
            <a:chExt cx="10538791" cy="0"/>
          </a:xfrm>
        </p:grpSpPr>
        <p:cxnSp>
          <p:nvCxnSpPr>
            <p:cNvPr id="8" name="直接连接符 7"/>
            <p:cNvCxnSpPr/>
            <p:nvPr userDrawn="1"/>
          </p:nvCxnSpPr>
          <p:spPr>
            <a:xfrm>
              <a:off x="815009" y="1021543"/>
              <a:ext cx="713715" cy="0"/>
            </a:xfrm>
            <a:prstGeom prst="line">
              <a:avLst/>
            </a:prstGeom>
            <a:ln w="44450">
              <a:solidFill>
                <a:srgbClr val="AE1324"/>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userDrawn="1"/>
          </p:nvCxnSpPr>
          <p:spPr>
            <a:xfrm>
              <a:off x="1683945" y="1021543"/>
              <a:ext cx="9669855" cy="0"/>
            </a:xfrm>
            <a:prstGeom prst="line">
              <a:avLst/>
            </a:prstGeom>
            <a:ln w="44450"/>
          </p:spPr>
          <p:style>
            <a:lnRef idx="1">
              <a:schemeClr val="accent1"/>
            </a:lnRef>
            <a:fillRef idx="0">
              <a:schemeClr val="accent1"/>
            </a:fillRef>
            <a:effectRef idx="0">
              <a:schemeClr val="accent1"/>
            </a:effectRef>
            <a:fontRef idx="minor">
              <a:schemeClr val="tx1"/>
            </a:fontRef>
          </p:style>
        </p:cxnSp>
      </p:grpSp>
      <p:pic>
        <p:nvPicPr>
          <p:cNvPr id="10" name="图片 9" descr="横版组合——透明.png"/>
          <p:cNvPicPr>
            <a:picLocks noChangeAspect="1"/>
          </p:cNvPicPr>
          <p:nvPr userDrawn="1"/>
        </p:nvPicPr>
        <p:blipFill>
          <a:blip r:embed="rId2" cstate="screen"/>
          <a:srcRect/>
          <a:stretch>
            <a:fillRect/>
          </a:stretch>
        </p:blipFill>
        <p:spPr bwMode="auto">
          <a:xfrm>
            <a:off x="8610600" y="6073474"/>
            <a:ext cx="3086577" cy="6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77669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ABDE287A-150C-9C40-B591-C47595A745AA}" type="datetime1">
              <a:rPr kumimoji="0" lang="zh-CN" altLang="en-US" sz="1200" b="1" i="0" u="none" strike="noStrike" kern="1200" cap="none" spc="0" normalizeH="0" baseline="0" noProof="0" smtClean="0">
                <a:ln>
                  <a:noFill/>
                </a:ln>
                <a:solidFill>
                  <a:prstClr val="black">
                    <a:tint val="75000"/>
                  </a:prstClr>
                </a:solidFill>
                <a:effectLst/>
                <a:uLnTx/>
                <a:uFillTx/>
                <a:latin typeface="Arial" panose="020B0604020202090204" pitchFamily="34" charset="0"/>
                <a:ea typeface="华文中宋" panose="02010600040101010101" charset="-122"/>
                <a:cs typeface="+mn-cs"/>
              </a:rPr>
              <a:t>2023/8/31</a:t>
            </a:fld>
            <a:endParaRPr kumimoji="0" lang="zh-CN" altLang="en-US" sz="1200" b="1" i="0" u="none" strike="noStrike" kern="1200" cap="none" spc="0" normalizeH="0" baseline="0" noProof="0">
              <a:ln>
                <a:noFill/>
              </a:ln>
              <a:solidFill>
                <a:prstClr val="black">
                  <a:tint val="75000"/>
                </a:prstClr>
              </a:solidFill>
              <a:effectLst/>
              <a:uLnTx/>
              <a:uFillTx/>
              <a:latin typeface="Arial" panose="020B0604020202090204" pitchFamily="34" charset="0"/>
              <a:ea typeface="华文中宋" panose="02010600040101010101" charset="-122"/>
              <a:cs typeface="+mn-cs"/>
            </a:endParaRPr>
          </a:p>
        </p:txBody>
      </p:sp>
      <p:sp>
        <p:nvSpPr>
          <p:cNvPr id="4" name="Footer Placeholder 3"/>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prstClr val="black">
                  <a:tint val="75000"/>
                </a:prstClr>
              </a:solidFill>
              <a:effectLst/>
              <a:uLnTx/>
              <a:uFillTx/>
              <a:latin typeface="Arial" panose="020B0604020202090204" pitchFamily="34" charset="0"/>
              <a:ea typeface="华文中宋" panose="02010600040101010101" charset="-122"/>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0B721F5A-A6F2-4C4E-BFC8-8F7E8C0B0E84}" type="slidenum">
              <a:rPr kumimoji="0" lang="zh-CN" altLang="en-US" sz="1200" b="1" i="0" u="none" strike="noStrike" kern="1200" cap="none" spc="0" normalizeH="0" baseline="0" noProof="0" smtClean="0">
                <a:ln>
                  <a:noFill/>
                </a:ln>
                <a:solidFill>
                  <a:prstClr val="black">
                    <a:tint val="75000"/>
                  </a:prstClr>
                </a:solidFill>
                <a:effectLst/>
                <a:uLnTx/>
                <a:uFillTx/>
                <a:latin typeface="Arial" panose="020B0604020202090204" pitchFamily="34" charset="0"/>
                <a:ea typeface="华文中宋" panose="02010600040101010101" charset="-122"/>
                <a:cs typeface="+mn-cs"/>
              </a:rPr>
              <a:t>‹#›</a:t>
            </a:fld>
            <a:endParaRPr kumimoji="0" lang="en-US" altLang="zh-CN" sz="1200" b="1" i="0" u="none" strike="noStrike" kern="1200" cap="none" spc="0" normalizeH="0" baseline="0" noProof="0">
              <a:ln>
                <a:noFill/>
              </a:ln>
              <a:solidFill>
                <a:prstClr val="black">
                  <a:tint val="75000"/>
                </a:prstClr>
              </a:solidFill>
              <a:effectLst/>
              <a:uLnTx/>
              <a:uFillTx/>
              <a:latin typeface="Arial" panose="020B0604020202090204" pitchFamily="34" charset="0"/>
              <a:ea typeface="华文中宋" panose="02010600040101010101" charset="-122"/>
              <a:cs typeface="+mn-cs"/>
            </a:endParaRPr>
          </a:p>
        </p:txBody>
      </p:sp>
      <p:sp>
        <p:nvSpPr>
          <p:cNvPr id="2" name="Title 1"/>
          <p:cNvSpPr>
            <a:spLocks noGrp="1"/>
          </p:cNvSpPr>
          <p:nvPr>
            <p:ph type="title"/>
          </p:nvPr>
        </p:nvSpPr>
        <p:spPr>
          <a:xfrm>
            <a:off x="815009" y="0"/>
            <a:ext cx="10515600" cy="1021543"/>
          </a:xfrm>
        </p:spPr>
        <p:txBody>
          <a:bodyPr vert="horz" lIns="91440" tIns="45720" rIns="91440" bIns="45720" rtlCol="0" anchor="b">
            <a:normAutofit/>
          </a:bodyPr>
          <a:lstStyle>
            <a:lvl1pPr>
              <a:lnSpc>
                <a:spcPct val="100000"/>
              </a:lnSpc>
              <a:defRPr lang="en-US" sz="4000" b="1" dirty="0"/>
            </a:lvl1pPr>
          </a:lstStyle>
          <a:p>
            <a:pPr lvl="0"/>
            <a:r>
              <a:rPr lang="zh-CN" altLang="en-US" dirty="0"/>
              <a:t>单击此处编辑母版标题样式</a:t>
            </a:r>
            <a:endParaRPr lang="en-US" dirty="0"/>
          </a:p>
        </p:txBody>
      </p:sp>
      <p:grpSp>
        <p:nvGrpSpPr>
          <p:cNvPr id="6" name="组合 5"/>
          <p:cNvGrpSpPr/>
          <p:nvPr userDrawn="1"/>
        </p:nvGrpSpPr>
        <p:grpSpPr>
          <a:xfrm>
            <a:off x="815009" y="1021543"/>
            <a:ext cx="10538791" cy="0"/>
            <a:chOff x="815009" y="1021543"/>
            <a:chExt cx="10538791" cy="0"/>
          </a:xfrm>
        </p:grpSpPr>
        <p:cxnSp>
          <p:nvCxnSpPr>
            <p:cNvPr id="7" name="直接连接符 6"/>
            <p:cNvCxnSpPr/>
            <p:nvPr userDrawn="1"/>
          </p:nvCxnSpPr>
          <p:spPr>
            <a:xfrm>
              <a:off x="815009" y="1021543"/>
              <a:ext cx="713715" cy="0"/>
            </a:xfrm>
            <a:prstGeom prst="line">
              <a:avLst/>
            </a:prstGeom>
            <a:ln w="44450">
              <a:solidFill>
                <a:srgbClr val="AE1324"/>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1683945" y="1021543"/>
              <a:ext cx="9669855" cy="0"/>
            </a:xfrm>
            <a:prstGeom prst="line">
              <a:avLst/>
            </a:prstGeom>
            <a:ln w="44450"/>
          </p:spPr>
          <p:style>
            <a:lnRef idx="1">
              <a:schemeClr val="accent1"/>
            </a:lnRef>
            <a:fillRef idx="0">
              <a:schemeClr val="accent1"/>
            </a:fillRef>
            <a:effectRef idx="0">
              <a:schemeClr val="accent1"/>
            </a:effectRef>
            <a:fontRef idx="minor">
              <a:schemeClr val="tx1"/>
            </a:fontRef>
          </p:style>
        </p:cxnSp>
      </p:grpSp>
      <p:pic>
        <p:nvPicPr>
          <p:cNvPr id="9" name="图片 8" descr="横版组合——透明.png"/>
          <p:cNvPicPr>
            <a:picLocks noChangeAspect="1"/>
          </p:cNvPicPr>
          <p:nvPr userDrawn="1"/>
        </p:nvPicPr>
        <p:blipFill>
          <a:blip r:embed="rId2" cstate="screen"/>
          <a:srcRect/>
          <a:stretch>
            <a:fillRect/>
          </a:stretch>
        </p:blipFill>
        <p:spPr bwMode="auto">
          <a:xfrm>
            <a:off x="8610600" y="6073474"/>
            <a:ext cx="3086577" cy="6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63253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81479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
        <p:nvSpPr>
          <p:cNvPr id="2" name="KSO_ST1"/>
          <p:cNvSpPr>
            <a:spLocks noGrp="1"/>
          </p:cNvSpPr>
          <p:nvPr>
            <p:ph type="title"/>
          </p:nvPr>
        </p:nvSpPr>
        <p:spPr>
          <a:xfrm>
            <a:off x="2098675" y="2108200"/>
            <a:ext cx="7994651" cy="1235075"/>
          </a:xfrm>
        </p:spPr>
        <p:txBody>
          <a:bodyPr anchor="b">
            <a:normAutofit/>
          </a:bodyPr>
          <a:lstStyle>
            <a:lvl1pPr algn="ctr">
              <a:defRPr sz="3600">
                <a:solidFill>
                  <a:schemeClr val="accent1">
                    <a:lumMod val="75000"/>
                  </a:schemeClr>
                </a:solidFill>
                <a:effectLst/>
              </a:defRPr>
            </a:lvl1pPr>
          </a:lstStyle>
          <a:p>
            <a:r>
              <a:rPr lang="zh-CN" altLang="en-US"/>
              <a:t>单击此处编辑母版标题样式</a:t>
            </a:r>
            <a:endParaRPr lang="en-US" dirty="0"/>
          </a:p>
        </p:txBody>
      </p:sp>
      <p:sp>
        <p:nvSpPr>
          <p:cNvPr id="3" name="KSO_FD"/>
          <p:cNvSpPr>
            <a:spLocks noGrp="1"/>
          </p:cNvSpPr>
          <p:nvPr>
            <p:ph type="dt" sz="half" idx="10"/>
          </p:nvPr>
        </p:nvSpPr>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FB51DA18-6B4B-D041-B243-C4220CC48911}" type="datetime1">
              <a:rPr kumimoji="0" lang="zh-CN" altLang="en-US" sz="1200" b="1" i="0" u="none" strike="noStrike" kern="1200" cap="none" spc="0" normalizeH="0" baseline="0" noProof="0" smtClean="0">
                <a:ln>
                  <a:noFill/>
                </a:ln>
                <a:solidFill>
                  <a:prstClr val="black">
                    <a:tint val="75000"/>
                  </a:prstClr>
                </a:solidFill>
                <a:effectLst/>
                <a:uLnTx/>
                <a:uFillTx/>
                <a:latin typeface="Arial" panose="020B0604020202090204" pitchFamily="34" charset="0"/>
                <a:ea typeface="华文中宋" panose="02010600040101010101" charset="-122"/>
                <a:cs typeface="+mn-cs"/>
              </a:rPr>
              <a:t>2023/8/31</a:t>
            </a:fld>
            <a:endParaRPr kumimoji="0" lang="zh-CN" altLang="en-US" sz="1200" b="1" i="0" u="none" strike="noStrike" kern="1200" cap="none" spc="0" normalizeH="0" baseline="0" noProof="0">
              <a:ln>
                <a:noFill/>
              </a:ln>
              <a:solidFill>
                <a:prstClr val="black">
                  <a:tint val="75000"/>
                </a:prstClr>
              </a:solidFill>
              <a:effectLst/>
              <a:uLnTx/>
              <a:uFillTx/>
              <a:latin typeface="Arial" panose="020B0604020202090204" pitchFamily="34" charset="0"/>
              <a:ea typeface="华文中宋" panose="02010600040101010101" charset="-122"/>
              <a:cs typeface="+mn-cs"/>
            </a:endParaRPr>
          </a:p>
        </p:txBody>
      </p:sp>
      <p:sp>
        <p:nvSpPr>
          <p:cNvPr id="4" name="KSO_FT"/>
          <p:cNvSpPr>
            <a:spLocks noGrp="1"/>
          </p:cNvSpPr>
          <p:nvPr>
            <p:ph type="ftr" sz="quarter" idx="11"/>
          </p:nvPr>
        </p:nvSpPr>
        <p:spPr/>
        <p:txBody>
          <a:bodyP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prstClr val="black">
                  <a:tint val="75000"/>
                </a:prstClr>
              </a:solidFill>
              <a:effectLst/>
              <a:uLnTx/>
              <a:uFillTx/>
              <a:latin typeface="Arial" panose="020B0604020202090204" pitchFamily="34" charset="0"/>
              <a:ea typeface="华文中宋" panose="02010600040101010101" charset="-122"/>
              <a:cs typeface="+mn-cs"/>
            </a:endParaRPr>
          </a:p>
        </p:txBody>
      </p:sp>
      <p:sp>
        <p:nvSpPr>
          <p:cNvPr id="5" name="KSO_FN"/>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950E2911-4B38-3847-BB6A-657490750D80}" type="slidenum">
              <a:rPr kumimoji="0" lang="zh-CN" altLang="en-US" sz="1200" b="1" i="0" u="none" strike="noStrike" kern="1200" cap="none" spc="0" normalizeH="0" baseline="0" noProof="0">
                <a:ln>
                  <a:noFill/>
                </a:ln>
                <a:solidFill>
                  <a:prstClr val="black">
                    <a:tint val="75000"/>
                  </a:prstClr>
                </a:solidFill>
                <a:effectLst/>
                <a:uLnTx/>
                <a:uFillTx/>
                <a:latin typeface="Arial" panose="020B0604020202090204" pitchFamily="34" charset="0"/>
                <a:ea typeface="华文中宋" panose="02010600040101010101" charset="-122"/>
                <a:cs typeface="+mn-cs"/>
              </a:rPr>
              <a:t>‹#›</a:t>
            </a:fld>
            <a:endParaRPr kumimoji="0" lang="en-US" altLang="zh-CN" sz="1200" b="1" i="0" u="none" strike="noStrike" kern="1200" cap="none" spc="0" normalizeH="0" baseline="0" noProof="0">
              <a:ln>
                <a:noFill/>
              </a:ln>
              <a:solidFill>
                <a:prstClr val="black">
                  <a:tint val="75000"/>
                </a:prstClr>
              </a:solidFill>
              <a:effectLst/>
              <a:uLnTx/>
              <a:uFillTx/>
              <a:latin typeface="Arial" panose="020B0604020202090204" pitchFamily="34" charset="0"/>
              <a:ea typeface="华文中宋" panose="02010600040101010101" charset="-122"/>
              <a:cs typeface="+mn-cs"/>
            </a:endParaRPr>
          </a:p>
        </p:txBody>
      </p:sp>
    </p:spTree>
    <p:extLst>
      <p:ext uri="{BB962C8B-B14F-4D97-AF65-F5344CB8AC3E}">
        <p14:creationId xmlns:p14="http://schemas.microsoft.com/office/powerpoint/2010/main" val="34963274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26BB12B-C4F0-CB47-9186-693606AADC00}" type="datetime1">
              <a:rPr lang="zh-CN" altLang="en-US" smtClean="0"/>
              <a:t>2023/8/31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69942B8-D311-4E7D-8579-3E51C69EB101}" type="slidenum">
              <a:rPr lang="zh-CN" altLang="en-US" smtClean="0"/>
              <a:t>‹#›</a:t>
            </a:fld>
            <a:endParaRPr lang="zh-CN" altLang="en-US"/>
          </a:p>
        </p:txBody>
      </p:sp>
    </p:spTree>
    <p:extLst>
      <p:ext uri="{BB962C8B-B14F-4D97-AF65-F5344CB8AC3E}">
        <p14:creationId xmlns:p14="http://schemas.microsoft.com/office/powerpoint/2010/main" val="10145111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3B4F9906-B834-0F44-8EDC-95654826191A}" type="datetime1">
              <a:rPr lang="zh-CN" altLang="en-US" smtClean="0"/>
              <a:t>2023/8/31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69942B8-D311-4E7D-8579-3E51C69EB101}" type="slidenum">
              <a:rPr lang="zh-CN" altLang="en-US" smtClean="0"/>
              <a:t>‹#›</a:t>
            </a:fld>
            <a:endParaRPr lang="zh-CN" altLang="en-US"/>
          </a:p>
        </p:txBody>
      </p:sp>
    </p:spTree>
    <p:extLst>
      <p:ext uri="{BB962C8B-B14F-4D97-AF65-F5344CB8AC3E}">
        <p14:creationId xmlns:p14="http://schemas.microsoft.com/office/powerpoint/2010/main" val="2880787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6C563CE-E97B-5ABA-97E2-F6F5E6DB792C}"/>
              </a:ext>
            </a:extLst>
          </p:cNvPr>
          <p:cNvSpPr>
            <a:spLocks noGrp="1"/>
          </p:cNvSpPr>
          <p:nvPr>
            <p:ph type="title"/>
          </p:nvPr>
        </p:nvSpPr>
        <p:spPr>
          <a:xfrm>
            <a:off x="339443" y="-16370"/>
            <a:ext cx="10515600" cy="1325563"/>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02F0E7BC-B3F0-572C-DA0B-AB291ABCC1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C2EE557C-D516-D81F-6F0A-C1888A1596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89EB37-2697-1645-BDD6-527959A9679B}" type="datetime1">
              <a:rPr kumimoji="1" lang="zh-CN" altLang="en-US" smtClean="0"/>
              <a:t>2023/8/31</a:t>
            </a:fld>
            <a:endParaRPr kumimoji="1" lang="zh-CN" altLang="en-US"/>
          </a:p>
        </p:txBody>
      </p:sp>
      <p:cxnSp>
        <p:nvCxnSpPr>
          <p:cNvPr id="7" name="直接连接符 4">
            <a:extLst>
              <a:ext uri="{FF2B5EF4-FFF2-40B4-BE49-F238E27FC236}">
                <a16:creationId xmlns:a16="http://schemas.microsoft.com/office/drawing/2014/main" id="{9BA2E5C0-B6A5-8E47-270F-15BF230E3ABC}"/>
              </a:ext>
            </a:extLst>
          </p:cNvPr>
          <p:cNvCxnSpPr>
            <a:cxnSpLocks/>
          </p:cNvCxnSpPr>
          <p:nvPr userDrawn="1"/>
        </p:nvCxnSpPr>
        <p:spPr>
          <a:xfrm>
            <a:off x="339443" y="1087527"/>
            <a:ext cx="11513114"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8" name="图片 7" descr="横版组合——透明.png">
            <a:extLst>
              <a:ext uri="{FF2B5EF4-FFF2-40B4-BE49-F238E27FC236}">
                <a16:creationId xmlns:a16="http://schemas.microsoft.com/office/drawing/2014/main" id="{8B3656EE-52C0-E04F-A329-C6CCBB34DC7A}"/>
              </a:ext>
            </a:extLst>
          </p:cNvPr>
          <p:cNvPicPr>
            <a:picLocks noChangeAspect="1"/>
          </p:cNvPicPr>
          <p:nvPr userDrawn="1"/>
        </p:nvPicPr>
        <p:blipFill>
          <a:blip r:embed="rId13" cstate="screen"/>
          <a:srcRect/>
          <a:stretch>
            <a:fillRect/>
          </a:stretch>
        </p:blipFill>
        <p:spPr bwMode="auto">
          <a:xfrm>
            <a:off x="9676737" y="295447"/>
            <a:ext cx="2241989" cy="470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a:extLst>
              <a:ext uri="{FF2B5EF4-FFF2-40B4-BE49-F238E27FC236}">
                <a16:creationId xmlns:a16="http://schemas.microsoft.com/office/drawing/2014/main" id="{2FB006FD-D591-74C1-390A-92E7DDB07186}"/>
              </a:ext>
            </a:extLst>
          </p:cNvPr>
          <p:cNvSpPr txBox="1"/>
          <p:nvPr userDrawn="1"/>
        </p:nvSpPr>
        <p:spPr>
          <a:xfrm>
            <a:off x="10587789" y="6488668"/>
            <a:ext cx="1130968" cy="276999"/>
          </a:xfrm>
          <a:prstGeom prst="rect">
            <a:avLst/>
          </a:prstGeom>
          <a:noFill/>
        </p:spPr>
        <p:txBody>
          <a:bodyPr wrap="square" rtlCol="0">
            <a:spAutoFit/>
          </a:bodyPr>
          <a:lstStyle/>
          <a:p>
            <a:fld id="{45BA7879-1D49-5141-A932-5365935621A5}" type="slidenum">
              <a:rPr kumimoji="1" lang="zh-CN" altLang="en-US" sz="1200" smtClean="0">
                <a:solidFill>
                  <a:schemeClr val="tx1">
                    <a:lumMod val="50000"/>
                    <a:lumOff val="50000"/>
                  </a:schemeClr>
                </a:solidFill>
                <a:latin typeface="Arial" panose="020B0604020202020204" pitchFamily="34" charset="0"/>
                <a:cs typeface="Arial" panose="020B0604020202020204" pitchFamily="34" charset="0"/>
              </a:rPr>
              <a:t>‹#›</a:t>
            </a:fld>
            <a:r>
              <a:rPr kumimoji="1" lang="en-US" altLang="zh-CN" sz="1200" dirty="0">
                <a:solidFill>
                  <a:schemeClr val="tx1">
                    <a:lumMod val="50000"/>
                    <a:lumOff val="50000"/>
                  </a:schemeClr>
                </a:solidFill>
                <a:latin typeface="Arial" panose="020B0604020202020204" pitchFamily="34" charset="0"/>
                <a:cs typeface="Arial" panose="020B0604020202020204" pitchFamily="34" charset="0"/>
              </a:rPr>
              <a:t>/44</a:t>
            </a:r>
            <a:endParaRPr kumimoji="1" lang="zh-CN" altLang="en-US" sz="1200" dirty="0">
              <a:solidFill>
                <a:schemeClr val="tx1">
                  <a:lumMod val="50000"/>
                  <a:lumOff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851504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200" b="1"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6C6BCF8-76BE-F605-454B-7755E35BF2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26A47BF9-37E1-BA17-FCF1-89E1B09E54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0CC0438-C33C-18E2-648C-45B2EA9445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6DB661-3C59-D444-B8BF-819EDD02A16F}" type="datetime1">
              <a:rPr kumimoji="1" lang="zh-CN" altLang="en-US" smtClean="0"/>
              <a:t>2023/8/31</a:t>
            </a:fld>
            <a:endParaRPr kumimoji="1" lang="zh-CN" altLang="en-US"/>
          </a:p>
        </p:txBody>
      </p:sp>
      <p:sp>
        <p:nvSpPr>
          <p:cNvPr id="6" name="灯片编号占位符 5">
            <a:extLst>
              <a:ext uri="{FF2B5EF4-FFF2-40B4-BE49-F238E27FC236}">
                <a16:creationId xmlns:a16="http://schemas.microsoft.com/office/drawing/2014/main" id="{5A64DD0C-4F19-10CB-8E75-8F41BB84DA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2D1253-0C84-AF4C-8953-BD0837D879DF}" type="slidenum">
              <a:rPr kumimoji="1" lang="zh-CN" altLang="en-US" smtClean="0"/>
              <a:t>‹#›</a:t>
            </a:fld>
            <a:r>
              <a:rPr kumimoji="1" lang="en-US" altLang="zh-CN" dirty="0"/>
              <a:t>/41</a:t>
            </a:r>
            <a:endParaRPr kumimoji="1" lang="zh-CN" altLang="en-US" dirty="0"/>
          </a:p>
        </p:txBody>
      </p:sp>
    </p:spTree>
    <p:extLst>
      <p:ext uri="{BB962C8B-B14F-4D97-AF65-F5344CB8AC3E}">
        <p14:creationId xmlns:p14="http://schemas.microsoft.com/office/powerpoint/2010/main" val="8443941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AEB1E92E-FF73-284E-8D68-5DFB7167CDE7}" type="datetime1">
              <a:rPr kumimoji="0" lang="zh-CN" altLang="en-US" sz="1200" b="1" i="0" u="none" strike="noStrike" kern="1200" cap="none" spc="0" normalizeH="0" baseline="0" noProof="0" smtClean="0">
                <a:ln>
                  <a:noFill/>
                </a:ln>
                <a:solidFill>
                  <a:prstClr val="black">
                    <a:tint val="75000"/>
                  </a:prstClr>
                </a:solidFill>
                <a:effectLst/>
                <a:uLnTx/>
                <a:uFillTx/>
                <a:latin typeface="Arial" panose="020B0604020202090204" pitchFamily="34" charset="0"/>
                <a:ea typeface="华文中宋" panose="02010600040101010101" charset="-122"/>
                <a:cs typeface="+mn-cs"/>
              </a:rPr>
              <a:t>2023/8/31</a:t>
            </a:fld>
            <a:endParaRPr kumimoji="0" lang="zh-CN" altLang="en-US" sz="1200" b="1" i="0" u="none" strike="noStrike" kern="1200" cap="none" spc="0" normalizeH="0" baseline="0" noProof="0">
              <a:ln>
                <a:noFill/>
              </a:ln>
              <a:solidFill>
                <a:prstClr val="black">
                  <a:tint val="75000"/>
                </a:prstClr>
              </a:solidFill>
              <a:effectLst/>
              <a:uLnTx/>
              <a:uFillTx/>
              <a:latin typeface="Arial" panose="020B0604020202090204" pitchFamily="34" charset="0"/>
              <a:ea typeface="华文中宋" panose="02010600040101010101" charset="-122"/>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prstClr val="black">
                  <a:tint val="75000"/>
                </a:prstClr>
              </a:solidFill>
              <a:effectLst/>
              <a:uLnTx/>
              <a:uFillTx/>
              <a:latin typeface="Arial" panose="020B0604020202090204" pitchFamily="34" charset="0"/>
              <a:ea typeface="华文中宋" panose="02010600040101010101" charset="-122"/>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41093995-55F8-9440-9010-524D68AC1856}" type="slidenum">
              <a:rPr kumimoji="0" lang="zh-CN" altLang="en-US" sz="1200" b="1" i="0" u="none" strike="noStrike" kern="1200" cap="none" spc="0" normalizeH="0" baseline="0" noProof="0" smtClean="0">
                <a:ln>
                  <a:noFill/>
                </a:ln>
                <a:solidFill>
                  <a:prstClr val="black">
                    <a:tint val="75000"/>
                  </a:prstClr>
                </a:solidFill>
                <a:effectLst/>
                <a:uLnTx/>
                <a:uFillTx/>
                <a:latin typeface="Arial" panose="020B0604020202090204" pitchFamily="34" charset="0"/>
                <a:ea typeface="华文中宋" panose="02010600040101010101" charset="-122"/>
                <a:cs typeface="+mn-cs"/>
              </a:rPr>
              <a:t>‹#›</a:t>
            </a:fld>
            <a:endParaRPr kumimoji="0" lang="en-US" altLang="zh-CN" sz="1200" b="1" i="0" u="none" strike="noStrike" kern="1200" cap="none" spc="0" normalizeH="0" baseline="0" noProof="0">
              <a:ln>
                <a:noFill/>
              </a:ln>
              <a:solidFill>
                <a:prstClr val="black">
                  <a:tint val="75000"/>
                </a:prstClr>
              </a:solidFill>
              <a:effectLst/>
              <a:uLnTx/>
              <a:uFillTx/>
              <a:latin typeface="Arial" panose="020B0604020202090204" pitchFamily="34" charset="0"/>
              <a:ea typeface="华文中宋" panose="02010600040101010101" charset="-122"/>
              <a:cs typeface="+mn-cs"/>
            </a:endParaRPr>
          </a:p>
        </p:txBody>
      </p:sp>
    </p:spTree>
    <p:extLst>
      <p:ext uri="{BB962C8B-B14F-4D97-AF65-F5344CB8AC3E}">
        <p14:creationId xmlns:p14="http://schemas.microsoft.com/office/powerpoint/2010/main" val="162043374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3.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6.xml"/><Relationship Id="rId5" Type="http://schemas.openxmlformats.org/officeDocument/2006/relationships/image" Target="../media/image1.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6.xml"/><Relationship Id="rId5" Type="http://schemas.openxmlformats.org/officeDocument/2006/relationships/image" Target="../media/image1.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10" Type="http://schemas.openxmlformats.org/officeDocument/2006/relationships/image" Target="../media/image44.png"/><Relationship Id="rId4" Type="http://schemas.openxmlformats.org/officeDocument/2006/relationships/diagramLayout" Target="../diagrams/layout1.xml"/><Relationship Id="rId9" Type="http://schemas.openxmlformats.org/officeDocument/2006/relationships/image" Target="../media/image43.png"/></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10" Type="http://schemas.openxmlformats.org/officeDocument/2006/relationships/image" Target="../media/image44.png"/><Relationship Id="rId4" Type="http://schemas.openxmlformats.org/officeDocument/2006/relationships/diagramLayout" Target="../diagrams/layout2.xml"/><Relationship Id="rId9" Type="http://schemas.openxmlformats.org/officeDocument/2006/relationships/image" Target="../media/image43.png"/></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24.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2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6.xml"/><Relationship Id="rId5" Type="http://schemas.openxmlformats.org/officeDocument/2006/relationships/image" Target="../media/image1.png"/><Relationship Id="rId4" Type="http://schemas.microsoft.com/office/2007/relationships/hdphoto" Target="../media/hdphoto1.wdp"/></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6.xml"/><Relationship Id="rId5" Type="http://schemas.openxmlformats.org/officeDocument/2006/relationships/image" Target="../media/image1.png"/><Relationship Id="rId4" Type="http://schemas.microsoft.com/office/2007/relationships/hdphoto" Target="../media/hdphoto1.wdp"/></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image" Target="../media/image73.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1.png"/><Relationship Id="rId4" Type="http://schemas.openxmlformats.org/officeDocument/2006/relationships/image" Target="../media/image7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73.png"/></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26.xml"/><Relationship Id="rId5" Type="http://schemas.openxmlformats.org/officeDocument/2006/relationships/image" Target="../media/image1.png"/><Relationship Id="rId4" Type="http://schemas.microsoft.com/office/2007/relationships/hdphoto" Target="../media/hdphoto1.wdp"/></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cstate="hqprint">
            <a:lum/>
          </a:blip>
          <a:srcRect/>
          <a:stretch>
            <a:fillRect/>
          </a:stretch>
        </a:blipFill>
        <a:effectLst/>
      </p:bgPr>
    </p:bg>
    <p:spTree>
      <p:nvGrpSpPr>
        <p:cNvPr id="1" name=""/>
        <p:cNvGrpSpPr/>
        <p:nvPr/>
      </p:nvGrpSpPr>
      <p:grpSpPr>
        <a:xfrm>
          <a:off x="0" y="0"/>
          <a:ext cx="0" cy="0"/>
          <a:chOff x="0" y="0"/>
          <a:chExt cx="0" cy="0"/>
        </a:xfrm>
      </p:grpSpPr>
      <p:sp>
        <p:nvSpPr>
          <p:cNvPr id="16" name="矩形 15"/>
          <p:cNvSpPr/>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dirty="0">
              <a:ln>
                <a:noFill/>
              </a:ln>
              <a:solidFill>
                <a:prstClr val="white">
                  <a:alpha val="50000"/>
                </a:prstClr>
              </a:solidFill>
              <a:effectLst/>
              <a:uLnTx/>
              <a:uFillTx/>
              <a:latin typeface="微软雅黑"/>
              <a:ea typeface="微软雅黑"/>
              <a:cs typeface="+mn-cs"/>
            </a:endParaRPr>
          </a:p>
        </p:txBody>
      </p:sp>
      <p:sp>
        <p:nvSpPr>
          <p:cNvPr id="23" name="标题 1"/>
          <p:cNvSpPr>
            <a:spLocks noGrp="1"/>
          </p:cNvSpPr>
          <p:nvPr>
            <p:ph type="ctrTitle"/>
          </p:nvPr>
        </p:nvSpPr>
        <p:spPr>
          <a:xfrm>
            <a:off x="2651759" y="2327000"/>
            <a:ext cx="8083045" cy="1920164"/>
          </a:xfrm>
        </p:spPr>
        <p:txBody>
          <a:bodyPr anchor="ctr" anchorCtr="0">
            <a:normAutofit/>
          </a:bodyPr>
          <a:lstStyle/>
          <a:p>
            <a:pPr>
              <a:lnSpc>
                <a:spcPct val="150000"/>
              </a:lnSpc>
            </a:pPr>
            <a:r>
              <a:rPr lang="zh-CN" altLang="en-US" sz="3800" b="1" dirty="0">
                <a:latin typeface="+mj-ea"/>
              </a:rPr>
              <a:t>音乐流派对驾驶行为影响的多维分析：个人偏好与音乐元素的影响</a:t>
            </a:r>
            <a:endParaRPr lang="zh-CN" altLang="en-US" sz="4000" dirty="0">
              <a:latin typeface="+mj-ea"/>
            </a:endParaRPr>
          </a:p>
        </p:txBody>
      </p:sp>
      <p:sp>
        <p:nvSpPr>
          <p:cNvPr id="24" name="副标题 2"/>
          <p:cNvSpPr>
            <a:spLocks noGrp="1"/>
          </p:cNvSpPr>
          <p:nvPr>
            <p:ph type="subTitle" idx="1"/>
          </p:nvPr>
        </p:nvSpPr>
        <p:spPr>
          <a:xfrm>
            <a:off x="2975031" y="4874735"/>
            <a:ext cx="6241939" cy="1983265"/>
          </a:xfrm>
        </p:spPr>
        <p:txBody>
          <a:bodyPr>
            <a:normAutofit/>
          </a:bodyPr>
          <a:lstStyle/>
          <a:p>
            <a:pPr>
              <a:lnSpc>
                <a:spcPct val="150000"/>
              </a:lnSpc>
              <a:spcBef>
                <a:spcPts val="0"/>
              </a:spcBef>
            </a:pPr>
            <a:r>
              <a:rPr lang="zh-CN" altLang="en-US" sz="2000" b="1" dirty="0">
                <a:latin typeface="+mn-ea"/>
              </a:rPr>
              <a:t>答辩人：</a:t>
            </a:r>
            <a:r>
              <a:rPr lang="zh-CN" altLang="en-US" sz="2000" dirty="0">
                <a:latin typeface="+mn-ea"/>
              </a:rPr>
              <a:t>周颖</a:t>
            </a:r>
            <a:endParaRPr lang="en-US" altLang="zh-CN" sz="2000" dirty="0">
              <a:latin typeface="+mn-ea"/>
            </a:endParaRPr>
          </a:p>
          <a:p>
            <a:pPr>
              <a:lnSpc>
                <a:spcPct val="150000"/>
              </a:lnSpc>
              <a:spcBef>
                <a:spcPts val="0"/>
              </a:spcBef>
            </a:pPr>
            <a:r>
              <a:rPr lang="zh-CN" altLang="en-US" sz="2000" b="1" dirty="0">
                <a:latin typeface="+mn-ea"/>
              </a:rPr>
              <a:t>指导老师：</a:t>
            </a:r>
            <a:r>
              <a:rPr lang="zh-CN" altLang="en-US" sz="2000" dirty="0">
                <a:latin typeface="+mn-ea"/>
              </a:rPr>
              <a:t>葛燕 副研究员</a:t>
            </a:r>
            <a:endParaRPr lang="en-US" altLang="zh-CN" sz="2000" dirty="0">
              <a:latin typeface="+mn-ea"/>
            </a:endParaRPr>
          </a:p>
          <a:p>
            <a:pPr>
              <a:lnSpc>
                <a:spcPct val="150000"/>
              </a:lnSpc>
              <a:spcBef>
                <a:spcPts val="0"/>
              </a:spcBef>
            </a:pPr>
            <a:endParaRPr lang="en-US" altLang="zh-CN" sz="1400" dirty="0">
              <a:latin typeface="+mn-ea"/>
            </a:endParaRPr>
          </a:p>
          <a:p>
            <a:pPr>
              <a:lnSpc>
                <a:spcPct val="150000"/>
              </a:lnSpc>
              <a:spcBef>
                <a:spcPts val="0"/>
              </a:spcBef>
            </a:pPr>
            <a:r>
              <a:rPr lang="en-US" altLang="zh-CN" sz="2000" dirty="0">
                <a:latin typeface="+mn-ea"/>
              </a:rPr>
              <a:t>2023</a:t>
            </a:r>
            <a:r>
              <a:rPr lang="zh-CN" altLang="en-US" sz="2000" dirty="0">
                <a:latin typeface="+mn-ea"/>
              </a:rPr>
              <a:t>年</a:t>
            </a:r>
            <a:r>
              <a:rPr lang="en-US" altLang="zh-CN" sz="2000" dirty="0">
                <a:latin typeface="+mn-ea"/>
              </a:rPr>
              <a:t>8</a:t>
            </a:r>
            <a:r>
              <a:rPr lang="zh-CN" altLang="en-US" sz="2000" dirty="0">
                <a:latin typeface="+mn-ea"/>
              </a:rPr>
              <a:t>月</a:t>
            </a:r>
            <a:r>
              <a:rPr lang="en-US" altLang="zh-CN" sz="2000" dirty="0">
                <a:latin typeface="+mn-ea"/>
              </a:rPr>
              <a:t>31</a:t>
            </a:r>
            <a:r>
              <a:rPr lang="zh-CN" altLang="en-US" sz="2000" dirty="0">
                <a:latin typeface="+mn-ea"/>
              </a:rPr>
              <a:t>日</a:t>
            </a:r>
            <a:endParaRPr lang="en-US" altLang="zh-CN" sz="2000" dirty="0">
              <a:latin typeface="+mn-ea"/>
            </a:endParaRPr>
          </a:p>
        </p:txBody>
      </p:sp>
      <p:pic>
        <p:nvPicPr>
          <p:cNvPr id="6" name="图片 5" descr="横版组合——透明.png"/>
          <p:cNvPicPr>
            <a:picLocks noChangeAspect="1"/>
          </p:cNvPicPr>
          <p:nvPr/>
        </p:nvPicPr>
        <p:blipFill>
          <a:blip r:embed="rId4" cstate="screen"/>
          <a:srcRect/>
          <a:stretch>
            <a:fillRect/>
          </a:stretch>
        </p:blipFill>
        <p:spPr bwMode="auto">
          <a:xfrm>
            <a:off x="3523853" y="698565"/>
            <a:ext cx="5144295"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11"/>
          <p:cNvSpPr>
            <a:spLocks/>
          </p:cNvSpPr>
          <p:nvPr/>
        </p:nvSpPr>
        <p:spPr bwMode="auto">
          <a:xfrm>
            <a:off x="4792379" y="1094789"/>
            <a:ext cx="891827" cy="112668"/>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39" name="Freeform 10"/>
          <p:cNvSpPr>
            <a:spLocks/>
          </p:cNvSpPr>
          <p:nvPr/>
        </p:nvSpPr>
        <p:spPr bwMode="auto">
          <a:xfrm>
            <a:off x="4628930" y="1183655"/>
            <a:ext cx="6690287" cy="701401"/>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chemeClr val="bg2">
              <a:lumMod val="90000"/>
            </a:schemeClr>
          </a:solidFill>
          <a:ln w="10" cap="flat" cmpd="sng">
            <a:solidFill>
              <a:srgbClr val="A8A9AD"/>
            </a:solidFill>
            <a:round/>
            <a:headEnd/>
            <a:tailEnd/>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0" name="Rectangle 12"/>
          <p:cNvSpPr>
            <a:spLocks noChangeArrowheads="1"/>
          </p:cNvSpPr>
          <p:nvPr/>
        </p:nvSpPr>
        <p:spPr bwMode="auto">
          <a:xfrm>
            <a:off x="4878070" y="1094789"/>
            <a:ext cx="720444" cy="737899"/>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1" name="Freeform 11"/>
          <p:cNvSpPr>
            <a:spLocks/>
          </p:cNvSpPr>
          <p:nvPr/>
        </p:nvSpPr>
        <p:spPr bwMode="auto">
          <a:xfrm>
            <a:off x="4792379" y="2115153"/>
            <a:ext cx="891827" cy="112669"/>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2" name="Freeform 10"/>
          <p:cNvSpPr>
            <a:spLocks/>
          </p:cNvSpPr>
          <p:nvPr/>
        </p:nvSpPr>
        <p:spPr bwMode="auto">
          <a:xfrm>
            <a:off x="4628930" y="2204018"/>
            <a:ext cx="6690287" cy="701401"/>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round/>
            <a:headEnd/>
            <a:tailEnd/>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3" name="Rectangle 12"/>
          <p:cNvSpPr>
            <a:spLocks noChangeArrowheads="1"/>
          </p:cNvSpPr>
          <p:nvPr/>
        </p:nvSpPr>
        <p:spPr bwMode="auto">
          <a:xfrm>
            <a:off x="4878070" y="2115152"/>
            <a:ext cx="720444" cy="737900"/>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4" name="Freeform 11"/>
          <p:cNvSpPr>
            <a:spLocks/>
          </p:cNvSpPr>
          <p:nvPr/>
        </p:nvSpPr>
        <p:spPr bwMode="auto">
          <a:xfrm>
            <a:off x="4792379" y="3113301"/>
            <a:ext cx="891827" cy="112668"/>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5" name="Freeform 10"/>
          <p:cNvSpPr>
            <a:spLocks/>
          </p:cNvSpPr>
          <p:nvPr/>
        </p:nvSpPr>
        <p:spPr bwMode="auto">
          <a:xfrm>
            <a:off x="4628930" y="3200579"/>
            <a:ext cx="6690287" cy="701401"/>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round/>
            <a:headEnd/>
            <a:tailEnd/>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6" name="Rectangle 12"/>
          <p:cNvSpPr>
            <a:spLocks noChangeArrowheads="1"/>
          </p:cNvSpPr>
          <p:nvPr/>
        </p:nvSpPr>
        <p:spPr bwMode="auto">
          <a:xfrm>
            <a:off x="4878070" y="3113301"/>
            <a:ext cx="720444" cy="737899"/>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7" name="Freeform 11"/>
          <p:cNvSpPr>
            <a:spLocks/>
          </p:cNvSpPr>
          <p:nvPr/>
        </p:nvSpPr>
        <p:spPr bwMode="auto">
          <a:xfrm>
            <a:off x="4792379" y="4122556"/>
            <a:ext cx="891827" cy="112668"/>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8" name="Freeform 10"/>
          <p:cNvSpPr>
            <a:spLocks/>
          </p:cNvSpPr>
          <p:nvPr/>
        </p:nvSpPr>
        <p:spPr bwMode="auto">
          <a:xfrm>
            <a:off x="4628930" y="4209835"/>
            <a:ext cx="6690287" cy="701401"/>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round/>
            <a:headEnd/>
            <a:tailEnd/>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9" name="Rectangle 12"/>
          <p:cNvSpPr>
            <a:spLocks noChangeArrowheads="1"/>
          </p:cNvSpPr>
          <p:nvPr/>
        </p:nvSpPr>
        <p:spPr bwMode="auto">
          <a:xfrm>
            <a:off x="4878070" y="4122557"/>
            <a:ext cx="720444" cy="737899"/>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50" name="Freeform 11"/>
          <p:cNvSpPr>
            <a:spLocks/>
          </p:cNvSpPr>
          <p:nvPr/>
        </p:nvSpPr>
        <p:spPr bwMode="auto">
          <a:xfrm>
            <a:off x="4792379" y="5166723"/>
            <a:ext cx="891827" cy="112668"/>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51" name="Freeform 10"/>
          <p:cNvSpPr>
            <a:spLocks/>
          </p:cNvSpPr>
          <p:nvPr/>
        </p:nvSpPr>
        <p:spPr bwMode="auto">
          <a:xfrm>
            <a:off x="4628930" y="5254002"/>
            <a:ext cx="6690287" cy="701401"/>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round/>
            <a:headEnd/>
            <a:tailEnd/>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52" name="Rectangle 12"/>
          <p:cNvSpPr>
            <a:spLocks noChangeArrowheads="1"/>
          </p:cNvSpPr>
          <p:nvPr/>
        </p:nvSpPr>
        <p:spPr bwMode="auto">
          <a:xfrm>
            <a:off x="4878070" y="5166724"/>
            <a:ext cx="720444" cy="737899"/>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53" name="TextBox 105"/>
          <p:cNvSpPr txBox="1">
            <a:spLocks noChangeArrowheads="1"/>
          </p:cNvSpPr>
          <p:nvPr/>
        </p:nvSpPr>
        <p:spPr bwMode="auto">
          <a:xfrm>
            <a:off x="5807981" y="1270942"/>
            <a:ext cx="2698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3C3C3C"/>
                </a:solidFill>
                <a:effectLst/>
                <a:uLnTx/>
                <a:uFillTx/>
                <a:latin typeface="微软雅黑" panose="020B0503020204020204" pitchFamily="34" charset="-122"/>
                <a:ea typeface="微软雅黑" panose="020B0503020204020204" pitchFamily="34" charset="-122"/>
                <a:cs typeface="+mn-cs"/>
              </a:rPr>
              <a:t>研究背景及意义</a:t>
            </a:r>
          </a:p>
        </p:txBody>
      </p:sp>
      <p:sp>
        <p:nvSpPr>
          <p:cNvPr id="14354" name="TextBox 106"/>
          <p:cNvSpPr txBox="1">
            <a:spLocks noChangeArrowheads="1"/>
          </p:cNvSpPr>
          <p:nvPr/>
        </p:nvSpPr>
        <p:spPr bwMode="auto">
          <a:xfrm>
            <a:off x="4985978" y="1137635"/>
            <a:ext cx="499868" cy="7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en-US" altLang="zh-CN"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1</a:t>
            </a:r>
            <a:endParaRPr kumimoji="0" lang="zh-CN" altLang="en-US"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4355" name="TextBox 108"/>
          <p:cNvSpPr txBox="1">
            <a:spLocks noChangeArrowheads="1"/>
          </p:cNvSpPr>
          <p:nvPr/>
        </p:nvSpPr>
        <p:spPr bwMode="auto">
          <a:xfrm>
            <a:off x="5807981" y="2321457"/>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3C3C3C"/>
                </a:solidFill>
                <a:effectLst/>
                <a:uLnTx/>
                <a:uFillTx/>
                <a:latin typeface="微软雅黑" panose="020B0503020204020204" pitchFamily="34" charset="-122"/>
                <a:ea typeface="微软雅黑" panose="020B0503020204020204" pitchFamily="34" charset="-122"/>
                <a:cs typeface="+mn-cs"/>
              </a:rPr>
              <a:t>文献综述</a:t>
            </a:r>
          </a:p>
        </p:txBody>
      </p:sp>
      <p:sp>
        <p:nvSpPr>
          <p:cNvPr id="14356" name="TextBox 109"/>
          <p:cNvSpPr txBox="1">
            <a:spLocks noChangeArrowheads="1"/>
          </p:cNvSpPr>
          <p:nvPr/>
        </p:nvSpPr>
        <p:spPr bwMode="auto">
          <a:xfrm>
            <a:off x="4985978" y="2135783"/>
            <a:ext cx="499868" cy="707749"/>
          </a:xfrm>
          <a:prstGeom prst="rect">
            <a:avLst/>
          </a:prstGeom>
          <a:solidFill>
            <a:schemeClr val="accent2"/>
          </a:solidFill>
          <a:ln>
            <a:noFill/>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en-US" altLang="zh-CN"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2</a:t>
            </a:r>
            <a:endParaRPr kumimoji="0" lang="zh-CN" altLang="en-US"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4357" name="TextBox 115"/>
          <p:cNvSpPr txBox="1">
            <a:spLocks noChangeArrowheads="1"/>
          </p:cNvSpPr>
          <p:nvPr/>
        </p:nvSpPr>
        <p:spPr bwMode="auto">
          <a:xfrm>
            <a:off x="5807981" y="3265651"/>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3C3C3C"/>
                </a:solidFill>
                <a:effectLst/>
                <a:uLnTx/>
                <a:uFillTx/>
                <a:latin typeface="微软雅黑" panose="020B0503020204020204" pitchFamily="34" charset="-122"/>
                <a:ea typeface="微软雅黑" panose="020B0503020204020204" pitchFamily="34" charset="-122"/>
                <a:cs typeface="+mn-cs"/>
              </a:rPr>
              <a:t>研究</a:t>
            </a:r>
            <a:r>
              <a:rPr lang="zh-CN" altLang="en-US" sz="2800" b="1" dirty="0">
                <a:solidFill>
                  <a:srgbClr val="3C3C3C"/>
                </a:solidFill>
                <a:latin typeface="微软雅黑" panose="020B0503020204020204" pitchFamily="34" charset="-122"/>
                <a:ea typeface="微软雅黑" panose="020B0503020204020204" pitchFamily="34" charset="-122"/>
              </a:rPr>
              <a:t>问题</a:t>
            </a:r>
            <a:endParaRPr kumimoji="0" lang="zh-CN" altLang="en-US" sz="2800" b="1" i="0" u="none" strike="noStrike" kern="1200" cap="none" spc="0" normalizeH="0" baseline="0" noProof="0" dirty="0">
              <a:ln>
                <a:noFill/>
              </a:ln>
              <a:solidFill>
                <a:srgbClr val="3C3C3C"/>
              </a:solidFill>
              <a:effectLst/>
              <a:uLnTx/>
              <a:uFillTx/>
              <a:latin typeface="微软雅黑" panose="020B0503020204020204" pitchFamily="34" charset="-122"/>
              <a:ea typeface="微软雅黑" panose="020B0503020204020204" pitchFamily="34" charset="-122"/>
              <a:cs typeface="+mn-cs"/>
            </a:endParaRPr>
          </a:p>
        </p:txBody>
      </p:sp>
      <p:sp>
        <p:nvSpPr>
          <p:cNvPr id="14358" name="TextBox 116"/>
          <p:cNvSpPr txBox="1">
            <a:spLocks noChangeArrowheads="1"/>
          </p:cNvSpPr>
          <p:nvPr/>
        </p:nvSpPr>
        <p:spPr bwMode="auto">
          <a:xfrm>
            <a:off x="4985978" y="3132343"/>
            <a:ext cx="499868" cy="7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en-US" altLang="zh-CN"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3</a:t>
            </a:r>
            <a:endParaRPr kumimoji="0" lang="zh-CN" altLang="en-US"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4359" name="TextBox 117"/>
          <p:cNvSpPr txBox="1">
            <a:spLocks noChangeArrowheads="1"/>
          </p:cNvSpPr>
          <p:nvPr/>
        </p:nvSpPr>
        <p:spPr bwMode="auto">
          <a:xfrm>
            <a:off x="5807981" y="4286014"/>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3C3C3C"/>
                </a:solidFill>
                <a:effectLst/>
                <a:uLnTx/>
                <a:uFillTx/>
                <a:latin typeface="微软雅黑" panose="020B0503020204020204" pitchFamily="34" charset="-122"/>
                <a:ea typeface="微软雅黑" panose="020B0503020204020204" pitchFamily="34" charset="-122"/>
                <a:cs typeface="+mn-cs"/>
              </a:rPr>
              <a:t>研究方案</a:t>
            </a:r>
          </a:p>
        </p:txBody>
      </p:sp>
      <p:sp>
        <p:nvSpPr>
          <p:cNvPr id="14360" name="TextBox 118"/>
          <p:cNvSpPr txBox="1">
            <a:spLocks noChangeArrowheads="1"/>
          </p:cNvSpPr>
          <p:nvPr/>
        </p:nvSpPr>
        <p:spPr bwMode="auto">
          <a:xfrm>
            <a:off x="4985978" y="4152707"/>
            <a:ext cx="499868" cy="7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en-US" altLang="zh-CN"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4</a:t>
            </a:r>
            <a:endParaRPr kumimoji="0" lang="zh-CN" altLang="en-US"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4361" name="TextBox 119"/>
          <p:cNvSpPr txBox="1">
            <a:spLocks noChangeArrowheads="1"/>
          </p:cNvSpPr>
          <p:nvPr/>
        </p:nvSpPr>
        <p:spPr bwMode="auto">
          <a:xfrm>
            <a:off x="5807981" y="5360333"/>
            <a:ext cx="413446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3C3C3C"/>
                </a:solidFill>
                <a:effectLst/>
                <a:uLnTx/>
                <a:uFillTx/>
                <a:latin typeface="微软雅黑" panose="020B0503020204020204" pitchFamily="34" charset="-122"/>
                <a:ea typeface="微软雅黑" panose="020B0503020204020204" pitchFamily="34" charset="-122"/>
                <a:cs typeface="+mn-cs"/>
              </a:rPr>
              <a:t>研究工作计划与进度安排</a:t>
            </a:r>
          </a:p>
        </p:txBody>
      </p:sp>
      <p:sp>
        <p:nvSpPr>
          <p:cNvPr id="14362" name="TextBox 120"/>
          <p:cNvSpPr txBox="1">
            <a:spLocks noChangeArrowheads="1"/>
          </p:cNvSpPr>
          <p:nvPr/>
        </p:nvSpPr>
        <p:spPr bwMode="auto">
          <a:xfrm>
            <a:off x="4985978" y="5174658"/>
            <a:ext cx="499868" cy="7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en-US" altLang="zh-CN" sz="3998"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rPr>
              <a:t>5</a:t>
            </a:r>
            <a:endParaRPr kumimoji="0" lang="zh-CN" altLang="en-US" sz="3998"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4363" name="Freeform 5"/>
          <p:cNvSpPr>
            <a:spLocks/>
          </p:cNvSpPr>
          <p:nvPr/>
        </p:nvSpPr>
        <p:spPr bwMode="auto">
          <a:xfrm>
            <a:off x="0" y="1339"/>
            <a:ext cx="4260774" cy="6869605"/>
          </a:xfrm>
          <a:custGeom>
            <a:avLst/>
            <a:gdLst>
              <a:gd name="T0" fmla="*/ 0 w 5566"/>
              <a:gd name="T1" fmla="*/ 0 h 9000"/>
              <a:gd name="T2" fmla="*/ 4324 w 5566"/>
              <a:gd name="T3" fmla="*/ 0 h 9000"/>
              <a:gd name="T4" fmla="*/ 5566 w 5566"/>
              <a:gd name="T5" fmla="*/ 9000 h 9000"/>
              <a:gd name="T6" fmla="*/ 0 w 5566"/>
              <a:gd name="T7" fmla="*/ 9000 h 9000"/>
              <a:gd name="T8" fmla="*/ 0 w 5566"/>
              <a:gd name="T9" fmla="*/ 0 h 9000"/>
            </a:gdLst>
            <a:ahLst/>
            <a:cxnLst>
              <a:cxn ang="0">
                <a:pos x="T0" y="T1"/>
              </a:cxn>
              <a:cxn ang="0">
                <a:pos x="T2" y="T3"/>
              </a:cxn>
              <a:cxn ang="0">
                <a:pos x="T4" y="T5"/>
              </a:cxn>
              <a:cxn ang="0">
                <a:pos x="T6" y="T7"/>
              </a:cxn>
              <a:cxn ang="0">
                <a:pos x="T8" y="T9"/>
              </a:cxn>
            </a:cxnLst>
            <a:rect l="0" t="0" r="r" b="b"/>
            <a:pathLst>
              <a:path w="5566" h="9000">
                <a:moveTo>
                  <a:pt x="0" y="0"/>
                </a:moveTo>
                <a:lnTo>
                  <a:pt x="4324" y="0"/>
                </a:lnTo>
                <a:lnTo>
                  <a:pt x="5566" y="9000"/>
                </a:lnTo>
                <a:lnTo>
                  <a:pt x="0" y="9000"/>
                </a:lnTo>
                <a:lnTo>
                  <a:pt x="0" y="0"/>
                </a:lnTo>
                <a:close/>
              </a:path>
            </a:pathLst>
          </a:custGeom>
          <a:blipFill dpi="0" rotWithShape="1">
            <a:blip r:embed="rId3" cstate="screen">
              <a:extLst>
                <a:ext uri="{BEBA8EAE-BF5A-486C-A8C5-ECC9F3942E4B}">
                  <a14:imgProps xmlns:a14="http://schemas.microsoft.com/office/drawing/2010/main">
                    <a14:imgLayer r:embed="rId4">
                      <a14:imgEffect>
                        <a14:colorTemperature colorTemp="5900"/>
                      </a14:imgEffect>
                      <a14:imgEffect>
                        <a14:saturation sat="120000"/>
                      </a14:imgEffect>
                    </a14:imgLayer>
                  </a14:imgProps>
                </a:ext>
                <a:ext uri="{28A0092B-C50C-407E-A947-70E740481C1C}">
                  <a14:useLocalDpi xmlns:a14="http://schemas.microsoft.com/office/drawing/2010/main"/>
                </a:ext>
              </a:extLst>
            </a:blip>
            <a:srcRect/>
            <a:stretch>
              <a:fillRect l="-14000" r="-35000"/>
            </a:stretch>
          </a:blipFill>
          <a:ln>
            <a:noFill/>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grpSp>
        <p:nvGrpSpPr>
          <p:cNvPr id="2" name="组合 1"/>
          <p:cNvGrpSpPr/>
          <p:nvPr/>
        </p:nvGrpSpPr>
        <p:grpSpPr>
          <a:xfrm>
            <a:off x="2640569" y="1339"/>
            <a:ext cx="1867759" cy="6869605"/>
            <a:chOff x="2640569" y="1339"/>
            <a:chExt cx="1867759" cy="6869605"/>
          </a:xfrm>
        </p:grpSpPr>
        <p:sp>
          <p:nvSpPr>
            <p:cNvPr id="14364" name="Freeform 6"/>
            <p:cNvSpPr>
              <a:spLocks/>
            </p:cNvSpPr>
            <p:nvPr/>
          </p:nvSpPr>
          <p:spPr bwMode="auto">
            <a:xfrm>
              <a:off x="3392751" y="1339"/>
              <a:ext cx="1115577" cy="6869605"/>
            </a:xfrm>
            <a:custGeom>
              <a:avLst/>
              <a:gdLst>
                <a:gd name="T0" fmla="*/ 0 w 1457"/>
                <a:gd name="T1" fmla="*/ 0 h 9000"/>
                <a:gd name="T2" fmla="*/ 224 w 1457"/>
                <a:gd name="T3" fmla="*/ 0 h 9000"/>
                <a:gd name="T4" fmla="*/ 1457 w 1457"/>
                <a:gd name="T5" fmla="*/ 9000 h 9000"/>
                <a:gd name="T6" fmla="*/ 1233 w 1457"/>
                <a:gd name="T7" fmla="*/ 9000 h 9000"/>
                <a:gd name="T8" fmla="*/ 0 w 1457"/>
                <a:gd name="T9" fmla="*/ 0 h 9000"/>
              </a:gdLst>
              <a:ahLst/>
              <a:cxnLst>
                <a:cxn ang="0">
                  <a:pos x="T0" y="T1"/>
                </a:cxn>
                <a:cxn ang="0">
                  <a:pos x="T2" y="T3"/>
                </a:cxn>
                <a:cxn ang="0">
                  <a:pos x="T4" y="T5"/>
                </a:cxn>
                <a:cxn ang="0">
                  <a:pos x="T6" y="T7"/>
                </a:cxn>
                <a:cxn ang="0">
                  <a:pos x="T8" y="T9"/>
                </a:cxn>
              </a:cxnLst>
              <a:rect l="0" t="0" r="r" b="b"/>
              <a:pathLst>
                <a:path w="1457" h="9000">
                  <a:moveTo>
                    <a:pt x="0" y="0"/>
                  </a:moveTo>
                  <a:lnTo>
                    <a:pt x="224" y="0"/>
                  </a:lnTo>
                  <a:lnTo>
                    <a:pt x="1457" y="9000"/>
                  </a:lnTo>
                  <a:lnTo>
                    <a:pt x="1233" y="9000"/>
                  </a:lnTo>
                  <a:lnTo>
                    <a:pt x="0" y="0"/>
                  </a:lnTo>
                  <a:close/>
                </a:path>
              </a:pathLst>
            </a:custGeom>
            <a:solidFill>
              <a:schemeClr val="accent2"/>
            </a:solidFill>
            <a:ln>
              <a:noFill/>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65" name="矩形 12"/>
            <p:cNvSpPr>
              <a:spLocks noChangeArrowheads="1"/>
            </p:cNvSpPr>
            <p:nvPr/>
          </p:nvSpPr>
          <p:spPr bwMode="auto">
            <a:xfrm>
              <a:off x="2640569" y="5937859"/>
              <a:ext cx="1732873" cy="782331"/>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grpSp>
      <p:sp>
        <p:nvSpPr>
          <p:cNvPr id="14366" name="TextBox 98"/>
          <p:cNvSpPr txBox="1">
            <a:spLocks noChangeArrowheads="1"/>
          </p:cNvSpPr>
          <p:nvPr/>
        </p:nvSpPr>
        <p:spPr bwMode="auto">
          <a:xfrm>
            <a:off x="2800845" y="5977530"/>
            <a:ext cx="902934" cy="523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zh-CN" altLang="en-US" sz="2799"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目录</a:t>
            </a:r>
          </a:p>
        </p:txBody>
      </p:sp>
      <p:sp>
        <p:nvSpPr>
          <p:cNvPr id="14367" name="TextBox 104"/>
          <p:cNvSpPr txBox="1">
            <a:spLocks noChangeArrowheads="1"/>
          </p:cNvSpPr>
          <p:nvPr/>
        </p:nvSpPr>
        <p:spPr bwMode="auto">
          <a:xfrm>
            <a:off x="2854798" y="6359968"/>
            <a:ext cx="1180639" cy="36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en-US" altLang="zh-CN" sz="1799"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rPr>
              <a:t>Contents</a:t>
            </a:r>
            <a:endParaRPr kumimoji="0" lang="zh-CN" altLang="en-US" sz="1799"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pic>
        <p:nvPicPr>
          <p:cNvPr id="34" name="图片 33" descr="横版组合——透明.png"/>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8468075" y="127196"/>
            <a:ext cx="3429530" cy="7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灯片编号占位符 3">
            <a:extLst>
              <a:ext uri="{FF2B5EF4-FFF2-40B4-BE49-F238E27FC236}">
                <a16:creationId xmlns:a16="http://schemas.microsoft.com/office/drawing/2014/main" id="{23BC06AA-3BE5-88A5-A2B0-5B0825EABE9B}"/>
              </a:ext>
            </a:extLst>
          </p:cNvPr>
          <p:cNvSpPr>
            <a:spLocks noGrp="1"/>
          </p:cNvSpPr>
          <p:nvPr>
            <p:ph type="sldNum" sz="quarter" idx="4294967295"/>
          </p:nvPr>
        </p:nvSpPr>
        <p:spPr>
          <a:xfrm>
            <a:off x="8610600" y="6356350"/>
            <a:ext cx="2743200" cy="365125"/>
          </a:xfrm>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D0C70D4-B8A7-1C47-A003-56128FA9BF31}" type="slidenum">
              <a:rPr kumimoji="0" lang="zh-CN" altLang="en-US" sz="1200" b="1" i="0" u="none" strike="noStrike" kern="1200" cap="none" spc="0" normalizeH="0" baseline="0" noProof="0" smtClean="0">
                <a:ln>
                  <a:noFill/>
                </a:ln>
                <a:solidFill>
                  <a:prstClr val="black">
                    <a:tint val="75000"/>
                  </a:prstClr>
                </a:solidFill>
                <a:effectLst/>
                <a:uLnTx/>
                <a:uFillTx/>
                <a:latin typeface="Arial" panose="020B0604020202090204" pitchFamily="34" charset="0"/>
                <a:ea typeface="华文中宋" panose="02010600040101010101" charset="-122"/>
                <a:cs typeface="+mn-cs"/>
              </a:rPr>
              <a:t>2</a:t>
            </a:fld>
            <a:endParaRPr kumimoji="0" lang="en-US" altLang="zh-CN" sz="1200" b="1" i="0" u="none" strike="noStrike" kern="1200" cap="none" spc="0" normalizeH="0" baseline="0" noProof="0" dirty="0">
              <a:ln>
                <a:noFill/>
              </a:ln>
              <a:solidFill>
                <a:prstClr val="black">
                  <a:tint val="75000"/>
                </a:prstClr>
              </a:solidFill>
              <a:effectLst/>
              <a:uLnTx/>
              <a:uFillTx/>
              <a:latin typeface="Arial" panose="020B0604020202090204" pitchFamily="34" charset="0"/>
              <a:ea typeface="华文中宋" panose="02010600040101010101" charset="-122"/>
              <a:cs typeface="+mn-cs"/>
            </a:endParaRPr>
          </a:p>
        </p:txBody>
      </p:sp>
    </p:spTree>
    <p:extLst>
      <p:ext uri="{BB962C8B-B14F-4D97-AF65-F5344CB8AC3E}">
        <p14:creationId xmlns:p14="http://schemas.microsoft.com/office/powerpoint/2010/main" val="428755261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9F6B1A-5B8C-1982-30BB-4CD3882B1CD9}"/>
              </a:ext>
            </a:extLst>
          </p:cNvPr>
          <p:cNvSpPr>
            <a:spLocks noGrp="1"/>
          </p:cNvSpPr>
          <p:nvPr>
            <p:ph type="title"/>
          </p:nvPr>
        </p:nvSpPr>
        <p:spPr/>
        <p:txBody>
          <a:bodyPr/>
          <a:lstStyle/>
          <a:p>
            <a:r>
              <a:rPr kumimoji="1" lang="zh-CN" altLang="en-US" dirty="0"/>
              <a:t>研究背景</a:t>
            </a:r>
          </a:p>
        </p:txBody>
      </p:sp>
      <p:grpSp>
        <p:nvGrpSpPr>
          <p:cNvPr id="4" name="组合 3">
            <a:extLst>
              <a:ext uri="{FF2B5EF4-FFF2-40B4-BE49-F238E27FC236}">
                <a16:creationId xmlns:a16="http://schemas.microsoft.com/office/drawing/2014/main" id="{00EE227E-F66C-F1D0-B2A6-0671E9CCB277}"/>
              </a:ext>
            </a:extLst>
          </p:cNvPr>
          <p:cNvGrpSpPr/>
          <p:nvPr/>
        </p:nvGrpSpPr>
        <p:grpSpPr>
          <a:xfrm>
            <a:off x="5385947" y="4212328"/>
            <a:ext cx="1348300" cy="1487511"/>
            <a:chOff x="5051979" y="1366900"/>
            <a:chExt cx="1864577" cy="2147896"/>
          </a:xfrm>
        </p:grpSpPr>
        <p:pic>
          <p:nvPicPr>
            <p:cNvPr id="5" name="图片 4">
              <a:extLst>
                <a:ext uri="{FF2B5EF4-FFF2-40B4-BE49-F238E27FC236}">
                  <a16:creationId xmlns:a16="http://schemas.microsoft.com/office/drawing/2014/main" id="{CEF6EBE7-7889-C75D-5F74-83D9662C91FE}"/>
                </a:ext>
              </a:extLst>
            </p:cNvPr>
            <p:cNvPicPr>
              <a:picLocks noChangeAspect="1"/>
            </p:cNvPicPr>
            <p:nvPr/>
          </p:nvPicPr>
          <p:blipFill>
            <a:blip r:embed="rId3"/>
            <a:stretch>
              <a:fillRect/>
            </a:stretch>
          </p:blipFill>
          <p:spPr>
            <a:xfrm>
              <a:off x="5051979" y="1836622"/>
              <a:ext cx="1807264" cy="1678174"/>
            </a:xfrm>
            <a:prstGeom prst="rect">
              <a:avLst/>
            </a:prstGeom>
          </p:spPr>
        </p:pic>
        <p:pic>
          <p:nvPicPr>
            <p:cNvPr id="6" name="图片 5">
              <a:extLst>
                <a:ext uri="{FF2B5EF4-FFF2-40B4-BE49-F238E27FC236}">
                  <a16:creationId xmlns:a16="http://schemas.microsoft.com/office/drawing/2014/main" id="{E44517AF-6058-E16C-18F8-17B51DB144E9}"/>
                </a:ext>
              </a:extLst>
            </p:cNvPr>
            <p:cNvPicPr>
              <a:picLocks noChangeAspect="1"/>
            </p:cNvPicPr>
            <p:nvPr/>
          </p:nvPicPr>
          <p:blipFill rotWithShape="1">
            <a:blip r:embed="rId4"/>
            <a:srcRect l="8811"/>
            <a:stretch/>
          </p:blipFill>
          <p:spPr>
            <a:xfrm>
              <a:off x="5268524" y="1366900"/>
              <a:ext cx="1648032" cy="652186"/>
            </a:xfrm>
            <a:prstGeom prst="rect">
              <a:avLst/>
            </a:prstGeom>
          </p:spPr>
        </p:pic>
      </p:grpSp>
      <p:sp>
        <p:nvSpPr>
          <p:cNvPr id="12" name="文本框 11">
            <a:extLst>
              <a:ext uri="{FF2B5EF4-FFF2-40B4-BE49-F238E27FC236}">
                <a16:creationId xmlns:a16="http://schemas.microsoft.com/office/drawing/2014/main" id="{FA868433-2982-85E8-B3E1-6600FEDD4C35}"/>
              </a:ext>
            </a:extLst>
          </p:cNvPr>
          <p:cNvSpPr txBox="1"/>
          <p:nvPr/>
        </p:nvSpPr>
        <p:spPr>
          <a:xfrm>
            <a:off x="339443" y="1251301"/>
            <a:ext cx="6099716" cy="369332"/>
          </a:xfrm>
          <a:prstGeom prst="rect">
            <a:avLst/>
          </a:prstGeom>
          <a:noFill/>
        </p:spPr>
        <p:txBody>
          <a:bodyPr wrap="square">
            <a:spAutoFit/>
          </a:bodyPr>
          <a:lstStyle/>
          <a:p>
            <a:pPr marL="285750" indent="-285750">
              <a:buFont typeface="Wingdings" pitchFamily="2" charset="2"/>
              <a:buChar char="n"/>
            </a:pPr>
            <a:r>
              <a:rPr lang="zh-CN" altLang="en-US" sz="18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在驾驶时听音乐是普遍的</a:t>
            </a:r>
            <a:endParaRPr lang="zh-CN" altLang="en-US" b="1" dirty="0">
              <a:latin typeface="Microsoft YaHei" panose="020B0503020204020204" pitchFamily="34" charset="-122"/>
              <a:ea typeface="Microsoft YaHei" panose="020B0503020204020204" pitchFamily="34" charset="-122"/>
            </a:endParaRPr>
          </a:p>
        </p:txBody>
      </p:sp>
      <p:sp>
        <p:nvSpPr>
          <p:cNvPr id="15" name="文本框 14">
            <a:extLst>
              <a:ext uri="{FF2B5EF4-FFF2-40B4-BE49-F238E27FC236}">
                <a16:creationId xmlns:a16="http://schemas.microsoft.com/office/drawing/2014/main" id="{130745DD-EA29-5846-BFE3-EE4130089475}"/>
              </a:ext>
            </a:extLst>
          </p:cNvPr>
          <p:cNvSpPr txBox="1"/>
          <p:nvPr/>
        </p:nvSpPr>
        <p:spPr>
          <a:xfrm>
            <a:off x="339443" y="3813611"/>
            <a:ext cx="6098058" cy="369332"/>
          </a:xfrm>
          <a:prstGeom prst="rect">
            <a:avLst/>
          </a:prstGeom>
          <a:noFill/>
        </p:spPr>
        <p:txBody>
          <a:bodyPr wrap="square">
            <a:spAutoFit/>
          </a:bodyPr>
          <a:lstStyle/>
          <a:p>
            <a:pPr marL="285750" indent="-285750">
              <a:buFont typeface="Wingdings" pitchFamily="2" charset="2"/>
              <a:buChar char="n"/>
            </a:pPr>
            <a:r>
              <a:rPr kumimoji="1" lang="zh-CN" altLang="en-US" sz="1800" b="1" dirty="0">
                <a:latin typeface="Microsoft YaHei" panose="020B0503020204020204" pitchFamily="34" charset="-122"/>
                <a:ea typeface="Microsoft YaHei" panose="020B0503020204020204" pitchFamily="34" charset="-122"/>
              </a:rPr>
              <a:t>音乐对驾驶的影响是复杂的</a:t>
            </a:r>
            <a:endParaRPr lang="zh-CN" altLang="en-US" b="1" dirty="0">
              <a:latin typeface="Microsoft YaHei" panose="020B0503020204020204" pitchFamily="34" charset="-122"/>
              <a:ea typeface="Microsoft YaHei" panose="020B0503020204020204" pitchFamily="34" charset="-122"/>
            </a:endParaRPr>
          </a:p>
        </p:txBody>
      </p:sp>
      <p:grpSp>
        <p:nvGrpSpPr>
          <p:cNvPr id="28" name="组合 27">
            <a:extLst>
              <a:ext uri="{FF2B5EF4-FFF2-40B4-BE49-F238E27FC236}">
                <a16:creationId xmlns:a16="http://schemas.microsoft.com/office/drawing/2014/main" id="{08BA3F8A-06BF-91E8-394B-8EBAE2E40091}"/>
              </a:ext>
            </a:extLst>
          </p:cNvPr>
          <p:cNvGrpSpPr/>
          <p:nvPr/>
        </p:nvGrpSpPr>
        <p:grpSpPr>
          <a:xfrm>
            <a:off x="959726" y="1748399"/>
            <a:ext cx="8779441" cy="2010509"/>
            <a:chOff x="935434" y="1805096"/>
            <a:chExt cx="8779441" cy="2010509"/>
          </a:xfrm>
        </p:grpSpPr>
        <p:pic>
          <p:nvPicPr>
            <p:cNvPr id="17" name="图片 16">
              <a:extLst>
                <a:ext uri="{FF2B5EF4-FFF2-40B4-BE49-F238E27FC236}">
                  <a16:creationId xmlns:a16="http://schemas.microsoft.com/office/drawing/2014/main" id="{1EEDE441-E054-E986-A762-8B28510C271B}"/>
                </a:ext>
              </a:extLst>
            </p:cNvPr>
            <p:cNvPicPr>
              <a:picLocks noChangeAspect="1"/>
            </p:cNvPicPr>
            <p:nvPr/>
          </p:nvPicPr>
          <p:blipFill>
            <a:blip r:embed="rId5"/>
            <a:stretch>
              <a:fillRect/>
            </a:stretch>
          </p:blipFill>
          <p:spPr>
            <a:xfrm>
              <a:off x="935434" y="1805096"/>
              <a:ext cx="2485138" cy="2010509"/>
            </a:xfrm>
            <a:prstGeom prst="rect">
              <a:avLst/>
            </a:prstGeom>
          </p:spPr>
        </p:pic>
        <p:pic>
          <p:nvPicPr>
            <p:cNvPr id="18" name="图片 17">
              <a:extLst>
                <a:ext uri="{FF2B5EF4-FFF2-40B4-BE49-F238E27FC236}">
                  <a16:creationId xmlns:a16="http://schemas.microsoft.com/office/drawing/2014/main" id="{778DA531-66F4-8B13-06F0-AFDA72551896}"/>
                </a:ext>
              </a:extLst>
            </p:cNvPr>
            <p:cNvPicPr>
              <a:picLocks noChangeAspect="1"/>
            </p:cNvPicPr>
            <p:nvPr/>
          </p:nvPicPr>
          <p:blipFill>
            <a:blip r:embed="rId6"/>
            <a:stretch>
              <a:fillRect/>
            </a:stretch>
          </p:blipFill>
          <p:spPr>
            <a:xfrm>
              <a:off x="3804196" y="1896536"/>
              <a:ext cx="1782484" cy="1687991"/>
            </a:xfrm>
            <a:prstGeom prst="rect">
              <a:avLst/>
            </a:prstGeom>
          </p:spPr>
        </p:pic>
        <p:pic>
          <p:nvPicPr>
            <p:cNvPr id="19" name="图片 18">
              <a:extLst>
                <a:ext uri="{FF2B5EF4-FFF2-40B4-BE49-F238E27FC236}">
                  <a16:creationId xmlns:a16="http://schemas.microsoft.com/office/drawing/2014/main" id="{1141860E-134B-F7B1-C939-AFD7DD6D5BF5}"/>
                </a:ext>
              </a:extLst>
            </p:cNvPr>
            <p:cNvPicPr>
              <a:picLocks noChangeAspect="1"/>
            </p:cNvPicPr>
            <p:nvPr/>
          </p:nvPicPr>
          <p:blipFill>
            <a:blip r:embed="rId7"/>
            <a:stretch>
              <a:fillRect/>
            </a:stretch>
          </p:blipFill>
          <p:spPr>
            <a:xfrm>
              <a:off x="5970304" y="1949925"/>
              <a:ext cx="1642979" cy="1581213"/>
            </a:xfrm>
            <a:prstGeom prst="rect">
              <a:avLst/>
            </a:prstGeom>
          </p:spPr>
        </p:pic>
        <p:pic>
          <p:nvPicPr>
            <p:cNvPr id="20" name="图片 19">
              <a:extLst>
                <a:ext uri="{FF2B5EF4-FFF2-40B4-BE49-F238E27FC236}">
                  <a16:creationId xmlns:a16="http://schemas.microsoft.com/office/drawing/2014/main" id="{FAD3CC1E-F27E-AB65-3E9D-BEA39BE5DDB4}"/>
                </a:ext>
              </a:extLst>
            </p:cNvPr>
            <p:cNvPicPr>
              <a:picLocks noChangeAspect="1"/>
            </p:cNvPicPr>
            <p:nvPr/>
          </p:nvPicPr>
          <p:blipFill>
            <a:blip r:embed="rId8"/>
            <a:stretch>
              <a:fillRect/>
            </a:stretch>
          </p:blipFill>
          <p:spPr>
            <a:xfrm>
              <a:off x="7996907" y="1949924"/>
              <a:ext cx="1717968" cy="1581214"/>
            </a:xfrm>
            <a:prstGeom prst="rect">
              <a:avLst/>
            </a:prstGeom>
          </p:spPr>
        </p:pic>
        <p:sp>
          <p:nvSpPr>
            <p:cNvPr id="21" name="文本框 20">
              <a:extLst>
                <a:ext uri="{FF2B5EF4-FFF2-40B4-BE49-F238E27FC236}">
                  <a16:creationId xmlns:a16="http://schemas.microsoft.com/office/drawing/2014/main" id="{99A6FD3B-AD4E-8B8D-B5F3-3BD828D84945}"/>
                </a:ext>
              </a:extLst>
            </p:cNvPr>
            <p:cNvSpPr txBox="1"/>
            <p:nvPr/>
          </p:nvSpPr>
          <p:spPr>
            <a:xfrm>
              <a:off x="1546681" y="2525794"/>
              <a:ext cx="1257062" cy="523220"/>
            </a:xfrm>
            <a:prstGeom prst="rect">
              <a:avLst/>
            </a:prstGeom>
            <a:noFill/>
          </p:spPr>
          <p:txBody>
            <a:bodyPr wrap="square" rtlCol="0">
              <a:spAutoFit/>
            </a:bodyPr>
            <a:lstStyle/>
            <a:p>
              <a:pPr algn="ct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rPr>
                <a:t>音乐</a:t>
              </a:r>
              <a:endParaRPr kumimoji="1" lang="en-US" altLang="zh-CN" sz="1400" dirty="0">
                <a:solidFill>
                  <a:schemeClr val="tx1">
                    <a:lumMod val="50000"/>
                    <a:lumOff val="50000"/>
                  </a:schemeClr>
                </a:solidFill>
                <a:latin typeface="KaiTi" panose="02010609060101010101" pitchFamily="49" charset="-122"/>
                <a:ea typeface="KaiTi" panose="02010609060101010101" pitchFamily="49" charset="-122"/>
              </a:endParaRPr>
            </a:p>
            <a:p>
              <a:pPr algn="ct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rPr>
                <a:t>86.6%</a:t>
              </a:r>
              <a:endParaRPr kumimoji="1" lang="zh-CN" altLang="en-US" sz="1400" dirty="0">
                <a:solidFill>
                  <a:schemeClr val="tx1">
                    <a:lumMod val="50000"/>
                    <a:lumOff val="50000"/>
                  </a:schemeClr>
                </a:solidFill>
                <a:latin typeface="KaiTi" panose="02010609060101010101" pitchFamily="49" charset="-122"/>
                <a:ea typeface="KaiTi" panose="02010609060101010101" pitchFamily="49" charset="-122"/>
              </a:endParaRPr>
            </a:p>
          </p:txBody>
        </p:sp>
        <p:sp>
          <p:nvSpPr>
            <p:cNvPr id="22" name="文本框 21">
              <a:extLst>
                <a:ext uri="{FF2B5EF4-FFF2-40B4-BE49-F238E27FC236}">
                  <a16:creationId xmlns:a16="http://schemas.microsoft.com/office/drawing/2014/main" id="{252F0132-AEA1-057D-74A6-C970F675B76F}"/>
                </a:ext>
              </a:extLst>
            </p:cNvPr>
            <p:cNvSpPr txBox="1"/>
            <p:nvPr/>
          </p:nvSpPr>
          <p:spPr>
            <a:xfrm>
              <a:off x="4066907" y="2481838"/>
              <a:ext cx="1257062" cy="523220"/>
            </a:xfrm>
            <a:prstGeom prst="rect">
              <a:avLst/>
            </a:prstGeom>
            <a:noFill/>
          </p:spPr>
          <p:txBody>
            <a:bodyPr wrap="square" rtlCol="0">
              <a:spAutoFit/>
            </a:bodyPr>
            <a:lstStyle/>
            <a:p>
              <a:pPr algn="ct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rPr>
                <a:t>相声</a:t>
              </a:r>
              <a:endParaRPr kumimoji="1" lang="en-US" altLang="zh-CN" sz="1400" dirty="0">
                <a:solidFill>
                  <a:schemeClr val="tx1">
                    <a:lumMod val="50000"/>
                    <a:lumOff val="50000"/>
                  </a:schemeClr>
                </a:solidFill>
                <a:latin typeface="KaiTi" panose="02010609060101010101" pitchFamily="49" charset="-122"/>
                <a:ea typeface="KaiTi" panose="02010609060101010101" pitchFamily="49" charset="-122"/>
              </a:endParaRPr>
            </a:p>
            <a:p>
              <a:pPr algn="ct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rPr>
                <a:t>47.4%</a:t>
              </a:r>
              <a:endParaRPr kumimoji="1" lang="zh-CN" altLang="en-US" sz="1400" dirty="0">
                <a:solidFill>
                  <a:schemeClr val="tx1">
                    <a:lumMod val="50000"/>
                    <a:lumOff val="50000"/>
                  </a:schemeClr>
                </a:solidFill>
                <a:latin typeface="KaiTi" panose="02010609060101010101" pitchFamily="49" charset="-122"/>
                <a:ea typeface="KaiTi" panose="02010609060101010101" pitchFamily="49" charset="-122"/>
              </a:endParaRPr>
            </a:p>
          </p:txBody>
        </p:sp>
        <p:sp>
          <p:nvSpPr>
            <p:cNvPr id="23" name="文本框 22">
              <a:extLst>
                <a:ext uri="{FF2B5EF4-FFF2-40B4-BE49-F238E27FC236}">
                  <a16:creationId xmlns:a16="http://schemas.microsoft.com/office/drawing/2014/main" id="{774B8850-EC22-3BB8-361F-4BE753195178}"/>
                </a:ext>
              </a:extLst>
            </p:cNvPr>
            <p:cNvSpPr txBox="1"/>
            <p:nvPr/>
          </p:nvSpPr>
          <p:spPr>
            <a:xfrm>
              <a:off x="6163262" y="2478921"/>
              <a:ext cx="1257062" cy="523220"/>
            </a:xfrm>
            <a:prstGeom prst="rect">
              <a:avLst/>
            </a:prstGeom>
            <a:noFill/>
          </p:spPr>
          <p:txBody>
            <a:bodyPr wrap="square" rtlCol="0">
              <a:spAutoFit/>
            </a:bodyPr>
            <a:lstStyle/>
            <a:p>
              <a:pPr algn="ct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rPr>
                <a:t>有声书</a:t>
              </a:r>
              <a:endParaRPr kumimoji="1" lang="en-US" altLang="zh-CN" sz="1400" dirty="0">
                <a:solidFill>
                  <a:schemeClr val="tx1">
                    <a:lumMod val="50000"/>
                    <a:lumOff val="50000"/>
                  </a:schemeClr>
                </a:solidFill>
                <a:latin typeface="KaiTi" panose="02010609060101010101" pitchFamily="49" charset="-122"/>
                <a:ea typeface="KaiTi" panose="02010609060101010101" pitchFamily="49" charset="-122"/>
              </a:endParaRPr>
            </a:p>
            <a:p>
              <a:pPr algn="ct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rPr>
                <a:t>44.4%</a:t>
              </a:r>
              <a:endParaRPr kumimoji="1" lang="zh-CN" altLang="en-US" sz="1400" dirty="0">
                <a:solidFill>
                  <a:schemeClr val="tx1">
                    <a:lumMod val="50000"/>
                    <a:lumOff val="50000"/>
                  </a:schemeClr>
                </a:solidFill>
                <a:latin typeface="KaiTi" panose="02010609060101010101" pitchFamily="49" charset="-122"/>
                <a:ea typeface="KaiTi" panose="02010609060101010101" pitchFamily="49" charset="-122"/>
              </a:endParaRPr>
            </a:p>
          </p:txBody>
        </p:sp>
        <p:sp>
          <p:nvSpPr>
            <p:cNvPr id="24" name="文本框 23">
              <a:extLst>
                <a:ext uri="{FF2B5EF4-FFF2-40B4-BE49-F238E27FC236}">
                  <a16:creationId xmlns:a16="http://schemas.microsoft.com/office/drawing/2014/main" id="{051ED042-8AF0-6DCF-7F4F-53F97EF336EC}"/>
                </a:ext>
              </a:extLst>
            </p:cNvPr>
            <p:cNvSpPr txBox="1"/>
            <p:nvPr/>
          </p:nvSpPr>
          <p:spPr>
            <a:xfrm>
              <a:off x="8227360" y="2481973"/>
              <a:ext cx="1257062" cy="523220"/>
            </a:xfrm>
            <a:prstGeom prst="rect">
              <a:avLst/>
            </a:prstGeom>
            <a:noFill/>
          </p:spPr>
          <p:txBody>
            <a:bodyPr wrap="square" rtlCol="0">
              <a:spAutoFit/>
            </a:bodyPr>
            <a:lstStyle/>
            <a:p>
              <a:pPr algn="ctr"/>
              <a:r>
                <a:rPr kumimoji="1" lang="zh-CN" altLang="en-US" sz="1400" dirty="0">
                  <a:solidFill>
                    <a:schemeClr val="tx1">
                      <a:lumMod val="50000"/>
                      <a:lumOff val="50000"/>
                    </a:schemeClr>
                  </a:solidFill>
                  <a:latin typeface="KaiTi" panose="02010609060101010101" pitchFamily="49" charset="-122"/>
                  <a:ea typeface="KaiTi" panose="02010609060101010101" pitchFamily="49" charset="-122"/>
                </a:rPr>
                <a:t>路况信息</a:t>
              </a:r>
              <a:endParaRPr kumimoji="1" lang="en-US" altLang="zh-CN" sz="1400" dirty="0">
                <a:solidFill>
                  <a:schemeClr val="tx1">
                    <a:lumMod val="50000"/>
                    <a:lumOff val="50000"/>
                  </a:schemeClr>
                </a:solidFill>
                <a:latin typeface="KaiTi" panose="02010609060101010101" pitchFamily="49" charset="-122"/>
                <a:ea typeface="KaiTi" panose="02010609060101010101" pitchFamily="49" charset="-122"/>
              </a:endParaRPr>
            </a:p>
            <a:p>
              <a:pPr algn="ctr"/>
              <a:r>
                <a:rPr kumimoji="1" lang="en-US" altLang="zh-CN" sz="1400" dirty="0">
                  <a:solidFill>
                    <a:schemeClr val="tx1">
                      <a:lumMod val="50000"/>
                      <a:lumOff val="50000"/>
                    </a:schemeClr>
                  </a:solidFill>
                  <a:latin typeface="KaiTi" panose="02010609060101010101" pitchFamily="49" charset="-122"/>
                  <a:ea typeface="KaiTi" panose="02010609060101010101" pitchFamily="49" charset="-122"/>
                </a:rPr>
                <a:t>44.3%</a:t>
              </a:r>
              <a:endParaRPr kumimoji="1" lang="zh-CN" altLang="en-US" sz="1400" dirty="0">
                <a:solidFill>
                  <a:schemeClr val="tx1">
                    <a:lumMod val="50000"/>
                    <a:lumOff val="50000"/>
                  </a:schemeClr>
                </a:solidFill>
                <a:latin typeface="KaiTi" panose="02010609060101010101" pitchFamily="49" charset="-122"/>
                <a:ea typeface="KaiTi" panose="02010609060101010101" pitchFamily="49" charset="-122"/>
              </a:endParaRPr>
            </a:p>
          </p:txBody>
        </p:sp>
      </p:grpSp>
      <p:sp>
        <p:nvSpPr>
          <p:cNvPr id="25" name="文本框 24">
            <a:extLst>
              <a:ext uri="{FF2B5EF4-FFF2-40B4-BE49-F238E27FC236}">
                <a16:creationId xmlns:a16="http://schemas.microsoft.com/office/drawing/2014/main" id="{F2192037-B339-6A52-D841-268003D9AB67}"/>
              </a:ext>
            </a:extLst>
          </p:cNvPr>
          <p:cNvSpPr txBox="1"/>
          <p:nvPr/>
        </p:nvSpPr>
        <p:spPr>
          <a:xfrm>
            <a:off x="10081271" y="3167390"/>
            <a:ext cx="4221457" cy="261610"/>
          </a:xfrm>
          <a:prstGeom prst="rect">
            <a:avLst/>
          </a:prstGeom>
          <a:noFill/>
        </p:spPr>
        <p:txBody>
          <a:bodyPr wrap="square" rtlCol="0">
            <a:spAutoFit/>
          </a:bodyPr>
          <a:lstStyle/>
          <a:p>
            <a:r>
              <a:rPr kumimoji="1" lang="zh-CN" altLang="en-US" sz="1050" dirty="0">
                <a:solidFill>
                  <a:schemeClr val="tx1">
                    <a:lumMod val="50000"/>
                    <a:lumOff val="50000"/>
                  </a:schemeClr>
                </a:solidFill>
              </a:rPr>
              <a:t>数据来源：艾瑞咨询</a:t>
            </a:r>
            <a:r>
              <a:rPr kumimoji="1" lang="en-US" altLang="zh-CN" sz="1050" dirty="0">
                <a:solidFill>
                  <a:schemeClr val="tx1">
                    <a:lumMod val="50000"/>
                    <a:lumOff val="50000"/>
                  </a:schemeClr>
                </a:solidFill>
              </a:rPr>
              <a:t>2022</a:t>
            </a:r>
            <a:endParaRPr kumimoji="1" lang="zh-CN" altLang="en-US" sz="1050" dirty="0">
              <a:solidFill>
                <a:schemeClr val="tx1">
                  <a:lumMod val="50000"/>
                  <a:lumOff val="50000"/>
                </a:schemeClr>
              </a:solidFill>
            </a:endParaRPr>
          </a:p>
        </p:txBody>
      </p:sp>
      <p:sp>
        <p:nvSpPr>
          <p:cNvPr id="27" name="文本框 26">
            <a:extLst>
              <a:ext uri="{FF2B5EF4-FFF2-40B4-BE49-F238E27FC236}">
                <a16:creationId xmlns:a16="http://schemas.microsoft.com/office/drawing/2014/main" id="{E791B80E-7117-2FAC-C4C1-78FB88DC1D0F}"/>
              </a:ext>
            </a:extLst>
          </p:cNvPr>
          <p:cNvSpPr txBox="1"/>
          <p:nvPr/>
        </p:nvSpPr>
        <p:spPr>
          <a:xfrm>
            <a:off x="4010982" y="1539106"/>
            <a:ext cx="7154562" cy="307777"/>
          </a:xfrm>
          <a:prstGeom prst="rect">
            <a:avLst/>
          </a:prstGeom>
          <a:noFill/>
        </p:spPr>
        <p:txBody>
          <a:bodyPr wrap="square">
            <a:spAutoFit/>
          </a:bodyPr>
          <a:lstStyle/>
          <a:p>
            <a:r>
              <a:rPr lang="zh-CN" altLang="en-US" sz="1400" dirty="0">
                <a:solidFill>
                  <a:schemeClr val="tx1">
                    <a:lumMod val="50000"/>
                    <a:lumOff val="50000"/>
                  </a:schemeClr>
                </a:solidFill>
              </a:rPr>
              <a:t>2022-2023年 车载音频用户收听内容偏好</a:t>
            </a:r>
          </a:p>
        </p:txBody>
      </p:sp>
      <p:sp>
        <p:nvSpPr>
          <p:cNvPr id="29" name="右箭头 28">
            <a:extLst>
              <a:ext uri="{FF2B5EF4-FFF2-40B4-BE49-F238E27FC236}">
                <a16:creationId xmlns:a16="http://schemas.microsoft.com/office/drawing/2014/main" id="{9A4CC59B-8C4F-52FB-1BE4-B1A65520C5C7}"/>
              </a:ext>
            </a:extLst>
          </p:cNvPr>
          <p:cNvSpPr/>
          <p:nvPr/>
        </p:nvSpPr>
        <p:spPr>
          <a:xfrm rot="10800000">
            <a:off x="4653708" y="5112764"/>
            <a:ext cx="695739" cy="45719"/>
          </a:xfrm>
          <a:prstGeom prst="rightArrow">
            <a:avLst/>
          </a:prstGeom>
          <a:solidFill>
            <a:schemeClr val="accent6"/>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0" name="右箭头 29">
            <a:extLst>
              <a:ext uri="{FF2B5EF4-FFF2-40B4-BE49-F238E27FC236}">
                <a16:creationId xmlns:a16="http://schemas.microsoft.com/office/drawing/2014/main" id="{4307DFD8-97CF-7101-FF01-AD1BC531B551}"/>
              </a:ext>
            </a:extLst>
          </p:cNvPr>
          <p:cNvSpPr/>
          <p:nvPr/>
        </p:nvSpPr>
        <p:spPr>
          <a:xfrm>
            <a:off x="6892524" y="5112764"/>
            <a:ext cx="695739" cy="45719"/>
          </a:xfrm>
          <a:prstGeom prst="rightArrow">
            <a:avLst/>
          </a:prstGeom>
          <a:solidFill>
            <a:srgbClr val="C00000"/>
          </a:solid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38" name="组合 37">
            <a:extLst>
              <a:ext uri="{FF2B5EF4-FFF2-40B4-BE49-F238E27FC236}">
                <a16:creationId xmlns:a16="http://schemas.microsoft.com/office/drawing/2014/main" id="{57164549-C2D5-17D7-CFC4-218F89888C4E}"/>
              </a:ext>
            </a:extLst>
          </p:cNvPr>
          <p:cNvGrpSpPr/>
          <p:nvPr/>
        </p:nvGrpSpPr>
        <p:grpSpPr>
          <a:xfrm>
            <a:off x="643865" y="4479606"/>
            <a:ext cx="3663894" cy="1169831"/>
            <a:chOff x="795036" y="4493437"/>
            <a:chExt cx="3663894" cy="1169831"/>
          </a:xfrm>
        </p:grpSpPr>
        <p:sp>
          <p:nvSpPr>
            <p:cNvPr id="32" name="矩形 31">
              <a:extLst>
                <a:ext uri="{FF2B5EF4-FFF2-40B4-BE49-F238E27FC236}">
                  <a16:creationId xmlns:a16="http://schemas.microsoft.com/office/drawing/2014/main" id="{74382454-3086-663A-1A01-35D05345798D}"/>
                </a:ext>
              </a:extLst>
            </p:cNvPr>
            <p:cNvSpPr/>
            <p:nvPr/>
          </p:nvSpPr>
          <p:spPr>
            <a:xfrm>
              <a:off x="817322" y="4518151"/>
              <a:ext cx="3641608" cy="1145117"/>
            </a:xfrm>
            <a:prstGeom prst="rect">
              <a:avLst/>
            </a:prstGeom>
            <a:solidFill>
              <a:schemeClr val="accent6">
                <a:alpha val="15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5" name="文本框 34">
              <a:extLst>
                <a:ext uri="{FF2B5EF4-FFF2-40B4-BE49-F238E27FC236}">
                  <a16:creationId xmlns:a16="http://schemas.microsoft.com/office/drawing/2014/main" id="{AAF5690B-30FD-398C-5AB3-E12CAF39E3D9}"/>
                </a:ext>
              </a:extLst>
            </p:cNvPr>
            <p:cNvSpPr txBox="1"/>
            <p:nvPr/>
          </p:nvSpPr>
          <p:spPr>
            <a:xfrm>
              <a:off x="795036" y="4493437"/>
              <a:ext cx="3641608" cy="1156792"/>
            </a:xfrm>
            <a:prstGeom prst="rect">
              <a:avLst/>
            </a:prstGeom>
            <a:noFill/>
          </p:spPr>
          <p:txBody>
            <a:bodyPr wrap="square">
              <a:spAutoFit/>
            </a:bodyPr>
            <a:lstStyle/>
            <a:p>
              <a:pPr marL="108000">
                <a:lnSpc>
                  <a:spcPct val="150000"/>
                </a:lnSpc>
                <a:spcBef>
                  <a:spcPts val="1200"/>
                </a:spcBef>
              </a:pPr>
              <a:r>
                <a:rPr lang="zh-CN" altLang="zh-CN" sz="16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唤醒假设 </a:t>
              </a:r>
              <a:r>
                <a:rPr lang="zh-CN" altLang="en-US"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a:t>
              </a:r>
              <a:r>
                <a:rPr lang="zh-CN"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音乐的激活效应能够减轻疲劳，帮助驾驶</a:t>
              </a:r>
              <a:r>
                <a:rPr lang="zh-CN" altLang="en-US"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员</a:t>
              </a:r>
              <a:r>
                <a:rPr lang="zh-CN"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长期保持警觉状态</a:t>
              </a:r>
              <a:r>
                <a:rPr lang="zh-CN" altLang="zh-CN" sz="1400" kern="100" dirty="0">
                  <a:solidFill>
                    <a:schemeClr val="tx1">
                      <a:lumMod val="50000"/>
                      <a:lumOff val="50000"/>
                    </a:schemeClr>
                  </a:solidFill>
                  <a:effectLst/>
                  <a:latin typeface="Microsoft YaHei" panose="020B0503020204020204" pitchFamily="34" charset="-122"/>
                  <a:ea typeface="Microsoft YaHei" panose="020B0503020204020204" pitchFamily="34" charset="-122"/>
                </a:rPr>
                <a:t> </a:t>
              </a:r>
              <a:r>
                <a:rPr lang="en-US" altLang="zh-CN" sz="1200" kern="100" dirty="0">
                  <a:solidFill>
                    <a:schemeClr val="tx1">
                      <a:lumMod val="50000"/>
                      <a:lumOff val="50000"/>
                    </a:schemeClr>
                  </a:solidFill>
                  <a:effectLst/>
                  <a:latin typeface="Microsoft YaHei" panose="020B0503020204020204" pitchFamily="34" charset="-122"/>
                  <a:ea typeface="Microsoft YaHei" panose="020B0503020204020204" pitchFamily="34" charset="-122"/>
                </a:rPr>
                <a:t>(Brown, 1965)</a:t>
              </a:r>
              <a:r>
                <a:rPr lang="zh-CN"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a:t>
              </a:r>
              <a:endParaRPr lang="en-US"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p:txBody>
        </p:sp>
      </p:grpSp>
      <p:grpSp>
        <p:nvGrpSpPr>
          <p:cNvPr id="39" name="组合 38">
            <a:extLst>
              <a:ext uri="{FF2B5EF4-FFF2-40B4-BE49-F238E27FC236}">
                <a16:creationId xmlns:a16="http://schemas.microsoft.com/office/drawing/2014/main" id="{524C5DF4-9CD9-77E3-2138-C5B5871DBC58}"/>
              </a:ext>
            </a:extLst>
          </p:cNvPr>
          <p:cNvGrpSpPr/>
          <p:nvPr/>
        </p:nvGrpSpPr>
        <p:grpSpPr>
          <a:xfrm>
            <a:off x="7770991" y="4414527"/>
            <a:ext cx="3568951" cy="1221871"/>
            <a:chOff x="7828013" y="4651081"/>
            <a:chExt cx="3568951" cy="1221871"/>
          </a:xfrm>
        </p:grpSpPr>
        <p:sp>
          <p:nvSpPr>
            <p:cNvPr id="36" name="矩形 35">
              <a:extLst>
                <a:ext uri="{FF2B5EF4-FFF2-40B4-BE49-F238E27FC236}">
                  <a16:creationId xmlns:a16="http://schemas.microsoft.com/office/drawing/2014/main" id="{A5D0D01B-F868-1154-04AC-51E111E977B6}"/>
                </a:ext>
              </a:extLst>
            </p:cNvPr>
            <p:cNvSpPr/>
            <p:nvPr/>
          </p:nvSpPr>
          <p:spPr>
            <a:xfrm>
              <a:off x="7923809" y="4651081"/>
              <a:ext cx="3450870" cy="1221871"/>
            </a:xfrm>
            <a:prstGeom prst="rect">
              <a:avLst/>
            </a:prstGeom>
            <a:solidFill>
              <a:srgbClr val="C00000">
                <a:alpha val="15000"/>
              </a:srgb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文本框 36">
              <a:extLst>
                <a:ext uri="{FF2B5EF4-FFF2-40B4-BE49-F238E27FC236}">
                  <a16:creationId xmlns:a16="http://schemas.microsoft.com/office/drawing/2014/main" id="{AA253146-BE5D-A679-CA3C-C5E0209E26FF}"/>
                </a:ext>
              </a:extLst>
            </p:cNvPr>
            <p:cNvSpPr txBox="1"/>
            <p:nvPr/>
          </p:nvSpPr>
          <p:spPr>
            <a:xfrm>
              <a:off x="7828013" y="4651081"/>
              <a:ext cx="3568951" cy="1156792"/>
            </a:xfrm>
            <a:prstGeom prst="rect">
              <a:avLst/>
            </a:prstGeom>
            <a:noFill/>
          </p:spPr>
          <p:txBody>
            <a:bodyPr wrap="square">
              <a:spAutoFit/>
            </a:bodyPr>
            <a:lstStyle/>
            <a:p>
              <a:pPr marL="108000">
                <a:lnSpc>
                  <a:spcPct val="150000"/>
                </a:lnSpc>
                <a:spcBef>
                  <a:spcPts val="600"/>
                </a:spcBef>
              </a:pPr>
              <a:r>
                <a:rPr lang="zh-CN" altLang="en-US" sz="1600" b="1" kern="100" dirty="0">
                  <a:effectLst/>
                  <a:latin typeface="Microsoft YaHei" panose="020B0503020204020204" pitchFamily="34" charset="-122"/>
                  <a:ea typeface="Microsoft YaHei" panose="020B0503020204020204" pitchFamily="34" charset="-122"/>
                </a:rPr>
                <a:t>分心假设 </a:t>
              </a:r>
              <a:r>
                <a:rPr lang="zh-CN" altLang="en-US" sz="1600" kern="100" dirty="0">
                  <a:effectLst/>
                  <a:latin typeface="Microsoft YaHei" panose="020B0503020204020204" pitchFamily="34" charset="-122"/>
                  <a:ea typeface="Microsoft YaHei" panose="020B0503020204020204" pitchFamily="34" charset="-122"/>
                </a:rPr>
                <a:t>：音乐会导致驾驶员的注意力分散，降低对危险的感知 ，提高事故可能性 </a:t>
              </a:r>
              <a:r>
                <a:rPr lang="en-US" altLang="zh-CN" sz="1200" dirty="0">
                  <a:solidFill>
                    <a:schemeClr val="tx1">
                      <a:lumMod val="50000"/>
                      <a:lumOff val="50000"/>
                    </a:schemeClr>
                  </a:solidFill>
                  <a:latin typeface="Microsoft YaHei" panose="020B0503020204020204" pitchFamily="34" charset="-122"/>
                  <a:ea typeface="Microsoft YaHei" panose="020B0503020204020204" pitchFamily="34" charset="-122"/>
                </a:rPr>
                <a:t>(Turner</a:t>
              </a:r>
              <a:r>
                <a:rPr lang="zh-CN" altLang="en-US" sz="1200" dirty="0">
                  <a:solidFill>
                    <a:schemeClr val="tx1">
                      <a:lumMod val="50000"/>
                      <a:lumOff val="50000"/>
                    </a:schemeClr>
                  </a:solidFill>
                  <a:latin typeface="Microsoft YaHei" panose="020B0503020204020204" pitchFamily="34" charset="-122"/>
                  <a:ea typeface="Microsoft YaHei" panose="020B0503020204020204" pitchFamily="34" charset="-122"/>
                </a:rPr>
                <a:t>等</a:t>
              </a:r>
              <a:r>
                <a:rPr lang="en-US" altLang="zh-CN" sz="1200" dirty="0">
                  <a:solidFill>
                    <a:schemeClr val="tx1">
                      <a:lumMod val="50000"/>
                      <a:lumOff val="50000"/>
                    </a:schemeClr>
                  </a:solidFill>
                  <a:latin typeface="Microsoft YaHei" panose="020B0503020204020204" pitchFamily="34" charset="-122"/>
                  <a:ea typeface="Microsoft YaHei" panose="020B0503020204020204" pitchFamily="34" charset="-122"/>
                </a:rPr>
                <a:t>, 1996)</a:t>
              </a:r>
              <a:r>
                <a:rPr lang="zh-CN" altLang="en-US" sz="1600" kern="100" dirty="0">
                  <a:effectLst/>
                  <a:latin typeface="Microsoft YaHei" panose="020B0503020204020204" pitchFamily="34" charset="-122"/>
                  <a:ea typeface="Microsoft YaHei" panose="020B0503020204020204" pitchFamily="34" charset="-122"/>
                </a:rPr>
                <a:t>。</a:t>
              </a:r>
              <a:endParaRPr lang="en-US" altLang="zh-CN" sz="1600" kern="100" dirty="0">
                <a:effectLst/>
                <a:latin typeface="Microsoft YaHei" panose="020B0503020204020204" pitchFamily="34" charset="-122"/>
                <a:ea typeface="Microsoft YaHei" panose="020B0503020204020204" pitchFamily="34" charset="-122"/>
              </a:endParaRPr>
            </a:p>
          </p:txBody>
        </p:sp>
      </p:grpSp>
      <p:sp>
        <p:nvSpPr>
          <p:cNvPr id="41" name="文本框 40">
            <a:extLst>
              <a:ext uri="{FF2B5EF4-FFF2-40B4-BE49-F238E27FC236}">
                <a16:creationId xmlns:a16="http://schemas.microsoft.com/office/drawing/2014/main" id="{363C417D-0C25-D1CD-B2C2-44B93EB0B545}"/>
              </a:ext>
            </a:extLst>
          </p:cNvPr>
          <p:cNvSpPr txBox="1"/>
          <p:nvPr/>
        </p:nvSpPr>
        <p:spPr>
          <a:xfrm>
            <a:off x="152135" y="5738016"/>
            <a:ext cx="4669640" cy="692497"/>
          </a:xfrm>
          <a:prstGeom prst="rect">
            <a:avLst/>
          </a:prstGeom>
          <a:noFill/>
        </p:spPr>
        <p:txBody>
          <a:bodyPr wrap="square">
            <a:spAutoFit/>
          </a:bodyPr>
          <a:lstStyle/>
          <a:p>
            <a:pPr marL="108000">
              <a:spcBef>
                <a:spcPts val="600"/>
              </a:spcBef>
            </a:pP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放松心情，消除无聊和疲劳</a:t>
            </a:r>
            <a:r>
              <a:rPr lang="zh-CN" altLang="en-US"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促使他们更加集中注意力</a:t>
            </a:r>
            <a:r>
              <a:rPr lang="zh-CN" altLang="en-US"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 </a:t>
            </a:r>
            <a:endParaRPr lang="en-US"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p>
            <a:pPr marL="108000">
              <a:spcBef>
                <a:spcPts val="600"/>
              </a:spcBef>
            </a:pPr>
            <a:r>
              <a:rPr lang="en-US" altLang="zh-CN" sz="1200" kern="100" dirty="0">
                <a:solidFill>
                  <a:schemeClr val="tx1">
                    <a:lumMod val="50000"/>
                    <a:lumOff val="50000"/>
                  </a:schemeClr>
                </a:solidFill>
                <a:effectLst/>
                <a:latin typeface="Microsoft YaHei" panose="020B0503020204020204" pitchFamily="34" charset="-122"/>
                <a:ea typeface="Microsoft YaHei" panose="020B0503020204020204" pitchFamily="34" charset="-122"/>
              </a:rPr>
              <a:t>(Dibben &amp; Williamson, 2007;</a:t>
            </a:r>
            <a:r>
              <a:rPr lang="zh-CN" altLang="en-US" sz="1200" kern="100" dirty="0">
                <a:solidFill>
                  <a:schemeClr val="tx1">
                    <a:lumMod val="50000"/>
                    <a:lumOff val="50000"/>
                  </a:schemeClr>
                </a:solidFill>
                <a:effectLst/>
                <a:latin typeface="Microsoft YaHei" panose="020B0503020204020204" pitchFamily="34" charset="-122"/>
                <a:ea typeface="Microsoft YaHei" panose="020B0503020204020204" pitchFamily="34" charset="-122"/>
              </a:rPr>
              <a:t> </a:t>
            </a:r>
            <a:r>
              <a:rPr lang="en-US" altLang="zh-CN" sz="1200" dirty="0">
                <a:solidFill>
                  <a:schemeClr val="tx1">
                    <a:lumMod val="50000"/>
                    <a:lumOff val="50000"/>
                  </a:schemeClr>
                </a:solidFill>
                <a:latin typeface="Microsoft YaHei" panose="020B0503020204020204" pitchFamily="34" charset="-122"/>
                <a:ea typeface="Microsoft YaHei" panose="020B0503020204020204" pitchFamily="34" charset="-122"/>
              </a:rPr>
              <a:t>Clarke</a:t>
            </a:r>
            <a:r>
              <a:rPr lang="zh-CN" altLang="zh-CN" sz="1200" dirty="0">
                <a:solidFill>
                  <a:schemeClr val="tx1">
                    <a:lumMod val="50000"/>
                    <a:lumOff val="50000"/>
                  </a:schemeClr>
                </a:solidFill>
                <a:latin typeface="Microsoft YaHei" panose="020B0503020204020204" pitchFamily="34" charset="-122"/>
                <a:ea typeface="Microsoft YaHei" panose="020B0503020204020204" pitchFamily="34" charset="-122"/>
                <a:cs typeface="Times New Roman" panose="02020603050405020304" pitchFamily="18" charset="0"/>
              </a:rPr>
              <a:t>等</a:t>
            </a:r>
            <a:r>
              <a:rPr lang="en-US" altLang="zh-CN" sz="1200" dirty="0">
                <a:solidFill>
                  <a:schemeClr val="tx1">
                    <a:lumMod val="50000"/>
                    <a:lumOff val="50000"/>
                  </a:schemeClr>
                </a:solidFill>
                <a:latin typeface="Microsoft YaHei" panose="020B0503020204020204" pitchFamily="34" charset="-122"/>
                <a:ea typeface="Microsoft YaHei" panose="020B0503020204020204" pitchFamily="34" charset="-122"/>
              </a:rPr>
              <a:t>, 2010;</a:t>
            </a:r>
            <a:r>
              <a:rPr lang="zh-CN" altLang="en-US" sz="1200" dirty="0">
                <a:solidFill>
                  <a:schemeClr val="tx1">
                    <a:lumMod val="50000"/>
                    <a:lumOff val="50000"/>
                  </a:schemeClr>
                </a:solidFill>
                <a:latin typeface="Microsoft YaHei" panose="020B0503020204020204" pitchFamily="34" charset="-122"/>
                <a:ea typeface="Microsoft YaHei" panose="020B0503020204020204" pitchFamily="34" charset="-122"/>
              </a:rPr>
              <a:t> </a:t>
            </a:r>
            <a:r>
              <a:rPr lang="en-US" altLang="zh-CN" sz="1200" dirty="0" err="1">
                <a:solidFill>
                  <a:schemeClr val="tx1">
                    <a:lumMod val="50000"/>
                    <a:lumOff val="50000"/>
                  </a:schemeClr>
                </a:solidFill>
                <a:effectLst/>
                <a:latin typeface="Microsoft YaHei" panose="020B0503020204020204" pitchFamily="34" charset="-122"/>
                <a:ea typeface="Microsoft YaHei" panose="020B0503020204020204" pitchFamily="34" charset="-122"/>
              </a:rPr>
              <a:t>Ünal</a:t>
            </a:r>
            <a:r>
              <a:rPr lang="zh-CN" altLang="zh-CN" sz="1200" dirty="0">
                <a:solidFill>
                  <a:schemeClr val="tx1">
                    <a:lumMod val="50000"/>
                    <a:lumOff val="50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等</a:t>
            </a:r>
            <a:r>
              <a:rPr lang="en-US" altLang="zh-CN" sz="1200" dirty="0">
                <a:solidFill>
                  <a:schemeClr val="tx1">
                    <a:lumMod val="50000"/>
                    <a:lumOff val="50000"/>
                  </a:schemeClr>
                </a:solidFill>
                <a:effectLst/>
                <a:latin typeface="Microsoft YaHei" panose="020B0503020204020204" pitchFamily="34" charset="-122"/>
                <a:ea typeface="Microsoft YaHei" panose="020B0503020204020204" pitchFamily="34" charset="-122"/>
              </a:rPr>
              <a:t>, 2012</a:t>
            </a:r>
            <a:r>
              <a:rPr lang="en-US" altLang="zh-CN" sz="1200" kern="100" dirty="0">
                <a:solidFill>
                  <a:schemeClr val="tx1">
                    <a:lumMod val="50000"/>
                    <a:lumOff val="50000"/>
                  </a:schemeClr>
                </a:solidFill>
                <a:effectLst/>
                <a:latin typeface="Microsoft YaHei" panose="020B0503020204020204" pitchFamily="34" charset="-122"/>
                <a:ea typeface="Microsoft YaHei" panose="020B0503020204020204" pitchFamily="34" charset="-122"/>
              </a:rPr>
              <a:t>)</a:t>
            </a:r>
            <a:r>
              <a:rPr lang="zh-CN" altLang="en-US" sz="2000" kern="100" dirty="0">
                <a:solidFill>
                  <a:schemeClr val="tx1">
                    <a:lumMod val="50000"/>
                    <a:lumOff val="50000"/>
                  </a:schemeClr>
                </a:solidFill>
                <a:effectLst/>
                <a:latin typeface="Microsoft YaHei" panose="020B0503020204020204" pitchFamily="34" charset="-122"/>
                <a:ea typeface="Microsoft YaHei" panose="020B0503020204020204" pitchFamily="34" charset="-122"/>
              </a:rPr>
              <a:t>。</a:t>
            </a:r>
            <a:endParaRPr lang="en-US" altLang="zh-CN" sz="2400" kern="100" dirty="0">
              <a:solidFill>
                <a:schemeClr val="tx1">
                  <a:lumMod val="50000"/>
                  <a:lumOff val="50000"/>
                </a:schemeClr>
              </a:solidFill>
              <a:effectLst/>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43" name="文本框 42">
            <a:extLst>
              <a:ext uri="{FF2B5EF4-FFF2-40B4-BE49-F238E27FC236}">
                <a16:creationId xmlns:a16="http://schemas.microsoft.com/office/drawing/2014/main" id="{A2848D62-8F88-F571-1AC4-5766519B6571}"/>
              </a:ext>
            </a:extLst>
          </p:cNvPr>
          <p:cNvSpPr txBox="1"/>
          <p:nvPr/>
        </p:nvSpPr>
        <p:spPr>
          <a:xfrm>
            <a:off x="7320332" y="5738016"/>
            <a:ext cx="4837670" cy="700576"/>
          </a:xfrm>
          <a:prstGeom prst="rect">
            <a:avLst/>
          </a:prstGeom>
          <a:noFill/>
        </p:spPr>
        <p:txBody>
          <a:bodyPr wrap="square">
            <a:spAutoFit/>
          </a:bodyPr>
          <a:lstStyle/>
          <a:p>
            <a:pPr marL="108000">
              <a:lnSpc>
                <a:spcPct val="150000"/>
              </a:lnSpc>
              <a:spcBef>
                <a:spcPts val="600"/>
              </a:spcBef>
            </a:pPr>
            <a:r>
              <a:rPr lang="zh-CN" altLang="en-US" sz="1400" kern="100" dirty="0">
                <a:effectLst/>
                <a:latin typeface="Microsoft YaHei" panose="020B0503020204020204" pitchFamily="34" charset="-122"/>
                <a:ea typeface="Microsoft YaHei" panose="020B0503020204020204" pitchFamily="34" charset="-122"/>
              </a:rPr>
              <a:t>音乐背景下，更容易犯驾驶错误、违反交通规则，采取危险的驾驶行为</a:t>
            </a:r>
            <a:r>
              <a:rPr lang="zh-CN" altLang="en-US" sz="1200" kern="100" dirty="0">
                <a:effectLst/>
                <a:latin typeface="Microsoft YaHei" panose="020B0503020204020204" pitchFamily="34" charset="-122"/>
                <a:ea typeface="Microsoft YaHei" panose="020B0503020204020204" pitchFamily="34" charset="-122"/>
              </a:rPr>
              <a:t> </a:t>
            </a:r>
            <a:r>
              <a:rPr lang="en-US" altLang="zh-CN" sz="1200" dirty="0">
                <a:solidFill>
                  <a:schemeClr val="tx1">
                    <a:lumMod val="50000"/>
                    <a:lumOff val="50000"/>
                  </a:schemeClr>
                </a:solidFill>
                <a:latin typeface="Microsoft YaHei" panose="020B0503020204020204" pitchFamily="34" charset="-122"/>
                <a:ea typeface="Microsoft YaHei" panose="020B0503020204020204" pitchFamily="34" charset="-122"/>
              </a:rPr>
              <a:t>(Brodsky, 2001; Brodsky &amp; </a:t>
            </a:r>
            <a:r>
              <a:rPr lang="en-US" altLang="zh-CN" sz="1200" dirty="0" err="1">
                <a:solidFill>
                  <a:schemeClr val="tx1">
                    <a:lumMod val="50000"/>
                    <a:lumOff val="50000"/>
                  </a:schemeClr>
                </a:solidFill>
                <a:latin typeface="Microsoft YaHei" panose="020B0503020204020204" pitchFamily="34" charset="-122"/>
                <a:ea typeface="Microsoft YaHei" panose="020B0503020204020204" pitchFamily="34" charset="-122"/>
              </a:rPr>
              <a:t>Slor</a:t>
            </a:r>
            <a:r>
              <a:rPr lang="en-US" altLang="zh-CN" sz="1200" dirty="0">
                <a:solidFill>
                  <a:schemeClr val="tx1">
                    <a:lumMod val="50000"/>
                    <a:lumOff val="50000"/>
                  </a:schemeClr>
                </a:solidFill>
                <a:latin typeface="Microsoft YaHei" panose="020B0503020204020204" pitchFamily="34" charset="-122"/>
                <a:ea typeface="Microsoft YaHei" panose="020B0503020204020204" pitchFamily="34" charset="-122"/>
              </a:rPr>
              <a:t>, 2013)</a:t>
            </a:r>
            <a:r>
              <a:rPr lang="zh-CN" altLang="en-US" sz="1400" kern="100" dirty="0">
                <a:effectLst/>
                <a:latin typeface="Microsoft YaHei" panose="020B0503020204020204" pitchFamily="34" charset="-122"/>
                <a:ea typeface="Microsoft YaHei" panose="020B0503020204020204" pitchFamily="34" charset="-122"/>
              </a:rPr>
              <a:t>。</a:t>
            </a:r>
            <a:endParaRPr lang="zh-CN" altLang="en-US" sz="14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001852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A78882-CAA1-024F-C1B8-C8288FAC5289}"/>
              </a:ext>
            </a:extLst>
          </p:cNvPr>
          <p:cNvSpPr>
            <a:spLocks noGrp="1"/>
          </p:cNvSpPr>
          <p:nvPr>
            <p:ph type="title"/>
          </p:nvPr>
        </p:nvSpPr>
        <p:spPr/>
        <p:txBody>
          <a:bodyPr/>
          <a:lstStyle/>
          <a:p>
            <a:r>
              <a:rPr kumimoji="1" lang="zh-CN" altLang="en-US" dirty="0"/>
              <a:t>研究意义</a:t>
            </a:r>
          </a:p>
        </p:txBody>
      </p:sp>
      <p:sp>
        <p:nvSpPr>
          <p:cNvPr id="7" name="文本框 6">
            <a:extLst>
              <a:ext uri="{FF2B5EF4-FFF2-40B4-BE49-F238E27FC236}">
                <a16:creationId xmlns:a16="http://schemas.microsoft.com/office/drawing/2014/main" id="{BB872F55-45E4-84EC-D32F-899B1BACDD1F}"/>
              </a:ext>
            </a:extLst>
          </p:cNvPr>
          <p:cNvSpPr txBox="1"/>
          <p:nvPr/>
        </p:nvSpPr>
        <p:spPr>
          <a:xfrm>
            <a:off x="729108" y="1340273"/>
            <a:ext cx="1242391" cy="369332"/>
          </a:xfrm>
          <a:prstGeom prst="rect">
            <a:avLst/>
          </a:prstGeom>
          <a:noFill/>
        </p:spPr>
        <p:txBody>
          <a:bodyPr wrap="square" rtlCol="0">
            <a:spAutoFit/>
          </a:bodyPr>
          <a:lstStyle/>
          <a:p>
            <a:r>
              <a:rPr kumimoji="1" lang="zh-CN" altLang="en-US" b="1" dirty="0">
                <a:latin typeface="Microsoft YaHei" panose="020B0503020204020204" pitchFamily="34" charset="-122"/>
                <a:ea typeface="Microsoft YaHei" panose="020B0503020204020204" pitchFamily="34" charset="-122"/>
              </a:rPr>
              <a:t>音乐</a:t>
            </a:r>
          </a:p>
        </p:txBody>
      </p:sp>
      <p:cxnSp>
        <p:nvCxnSpPr>
          <p:cNvPr id="8" name="直线箭头连接符 7">
            <a:extLst>
              <a:ext uri="{FF2B5EF4-FFF2-40B4-BE49-F238E27FC236}">
                <a16:creationId xmlns:a16="http://schemas.microsoft.com/office/drawing/2014/main" id="{AF934105-3E7C-7CE8-127F-3EE50E3387C9}"/>
              </a:ext>
            </a:extLst>
          </p:cNvPr>
          <p:cNvCxnSpPr>
            <a:cxnSpLocks/>
          </p:cNvCxnSpPr>
          <p:nvPr/>
        </p:nvCxnSpPr>
        <p:spPr>
          <a:xfrm flipH="1">
            <a:off x="1056575" y="1824174"/>
            <a:ext cx="1" cy="1132899"/>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9" name="文本框 8">
            <a:extLst>
              <a:ext uri="{FF2B5EF4-FFF2-40B4-BE49-F238E27FC236}">
                <a16:creationId xmlns:a16="http://schemas.microsoft.com/office/drawing/2014/main" id="{97BABBA6-E317-0764-7846-51DD7006639F}"/>
              </a:ext>
            </a:extLst>
          </p:cNvPr>
          <p:cNvSpPr txBox="1"/>
          <p:nvPr/>
        </p:nvSpPr>
        <p:spPr>
          <a:xfrm>
            <a:off x="435379" y="3199731"/>
            <a:ext cx="1242391" cy="369332"/>
          </a:xfrm>
          <a:prstGeom prst="rect">
            <a:avLst/>
          </a:prstGeom>
          <a:noFill/>
        </p:spPr>
        <p:txBody>
          <a:bodyPr wrap="square" rtlCol="0">
            <a:spAutoFit/>
          </a:bodyPr>
          <a:lstStyle/>
          <a:p>
            <a:r>
              <a:rPr kumimoji="1" lang="zh-CN" altLang="en-US" b="1" dirty="0">
                <a:latin typeface="Microsoft YaHei" panose="020B0503020204020204" pitchFamily="34" charset="-122"/>
                <a:ea typeface="Microsoft YaHei" panose="020B0503020204020204" pitchFamily="34" charset="-122"/>
              </a:rPr>
              <a:t>心理状态</a:t>
            </a:r>
          </a:p>
        </p:txBody>
      </p:sp>
      <p:sp>
        <p:nvSpPr>
          <p:cNvPr id="11" name="文本框 10">
            <a:extLst>
              <a:ext uri="{FF2B5EF4-FFF2-40B4-BE49-F238E27FC236}">
                <a16:creationId xmlns:a16="http://schemas.microsoft.com/office/drawing/2014/main" id="{080BE8F2-AC94-B029-952E-3DC0743E9B87}"/>
              </a:ext>
            </a:extLst>
          </p:cNvPr>
          <p:cNvSpPr txBox="1"/>
          <p:nvPr/>
        </p:nvSpPr>
        <p:spPr>
          <a:xfrm>
            <a:off x="439343" y="5202713"/>
            <a:ext cx="1242391" cy="369332"/>
          </a:xfrm>
          <a:prstGeom prst="rect">
            <a:avLst/>
          </a:prstGeom>
          <a:noFill/>
        </p:spPr>
        <p:txBody>
          <a:bodyPr wrap="square" rtlCol="0">
            <a:spAutoFit/>
          </a:bodyPr>
          <a:lstStyle/>
          <a:p>
            <a:r>
              <a:rPr kumimoji="1" lang="zh-CN" altLang="en-US" b="1" dirty="0">
                <a:latin typeface="Microsoft YaHei" panose="020B0503020204020204" pitchFamily="34" charset="-122"/>
                <a:ea typeface="Microsoft YaHei" panose="020B0503020204020204" pitchFamily="34" charset="-122"/>
              </a:rPr>
              <a:t>驾驶行为</a:t>
            </a:r>
          </a:p>
        </p:txBody>
      </p:sp>
      <p:sp>
        <p:nvSpPr>
          <p:cNvPr id="12" name="文本框 11">
            <a:extLst>
              <a:ext uri="{FF2B5EF4-FFF2-40B4-BE49-F238E27FC236}">
                <a16:creationId xmlns:a16="http://schemas.microsoft.com/office/drawing/2014/main" id="{64408C90-6F2D-84CF-8DD5-2CB329CCFAD5}"/>
              </a:ext>
            </a:extLst>
          </p:cNvPr>
          <p:cNvSpPr txBox="1"/>
          <p:nvPr/>
        </p:nvSpPr>
        <p:spPr>
          <a:xfrm>
            <a:off x="435379" y="5996929"/>
            <a:ext cx="6097656" cy="276999"/>
          </a:xfrm>
          <a:prstGeom prst="rect">
            <a:avLst/>
          </a:prstGeom>
          <a:noFill/>
        </p:spPr>
        <p:txBody>
          <a:bodyPr wrap="square">
            <a:spAutoFit/>
          </a:bodyPr>
          <a:lstStyle/>
          <a:p>
            <a:r>
              <a:rPr lang="en-US" altLang="zh-CN" sz="1200" dirty="0">
                <a:solidFill>
                  <a:schemeClr val="tx1">
                    <a:lumMod val="50000"/>
                    <a:lumOff val="50000"/>
                  </a:schemeClr>
                </a:solidFill>
                <a:effectLst/>
                <a:latin typeface="Arial" panose="020B0604020202020204" pitchFamily="34" charset="0"/>
                <a:ea typeface="宋体" panose="02010600030101010101" pitchFamily="2" charset="-122"/>
                <a:cs typeface="Arial" panose="020B0604020202020204" pitchFamily="34" charset="0"/>
              </a:rPr>
              <a:t>(Hughes</a:t>
            </a:r>
            <a:r>
              <a:rPr lang="zh-CN" altLang="zh-CN" sz="1200" dirty="0">
                <a:solidFill>
                  <a:schemeClr val="tx1">
                    <a:lumMod val="50000"/>
                    <a:lumOff val="50000"/>
                  </a:schemeClr>
                </a:solidFill>
                <a:effectLst/>
                <a:latin typeface="Arial" panose="020B0604020202020204" pitchFamily="34" charset="0"/>
                <a:ea typeface="宋体" panose="02010600030101010101" pitchFamily="2" charset="-122"/>
                <a:cs typeface="Arial" panose="020B0604020202020204" pitchFamily="34" charset="0"/>
              </a:rPr>
              <a:t>等</a:t>
            </a:r>
            <a:r>
              <a:rPr lang="en-US" altLang="zh-CN" sz="1200" dirty="0">
                <a:solidFill>
                  <a:schemeClr val="tx1">
                    <a:lumMod val="50000"/>
                    <a:lumOff val="50000"/>
                  </a:schemeClr>
                </a:solidFill>
                <a:effectLst/>
                <a:latin typeface="Arial" panose="020B0604020202020204" pitchFamily="34" charset="0"/>
                <a:ea typeface="宋体" panose="02010600030101010101" pitchFamily="2" charset="-122"/>
                <a:cs typeface="Arial" panose="020B0604020202020204" pitchFamily="34" charset="0"/>
              </a:rPr>
              <a:t>, 2013)</a:t>
            </a:r>
            <a:r>
              <a:rPr lang="zh-CN" altLang="zh-CN" sz="1200" dirty="0">
                <a:solidFill>
                  <a:schemeClr val="tx1">
                    <a:lumMod val="50000"/>
                    <a:lumOff val="50000"/>
                  </a:schemeClr>
                </a:solidFill>
                <a:effectLst/>
                <a:latin typeface="Arial" panose="020B0604020202020204" pitchFamily="34" charset="0"/>
                <a:cs typeface="Arial" panose="020B0604020202020204" pitchFamily="34" charset="0"/>
              </a:rPr>
              <a:t> </a:t>
            </a:r>
            <a:endParaRPr lang="zh-CN" altLang="en-US" sz="1200" dirty="0">
              <a:solidFill>
                <a:schemeClr val="tx1">
                  <a:lumMod val="50000"/>
                  <a:lumOff val="50000"/>
                </a:schemeClr>
              </a:solidFill>
              <a:latin typeface="Arial" panose="020B0604020202020204" pitchFamily="34" charset="0"/>
              <a:cs typeface="Arial" panose="020B0604020202020204" pitchFamily="34" charset="0"/>
            </a:endParaRPr>
          </a:p>
        </p:txBody>
      </p:sp>
      <p:pic>
        <p:nvPicPr>
          <p:cNvPr id="4" name="图片 3">
            <a:extLst>
              <a:ext uri="{FF2B5EF4-FFF2-40B4-BE49-F238E27FC236}">
                <a16:creationId xmlns:a16="http://schemas.microsoft.com/office/drawing/2014/main" id="{CF6FDB27-4E51-B4AA-1ADA-FC115E4CCCF7}"/>
              </a:ext>
            </a:extLst>
          </p:cNvPr>
          <p:cNvPicPr>
            <a:picLocks noChangeAspect="1"/>
          </p:cNvPicPr>
          <p:nvPr/>
        </p:nvPicPr>
        <p:blipFill>
          <a:blip r:embed="rId3"/>
          <a:stretch>
            <a:fillRect/>
          </a:stretch>
        </p:blipFill>
        <p:spPr>
          <a:xfrm>
            <a:off x="3840169" y="1253841"/>
            <a:ext cx="4622501" cy="4261111"/>
          </a:xfrm>
          <a:prstGeom prst="rect">
            <a:avLst/>
          </a:prstGeom>
        </p:spPr>
      </p:pic>
      <p:sp>
        <p:nvSpPr>
          <p:cNvPr id="5" name="文本框 4">
            <a:extLst>
              <a:ext uri="{FF2B5EF4-FFF2-40B4-BE49-F238E27FC236}">
                <a16:creationId xmlns:a16="http://schemas.microsoft.com/office/drawing/2014/main" id="{6B7C6EE6-3BBE-716F-0308-2989AB658763}"/>
              </a:ext>
            </a:extLst>
          </p:cNvPr>
          <p:cNvSpPr txBox="1"/>
          <p:nvPr/>
        </p:nvSpPr>
        <p:spPr>
          <a:xfrm>
            <a:off x="4547082" y="5890055"/>
            <a:ext cx="4591619" cy="400110"/>
          </a:xfrm>
          <a:prstGeom prst="rect">
            <a:avLst/>
          </a:prstGeom>
          <a:noFill/>
        </p:spPr>
        <p:txBody>
          <a:bodyPr wrap="square" rtlCol="0">
            <a:spAutoFit/>
          </a:bodyPr>
          <a:lstStyle/>
          <a:p>
            <a:r>
              <a:rPr kumimoji="1" lang="zh-CN" altLang="en-US" sz="2000" b="1" dirty="0"/>
              <a:t>全面、准确、操作性、应用</a:t>
            </a:r>
          </a:p>
        </p:txBody>
      </p:sp>
      <p:sp>
        <p:nvSpPr>
          <p:cNvPr id="16" name="右箭头 15">
            <a:extLst>
              <a:ext uri="{FF2B5EF4-FFF2-40B4-BE49-F238E27FC236}">
                <a16:creationId xmlns:a16="http://schemas.microsoft.com/office/drawing/2014/main" id="{B251E77E-885C-91CF-CA08-7E87C4CBDCE4}"/>
              </a:ext>
            </a:extLst>
          </p:cNvPr>
          <p:cNvSpPr/>
          <p:nvPr/>
        </p:nvSpPr>
        <p:spPr>
          <a:xfrm>
            <a:off x="6649820" y="4986956"/>
            <a:ext cx="360000" cy="188510"/>
          </a:xfrm>
          <a:prstGeom prst="rightArrow">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21" name="直线箭头连接符 20">
            <a:extLst>
              <a:ext uri="{FF2B5EF4-FFF2-40B4-BE49-F238E27FC236}">
                <a16:creationId xmlns:a16="http://schemas.microsoft.com/office/drawing/2014/main" id="{50ACEB0B-1412-9ABC-847D-D40777587C23}"/>
              </a:ext>
            </a:extLst>
          </p:cNvPr>
          <p:cNvCxnSpPr>
            <a:cxnSpLocks/>
          </p:cNvCxnSpPr>
          <p:nvPr/>
        </p:nvCxnSpPr>
        <p:spPr>
          <a:xfrm flipH="1">
            <a:off x="1056573" y="3811721"/>
            <a:ext cx="1" cy="1132899"/>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pic>
        <p:nvPicPr>
          <p:cNvPr id="22" name="图片 21">
            <a:extLst>
              <a:ext uri="{FF2B5EF4-FFF2-40B4-BE49-F238E27FC236}">
                <a16:creationId xmlns:a16="http://schemas.microsoft.com/office/drawing/2014/main" id="{9732BA77-A604-03FD-C0D6-2555EE6E705F}"/>
              </a:ext>
            </a:extLst>
          </p:cNvPr>
          <p:cNvPicPr>
            <a:picLocks noChangeAspect="1"/>
          </p:cNvPicPr>
          <p:nvPr/>
        </p:nvPicPr>
        <p:blipFill>
          <a:blip r:embed="rId4"/>
          <a:stretch>
            <a:fillRect/>
          </a:stretch>
        </p:blipFill>
        <p:spPr>
          <a:xfrm>
            <a:off x="7039877" y="4779210"/>
            <a:ext cx="649889" cy="514350"/>
          </a:xfrm>
          <a:prstGeom prst="rect">
            <a:avLst/>
          </a:prstGeom>
        </p:spPr>
      </p:pic>
      <p:pic>
        <p:nvPicPr>
          <p:cNvPr id="23" name="图片 22">
            <a:extLst>
              <a:ext uri="{FF2B5EF4-FFF2-40B4-BE49-F238E27FC236}">
                <a16:creationId xmlns:a16="http://schemas.microsoft.com/office/drawing/2014/main" id="{A28032E3-F159-EA0C-FF0D-619E32553020}"/>
              </a:ext>
            </a:extLst>
          </p:cNvPr>
          <p:cNvPicPr>
            <a:picLocks noChangeAspect="1"/>
          </p:cNvPicPr>
          <p:nvPr/>
        </p:nvPicPr>
        <p:blipFill>
          <a:blip r:embed="rId5"/>
          <a:stretch>
            <a:fillRect/>
          </a:stretch>
        </p:blipFill>
        <p:spPr>
          <a:xfrm>
            <a:off x="4547082" y="4719992"/>
            <a:ext cx="649888" cy="632786"/>
          </a:xfrm>
          <a:prstGeom prst="rect">
            <a:avLst/>
          </a:prstGeom>
        </p:spPr>
      </p:pic>
      <p:sp>
        <p:nvSpPr>
          <p:cNvPr id="24" name="右箭头 23">
            <a:extLst>
              <a:ext uri="{FF2B5EF4-FFF2-40B4-BE49-F238E27FC236}">
                <a16:creationId xmlns:a16="http://schemas.microsoft.com/office/drawing/2014/main" id="{6DFAD394-8CA5-1DBC-CF60-248D53CEC160}"/>
              </a:ext>
            </a:extLst>
          </p:cNvPr>
          <p:cNvSpPr/>
          <p:nvPr/>
        </p:nvSpPr>
        <p:spPr>
          <a:xfrm rot="10800000">
            <a:off x="5196970" y="4986956"/>
            <a:ext cx="360000" cy="188509"/>
          </a:xfrm>
          <a:prstGeom prst="rightArrow">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251920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11"/>
          <p:cNvSpPr>
            <a:spLocks/>
          </p:cNvSpPr>
          <p:nvPr/>
        </p:nvSpPr>
        <p:spPr bwMode="auto">
          <a:xfrm>
            <a:off x="4792379" y="1094789"/>
            <a:ext cx="891827" cy="112668"/>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39" name="Freeform 10"/>
          <p:cNvSpPr>
            <a:spLocks/>
          </p:cNvSpPr>
          <p:nvPr/>
        </p:nvSpPr>
        <p:spPr bwMode="auto">
          <a:xfrm>
            <a:off x="4628930" y="1183655"/>
            <a:ext cx="6690287" cy="701401"/>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chemeClr val="bg1"/>
          </a:solidFill>
          <a:ln w="10" cap="flat" cmpd="sng">
            <a:solidFill>
              <a:srgbClr val="A8A9AD"/>
            </a:solidFill>
            <a:round/>
            <a:headEnd/>
            <a:tailEnd/>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0" name="Rectangle 12"/>
          <p:cNvSpPr>
            <a:spLocks noChangeArrowheads="1"/>
          </p:cNvSpPr>
          <p:nvPr/>
        </p:nvSpPr>
        <p:spPr bwMode="auto">
          <a:xfrm>
            <a:off x="4878070" y="1094789"/>
            <a:ext cx="720444" cy="737899"/>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1" name="Freeform 11"/>
          <p:cNvSpPr>
            <a:spLocks/>
          </p:cNvSpPr>
          <p:nvPr/>
        </p:nvSpPr>
        <p:spPr bwMode="auto">
          <a:xfrm>
            <a:off x="4792379" y="2115153"/>
            <a:ext cx="891827" cy="112669"/>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2" name="Freeform 10"/>
          <p:cNvSpPr>
            <a:spLocks/>
          </p:cNvSpPr>
          <p:nvPr/>
        </p:nvSpPr>
        <p:spPr bwMode="auto">
          <a:xfrm>
            <a:off x="4628930" y="2204018"/>
            <a:ext cx="6690287" cy="701401"/>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chemeClr val="bg2">
              <a:lumMod val="90000"/>
            </a:schemeClr>
          </a:solidFill>
          <a:ln w="10" cap="flat" cmpd="sng">
            <a:solidFill>
              <a:srgbClr val="A8A9AD"/>
            </a:solidFill>
            <a:round/>
            <a:headEnd/>
            <a:tailEnd/>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3" name="Rectangle 12"/>
          <p:cNvSpPr>
            <a:spLocks noChangeArrowheads="1"/>
          </p:cNvSpPr>
          <p:nvPr/>
        </p:nvSpPr>
        <p:spPr bwMode="auto">
          <a:xfrm>
            <a:off x="4878070" y="2115152"/>
            <a:ext cx="720444" cy="737900"/>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4" name="Freeform 11"/>
          <p:cNvSpPr>
            <a:spLocks/>
          </p:cNvSpPr>
          <p:nvPr/>
        </p:nvSpPr>
        <p:spPr bwMode="auto">
          <a:xfrm>
            <a:off x="4792379" y="3113301"/>
            <a:ext cx="891827" cy="112668"/>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5" name="Freeform 10"/>
          <p:cNvSpPr>
            <a:spLocks/>
          </p:cNvSpPr>
          <p:nvPr/>
        </p:nvSpPr>
        <p:spPr bwMode="auto">
          <a:xfrm>
            <a:off x="4628930" y="3200579"/>
            <a:ext cx="6690287" cy="701401"/>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round/>
            <a:headEnd/>
            <a:tailEnd/>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6" name="Rectangle 12"/>
          <p:cNvSpPr>
            <a:spLocks noChangeArrowheads="1"/>
          </p:cNvSpPr>
          <p:nvPr/>
        </p:nvSpPr>
        <p:spPr bwMode="auto">
          <a:xfrm>
            <a:off x="4878070" y="3113301"/>
            <a:ext cx="720444" cy="737899"/>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7" name="Freeform 11"/>
          <p:cNvSpPr>
            <a:spLocks/>
          </p:cNvSpPr>
          <p:nvPr/>
        </p:nvSpPr>
        <p:spPr bwMode="auto">
          <a:xfrm>
            <a:off x="4792379" y="4122556"/>
            <a:ext cx="891827" cy="112668"/>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8" name="Freeform 10"/>
          <p:cNvSpPr>
            <a:spLocks/>
          </p:cNvSpPr>
          <p:nvPr/>
        </p:nvSpPr>
        <p:spPr bwMode="auto">
          <a:xfrm>
            <a:off x="4628930" y="4209835"/>
            <a:ext cx="6690287" cy="701401"/>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round/>
            <a:headEnd/>
            <a:tailEnd/>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9" name="Rectangle 12"/>
          <p:cNvSpPr>
            <a:spLocks noChangeArrowheads="1"/>
          </p:cNvSpPr>
          <p:nvPr/>
        </p:nvSpPr>
        <p:spPr bwMode="auto">
          <a:xfrm>
            <a:off x="4878070" y="4122557"/>
            <a:ext cx="720444" cy="737899"/>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50" name="Freeform 11"/>
          <p:cNvSpPr>
            <a:spLocks/>
          </p:cNvSpPr>
          <p:nvPr/>
        </p:nvSpPr>
        <p:spPr bwMode="auto">
          <a:xfrm>
            <a:off x="4792379" y="5166723"/>
            <a:ext cx="891827" cy="112668"/>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51" name="Freeform 10"/>
          <p:cNvSpPr>
            <a:spLocks/>
          </p:cNvSpPr>
          <p:nvPr/>
        </p:nvSpPr>
        <p:spPr bwMode="auto">
          <a:xfrm>
            <a:off x="4628930" y="5254002"/>
            <a:ext cx="6690287" cy="701401"/>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round/>
            <a:headEnd/>
            <a:tailEnd/>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52" name="Rectangle 12"/>
          <p:cNvSpPr>
            <a:spLocks noChangeArrowheads="1"/>
          </p:cNvSpPr>
          <p:nvPr/>
        </p:nvSpPr>
        <p:spPr bwMode="auto">
          <a:xfrm>
            <a:off x="4878070" y="5166724"/>
            <a:ext cx="720444" cy="737899"/>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53" name="TextBox 105"/>
          <p:cNvSpPr txBox="1">
            <a:spLocks noChangeArrowheads="1"/>
          </p:cNvSpPr>
          <p:nvPr/>
        </p:nvSpPr>
        <p:spPr bwMode="auto">
          <a:xfrm>
            <a:off x="5807981" y="1270942"/>
            <a:ext cx="2698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3C3C3C"/>
                </a:solidFill>
                <a:effectLst/>
                <a:uLnTx/>
                <a:uFillTx/>
                <a:latin typeface="微软雅黑" panose="020B0503020204020204" pitchFamily="34" charset="-122"/>
                <a:ea typeface="微软雅黑" panose="020B0503020204020204" pitchFamily="34" charset="-122"/>
                <a:cs typeface="+mn-cs"/>
              </a:rPr>
              <a:t>研究背景及意义</a:t>
            </a:r>
          </a:p>
        </p:txBody>
      </p:sp>
      <p:sp>
        <p:nvSpPr>
          <p:cNvPr id="14354" name="TextBox 106"/>
          <p:cNvSpPr txBox="1">
            <a:spLocks noChangeArrowheads="1"/>
          </p:cNvSpPr>
          <p:nvPr/>
        </p:nvSpPr>
        <p:spPr bwMode="auto">
          <a:xfrm>
            <a:off x="4985978" y="1137635"/>
            <a:ext cx="499868" cy="7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en-US" altLang="zh-CN"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1</a:t>
            </a:r>
            <a:endParaRPr kumimoji="0" lang="zh-CN" altLang="en-US"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4355" name="TextBox 108"/>
          <p:cNvSpPr txBox="1">
            <a:spLocks noChangeArrowheads="1"/>
          </p:cNvSpPr>
          <p:nvPr/>
        </p:nvSpPr>
        <p:spPr bwMode="auto">
          <a:xfrm>
            <a:off x="5807981" y="2321457"/>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3C3C3C"/>
                </a:solidFill>
                <a:effectLst/>
                <a:uLnTx/>
                <a:uFillTx/>
                <a:latin typeface="微软雅黑" panose="020B0503020204020204" pitchFamily="34" charset="-122"/>
                <a:ea typeface="微软雅黑" panose="020B0503020204020204" pitchFamily="34" charset="-122"/>
                <a:cs typeface="+mn-cs"/>
              </a:rPr>
              <a:t>文献综述</a:t>
            </a:r>
          </a:p>
        </p:txBody>
      </p:sp>
      <p:sp>
        <p:nvSpPr>
          <p:cNvPr id="14356" name="TextBox 109"/>
          <p:cNvSpPr txBox="1">
            <a:spLocks noChangeArrowheads="1"/>
          </p:cNvSpPr>
          <p:nvPr/>
        </p:nvSpPr>
        <p:spPr bwMode="auto">
          <a:xfrm>
            <a:off x="4985978" y="2135783"/>
            <a:ext cx="499868" cy="707749"/>
          </a:xfrm>
          <a:prstGeom prst="rect">
            <a:avLst/>
          </a:prstGeom>
          <a:solidFill>
            <a:schemeClr val="accent2"/>
          </a:solidFill>
          <a:ln>
            <a:noFill/>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en-US" altLang="zh-CN"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2</a:t>
            </a:r>
            <a:endParaRPr kumimoji="0" lang="zh-CN" altLang="en-US"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4357" name="TextBox 115"/>
          <p:cNvSpPr txBox="1">
            <a:spLocks noChangeArrowheads="1"/>
          </p:cNvSpPr>
          <p:nvPr/>
        </p:nvSpPr>
        <p:spPr bwMode="auto">
          <a:xfrm>
            <a:off x="5807981" y="3265651"/>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3C3C3C"/>
                </a:solidFill>
                <a:effectLst/>
                <a:uLnTx/>
                <a:uFillTx/>
                <a:latin typeface="微软雅黑" panose="020B0503020204020204" pitchFamily="34" charset="-122"/>
                <a:ea typeface="微软雅黑" panose="020B0503020204020204" pitchFamily="34" charset="-122"/>
                <a:cs typeface="+mn-cs"/>
              </a:rPr>
              <a:t>研究</a:t>
            </a:r>
            <a:r>
              <a:rPr lang="zh-CN" altLang="en-US" sz="2800" b="1" dirty="0">
                <a:solidFill>
                  <a:srgbClr val="3C3C3C"/>
                </a:solidFill>
                <a:latin typeface="微软雅黑" panose="020B0503020204020204" pitchFamily="34" charset="-122"/>
                <a:ea typeface="微软雅黑" panose="020B0503020204020204" pitchFamily="34" charset="-122"/>
              </a:rPr>
              <a:t>问题</a:t>
            </a:r>
            <a:endParaRPr kumimoji="0" lang="zh-CN" altLang="en-US" sz="2800" b="1" i="0" u="none" strike="noStrike" kern="1200" cap="none" spc="0" normalizeH="0" baseline="0" noProof="0" dirty="0">
              <a:ln>
                <a:noFill/>
              </a:ln>
              <a:solidFill>
                <a:srgbClr val="3C3C3C"/>
              </a:solidFill>
              <a:effectLst/>
              <a:uLnTx/>
              <a:uFillTx/>
              <a:latin typeface="微软雅黑" panose="020B0503020204020204" pitchFamily="34" charset="-122"/>
              <a:ea typeface="微软雅黑" panose="020B0503020204020204" pitchFamily="34" charset="-122"/>
              <a:cs typeface="+mn-cs"/>
            </a:endParaRPr>
          </a:p>
        </p:txBody>
      </p:sp>
      <p:sp>
        <p:nvSpPr>
          <p:cNvPr id="14358" name="TextBox 116"/>
          <p:cNvSpPr txBox="1">
            <a:spLocks noChangeArrowheads="1"/>
          </p:cNvSpPr>
          <p:nvPr/>
        </p:nvSpPr>
        <p:spPr bwMode="auto">
          <a:xfrm>
            <a:off x="4985978" y="3132343"/>
            <a:ext cx="499868" cy="7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en-US" altLang="zh-CN"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3</a:t>
            </a:r>
            <a:endParaRPr kumimoji="0" lang="zh-CN" altLang="en-US"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4359" name="TextBox 117"/>
          <p:cNvSpPr txBox="1">
            <a:spLocks noChangeArrowheads="1"/>
          </p:cNvSpPr>
          <p:nvPr/>
        </p:nvSpPr>
        <p:spPr bwMode="auto">
          <a:xfrm>
            <a:off x="5807981" y="4286014"/>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3C3C3C"/>
                </a:solidFill>
                <a:effectLst/>
                <a:uLnTx/>
                <a:uFillTx/>
                <a:latin typeface="微软雅黑" panose="020B0503020204020204" pitchFamily="34" charset="-122"/>
                <a:ea typeface="微软雅黑" panose="020B0503020204020204" pitchFamily="34" charset="-122"/>
                <a:cs typeface="+mn-cs"/>
              </a:rPr>
              <a:t>研究方案</a:t>
            </a:r>
          </a:p>
        </p:txBody>
      </p:sp>
      <p:sp>
        <p:nvSpPr>
          <p:cNvPr id="14360" name="TextBox 118"/>
          <p:cNvSpPr txBox="1">
            <a:spLocks noChangeArrowheads="1"/>
          </p:cNvSpPr>
          <p:nvPr/>
        </p:nvSpPr>
        <p:spPr bwMode="auto">
          <a:xfrm>
            <a:off x="4985978" y="4152707"/>
            <a:ext cx="499868" cy="7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en-US" altLang="zh-CN"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4</a:t>
            </a:r>
            <a:endParaRPr kumimoji="0" lang="zh-CN" altLang="en-US"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4361" name="TextBox 119"/>
          <p:cNvSpPr txBox="1">
            <a:spLocks noChangeArrowheads="1"/>
          </p:cNvSpPr>
          <p:nvPr/>
        </p:nvSpPr>
        <p:spPr bwMode="auto">
          <a:xfrm>
            <a:off x="5807981" y="5360333"/>
            <a:ext cx="413446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3C3C3C"/>
                </a:solidFill>
                <a:effectLst/>
                <a:uLnTx/>
                <a:uFillTx/>
                <a:latin typeface="微软雅黑" panose="020B0503020204020204" pitchFamily="34" charset="-122"/>
                <a:ea typeface="微软雅黑" panose="020B0503020204020204" pitchFamily="34" charset="-122"/>
                <a:cs typeface="+mn-cs"/>
              </a:rPr>
              <a:t>研究工作计划与进度安排</a:t>
            </a:r>
          </a:p>
        </p:txBody>
      </p:sp>
      <p:sp>
        <p:nvSpPr>
          <p:cNvPr id="14362" name="TextBox 120"/>
          <p:cNvSpPr txBox="1">
            <a:spLocks noChangeArrowheads="1"/>
          </p:cNvSpPr>
          <p:nvPr/>
        </p:nvSpPr>
        <p:spPr bwMode="auto">
          <a:xfrm>
            <a:off x="4985978" y="5174658"/>
            <a:ext cx="499868" cy="7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en-US" altLang="zh-CN" sz="3998"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rPr>
              <a:t>5</a:t>
            </a:r>
            <a:endParaRPr kumimoji="0" lang="zh-CN" altLang="en-US" sz="3998"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4363" name="Freeform 5"/>
          <p:cNvSpPr>
            <a:spLocks/>
          </p:cNvSpPr>
          <p:nvPr/>
        </p:nvSpPr>
        <p:spPr bwMode="auto">
          <a:xfrm>
            <a:off x="0" y="1339"/>
            <a:ext cx="4260774" cy="6869605"/>
          </a:xfrm>
          <a:custGeom>
            <a:avLst/>
            <a:gdLst>
              <a:gd name="T0" fmla="*/ 0 w 5566"/>
              <a:gd name="T1" fmla="*/ 0 h 9000"/>
              <a:gd name="T2" fmla="*/ 4324 w 5566"/>
              <a:gd name="T3" fmla="*/ 0 h 9000"/>
              <a:gd name="T4" fmla="*/ 5566 w 5566"/>
              <a:gd name="T5" fmla="*/ 9000 h 9000"/>
              <a:gd name="T6" fmla="*/ 0 w 5566"/>
              <a:gd name="T7" fmla="*/ 9000 h 9000"/>
              <a:gd name="T8" fmla="*/ 0 w 5566"/>
              <a:gd name="T9" fmla="*/ 0 h 9000"/>
            </a:gdLst>
            <a:ahLst/>
            <a:cxnLst>
              <a:cxn ang="0">
                <a:pos x="T0" y="T1"/>
              </a:cxn>
              <a:cxn ang="0">
                <a:pos x="T2" y="T3"/>
              </a:cxn>
              <a:cxn ang="0">
                <a:pos x="T4" y="T5"/>
              </a:cxn>
              <a:cxn ang="0">
                <a:pos x="T6" y="T7"/>
              </a:cxn>
              <a:cxn ang="0">
                <a:pos x="T8" y="T9"/>
              </a:cxn>
            </a:cxnLst>
            <a:rect l="0" t="0" r="r" b="b"/>
            <a:pathLst>
              <a:path w="5566" h="9000">
                <a:moveTo>
                  <a:pt x="0" y="0"/>
                </a:moveTo>
                <a:lnTo>
                  <a:pt x="4324" y="0"/>
                </a:lnTo>
                <a:lnTo>
                  <a:pt x="5566" y="9000"/>
                </a:lnTo>
                <a:lnTo>
                  <a:pt x="0" y="9000"/>
                </a:lnTo>
                <a:lnTo>
                  <a:pt x="0" y="0"/>
                </a:lnTo>
                <a:close/>
              </a:path>
            </a:pathLst>
          </a:custGeom>
          <a:blipFill dpi="0" rotWithShape="1">
            <a:blip r:embed="rId3" cstate="screen">
              <a:extLst>
                <a:ext uri="{BEBA8EAE-BF5A-486C-A8C5-ECC9F3942E4B}">
                  <a14:imgProps xmlns:a14="http://schemas.microsoft.com/office/drawing/2010/main">
                    <a14:imgLayer r:embed="rId4">
                      <a14:imgEffect>
                        <a14:colorTemperature colorTemp="5900"/>
                      </a14:imgEffect>
                      <a14:imgEffect>
                        <a14:saturation sat="120000"/>
                      </a14:imgEffect>
                    </a14:imgLayer>
                  </a14:imgProps>
                </a:ext>
                <a:ext uri="{28A0092B-C50C-407E-A947-70E740481C1C}">
                  <a14:useLocalDpi xmlns:a14="http://schemas.microsoft.com/office/drawing/2010/main"/>
                </a:ext>
              </a:extLst>
            </a:blip>
            <a:srcRect/>
            <a:stretch>
              <a:fillRect l="-14000" r="-35000"/>
            </a:stretch>
          </a:blipFill>
          <a:ln>
            <a:noFill/>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grpSp>
        <p:nvGrpSpPr>
          <p:cNvPr id="2" name="组合 1"/>
          <p:cNvGrpSpPr/>
          <p:nvPr/>
        </p:nvGrpSpPr>
        <p:grpSpPr>
          <a:xfrm>
            <a:off x="2640569" y="1339"/>
            <a:ext cx="1867759" cy="6869605"/>
            <a:chOff x="2640569" y="1339"/>
            <a:chExt cx="1867759" cy="6869605"/>
          </a:xfrm>
        </p:grpSpPr>
        <p:sp>
          <p:nvSpPr>
            <p:cNvPr id="14364" name="Freeform 6"/>
            <p:cNvSpPr>
              <a:spLocks/>
            </p:cNvSpPr>
            <p:nvPr/>
          </p:nvSpPr>
          <p:spPr bwMode="auto">
            <a:xfrm>
              <a:off x="3392751" y="1339"/>
              <a:ext cx="1115577" cy="6869605"/>
            </a:xfrm>
            <a:custGeom>
              <a:avLst/>
              <a:gdLst>
                <a:gd name="T0" fmla="*/ 0 w 1457"/>
                <a:gd name="T1" fmla="*/ 0 h 9000"/>
                <a:gd name="T2" fmla="*/ 224 w 1457"/>
                <a:gd name="T3" fmla="*/ 0 h 9000"/>
                <a:gd name="T4" fmla="*/ 1457 w 1457"/>
                <a:gd name="T5" fmla="*/ 9000 h 9000"/>
                <a:gd name="T6" fmla="*/ 1233 w 1457"/>
                <a:gd name="T7" fmla="*/ 9000 h 9000"/>
                <a:gd name="T8" fmla="*/ 0 w 1457"/>
                <a:gd name="T9" fmla="*/ 0 h 9000"/>
              </a:gdLst>
              <a:ahLst/>
              <a:cxnLst>
                <a:cxn ang="0">
                  <a:pos x="T0" y="T1"/>
                </a:cxn>
                <a:cxn ang="0">
                  <a:pos x="T2" y="T3"/>
                </a:cxn>
                <a:cxn ang="0">
                  <a:pos x="T4" y="T5"/>
                </a:cxn>
                <a:cxn ang="0">
                  <a:pos x="T6" y="T7"/>
                </a:cxn>
                <a:cxn ang="0">
                  <a:pos x="T8" y="T9"/>
                </a:cxn>
              </a:cxnLst>
              <a:rect l="0" t="0" r="r" b="b"/>
              <a:pathLst>
                <a:path w="1457" h="9000">
                  <a:moveTo>
                    <a:pt x="0" y="0"/>
                  </a:moveTo>
                  <a:lnTo>
                    <a:pt x="224" y="0"/>
                  </a:lnTo>
                  <a:lnTo>
                    <a:pt x="1457" y="9000"/>
                  </a:lnTo>
                  <a:lnTo>
                    <a:pt x="1233" y="9000"/>
                  </a:lnTo>
                  <a:lnTo>
                    <a:pt x="0" y="0"/>
                  </a:lnTo>
                  <a:close/>
                </a:path>
              </a:pathLst>
            </a:custGeom>
            <a:solidFill>
              <a:schemeClr val="accent2"/>
            </a:solidFill>
            <a:ln>
              <a:noFill/>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65" name="矩形 12"/>
            <p:cNvSpPr>
              <a:spLocks noChangeArrowheads="1"/>
            </p:cNvSpPr>
            <p:nvPr/>
          </p:nvSpPr>
          <p:spPr bwMode="auto">
            <a:xfrm>
              <a:off x="2640569" y="5937859"/>
              <a:ext cx="1732873" cy="782331"/>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grpSp>
      <p:sp>
        <p:nvSpPr>
          <p:cNvPr id="14366" name="TextBox 98"/>
          <p:cNvSpPr txBox="1">
            <a:spLocks noChangeArrowheads="1"/>
          </p:cNvSpPr>
          <p:nvPr/>
        </p:nvSpPr>
        <p:spPr bwMode="auto">
          <a:xfrm>
            <a:off x="2800845" y="5977530"/>
            <a:ext cx="902934" cy="523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zh-CN" altLang="en-US" sz="2799"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目录</a:t>
            </a:r>
          </a:p>
        </p:txBody>
      </p:sp>
      <p:sp>
        <p:nvSpPr>
          <p:cNvPr id="14367" name="TextBox 104"/>
          <p:cNvSpPr txBox="1">
            <a:spLocks noChangeArrowheads="1"/>
          </p:cNvSpPr>
          <p:nvPr/>
        </p:nvSpPr>
        <p:spPr bwMode="auto">
          <a:xfrm>
            <a:off x="2854798" y="6359968"/>
            <a:ext cx="1180639" cy="36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en-US" altLang="zh-CN" sz="1799"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rPr>
              <a:t>Contents</a:t>
            </a:r>
            <a:endParaRPr kumimoji="0" lang="zh-CN" altLang="en-US" sz="1799"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pic>
        <p:nvPicPr>
          <p:cNvPr id="34" name="图片 33" descr="横版组合——透明.png"/>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8468075" y="127196"/>
            <a:ext cx="3429530" cy="7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灯片编号占位符 3">
            <a:extLst>
              <a:ext uri="{FF2B5EF4-FFF2-40B4-BE49-F238E27FC236}">
                <a16:creationId xmlns:a16="http://schemas.microsoft.com/office/drawing/2014/main" id="{23BC06AA-3BE5-88A5-A2B0-5B0825EABE9B}"/>
              </a:ext>
            </a:extLst>
          </p:cNvPr>
          <p:cNvSpPr>
            <a:spLocks noGrp="1"/>
          </p:cNvSpPr>
          <p:nvPr>
            <p:ph type="sldNum" sz="quarter" idx="4294967295"/>
          </p:nvPr>
        </p:nvSpPr>
        <p:spPr>
          <a:xfrm>
            <a:off x="8610600" y="6356350"/>
            <a:ext cx="2743200" cy="365125"/>
          </a:xfrm>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D0C70D4-B8A7-1C47-A003-56128FA9BF31}" type="slidenum">
              <a:rPr kumimoji="0" lang="zh-CN" altLang="en-US" sz="1200" b="1" i="0" u="none" strike="noStrike" kern="1200" cap="none" spc="0" normalizeH="0" baseline="0" noProof="0" smtClean="0">
                <a:ln>
                  <a:noFill/>
                </a:ln>
                <a:solidFill>
                  <a:prstClr val="black">
                    <a:tint val="75000"/>
                  </a:prstClr>
                </a:solidFill>
                <a:effectLst/>
                <a:uLnTx/>
                <a:uFillTx/>
                <a:latin typeface="Arial" panose="020B0604020202090204" pitchFamily="34" charset="0"/>
                <a:ea typeface="华文中宋" panose="02010600040101010101" charset="-122"/>
                <a:cs typeface="+mn-cs"/>
              </a:rPr>
              <a:t>5</a:t>
            </a:fld>
            <a:endParaRPr kumimoji="0" lang="en-US" altLang="zh-CN" sz="1200" b="1" i="0" u="none" strike="noStrike" kern="1200" cap="none" spc="0" normalizeH="0" baseline="0" noProof="0" dirty="0">
              <a:ln>
                <a:noFill/>
              </a:ln>
              <a:solidFill>
                <a:prstClr val="black">
                  <a:tint val="75000"/>
                </a:prstClr>
              </a:solidFill>
              <a:effectLst/>
              <a:uLnTx/>
              <a:uFillTx/>
              <a:latin typeface="Arial" panose="020B0604020202090204" pitchFamily="34" charset="0"/>
              <a:ea typeface="华文中宋" panose="02010600040101010101" charset="-122"/>
              <a:cs typeface="+mn-cs"/>
            </a:endParaRPr>
          </a:p>
        </p:txBody>
      </p:sp>
    </p:spTree>
    <p:extLst>
      <p:ext uri="{BB962C8B-B14F-4D97-AF65-F5344CB8AC3E}">
        <p14:creationId xmlns:p14="http://schemas.microsoft.com/office/powerpoint/2010/main" val="316405440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F01C59-4A75-5C70-E250-86A97A449CAC}"/>
              </a:ext>
            </a:extLst>
          </p:cNvPr>
          <p:cNvSpPr>
            <a:spLocks noGrp="1"/>
          </p:cNvSpPr>
          <p:nvPr>
            <p:ph type="title"/>
          </p:nvPr>
        </p:nvSpPr>
        <p:spPr/>
        <p:txBody>
          <a:bodyPr/>
          <a:lstStyle/>
          <a:p>
            <a:r>
              <a:rPr kumimoji="1" lang="zh-CN" altLang="en-US" dirty="0"/>
              <a:t>文献综述  </a:t>
            </a:r>
            <a:r>
              <a:rPr kumimoji="1" lang="zh-CN" altLang="en-US" sz="2000" dirty="0"/>
              <a:t>音乐流派对驾驶行为的影响</a:t>
            </a:r>
          </a:p>
        </p:txBody>
      </p:sp>
      <p:sp>
        <p:nvSpPr>
          <p:cNvPr id="11" name="文本框 10">
            <a:extLst>
              <a:ext uri="{FF2B5EF4-FFF2-40B4-BE49-F238E27FC236}">
                <a16:creationId xmlns:a16="http://schemas.microsoft.com/office/drawing/2014/main" id="{ACD0749D-5B49-AAB4-C6E3-489AF6B9A85E}"/>
              </a:ext>
            </a:extLst>
          </p:cNvPr>
          <p:cNvSpPr txBox="1"/>
          <p:nvPr/>
        </p:nvSpPr>
        <p:spPr>
          <a:xfrm>
            <a:off x="467408" y="4653183"/>
            <a:ext cx="11257183" cy="873957"/>
          </a:xfrm>
          <a:prstGeom prst="rect">
            <a:avLst/>
          </a:prstGeom>
          <a:noFill/>
        </p:spPr>
        <p:txBody>
          <a:bodyPr wrap="square">
            <a:spAutoFit/>
          </a:bodyPr>
          <a:lstStyle/>
          <a:p>
            <a:pPr marL="285750" indent="-285750">
              <a:lnSpc>
                <a:spcPct val="150000"/>
              </a:lnSpc>
              <a:buFont typeface="Wingdings" pitchFamily="2" charset="2"/>
              <a:buChar char="l"/>
            </a:pPr>
            <a:r>
              <a:rPr kumimoji="1" lang="zh-CN" altLang="en-US" b="1" dirty="0">
                <a:solidFill>
                  <a:srgbClr val="4472C4"/>
                </a:solidFill>
                <a:latin typeface="Arial" panose="020B0604020202020204" pitchFamily="34" charset="0"/>
                <a:ea typeface="Microsoft YaHei" panose="020B0503020204020204" pitchFamily="34" charset="-122"/>
                <a:cs typeface="Arial" panose="020B0604020202020204" pitchFamily="34" charset="0"/>
              </a:rPr>
              <a:t>音乐流派</a:t>
            </a:r>
            <a:r>
              <a:rPr kumimoji="1" lang="zh-CN" altLang="en-US" b="1" dirty="0">
                <a:latin typeface="Arial" panose="020B0604020202020204" pitchFamily="34" charset="0"/>
                <a:ea typeface="Microsoft YaHei" panose="020B0503020204020204" pitchFamily="34" charset="-122"/>
                <a:cs typeface="Arial" panose="020B0604020202020204" pitchFamily="34" charset="0"/>
              </a:rPr>
              <a:t>：</a:t>
            </a:r>
            <a:r>
              <a:rPr kumimoji="1" lang="zh-CN" altLang="en-US" dirty="0">
                <a:latin typeface="Arial" panose="020B0604020202020204" pitchFamily="34" charset="0"/>
                <a:ea typeface="Microsoft YaHei" panose="020B0503020204020204" pitchFamily="34" charset="-122"/>
                <a:cs typeface="Arial" panose="020B0604020202020204" pitchFamily="34" charset="0"/>
              </a:rPr>
              <a:t>是不同时间、不同地域、不同文化形成的</a:t>
            </a:r>
            <a:r>
              <a:rPr kumimoji="1" lang="zh-CN" altLang="en-US" b="1" dirty="0">
                <a:latin typeface="Arial" panose="020B0604020202020204" pitchFamily="34" charset="0"/>
                <a:ea typeface="Microsoft YaHei" panose="020B0503020204020204" pitchFamily="34" charset="-122"/>
                <a:cs typeface="Arial" panose="020B0604020202020204" pitchFamily="34" charset="0"/>
              </a:rPr>
              <a:t>不同音乐风格类别</a:t>
            </a:r>
            <a:r>
              <a:rPr kumimoji="1" lang="zh-CN" altLang="en-US" dirty="0">
                <a:latin typeface="Arial" panose="020B0604020202020204" pitchFamily="34" charset="0"/>
                <a:ea typeface="Microsoft YaHei" panose="020B0503020204020204" pitchFamily="34" charset="-122"/>
                <a:cs typeface="Arial" panose="020B0604020202020204" pitchFamily="34" charset="0"/>
              </a:rPr>
              <a:t>，它通过</a:t>
            </a:r>
            <a:r>
              <a:rPr kumimoji="1" lang="zh-CN" altLang="en-US" b="1" dirty="0">
                <a:latin typeface="Arial" panose="020B0604020202020204" pitchFamily="34" charset="0"/>
                <a:ea typeface="Microsoft YaHei" panose="020B0503020204020204" pitchFamily="34" charset="-122"/>
                <a:cs typeface="Arial" panose="020B0604020202020204" pitchFamily="34" charset="0"/>
              </a:rPr>
              <a:t>不同音乐元素以特有的组织形式</a:t>
            </a:r>
            <a:r>
              <a:rPr kumimoji="1" lang="zh-CN" altLang="en-US" dirty="0">
                <a:latin typeface="Arial" panose="020B0604020202020204" pitchFamily="34" charset="0"/>
                <a:ea typeface="Microsoft YaHei" panose="020B0503020204020204" pitchFamily="34" charset="-122"/>
                <a:cs typeface="Arial" panose="020B0604020202020204" pitchFamily="34" charset="0"/>
              </a:rPr>
              <a:t>形成了个性化派别，比如爵士、古典、摇滚就是不同的音乐流派 </a:t>
            </a:r>
            <a:r>
              <a:rPr kumimoji="1" lang="en-US" altLang="zh-CN" sz="1200" dirty="0">
                <a:solidFill>
                  <a:schemeClr val="tx1">
                    <a:lumMod val="50000"/>
                    <a:lumOff val="50000"/>
                  </a:schemeClr>
                </a:solidFill>
                <a:latin typeface="Arial" panose="020B0604020202020204" pitchFamily="34" charset="0"/>
                <a:ea typeface="Microsoft YaHei" panose="020B0503020204020204" pitchFamily="34" charset="-122"/>
                <a:cs typeface="Arial" panose="020B0604020202020204" pitchFamily="34" charset="0"/>
              </a:rPr>
              <a:t>(</a:t>
            </a:r>
            <a:r>
              <a:rPr kumimoji="1" lang="zh-CN" altLang="en-US" sz="1200" dirty="0">
                <a:solidFill>
                  <a:schemeClr val="tx1">
                    <a:lumMod val="50000"/>
                    <a:lumOff val="50000"/>
                  </a:schemeClr>
                </a:solidFill>
                <a:latin typeface="Arial" panose="020B0604020202020204" pitchFamily="34" charset="0"/>
                <a:ea typeface="Microsoft YaHei" panose="020B0503020204020204" pitchFamily="34" charset="-122"/>
                <a:cs typeface="Arial" panose="020B0604020202020204" pitchFamily="34" charset="0"/>
              </a:rPr>
              <a:t>刘寅</a:t>
            </a:r>
            <a:r>
              <a:rPr kumimoji="1" lang="en-US" altLang="zh-CN" sz="1200" dirty="0">
                <a:solidFill>
                  <a:schemeClr val="tx1">
                    <a:lumMod val="50000"/>
                    <a:lumOff val="50000"/>
                  </a:schemeClr>
                </a:solidFill>
                <a:latin typeface="Arial" panose="020B0604020202020204" pitchFamily="34" charset="0"/>
                <a:ea typeface="Microsoft YaHei" panose="020B0503020204020204" pitchFamily="34" charset="-122"/>
                <a:cs typeface="Arial" panose="020B0604020202020204" pitchFamily="34" charset="0"/>
              </a:rPr>
              <a:t>, 2011)</a:t>
            </a:r>
            <a:r>
              <a:rPr kumimoji="1" lang="zh-CN" altLang="en-US" dirty="0">
                <a:latin typeface="Arial" panose="020B0604020202020204" pitchFamily="34" charset="0"/>
                <a:ea typeface="Microsoft YaHei" panose="020B0503020204020204" pitchFamily="34" charset="-122"/>
                <a:cs typeface="Arial" panose="020B0604020202020204" pitchFamily="34" charset="0"/>
              </a:rPr>
              <a:t>。</a:t>
            </a:r>
          </a:p>
        </p:txBody>
      </p:sp>
      <p:pic>
        <p:nvPicPr>
          <p:cNvPr id="4" name="图片 3">
            <a:extLst>
              <a:ext uri="{FF2B5EF4-FFF2-40B4-BE49-F238E27FC236}">
                <a16:creationId xmlns:a16="http://schemas.microsoft.com/office/drawing/2014/main" id="{A513704E-88B8-F6DF-3F14-16CB7B928FA3}"/>
              </a:ext>
            </a:extLst>
          </p:cNvPr>
          <p:cNvPicPr>
            <a:picLocks noChangeAspect="1"/>
          </p:cNvPicPr>
          <p:nvPr/>
        </p:nvPicPr>
        <p:blipFill>
          <a:blip r:embed="rId3"/>
          <a:stretch>
            <a:fillRect/>
          </a:stretch>
        </p:blipFill>
        <p:spPr>
          <a:xfrm>
            <a:off x="3097914" y="1145321"/>
            <a:ext cx="6192696" cy="3220202"/>
          </a:xfrm>
          <a:prstGeom prst="rect">
            <a:avLst/>
          </a:prstGeom>
        </p:spPr>
      </p:pic>
    </p:spTree>
    <p:extLst>
      <p:ext uri="{BB962C8B-B14F-4D97-AF65-F5344CB8AC3E}">
        <p14:creationId xmlns:p14="http://schemas.microsoft.com/office/powerpoint/2010/main" val="75739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6BE3E2-FB86-AF3F-CC6E-006B10F7803F}"/>
              </a:ext>
            </a:extLst>
          </p:cNvPr>
          <p:cNvSpPr>
            <a:spLocks noGrp="1"/>
          </p:cNvSpPr>
          <p:nvPr>
            <p:ph type="title"/>
          </p:nvPr>
        </p:nvSpPr>
        <p:spPr/>
        <p:txBody>
          <a:bodyPr/>
          <a:lstStyle/>
          <a:p>
            <a:r>
              <a:rPr kumimoji="1" lang="zh-CN" altLang="en-US" dirty="0"/>
              <a:t>文献综述  </a:t>
            </a:r>
            <a:r>
              <a:rPr kumimoji="1" lang="zh-CN" altLang="en-US" sz="2000" dirty="0"/>
              <a:t>音乐流派对驾驶行为的影响</a:t>
            </a:r>
          </a:p>
        </p:txBody>
      </p:sp>
      <p:grpSp>
        <p:nvGrpSpPr>
          <p:cNvPr id="11" name="组合 10">
            <a:extLst>
              <a:ext uri="{FF2B5EF4-FFF2-40B4-BE49-F238E27FC236}">
                <a16:creationId xmlns:a16="http://schemas.microsoft.com/office/drawing/2014/main" id="{40C099CB-FD2A-CB0E-878C-FCB65E8FE221}"/>
              </a:ext>
            </a:extLst>
          </p:cNvPr>
          <p:cNvGrpSpPr/>
          <p:nvPr/>
        </p:nvGrpSpPr>
        <p:grpSpPr>
          <a:xfrm>
            <a:off x="3575974" y="2270822"/>
            <a:ext cx="3342890" cy="2832188"/>
            <a:chOff x="3570279" y="2556646"/>
            <a:chExt cx="3342890" cy="2832188"/>
          </a:xfrm>
        </p:grpSpPr>
        <p:pic>
          <p:nvPicPr>
            <p:cNvPr id="5" name="图片 4">
              <a:extLst>
                <a:ext uri="{FF2B5EF4-FFF2-40B4-BE49-F238E27FC236}">
                  <a16:creationId xmlns:a16="http://schemas.microsoft.com/office/drawing/2014/main" id="{7F6DA7EC-062A-BB56-EEA4-DFF8BFBDD068}"/>
                </a:ext>
              </a:extLst>
            </p:cNvPr>
            <p:cNvPicPr>
              <a:picLocks noChangeAspect="1"/>
            </p:cNvPicPr>
            <p:nvPr/>
          </p:nvPicPr>
          <p:blipFill>
            <a:blip r:embed="rId3"/>
            <a:stretch>
              <a:fillRect/>
            </a:stretch>
          </p:blipFill>
          <p:spPr>
            <a:xfrm>
              <a:off x="3570279" y="2556646"/>
              <a:ext cx="3321119" cy="2485617"/>
            </a:xfrm>
            <a:prstGeom prst="rect">
              <a:avLst/>
            </a:prstGeom>
          </p:spPr>
        </p:pic>
        <p:sp>
          <p:nvSpPr>
            <p:cNvPr id="7" name="文本框 6">
              <a:extLst>
                <a:ext uri="{FF2B5EF4-FFF2-40B4-BE49-F238E27FC236}">
                  <a16:creationId xmlns:a16="http://schemas.microsoft.com/office/drawing/2014/main" id="{14BDBF91-A808-62D9-F1BF-A1D573D39FFD}"/>
                </a:ext>
              </a:extLst>
            </p:cNvPr>
            <p:cNvSpPr txBox="1"/>
            <p:nvPr/>
          </p:nvSpPr>
          <p:spPr>
            <a:xfrm>
              <a:off x="3865325" y="5142613"/>
              <a:ext cx="3047844" cy="246221"/>
            </a:xfrm>
            <a:prstGeom prst="rect">
              <a:avLst/>
            </a:prstGeom>
            <a:noFill/>
          </p:spPr>
          <p:txBody>
            <a:bodyPr wrap="square">
              <a:spAutoFit/>
            </a:bodyPr>
            <a:lstStyle/>
            <a:p>
              <a:r>
                <a:rPr lang="zh-CN" altLang="en-US" sz="1000" dirty="0">
                  <a:solidFill>
                    <a:schemeClr val="tx1">
                      <a:lumMod val="50000"/>
                      <a:lumOff val="50000"/>
                    </a:schemeClr>
                  </a:solidFill>
                  <a:latin typeface="Arial" panose="020B0604020202020204" pitchFamily="34" charset="0"/>
                  <a:cs typeface="Arial" panose="020B0604020202020204" pitchFamily="34" charset="0"/>
                </a:rPr>
                <a:t>Fig. 4. Hard Rock music facilitated RT (p &lt; 0.01). </a:t>
              </a:r>
            </a:p>
          </p:txBody>
        </p:sp>
      </p:grpSp>
      <p:grpSp>
        <p:nvGrpSpPr>
          <p:cNvPr id="10" name="组合 9">
            <a:extLst>
              <a:ext uri="{FF2B5EF4-FFF2-40B4-BE49-F238E27FC236}">
                <a16:creationId xmlns:a16="http://schemas.microsoft.com/office/drawing/2014/main" id="{702C2D2B-2045-30A6-0EED-50A57DF29D21}"/>
              </a:ext>
            </a:extLst>
          </p:cNvPr>
          <p:cNvGrpSpPr/>
          <p:nvPr/>
        </p:nvGrpSpPr>
        <p:grpSpPr>
          <a:xfrm>
            <a:off x="386220" y="2425416"/>
            <a:ext cx="3123100" cy="2832188"/>
            <a:chOff x="339443" y="2556646"/>
            <a:chExt cx="3123100" cy="2832188"/>
          </a:xfrm>
        </p:grpSpPr>
        <p:pic>
          <p:nvPicPr>
            <p:cNvPr id="4" name="图片 3">
              <a:extLst>
                <a:ext uri="{FF2B5EF4-FFF2-40B4-BE49-F238E27FC236}">
                  <a16:creationId xmlns:a16="http://schemas.microsoft.com/office/drawing/2014/main" id="{7AD0C19E-27D7-F750-A33A-BF0B5715B15B}"/>
                </a:ext>
              </a:extLst>
            </p:cNvPr>
            <p:cNvPicPr>
              <a:picLocks noChangeAspect="1"/>
            </p:cNvPicPr>
            <p:nvPr/>
          </p:nvPicPr>
          <p:blipFill>
            <a:blip r:embed="rId4"/>
            <a:stretch>
              <a:fillRect/>
            </a:stretch>
          </p:blipFill>
          <p:spPr>
            <a:xfrm>
              <a:off x="339443" y="2556646"/>
              <a:ext cx="3123100" cy="2383246"/>
            </a:xfrm>
            <a:prstGeom prst="rect">
              <a:avLst/>
            </a:prstGeom>
          </p:spPr>
        </p:pic>
        <p:sp>
          <p:nvSpPr>
            <p:cNvPr id="9" name="文本框 8">
              <a:extLst>
                <a:ext uri="{FF2B5EF4-FFF2-40B4-BE49-F238E27FC236}">
                  <a16:creationId xmlns:a16="http://schemas.microsoft.com/office/drawing/2014/main" id="{71CE7C44-97C8-EF6B-68C3-FE142B0F949B}"/>
                </a:ext>
              </a:extLst>
            </p:cNvPr>
            <p:cNvSpPr txBox="1"/>
            <p:nvPr/>
          </p:nvSpPr>
          <p:spPr>
            <a:xfrm>
              <a:off x="547613" y="4988724"/>
              <a:ext cx="2814497" cy="400110"/>
            </a:xfrm>
            <a:prstGeom prst="rect">
              <a:avLst/>
            </a:prstGeom>
            <a:noFill/>
          </p:spPr>
          <p:txBody>
            <a:bodyPr wrap="square">
              <a:spAutoFit/>
            </a:bodyPr>
            <a:lstStyle/>
            <a:p>
              <a:r>
                <a:rPr lang="zh-CN" altLang="en-US" sz="1000" dirty="0">
                  <a:solidFill>
                    <a:schemeClr val="tx1">
                      <a:lumMod val="50000"/>
                      <a:lumOff val="50000"/>
                    </a:schemeClr>
                  </a:solidFill>
                  <a:latin typeface="Arial" panose="020B0604020202020204" pitchFamily="34" charset="0"/>
                  <a:cs typeface="Arial" panose="020B0604020202020204" pitchFamily="34" charset="0"/>
                </a:rPr>
                <a:t>Fig. 3. Hard rock significantly (p &lt; 0.05) increases accommodation HR. </a:t>
              </a:r>
            </a:p>
          </p:txBody>
        </p:sp>
      </p:grpSp>
      <p:pic>
        <p:nvPicPr>
          <p:cNvPr id="1026" name="Picture 2">
            <a:extLst>
              <a:ext uri="{FF2B5EF4-FFF2-40B4-BE49-F238E27FC236}">
                <a16:creationId xmlns:a16="http://schemas.microsoft.com/office/drawing/2014/main" id="{4909E6BF-5A4B-50F4-CF3C-13C4B3C0F34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22009" y="2200300"/>
            <a:ext cx="3565051" cy="2600315"/>
          </a:xfrm>
          <a:prstGeom prst="rect">
            <a:avLst/>
          </a:prstGeom>
          <a:noFill/>
          <a:extLst>
            <a:ext uri="{909E8E84-426E-40DD-AFC4-6F175D3DCCD1}">
              <a14:hiddenFill xmlns:a14="http://schemas.microsoft.com/office/drawing/2010/main">
                <a:solidFill>
                  <a:srgbClr val="FFFFFF"/>
                </a:solidFill>
              </a14:hiddenFill>
            </a:ext>
          </a:extLst>
        </p:spPr>
      </p:pic>
      <p:sp>
        <p:nvSpPr>
          <p:cNvPr id="13" name="文本框 12">
            <a:extLst>
              <a:ext uri="{FF2B5EF4-FFF2-40B4-BE49-F238E27FC236}">
                <a16:creationId xmlns:a16="http://schemas.microsoft.com/office/drawing/2014/main" id="{8B61F4EF-365D-91C1-8FAA-E429E8DA1ADE}"/>
              </a:ext>
            </a:extLst>
          </p:cNvPr>
          <p:cNvSpPr txBox="1"/>
          <p:nvPr/>
        </p:nvSpPr>
        <p:spPr>
          <a:xfrm>
            <a:off x="339443" y="5306436"/>
            <a:ext cx="6615451" cy="787460"/>
          </a:xfrm>
          <a:prstGeom prst="rect">
            <a:avLst/>
          </a:prstGeom>
          <a:noFill/>
        </p:spPr>
        <p:txBody>
          <a:bodyPr wrap="square">
            <a:spAutoFit/>
          </a:bodyPr>
          <a:lstStyle/>
          <a:p>
            <a:pPr>
              <a:lnSpc>
                <a:spcPct val="150000"/>
              </a:lnSpc>
            </a:pPr>
            <a:r>
              <a:rPr lang="zh-CN" altLang="zh-CN" sz="16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摇滚音乐</a:t>
            </a:r>
            <a:r>
              <a:rPr lang="zh-CN" altLang="en-US" sz="16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 </a:t>
            </a:r>
            <a:r>
              <a:rPr lang="en-US" altLang="zh-CN" sz="1600" b="1" kern="100" dirty="0" err="1">
                <a:effectLst/>
                <a:latin typeface="Microsoft YaHei" panose="020B0503020204020204" pitchFamily="34" charset="-122"/>
                <a:ea typeface="Microsoft YaHei" panose="020B0503020204020204" pitchFamily="34" charset="-122"/>
                <a:cs typeface="Times New Roman" panose="02020603050405020304" pitchFamily="18" charset="0"/>
              </a:rPr>
              <a:t>v.s</a:t>
            </a:r>
            <a:r>
              <a:rPr lang="en-US" altLang="zh-CN" sz="16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16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 </a:t>
            </a:r>
            <a:r>
              <a:rPr lang="zh-CN" altLang="zh-CN" sz="16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古典音乐</a:t>
            </a:r>
            <a:r>
              <a:rPr lang="zh-CN"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对驾驶</a:t>
            </a:r>
            <a:r>
              <a:rPr lang="zh-CN" altLang="en-US" sz="1600" kern="100" dirty="0">
                <a:latin typeface="Microsoft YaHei" panose="020B0503020204020204" pitchFamily="34" charset="-122"/>
                <a:ea typeface="Microsoft YaHei" panose="020B0503020204020204" pitchFamily="34" charset="-122"/>
                <a:cs typeface="Times New Roman" panose="02020603050405020304" pitchFamily="18" charset="0"/>
              </a:rPr>
              <a:t>相关</a:t>
            </a:r>
            <a:r>
              <a:rPr lang="zh-CN"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警惕</a:t>
            </a:r>
            <a:r>
              <a:rPr lang="zh-CN" altLang="en-US"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任务</a:t>
            </a:r>
            <a:r>
              <a:rPr lang="zh-CN"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反应的影响，结果发现在摇滚音乐背景下比驾驶员的反应更快。</a:t>
            </a:r>
            <a:r>
              <a:rPr lang="en-US" altLang="zh-CN" sz="1600" dirty="0">
                <a:solidFill>
                  <a:schemeClr val="tx1">
                    <a:lumMod val="50000"/>
                    <a:lumOff val="50000"/>
                  </a:schemeClr>
                </a:solidFill>
                <a:effectLst/>
                <a:latin typeface="Microsoft YaHei" panose="020B0503020204020204" pitchFamily="34" charset="-122"/>
                <a:ea typeface="Microsoft YaHei" panose="020B0503020204020204" pitchFamily="34" charset="-122"/>
              </a:rPr>
              <a:t> </a:t>
            </a:r>
            <a:r>
              <a:rPr lang="en-US" altLang="zh-CN" sz="1200" dirty="0">
                <a:solidFill>
                  <a:schemeClr val="tx1">
                    <a:lumMod val="50000"/>
                    <a:lumOff val="50000"/>
                  </a:schemeClr>
                </a:solidFill>
                <a:effectLst/>
                <a:latin typeface="Microsoft YaHei" panose="020B0503020204020204" pitchFamily="34" charset="-122"/>
                <a:ea typeface="Microsoft YaHei" panose="020B0503020204020204" pitchFamily="34" charset="-122"/>
              </a:rPr>
              <a:t>(Dalton</a:t>
            </a:r>
            <a:r>
              <a:rPr lang="zh-CN" altLang="zh-CN" sz="1200" dirty="0">
                <a:solidFill>
                  <a:schemeClr val="tx1">
                    <a:lumMod val="50000"/>
                    <a:lumOff val="50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等</a:t>
            </a:r>
            <a:r>
              <a:rPr lang="zh-CN" altLang="en-US" sz="1200" dirty="0">
                <a:solidFill>
                  <a:schemeClr val="tx1">
                    <a:lumMod val="50000"/>
                    <a:lumOff val="50000"/>
                  </a:schemeClr>
                </a:solidFill>
                <a:latin typeface="Microsoft YaHei" panose="020B0503020204020204" pitchFamily="34" charset="-122"/>
                <a:ea typeface="Microsoft YaHei" panose="020B0503020204020204" pitchFamily="34" charset="-122"/>
                <a:cs typeface="Times New Roman" panose="02020603050405020304" pitchFamily="18" charset="0"/>
              </a:rPr>
              <a:t>，</a:t>
            </a:r>
            <a:r>
              <a:rPr lang="en-US" altLang="zh-CN" sz="1200" dirty="0">
                <a:solidFill>
                  <a:schemeClr val="tx1">
                    <a:lumMod val="50000"/>
                    <a:lumOff val="50000"/>
                  </a:schemeClr>
                </a:solidFill>
                <a:effectLst/>
                <a:latin typeface="Microsoft YaHei" panose="020B0503020204020204" pitchFamily="34" charset="-122"/>
                <a:ea typeface="Microsoft YaHei" panose="020B0503020204020204" pitchFamily="34" charset="-122"/>
              </a:rPr>
              <a:t>2007)</a:t>
            </a:r>
            <a:r>
              <a:rPr lang="zh-CN" altLang="zh-CN" sz="1200" dirty="0">
                <a:effectLst/>
                <a:latin typeface="Microsoft YaHei" panose="020B0503020204020204" pitchFamily="34" charset="-122"/>
                <a:ea typeface="Microsoft YaHei" panose="020B0503020204020204" pitchFamily="34" charset="-122"/>
              </a:rPr>
              <a:t> </a:t>
            </a:r>
            <a:endParaRPr lang="zh-CN" altLang="en-US" sz="1200" dirty="0">
              <a:latin typeface="Microsoft YaHei" panose="020B0503020204020204" pitchFamily="34" charset="-122"/>
              <a:ea typeface="Microsoft YaHei" panose="020B0503020204020204" pitchFamily="34" charset="-122"/>
            </a:endParaRPr>
          </a:p>
        </p:txBody>
      </p:sp>
      <p:sp>
        <p:nvSpPr>
          <p:cNvPr id="15" name="文本框 14">
            <a:extLst>
              <a:ext uri="{FF2B5EF4-FFF2-40B4-BE49-F238E27FC236}">
                <a16:creationId xmlns:a16="http://schemas.microsoft.com/office/drawing/2014/main" id="{C99FEBA1-9301-AE50-A742-BDA47EEA1A8F}"/>
              </a:ext>
            </a:extLst>
          </p:cNvPr>
          <p:cNvSpPr txBox="1"/>
          <p:nvPr/>
        </p:nvSpPr>
        <p:spPr>
          <a:xfrm>
            <a:off x="7159354" y="5257604"/>
            <a:ext cx="4798268" cy="1156792"/>
          </a:xfrm>
          <a:prstGeom prst="rect">
            <a:avLst/>
          </a:prstGeom>
          <a:noFill/>
        </p:spPr>
        <p:txBody>
          <a:bodyPr wrap="square">
            <a:spAutoFit/>
          </a:bodyPr>
          <a:lstStyle/>
          <a:p>
            <a:pPr>
              <a:lnSpc>
                <a:spcPct val="150000"/>
              </a:lnSpc>
            </a:pPr>
            <a:r>
              <a:rPr lang="zh-CN" altLang="en-US" sz="1600" kern="100" dirty="0">
                <a:latin typeface="Microsoft YaHei" panose="020B0503020204020204" pitchFamily="34" charset="-122"/>
                <a:ea typeface="Microsoft YaHei" panose="020B0503020204020204" pitchFamily="34" charset="-122"/>
                <a:cs typeface="Times New Roman" panose="02020603050405020304" pitchFamily="18" charset="0"/>
              </a:rPr>
              <a:t>重</a:t>
            </a:r>
            <a:r>
              <a:rPr lang="zh-CN" altLang="zh-CN" sz="1600" kern="100" dirty="0">
                <a:latin typeface="Microsoft YaHei" panose="020B0503020204020204" pitchFamily="34" charset="-122"/>
                <a:ea typeface="Microsoft YaHei" panose="020B0503020204020204" pitchFamily="34" charset="-122"/>
                <a:cs typeface="Times New Roman" panose="02020603050405020304" pitchFamily="18" charset="0"/>
              </a:rPr>
              <a:t>金属</a:t>
            </a:r>
            <a:r>
              <a:rPr lang="zh-CN" altLang="en-US" sz="1600" kern="100" dirty="0">
                <a:latin typeface="Microsoft YaHei" panose="020B0503020204020204" pitchFamily="34" charset="-122"/>
                <a:ea typeface="Microsoft YaHei" panose="020B0503020204020204" pitchFamily="34" charset="-122"/>
                <a:cs typeface="Times New Roman" panose="02020603050405020304" pitchFamily="18" charset="0"/>
              </a:rPr>
              <a:t>摇滚</a:t>
            </a:r>
            <a:r>
              <a:rPr lang="zh-CN" altLang="zh-CN" sz="1600" kern="100" dirty="0">
                <a:latin typeface="Microsoft YaHei" panose="020B0503020204020204" pitchFamily="34" charset="-122"/>
                <a:ea typeface="Microsoft YaHei" panose="020B0503020204020204" pitchFamily="34" charset="-122"/>
                <a:cs typeface="Times New Roman" panose="02020603050405020304" pitchFamily="18" charset="0"/>
              </a:rPr>
              <a:t>音乐背景下，</a:t>
            </a:r>
            <a:r>
              <a:rPr lang="zh-CN" altLang="en-US" sz="1600" kern="100" dirty="0">
                <a:latin typeface="Microsoft YaHei" panose="020B0503020204020204" pitchFamily="34" charset="-122"/>
                <a:ea typeface="Microsoft YaHei" panose="020B0503020204020204" pitchFamily="34" charset="-122"/>
                <a:cs typeface="Times New Roman" panose="02020603050405020304" pitchFamily="18" charset="0"/>
              </a:rPr>
              <a:t>无论任务需求高或低，</a:t>
            </a:r>
            <a:r>
              <a:rPr lang="zh-CN" altLang="zh-CN" sz="1600" kern="100" dirty="0">
                <a:latin typeface="Microsoft YaHei" panose="020B0503020204020204" pitchFamily="34" charset="-122"/>
                <a:ea typeface="Microsoft YaHei" panose="020B0503020204020204" pitchFamily="34" charset="-122"/>
                <a:cs typeface="Times New Roman" panose="02020603050405020304" pitchFamily="18" charset="0"/>
              </a:rPr>
              <a:t>驾驶员对红绿灯、警觉、跟踪目标的认知任务反应更快 </a:t>
            </a:r>
            <a:r>
              <a:rPr lang="zh-CN" altLang="en-US" sz="1600" kern="100" dirty="0">
                <a:latin typeface="Microsoft YaHei" panose="020B0503020204020204" pitchFamily="34" charset="-122"/>
                <a:ea typeface="Microsoft YaHei" panose="020B0503020204020204" pitchFamily="34" charset="-122"/>
                <a:cs typeface="Times New Roman" panose="02020603050405020304" pitchFamily="18" charset="0"/>
              </a:rPr>
              <a:t>。</a:t>
            </a:r>
            <a:r>
              <a:rPr lang="en-US" altLang="zh-CN" sz="1600" dirty="0">
                <a:solidFill>
                  <a:schemeClr val="tx1">
                    <a:lumMod val="50000"/>
                    <a:lumOff val="50000"/>
                  </a:schemeClr>
                </a:solidFill>
                <a:effectLst/>
                <a:latin typeface="Microsoft YaHei" panose="020B0503020204020204" pitchFamily="34" charset="-122"/>
                <a:ea typeface="Microsoft YaHei" panose="020B0503020204020204" pitchFamily="34" charset="-122"/>
              </a:rPr>
              <a:t> </a:t>
            </a:r>
            <a:r>
              <a:rPr lang="en-US" altLang="zh-CN" sz="1200" dirty="0">
                <a:solidFill>
                  <a:schemeClr val="tx1">
                    <a:lumMod val="50000"/>
                    <a:lumOff val="50000"/>
                  </a:schemeClr>
                </a:solidFill>
                <a:effectLst/>
                <a:latin typeface="Microsoft YaHei" panose="020B0503020204020204" pitchFamily="34" charset="-122"/>
                <a:ea typeface="Microsoft YaHei" panose="020B0503020204020204" pitchFamily="34" charset="-122"/>
              </a:rPr>
              <a:t>(</a:t>
            </a:r>
            <a:r>
              <a:rPr lang="en-US" altLang="zh-CN" sz="1200" dirty="0" err="1">
                <a:solidFill>
                  <a:schemeClr val="tx1">
                    <a:lumMod val="50000"/>
                    <a:lumOff val="50000"/>
                  </a:schemeClr>
                </a:solidFill>
                <a:effectLst/>
                <a:latin typeface="Microsoft YaHei" panose="020B0503020204020204" pitchFamily="34" charset="-122"/>
                <a:ea typeface="Microsoft YaHei" panose="020B0503020204020204" pitchFamily="34" charset="-122"/>
              </a:rPr>
              <a:t>Beh</a:t>
            </a:r>
            <a:r>
              <a:rPr lang="en-US" altLang="zh-CN" sz="1200" dirty="0">
                <a:solidFill>
                  <a:schemeClr val="tx1">
                    <a:lumMod val="50000"/>
                    <a:lumOff val="50000"/>
                  </a:schemeClr>
                </a:solidFill>
                <a:effectLst/>
                <a:latin typeface="Microsoft YaHei" panose="020B0503020204020204" pitchFamily="34" charset="-122"/>
                <a:ea typeface="Microsoft YaHei" panose="020B0503020204020204" pitchFamily="34" charset="-122"/>
              </a:rPr>
              <a:t> </a:t>
            </a:r>
            <a:r>
              <a:rPr lang="zh-CN" altLang="en-US" sz="1200" dirty="0">
                <a:solidFill>
                  <a:schemeClr val="tx1">
                    <a:lumMod val="50000"/>
                    <a:lumOff val="50000"/>
                  </a:schemeClr>
                </a:solidFill>
                <a:effectLst/>
                <a:latin typeface="Microsoft YaHei" panose="020B0503020204020204" pitchFamily="34" charset="-122"/>
                <a:ea typeface="Microsoft YaHei" panose="020B0503020204020204" pitchFamily="34" charset="-122"/>
              </a:rPr>
              <a:t>和 </a:t>
            </a:r>
            <a:r>
              <a:rPr lang="en-US" altLang="zh-CN" sz="1200" dirty="0">
                <a:solidFill>
                  <a:schemeClr val="tx1">
                    <a:lumMod val="50000"/>
                    <a:lumOff val="50000"/>
                  </a:schemeClr>
                </a:solidFill>
                <a:effectLst/>
                <a:latin typeface="Microsoft YaHei" panose="020B0503020204020204" pitchFamily="34" charset="-122"/>
                <a:ea typeface="Microsoft YaHei" panose="020B0503020204020204" pitchFamily="34" charset="-122"/>
              </a:rPr>
              <a:t>Hirst</a:t>
            </a:r>
            <a:r>
              <a:rPr lang="zh-CN" altLang="en-US" sz="1200" dirty="0">
                <a:solidFill>
                  <a:schemeClr val="tx1">
                    <a:lumMod val="50000"/>
                    <a:lumOff val="50000"/>
                  </a:schemeClr>
                </a:solidFill>
                <a:latin typeface="Microsoft YaHei" panose="020B0503020204020204" pitchFamily="34" charset="-122"/>
                <a:ea typeface="Microsoft YaHei" panose="020B0503020204020204" pitchFamily="34" charset="-122"/>
                <a:cs typeface="Times New Roman" panose="02020603050405020304" pitchFamily="18" charset="0"/>
              </a:rPr>
              <a:t>，</a:t>
            </a:r>
            <a:r>
              <a:rPr lang="en-US" altLang="zh-CN" sz="1200" dirty="0">
                <a:solidFill>
                  <a:schemeClr val="tx1">
                    <a:lumMod val="50000"/>
                    <a:lumOff val="50000"/>
                  </a:schemeClr>
                </a:solidFill>
                <a:effectLst/>
                <a:latin typeface="Microsoft YaHei" panose="020B0503020204020204" pitchFamily="34" charset="-122"/>
                <a:ea typeface="Microsoft YaHei" panose="020B0503020204020204" pitchFamily="34" charset="-122"/>
              </a:rPr>
              <a:t>2007)</a:t>
            </a:r>
            <a:r>
              <a:rPr lang="zh-CN" altLang="zh-CN" sz="1200" dirty="0">
                <a:effectLst/>
                <a:latin typeface="Microsoft YaHei" panose="020B0503020204020204" pitchFamily="34" charset="-122"/>
                <a:ea typeface="Microsoft YaHei" panose="020B0503020204020204" pitchFamily="34" charset="-122"/>
              </a:rPr>
              <a:t> </a:t>
            </a:r>
            <a:endPar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6" name="文本框 15">
            <a:extLst>
              <a:ext uri="{FF2B5EF4-FFF2-40B4-BE49-F238E27FC236}">
                <a16:creationId xmlns:a16="http://schemas.microsoft.com/office/drawing/2014/main" id="{299C8D28-1A84-DB40-FD2E-B6345D18A4DD}"/>
              </a:ext>
            </a:extLst>
          </p:cNvPr>
          <p:cNvSpPr txBox="1"/>
          <p:nvPr/>
        </p:nvSpPr>
        <p:spPr>
          <a:xfrm>
            <a:off x="339443" y="1228409"/>
            <a:ext cx="11298116" cy="458459"/>
          </a:xfrm>
          <a:prstGeom prst="rect">
            <a:avLst/>
          </a:prstGeom>
          <a:noFill/>
        </p:spPr>
        <p:txBody>
          <a:bodyPr wrap="square" rtlCol="0">
            <a:spAutoFit/>
          </a:bodyPr>
          <a:lstStyle/>
          <a:p>
            <a:pPr marL="285750" indent="-285750">
              <a:lnSpc>
                <a:spcPct val="150000"/>
              </a:lnSpc>
              <a:buFont typeface="Wingdings" pitchFamily="2" charset="2"/>
              <a:buChar char="n"/>
            </a:pPr>
            <a:r>
              <a:rPr lang="zh-CN" altLang="en-US" b="1" kern="100" dirty="0">
                <a:latin typeface="Arial" panose="020B0604020202020204" pitchFamily="34" charset="0"/>
                <a:ea typeface="Microsoft YaHei" panose="020B0503020204020204" pitchFamily="34" charset="-122"/>
                <a:cs typeface="Arial" panose="020B0604020202020204" pitchFamily="34" charset="0"/>
              </a:rPr>
              <a:t>摇滚音乐对驾驶行为的影响</a:t>
            </a:r>
            <a:endParaRPr lang="en-US" altLang="zh-CN" sz="1800" kern="100" dirty="0">
              <a:effectLst/>
              <a:latin typeface="Arial" panose="020B0604020202020204" pitchFamily="34" charset="0"/>
              <a:ea typeface="Microsoft YaHei" panose="020B0503020204020204" pitchFamily="34" charset="-122"/>
              <a:cs typeface="Arial" panose="020B0604020202020204" pitchFamily="34" charset="0"/>
            </a:endParaRPr>
          </a:p>
        </p:txBody>
      </p:sp>
      <p:sp>
        <p:nvSpPr>
          <p:cNvPr id="17" name="椭圆 16">
            <a:extLst>
              <a:ext uri="{FF2B5EF4-FFF2-40B4-BE49-F238E27FC236}">
                <a16:creationId xmlns:a16="http://schemas.microsoft.com/office/drawing/2014/main" id="{D677E923-A919-A366-CBBD-2AACE4157595}"/>
              </a:ext>
            </a:extLst>
          </p:cNvPr>
          <p:cNvSpPr/>
          <p:nvPr/>
        </p:nvSpPr>
        <p:spPr>
          <a:xfrm>
            <a:off x="1104940" y="4420081"/>
            <a:ext cx="574766" cy="313508"/>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椭圆 17">
            <a:extLst>
              <a:ext uri="{FF2B5EF4-FFF2-40B4-BE49-F238E27FC236}">
                <a16:creationId xmlns:a16="http://schemas.microsoft.com/office/drawing/2014/main" id="{3A15486B-077B-5083-14C5-AF9CAF2D6381}"/>
              </a:ext>
            </a:extLst>
          </p:cNvPr>
          <p:cNvSpPr/>
          <p:nvPr/>
        </p:nvSpPr>
        <p:spPr>
          <a:xfrm>
            <a:off x="4517914" y="4336352"/>
            <a:ext cx="574766" cy="313508"/>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 name="文本框 2">
            <a:extLst>
              <a:ext uri="{FF2B5EF4-FFF2-40B4-BE49-F238E27FC236}">
                <a16:creationId xmlns:a16="http://schemas.microsoft.com/office/drawing/2014/main" id="{2AC5E014-7B73-1129-1AC2-6ADEA7E4DE02}"/>
              </a:ext>
            </a:extLst>
          </p:cNvPr>
          <p:cNvSpPr txBox="1"/>
          <p:nvPr/>
        </p:nvSpPr>
        <p:spPr>
          <a:xfrm>
            <a:off x="659506" y="1741841"/>
            <a:ext cx="11298116" cy="458459"/>
          </a:xfrm>
          <a:prstGeom prst="rect">
            <a:avLst/>
          </a:prstGeom>
          <a:noFill/>
        </p:spPr>
        <p:txBody>
          <a:bodyPr wrap="square" rtlCol="0">
            <a:spAutoFit/>
          </a:bodyPr>
          <a:lstStyle/>
          <a:p>
            <a:pPr marL="285750" indent="-285750">
              <a:lnSpc>
                <a:spcPct val="150000"/>
              </a:lnSpc>
              <a:buFont typeface="Wingdings" pitchFamily="2" charset="2"/>
              <a:buChar char="Ø"/>
            </a:pPr>
            <a:r>
              <a:rPr lang="zh-CN" altLang="en-US" kern="100" dirty="0">
                <a:latin typeface="Arial" panose="020B0604020202020204" pitchFamily="34" charset="0"/>
                <a:ea typeface="Microsoft YaHei" panose="020B0503020204020204" pitchFamily="34" charset="-122"/>
                <a:cs typeface="Arial" panose="020B0604020202020204" pitchFamily="34" charset="0"/>
              </a:rPr>
              <a:t>有利</a:t>
            </a:r>
            <a:endParaRPr lang="en-US" altLang="zh-CN" sz="1800" kern="100" dirty="0">
              <a:effectLst/>
              <a:latin typeface="Arial" panose="020B0604020202020204" pitchFamily="34" charset="0"/>
              <a:ea typeface="Microsoft YaHei" panose="020B0503020204020204" pitchFamily="34" charset="-122"/>
              <a:cs typeface="Arial" panose="020B0604020202020204" pitchFamily="34" charset="0"/>
            </a:endParaRPr>
          </a:p>
        </p:txBody>
      </p:sp>
    </p:spTree>
    <p:extLst>
      <p:ext uri="{BB962C8B-B14F-4D97-AF65-F5344CB8AC3E}">
        <p14:creationId xmlns:p14="http://schemas.microsoft.com/office/powerpoint/2010/main" val="4269756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6BE3E2-FB86-AF3F-CC6E-006B10F7803F}"/>
              </a:ext>
            </a:extLst>
          </p:cNvPr>
          <p:cNvSpPr>
            <a:spLocks noGrp="1"/>
          </p:cNvSpPr>
          <p:nvPr>
            <p:ph type="title"/>
          </p:nvPr>
        </p:nvSpPr>
        <p:spPr/>
        <p:txBody>
          <a:bodyPr/>
          <a:lstStyle/>
          <a:p>
            <a:r>
              <a:rPr kumimoji="1" lang="zh-CN" altLang="en-US" dirty="0"/>
              <a:t>文献综述  </a:t>
            </a:r>
            <a:r>
              <a:rPr kumimoji="1" lang="zh-CN" altLang="en-US" sz="2000" dirty="0"/>
              <a:t>音乐流派对驾驶行为的影响</a:t>
            </a:r>
          </a:p>
        </p:txBody>
      </p:sp>
      <p:sp>
        <p:nvSpPr>
          <p:cNvPr id="13" name="文本框 12">
            <a:extLst>
              <a:ext uri="{FF2B5EF4-FFF2-40B4-BE49-F238E27FC236}">
                <a16:creationId xmlns:a16="http://schemas.microsoft.com/office/drawing/2014/main" id="{8B61F4EF-365D-91C1-8FAA-E429E8DA1ADE}"/>
              </a:ext>
            </a:extLst>
          </p:cNvPr>
          <p:cNvSpPr txBox="1"/>
          <p:nvPr/>
        </p:nvSpPr>
        <p:spPr>
          <a:xfrm>
            <a:off x="238594" y="5409226"/>
            <a:ext cx="12436031" cy="37741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400" b="1" kern="100" dirty="0">
                <a:latin typeface="Microsoft YaHei" panose="020B0503020204020204" pitchFamily="34" charset="-122"/>
                <a:ea typeface="Microsoft YaHei" panose="020B0503020204020204" pitchFamily="34" charset="-122"/>
                <a:cs typeface="Times New Roman" panose="02020603050405020304" pitchFamily="18" charset="0"/>
              </a:rPr>
              <a:t>摇滚</a:t>
            </a:r>
            <a:r>
              <a:rPr lang="en-US" altLang="zh-CN" sz="1400" b="1" kern="100" dirty="0" err="1">
                <a:solidFill>
                  <a:schemeClr val="tx1">
                    <a:lumMod val="50000"/>
                    <a:lumOff val="50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v.s</a:t>
            </a:r>
            <a:r>
              <a:rPr lang="en-US" altLang="zh-CN" sz="1400" b="1" kern="100" dirty="0">
                <a:solidFill>
                  <a:schemeClr val="tx1">
                    <a:lumMod val="50000"/>
                    <a:lumOff val="50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1400" b="1" kern="100" dirty="0">
                <a:latin typeface="Microsoft YaHei" panose="020B0503020204020204" pitchFamily="34" charset="-122"/>
                <a:ea typeface="Microsoft YaHei" panose="020B0503020204020204" pitchFamily="34" charset="-122"/>
                <a:cs typeface="Times New Roman" panose="02020603050405020304" pitchFamily="18" charset="0"/>
              </a:rPr>
              <a:t>古典</a:t>
            </a:r>
            <a:r>
              <a:rPr lang="en-US" altLang="zh-CN" sz="1400" b="1" kern="100" dirty="0" err="1">
                <a:solidFill>
                  <a:schemeClr val="tx1">
                    <a:lumMod val="50000"/>
                    <a:lumOff val="50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v.s</a:t>
            </a:r>
            <a:r>
              <a:rPr lang="en-US" altLang="zh-CN" sz="1400" b="1" kern="100" dirty="0">
                <a:solidFill>
                  <a:schemeClr val="tx1">
                    <a:lumMod val="50000"/>
                    <a:lumOff val="50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1400" b="1" kern="100" dirty="0">
                <a:latin typeface="Microsoft YaHei" panose="020B0503020204020204" pitchFamily="34" charset="-122"/>
                <a:ea typeface="Microsoft YaHei" panose="020B0503020204020204" pitchFamily="34" charset="-122"/>
                <a:cs typeface="Times New Roman" panose="02020603050405020304" pitchFamily="18" charset="0"/>
              </a:rPr>
              <a:t>自然音乐，</a:t>
            </a:r>
            <a:r>
              <a:rPr lang="zh-CN" altLang="en-US"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在</a:t>
            </a:r>
            <a:r>
              <a:rPr lang="zh-CN" altLang="en-US" sz="14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摇滚音乐</a:t>
            </a:r>
            <a:r>
              <a:rPr lang="zh-CN" altLang="en-US"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下驾驶员对</a:t>
            </a:r>
            <a:r>
              <a:rPr lang="zh-CN" altLang="en-US" sz="14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车辆稳定性控制</a:t>
            </a:r>
            <a:r>
              <a:rPr lang="en-US" altLang="zh-CN" sz="14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14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横向</a:t>
            </a:r>
            <a:r>
              <a:rPr lang="en-US" altLang="zh-CN" sz="1400" b="1" kern="100" dirty="0">
                <a:latin typeface="Microsoft YaHei" panose="020B0503020204020204" pitchFamily="34" charset="-122"/>
                <a:ea typeface="Microsoft YaHei" panose="020B0503020204020204" pitchFamily="34" charset="-122"/>
                <a:cs typeface="Times New Roman" panose="02020603050405020304" pitchFamily="18" charset="0"/>
              </a:rPr>
              <a:t>&amp;</a:t>
            </a:r>
            <a:r>
              <a:rPr lang="zh-CN" altLang="en-US" sz="1400" b="1" kern="100" dirty="0">
                <a:latin typeface="Microsoft YaHei" panose="020B0503020204020204" pitchFamily="34" charset="-122"/>
                <a:ea typeface="Microsoft YaHei" panose="020B0503020204020204" pitchFamily="34" charset="-122"/>
                <a:cs typeface="Times New Roman" panose="02020603050405020304" pitchFamily="18" charset="0"/>
              </a:rPr>
              <a:t>纵向</a:t>
            </a:r>
            <a:r>
              <a:rPr lang="en-US" altLang="zh-CN" sz="14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14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最差，</a:t>
            </a:r>
            <a:r>
              <a:rPr lang="zh-CN" altLang="en-US" sz="1400" b="1" kern="100" dirty="0">
                <a:latin typeface="Microsoft YaHei" panose="020B0503020204020204" pitchFamily="34" charset="-122"/>
                <a:ea typeface="Microsoft YaHei" panose="020B0503020204020204" pitchFamily="34" charset="-122"/>
                <a:cs typeface="Times New Roman" panose="02020603050405020304" pitchFamily="18" charset="0"/>
              </a:rPr>
              <a:t>分心最严重</a:t>
            </a:r>
            <a:r>
              <a:rPr lang="zh-CN" altLang="en-US"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a:t>
            </a:r>
            <a:r>
              <a:rPr lang="en-US" altLang="zh-CN" sz="1100" dirty="0">
                <a:solidFill>
                  <a:schemeClr val="tx1">
                    <a:lumMod val="50000"/>
                    <a:lumOff val="50000"/>
                  </a:schemeClr>
                </a:solidFill>
                <a:effectLst/>
                <a:latin typeface="Microsoft YaHei" panose="020B0503020204020204" pitchFamily="34" charset="-122"/>
                <a:ea typeface="Microsoft YaHei" panose="020B0503020204020204" pitchFamily="34" charset="-122"/>
              </a:rPr>
              <a:t>(</a:t>
            </a:r>
            <a:r>
              <a:rPr lang="en-US" altLang="zh-CN" sz="1100" dirty="0" err="1">
                <a:solidFill>
                  <a:schemeClr val="tx1">
                    <a:lumMod val="50000"/>
                    <a:lumOff val="50000"/>
                  </a:schemeClr>
                </a:solidFill>
                <a:effectLst/>
                <a:latin typeface="Microsoft YaHei" panose="020B0503020204020204" pitchFamily="34" charset="-122"/>
                <a:ea typeface="Microsoft YaHei" panose="020B0503020204020204" pitchFamily="34" charset="-122"/>
              </a:rPr>
              <a:t>Febriandirza</a:t>
            </a:r>
            <a:r>
              <a:rPr lang="zh-CN" altLang="zh-CN" sz="1100" dirty="0">
                <a:solidFill>
                  <a:schemeClr val="tx1">
                    <a:lumMod val="50000"/>
                    <a:lumOff val="50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等</a:t>
            </a:r>
            <a:r>
              <a:rPr lang="zh-CN" altLang="en-US" sz="1100" dirty="0">
                <a:solidFill>
                  <a:schemeClr val="tx1">
                    <a:lumMod val="50000"/>
                    <a:lumOff val="50000"/>
                  </a:schemeClr>
                </a:solidFill>
                <a:latin typeface="Microsoft YaHei" panose="020B0503020204020204" pitchFamily="34" charset="-122"/>
                <a:ea typeface="Microsoft YaHei" panose="020B0503020204020204" pitchFamily="34" charset="-122"/>
                <a:cs typeface="Times New Roman" panose="02020603050405020304" pitchFamily="18" charset="0"/>
              </a:rPr>
              <a:t>，</a:t>
            </a:r>
            <a:r>
              <a:rPr lang="en-US" altLang="zh-CN" sz="1100" dirty="0">
                <a:solidFill>
                  <a:schemeClr val="tx1">
                    <a:lumMod val="50000"/>
                    <a:lumOff val="50000"/>
                  </a:schemeClr>
                </a:solidFill>
                <a:effectLst/>
                <a:latin typeface="Microsoft YaHei" panose="020B0503020204020204" pitchFamily="34" charset="-122"/>
                <a:ea typeface="Microsoft YaHei" panose="020B0503020204020204" pitchFamily="34" charset="-122"/>
              </a:rPr>
              <a:t>2017)</a:t>
            </a:r>
            <a:r>
              <a:rPr lang="zh-CN" altLang="zh-CN" sz="1100" dirty="0">
                <a:effectLst/>
                <a:latin typeface="Microsoft YaHei" panose="020B0503020204020204" pitchFamily="34" charset="-122"/>
                <a:ea typeface="Microsoft YaHei" panose="020B0503020204020204" pitchFamily="34" charset="-122"/>
              </a:rPr>
              <a:t> </a:t>
            </a:r>
            <a:endParaRPr lang="zh-CN" altLang="en-US" sz="1100" dirty="0">
              <a:latin typeface="Microsoft YaHei" panose="020B0503020204020204" pitchFamily="34" charset="-122"/>
              <a:ea typeface="Microsoft YaHei" panose="020B0503020204020204" pitchFamily="34" charset="-122"/>
            </a:endParaRPr>
          </a:p>
        </p:txBody>
      </p:sp>
      <p:sp>
        <p:nvSpPr>
          <p:cNvPr id="15" name="文本框 14">
            <a:extLst>
              <a:ext uri="{FF2B5EF4-FFF2-40B4-BE49-F238E27FC236}">
                <a16:creationId xmlns:a16="http://schemas.microsoft.com/office/drawing/2014/main" id="{C99FEBA1-9301-AE50-A742-BDA47EEA1A8F}"/>
              </a:ext>
            </a:extLst>
          </p:cNvPr>
          <p:cNvSpPr txBox="1"/>
          <p:nvPr/>
        </p:nvSpPr>
        <p:spPr>
          <a:xfrm>
            <a:off x="238594" y="5793902"/>
            <a:ext cx="11982085" cy="37741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400" b="1" kern="100" dirty="0">
                <a:latin typeface="Microsoft YaHei" panose="020B0503020204020204" pitchFamily="34" charset="-122"/>
                <a:ea typeface="Microsoft YaHei" panose="020B0503020204020204" pitchFamily="34" charset="-122"/>
                <a:cs typeface="Times New Roman" panose="02020603050405020304" pitchFamily="18" charset="0"/>
              </a:rPr>
              <a:t>摇滚</a:t>
            </a:r>
            <a:r>
              <a:rPr lang="en-US" altLang="zh-CN" sz="1400" b="1" kern="100" dirty="0" err="1">
                <a:solidFill>
                  <a:schemeClr val="tx1">
                    <a:lumMod val="50000"/>
                    <a:lumOff val="50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v.s</a:t>
            </a:r>
            <a:r>
              <a:rPr lang="en-US" altLang="zh-CN" sz="1400" b="1" kern="100" dirty="0">
                <a:solidFill>
                  <a:schemeClr val="tx1">
                    <a:lumMod val="50000"/>
                    <a:lumOff val="50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1400" b="1" kern="100" dirty="0">
                <a:latin typeface="Microsoft YaHei" panose="020B0503020204020204" pitchFamily="34" charset="-122"/>
                <a:ea typeface="Microsoft YaHei" panose="020B0503020204020204" pitchFamily="34" charset="-122"/>
                <a:cs typeface="Times New Roman" panose="02020603050405020304" pitchFamily="18" charset="0"/>
              </a:rPr>
              <a:t>轻音乐</a:t>
            </a:r>
            <a:r>
              <a:rPr lang="zh-CN" altLang="en-US" sz="1400" kern="100" dirty="0">
                <a:latin typeface="Microsoft YaHei" panose="020B0503020204020204" pitchFamily="34" charset="-122"/>
                <a:ea typeface="Microsoft YaHei" panose="020B0503020204020204" pitchFamily="34" charset="-122"/>
                <a:cs typeface="Times New Roman" panose="02020603050405020304" pitchFamily="18" charset="0"/>
              </a:rPr>
              <a:t>：发现在摇滚音乐下，驾驶员的心理负荷更大，</a:t>
            </a:r>
            <a:r>
              <a:rPr lang="zh-CN" altLang="en-US" sz="1400" b="1" kern="100" dirty="0">
                <a:latin typeface="Microsoft YaHei" panose="020B0503020204020204" pitchFamily="34" charset="-122"/>
                <a:ea typeface="Microsoft YaHei" panose="020B0503020204020204" pitchFamily="34" charset="-122"/>
                <a:cs typeface="Times New Roman" panose="02020603050405020304" pitchFamily="18" charset="0"/>
              </a:rPr>
              <a:t>速度标准差和越线频率都显著更高</a:t>
            </a:r>
            <a:r>
              <a:rPr lang="zh-CN" altLang="en-US" sz="1400" kern="100" dirty="0">
                <a:latin typeface="Microsoft YaHei" panose="020B0503020204020204" pitchFamily="34" charset="-122"/>
                <a:ea typeface="Microsoft YaHei" panose="020B0503020204020204" pitchFamily="34" charset="-122"/>
                <a:cs typeface="Times New Roman" panose="02020603050405020304" pitchFamily="18" charset="0"/>
              </a:rPr>
              <a:t>。</a:t>
            </a:r>
            <a:r>
              <a:rPr lang="en-US" altLang="zh-CN" sz="1400" dirty="0">
                <a:solidFill>
                  <a:schemeClr val="tx1">
                    <a:lumMod val="50000"/>
                    <a:lumOff val="50000"/>
                  </a:schemeClr>
                </a:solidFill>
                <a:effectLst/>
                <a:latin typeface="Microsoft YaHei" panose="020B0503020204020204" pitchFamily="34" charset="-122"/>
                <a:ea typeface="Microsoft YaHei" panose="020B0503020204020204" pitchFamily="34" charset="-122"/>
              </a:rPr>
              <a:t> </a:t>
            </a:r>
            <a:r>
              <a:rPr lang="en-US" altLang="zh-CN" sz="1100" dirty="0">
                <a:solidFill>
                  <a:schemeClr val="tx1">
                    <a:lumMod val="50000"/>
                    <a:lumOff val="50000"/>
                  </a:schemeClr>
                </a:solidFill>
                <a:effectLst/>
                <a:latin typeface="Microsoft YaHei" panose="020B0503020204020204" pitchFamily="34" charset="-122"/>
                <a:ea typeface="Microsoft YaHei" panose="020B0503020204020204" pitchFamily="34" charset="-122"/>
              </a:rPr>
              <a:t>(Wen</a:t>
            </a:r>
            <a:r>
              <a:rPr lang="zh-CN" altLang="en-US" sz="1100" dirty="0">
                <a:solidFill>
                  <a:schemeClr val="tx1">
                    <a:lumMod val="50000"/>
                    <a:lumOff val="50000"/>
                  </a:schemeClr>
                </a:solidFill>
                <a:latin typeface="Microsoft YaHei" panose="020B0503020204020204" pitchFamily="34" charset="-122"/>
                <a:ea typeface="Microsoft YaHei" panose="020B0503020204020204" pitchFamily="34" charset="-122"/>
                <a:cs typeface="Times New Roman" panose="02020603050405020304" pitchFamily="18" charset="0"/>
              </a:rPr>
              <a:t>，</a:t>
            </a:r>
            <a:r>
              <a:rPr lang="en-US" altLang="zh-CN" sz="1100" dirty="0">
                <a:solidFill>
                  <a:schemeClr val="tx1">
                    <a:lumMod val="50000"/>
                    <a:lumOff val="50000"/>
                  </a:schemeClr>
                </a:solidFill>
                <a:effectLst/>
                <a:latin typeface="Microsoft YaHei" panose="020B0503020204020204" pitchFamily="34" charset="-122"/>
                <a:ea typeface="Microsoft YaHei" panose="020B0503020204020204" pitchFamily="34" charset="-122"/>
              </a:rPr>
              <a:t>2019)</a:t>
            </a:r>
            <a:r>
              <a:rPr lang="zh-CN" altLang="zh-CN" sz="1100" dirty="0">
                <a:effectLst/>
                <a:latin typeface="Microsoft YaHei" panose="020B0503020204020204" pitchFamily="34" charset="-122"/>
                <a:ea typeface="Microsoft YaHei" panose="020B0503020204020204" pitchFamily="34" charset="-122"/>
              </a:rPr>
              <a:t> </a:t>
            </a:r>
            <a:endParaRPr lang="zh-CN" altLang="en-US" sz="1100" kern="100"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14" name="图片 13">
            <a:extLst>
              <a:ext uri="{FF2B5EF4-FFF2-40B4-BE49-F238E27FC236}">
                <a16:creationId xmlns:a16="http://schemas.microsoft.com/office/drawing/2014/main" id="{85C1A69A-663D-8C85-AAD7-58D8D12F3D42}"/>
              </a:ext>
            </a:extLst>
          </p:cNvPr>
          <p:cNvPicPr>
            <a:picLocks noChangeAspect="1"/>
          </p:cNvPicPr>
          <p:nvPr/>
        </p:nvPicPr>
        <p:blipFill>
          <a:blip r:embed="rId3"/>
          <a:stretch>
            <a:fillRect/>
          </a:stretch>
        </p:blipFill>
        <p:spPr>
          <a:xfrm>
            <a:off x="121014" y="2726482"/>
            <a:ext cx="2404412" cy="2322906"/>
          </a:xfrm>
          <a:prstGeom prst="rect">
            <a:avLst/>
          </a:prstGeom>
        </p:spPr>
      </p:pic>
      <p:pic>
        <p:nvPicPr>
          <p:cNvPr id="17" name="图片 16">
            <a:extLst>
              <a:ext uri="{FF2B5EF4-FFF2-40B4-BE49-F238E27FC236}">
                <a16:creationId xmlns:a16="http://schemas.microsoft.com/office/drawing/2014/main" id="{9FE79AA6-8C7F-D88E-E01E-C7227ECDD808}"/>
              </a:ext>
            </a:extLst>
          </p:cNvPr>
          <p:cNvPicPr>
            <a:picLocks noChangeAspect="1"/>
          </p:cNvPicPr>
          <p:nvPr/>
        </p:nvPicPr>
        <p:blipFill>
          <a:blip r:embed="rId4"/>
          <a:stretch>
            <a:fillRect/>
          </a:stretch>
        </p:blipFill>
        <p:spPr>
          <a:xfrm>
            <a:off x="2441420" y="2668289"/>
            <a:ext cx="2471166" cy="2406135"/>
          </a:xfrm>
          <a:prstGeom prst="rect">
            <a:avLst/>
          </a:prstGeom>
        </p:spPr>
      </p:pic>
      <p:sp>
        <p:nvSpPr>
          <p:cNvPr id="18" name="矩形 17">
            <a:extLst>
              <a:ext uri="{FF2B5EF4-FFF2-40B4-BE49-F238E27FC236}">
                <a16:creationId xmlns:a16="http://schemas.microsoft.com/office/drawing/2014/main" id="{68CB6DDB-AE59-EDFE-5056-62182588E8B8}"/>
              </a:ext>
            </a:extLst>
          </p:cNvPr>
          <p:cNvSpPr/>
          <p:nvPr/>
        </p:nvSpPr>
        <p:spPr>
          <a:xfrm>
            <a:off x="470262" y="3200250"/>
            <a:ext cx="1920240" cy="483326"/>
          </a:xfrm>
          <a:prstGeom prst="rect">
            <a:avLst/>
          </a:prstGeom>
          <a:solidFill>
            <a:schemeClr val="accent2">
              <a:lumMod val="20000"/>
              <a:lumOff val="80000"/>
              <a:alpha val="1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矩形 18">
            <a:extLst>
              <a:ext uri="{FF2B5EF4-FFF2-40B4-BE49-F238E27FC236}">
                <a16:creationId xmlns:a16="http://schemas.microsoft.com/office/drawing/2014/main" id="{FBB14ED9-9EED-AC63-C3F7-16789158BF2A}"/>
              </a:ext>
            </a:extLst>
          </p:cNvPr>
          <p:cNvSpPr/>
          <p:nvPr/>
        </p:nvSpPr>
        <p:spPr>
          <a:xfrm>
            <a:off x="2841727" y="3009604"/>
            <a:ext cx="1920240" cy="483326"/>
          </a:xfrm>
          <a:prstGeom prst="rect">
            <a:avLst/>
          </a:prstGeom>
          <a:solidFill>
            <a:schemeClr val="accent2">
              <a:lumMod val="20000"/>
              <a:lumOff val="80000"/>
              <a:alpha val="1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20" name="图片 19">
            <a:extLst>
              <a:ext uri="{FF2B5EF4-FFF2-40B4-BE49-F238E27FC236}">
                <a16:creationId xmlns:a16="http://schemas.microsoft.com/office/drawing/2014/main" id="{D8A13C4A-2821-5130-307F-8499D0B2A266}"/>
              </a:ext>
            </a:extLst>
          </p:cNvPr>
          <p:cNvPicPr>
            <a:picLocks noChangeAspect="1"/>
          </p:cNvPicPr>
          <p:nvPr/>
        </p:nvPicPr>
        <p:blipFill>
          <a:blip r:embed="rId5"/>
          <a:stretch>
            <a:fillRect/>
          </a:stretch>
        </p:blipFill>
        <p:spPr>
          <a:xfrm>
            <a:off x="4903997" y="2740964"/>
            <a:ext cx="2217601" cy="2308424"/>
          </a:xfrm>
          <a:prstGeom prst="rect">
            <a:avLst/>
          </a:prstGeom>
        </p:spPr>
      </p:pic>
      <p:sp>
        <p:nvSpPr>
          <p:cNvPr id="21" name="矩形 20">
            <a:extLst>
              <a:ext uri="{FF2B5EF4-FFF2-40B4-BE49-F238E27FC236}">
                <a16:creationId xmlns:a16="http://schemas.microsoft.com/office/drawing/2014/main" id="{1BED30AB-E3F7-7AE9-DEC4-877FA8BE3F22}"/>
              </a:ext>
            </a:extLst>
          </p:cNvPr>
          <p:cNvSpPr/>
          <p:nvPr/>
        </p:nvSpPr>
        <p:spPr>
          <a:xfrm>
            <a:off x="6614999" y="3323606"/>
            <a:ext cx="279943" cy="1561755"/>
          </a:xfrm>
          <a:prstGeom prst="rect">
            <a:avLst/>
          </a:prstGeom>
          <a:solidFill>
            <a:schemeClr val="accent2">
              <a:lumMod val="20000"/>
              <a:lumOff val="80000"/>
              <a:alpha val="1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文本框 25">
            <a:extLst>
              <a:ext uri="{FF2B5EF4-FFF2-40B4-BE49-F238E27FC236}">
                <a16:creationId xmlns:a16="http://schemas.microsoft.com/office/drawing/2014/main" id="{BFB66517-5FF3-AA84-31A6-28364606A45A}"/>
              </a:ext>
            </a:extLst>
          </p:cNvPr>
          <p:cNvSpPr txBox="1"/>
          <p:nvPr/>
        </p:nvSpPr>
        <p:spPr>
          <a:xfrm>
            <a:off x="2821523" y="5153404"/>
            <a:ext cx="6270170" cy="246221"/>
          </a:xfrm>
          <a:prstGeom prst="rect">
            <a:avLst/>
          </a:prstGeom>
          <a:noFill/>
        </p:spPr>
        <p:txBody>
          <a:bodyPr wrap="square">
            <a:spAutoFit/>
          </a:bodyPr>
          <a:lstStyle/>
          <a:p>
            <a:r>
              <a:rPr lang="en-US" altLang="zh-CN" sz="1000" dirty="0">
                <a:solidFill>
                  <a:schemeClr val="tx1">
                    <a:lumMod val="50000"/>
                    <a:lumOff val="50000"/>
                  </a:schemeClr>
                </a:solidFill>
                <a:effectLst/>
                <a:latin typeface="Microsoft YaHei" panose="020B0503020204020204" pitchFamily="34" charset="-122"/>
                <a:ea typeface="Microsoft YaHei" panose="020B0503020204020204" pitchFamily="34" charset="-122"/>
              </a:rPr>
              <a:t>(</a:t>
            </a:r>
            <a:r>
              <a:rPr lang="en-US" altLang="zh-CN" sz="1000" dirty="0" err="1">
                <a:solidFill>
                  <a:schemeClr val="tx1">
                    <a:lumMod val="50000"/>
                    <a:lumOff val="50000"/>
                  </a:schemeClr>
                </a:solidFill>
                <a:effectLst/>
                <a:latin typeface="Microsoft YaHei" panose="020B0503020204020204" pitchFamily="34" charset="-122"/>
                <a:ea typeface="Microsoft YaHei" panose="020B0503020204020204" pitchFamily="34" charset="-122"/>
              </a:rPr>
              <a:t>Febriandirza</a:t>
            </a:r>
            <a:r>
              <a:rPr lang="zh-CN" altLang="zh-CN" sz="1000" dirty="0">
                <a:solidFill>
                  <a:schemeClr val="tx1">
                    <a:lumMod val="50000"/>
                    <a:lumOff val="50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等</a:t>
            </a:r>
            <a:r>
              <a:rPr lang="zh-CN" altLang="en-US" sz="1000" dirty="0">
                <a:solidFill>
                  <a:schemeClr val="tx1">
                    <a:lumMod val="50000"/>
                    <a:lumOff val="50000"/>
                  </a:schemeClr>
                </a:solidFill>
                <a:latin typeface="Microsoft YaHei" panose="020B0503020204020204" pitchFamily="34" charset="-122"/>
                <a:ea typeface="Microsoft YaHei" panose="020B0503020204020204" pitchFamily="34" charset="-122"/>
                <a:cs typeface="Times New Roman" panose="02020603050405020304" pitchFamily="18" charset="0"/>
              </a:rPr>
              <a:t>，</a:t>
            </a:r>
            <a:r>
              <a:rPr lang="en-US" altLang="zh-CN" sz="1000" dirty="0">
                <a:solidFill>
                  <a:schemeClr val="tx1">
                    <a:lumMod val="50000"/>
                    <a:lumOff val="50000"/>
                  </a:schemeClr>
                </a:solidFill>
                <a:effectLst/>
                <a:latin typeface="Microsoft YaHei" panose="020B0503020204020204" pitchFamily="34" charset="-122"/>
                <a:ea typeface="Microsoft YaHei" panose="020B0503020204020204" pitchFamily="34" charset="-122"/>
              </a:rPr>
              <a:t>2017)</a:t>
            </a:r>
            <a:r>
              <a:rPr lang="zh-CN" altLang="zh-CN" sz="1000" dirty="0">
                <a:effectLst/>
                <a:latin typeface="Microsoft YaHei" panose="020B0503020204020204" pitchFamily="34" charset="-122"/>
                <a:ea typeface="Microsoft YaHei" panose="020B0503020204020204" pitchFamily="34" charset="-122"/>
              </a:rPr>
              <a:t> </a:t>
            </a:r>
            <a:endParaRPr lang="zh-CN" altLang="en-US" sz="1000" dirty="0"/>
          </a:p>
        </p:txBody>
      </p:sp>
      <p:pic>
        <p:nvPicPr>
          <p:cNvPr id="27" name="图片 26">
            <a:extLst>
              <a:ext uri="{FF2B5EF4-FFF2-40B4-BE49-F238E27FC236}">
                <a16:creationId xmlns:a16="http://schemas.microsoft.com/office/drawing/2014/main" id="{3ADF78FA-CCEE-AA64-5702-20DF2B9A6B1B}"/>
              </a:ext>
            </a:extLst>
          </p:cNvPr>
          <p:cNvPicPr>
            <a:picLocks noChangeAspect="1"/>
          </p:cNvPicPr>
          <p:nvPr/>
        </p:nvPicPr>
        <p:blipFill>
          <a:blip r:embed="rId6"/>
          <a:stretch>
            <a:fillRect/>
          </a:stretch>
        </p:blipFill>
        <p:spPr>
          <a:xfrm>
            <a:off x="8147662" y="3440662"/>
            <a:ext cx="2849411" cy="1784684"/>
          </a:xfrm>
          <a:prstGeom prst="rect">
            <a:avLst/>
          </a:prstGeom>
        </p:spPr>
      </p:pic>
      <p:sp>
        <p:nvSpPr>
          <p:cNvPr id="29" name="文本框 28">
            <a:extLst>
              <a:ext uri="{FF2B5EF4-FFF2-40B4-BE49-F238E27FC236}">
                <a16:creationId xmlns:a16="http://schemas.microsoft.com/office/drawing/2014/main" id="{1BCD2D12-0B56-DDC7-C53B-47FA97C52CCC}"/>
              </a:ext>
            </a:extLst>
          </p:cNvPr>
          <p:cNvSpPr txBox="1"/>
          <p:nvPr/>
        </p:nvSpPr>
        <p:spPr>
          <a:xfrm>
            <a:off x="261159" y="6258944"/>
            <a:ext cx="12162412" cy="307777"/>
          </a:xfrm>
          <a:prstGeom prst="rect">
            <a:avLst/>
          </a:prstGeom>
          <a:noFill/>
        </p:spPr>
        <p:txBody>
          <a:bodyPr wrap="square">
            <a:spAutoFit/>
          </a:bodyPr>
          <a:lstStyle/>
          <a:p>
            <a:pPr marL="285750" indent="-285750">
              <a:buFont typeface="Arial" panose="020B0604020202020204" pitchFamily="34" charset="0"/>
              <a:buChar char="•"/>
            </a:pP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在金属音乐和巴尔干民间音乐（更激进、</a:t>
            </a:r>
            <a:r>
              <a:rPr lang="zh-CN" altLang="en-US"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速度</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更快）条件下，</a:t>
            </a:r>
            <a:r>
              <a:rPr lang="zh-CN" altLang="zh-CN" sz="14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驾驶速度更快，有更多的驾驶错误、偏离和碰撞</a:t>
            </a:r>
            <a:r>
              <a:rPr lang="zh-CN" altLang="en-US"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a:t>
            </a:r>
            <a:r>
              <a:rPr lang="en" altLang="zh-CN" sz="1100" kern="100" dirty="0">
                <a:solidFill>
                  <a:schemeClr val="tx1">
                    <a:lumMod val="50000"/>
                    <a:lumOff val="50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(Babić</a:t>
            </a:r>
            <a:r>
              <a:rPr lang="zh-CN" altLang="en-US" sz="1100" kern="100" dirty="0">
                <a:solidFill>
                  <a:schemeClr val="tx1">
                    <a:lumMod val="50000"/>
                    <a:lumOff val="50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等，</a:t>
            </a:r>
            <a:r>
              <a:rPr lang="en-US" altLang="zh-CN" sz="1100" kern="100" dirty="0">
                <a:solidFill>
                  <a:schemeClr val="tx1">
                    <a:lumMod val="50000"/>
                    <a:lumOff val="50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2021) </a:t>
            </a:r>
            <a:r>
              <a:rPr lang="zh-CN" altLang="zh-CN" sz="1100" dirty="0">
                <a:solidFill>
                  <a:schemeClr val="tx1">
                    <a:lumMod val="50000"/>
                    <a:lumOff val="50000"/>
                  </a:schemeClr>
                </a:solidFill>
                <a:effectLst/>
                <a:latin typeface="Microsoft YaHei" panose="020B0503020204020204" pitchFamily="34" charset="-122"/>
                <a:ea typeface="Microsoft YaHei" panose="020B0503020204020204" pitchFamily="34" charset="-122"/>
              </a:rPr>
              <a:t> </a:t>
            </a:r>
            <a:endParaRPr lang="zh-CN" altLang="en-US" sz="1100" dirty="0">
              <a:solidFill>
                <a:schemeClr val="tx1">
                  <a:lumMod val="50000"/>
                  <a:lumOff val="50000"/>
                </a:schemeClr>
              </a:solidFill>
              <a:latin typeface="Microsoft YaHei" panose="020B0503020204020204" pitchFamily="34" charset="-122"/>
              <a:ea typeface="Microsoft YaHei" panose="020B0503020204020204" pitchFamily="34" charset="-122"/>
            </a:endParaRPr>
          </a:p>
        </p:txBody>
      </p:sp>
      <p:pic>
        <p:nvPicPr>
          <p:cNvPr id="30" name="图片 29">
            <a:extLst>
              <a:ext uri="{FF2B5EF4-FFF2-40B4-BE49-F238E27FC236}">
                <a16:creationId xmlns:a16="http://schemas.microsoft.com/office/drawing/2014/main" id="{B8D10D1F-209F-24D9-C40C-00E8A2289F8B}"/>
              </a:ext>
            </a:extLst>
          </p:cNvPr>
          <p:cNvPicPr>
            <a:picLocks noChangeAspect="1"/>
          </p:cNvPicPr>
          <p:nvPr/>
        </p:nvPicPr>
        <p:blipFill>
          <a:blip r:embed="rId7"/>
          <a:stretch>
            <a:fillRect/>
          </a:stretch>
        </p:blipFill>
        <p:spPr>
          <a:xfrm>
            <a:off x="8264586" y="1815063"/>
            <a:ext cx="2471166" cy="1548653"/>
          </a:xfrm>
          <a:prstGeom prst="rect">
            <a:avLst/>
          </a:prstGeom>
        </p:spPr>
      </p:pic>
      <p:sp>
        <p:nvSpPr>
          <p:cNvPr id="31" name="文本框 30">
            <a:extLst>
              <a:ext uri="{FF2B5EF4-FFF2-40B4-BE49-F238E27FC236}">
                <a16:creationId xmlns:a16="http://schemas.microsoft.com/office/drawing/2014/main" id="{5E48E15B-DC91-64DA-C58A-72720A1B8545}"/>
              </a:ext>
            </a:extLst>
          </p:cNvPr>
          <p:cNvSpPr txBox="1"/>
          <p:nvPr/>
        </p:nvSpPr>
        <p:spPr>
          <a:xfrm>
            <a:off x="10880948" y="4812814"/>
            <a:ext cx="3679713" cy="261610"/>
          </a:xfrm>
          <a:prstGeom prst="rect">
            <a:avLst/>
          </a:prstGeom>
          <a:noFill/>
        </p:spPr>
        <p:txBody>
          <a:bodyPr wrap="square">
            <a:spAutoFit/>
          </a:bodyPr>
          <a:lstStyle/>
          <a:p>
            <a:r>
              <a:rPr lang="en-US" altLang="zh-CN" sz="1100" dirty="0">
                <a:solidFill>
                  <a:schemeClr val="tx1">
                    <a:lumMod val="50000"/>
                    <a:lumOff val="50000"/>
                  </a:schemeClr>
                </a:solidFill>
                <a:effectLst/>
                <a:latin typeface="Microsoft YaHei" panose="020B0503020204020204" pitchFamily="34" charset="-122"/>
                <a:ea typeface="Microsoft YaHei" panose="020B0503020204020204" pitchFamily="34" charset="-122"/>
              </a:rPr>
              <a:t>(Babić</a:t>
            </a:r>
            <a:r>
              <a:rPr lang="zh-CN" altLang="zh-CN" sz="1100" dirty="0">
                <a:solidFill>
                  <a:schemeClr val="tx1">
                    <a:lumMod val="50000"/>
                    <a:lumOff val="50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等</a:t>
            </a:r>
            <a:r>
              <a:rPr lang="zh-CN" altLang="en-US" sz="1100" dirty="0">
                <a:solidFill>
                  <a:schemeClr val="tx1">
                    <a:lumMod val="50000"/>
                    <a:lumOff val="50000"/>
                  </a:schemeClr>
                </a:solidFill>
                <a:latin typeface="Microsoft YaHei" panose="020B0503020204020204" pitchFamily="34" charset="-122"/>
                <a:ea typeface="Microsoft YaHei" panose="020B0503020204020204" pitchFamily="34" charset="-122"/>
                <a:cs typeface="Times New Roman" panose="02020603050405020304" pitchFamily="18" charset="0"/>
              </a:rPr>
              <a:t>，</a:t>
            </a:r>
            <a:r>
              <a:rPr lang="en-US" altLang="zh-CN" sz="1100" dirty="0">
                <a:solidFill>
                  <a:schemeClr val="tx1">
                    <a:lumMod val="50000"/>
                    <a:lumOff val="50000"/>
                  </a:schemeClr>
                </a:solidFill>
                <a:effectLst/>
                <a:latin typeface="Microsoft YaHei" panose="020B0503020204020204" pitchFamily="34" charset="-122"/>
                <a:ea typeface="Microsoft YaHei" panose="020B0503020204020204" pitchFamily="34" charset="-122"/>
              </a:rPr>
              <a:t>2021)</a:t>
            </a:r>
            <a:r>
              <a:rPr lang="zh-CN" altLang="zh-CN" sz="1100" dirty="0">
                <a:effectLst/>
                <a:latin typeface="Microsoft YaHei" panose="020B0503020204020204" pitchFamily="34" charset="-122"/>
                <a:ea typeface="Microsoft YaHei" panose="020B0503020204020204" pitchFamily="34" charset="-122"/>
              </a:rPr>
              <a:t> </a:t>
            </a:r>
            <a:endParaRPr lang="zh-CN" altLang="en-US" sz="1100" dirty="0"/>
          </a:p>
        </p:txBody>
      </p:sp>
      <p:sp>
        <p:nvSpPr>
          <p:cNvPr id="3" name="文本框 2">
            <a:extLst>
              <a:ext uri="{FF2B5EF4-FFF2-40B4-BE49-F238E27FC236}">
                <a16:creationId xmlns:a16="http://schemas.microsoft.com/office/drawing/2014/main" id="{BC3B1E14-39CB-CB1E-36CF-9DA8435C5FA1}"/>
              </a:ext>
            </a:extLst>
          </p:cNvPr>
          <p:cNvSpPr txBox="1"/>
          <p:nvPr/>
        </p:nvSpPr>
        <p:spPr>
          <a:xfrm>
            <a:off x="339443" y="1228409"/>
            <a:ext cx="11298116" cy="458459"/>
          </a:xfrm>
          <a:prstGeom prst="rect">
            <a:avLst/>
          </a:prstGeom>
          <a:noFill/>
        </p:spPr>
        <p:txBody>
          <a:bodyPr wrap="square" rtlCol="0">
            <a:spAutoFit/>
          </a:bodyPr>
          <a:lstStyle/>
          <a:p>
            <a:pPr marL="285750" indent="-285750">
              <a:lnSpc>
                <a:spcPct val="150000"/>
              </a:lnSpc>
              <a:buFont typeface="Wingdings" pitchFamily="2" charset="2"/>
              <a:buChar char="n"/>
            </a:pPr>
            <a:r>
              <a:rPr lang="zh-CN" altLang="en-US" b="1" kern="100" dirty="0">
                <a:latin typeface="Arial" panose="020B0604020202020204" pitchFamily="34" charset="0"/>
                <a:ea typeface="Microsoft YaHei" panose="020B0503020204020204" pitchFamily="34" charset="-122"/>
                <a:cs typeface="Arial" panose="020B0604020202020204" pitchFamily="34" charset="0"/>
              </a:rPr>
              <a:t>摇滚音乐对驾驶行为的影响</a:t>
            </a:r>
            <a:endParaRPr lang="en-US" altLang="zh-CN" sz="1800" kern="100" dirty="0">
              <a:effectLst/>
              <a:latin typeface="Arial" panose="020B0604020202020204" pitchFamily="34" charset="0"/>
              <a:ea typeface="Microsoft YaHei" panose="020B0503020204020204" pitchFamily="34" charset="-122"/>
              <a:cs typeface="Arial" panose="020B0604020202020204" pitchFamily="34" charset="0"/>
            </a:endParaRPr>
          </a:p>
        </p:txBody>
      </p:sp>
      <p:sp>
        <p:nvSpPr>
          <p:cNvPr id="4" name="文本框 3">
            <a:extLst>
              <a:ext uri="{FF2B5EF4-FFF2-40B4-BE49-F238E27FC236}">
                <a16:creationId xmlns:a16="http://schemas.microsoft.com/office/drawing/2014/main" id="{FDF0053B-9872-E892-6FE0-62D6710FF1B9}"/>
              </a:ext>
            </a:extLst>
          </p:cNvPr>
          <p:cNvSpPr txBox="1"/>
          <p:nvPr/>
        </p:nvSpPr>
        <p:spPr>
          <a:xfrm>
            <a:off x="659506" y="1741841"/>
            <a:ext cx="11298116" cy="458459"/>
          </a:xfrm>
          <a:prstGeom prst="rect">
            <a:avLst/>
          </a:prstGeom>
          <a:noFill/>
        </p:spPr>
        <p:txBody>
          <a:bodyPr wrap="square" rtlCol="0">
            <a:spAutoFit/>
          </a:bodyPr>
          <a:lstStyle/>
          <a:p>
            <a:pPr marL="285750" indent="-285750">
              <a:lnSpc>
                <a:spcPct val="150000"/>
              </a:lnSpc>
              <a:buFont typeface="Wingdings" pitchFamily="2" charset="2"/>
              <a:buChar char="Ø"/>
            </a:pPr>
            <a:r>
              <a:rPr lang="zh-CN" altLang="en-US" kern="100" dirty="0">
                <a:latin typeface="Arial" panose="020B0604020202020204" pitchFamily="34" charset="0"/>
                <a:ea typeface="Microsoft YaHei" panose="020B0503020204020204" pitchFamily="34" charset="-122"/>
                <a:cs typeface="Arial" panose="020B0604020202020204" pitchFamily="34" charset="0"/>
              </a:rPr>
              <a:t>不利</a:t>
            </a:r>
            <a:endParaRPr lang="en-US" altLang="zh-CN" sz="1800" kern="100" dirty="0">
              <a:effectLst/>
              <a:latin typeface="Arial" panose="020B0604020202020204" pitchFamily="34" charset="0"/>
              <a:ea typeface="Microsoft YaHei" panose="020B0503020204020204" pitchFamily="34" charset="-122"/>
              <a:cs typeface="Arial" panose="020B0604020202020204" pitchFamily="34" charset="0"/>
            </a:endParaRPr>
          </a:p>
        </p:txBody>
      </p:sp>
    </p:spTree>
    <p:extLst>
      <p:ext uri="{BB962C8B-B14F-4D97-AF65-F5344CB8AC3E}">
        <p14:creationId xmlns:p14="http://schemas.microsoft.com/office/powerpoint/2010/main" val="1281770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6BE3E2-FB86-AF3F-CC6E-006B10F7803F}"/>
              </a:ext>
            </a:extLst>
          </p:cNvPr>
          <p:cNvSpPr>
            <a:spLocks noGrp="1"/>
          </p:cNvSpPr>
          <p:nvPr>
            <p:ph type="title"/>
          </p:nvPr>
        </p:nvSpPr>
        <p:spPr/>
        <p:txBody>
          <a:bodyPr/>
          <a:lstStyle/>
          <a:p>
            <a:r>
              <a:rPr kumimoji="1" lang="zh-CN" altLang="en-US" dirty="0"/>
              <a:t>文献综述  </a:t>
            </a:r>
            <a:r>
              <a:rPr kumimoji="1" lang="zh-CN" altLang="en-US" sz="2000" dirty="0"/>
              <a:t>音乐流派对驾驶行为的影响</a:t>
            </a:r>
          </a:p>
        </p:txBody>
      </p:sp>
      <p:sp>
        <p:nvSpPr>
          <p:cNvPr id="13" name="文本框 12">
            <a:extLst>
              <a:ext uri="{FF2B5EF4-FFF2-40B4-BE49-F238E27FC236}">
                <a16:creationId xmlns:a16="http://schemas.microsoft.com/office/drawing/2014/main" id="{8B61F4EF-365D-91C1-8FAA-E429E8DA1ADE}"/>
              </a:ext>
            </a:extLst>
          </p:cNvPr>
          <p:cNvSpPr txBox="1"/>
          <p:nvPr/>
        </p:nvSpPr>
        <p:spPr>
          <a:xfrm>
            <a:off x="608344" y="3996602"/>
            <a:ext cx="11189241" cy="78746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6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流行音乐</a:t>
            </a:r>
            <a:r>
              <a:rPr lang="en-US" altLang="zh-CN" sz="1600" b="1" kern="100" dirty="0" err="1">
                <a:effectLst/>
                <a:latin typeface="Microsoft YaHei" panose="020B0503020204020204" pitchFamily="34" charset="-122"/>
                <a:ea typeface="Microsoft YaHei" panose="020B0503020204020204" pitchFamily="34" charset="-122"/>
                <a:cs typeface="Times New Roman" panose="02020603050405020304" pitchFamily="18" charset="0"/>
              </a:rPr>
              <a:t>v.s</a:t>
            </a:r>
            <a:r>
              <a:rPr lang="en-US" altLang="zh-CN" sz="16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16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古典音乐，</a:t>
            </a:r>
            <a:r>
              <a:rPr lang="zh-CN" altLang="en-US" sz="1600" kern="100" dirty="0">
                <a:latin typeface="Microsoft YaHei" panose="020B0503020204020204" pitchFamily="34" charset="-122"/>
                <a:ea typeface="Microsoft YaHei" panose="020B0503020204020204" pitchFamily="34" charset="-122"/>
                <a:cs typeface="Times New Roman" panose="02020603050405020304" pitchFamily="18" charset="0"/>
              </a:rPr>
              <a:t>流行</a:t>
            </a:r>
            <a:r>
              <a:rPr lang="zh-CN" altLang="en-US"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更能让驾驶员集中（瞳孔直径更大），保持更稳定的驾驶性能（速度标准差更小），但对前方车辆的速度和间隔的调整可能不够灵活（间隔时间更短）。</a:t>
            </a:r>
            <a:r>
              <a:rPr lang="en-US" altLang="zh-CN" sz="1600" dirty="0">
                <a:solidFill>
                  <a:schemeClr val="tx1">
                    <a:lumMod val="50000"/>
                    <a:lumOff val="50000"/>
                  </a:schemeClr>
                </a:solidFill>
                <a:effectLst/>
                <a:latin typeface="Microsoft YaHei" panose="020B0503020204020204" pitchFamily="34" charset="-122"/>
                <a:ea typeface="Microsoft YaHei" panose="020B0503020204020204" pitchFamily="34" charset="-122"/>
              </a:rPr>
              <a:t> </a:t>
            </a:r>
            <a:r>
              <a:rPr lang="en-US" altLang="zh-CN" sz="1200" dirty="0">
                <a:solidFill>
                  <a:schemeClr val="tx1">
                    <a:lumMod val="50000"/>
                    <a:lumOff val="50000"/>
                  </a:schemeClr>
                </a:solidFill>
                <a:effectLst/>
                <a:latin typeface="Microsoft YaHei" panose="020B0503020204020204" pitchFamily="34" charset="-122"/>
                <a:ea typeface="Microsoft YaHei" panose="020B0503020204020204" pitchFamily="34" charset="-122"/>
              </a:rPr>
              <a:t>(</a:t>
            </a:r>
            <a:r>
              <a:rPr lang="en-US" altLang="zh-CN" sz="1200" dirty="0" err="1">
                <a:solidFill>
                  <a:schemeClr val="tx1">
                    <a:lumMod val="50000"/>
                    <a:lumOff val="50000"/>
                  </a:schemeClr>
                </a:solidFill>
                <a:effectLst/>
                <a:latin typeface="Microsoft YaHei" panose="020B0503020204020204" pitchFamily="34" charset="-122"/>
                <a:ea typeface="Microsoft YaHei" panose="020B0503020204020204" pitchFamily="34" charset="-122"/>
              </a:rPr>
              <a:t>Niu</a:t>
            </a:r>
            <a:r>
              <a:rPr lang="zh-CN" altLang="zh-CN" sz="1200" dirty="0">
                <a:solidFill>
                  <a:schemeClr val="tx1">
                    <a:lumMod val="50000"/>
                    <a:lumOff val="50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等</a:t>
            </a:r>
            <a:r>
              <a:rPr lang="zh-CN" altLang="en-US" sz="1200" dirty="0">
                <a:solidFill>
                  <a:schemeClr val="tx1">
                    <a:lumMod val="50000"/>
                    <a:lumOff val="50000"/>
                  </a:schemeClr>
                </a:solidFill>
                <a:latin typeface="Microsoft YaHei" panose="020B0503020204020204" pitchFamily="34" charset="-122"/>
                <a:ea typeface="Microsoft YaHei" panose="020B0503020204020204" pitchFamily="34" charset="-122"/>
                <a:cs typeface="Times New Roman" panose="02020603050405020304" pitchFamily="18" charset="0"/>
              </a:rPr>
              <a:t>，</a:t>
            </a:r>
            <a:r>
              <a:rPr lang="en-US" altLang="zh-CN" sz="1200" dirty="0">
                <a:solidFill>
                  <a:schemeClr val="tx1">
                    <a:lumMod val="50000"/>
                    <a:lumOff val="50000"/>
                  </a:schemeClr>
                </a:solidFill>
                <a:effectLst/>
                <a:latin typeface="Microsoft YaHei" panose="020B0503020204020204" pitchFamily="34" charset="-122"/>
                <a:ea typeface="Microsoft YaHei" panose="020B0503020204020204" pitchFamily="34" charset="-122"/>
              </a:rPr>
              <a:t>2020)</a:t>
            </a:r>
            <a:r>
              <a:rPr lang="zh-CN" altLang="zh-CN" sz="1200" dirty="0">
                <a:effectLst/>
                <a:latin typeface="Microsoft YaHei" panose="020B0503020204020204" pitchFamily="34" charset="-122"/>
                <a:ea typeface="Microsoft YaHei" panose="020B0503020204020204" pitchFamily="34" charset="-122"/>
              </a:rPr>
              <a:t> </a:t>
            </a:r>
            <a:endParaRPr lang="zh-CN" altLang="en-US" sz="1200" dirty="0">
              <a:latin typeface="Microsoft YaHei" panose="020B0503020204020204" pitchFamily="34" charset="-122"/>
              <a:ea typeface="Microsoft YaHei" panose="020B0503020204020204" pitchFamily="34" charset="-122"/>
            </a:endParaRPr>
          </a:p>
        </p:txBody>
      </p:sp>
      <p:sp>
        <p:nvSpPr>
          <p:cNvPr id="15" name="文本框 14">
            <a:extLst>
              <a:ext uri="{FF2B5EF4-FFF2-40B4-BE49-F238E27FC236}">
                <a16:creationId xmlns:a16="http://schemas.microsoft.com/office/drawing/2014/main" id="{C99FEBA1-9301-AE50-A742-BDA47EEA1A8F}"/>
              </a:ext>
            </a:extLst>
          </p:cNvPr>
          <p:cNvSpPr txBox="1"/>
          <p:nvPr/>
        </p:nvSpPr>
        <p:spPr>
          <a:xfrm>
            <a:off x="608345" y="5559269"/>
            <a:ext cx="11189242" cy="418128"/>
          </a:xfrm>
          <a:prstGeom prst="rect">
            <a:avLst/>
          </a:prstGeom>
          <a:noFill/>
        </p:spPr>
        <p:txBody>
          <a:bodyPr wrap="square">
            <a:spAutoFit/>
          </a:bodyPr>
          <a:lstStyle/>
          <a:p>
            <a:pPr marL="285750" indent="-285750">
              <a:lnSpc>
                <a:spcPct val="150000"/>
              </a:lnSpc>
              <a:buFont typeface="Wingdings" pitchFamily="2" charset="2"/>
              <a:buChar char="Ø"/>
            </a:pPr>
            <a:r>
              <a:rPr lang="zh-CN" altLang="en-US" sz="1600" kern="100" dirty="0">
                <a:latin typeface="Microsoft YaHei" panose="020B0503020204020204" pitchFamily="34" charset="-122"/>
                <a:ea typeface="Microsoft YaHei" panose="020B0503020204020204" pitchFamily="34" charset="-122"/>
                <a:cs typeface="Times New Roman" panose="02020603050405020304" pitchFamily="18" charset="0"/>
              </a:rPr>
              <a:t>研究结果表明，脑电图数据和 </a:t>
            </a:r>
            <a:r>
              <a:rPr lang="en" altLang="zh-CN" sz="1600" kern="100" dirty="0">
                <a:latin typeface="Microsoft YaHei" panose="020B0503020204020204" pitchFamily="34" charset="-122"/>
                <a:ea typeface="Microsoft YaHei" panose="020B0503020204020204" pitchFamily="34" charset="-122"/>
                <a:cs typeface="Times New Roman" panose="02020603050405020304" pitchFamily="18" charset="0"/>
              </a:rPr>
              <a:t>VAS</a:t>
            </a:r>
            <a:r>
              <a:rPr lang="zh-CN" altLang="en" sz="1600" kern="100" dirty="0">
                <a:latin typeface="Microsoft YaHei" panose="020B0503020204020204" pitchFamily="34" charset="-122"/>
                <a:ea typeface="Microsoft YaHei" panose="020B0503020204020204" pitchFamily="34" charset="-122"/>
                <a:cs typeface="Times New Roman" panose="02020603050405020304" pitchFamily="18" charset="0"/>
              </a:rPr>
              <a:t>主观</a:t>
            </a:r>
            <a:r>
              <a:rPr lang="zh-CN" altLang="en-US" sz="1600" kern="100" dirty="0">
                <a:latin typeface="Microsoft YaHei" panose="020B0503020204020204" pitchFamily="34" charset="-122"/>
                <a:ea typeface="Microsoft YaHei" panose="020B0503020204020204" pitchFamily="34" charset="-122"/>
                <a:cs typeface="Times New Roman" panose="02020603050405020304" pitchFamily="18" charset="0"/>
              </a:rPr>
              <a:t>数据显示，听</a:t>
            </a:r>
            <a:r>
              <a:rPr lang="zh-CN" altLang="en-US" sz="1600" b="1" kern="100" dirty="0">
                <a:latin typeface="Microsoft YaHei" panose="020B0503020204020204" pitchFamily="34" charset="-122"/>
                <a:ea typeface="Microsoft YaHei" panose="020B0503020204020204" pitchFamily="34" charset="-122"/>
                <a:cs typeface="Times New Roman" panose="02020603050405020304" pitchFamily="18" charset="0"/>
              </a:rPr>
              <a:t>流行音乐</a:t>
            </a:r>
            <a:r>
              <a:rPr lang="zh-CN" altLang="en-US" sz="1600" kern="100" dirty="0">
                <a:latin typeface="Microsoft YaHei" panose="020B0503020204020204" pitchFamily="34" charset="-122"/>
                <a:ea typeface="Microsoft YaHei" panose="020B0503020204020204" pitchFamily="34" charset="-122"/>
                <a:cs typeface="Times New Roman" panose="02020603050405020304" pitchFamily="18" charset="0"/>
              </a:rPr>
              <a:t>缓解驾驶疲劳。 </a:t>
            </a:r>
            <a:r>
              <a:rPr lang="en-US" altLang="zh-CN" sz="1200" dirty="0">
                <a:solidFill>
                  <a:schemeClr val="tx1">
                    <a:lumMod val="50000"/>
                    <a:lumOff val="50000"/>
                  </a:schemeClr>
                </a:solidFill>
                <a:effectLst/>
                <a:latin typeface="Microsoft YaHei" panose="020B0503020204020204" pitchFamily="34" charset="-122"/>
                <a:ea typeface="Microsoft YaHei" panose="020B0503020204020204" pitchFamily="34" charset="-122"/>
              </a:rPr>
              <a:t>(Amirah </a:t>
            </a:r>
            <a:r>
              <a:rPr lang="zh-CN" altLang="en-US" sz="1200" dirty="0">
                <a:solidFill>
                  <a:schemeClr val="tx1">
                    <a:lumMod val="50000"/>
                    <a:lumOff val="50000"/>
                  </a:schemeClr>
                </a:solidFill>
                <a:effectLst/>
                <a:latin typeface="Microsoft YaHei" panose="020B0503020204020204" pitchFamily="34" charset="-122"/>
                <a:ea typeface="Microsoft YaHei" panose="020B0503020204020204" pitchFamily="34" charset="-122"/>
              </a:rPr>
              <a:t>和 </a:t>
            </a:r>
            <a:r>
              <a:rPr lang="en-US" altLang="zh-CN" sz="1200" dirty="0" err="1">
                <a:solidFill>
                  <a:schemeClr val="tx1">
                    <a:lumMod val="50000"/>
                    <a:lumOff val="50000"/>
                  </a:schemeClr>
                </a:solidFill>
                <a:effectLst/>
                <a:latin typeface="Microsoft YaHei" panose="020B0503020204020204" pitchFamily="34" charset="-122"/>
                <a:ea typeface="Microsoft YaHei" panose="020B0503020204020204" pitchFamily="34" charset="-122"/>
              </a:rPr>
              <a:t>Puspasari</a:t>
            </a:r>
            <a:r>
              <a:rPr lang="zh-CN" altLang="en-US" sz="1200" dirty="0">
                <a:solidFill>
                  <a:schemeClr val="tx1">
                    <a:lumMod val="50000"/>
                    <a:lumOff val="50000"/>
                  </a:schemeClr>
                </a:solidFill>
                <a:effectLst/>
                <a:latin typeface="Microsoft YaHei" panose="020B0503020204020204" pitchFamily="34" charset="-122"/>
                <a:ea typeface="Microsoft YaHei" panose="020B0503020204020204" pitchFamily="34" charset="-122"/>
              </a:rPr>
              <a:t>等，</a:t>
            </a:r>
            <a:r>
              <a:rPr lang="en-US" altLang="zh-CN" sz="1200" dirty="0">
                <a:solidFill>
                  <a:schemeClr val="tx1">
                    <a:lumMod val="50000"/>
                    <a:lumOff val="50000"/>
                  </a:schemeClr>
                </a:solidFill>
                <a:effectLst/>
                <a:latin typeface="Microsoft YaHei" panose="020B0503020204020204" pitchFamily="34" charset="-122"/>
                <a:ea typeface="Microsoft YaHei" panose="020B0503020204020204" pitchFamily="34" charset="-122"/>
              </a:rPr>
              <a:t> 2019))</a:t>
            </a:r>
            <a:r>
              <a:rPr lang="zh-CN" altLang="zh-CN" sz="1200" dirty="0">
                <a:effectLst/>
                <a:latin typeface="Microsoft YaHei" panose="020B0503020204020204" pitchFamily="34" charset="-122"/>
                <a:ea typeface="Microsoft YaHei" panose="020B0503020204020204" pitchFamily="34" charset="-122"/>
              </a:rPr>
              <a:t> </a:t>
            </a:r>
            <a:endParaRPr lang="zh-CN" altLang="en-US" sz="1200" kern="1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6" name="文本框 15">
            <a:extLst>
              <a:ext uri="{FF2B5EF4-FFF2-40B4-BE49-F238E27FC236}">
                <a16:creationId xmlns:a16="http://schemas.microsoft.com/office/drawing/2014/main" id="{299C8D28-1A84-DB40-FD2E-B6345D18A4DD}"/>
              </a:ext>
            </a:extLst>
          </p:cNvPr>
          <p:cNvSpPr txBox="1"/>
          <p:nvPr/>
        </p:nvSpPr>
        <p:spPr>
          <a:xfrm>
            <a:off x="285006" y="1108949"/>
            <a:ext cx="11298116" cy="458459"/>
          </a:xfrm>
          <a:prstGeom prst="rect">
            <a:avLst/>
          </a:prstGeom>
          <a:noFill/>
        </p:spPr>
        <p:txBody>
          <a:bodyPr wrap="square" rtlCol="0">
            <a:spAutoFit/>
          </a:bodyPr>
          <a:lstStyle/>
          <a:p>
            <a:pPr marL="285750" indent="-285750">
              <a:lnSpc>
                <a:spcPct val="150000"/>
              </a:lnSpc>
              <a:buFont typeface="Wingdings" pitchFamily="2" charset="2"/>
              <a:buChar char="n"/>
            </a:pPr>
            <a:r>
              <a:rPr lang="zh-CN" altLang="en-US" b="1" kern="100" dirty="0">
                <a:latin typeface="Arial" panose="020B0604020202020204" pitchFamily="34" charset="0"/>
                <a:ea typeface="Microsoft YaHei" panose="020B0503020204020204" pitchFamily="34" charset="-122"/>
                <a:cs typeface="Arial" panose="020B0604020202020204" pitchFamily="34" charset="0"/>
              </a:rPr>
              <a:t>流行音乐对驾驶行为的影响</a:t>
            </a:r>
            <a:endParaRPr lang="en-US" altLang="zh-CN" sz="1800" kern="100" dirty="0">
              <a:effectLst/>
              <a:latin typeface="Arial" panose="020B0604020202020204" pitchFamily="34" charset="0"/>
              <a:ea typeface="Microsoft YaHei" panose="020B0503020204020204" pitchFamily="34" charset="-122"/>
              <a:cs typeface="Arial" panose="020B0604020202020204" pitchFamily="34" charset="0"/>
            </a:endParaRPr>
          </a:p>
        </p:txBody>
      </p:sp>
      <p:pic>
        <p:nvPicPr>
          <p:cNvPr id="3074" name="Picture 2">
            <a:extLst>
              <a:ext uri="{FF2B5EF4-FFF2-40B4-BE49-F238E27FC236}">
                <a16:creationId xmlns:a16="http://schemas.microsoft.com/office/drawing/2014/main" id="{83B9A96C-0339-DC1D-7095-C34B5D4F3DA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1459"/>
          <a:stretch/>
        </p:blipFill>
        <p:spPr bwMode="auto">
          <a:xfrm>
            <a:off x="1365429" y="1982211"/>
            <a:ext cx="2562665" cy="176076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579387C2-0350-1F2D-BCD2-551B9B49872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731" t="-6929" r="-2731" b="6929"/>
          <a:stretch/>
        </p:blipFill>
        <p:spPr bwMode="auto">
          <a:xfrm>
            <a:off x="4046020" y="1841675"/>
            <a:ext cx="2943917" cy="1908708"/>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a:extLst>
              <a:ext uri="{FF2B5EF4-FFF2-40B4-BE49-F238E27FC236}">
                <a16:creationId xmlns:a16="http://schemas.microsoft.com/office/drawing/2014/main" id="{0A49624D-1045-FA0B-92C1-6F4C9292FD99}"/>
              </a:ext>
            </a:extLst>
          </p:cNvPr>
          <p:cNvPicPr>
            <a:picLocks noChangeAspect="1"/>
          </p:cNvPicPr>
          <p:nvPr/>
        </p:nvPicPr>
        <p:blipFill>
          <a:blip r:embed="rId5"/>
          <a:stretch>
            <a:fillRect/>
          </a:stretch>
        </p:blipFill>
        <p:spPr>
          <a:xfrm>
            <a:off x="6989937" y="2019632"/>
            <a:ext cx="2943917" cy="1760760"/>
          </a:xfrm>
          <a:prstGeom prst="rect">
            <a:avLst/>
          </a:prstGeom>
        </p:spPr>
      </p:pic>
      <p:sp>
        <p:nvSpPr>
          <p:cNvPr id="12" name="矩形 11">
            <a:extLst>
              <a:ext uri="{FF2B5EF4-FFF2-40B4-BE49-F238E27FC236}">
                <a16:creationId xmlns:a16="http://schemas.microsoft.com/office/drawing/2014/main" id="{AB49DE77-9AF9-A172-3320-DAD1EEF42AB8}"/>
              </a:ext>
            </a:extLst>
          </p:cNvPr>
          <p:cNvSpPr/>
          <p:nvPr/>
        </p:nvSpPr>
        <p:spPr>
          <a:xfrm>
            <a:off x="1808292" y="2276443"/>
            <a:ext cx="278675" cy="969578"/>
          </a:xfrm>
          <a:prstGeom prst="rect">
            <a:avLst/>
          </a:prstGeom>
          <a:solidFill>
            <a:schemeClr val="accent2">
              <a:lumMod val="20000"/>
              <a:lumOff val="80000"/>
              <a:alpha val="1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矩形 13">
            <a:extLst>
              <a:ext uri="{FF2B5EF4-FFF2-40B4-BE49-F238E27FC236}">
                <a16:creationId xmlns:a16="http://schemas.microsoft.com/office/drawing/2014/main" id="{64DE04C6-E101-018E-E31A-06C8CF891E9D}"/>
              </a:ext>
            </a:extLst>
          </p:cNvPr>
          <p:cNvSpPr/>
          <p:nvPr/>
        </p:nvSpPr>
        <p:spPr>
          <a:xfrm>
            <a:off x="7631825" y="2313864"/>
            <a:ext cx="278675" cy="969578"/>
          </a:xfrm>
          <a:prstGeom prst="rect">
            <a:avLst/>
          </a:prstGeom>
          <a:solidFill>
            <a:schemeClr val="accent2">
              <a:lumMod val="20000"/>
              <a:lumOff val="80000"/>
              <a:alpha val="1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矩形 18">
            <a:extLst>
              <a:ext uri="{FF2B5EF4-FFF2-40B4-BE49-F238E27FC236}">
                <a16:creationId xmlns:a16="http://schemas.microsoft.com/office/drawing/2014/main" id="{0BD59DF5-0DE6-3211-8B1C-409D074D6972}"/>
              </a:ext>
            </a:extLst>
          </p:cNvPr>
          <p:cNvSpPr/>
          <p:nvPr/>
        </p:nvSpPr>
        <p:spPr>
          <a:xfrm>
            <a:off x="8373846" y="2245825"/>
            <a:ext cx="278675" cy="969578"/>
          </a:xfrm>
          <a:prstGeom prst="rect">
            <a:avLst/>
          </a:prstGeom>
          <a:solidFill>
            <a:schemeClr val="accent2">
              <a:lumMod val="20000"/>
              <a:lumOff val="80000"/>
              <a:alpha val="1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矩形 19">
            <a:extLst>
              <a:ext uri="{FF2B5EF4-FFF2-40B4-BE49-F238E27FC236}">
                <a16:creationId xmlns:a16="http://schemas.microsoft.com/office/drawing/2014/main" id="{D72AB747-34EB-59EB-19B9-AB6EAC553598}"/>
              </a:ext>
            </a:extLst>
          </p:cNvPr>
          <p:cNvSpPr/>
          <p:nvPr/>
        </p:nvSpPr>
        <p:spPr>
          <a:xfrm>
            <a:off x="9064473" y="2302919"/>
            <a:ext cx="278675" cy="969578"/>
          </a:xfrm>
          <a:prstGeom prst="rect">
            <a:avLst/>
          </a:prstGeom>
          <a:solidFill>
            <a:schemeClr val="accent2">
              <a:lumMod val="20000"/>
              <a:lumOff val="80000"/>
              <a:alpha val="1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矩形 20">
            <a:extLst>
              <a:ext uri="{FF2B5EF4-FFF2-40B4-BE49-F238E27FC236}">
                <a16:creationId xmlns:a16="http://schemas.microsoft.com/office/drawing/2014/main" id="{A68DFDAF-BA89-CAAA-CFAB-7964D7DB5256}"/>
              </a:ext>
            </a:extLst>
          </p:cNvPr>
          <p:cNvSpPr/>
          <p:nvPr/>
        </p:nvSpPr>
        <p:spPr>
          <a:xfrm>
            <a:off x="4736647" y="2369561"/>
            <a:ext cx="278675" cy="969578"/>
          </a:xfrm>
          <a:prstGeom prst="rect">
            <a:avLst/>
          </a:prstGeom>
          <a:solidFill>
            <a:schemeClr val="accent2">
              <a:lumMod val="20000"/>
              <a:lumOff val="80000"/>
              <a:alpha val="1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497819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95FB27-A659-62B2-35B7-C24F35B1AED7}"/>
              </a:ext>
            </a:extLst>
          </p:cNvPr>
          <p:cNvSpPr>
            <a:spLocks noGrp="1"/>
          </p:cNvSpPr>
          <p:nvPr>
            <p:ph type="title"/>
          </p:nvPr>
        </p:nvSpPr>
        <p:spPr/>
        <p:txBody>
          <a:bodyPr/>
          <a:lstStyle/>
          <a:p>
            <a:r>
              <a:rPr kumimoji="1" lang="zh-CN" altLang="en-US" dirty="0"/>
              <a:t>文献综述  </a:t>
            </a:r>
            <a:r>
              <a:rPr kumimoji="1" lang="zh-CN" altLang="en-US" sz="2000" dirty="0"/>
              <a:t>音乐流派对认知的影响</a:t>
            </a:r>
          </a:p>
        </p:txBody>
      </p:sp>
      <p:sp>
        <p:nvSpPr>
          <p:cNvPr id="3" name="内容占位符 2">
            <a:extLst>
              <a:ext uri="{FF2B5EF4-FFF2-40B4-BE49-F238E27FC236}">
                <a16:creationId xmlns:a16="http://schemas.microsoft.com/office/drawing/2014/main" id="{E53CD713-042D-D0B9-3D02-6C0B3FA4DDB8}"/>
              </a:ext>
            </a:extLst>
          </p:cNvPr>
          <p:cNvSpPr>
            <a:spLocks noGrp="1"/>
          </p:cNvSpPr>
          <p:nvPr>
            <p:ph idx="1"/>
          </p:nvPr>
        </p:nvSpPr>
        <p:spPr>
          <a:xfrm>
            <a:off x="344036" y="2492064"/>
            <a:ext cx="10515600" cy="4351338"/>
          </a:xfrm>
        </p:spPr>
        <p:txBody>
          <a:bodyPr/>
          <a:lstStyle/>
          <a:p>
            <a:pPr>
              <a:buFont typeface="Wingdings" pitchFamily="2" charset="2"/>
              <a:buChar char="n"/>
            </a:pPr>
            <a:r>
              <a:rPr kumimoji="1" lang="zh-CN" altLang="en-US" b="1" dirty="0"/>
              <a:t>音乐流派对记忆、空间处理速度、注意反应的影响</a:t>
            </a:r>
            <a:endParaRPr kumimoji="1" lang="en-US" altLang="zh-CN" b="1" dirty="0"/>
          </a:p>
          <a:p>
            <a:pPr marL="0" indent="0">
              <a:buNone/>
            </a:pPr>
            <a:endParaRPr kumimoji="1" lang="zh-CN" altLang="en-US" dirty="0"/>
          </a:p>
        </p:txBody>
      </p:sp>
      <p:pic>
        <p:nvPicPr>
          <p:cNvPr id="4" name="图片 3">
            <a:extLst>
              <a:ext uri="{FF2B5EF4-FFF2-40B4-BE49-F238E27FC236}">
                <a16:creationId xmlns:a16="http://schemas.microsoft.com/office/drawing/2014/main" id="{41D32E0D-A577-CB3E-AD1F-A1CDA083E957}"/>
              </a:ext>
            </a:extLst>
          </p:cNvPr>
          <p:cNvPicPr>
            <a:picLocks noChangeAspect="1"/>
          </p:cNvPicPr>
          <p:nvPr/>
        </p:nvPicPr>
        <p:blipFill>
          <a:blip r:embed="rId3"/>
          <a:stretch>
            <a:fillRect/>
          </a:stretch>
        </p:blipFill>
        <p:spPr>
          <a:xfrm>
            <a:off x="588768" y="3232282"/>
            <a:ext cx="2834394" cy="2083109"/>
          </a:xfrm>
          <a:prstGeom prst="rect">
            <a:avLst/>
          </a:prstGeom>
        </p:spPr>
      </p:pic>
      <p:sp>
        <p:nvSpPr>
          <p:cNvPr id="6" name="文本框 5">
            <a:extLst>
              <a:ext uri="{FF2B5EF4-FFF2-40B4-BE49-F238E27FC236}">
                <a16:creationId xmlns:a16="http://schemas.microsoft.com/office/drawing/2014/main" id="{E2F2A172-839C-A97D-B8D5-270849E5FBB4}"/>
              </a:ext>
            </a:extLst>
          </p:cNvPr>
          <p:cNvSpPr txBox="1"/>
          <p:nvPr/>
        </p:nvSpPr>
        <p:spPr>
          <a:xfrm>
            <a:off x="165812" y="5341211"/>
            <a:ext cx="3712604" cy="700576"/>
          </a:xfrm>
          <a:prstGeom prst="rect">
            <a:avLst/>
          </a:prstGeom>
          <a:noFill/>
        </p:spPr>
        <p:txBody>
          <a:bodyPr wrap="square">
            <a:spAutoFit/>
          </a:bodyPr>
          <a:lstStyle/>
          <a:p>
            <a:pPr marL="285750" indent="-144000">
              <a:lnSpc>
                <a:spcPct val="150000"/>
              </a:lnSpc>
              <a:buFont typeface="Arial" panose="020B0604020202020204" pitchFamily="34" charset="0"/>
              <a:buChar char="•"/>
            </a:pP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在</a:t>
            </a:r>
            <a:r>
              <a:rPr lang="zh-CN" altLang="en-US" sz="1400" b="1" kern="100" dirty="0">
                <a:latin typeface="Microsoft YaHei" panose="020B0503020204020204" pitchFamily="34" charset="-122"/>
                <a:ea typeface="Microsoft YaHei" panose="020B0503020204020204" pitchFamily="34" charset="-122"/>
                <a:cs typeface="Times New Roman" panose="02020603050405020304" pitchFamily="18" charset="0"/>
              </a:rPr>
              <a:t>说唱</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音乐下被试记忆任务</a:t>
            </a:r>
            <a:r>
              <a:rPr lang="zh-CN" altLang="zh-CN" sz="14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表现最好</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14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古典</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音乐组</a:t>
            </a:r>
            <a:r>
              <a:rPr lang="zh-CN" altLang="zh-CN" sz="14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表现最差</a:t>
            </a:r>
            <a:r>
              <a:rPr lang="zh-CN" altLang="en-US" sz="1200" kern="100" dirty="0">
                <a:solidFill>
                  <a:schemeClr val="tx1">
                    <a:lumMod val="50000"/>
                    <a:lumOff val="50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 </a:t>
            </a:r>
            <a:r>
              <a:rPr lang="en-US" altLang="zh-CN" sz="1200" kern="1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a:t>
            </a:r>
            <a:r>
              <a:rPr lang="en-US" altLang="zh-CN" sz="1200" dirty="0" err="1">
                <a:solidFill>
                  <a:schemeClr val="tx1">
                    <a:lumMod val="50000"/>
                    <a:lumOff val="50000"/>
                  </a:schemeClr>
                </a:solidFill>
                <a:effectLst/>
                <a:latin typeface="Arial" panose="020B0604020202020204" pitchFamily="34" charset="0"/>
                <a:ea typeface="宋体" panose="02010600030101010101" pitchFamily="2" charset="-122"/>
                <a:cs typeface="Arial" panose="020B0604020202020204" pitchFamily="34" charset="0"/>
              </a:rPr>
              <a:t>Bugter</a:t>
            </a:r>
            <a:r>
              <a:rPr lang="en-US" altLang="zh-CN" sz="1200" dirty="0">
                <a:solidFill>
                  <a:schemeClr val="tx1">
                    <a:lumMod val="50000"/>
                    <a:lumOff val="50000"/>
                  </a:schemeClr>
                </a:solidFill>
                <a:effectLst/>
                <a:latin typeface="Arial" panose="020B0604020202020204" pitchFamily="34" charset="0"/>
                <a:ea typeface="宋体" panose="02010600030101010101" pitchFamily="2" charset="-122"/>
                <a:cs typeface="Arial" panose="020B0604020202020204" pitchFamily="34" charset="0"/>
              </a:rPr>
              <a:t> </a:t>
            </a:r>
            <a:r>
              <a:rPr lang="en-US" altLang="zh-CN" sz="1200" dirty="0">
                <a:solidFill>
                  <a:schemeClr val="tx1">
                    <a:lumMod val="50000"/>
                    <a:lumOff val="50000"/>
                  </a:schemeClr>
                </a:solidFill>
                <a:latin typeface="Arial" panose="020B0604020202020204" pitchFamily="34" charset="0"/>
                <a:ea typeface="宋体" panose="02010600030101010101" pitchFamily="2" charset="-122"/>
                <a:cs typeface="Arial" panose="020B0604020202020204" pitchFamily="34" charset="0"/>
              </a:rPr>
              <a:t>&amp;</a:t>
            </a:r>
            <a:r>
              <a:rPr lang="en-US" altLang="zh-CN" sz="1200" dirty="0">
                <a:solidFill>
                  <a:schemeClr val="tx1">
                    <a:lumMod val="50000"/>
                    <a:lumOff val="50000"/>
                  </a:schemeClr>
                </a:solidFill>
                <a:effectLst/>
                <a:latin typeface="Arial" panose="020B0604020202020204" pitchFamily="34" charset="0"/>
                <a:ea typeface="宋体" panose="02010600030101010101" pitchFamily="2" charset="-122"/>
                <a:cs typeface="Arial" panose="020B0604020202020204" pitchFamily="34" charset="0"/>
              </a:rPr>
              <a:t> Carden,</a:t>
            </a:r>
            <a:r>
              <a:rPr lang="zh-CN" altLang="en-US" sz="1200" dirty="0">
                <a:solidFill>
                  <a:schemeClr val="tx1">
                    <a:lumMod val="50000"/>
                    <a:lumOff val="50000"/>
                  </a:schemeClr>
                </a:solidFill>
                <a:effectLst/>
                <a:latin typeface="Arial" panose="020B0604020202020204" pitchFamily="34" charset="0"/>
                <a:ea typeface="宋体" panose="02010600030101010101" pitchFamily="2" charset="-122"/>
                <a:cs typeface="Arial" panose="020B0604020202020204" pitchFamily="34" charset="0"/>
              </a:rPr>
              <a:t> </a:t>
            </a:r>
            <a:r>
              <a:rPr lang="en-US" altLang="zh-CN" sz="1200" dirty="0">
                <a:solidFill>
                  <a:schemeClr val="tx1">
                    <a:lumMod val="50000"/>
                    <a:lumOff val="50000"/>
                  </a:schemeClr>
                </a:solidFill>
                <a:effectLst/>
                <a:latin typeface="Arial" panose="020B0604020202020204" pitchFamily="34" charset="0"/>
                <a:ea typeface="宋体" panose="02010600030101010101" pitchFamily="2" charset="-122"/>
                <a:cs typeface="Arial" panose="020B0604020202020204" pitchFamily="34" charset="0"/>
              </a:rPr>
              <a:t>2012)</a:t>
            </a:r>
            <a:r>
              <a:rPr lang="zh-CN" altLang="zh-CN" sz="1200" dirty="0">
                <a:solidFill>
                  <a:schemeClr val="tx1">
                    <a:lumMod val="50000"/>
                    <a:lumOff val="50000"/>
                  </a:schemeClr>
                </a:solidFill>
                <a:effectLst/>
                <a:latin typeface="Arial" panose="020B0604020202020204" pitchFamily="34" charset="0"/>
                <a:cs typeface="Arial" panose="020B0604020202020204" pitchFamily="34" charset="0"/>
              </a:rPr>
              <a:t> </a:t>
            </a:r>
            <a:r>
              <a:rPr lang="zh-CN" altLang="zh-CN" sz="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a:t>
            </a:r>
            <a:endParaRPr lang="zh-CN" altLang="en-US" sz="1200" dirty="0">
              <a:solidFill>
                <a:schemeClr val="tx1">
                  <a:lumMod val="50000"/>
                  <a:lumOff val="50000"/>
                </a:schemeClr>
              </a:solidFill>
              <a:latin typeface="Arial" panose="020B0604020202020204" pitchFamily="34" charset="0"/>
              <a:ea typeface="Microsoft YaHei" panose="020B0503020204020204" pitchFamily="34" charset="-122"/>
              <a:cs typeface="Arial" panose="020B0604020202020204" pitchFamily="34" charset="0"/>
            </a:endParaRPr>
          </a:p>
        </p:txBody>
      </p:sp>
      <p:pic>
        <p:nvPicPr>
          <p:cNvPr id="7" name="图片 6">
            <a:extLst>
              <a:ext uri="{FF2B5EF4-FFF2-40B4-BE49-F238E27FC236}">
                <a16:creationId xmlns:a16="http://schemas.microsoft.com/office/drawing/2014/main" id="{940FFF07-EE47-446F-1998-DF7A5FE1E9A7}"/>
              </a:ext>
            </a:extLst>
          </p:cNvPr>
          <p:cNvPicPr>
            <a:picLocks noChangeAspect="1"/>
          </p:cNvPicPr>
          <p:nvPr/>
        </p:nvPicPr>
        <p:blipFill>
          <a:blip r:embed="rId4"/>
          <a:stretch>
            <a:fillRect/>
          </a:stretch>
        </p:blipFill>
        <p:spPr>
          <a:xfrm>
            <a:off x="8571294" y="3133578"/>
            <a:ext cx="3014382" cy="2161255"/>
          </a:xfrm>
          <a:prstGeom prst="rect">
            <a:avLst/>
          </a:prstGeom>
        </p:spPr>
      </p:pic>
      <p:sp>
        <p:nvSpPr>
          <p:cNvPr id="9" name="文本框 8">
            <a:extLst>
              <a:ext uri="{FF2B5EF4-FFF2-40B4-BE49-F238E27FC236}">
                <a16:creationId xmlns:a16="http://schemas.microsoft.com/office/drawing/2014/main" id="{0EF865EA-C806-5CF4-6FE9-809DBBAB3104}"/>
              </a:ext>
            </a:extLst>
          </p:cNvPr>
          <p:cNvSpPr txBox="1"/>
          <p:nvPr/>
        </p:nvSpPr>
        <p:spPr>
          <a:xfrm>
            <a:off x="8439549" y="5341211"/>
            <a:ext cx="3185337" cy="700576"/>
          </a:xfrm>
          <a:prstGeom prst="rect">
            <a:avLst/>
          </a:prstGeom>
          <a:noFill/>
        </p:spPr>
        <p:txBody>
          <a:bodyPr wrap="square">
            <a:spAutoFit/>
          </a:bodyPr>
          <a:lstStyle/>
          <a:p>
            <a:pPr marL="285750" indent="-144000">
              <a:lnSpc>
                <a:spcPct val="150000"/>
              </a:lnSpc>
              <a:buFont typeface="Arial" panose="020B0604020202020204" pitchFamily="34" charset="0"/>
              <a:buChar char="•"/>
            </a:pPr>
            <a:r>
              <a:rPr lang="zh-CN" altLang="en-US"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在</a:t>
            </a:r>
            <a:r>
              <a:rPr lang="zh-CN" altLang="zh-CN" sz="14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古典</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音乐</a:t>
            </a:r>
            <a:r>
              <a:rPr lang="zh-CN" altLang="en-US"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下，</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能够</a:t>
            </a:r>
            <a:r>
              <a:rPr lang="zh-CN" altLang="en-US" sz="14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加快</a:t>
            </a:r>
            <a:r>
              <a:rPr lang="zh-CN" altLang="en-US" sz="1400" b="1" kern="100" dirty="0">
                <a:latin typeface="Microsoft YaHei" panose="020B0503020204020204" pitchFamily="34" charset="-122"/>
                <a:ea typeface="Microsoft YaHei" panose="020B0503020204020204" pitchFamily="34" charset="-122"/>
                <a:cs typeface="Times New Roman" panose="02020603050405020304" pitchFamily="18" charset="0"/>
              </a:rPr>
              <a:t>对</a:t>
            </a:r>
            <a:r>
              <a:rPr lang="zh-CN" altLang="en-US"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图形</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空间处理</a:t>
            </a:r>
            <a:r>
              <a:rPr lang="zh-CN" altLang="en-US"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 </a:t>
            </a:r>
            <a:r>
              <a:rPr lang="en-US" altLang="zh-CN" sz="1200" dirty="0">
                <a:solidFill>
                  <a:schemeClr val="tx1">
                    <a:lumMod val="50000"/>
                    <a:lumOff val="50000"/>
                  </a:schemeClr>
                </a:solidFill>
                <a:effectLst/>
                <a:latin typeface="Microsoft YaHei" panose="020B0503020204020204" pitchFamily="34" charset="-122"/>
                <a:ea typeface="Microsoft YaHei" panose="020B0503020204020204" pitchFamily="34" charset="-122"/>
              </a:rPr>
              <a:t>(Angel</a:t>
            </a:r>
            <a:r>
              <a:rPr lang="zh-CN" altLang="zh-CN" sz="1200" dirty="0">
                <a:solidFill>
                  <a:schemeClr val="tx1">
                    <a:lumMod val="50000"/>
                    <a:lumOff val="50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等</a:t>
            </a:r>
            <a:r>
              <a:rPr lang="en-US" altLang="zh-CN" sz="1200" dirty="0">
                <a:solidFill>
                  <a:schemeClr val="tx1">
                    <a:lumMod val="50000"/>
                    <a:lumOff val="50000"/>
                  </a:schemeClr>
                </a:solidFill>
                <a:effectLst/>
                <a:latin typeface="Microsoft YaHei" panose="020B0503020204020204" pitchFamily="34" charset="-122"/>
                <a:ea typeface="Microsoft YaHei" panose="020B0503020204020204" pitchFamily="34" charset="-122"/>
              </a:rPr>
              <a:t>, 2020)</a:t>
            </a:r>
            <a:r>
              <a:rPr lang="zh-CN" altLang="zh-CN" sz="1400" dirty="0">
                <a:effectLst/>
                <a:latin typeface="Microsoft YaHei" panose="020B0503020204020204" pitchFamily="34" charset="-122"/>
                <a:ea typeface="Microsoft YaHei" panose="020B0503020204020204" pitchFamily="34" charset="-122"/>
              </a:rPr>
              <a:t> </a:t>
            </a:r>
            <a:endParaRPr lang="zh-CN" altLang="en-US" sz="1400" dirty="0">
              <a:latin typeface="Microsoft YaHei" panose="020B0503020204020204" pitchFamily="34" charset="-122"/>
              <a:ea typeface="Microsoft YaHei" panose="020B0503020204020204" pitchFamily="34" charset="-122"/>
            </a:endParaRPr>
          </a:p>
        </p:txBody>
      </p:sp>
      <p:pic>
        <p:nvPicPr>
          <p:cNvPr id="5" name="图片 4">
            <a:extLst>
              <a:ext uri="{FF2B5EF4-FFF2-40B4-BE49-F238E27FC236}">
                <a16:creationId xmlns:a16="http://schemas.microsoft.com/office/drawing/2014/main" id="{F7D254AB-AF5D-BF8B-2C34-815F7E174BED}"/>
              </a:ext>
            </a:extLst>
          </p:cNvPr>
          <p:cNvPicPr>
            <a:picLocks noChangeAspect="1"/>
          </p:cNvPicPr>
          <p:nvPr/>
        </p:nvPicPr>
        <p:blipFill>
          <a:blip r:embed="rId5"/>
          <a:stretch>
            <a:fillRect/>
          </a:stretch>
        </p:blipFill>
        <p:spPr>
          <a:xfrm>
            <a:off x="4824925" y="3133578"/>
            <a:ext cx="2360755" cy="2161255"/>
          </a:xfrm>
          <a:prstGeom prst="rect">
            <a:avLst/>
          </a:prstGeom>
        </p:spPr>
      </p:pic>
      <p:sp>
        <p:nvSpPr>
          <p:cNvPr id="10" name="文本框 9">
            <a:extLst>
              <a:ext uri="{FF2B5EF4-FFF2-40B4-BE49-F238E27FC236}">
                <a16:creationId xmlns:a16="http://schemas.microsoft.com/office/drawing/2014/main" id="{22F52A25-3558-48C0-696A-369B5F01A6C3}"/>
              </a:ext>
            </a:extLst>
          </p:cNvPr>
          <p:cNvSpPr txBox="1"/>
          <p:nvPr/>
        </p:nvSpPr>
        <p:spPr>
          <a:xfrm>
            <a:off x="4244084" y="5341211"/>
            <a:ext cx="3425622" cy="700576"/>
          </a:xfrm>
          <a:prstGeom prst="rect">
            <a:avLst/>
          </a:prstGeom>
          <a:noFill/>
        </p:spPr>
        <p:txBody>
          <a:bodyPr wrap="square">
            <a:spAutoFit/>
          </a:bodyPr>
          <a:lstStyle/>
          <a:p>
            <a:pPr marL="285750" indent="-144000">
              <a:lnSpc>
                <a:spcPct val="150000"/>
              </a:lnSpc>
              <a:buFont typeface="Arial" panose="020B0604020202020204" pitchFamily="34" charset="0"/>
              <a:buChar char="•"/>
            </a:pP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在</a:t>
            </a:r>
            <a:r>
              <a:rPr lang="zh-CN" altLang="zh-CN" sz="14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古典音乐和重金属音乐</a:t>
            </a:r>
            <a:r>
              <a:rPr lang="zh-CN" altLang="zh-CN" sz="1400" kern="100" dirty="0">
                <a:effectLst/>
                <a:latin typeface="Microsoft YaHei" panose="020B0503020204020204" pitchFamily="34" charset="-122"/>
                <a:ea typeface="Microsoft YaHei" panose="020B0503020204020204" pitchFamily="34" charset="-122"/>
                <a:cs typeface="Times New Roman" panose="02020603050405020304" pitchFamily="18" charset="0"/>
              </a:rPr>
              <a:t>下，人们回忆记忆</a:t>
            </a:r>
            <a:r>
              <a:rPr lang="zh-CN" altLang="zh-CN" sz="14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单词数更少</a:t>
            </a:r>
            <a:r>
              <a:rPr lang="zh-CN" altLang="zh-CN" sz="1400" kern="100" dirty="0">
                <a:effectLst/>
                <a:latin typeface="Microsoft YaHei" panose="020B0503020204020204" pitchFamily="34" charset="-122"/>
                <a:ea typeface="Microsoft YaHei" panose="020B0503020204020204" pitchFamily="34" charset="-122"/>
              </a:rPr>
              <a:t> </a:t>
            </a:r>
            <a:r>
              <a:rPr lang="en-US" altLang="zh-CN" sz="1200" dirty="0">
                <a:solidFill>
                  <a:schemeClr val="tx1">
                    <a:lumMod val="50000"/>
                    <a:lumOff val="50000"/>
                  </a:schemeClr>
                </a:solidFill>
                <a:effectLst/>
                <a:latin typeface="Microsoft YaHei" panose="020B0503020204020204" pitchFamily="34" charset="-122"/>
                <a:ea typeface="Microsoft YaHei" panose="020B0503020204020204" pitchFamily="34" charset="-122"/>
              </a:rPr>
              <a:t>(</a:t>
            </a:r>
            <a:r>
              <a:rPr lang="en-US" altLang="zh-CN" sz="1200" dirty="0" err="1">
                <a:solidFill>
                  <a:schemeClr val="tx1">
                    <a:lumMod val="50000"/>
                    <a:lumOff val="50000"/>
                  </a:schemeClr>
                </a:solidFill>
                <a:effectLst/>
                <a:latin typeface="Microsoft YaHei" panose="020B0503020204020204" pitchFamily="34" charset="-122"/>
                <a:ea typeface="Microsoft YaHei" panose="020B0503020204020204" pitchFamily="34" charset="-122"/>
              </a:rPr>
              <a:t>Theofilidis</a:t>
            </a:r>
            <a:r>
              <a:rPr lang="zh-CN" altLang="zh-CN" sz="1200" dirty="0">
                <a:solidFill>
                  <a:schemeClr val="tx1">
                    <a:lumMod val="50000"/>
                    <a:lumOff val="50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等</a:t>
            </a:r>
            <a:r>
              <a:rPr lang="en-US" altLang="zh-CN" sz="1200" dirty="0">
                <a:solidFill>
                  <a:schemeClr val="tx1">
                    <a:lumMod val="50000"/>
                    <a:lumOff val="50000"/>
                  </a:schemeClr>
                </a:solidFill>
                <a:effectLst/>
                <a:latin typeface="Microsoft YaHei" panose="020B0503020204020204" pitchFamily="34" charset="-122"/>
                <a:ea typeface="Microsoft YaHei" panose="020B0503020204020204" pitchFamily="34" charset="-122"/>
              </a:rPr>
              <a:t>, 2020)</a:t>
            </a:r>
            <a:r>
              <a:rPr lang="zh-CN" altLang="zh-CN" sz="1200" dirty="0">
                <a:solidFill>
                  <a:schemeClr val="tx1">
                    <a:lumMod val="50000"/>
                    <a:lumOff val="50000"/>
                  </a:schemeClr>
                </a:solidFill>
                <a:effectLst/>
                <a:latin typeface="Microsoft YaHei" panose="020B0503020204020204" pitchFamily="34" charset="-122"/>
                <a:ea typeface="Microsoft YaHei" panose="020B0503020204020204" pitchFamily="34" charset="-122"/>
              </a:rPr>
              <a:t> </a:t>
            </a:r>
            <a:endParaRPr lang="zh-CN" altLang="en-US" sz="1200" dirty="0">
              <a:solidFill>
                <a:schemeClr val="tx1">
                  <a:lumMod val="50000"/>
                  <a:lumOff val="50000"/>
                </a:schemeClr>
              </a:solidFill>
              <a:latin typeface="Microsoft YaHei" panose="020B0503020204020204" pitchFamily="34" charset="-122"/>
              <a:ea typeface="Microsoft YaHei" panose="020B0503020204020204" pitchFamily="34" charset="-122"/>
            </a:endParaRPr>
          </a:p>
        </p:txBody>
      </p:sp>
      <p:sp>
        <p:nvSpPr>
          <p:cNvPr id="14" name="文本框 13">
            <a:extLst>
              <a:ext uri="{FF2B5EF4-FFF2-40B4-BE49-F238E27FC236}">
                <a16:creationId xmlns:a16="http://schemas.microsoft.com/office/drawing/2014/main" id="{17598733-EF8C-F208-1D85-5F6CA8E32629}"/>
              </a:ext>
            </a:extLst>
          </p:cNvPr>
          <p:cNvSpPr txBox="1"/>
          <p:nvPr/>
        </p:nvSpPr>
        <p:spPr>
          <a:xfrm>
            <a:off x="165812" y="6308278"/>
            <a:ext cx="8225812" cy="307777"/>
          </a:xfrm>
          <a:prstGeom prst="rect">
            <a:avLst/>
          </a:prstGeom>
          <a:noFill/>
        </p:spPr>
        <p:txBody>
          <a:bodyPr wrap="square">
            <a:spAutoFit/>
          </a:bodyPr>
          <a:lstStyle/>
          <a:p>
            <a:pPr marL="285750" indent="-144000">
              <a:buFont typeface="Arial" panose="020B0604020202020204" pitchFamily="34" charset="0"/>
              <a:buChar char="•"/>
            </a:pPr>
            <a:r>
              <a:rPr lang="zh-CN" altLang="en-US" sz="1400" dirty="0">
                <a:latin typeface="Microsoft YaHei" panose="020B0503020204020204" pitchFamily="34" charset="-122"/>
                <a:ea typeface="Microsoft YaHei" panose="020B0503020204020204" pitchFamily="34" charset="-122"/>
              </a:rPr>
              <a:t>与轻音乐相比，</a:t>
            </a:r>
            <a:r>
              <a:rPr lang="zh-CN" altLang="en-US" sz="1400" b="1" dirty="0">
                <a:latin typeface="Microsoft YaHei" panose="020B0503020204020204" pitchFamily="34" charset="-122"/>
                <a:ea typeface="Microsoft YaHei" panose="020B0503020204020204" pitchFamily="34" charset="-122"/>
              </a:rPr>
              <a:t>摇滚音乐提高</a:t>
            </a:r>
            <a:r>
              <a:rPr lang="zh-CN" altLang="en-US" sz="1400" dirty="0">
                <a:latin typeface="Microsoft YaHei" panose="020B0503020204020204" pitchFamily="34" charset="-122"/>
                <a:ea typeface="Microsoft YaHei" panose="020B0503020204020204" pitchFamily="34" charset="-122"/>
              </a:rPr>
              <a:t>了在信号检测任务中的表现</a:t>
            </a:r>
            <a:r>
              <a:rPr lang="zh-CN" altLang="en-US" sz="1200" dirty="0">
                <a:latin typeface="Microsoft YaHei" panose="020B0503020204020204" pitchFamily="34" charset="-122"/>
                <a:ea typeface="Microsoft YaHei" panose="020B0503020204020204" pitchFamily="34" charset="-122"/>
              </a:rPr>
              <a:t> </a:t>
            </a:r>
            <a:r>
              <a:rPr lang="en-US" altLang="zh-CN" sz="1200" kern="100" dirty="0">
                <a:solidFill>
                  <a:schemeClr val="tx1">
                    <a:lumMod val="50000"/>
                    <a:lumOff val="50000"/>
                  </a:schemeClr>
                </a:solidFill>
                <a:effectLst/>
                <a:latin typeface="Microsoft YaHei" panose="020B0503020204020204" pitchFamily="34" charset="-122"/>
                <a:ea typeface="Microsoft YaHei" panose="020B0503020204020204" pitchFamily="34" charset="-122"/>
                <a:cs typeface="Arial" panose="020B0604020202020204" pitchFamily="34" charset="0"/>
              </a:rPr>
              <a:t>(</a:t>
            </a:r>
            <a:r>
              <a:rPr lang="en" altLang="zh-CN" sz="1200" dirty="0" err="1">
                <a:solidFill>
                  <a:schemeClr val="tx1">
                    <a:lumMod val="50000"/>
                    <a:lumOff val="50000"/>
                  </a:schemeClr>
                </a:solidFill>
                <a:latin typeface="Microsoft YaHei" panose="020B0503020204020204" pitchFamily="34" charset="-122"/>
                <a:ea typeface="Microsoft YaHei" panose="020B0503020204020204" pitchFamily="34" charset="-122"/>
              </a:rPr>
              <a:t>Corhan</a:t>
            </a:r>
            <a:r>
              <a:rPr lang="en" altLang="zh-CN" sz="1200" dirty="0">
                <a:solidFill>
                  <a:schemeClr val="tx1">
                    <a:lumMod val="50000"/>
                    <a:lumOff val="50000"/>
                  </a:schemeClr>
                </a:solidFill>
                <a:latin typeface="Microsoft YaHei" panose="020B0503020204020204" pitchFamily="34" charset="-122"/>
                <a:ea typeface="Microsoft YaHei" panose="020B0503020204020204" pitchFamily="34" charset="-122"/>
              </a:rPr>
              <a:t> </a:t>
            </a:r>
            <a:r>
              <a:rPr lang="en-US" altLang="zh-CN" sz="1200" dirty="0">
                <a:solidFill>
                  <a:schemeClr val="tx1">
                    <a:lumMod val="50000"/>
                    <a:lumOff val="50000"/>
                  </a:schemeClr>
                </a:solidFill>
                <a:latin typeface="Microsoft YaHei" panose="020B0503020204020204" pitchFamily="34" charset="-122"/>
                <a:ea typeface="Microsoft YaHei" panose="020B0503020204020204" pitchFamily="34" charset="-122"/>
              </a:rPr>
              <a:t>&amp;</a:t>
            </a:r>
            <a:r>
              <a:rPr lang="en" altLang="zh-CN" sz="1200" dirty="0">
                <a:solidFill>
                  <a:schemeClr val="tx1">
                    <a:lumMod val="50000"/>
                    <a:lumOff val="50000"/>
                  </a:schemeClr>
                </a:solidFill>
                <a:latin typeface="Microsoft YaHei" panose="020B0503020204020204" pitchFamily="34" charset="-122"/>
                <a:ea typeface="Microsoft YaHei" panose="020B0503020204020204" pitchFamily="34" charset="-122"/>
              </a:rPr>
              <a:t> </a:t>
            </a:r>
            <a:r>
              <a:rPr lang="en" altLang="zh-CN" sz="1200" dirty="0" err="1">
                <a:solidFill>
                  <a:schemeClr val="tx1">
                    <a:lumMod val="50000"/>
                    <a:lumOff val="50000"/>
                  </a:schemeClr>
                </a:solidFill>
                <a:latin typeface="Microsoft YaHei" panose="020B0503020204020204" pitchFamily="34" charset="-122"/>
                <a:ea typeface="Microsoft YaHei" panose="020B0503020204020204" pitchFamily="34" charset="-122"/>
              </a:rPr>
              <a:t>Gounard</a:t>
            </a:r>
            <a:r>
              <a:rPr lang="en" altLang="zh-CN" sz="1200" dirty="0">
                <a:solidFill>
                  <a:schemeClr val="tx1">
                    <a:lumMod val="50000"/>
                    <a:lumOff val="50000"/>
                  </a:schemeClr>
                </a:solidFill>
                <a:latin typeface="Microsoft YaHei" panose="020B0503020204020204" pitchFamily="34" charset="-122"/>
                <a:ea typeface="Microsoft YaHei" panose="020B0503020204020204" pitchFamily="34" charset="-122"/>
              </a:rPr>
              <a:t> </a:t>
            </a:r>
            <a:r>
              <a:rPr lang="en-US" altLang="zh-CN" sz="1200" dirty="0">
                <a:solidFill>
                  <a:schemeClr val="tx1">
                    <a:lumMod val="50000"/>
                    <a:lumOff val="50000"/>
                  </a:schemeClr>
                </a:solidFill>
                <a:effectLst/>
                <a:latin typeface="Microsoft YaHei" panose="020B0503020204020204" pitchFamily="34" charset="-122"/>
                <a:ea typeface="Microsoft YaHei" panose="020B0503020204020204" pitchFamily="34" charset="-122"/>
                <a:cs typeface="Arial" panose="020B0604020202020204" pitchFamily="34" charset="0"/>
              </a:rPr>
              <a:t>,</a:t>
            </a:r>
            <a:r>
              <a:rPr lang="zh-CN" altLang="en-US" sz="1200" dirty="0">
                <a:solidFill>
                  <a:schemeClr val="tx1">
                    <a:lumMod val="50000"/>
                    <a:lumOff val="50000"/>
                  </a:schemeClr>
                </a:solidFill>
                <a:effectLst/>
                <a:latin typeface="Microsoft YaHei" panose="020B0503020204020204" pitchFamily="34" charset="-122"/>
                <a:ea typeface="Microsoft YaHei" panose="020B0503020204020204" pitchFamily="34" charset="-122"/>
                <a:cs typeface="Arial" panose="020B0604020202020204" pitchFamily="34" charset="0"/>
              </a:rPr>
              <a:t> </a:t>
            </a:r>
            <a:r>
              <a:rPr lang="en-US" altLang="zh-CN" sz="1200" dirty="0">
                <a:solidFill>
                  <a:schemeClr val="tx1">
                    <a:lumMod val="50000"/>
                    <a:lumOff val="50000"/>
                  </a:schemeClr>
                </a:solidFill>
                <a:latin typeface="Microsoft YaHei" panose="020B0503020204020204" pitchFamily="34" charset="-122"/>
                <a:ea typeface="Microsoft YaHei" panose="020B0503020204020204" pitchFamily="34" charset="-122"/>
                <a:cs typeface="Arial" panose="020B0604020202020204" pitchFamily="34" charset="0"/>
              </a:rPr>
              <a:t>1976</a:t>
            </a:r>
            <a:r>
              <a:rPr lang="en-US" altLang="zh-CN" sz="1200" dirty="0">
                <a:solidFill>
                  <a:schemeClr val="tx1">
                    <a:lumMod val="50000"/>
                    <a:lumOff val="50000"/>
                  </a:schemeClr>
                </a:solidFill>
                <a:effectLst/>
                <a:latin typeface="Microsoft YaHei" panose="020B0503020204020204" pitchFamily="34" charset="-122"/>
                <a:ea typeface="Microsoft YaHei" panose="020B0503020204020204" pitchFamily="34" charset="-122"/>
                <a:cs typeface="Arial" panose="020B0604020202020204" pitchFamily="34" charset="0"/>
              </a:rPr>
              <a:t>)</a:t>
            </a:r>
            <a:r>
              <a:rPr lang="zh-CN" altLang="zh-CN" sz="1200" dirty="0">
                <a:solidFill>
                  <a:schemeClr val="tx1">
                    <a:lumMod val="50000"/>
                    <a:lumOff val="50000"/>
                  </a:schemeClr>
                </a:solidFill>
                <a:effectLst/>
                <a:latin typeface="Microsoft YaHei" panose="020B0503020204020204" pitchFamily="34" charset="-122"/>
                <a:ea typeface="Microsoft YaHei" panose="020B0503020204020204" pitchFamily="34" charset="-122"/>
                <a:cs typeface="Arial" panose="020B0604020202020204" pitchFamily="34" charset="0"/>
              </a:rPr>
              <a:t> </a:t>
            </a:r>
            <a:endParaRPr lang="zh-CN" altLang="en-US" sz="1400" dirty="0">
              <a:latin typeface="Microsoft YaHei" panose="020B0503020204020204" pitchFamily="34" charset="-122"/>
              <a:ea typeface="Microsoft YaHei" panose="020B0503020204020204" pitchFamily="34" charset="-122"/>
            </a:endParaRPr>
          </a:p>
        </p:txBody>
      </p:sp>
      <p:sp>
        <p:nvSpPr>
          <p:cNvPr id="18" name="文本框 17">
            <a:extLst>
              <a:ext uri="{FF2B5EF4-FFF2-40B4-BE49-F238E27FC236}">
                <a16:creationId xmlns:a16="http://schemas.microsoft.com/office/drawing/2014/main" id="{7BA9CCCF-13AE-5D77-F10B-C38C7D099710}"/>
              </a:ext>
            </a:extLst>
          </p:cNvPr>
          <p:cNvSpPr txBox="1"/>
          <p:nvPr/>
        </p:nvSpPr>
        <p:spPr>
          <a:xfrm>
            <a:off x="7029753" y="6308278"/>
            <a:ext cx="6097464" cy="338554"/>
          </a:xfrm>
          <a:prstGeom prst="rect">
            <a:avLst/>
          </a:prstGeom>
          <a:noFill/>
        </p:spPr>
        <p:txBody>
          <a:bodyPr wrap="square">
            <a:spAutoFit/>
          </a:bodyPr>
          <a:lstStyle/>
          <a:p>
            <a:r>
              <a:rPr lang="zh-CN" altLang="en-US"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F</a:t>
            </a:r>
            <a:r>
              <a:rPr lang="zh-CN" altLang="en-US" sz="1600" dirty="0">
                <a:latin typeface="Times New Roman" panose="02020603050405020304" pitchFamily="18" charset="0"/>
                <a:cs typeface="Times New Roman" panose="02020603050405020304" pitchFamily="18" charset="0"/>
              </a:rPr>
              <a:t>= 10.29，</a:t>
            </a:r>
            <a:r>
              <a:rPr lang="en-US" altLang="zh-CN" sz="1600" dirty="0">
                <a:latin typeface="Times New Roman" panose="02020603050405020304" pitchFamily="18" charset="0"/>
                <a:cs typeface="Times New Roman" panose="02020603050405020304" pitchFamily="18" charset="0"/>
              </a:rPr>
              <a:t>d</a:t>
            </a:r>
            <a:r>
              <a:rPr lang="zh-CN" altLang="en-US" sz="1600" dirty="0">
                <a:latin typeface="Times New Roman" panose="02020603050405020304" pitchFamily="18" charset="0"/>
                <a:cs typeface="Times New Roman" panose="02020603050405020304" pitchFamily="18" charset="0"/>
              </a:rPr>
              <a:t>f = 1/10,</a:t>
            </a:r>
            <a:r>
              <a:rPr lang="en-US" altLang="zh-CN" sz="1600" dirty="0">
                <a:latin typeface="Times New Roman" panose="02020603050405020304" pitchFamily="18" charset="0"/>
                <a:cs typeface="Times New Roman" panose="02020603050405020304" pitchFamily="18" charset="0"/>
              </a:rPr>
              <a:t> </a:t>
            </a:r>
            <a:r>
              <a:rPr lang="en-US" altLang="zh-CN" sz="1600" i="1" dirty="0">
                <a:latin typeface="Times New Roman" panose="02020603050405020304" pitchFamily="18" charset="0"/>
                <a:cs typeface="Times New Roman" panose="02020603050405020304" pitchFamily="18" charset="0"/>
              </a:rPr>
              <a:t>p</a:t>
            </a:r>
            <a:r>
              <a:rPr lang="zh-CN" altLang="en-US" sz="1600" dirty="0">
                <a:latin typeface="Times New Roman" panose="02020603050405020304" pitchFamily="18" charset="0"/>
                <a:cs typeface="Times New Roman" panose="02020603050405020304" pitchFamily="18" charset="0"/>
              </a:rPr>
              <a:t>&lt;.01)</a:t>
            </a:r>
          </a:p>
        </p:txBody>
      </p:sp>
      <p:sp>
        <p:nvSpPr>
          <p:cNvPr id="8" name="矩形 7">
            <a:extLst>
              <a:ext uri="{FF2B5EF4-FFF2-40B4-BE49-F238E27FC236}">
                <a16:creationId xmlns:a16="http://schemas.microsoft.com/office/drawing/2014/main" id="{87C7B29F-35FA-9D6E-E930-D48F609293BE}"/>
              </a:ext>
            </a:extLst>
          </p:cNvPr>
          <p:cNvSpPr/>
          <p:nvPr/>
        </p:nvSpPr>
        <p:spPr>
          <a:xfrm>
            <a:off x="5110061" y="3407684"/>
            <a:ext cx="1261658" cy="1381729"/>
          </a:xfrm>
          <a:prstGeom prst="rect">
            <a:avLst/>
          </a:prstGeom>
          <a:solidFill>
            <a:schemeClr val="accent2">
              <a:lumMod val="20000"/>
              <a:lumOff val="80000"/>
              <a:alpha val="1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文本框 8">
            <a:extLst>
              <a:ext uri="{FF2B5EF4-FFF2-40B4-BE49-F238E27FC236}">
                <a16:creationId xmlns:a16="http://schemas.microsoft.com/office/drawing/2014/main" id="{5581CD97-4833-3949-DC04-8D9C6F185631}"/>
              </a:ext>
            </a:extLst>
          </p:cNvPr>
          <p:cNvSpPr txBox="1"/>
          <p:nvPr/>
        </p:nvSpPr>
        <p:spPr>
          <a:xfrm>
            <a:off x="339443" y="1197139"/>
            <a:ext cx="11213631" cy="458908"/>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驾驶任务是复杂的的感知</a:t>
            </a:r>
            <a:r>
              <a:rPr lang="en-US" altLang="zh-CN" sz="1600" kern="100" dirty="0">
                <a:effectLst/>
                <a:latin typeface="Microsoft YaHei" panose="020B0503020204020204" pitchFamily="34" charset="-122"/>
                <a:ea typeface="Microsoft YaHei" panose="020B0503020204020204" pitchFamily="34" charset="-122"/>
              </a:rPr>
              <a:t>-</a:t>
            </a:r>
            <a:r>
              <a:rPr lang="zh-CN"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信息</a:t>
            </a:r>
            <a:r>
              <a:rPr lang="en-US" altLang="zh-CN" sz="1600" kern="100" dirty="0">
                <a:effectLst/>
                <a:latin typeface="Microsoft YaHei" panose="020B0503020204020204" pitchFamily="34" charset="-122"/>
                <a:ea typeface="Microsoft YaHei" panose="020B0503020204020204" pitchFamily="34" charset="-122"/>
              </a:rPr>
              <a:t>-</a:t>
            </a:r>
            <a:r>
              <a:rPr lang="zh-CN"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处理任务</a:t>
            </a:r>
            <a:r>
              <a:rPr lang="zh-CN" altLang="en-US"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16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依赖认知能力</a:t>
            </a:r>
            <a:r>
              <a:rPr lang="zh-CN" altLang="zh-CN" sz="1600" kern="100" dirty="0">
                <a:effectLst/>
                <a:latin typeface="Microsoft YaHei" panose="020B0503020204020204" pitchFamily="34" charset="-122"/>
                <a:ea typeface="Microsoft YaHei" panose="020B0503020204020204" pitchFamily="34" charset="-122"/>
              </a:rPr>
              <a:t> </a:t>
            </a:r>
            <a:r>
              <a:rPr lang="en-US" altLang="zh-CN" sz="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(Banbury, 2021; Broadbent, 1958; </a:t>
            </a:r>
            <a:r>
              <a:rPr lang="en-US" altLang="zh-CN" sz="1200" dirty="0" err="1">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Wickens</a:t>
            </a:r>
            <a:r>
              <a:rPr lang="zh-CN" altLang="zh-CN" sz="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等</a:t>
            </a:r>
            <a:r>
              <a:rPr lang="en-US" altLang="zh-CN" sz="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2015)</a:t>
            </a:r>
            <a:r>
              <a:rPr lang="zh-CN" altLang="zh-CN" sz="1800" kern="100" dirty="0">
                <a:effectLst/>
                <a:latin typeface="Microsoft YaHei" panose="020B0503020204020204" pitchFamily="34" charset="-122"/>
                <a:ea typeface="Microsoft YaHei" panose="020B0503020204020204" pitchFamily="34" charset="-122"/>
                <a:cs typeface="Times New Roman" panose="02020603050405020304" pitchFamily="18" charset="0"/>
              </a:rPr>
              <a:t>。</a:t>
            </a:r>
            <a:endParaRPr lang="zh-CN" altLang="en-US" dirty="0">
              <a:latin typeface="Microsoft YaHei" panose="020B0503020204020204" pitchFamily="34" charset="-122"/>
              <a:ea typeface="Microsoft YaHei" panose="020B0503020204020204" pitchFamily="34" charset="-122"/>
            </a:endParaRPr>
          </a:p>
        </p:txBody>
      </p:sp>
      <p:sp>
        <p:nvSpPr>
          <p:cNvPr id="11" name="文本框 10">
            <a:extLst>
              <a:ext uri="{FF2B5EF4-FFF2-40B4-BE49-F238E27FC236}">
                <a16:creationId xmlns:a16="http://schemas.microsoft.com/office/drawing/2014/main" id="{121F661D-8FA5-C10C-7A49-6F674832F99C}"/>
              </a:ext>
            </a:extLst>
          </p:cNvPr>
          <p:cNvSpPr txBox="1"/>
          <p:nvPr/>
        </p:nvSpPr>
        <p:spPr>
          <a:xfrm>
            <a:off x="779723" y="1957227"/>
            <a:ext cx="1242391" cy="369332"/>
          </a:xfrm>
          <a:prstGeom prst="rect">
            <a:avLst/>
          </a:prstGeom>
          <a:noFill/>
        </p:spPr>
        <p:txBody>
          <a:bodyPr wrap="square" rtlCol="0">
            <a:spAutoFit/>
          </a:bodyPr>
          <a:lstStyle/>
          <a:p>
            <a:r>
              <a:rPr kumimoji="1" lang="zh-CN" altLang="en-US" b="1" dirty="0">
                <a:latin typeface="Microsoft YaHei" panose="020B0503020204020204" pitchFamily="34" charset="-122"/>
                <a:ea typeface="Microsoft YaHei" panose="020B0503020204020204" pitchFamily="34" charset="-122"/>
              </a:rPr>
              <a:t>音乐</a:t>
            </a:r>
          </a:p>
        </p:txBody>
      </p:sp>
      <p:cxnSp>
        <p:nvCxnSpPr>
          <p:cNvPr id="15" name="直线箭头连接符 14">
            <a:extLst>
              <a:ext uri="{FF2B5EF4-FFF2-40B4-BE49-F238E27FC236}">
                <a16:creationId xmlns:a16="http://schemas.microsoft.com/office/drawing/2014/main" id="{4B98C427-C4F7-CD4F-0F35-1FC413760AB4}"/>
              </a:ext>
            </a:extLst>
          </p:cNvPr>
          <p:cNvCxnSpPr/>
          <p:nvPr/>
        </p:nvCxnSpPr>
        <p:spPr>
          <a:xfrm>
            <a:off x="1581834" y="2130103"/>
            <a:ext cx="1635926"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FA9623B2-37DB-B2FB-9B89-37745A73599B}"/>
              </a:ext>
            </a:extLst>
          </p:cNvPr>
          <p:cNvSpPr txBox="1"/>
          <p:nvPr/>
        </p:nvSpPr>
        <p:spPr>
          <a:xfrm>
            <a:off x="3570767" y="1902006"/>
            <a:ext cx="1242391" cy="461665"/>
          </a:xfrm>
          <a:prstGeom prst="rect">
            <a:avLst/>
          </a:prstGeom>
          <a:noFill/>
        </p:spPr>
        <p:txBody>
          <a:bodyPr wrap="square" rtlCol="0">
            <a:spAutoFit/>
          </a:bodyPr>
          <a:lstStyle/>
          <a:p>
            <a:r>
              <a:rPr kumimoji="1" lang="zh-CN" altLang="en-US" sz="2400" b="1" dirty="0">
                <a:solidFill>
                  <a:schemeClr val="accent1"/>
                </a:solidFill>
                <a:effectLst>
                  <a:outerShdw blurRad="63500" sx="102000" sy="102000" algn="ctr" rotWithShape="0">
                    <a:prstClr val="black">
                      <a:alpha val="40000"/>
                    </a:prstClr>
                  </a:outerShdw>
                </a:effectLst>
                <a:latin typeface="Microsoft YaHei" panose="020B0503020204020204" pitchFamily="34" charset="-122"/>
                <a:ea typeface="Microsoft YaHei" panose="020B0503020204020204" pitchFamily="34" charset="-122"/>
              </a:rPr>
              <a:t>认知</a:t>
            </a:r>
          </a:p>
        </p:txBody>
      </p:sp>
      <p:cxnSp>
        <p:nvCxnSpPr>
          <p:cNvPr id="17" name="直线箭头连接符 16">
            <a:extLst>
              <a:ext uri="{FF2B5EF4-FFF2-40B4-BE49-F238E27FC236}">
                <a16:creationId xmlns:a16="http://schemas.microsoft.com/office/drawing/2014/main" id="{C15807BD-D617-D06C-F4AC-1F36DC19B95B}"/>
              </a:ext>
            </a:extLst>
          </p:cNvPr>
          <p:cNvCxnSpPr/>
          <p:nvPr/>
        </p:nvCxnSpPr>
        <p:spPr>
          <a:xfrm>
            <a:off x="4629834" y="2126418"/>
            <a:ext cx="1635926"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9B9BCAE8-DC4D-EA02-FC36-E731DDB31B0D}"/>
              </a:ext>
            </a:extLst>
          </p:cNvPr>
          <p:cNvSpPr txBox="1"/>
          <p:nvPr/>
        </p:nvSpPr>
        <p:spPr>
          <a:xfrm>
            <a:off x="6408557" y="1957227"/>
            <a:ext cx="1242391" cy="369332"/>
          </a:xfrm>
          <a:prstGeom prst="rect">
            <a:avLst/>
          </a:prstGeom>
          <a:noFill/>
        </p:spPr>
        <p:txBody>
          <a:bodyPr wrap="square" rtlCol="0">
            <a:spAutoFit/>
          </a:bodyPr>
          <a:lstStyle/>
          <a:p>
            <a:r>
              <a:rPr kumimoji="1" lang="zh-CN" altLang="en-US" b="1" dirty="0">
                <a:latin typeface="Microsoft YaHei" panose="020B0503020204020204" pitchFamily="34" charset="-122"/>
                <a:ea typeface="Microsoft YaHei" panose="020B0503020204020204" pitchFamily="34" charset="-122"/>
              </a:rPr>
              <a:t>驾驶行为</a:t>
            </a:r>
          </a:p>
        </p:txBody>
      </p:sp>
    </p:spTree>
    <p:extLst>
      <p:ext uri="{BB962C8B-B14F-4D97-AF65-F5344CB8AC3E}">
        <p14:creationId xmlns:p14="http://schemas.microsoft.com/office/powerpoint/2010/main" val="2888102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左右箭头 3">
            <a:extLst>
              <a:ext uri="{FF2B5EF4-FFF2-40B4-BE49-F238E27FC236}">
                <a16:creationId xmlns:a16="http://schemas.microsoft.com/office/drawing/2014/main" id="{EEF1D7E7-413E-0B0F-8952-E088F15D487A}"/>
              </a:ext>
            </a:extLst>
          </p:cNvPr>
          <p:cNvSpPr/>
          <p:nvPr/>
        </p:nvSpPr>
        <p:spPr>
          <a:xfrm>
            <a:off x="4540094" y="2080125"/>
            <a:ext cx="2734235" cy="247889"/>
          </a:xfrm>
          <a:prstGeom prst="lef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zh-CN" altLang="en-US"/>
          </a:p>
        </p:txBody>
      </p:sp>
      <p:sp>
        <p:nvSpPr>
          <p:cNvPr id="3" name="内容占位符 2">
            <a:extLst>
              <a:ext uri="{FF2B5EF4-FFF2-40B4-BE49-F238E27FC236}">
                <a16:creationId xmlns:a16="http://schemas.microsoft.com/office/drawing/2014/main" id="{A06B7C4A-CF16-1AF5-8978-5C7901F066CF}"/>
              </a:ext>
            </a:extLst>
          </p:cNvPr>
          <p:cNvSpPr>
            <a:spLocks noGrp="1"/>
          </p:cNvSpPr>
          <p:nvPr>
            <p:ph idx="1"/>
          </p:nvPr>
        </p:nvSpPr>
        <p:spPr>
          <a:xfrm>
            <a:off x="369186" y="1185191"/>
            <a:ext cx="10515600" cy="4351338"/>
          </a:xfrm>
        </p:spPr>
        <p:txBody>
          <a:bodyPr/>
          <a:lstStyle/>
          <a:p>
            <a:pPr>
              <a:buFont typeface="Wingdings" pitchFamily="2" charset="2"/>
              <a:buChar char="n"/>
            </a:pPr>
            <a:r>
              <a:rPr kumimoji="1" lang="zh-CN" altLang="en-US" b="1" dirty="0"/>
              <a:t>音乐流派对驾驶行为影响的研究结论不一致</a:t>
            </a:r>
          </a:p>
        </p:txBody>
      </p:sp>
      <p:sp>
        <p:nvSpPr>
          <p:cNvPr id="9" name="文本框 8">
            <a:extLst>
              <a:ext uri="{FF2B5EF4-FFF2-40B4-BE49-F238E27FC236}">
                <a16:creationId xmlns:a16="http://schemas.microsoft.com/office/drawing/2014/main" id="{7E1E3B11-ACE6-9F1F-549E-571D6F0A759F}"/>
              </a:ext>
            </a:extLst>
          </p:cNvPr>
          <p:cNvSpPr txBox="1"/>
          <p:nvPr/>
        </p:nvSpPr>
        <p:spPr>
          <a:xfrm>
            <a:off x="7274329" y="1787239"/>
            <a:ext cx="4634753" cy="787075"/>
          </a:xfrm>
          <a:prstGeom prst="rect">
            <a:avLst/>
          </a:prstGeom>
          <a:noFill/>
        </p:spPr>
        <p:txBody>
          <a:bodyPr wrap="square">
            <a:spAutoFit/>
          </a:bodyPr>
          <a:lstStyle/>
          <a:p>
            <a:pPr>
              <a:lnSpc>
                <a:spcPct val="150000"/>
              </a:lnSpc>
            </a:pPr>
            <a:r>
              <a:rPr lang="zh-CN" altLang="en-US" sz="1600" kern="100" dirty="0">
                <a:effectLst/>
                <a:latin typeface="Arial" panose="020B0604020202020204" pitchFamily="34" charset="0"/>
                <a:ea typeface="Microsoft YaHei" panose="020B0503020204020204" pitchFamily="34" charset="-122"/>
                <a:cs typeface="Arial" panose="020B0604020202020204" pitchFamily="34" charset="0"/>
              </a:rPr>
              <a:t>更多碰撞，</a:t>
            </a:r>
            <a:r>
              <a:rPr lang="zh-CN" altLang="en-US" sz="1600" b="1" kern="100" dirty="0">
                <a:effectLst/>
                <a:latin typeface="Arial" panose="020B0604020202020204" pitchFamily="34" charset="0"/>
                <a:ea typeface="Microsoft YaHei" panose="020B0503020204020204" pitchFamily="34" charset="-122"/>
                <a:cs typeface="Arial" panose="020B0604020202020204" pitchFamily="34" charset="0"/>
              </a:rPr>
              <a:t>不利</a:t>
            </a:r>
            <a:r>
              <a:rPr lang="zh-CN" altLang="en-US" sz="1600" kern="100" dirty="0">
                <a:effectLst/>
                <a:latin typeface="Arial" panose="020B0604020202020204" pitchFamily="34" charset="0"/>
                <a:ea typeface="Microsoft YaHei" panose="020B0503020204020204" pitchFamily="34" charset="-122"/>
                <a:cs typeface="Arial" panose="020B0604020202020204" pitchFamily="34" charset="0"/>
              </a:rPr>
              <a:t>于驾驶安全 </a:t>
            </a:r>
            <a:r>
              <a:rPr lang="en-US" altLang="zh-CN" sz="1200" kern="1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a:t>
            </a:r>
            <a:r>
              <a:rPr lang="en" altLang="zh-CN" sz="1200" kern="1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Babić</a:t>
            </a:r>
            <a:r>
              <a:rPr lang="zh-CN" altLang="en-US" sz="1200" kern="1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等</a:t>
            </a:r>
            <a:r>
              <a:rPr lang="en-US" altLang="zh-CN" sz="1200" kern="1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2021; </a:t>
            </a:r>
            <a:r>
              <a:rPr lang="en" altLang="zh-CN" sz="1200" kern="100" dirty="0" err="1">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Febriandirza</a:t>
            </a:r>
            <a:r>
              <a:rPr lang="zh-CN" altLang="en-US" sz="1200" kern="1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等</a:t>
            </a:r>
            <a:r>
              <a:rPr lang="en-US" altLang="zh-CN" sz="1200" kern="1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2017; </a:t>
            </a:r>
            <a:r>
              <a:rPr lang="en" altLang="zh-CN" sz="1200" kern="1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Wen</a:t>
            </a:r>
            <a:r>
              <a:rPr lang="zh-CN" altLang="en-US" sz="1200" kern="1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等</a:t>
            </a:r>
            <a:r>
              <a:rPr lang="en-US" altLang="zh-CN" sz="1200" kern="1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2019)</a:t>
            </a:r>
            <a:r>
              <a:rPr lang="zh-CN" altLang="en-US" sz="1600" kern="100" dirty="0">
                <a:effectLst/>
                <a:latin typeface="Arial" panose="020B0604020202020204" pitchFamily="34" charset="0"/>
                <a:ea typeface="Microsoft YaHei" panose="020B0503020204020204" pitchFamily="34" charset="-122"/>
                <a:cs typeface="Arial" panose="020B0604020202020204" pitchFamily="34" charset="0"/>
              </a:rPr>
              <a:t>。</a:t>
            </a:r>
            <a:endParaRPr lang="zh-CN" altLang="en-US" sz="1600" dirty="0">
              <a:latin typeface="Arial" panose="020B0604020202020204" pitchFamily="34" charset="0"/>
              <a:ea typeface="Microsoft YaHei" panose="020B0503020204020204" pitchFamily="34" charset="-122"/>
              <a:cs typeface="Arial" panose="020B0604020202020204" pitchFamily="34" charset="0"/>
            </a:endParaRPr>
          </a:p>
        </p:txBody>
      </p:sp>
      <p:pic>
        <p:nvPicPr>
          <p:cNvPr id="2" name="图片 1">
            <a:extLst>
              <a:ext uri="{FF2B5EF4-FFF2-40B4-BE49-F238E27FC236}">
                <a16:creationId xmlns:a16="http://schemas.microsoft.com/office/drawing/2014/main" id="{5DFAA0F8-7D43-9D25-FC1E-BFEFF34E4F8C}"/>
              </a:ext>
            </a:extLst>
          </p:cNvPr>
          <p:cNvPicPr>
            <a:picLocks noChangeAspect="1"/>
          </p:cNvPicPr>
          <p:nvPr/>
        </p:nvPicPr>
        <p:blipFill rotWithShape="1">
          <a:blip r:embed="rId3"/>
          <a:srcRect t="9018"/>
          <a:stretch/>
        </p:blipFill>
        <p:spPr>
          <a:xfrm>
            <a:off x="5623009" y="1415998"/>
            <a:ext cx="568405" cy="1456620"/>
          </a:xfrm>
          <a:prstGeom prst="rect">
            <a:avLst/>
          </a:prstGeom>
        </p:spPr>
      </p:pic>
      <p:sp>
        <p:nvSpPr>
          <p:cNvPr id="6" name="文本框 5">
            <a:extLst>
              <a:ext uri="{FF2B5EF4-FFF2-40B4-BE49-F238E27FC236}">
                <a16:creationId xmlns:a16="http://schemas.microsoft.com/office/drawing/2014/main" id="{9DE38935-CEDE-94BC-8B6F-02FE7835E862}"/>
              </a:ext>
            </a:extLst>
          </p:cNvPr>
          <p:cNvSpPr txBox="1"/>
          <p:nvPr/>
        </p:nvSpPr>
        <p:spPr>
          <a:xfrm>
            <a:off x="501494" y="1827923"/>
            <a:ext cx="3897405" cy="705706"/>
          </a:xfrm>
          <a:prstGeom prst="rect">
            <a:avLst/>
          </a:prstGeom>
          <a:noFill/>
        </p:spPr>
        <p:txBody>
          <a:bodyPr wrap="square">
            <a:spAutoFit/>
          </a:bodyPr>
          <a:lstStyle/>
          <a:p>
            <a:pPr>
              <a:lnSpc>
                <a:spcPct val="150000"/>
              </a:lnSpc>
            </a:pPr>
            <a:r>
              <a:rPr lang="zh-CN" altLang="en-US" sz="1600" kern="100" dirty="0">
                <a:effectLst/>
                <a:latin typeface="Arial" panose="020B0604020202020204" pitchFamily="34" charset="0"/>
                <a:ea typeface="Microsoft YaHei" panose="020B0503020204020204" pitchFamily="34" charset="-122"/>
                <a:cs typeface="Arial" panose="020B0604020202020204" pitchFamily="34" charset="0"/>
              </a:rPr>
              <a:t>驾驶员的反应更快，</a:t>
            </a:r>
            <a:r>
              <a:rPr lang="zh-CN" altLang="en-US" sz="1600" b="1" kern="100" dirty="0">
                <a:effectLst/>
                <a:latin typeface="Arial" panose="020B0604020202020204" pitchFamily="34" charset="0"/>
                <a:ea typeface="Microsoft YaHei" panose="020B0503020204020204" pitchFamily="34" charset="-122"/>
                <a:cs typeface="Arial" panose="020B0604020202020204" pitchFamily="34" charset="0"/>
              </a:rPr>
              <a:t>有利</a:t>
            </a:r>
            <a:r>
              <a:rPr lang="zh-CN" altLang="en-US" sz="1600" kern="100" dirty="0">
                <a:effectLst/>
                <a:latin typeface="Arial" panose="020B0604020202020204" pitchFamily="34" charset="0"/>
                <a:ea typeface="Microsoft YaHei" panose="020B0503020204020204" pitchFamily="34" charset="-122"/>
                <a:cs typeface="Arial" panose="020B0604020202020204" pitchFamily="34" charset="0"/>
              </a:rPr>
              <a:t>于驾驶安全 </a:t>
            </a:r>
            <a:endParaRPr lang="en-US" altLang="zh-CN" sz="1600" kern="100" dirty="0">
              <a:effectLst/>
              <a:latin typeface="Arial" panose="020B0604020202020204" pitchFamily="34" charset="0"/>
              <a:ea typeface="Microsoft YaHei" panose="020B0503020204020204" pitchFamily="34" charset="-122"/>
              <a:cs typeface="Arial" panose="020B0604020202020204" pitchFamily="34" charset="0"/>
            </a:endParaRPr>
          </a:p>
          <a:p>
            <a:pPr>
              <a:lnSpc>
                <a:spcPct val="150000"/>
              </a:lnSpc>
            </a:pPr>
            <a:r>
              <a:rPr lang="en-US" altLang="zh-CN" sz="1200" kern="1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a:t>
            </a:r>
            <a:r>
              <a:rPr lang="en" altLang="zh-CN" sz="1200" kern="100" dirty="0" err="1">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Beh</a:t>
            </a:r>
            <a:r>
              <a:rPr lang="en" altLang="zh-CN" sz="1200" kern="1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&amp; Hirst, 1999; Matthews</a:t>
            </a:r>
            <a:r>
              <a:rPr lang="zh-CN" altLang="en-US" sz="1200" kern="1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等</a:t>
            </a:r>
            <a:r>
              <a:rPr lang="en-US" altLang="zh-CN" sz="1200" kern="1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1998)</a:t>
            </a:r>
            <a:endParaRPr lang="zh-CN" altLang="en-US" sz="1200" dirty="0"/>
          </a:p>
        </p:txBody>
      </p:sp>
      <p:sp>
        <p:nvSpPr>
          <p:cNvPr id="5" name="标题 1">
            <a:extLst>
              <a:ext uri="{FF2B5EF4-FFF2-40B4-BE49-F238E27FC236}">
                <a16:creationId xmlns:a16="http://schemas.microsoft.com/office/drawing/2014/main" id="{DC098A25-2D57-A2C4-27BD-B43DC3FED83D}"/>
              </a:ext>
            </a:extLst>
          </p:cNvPr>
          <p:cNvSpPr>
            <a:spLocks noGrp="1"/>
          </p:cNvSpPr>
          <p:nvPr>
            <p:ph type="title"/>
          </p:nvPr>
        </p:nvSpPr>
        <p:spPr>
          <a:xfrm>
            <a:off x="339443" y="-16370"/>
            <a:ext cx="10515600" cy="1325563"/>
          </a:xfrm>
        </p:spPr>
        <p:txBody>
          <a:bodyPr/>
          <a:lstStyle/>
          <a:p>
            <a:r>
              <a:rPr kumimoji="1" lang="zh-CN" altLang="en-US" dirty="0"/>
              <a:t>文献综述  </a:t>
            </a:r>
            <a:r>
              <a:rPr kumimoji="1" lang="zh-CN" altLang="en-US" sz="2000" dirty="0"/>
              <a:t>音乐流派对驾驶行为的影响</a:t>
            </a:r>
          </a:p>
        </p:txBody>
      </p:sp>
      <p:grpSp>
        <p:nvGrpSpPr>
          <p:cNvPr id="23" name="组合 22">
            <a:extLst>
              <a:ext uri="{FF2B5EF4-FFF2-40B4-BE49-F238E27FC236}">
                <a16:creationId xmlns:a16="http://schemas.microsoft.com/office/drawing/2014/main" id="{3893E25E-E287-908B-EDF7-5374D54D0F8B}"/>
              </a:ext>
            </a:extLst>
          </p:cNvPr>
          <p:cNvGrpSpPr/>
          <p:nvPr/>
        </p:nvGrpSpPr>
        <p:grpSpPr>
          <a:xfrm>
            <a:off x="4255155" y="3552967"/>
            <a:ext cx="3666523" cy="1924409"/>
            <a:chOff x="4255155" y="3552967"/>
            <a:chExt cx="3666523" cy="1924409"/>
          </a:xfrm>
        </p:grpSpPr>
        <p:sp>
          <p:nvSpPr>
            <p:cNvPr id="24" name="对角圆角矩形 23">
              <a:extLst>
                <a:ext uri="{FF2B5EF4-FFF2-40B4-BE49-F238E27FC236}">
                  <a16:creationId xmlns:a16="http://schemas.microsoft.com/office/drawing/2014/main" id="{B80DC3A5-EBF5-12F8-2430-581F30F95BFB}"/>
                </a:ext>
              </a:extLst>
            </p:cNvPr>
            <p:cNvSpPr/>
            <p:nvPr/>
          </p:nvSpPr>
          <p:spPr>
            <a:xfrm>
              <a:off x="4777124" y="3802285"/>
              <a:ext cx="2637751" cy="1418492"/>
            </a:xfrm>
            <a:prstGeom prst="round2DiagRect">
              <a:avLst>
                <a:gd name="adj1" fmla="val 0"/>
                <a:gd name="adj2" fmla="val 1667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5" name="直线连接符 24">
              <a:extLst>
                <a:ext uri="{FF2B5EF4-FFF2-40B4-BE49-F238E27FC236}">
                  <a16:creationId xmlns:a16="http://schemas.microsoft.com/office/drawing/2014/main" id="{4FA982BF-743A-4C44-F3DC-5A41EF1D9959}"/>
                </a:ext>
              </a:extLst>
            </p:cNvPr>
            <p:cNvSpPr/>
            <p:nvPr/>
          </p:nvSpPr>
          <p:spPr>
            <a:xfrm>
              <a:off x="6096000" y="3952731"/>
              <a:ext cx="351" cy="1117600"/>
            </a:xfrm>
            <a:prstGeom prst="line">
              <a:avLst/>
            </a:prstGeom>
          </p:spPr>
          <p:style>
            <a:lnRef idx="2">
              <a:schemeClr val="accent1">
                <a:tint val="50000"/>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p:nvSpPr>
            <p:cNvPr id="26" name="任意形状 25">
              <a:extLst>
                <a:ext uri="{FF2B5EF4-FFF2-40B4-BE49-F238E27FC236}">
                  <a16:creationId xmlns:a16="http://schemas.microsoft.com/office/drawing/2014/main" id="{E7E33E6B-0422-2CAC-224C-EE3BAD86E960}"/>
                </a:ext>
              </a:extLst>
            </p:cNvPr>
            <p:cNvSpPr/>
            <p:nvPr/>
          </p:nvSpPr>
          <p:spPr>
            <a:xfrm>
              <a:off x="4865050" y="4083272"/>
              <a:ext cx="1143025" cy="1203569"/>
            </a:xfrm>
            <a:custGeom>
              <a:avLst/>
              <a:gdLst>
                <a:gd name="connsiteX0" fmla="*/ 0 w 1143025"/>
                <a:gd name="connsiteY0" fmla="*/ 0 h 1203569"/>
                <a:gd name="connsiteX1" fmla="*/ 1143025 w 1143025"/>
                <a:gd name="connsiteY1" fmla="*/ 0 h 1203569"/>
                <a:gd name="connsiteX2" fmla="*/ 1143025 w 1143025"/>
                <a:gd name="connsiteY2" fmla="*/ 1203569 h 1203569"/>
                <a:gd name="connsiteX3" fmla="*/ 0 w 1143025"/>
                <a:gd name="connsiteY3" fmla="*/ 1203569 h 1203569"/>
                <a:gd name="connsiteX4" fmla="*/ 0 w 1143025"/>
                <a:gd name="connsiteY4" fmla="*/ 0 h 1203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25" h="1203569">
                  <a:moveTo>
                    <a:pt x="0" y="0"/>
                  </a:moveTo>
                  <a:lnTo>
                    <a:pt x="1143025" y="0"/>
                  </a:lnTo>
                  <a:lnTo>
                    <a:pt x="1143025" y="1203569"/>
                  </a:lnTo>
                  <a:lnTo>
                    <a:pt x="0" y="1203569"/>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0010" tIns="80010" rIns="80010" bIns="80010" numCol="1" spcCol="1270" anchor="t" anchorCtr="0">
              <a:noAutofit/>
            </a:bodyPr>
            <a:lstStyle/>
            <a:p>
              <a:pPr marL="0" lvl="0" indent="0" algn="ctr" defTabSz="933450">
                <a:lnSpc>
                  <a:spcPct val="90000"/>
                </a:lnSpc>
                <a:spcBef>
                  <a:spcPct val="0"/>
                </a:spcBef>
                <a:spcAft>
                  <a:spcPct val="35000"/>
                </a:spcAft>
                <a:buNone/>
              </a:pPr>
              <a:r>
                <a:rPr lang="zh-CN" altLang="en-US" sz="2100" kern="1200" dirty="0">
                  <a:solidFill>
                    <a:schemeClr val="bg1"/>
                  </a:solidFill>
                  <a:latin typeface="Microsoft YaHei" panose="020B0503020204020204" pitchFamily="34" charset="-122"/>
                  <a:ea typeface="Microsoft YaHei" panose="020B0503020204020204" pitchFamily="34" charset="-122"/>
                </a:rPr>
                <a:t>自上</a:t>
              </a:r>
              <a:endParaRPr lang="en-US" altLang="zh-CN" sz="2100" kern="1200" dirty="0">
                <a:solidFill>
                  <a:schemeClr val="bg1"/>
                </a:solidFill>
                <a:latin typeface="Microsoft YaHei" panose="020B0503020204020204" pitchFamily="34" charset="-122"/>
                <a:ea typeface="Microsoft YaHei" panose="020B0503020204020204" pitchFamily="34" charset="-122"/>
              </a:endParaRPr>
            </a:p>
            <a:p>
              <a:pPr marL="0" lvl="0" indent="0" algn="ctr" defTabSz="933450">
                <a:lnSpc>
                  <a:spcPct val="90000"/>
                </a:lnSpc>
                <a:spcBef>
                  <a:spcPct val="0"/>
                </a:spcBef>
                <a:spcAft>
                  <a:spcPct val="35000"/>
                </a:spcAft>
                <a:buNone/>
              </a:pPr>
              <a:r>
                <a:rPr lang="zh-CN" altLang="en-US" sz="2100" kern="1200" dirty="0">
                  <a:solidFill>
                    <a:schemeClr val="bg1"/>
                  </a:solidFill>
                  <a:latin typeface="Microsoft YaHei" panose="020B0503020204020204" pitchFamily="34" charset="-122"/>
                  <a:ea typeface="Microsoft YaHei" panose="020B0503020204020204" pitchFamily="34" charset="-122"/>
                </a:rPr>
                <a:t>而</a:t>
              </a:r>
              <a:r>
                <a:rPr lang="zh-CN" altLang="en-US" sz="2100" dirty="0">
                  <a:solidFill>
                    <a:schemeClr val="bg1"/>
                  </a:solidFill>
                  <a:latin typeface="Microsoft YaHei" panose="020B0503020204020204" pitchFamily="34" charset="-122"/>
                  <a:ea typeface="Microsoft YaHei" panose="020B0503020204020204" pitchFamily="34" charset="-122"/>
                </a:rPr>
                <a:t>下</a:t>
              </a:r>
              <a:endParaRPr lang="zh-CN" altLang="en-US" sz="2100" kern="1200" dirty="0">
                <a:solidFill>
                  <a:schemeClr val="bg1"/>
                </a:solidFill>
                <a:latin typeface="Microsoft YaHei" panose="020B0503020204020204" pitchFamily="34" charset="-122"/>
                <a:ea typeface="Microsoft YaHei" panose="020B0503020204020204" pitchFamily="34" charset="-122"/>
              </a:endParaRPr>
            </a:p>
          </p:txBody>
        </p:sp>
        <p:sp>
          <p:nvSpPr>
            <p:cNvPr id="27" name="任意形状 26">
              <a:extLst>
                <a:ext uri="{FF2B5EF4-FFF2-40B4-BE49-F238E27FC236}">
                  <a16:creationId xmlns:a16="http://schemas.microsoft.com/office/drawing/2014/main" id="{733E6C39-91FD-C354-E8B0-FE6BBA904E1F}"/>
                </a:ext>
              </a:extLst>
            </p:cNvPr>
            <p:cNvSpPr/>
            <p:nvPr/>
          </p:nvSpPr>
          <p:spPr>
            <a:xfrm>
              <a:off x="6183926" y="4092365"/>
              <a:ext cx="1143025" cy="1203569"/>
            </a:xfrm>
            <a:custGeom>
              <a:avLst/>
              <a:gdLst>
                <a:gd name="connsiteX0" fmla="*/ 0 w 1143025"/>
                <a:gd name="connsiteY0" fmla="*/ 0 h 1203569"/>
                <a:gd name="connsiteX1" fmla="*/ 1143025 w 1143025"/>
                <a:gd name="connsiteY1" fmla="*/ 0 h 1203569"/>
                <a:gd name="connsiteX2" fmla="*/ 1143025 w 1143025"/>
                <a:gd name="connsiteY2" fmla="*/ 1203569 h 1203569"/>
                <a:gd name="connsiteX3" fmla="*/ 0 w 1143025"/>
                <a:gd name="connsiteY3" fmla="*/ 1203569 h 1203569"/>
                <a:gd name="connsiteX4" fmla="*/ 0 w 1143025"/>
                <a:gd name="connsiteY4" fmla="*/ 0 h 1203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25" h="1203569">
                  <a:moveTo>
                    <a:pt x="0" y="0"/>
                  </a:moveTo>
                  <a:lnTo>
                    <a:pt x="1143025" y="0"/>
                  </a:lnTo>
                  <a:lnTo>
                    <a:pt x="1143025" y="1203569"/>
                  </a:lnTo>
                  <a:lnTo>
                    <a:pt x="0" y="1203569"/>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0010" tIns="80010" rIns="80010" bIns="80010" numCol="1" spcCol="1270" anchor="t" anchorCtr="0">
              <a:noAutofit/>
            </a:bodyPr>
            <a:lstStyle/>
            <a:p>
              <a:pPr marL="0" lvl="0" indent="0" algn="ctr" defTabSz="933450">
                <a:lnSpc>
                  <a:spcPct val="90000"/>
                </a:lnSpc>
                <a:spcBef>
                  <a:spcPct val="0"/>
                </a:spcBef>
                <a:spcAft>
                  <a:spcPct val="35000"/>
                </a:spcAft>
                <a:buNone/>
              </a:pPr>
              <a:r>
                <a:rPr lang="zh-CN" altLang="en-US" sz="2100" kern="1200" dirty="0">
                  <a:solidFill>
                    <a:schemeClr val="bg1"/>
                  </a:solidFill>
                  <a:latin typeface="Microsoft YaHei" panose="020B0503020204020204" pitchFamily="34" charset="-122"/>
                  <a:ea typeface="Microsoft YaHei" panose="020B0503020204020204" pitchFamily="34" charset="-122"/>
                </a:rPr>
                <a:t>自</a:t>
              </a:r>
              <a:r>
                <a:rPr lang="zh-CN" altLang="en-US" sz="2100" dirty="0">
                  <a:solidFill>
                    <a:schemeClr val="bg1"/>
                  </a:solidFill>
                  <a:latin typeface="Microsoft YaHei" panose="020B0503020204020204" pitchFamily="34" charset="-122"/>
                  <a:ea typeface="Microsoft YaHei" panose="020B0503020204020204" pitchFamily="34" charset="-122"/>
                </a:rPr>
                <a:t>下</a:t>
              </a:r>
              <a:endParaRPr lang="en-US" altLang="zh-CN" sz="2100" kern="1200" dirty="0">
                <a:solidFill>
                  <a:schemeClr val="bg1"/>
                </a:solidFill>
                <a:latin typeface="Microsoft YaHei" panose="020B0503020204020204" pitchFamily="34" charset="-122"/>
                <a:ea typeface="Microsoft YaHei" panose="020B0503020204020204" pitchFamily="34" charset="-122"/>
              </a:endParaRPr>
            </a:p>
            <a:p>
              <a:pPr marL="0" lvl="0" indent="0" algn="ctr" defTabSz="933450">
                <a:lnSpc>
                  <a:spcPct val="90000"/>
                </a:lnSpc>
                <a:spcBef>
                  <a:spcPct val="0"/>
                </a:spcBef>
                <a:spcAft>
                  <a:spcPct val="35000"/>
                </a:spcAft>
                <a:buNone/>
              </a:pPr>
              <a:r>
                <a:rPr lang="zh-CN" altLang="en-US" sz="2100" kern="1200" dirty="0">
                  <a:solidFill>
                    <a:schemeClr val="bg1"/>
                  </a:solidFill>
                  <a:latin typeface="Microsoft YaHei" panose="020B0503020204020204" pitchFamily="34" charset="-122"/>
                  <a:ea typeface="Microsoft YaHei" panose="020B0503020204020204" pitchFamily="34" charset="-122"/>
                </a:rPr>
                <a:t>而上</a:t>
              </a:r>
            </a:p>
          </p:txBody>
        </p:sp>
        <p:sp>
          <p:nvSpPr>
            <p:cNvPr id="28" name="任意形状 27">
              <a:extLst>
                <a:ext uri="{FF2B5EF4-FFF2-40B4-BE49-F238E27FC236}">
                  <a16:creationId xmlns:a16="http://schemas.microsoft.com/office/drawing/2014/main" id="{40E12071-942E-895A-36C1-D4A9C1BA2F33}"/>
                </a:ext>
              </a:extLst>
            </p:cNvPr>
            <p:cNvSpPr/>
            <p:nvPr/>
          </p:nvSpPr>
          <p:spPr>
            <a:xfrm rot="16200000">
              <a:off x="6928143" y="4483840"/>
              <a:ext cx="1547446" cy="439625"/>
            </a:xfrm>
            <a:custGeom>
              <a:avLst/>
              <a:gdLst>
                <a:gd name="connsiteX0" fmla="*/ 0 w 1547446"/>
                <a:gd name="connsiteY0" fmla="*/ 110280 h 439625"/>
                <a:gd name="connsiteX1" fmla="*/ 1280769 w 1547446"/>
                <a:gd name="connsiteY1" fmla="*/ 110280 h 439625"/>
                <a:gd name="connsiteX2" fmla="*/ 1280769 w 1547446"/>
                <a:gd name="connsiteY2" fmla="*/ 0 h 439625"/>
                <a:gd name="connsiteX3" fmla="*/ 1547446 w 1547446"/>
                <a:gd name="connsiteY3" fmla="*/ 219813 h 439625"/>
                <a:gd name="connsiteX4" fmla="*/ 1280769 w 1547446"/>
                <a:gd name="connsiteY4" fmla="*/ 439625 h 439625"/>
                <a:gd name="connsiteX5" fmla="*/ 1280769 w 1547446"/>
                <a:gd name="connsiteY5" fmla="*/ 329345 h 439625"/>
                <a:gd name="connsiteX6" fmla="*/ 0 w 1547446"/>
                <a:gd name="connsiteY6" fmla="*/ 329345 h 439625"/>
                <a:gd name="connsiteX7" fmla="*/ 0 w 1547446"/>
                <a:gd name="connsiteY7" fmla="*/ 110280 h 439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7446" h="439625">
                  <a:moveTo>
                    <a:pt x="0" y="110280"/>
                  </a:moveTo>
                  <a:lnTo>
                    <a:pt x="1280769" y="110280"/>
                  </a:lnTo>
                  <a:lnTo>
                    <a:pt x="1280769" y="0"/>
                  </a:lnTo>
                  <a:lnTo>
                    <a:pt x="1547446" y="219813"/>
                  </a:lnTo>
                  <a:lnTo>
                    <a:pt x="1280769" y="439625"/>
                  </a:lnTo>
                  <a:lnTo>
                    <a:pt x="1280769" y="329345"/>
                  </a:lnTo>
                  <a:lnTo>
                    <a:pt x="0" y="329345"/>
                  </a:lnTo>
                  <a:lnTo>
                    <a:pt x="0" y="110280"/>
                  </a:lnTo>
                  <a:close/>
                </a:path>
              </a:pathLst>
            </a:cu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spcFirstLastPara="0" vert="horz" wrap="square" lIns="26669" tIns="136949" rIns="159556" bIns="136951" numCol="1" spcCol="1270" anchor="ctr" anchorCtr="0">
              <a:noAutofit/>
            </a:bodyPr>
            <a:lstStyle/>
            <a:p>
              <a:pPr marL="0" lvl="0" indent="0" algn="r" defTabSz="311150">
                <a:lnSpc>
                  <a:spcPct val="90000"/>
                </a:lnSpc>
                <a:spcBef>
                  <a:spcPct val="0"/>
                </a:spcBef>
                <a:spcAft>
                  <a:spcPct val="35000"/>
                </a:spcAft>
                <a:buNone/>
              </a:pPr>
              <a:endParaRPr lang="zh-CN" altLang="en-US" sz="700" kern="1200" dirty="0">
                <a:latin typeface="Microsoft YaHei" panose="020B0503020204020204" pitchFamily="34" charset="-122"/>
                <a:ea typeface="Microsoft YaHei" panose="020B0503020204020204" pitchFamily="34" charset="-122"/>
              </a:endParaRPr>
            </a:p>
          </p:txBody>
        </p:sp>
        <p:sp>
          <p:nvSpPr>
            <p:cNvPr id="29" name="任意形状 28">
              <a:extLst>
                <a:ext uri="{FF2B5EF4-FFF2-40B4-BE49-F238E27FC236}">
                  <a16:creationId xmlns:a16="http://schemas.microsoft.com/office/drawing/2014/main" id="{E24BDDC3-61A5-56DE-8EA7-0D662D6E4D7D}"/>
                </a:ext>
              </a:extLst>
            </p:cNvPr>
            <p:cNvSpPr/>
            <p:nvPr/>
          </p:nvSpPr>
          <p:spPr>
            <a:xfrm rot="5400000">
              <a:off x="3701245" y="4106877"/>
              <a:ext cx="1547446" cy="439625"/>
            </a:xfrm>
            <a:custGeom>
              <a:avLst/>
              <a:gdLst>
                <a:gd name="connsiteX0" fmla="*/ 0 w 1547446"/>
                <a:gd name="connsiteY0" fmla="*/ 110280 h 439625"/>
                <a:gd name="connsiteX1" fmla="*/ 1280769 w 1547446"/>
                <a:gd name="connsiteY1" fmla="*/ 110280 h 439625"/>
                <a:gd name="connsiteX2" fmla="*/ 1280769 w 1547446"/>
                <a:gd name="connsiteY2" fmla="*/ 0 h 439625"/>
                <a:gd name="connsiteX3" fmla="*/ 1547446 w 1547446"/>
                <a:gd name="connsiteY3" fmla="*/ 219813 h 439625"/>
                <a:gd name="connsiteX4" fmla="*/ 1280769 w 1547446"/>
                <a:gd name="connsiteY4" fmla="*/ 439625 h 439625"/>
                <a:gd name="connsiteX5" fmla="*/ 1280769 w 1547446"/>
                <a:gd name="connsiteY5" fmla="*/ 329345 h 439625"/>
                <a:gd name="connsiteX6" fmla="*/ 0 w 1547446"/>
                <a:gd name="connsiteY6" fmla="*/ 329345 h 439625"/>
                <a:gd name="connsiteX7" fmla="*/ 0 w 1547446"/>
                <a:gd name="connsiteY7" fmla="*/ 110280 h 439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7446" h="439625">
                  <a:moveTo>
                    <a:pt x="0" y="110280"/>
                  </a:moveTo>
                  <a:lnTo>
                    <a:pt x="1280769" y="110280"/>
                  </a:lnTo>
                  <a:lnTo>
                    <a:pt x="1280769" y="0"/>
                  </a:lnTo>
                  <a:lnTo>
                    <a:pt x="1547446" y="219813"/>
                  </a:lnTo>
                  <a:lnTo>
                    <a:pt x="1280769" y="439625"/>
                  </a:lnTo>
                  <a:lnTo>
                    <a:pt x="1280769" y="329345"/>
                  </a:lnTo>
                  <a:lnTo>
                    <a:pt x="0" y="329345"/>
                  </a:lnTo>
                  <a:lnTo>
                    <a:pt x="0" y="110280"/>
                  </a:lnTo>
                  <a:close/>
                </a:path>
              </a:pathLst>
            </a:cu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spcFirstLastPara="0" vert="horz" wrap="square" lIns="26671" tIns="136949" rIns="159554" bIns="136951" numCol="1" spcCol="1270" anchor="ctr" anchorCtr="0">
              <a:noAutofit/>
            </a:bodyPr>
            <a:lstStyle/>
            <a:p>
              <a:pPr marL="0" lvl="0" indent="0" algn="r" defTabSz="311150">
                <a:lnSpc>
                  <a:spcPct val="90000"/>
                </a:lnSpc>
                <a:spcBef>
                  <a:spcPct val="0"/>
                </a:spcBef>
                <a:spcAft>
                  <a:spcPct val="35000"/>
                </a:spcAft>
                <a:buNone/>
              </a:pPr>
              <a:endParaRPr lang="zh-CN" altLang="en-US" sz="700" kern="1200" dirty="0">
                <a:latin typeface="Microsoft YaHei" panose="020B0503020204020204" pitchFamily="34" charset="-122"/>
                <a:ea typeface="Microsoft YaHei" panose="020B0503020204020204" pitchFamily="34" charset="-122"/>
              </a:endParaRPr>
            </a:p>
          </p:txBody>
        </p:sp>
      </p:grpSp>
      <p:sp>
        <p:nvSpPr>
          <p:cNvPr id="8" name="内容占位符 2">
            <a:extLst>
              <a:ext uri="{FF2B5EF4-FFF2-40B4-BE49-F238E27FC236}">
                <a16:creationId xmlns:a16="http://schemas.microsoft.com/office/drawing/2014/main" id="{D694F173-59F4-6FED-284F-9152503A07EC}"/>
              </a:ext>
            </a:extLst>
          </p:cNvPr>
          <p:cNvSpPr txBox="1">
            <a:spLocks/>
          </p:cNvSpPr>
          <p:nvPr/>
        </p:nvSpPr>
        <p:spPr>
          <a:xfrm>
            <a:off x="369186" y="2924744"/>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n"/>
            </a:pPr>
            <a:r>
              <a:rPr kumimoji="1" lang="zh-CN" altLang="en-US" b="1" dirty="0"/>
              <a:t>音乐欣赏的注意过程</a:t>
            </a:r>
          </a:p>
        </p:txBody>
      </p:sp>
      <p:pic>
        <p:nvPicPr>
          <p:cNvPr id="12" name="图片 11">
            <a:extLst>
              <a:ext uri="{FF2B5EF4-FFF2-40B4-BE49-F238E27FC236}">
                <a16:creationId xmlns:a16="http://schemas.microsoft.com/office/drawing/2014/main" id="{576506D4-81EA-DE56-A5D5-225E91E673BE}"/>
              </a:ext>
            </a:extLst>
          </p:cNvPr>
          <p:cNvPicPr>
            <a:picLocks noChangeAspect="1"/>
          </p:cNvPicPr>
          <p:nvPr/>
        </p:nvPicPr>
        <p:blipFill>
          <a:blip r:embed="rId4"/>
          <a:stretch>
            <a:fillRect/>
          </a:stretch>
        </p:blipFill>
        <p:spPr>
          <a:xfrm>
            <a:off x="2584365" y="3358145"/>
            <a:ext cx="1361178" cy="1266388"/>
          </a:xfrm>
          <a:prstGeom prst="rect">
            <a:avLst/>
          </a:prstGeom>
        </p:spPr>
      </p:pic>
      <p:sp>
        <p:nvSpPr>
          <p:cNvPr id="13" name="文本框 12">
            <a:extLst>
              <a:ext uri="{FF2B5EF4-FFF2-40B4-BE49-F238E27FC236}">
                <a16:creationId xmlns:a16="http://schemas.microsoft.com/office/drawing/2014/main" id="{2466CDEE-3292-A89B-94F8-F46CA0DEF76E}"/>
              </a:ext>
            </a:extLst>
          </p:cNvPr>
          <p:cNvSpPr txBox="1"/>
          <p:nvPr/>
        </p:nvSpPr>
        <p:spPr>
          <a:xfrm>
            <a:off x="8103585" y="4537790"/>
            <a:ext cx="3704655" cy="787460"/>
          </a:xfrm>
          <a:prstGeom prst="rect">
            <a:avLst/>
          </a:prstGeom>
          <a:noFill/>
        </p:spPr>
        <p:txBody>
          <a:bodyPr wrap="square" rtlCol="0">
            <a:spAutoFit/>
          </a:bodyPr>
          <a:lstStyle/>
          <a:p>
            <a:pPr>
              <a:lnSpc>
                <a:spcPct val="150000"/>
              </a:lnSpc>
            </a:pPr>
            <a:r>
              <a:rPr lang="zh-CN" altLang="en-US"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被</a:t>
            </a:r>
            <a:r>
              <a:rPr lang="zh-CN" altLang="zh-CN" sz="16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音乐元素</a:t>
            </a:r>
            <a:r>
              <a:rPr lang="zh-CN"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（如节奏、响度等）吸引，不涉及深入分析或理解音乐背后的内容</a:t>
            </a:r>
            <a:r>
              <a:rPr lang="zh-CN" altLang="zh-CN" sz="1600" dirty="0">
                <a:effectLst/>
                <a:latin typeface="Microsoft YaHei" panose="020B0503020204020204" pitchFamily="34" charset="-122"/>
                <a:ea typeface="Microsoft YaHei" panose="020B0503020204020204" pitchFamily="34" charset="-122"/>
              </a:rPr>
              <a:t> </a:t>
            </a:r>
            <a:endParaRPr kumimoji="1" lang="zh-CN" altLang="en-US" sz="1600" dirty="0">
              <a:latin typeface="Microsoft YaHei" panose="020B0503020204020204" pitchFamily="34" charset="-122"/>
              <a:ea typeface="Microsoft YaHei" panose="020B0503020204020204" pitchFamily="34" charset="-122"/>
            </a:endParaRPr>
          </a:p>
        </p:txBody>
      </p:sp>
      <p:sp>
        <p:nvSpPr>
          <p:cNvPr id="14" name="文本框 13">
            <a:extLst>
              <a:ext uri="{FF2B5EF4-FFF2-40B4-BE49-F238E27FC236}">
                <a16:creationId xmlns:a16="http://schemas.microsoft.com/office/drawing/2014/main" id="{E53D7A5E-3237-48C1-3939-6CB431440C20}"/>
              </a:ext>
            </a:extLst>
          </p:cNvPr>
          <p:cNvSpPr txBox="1"/>
          <p:nvPr/>
        </p:nvSpPr>
        <p:spPr>
          <a:xfrm>
            <a:off x="256791" y="4537790"/>
            <a:ext cx="3852705" cy="1156792"/>
          </a:xfrm>
          <a:prstGeom prst="rect">
            <a:avLst/>
          </a:prstGeom>
          <a:noFill/>
        </p:spPr>
        <p:txBody>
          <a:bodyPr wrap="square">
            <a:spAutoFit/>
          </a:bodyPr>
          <a:lstStyle/>
          <a:p>
            <a:pPr>
              <a:lnSpc>
                <a:spcPct val="150000"/>
              </a:lnSpc>
            </a:pPr>
            <a:r>
              <a:rPr lang="zh-CN" altLang="zh-CN" sz="1600" kern="100" dirty="0">
                <a:latin typeface="Microsoft YaHei" panose="020B0503020204020204" pitchFamily="34" charset="-122"/>
                <a:ea typeface="Microsoft YaHei" panose="020B0503020204020204" pitchFamily="34" charset="-122"/>
                <a:cs typeface="Times New Roman" panose="02020603050405020304" pitchFamily="18" charset="0"/>
              </a:rPr>
              <a:t>使用</a:t>
            </a:r>
            <a:r>
              <a:rPr lang="zh-CN" altLang="en-US" sz="1600" b="1" kern="100" dirty="0">
                <a:latin typeface="Microsoft YaHei" panose="020B0503020204020204" pitchFamily="34" charset="-122"/>
                <a:ea typeface="Microsoft YaHei" panose="020B0503020204020204" pitchFamily="34" charset="-122"/>
                <a:cs typeface="Times New Roman" panose="02020603050405020304" pitchFamily="18" charset="0"/>
              </a:rPr>
              <a:t>个体</a:t>
            </a:r>
            <a:r>
              <a:rPr lang="zh-CN" altLang="zh-CN" sz="1600" kern="100" dirty="0">
                <a:latin typeface="Microsoft YaHei" panose="020B0503020204020204" pitchFamily="34" charset="-122"/>
                <a:ea typeface="Microsoft YaHei" panose="020B0503020204020204" pitchFamily="34" charset="-122"/>
                <a:cs typeface="Times New Roman" panose="02020603050405020304" pitchFamily="18" charset="0"/>
              </a:rPr>
              <a:t>先前的</a:t>
            </a:r>
            <a:r>
              <a:rPr lang="zh-CN" altLang="en-US" sz="1600" b="1" kern="100" dirty="0">
                <a:latin typeface="Microsoft YaHei" panose="020B0503020204020204" pitchFamily="34" charset="-122"/>
                <a:ea typeface="Microsoft YaHei" panose="020B0503020204020204" pitchFamily="34" charset="-122"/>
                <a:cs typeface="Times New Roman" panose="02020603050405020304" pitchFamily="18" charset="0"/>
              </a:rPr>
              <a:t>经验和期望</a:t>
            </a:r>
            <a:r>
              <a:rPr lang="zh-CN" altLang="zh-CN" sz="1600" kern="100" dirty="0">
                <a:latin typeface="Microsoft YaHei" panose="020B0503020204020204" pitchFamily="34" charset="-122"/>
                <a:ea typeface="Microsoft YaHei" panose="020B0503020204020204" pitchFamily="34" charset="-122"/>
                <a:cs typeface="Times New Roman" panose="02020603050405020304" pitchFamily="18" charset="0"/>
              </a:rPr>
              <a:t>来理解音乐的深层含义，可能包括歌词的解读、音乐风格的分析等 </a:t>
            </a:r>
            <a:endParaRPr lang="zh-CN" altLang="en-US" sz="1600" kern="1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7" name="文本框 16">
            <a:extLst>
              <a:ext uri="{FF2B5EF4-FFF2-40B4-BE49-F238E27FC236}">
                <a16:creationId xmlns:a16="http://schemas.microsoft.com/office/drawing/2014/main" id="{37C6CAA0-9AFF-6764-EB45-9F09E44D6C4C}"/>
              </a:ext>
            </a:extLst>
          </p:cNvPr>
          <p:cNvSpPr txBox="1"/>
          <p:nvPr/>
        </p:nvSpPr>
        <p:spPr>
          <a:xfrm>
            <a:off x="5623009" y="5197440"/>
            <a:ext cx="6097656" cy="276999"/>
          </a:xfrm>
          <a:prstGeom prst="rect">
            <a:avLst/>
          </a:prstGeom>
          <a:noFill/>
        </p:spPr>
        <p:txBody>
          <a:bodyPr wrap="square">
            <a:spAutoFit/>
          </a:bodyPr>
          <a:lstStyle/>
          <a:p>
            <a:r>
              <a:rPr lang="en-US" altLang="zh-CN" sz="1200" kern="100" dirty="0">
                <a:solidFill>
                  <a:schemeClr val="tx1">
                    <a:lumMod val="50000"/>
                    <a:lumOff val="50000"/>
                  </a:schemeClr>
                </a:solidFill>
                <a:effectLst/>
                <a:latin typeface="Times New Roman" panose="02020603050405020304" pitchFamily="18" charset="0"/>
                <a:ea typeface="宋体" panose="02010600030101010101" pitchFamily="2" charset="-122"/>
              </a:rPr>
              <a:t>(LaBerge, 1995)</a:t>
            </a:r>
            <a:r>
              <a:rPr lang="zh-CN" altLang="zh-CN" sz="1200" dirty="0">
                <a:solidFill>
                  <a:schemeClr val="tx1">
                    <a:lumMod val="50000"/>
                    <a:lumOff val="50000"/>
                  </a:schemeClr>
                </a:solidFill>
                <a:effectLst/>
              </a:rPr>
              <a:t> </a:t>
            </a:r>
            <a:endParaRPr lang="zh-CN" altLang="en-US" sz="1200" dirty="0">
              <a:solidFill>
                <a:schemeClr val="tx1">
                  <a:lumMod val="50000"/>
                  <a:lumOff val="50000"/>
                </a:schemeClr>
              </a:solidFill>
            </a:endParaRPr>
          </a:p>
        </p:txBody>
      </p:sp>
      <p:sp>
        <p:nvSpPr>
          <p:cNvPr id="10" name="矩形 9">
            <a:extLst>
              <a:ext uri="{FF2B5EF4-FFF2-40B4-BE49-F238E27FC236}">
                <a16:creationId xmlns:a16="http://schemas.microsoft.com/office/drawing/2014/main" id="{10D5B17B-7216-EBDE-E552-B1FCAD25211B}"/>
              </a:ext>
            </a:extLst>
          </p:cNvPr>
          <p:cNvSpPr/>
          <p:nvPr/>
        </p:nvSpPr>
        <p:spPr>
          <a:xfrm>
            <a:off x="8262009" y="5914964"/>
            <a:ext cx="1461058" cy="583812"/>
          </a:xfrm>
          <a:prstGeom prst="rect">
            <a:avLst/>
          </a:prstGeom>
          <a:gradFill>
            <a:gsLst>
              <a:gs pos="0">
                <a:schemeClr val="accent1">
                  <a:hueOff val="0"/>
                  <a:satOff val="0"/>
                  <a:lumOff val="0"/>
                  <a:alphaOff val="0"/>
                  <a:lumMod val="110000"/>
                  <a:satMod val="105000"/>
                  <a:tint val="67000"/>
                </a:schemeClr>
              </a:gs>
              <a:gs pos="39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音乐元素</a:t>
            </a:r>
          </a:p>
        </p:txBody>
      </p:sp>
      <p:sp>
        <p:nvSpPr>
          <p:cNvPr id="15" name="矩形 14">
            <a:extLst>
              <a:ext uri="{FF2B5EF4-FFF2-40B4-BE49-F238E27FC236}">
                <a16:creationId xmlns:a16="http://schemas.microsoft.com/office/drawing/2014/main" id="{205617BA-5F2A-3C93-84BB-02394A7E1AC7}"/>
              </a:ext>
            </a:extLst>
          </p:cNvPr>
          <p:cNvSpPr/>
          <p:nvPr/>
        </p:nvSpPr>
        <p:spPr>
          <a:xfrm>
            <a:off x="2648439" y="5911608"/>
            <a:ext cx="1461057" cy="583812"/>
          </a:xfrm>
          <a:prstGeom prst="rect">
            <a:avLst/>
          </a:prstGeom>
          <a:gradFill>
            <a:gsLst>
              <a:gs pos="0">
                <a:schemeClr val="accent1">
                  <a:hueOff val="0"/>
                  <a:satOff val="0"/>
                  <a:lumOff val="0"/>
                  <a:alphaOff val="0"/>
                  <a:lumMod val="110000"/>
                  <a:satMod val="105000"/>
                  <a:tint val="67000"/>
                </a:schemeClr>
              </a:gs>
              <a:gs pos="39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驾驶员差异</a:t>
            </a:r>
          </a:p>
        </p:txBody>
      </p:sp>
      <p:sp>
        <p:nvSpPr>
          <p:cNvPr id="16" name="五角星 15">
            <a:extLst>
              <a:ext uri="{FF2B5EF4-FFF2-40B4-BE49-F238E27FC236}">
                <a16:creationId xmlns:a16="http://schemas.microsoft.com/office/drawing/2014/main" id="{508E6B51-C939-7B3D-5E1C-75B64A0A693B}"/>
              </a:ext>
            </a:extLst>
          </p:cNvPr>
          <p:cNvSpPr/>
          <p:nvPr/>
        </p:nvSpPr>
        <p:spPr>
          <a:xfrm>
            <a:off x="2479341" y="5765717"/>
            <a:ext cx="381190" cy="274995"/>
          </a:xfrm>
          <a:prstGeom prst="star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五角星 19">
            <a:extLst>
              <a:ext uri="{FF2B5EF4-FFF2-40B4-BE49-F238E27FC236}">
                <a16:creationId xmlns:a16="http://schemas.microsoft.com/office/drawing/2014/main" id="{792D652D-88FC-A3DE-A72B-E971B56E26F8}"/>
              </a:ext>
            </a:extLst>
          </p:cNvPr>
          <p:cNvSpPr/>
          <p:nvPr/>
        </p:nvSpPr>
        <p:spPr>
          <a:xfrm>
            <a:off x="9454272" y="5739580"/>
            <a:ext cx="381190" cy="274995"/>
          </a:xfrm>
          <a:prstGeom prst="star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22" name="图片 21" descr="卡通人物&#10;&#10;描述已自动生成">
            <a:extLst>
              <a:ext uri="{FF2B5EF4-FFF2-40B4-BE49-F238E27FC236}">
                <a16:creationId xmlns:a16="http://schemas.microsoft.com/office/drawing/2014/main" id="{8500039F-58C8-6BBD-232F-AC152DAFE918}"/>
              </a:ext>
            </a:extLst>
          </p:cNvPr>
          <p:cNvPicPr>
            <a:picLocks noChangeAspect="1"/>
          </p:cNvPicPr>
          <p:nvPr/>
        </p:nvPicPr>
        <p:blipFill>
          <a:blip r:embed="rId5"/>
          <a:stretch>
            <a:fillRect/>
          </a:stretch>
        </p:blipFill>
        <p:spPr>
          <a:xfrm>
            <a:off x="8103585" y="3291894"/>
            <a:ext cx="1170334" cy="1196341"/>
          </a:xfrm>
          <a:prstGeom prst="rect">
            <a:avLst/>
          </a:prstGeom>
        </p:spPr>
      </p:pic>
    </p:spTree>
    <p:extLst>
      <p:ext uri="{BB962C8B-B14F-4D97-AF65-F5344CB8AC3E}">
        <p14:creationId xmlns:p14="http://schemas.microsoft.com/office/powerpoint/2010/main" val="996687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DC098A25-2D57-A2C4-27BD-B43DC3FED83D}"/>
              </a:ext>
            </a:extLst>
          </p:cNvPr>
          <p:cNvSpPr>
            <a:spLocks noGrp="1"/>
          </p:cNvSpPr>
          <p:nvPr>
            <p:ph type="title"/>
          </p:nvPr>
        </p:nvSpPr>
        <p:spPr>
          <a:xfrm>
            <a:off x="339443" y="-16370"/>
            <a:ext cx="10515600" cy="1325563"/>
          </a:xfrm>
        </p:spPr>
        <p:txBody>
          <a:bodyPr/>
          <a:lstStyle/>
          <a:p>
            <a:r>
              <a:rPr kumimoji="1" lang="zh-CN" altLang="en-US" dirty="0"/>
              <a:t>文献综述  </a:t>
            </a:r>
            <a:r>
              <a:rPr kumimoji="1" lang="zh-CN" altLang="en-US" sz="2000" dirty="0"/>
              <a:t>音乐流派对驾驶行为的影响</a:t>
            </a:r>
          </a:p>
        </p:txBody>
      </p:sp>
      <p:grpSp>
        <p:nvGrpSpPr>
          <p:cNvPr id="23" name="组合 22">
            <a:extLst>
              <a:ext uri="{FF2B5EF4-FFF2-40B4-BE49-F238E27FC236}">
                <a16:creationId xmlns:a16="http://schemas.microsoft.com/office/drawing/2014/main" id="{3893E25E-E287-908B-EDF7-5374D54D0F8B}"/>
              </a:ext>
            </a:extLst>
          </p:cNvPr>
          <p:cNvGrpSpPr/>
          <p:nvPr/>
        </p:nvGrpSpPr>
        <p:grpSpPr>
          <a:xfrm>
            <a:off x="4337807" y="2444177"/>
            <a:ext cx="3666523" cy="1924409"/>
            <a:chOff x="4255155" y="3552967"/>
            <a:chExt cx="3666523" cy="1924409"/>
          </a:xfrm>
        </p:grpSpPr>
        <p:sp>
          <p:nvSpPr>
            <p:cNvPr id="24" name="对角圆角矩形 23">
              <a:extLst>
                <a:ext uri="{FF2B5EF4-FFF2-40B4-BE49-F238E27FC236}">
                  <a16:creationId xmlns:a16="http://schemas.microsoft.com/office/drawing/2014/main" id="{B80DC3A5-EBF5-12F8-2430-581F30F95BFB}"/>
                </a:ext>
              </a:extLst>
            </p:cNvPr>
            <p:cNvSpPr/>
            <p:nvPr/>
          </p:nvSpPr>
          <p:spPr>
            <a:xfrm>
              <a:off x="4777124" y="3802285"/>
              <a:ext cx="2637751" cy="1418492"/>
            </a:xfrm>
            <a:prstGeom prst="round2DiagRect">
              <a:avLst>
                <a:gd name="adj1" fmla="val 0"/>
                <a:gd name="adj2" fmla="val 1667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5" name="直线连接符 24">
              <a:extLst>
                <a:ext uri="{FF2B5EF4-FFF2-40B4-BE49-F238E27FC236}">
                  <a16:creationId xmlns:a16="http://schemas.microsoft.com/office/drawing/2014/main" id="{4FA982BF-743A-4C44-F3DC-5A41EF1D9959}"/>
                </a:ext>
              </a:extLst>
            </p:cNvPr>
            <p:cNvSpPr/>
            <p:nvPr/>
          </p:nvSpPr>
          <p:spPr>
            <a:xfrm>
              <a:off x="6096000" y="3952731"/>
              <a:ext cx="351" cy="1117600"/>
            </a:xfrm>
            <a:prstGeom prst="line">
              <a:avLst/>
            </a:prstGeom>
          </p:spPr>
          <p:style>
            <a:lnRef idx="2">
              <a:schemeClr val="accent1">
                <a:tint val="50000"/>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p:nvSpPr>
            <p:cNvPr id="26" name="任意形状 25">
              <a:extLst>
                <a:ext uri="{FF2B5EF4-FFF2-40B4-BE49-F238E27FC236}">
                  <a16:creationId xmlns:a16="http://schemas.microsoft.com/office/drawing/2014/main" id="{E7E33E6B-0422-2CAC-224C-EE3BAD86E960}"/>
                </a:ext>
              </a:extLst>
            </p:cNvPr>
            <p:cNvSpPr/>
            <p:nvPr/>
          </p:nvSpPr>
          <p:spPr>
            <a:xfrm>
              <a:off x="4865050" y="4083272"/>
              <a:ext cx="1143025" cy="1203569"/>
            </a:xfrm>
            <a:custGeom>
              <a:avLst/>
              <a:gdLst>
                <a:gd name="connsiteX0" fmla="*/ 0 w 1143025"/>
                <a:gd name="connsiteY0" fmla="*/ 0 h 1203569"/>
                <a:gd name="connsiteX1" fmla="*/ 1143025 w 1143025"/>
                <a:gd name="connsiteY1" fmla="*/ 0 h 1203569"/>
                <a:gd name="connsiteX2" fmla="*/ 1143025 w 1143025"/>
                <a:gd name="connsiteY2" fmla="*/ 1203569 h 1203569"/>
                <a:gd name="connsiteX3" fmla="*/ 0 w 1143025"/>
                <a:gd name="connsiteY3" fmla="*/ 1203569 h 1203569"/>
                <a:gd name="connsiteX4" fmla="*/ 0 w 1143025"/>
                <a:gd name="connsiteY4" fmla="*/ 0 h 1203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25" h="1203569">
                  <a:moveTo>
                    <a:pt x="0" y="0"/>
                  </a:moveTo>
                  <a:lnTo>
                    <a:pt x="1143025" y="0"/>
                  </a:lnTo>
                  <a:lnTo>
                    <a:pt x="1143025" y="1203569"/>
                  </a:lnTo>
                  <a:lnTo>
                    <a:pt x="0" y="1203569"/>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0010" tIns="80010" rIns="80010" bIns="80010" numCol="1" spcCol="1270" anchor="t" anchorCtr="0">
              <a:noAutofit/>
            </a:bodyPr>
            <a:lstStyle/>
            <a:p>
              <a:pPr marL="0" lvl="0" indent="0" algn="ctr" defTabSz="933450">
                <a:lnSpc>
                  <a:spcPct val="90000"/>
                </a:lnSpc>
                <a:spcBef>
                  <a:spcPct val="0"/>
                </a:spcBef>
                <a:spcAft>
                  <a:spcPct val="35000"/>
                </a:spcAft>
                <a:buNone/>
              </a:pPr>
              <a:r>
                <a:rPr lang="zh-CN" altLang="en-US" sz="2100" kern="1200" dirty="0">
                  <a:solidFill>
                    <a:schemeClr val="bg1"/>
                  </a:solidFill>
                  <a:latin typeface="Microsoft YaHei" panose="020B0503020204020204" pitchFamily="34" charset="-122"/>
                  <a:ea typeface="Microsoft YaHei" panose="020B0503020204020204" pitchFamily="34" charset="-122"/>
                </a:rPr>
                <a:t>自上</a:t>
              </a:r>
              <a:endParaRPr lang="en-US" altLang="zh-CN" sz="2100" kern="1200" dirty="0">
                <a:solidFill>
                  <a:schemeClr val="bg1"/>
                </a:solidFill>
                <a:latin typeface="Microsoft YaHei" panose="020B0503020204020204" pitchFamily="34" charset="-122"/>
                <a:ea typeface="Microsoft YaHei" panose="020B0503020204020204" pitchFamily="34" charset="-122"/>
              </a:endParaRPr>
            </a:p>
            <a:p>
              <a:pPr marL="0" lvl="0" indent="0" algn="ctr" defTabSz="933450">
                <a:lnSpc>
                  <a:spcPct val="90000"/>
                </a:lnSpc>
                <a:spcBef>
                  <a:spcPct val="0"/>
                </a:spcBef>
                <a:spcAft>
                  <a:spcPct val="35000"/>
                </a:spcAft>
                <a:buNone/>
              </a:pPr>
              <a:r>
                <a:rPr lang="zh-CN" altLang="en-US" sz="2100" kern="1200" dirty="0">
                  <a:solidFill>
                    <a:schemeClr val="bg1"/>
                  </a:solidFill>
                  <a:latin typeface="Microsoft YaHei" panose="020B0503020204020204" pitchFamily="34" charset="-122"/>
                  <a:ea typeface="Microsoft YaHei" panose="020B0503020204020204" pitchFamily="34" charset="-122"/>
                </a:rPr>
                <a:t>而</a:t>
              </a:r>
              <a:r>
                <a:rPr lang="zh-CN" altLang="en-US" sz="2100" dirty="0">
                  <a:solidFill>
                    <a:schemeClr val="bg1"/>
                  </a:solidFill>
                  <a:latin typeface="Microsoft YaHei" panose="020B0503020204020204" pitchFamily="34" charset="-122"/>
                  <a:ea typeface="Microsoft YaHei" panose="020B0503020204020204" pitchFamily="34" charset="-122"/>
                </a:rPr>
                <a:t>下</a:t>
              </a:r>
              <a:endParaRPr lang="zh-CN" altLang="en-US" sz="2100" kern="1200" dirty="0">
                <a:solidFill>
                  <a:schemeClr val="bg1"/>
                </a:solidFill>
                <a:latin typeface="Microsoft YaHei" panose="020B0503020204020204" pitchFamily="34" charset="-122"/>
                <a:ea typeface="Microsoft YaHei" panose="020B0503020204020204" pitchFamily="34" charset="-122"/>
              </a:endParaRPr>
            </a:p>
          </p:txBody>
        </p:sp>
        <p:sp>
          <p:nvSpPr>
            <p:cNvPr id="27" name="任意形状 26">
              <a:extLst>
                <a:ext uri="{FF2B5EF4-FFF2-40B4-BE49-F238E27FC236}">
                  <a16:creationId xmlns:a16="http://schemas.microsoft.com/office/drawing/2014/main" id="{733E6C39-91FD-C354-E8B0-FE6BBA904E1F}"/>
                </a:ext>
              </a:extLst>
            </p:cNvPr>
            <p:cNvSpPr/>
            <p:nvPr/>
          </p:nvSpPr>
          <p:spPr>
            <a:xfrm>
              <a:off x="6183926" y="4092365"/>
              <a:ext cx="1143025" cy="1203569"/>
            </a:xfrm>
            <a:custGeom>
              <a:avLst/>
              <a:gdLst>
                <a:gd name="connsiteX0" fmla="*/ 0 w 1143025"/>
                <a:gd name="connsiteY0" fmla="*/ 0 h 1203569"/>
                <a:gd name="connsiteX1" fmla="*/ 1143025 w 1143025"/>
                <a:gd name="connsiteY1" fmla="*/ 0 h 1203569"/>
                <a:gd name="connsiteX2" fmla="*/ 1143025 w 1143025"/>
                <a:gd name="connsiteY2" fmla="*/ 1203569 h 1203569"/>
                <a:gd name="connsiteX3" fmla="*/ 0 w 1143025"/>
                <a:gd name="connsiteY3" fmla="*/ 1203569 h 1203569"/>
                <a:gd name="connsiteX4" fmla="*/ 0 w 1143025"/>
                <a:gd name="connsiteY4" fmla="*/ 0 h 1203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25" h="1203569">
                  <a:moveTo>
                    <a:pt x="0" y="0"/>
                  </a:moveTo>
                  <a:lnTo>
                    <a:pt x="1143025" y="0"/>
                  </a:lnTo>
                  <a:lnTo>
                    <a:pt x="1143025" y="1203569"/>
                  </a:lnTo>
                  <a:lnTo>
                    <a:pt x="0" y="1203569"/>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0010" tIns="80010" rIns="80010" bIns="80010" numCol="1" spcCol="1270" anchor="t" anchorCtr="0">
              <a:noAutofit/>
            </a:bodyPr>
            <a:lstStyle/>
            <a:p>
              <a:pPr marL="0" lvl="0" indent="0" algn="ctr" defTabSz="933450">
                <a:lnSpc>
                  <a:spcPct val="90000"/>
                </a:lnSpc>
                <a:spcBef>
                  <a:spcPct val="0"/>
                </a:spcBef>
                <a:spcAft>
                  <a:spcPct val="35000"/>
                </a:spcAft>
                <a:buNone/>
              </a:pPr>
              <a:r>
                <a:rPr lang="zh-CN" altLang="en-US" sz="2100" kern="1200" dirty="0">
                  <a:solidFill>
                    <a:schemeClr val="bg1"/>
                  </a:solidFill>
                  <a:latin typeface="Microsoft YaHei" panose="020B0503020204020204" pitchFamily="34" charset="-122"/>
                  <a:ea typeface="Microsoft YaHei" panose="020B0503020204020204" pitchFamily="34" charset="-122"/>
                </a:rPr>
                <a:t>自</a:t>
              </a:r>
              <a:r>
                <a:rPr lang="zh-CN" altLang="en-US" sz="2100" dirty="0">
                  <a:solidFill>
                    <a:schemeClr val="bg1"/>
                  </a:solidFill>
                  <a:latin typeface="Microsoft YaHei" panose="020B0503020204020204" pitchFamily="34" charset="-122"/>
                  <a:ea typeface="Microsoft YaHei" panose="020B0503020204020204" pitchFamily="34" charset="-122"/>
                </a:rPr>
                <a:t>下</a:t>
              </a:r>
              <a:endParaRPr lang="en-US" altLang="zh-CN" sz="2100" kern="1200" dirty="0">
                <a:solidFill>
                  <a:schemeClr val="bg1"/>
                </a:solidFill>
                <a:latin typeface="Microsoft YaHei" panose="020B0503020204020204" pitchFamily="34" charset="-122"/>
                <a:ea typeface="Microsoft YaHei" panose="020B0503020204020204" pitchFamily="34" charset="-122"/>
              </a:endParaRPr>
            </a:p>
            <a:p>
              <a:pPr marL="0" lvl="0" indent="0" algn="ctr" defTabSz="933450">
                <a:lnSpc>
                  <a:spcPct val="90000"/>
                </a:lnSpc>
                <a:spcBef>
                  <a:spcPct val="0"/>
                </a:spcBef>
                <a:spcAft>
                  <a:spcPct val="35000"/>
                </a:spcAft>
                <a:buNone/>
              </a:pPr>
              <a:r>
                <a:rPr lang="zh-CN" altLang="en-US" sz="2100" kern="1200" dirty="0">
                  <a:solidFill>
                    <a:schemeClr val="bg1"/>
                  </a:solidFill>
                  <a:latin typeface="Microsoft YaHei" panose="020B0503020204020204" pitchFamily="34" charset="-122"/>
                  <a:ea typeface="Microsoft YaHei" panose="020B0503020204020204" pitchFamily="34" charset="-122"/>
                </a:rPr>
                <a:t>而上</a:t>
              </a:r>
            </a:p>
          </p:txBody>
        </p:sp>
        <p:sp>
          <p:nvSpPr>
            <p:cNvPr id="28" name="任意形状 27">
              <a:extLst>
                <a:ext uri="{FF2B5EF4-FFF2-40B4-BE49-F238E27FC236}">
                  <a16:creationId xmlns:a16="http://schemas.microsoft.com/office/drawing/2014/main" id="{40E12071-942E-895A-36C1-D4A9C1BA2F33}"/>
                </a:ext>
              </a:extLst>
            </p:cNvPr>
            <p:cNvSpPr/>
            <p:nvPr/>
          </p:nvSpPr>
          <p:spPr>
            <a:xfrm rot="16200000">
              <a:off x="6928143" y="4483840"/>
              <a:ext cx="1547446" cy="439625"/>
            </a:xfrm>
            <a:custGeom>
              <a:avLst/>
              <a:gdLst>
                <a:gd name="connsiteX0" fmla="*/ 0 w 1547446"/>
                <a:gd name="connsiteY0" fmla="*/ 110280 h 439625"/>
                <a:gd name="connsiteX1" fmla="*/ 1280769 w 1547446"/>
                <a:gd name="connsiteY1" fmla="*/ 110280 h 439625"/>
                <a:gd name="connsiteX2" fmla="*/ 1280769 w 1547446"/>
                <a:gd name="connsiteY2" fmla="*/ 0 h 439625"/>
                <a:gd name="connsiteX3" fmla="*/ 1547446 w 1547446"/>
                <a:gd name="connsiteY3" fmla="*/ 219813 h 439625"/>
                <a:gd name="connsiteX4" fmla="*/ 1280769 w 1547446"/>
                <a:gd name="connsiteY4" fmla="*/ 439625 h 439625"/>
                <a:gd name="connsiteX5" fmla="*/ 1280769 w 1547446"/>
                <a:gd name="connsiteY5" fmla="*/ 329345 h 439625"/>
                <a:gd name="connsiteX6" fmla="*/ 0 w 1547446"/>
                <a:gd name="connsiteY6" fmla="*/ 329345 h 439625"/>
                <a:gd name="connsiteX7" fmla="*/ 0 w 1547446"/>
                <a:gd name="connsiteY7" fmla="*/ 110280 h 439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7446" h="439625">
                  <a:moveTo>
                    <a:pt x="0" y="110280"/>
                  </a:moveTo>
                  <a:lnTo>
                    <a:pt x="1280769" y="110280"/>
                  </a:lnTo>
                  <a:lnTo>
                    <a:pt x="1280769" y="0"/>
                  </a:lnTo>
                  <a:lnTo>
                    <a:pt x="1547446" y="219813"/>
                  </a:lnTo>
                  <a:lnTo>
                    <a:pt x="1280769" y="439625"/>
                  </a:lnTo>
                  <a:lnTo>
                    <a:pt x="1280769" y="329345"/>
                  </a:lnTo>
                  <a:lnTo>
                    <a:pt x="0" y="329345"/>
                  </a:lnTo>
                  <a:lnTo>
                    <a:pt x="0" y="110280"/>
                  </a:lnTo>
                  <a:close/>
                </a:path>
              </a:pathLst>
            </a:cu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spcFirstLastPara="0" vert="horz" wrap="square" lIns="26669" tIns="136949" rIns="159556" bIns="136951" numCol="1" spcCol="1270" anchor="ctr" anchorCtr="0">
              <a:noAutofit/>
            </a:bodyPr>
            <a:lstStyle/>
            <a:p>
              <a:pPr marL="0" lvl="0" indent="0" algn="r" defTabSz="311150">
                <a:lnSpc>
                  <a:spcPct val="90000"/>
                </a:lnSpc>
                <a:spcBef>
                  <a:spcPct val="0"/>
                </a:spcBef>
                <a:spcAft>
                  <a:spcPct val="35000"/>
                </a:spcAft>
                <a:buNone/>
              </a:pPr>
              <a:endParaRPr lang="zh-CN" altLang="en-US" sz="700" kern="1200" dirty="0">
                <a:latin typeface="Microsoft YaHei" panose="020B0503020204020204" pitchFamily="34" charset="-122"/>
                <a:ea typeface="Microsoft YaHei" panose="020B0503020204020204" pitchFamily="34" charset="-122"/>
              </a:endParaRPr>
            </a:p>
          </p:txBody>
        </p:sp>
        <p:sp>
          <p:nvSpPr>
            <p:cNvPr id="29" name="任意形状 28">
              <a:extLst>
                <a:ext uri="{FF2B5EF4-FFF2-40B4-BE49-F238E27FC236}">
                  <a16:creationId xmlns:a16="http://schemas.microsoft.com/office/drawing/2014/main" id="{E24BDDC3-61A5-56DE-8EA7-0D662D6E4D7D}"/>
                </a:ext>
              </a:extLst>
            </p:cNvPr>
            <p:cNvSpPr/>
            <p:nvPr/>
          </p:nvSpPr>
          <p:spPr>
            <a:xfrm rot="5400000">
              <a:off x="3701245" y="4106877"/>
              <a:ext cx="1547446" cy="439625"/>
            </a:xfrm>
            <a:custGeom>
              <a:avLst/>
              <a:gdLst>
                <a:gd name="connsiteX0" fmla="*/ 0 w 1547446"/>
                <a:gd name="connsiteY0" fmla="*/ 110280 h 439625"/>
                <a:gd name="connsiteX1" fmla="*/ 1280769 w 1547446"/>
                <a:gd name="connsiteY1" fmla="*/ 110280 h 439625"/>
                <a:gd name="connsiteX2" fmla="*/ 1280769 w 1547446"/>
                <a:gd name="connsiteY2" fmla="*/ 0 h 439625"/>
                <a:gd name="connsiteX3" fmla="*/ 1547446 w 1547446"/>
                <a:gd name="connsiteY3" fmla="*/ 219813 h 439625"/>
                <a:gd name="connsiteX4" fmla="*/ 1280769 w 1547446"/>
                <a:gd name="connsiteY4" fmla="*/ 439625 h 439625"/>
                <a:gd name="connsiteX5" fmla="*/ 1280769 w 1547446"/>
                <a:gd name="connsiteY5" fmla="*/ 329345 h 439625"/>
                <a:gd name="connsiteX6" fmla="*/ 0 w 1547446"/>
                <a:gd name="connsiteY6" fmla="*/ 329345 h 439625"/>
                <a:gd name="connsiteX7" fmla="*/ 0 w 1547446"/>
                <a:gd name="connsiteY7" fmla="*/ 110280 h 439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7446" h="439625">
                  <a:moveTo>
                    <a:pt x="0" y="110280"/>
                  </a:moveTo>
                  <a:lnTo>
                    <a:pt x="1280769" y="110280"/>
                  </a:lnTo>
                  <a:lnTo>
                    <a:pt x="1280769" y="0"/>
                  </a:lnTo>
                  <a:lnTo>
                    <a:pt x="1547446" y="219813"/>
                  </a:lnTo>
                  <a:lnTo>
                    <a:pt x="1280769" y="439625"/>
                  </a:lnTo>
                  <a:lnTo>
                    <a:pt x="1280769" y="329345"/>
                  </a:lnTo>
                  <a:lnTo>
                    <a:pt x="0" y="329345"/>
                  </a:lnTo>
                  <a:lnTo>
                    <a:pt x="0" y="110280"/>
                  </a:lnTo>
                  <a:close/>
                </a:path>
              </a:pathLst>
            </a:cu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spcFirstLastPara="0" vert="horz" wrap="square" lIns="26671" tIns="136949" rIns="159554" bIns="136951" numCol="1" spcCol="1270" anchor="ctr" anchorCtr="0">
              <a:noAutofit/>
            </a:bodyPr>
            <a:lstStyle/>
            <a:p>
              <a:pPr marL="0" lvl="0" indent="0" algn="r" defTabSz="311150">
                <a:lnSpc>
                  <a:spcPct val="90000"/>
                </a:lnSpc>
                <a:spcBef>
                  <a:spcPct val="0"/>
                </a:spcBef>
                <a:spcAft>
                  <a:spcPct val="35000"/>
                </a:spcAft>
                <a:buNone/>
              </a:pPr>
              <a:endParaRPr lang="zh-CN" altLang="en-US" sz="700" kern="1200" dirty="0">
                <a:latin typeface="Microsoft YaHei" panose="020B0503020204020204" pitchFamily="34" charset="-122"/>
                <a:ea typeface="Microsoft YaHei" panose="020B0503020204020204" pitchFamily="34" charset="-122"/>
              </a:endParaRPr>
            </a:p>
          </p:txBody>
        </p:sp>
      </p:grpSp>
      <p:sp>
        <p:nvSpPr>
          <p:cNvPr id="8" name="内容占位符 2">
            <a:extLst>
              <a:ext uri="{FF2B5EF4-FFF2-40B4-BE49-F238E27FC236}">
                <a16:creationId xmlns:a16="http://schemas.microsoft.com/office/drawing/2014/main" id="{D694F173-59F4-6FED-284F-9152503A07EC}"/>
              </a:ext>
            </a:extLst>
          </p:cNvPr>
          <p:cNvSpPr txBox="1">
            <a:spLocks/>
          </p:cNvSpPr>
          <p:nvPr/>
        </p:nvSpPr>
        <p:spPr>
          <a:xfrm>
            <a:off x="451838" y="1815954"/>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n"/>
            </a:pPr>
            <a:r>
              <a:rPr kumimoji="1" lang="zh-CN" altLang="en-US" b="1" dirty="0"/>
              <a:t>音乐欣赏的注意过程</a:t>
            </a:r>
          </a:p>
        </p:txBody>
      </p:sp>
      <p:pic>
        <p:nvPicPr>
          <p:cNvPr id="12" name="图片 11">
            <a:extLst>
              <a:ext uri="{FF2B5EF4-FFF2-40B4-BE49-F238E27FC236}">
                <a16:creationId xmlns:a16="http://schemas.microsoft.com/office/drawing/2014/main" id="{576506D4-81EA-DE56-A5D5-225E91E673BE}"/>
              </a:ext>
            </a:extLst>
          </p:cNvPr>
          <p:cNvPicPr>
            <a:picLocks noChangeAspect="1"/>
          </p:cNvPicPr>
          <p:nvPr/>
        </p:nvPicPr>
        <p:blipFill>
          <a:blip r:embed="rId3"/>
          <a:stretch>
            <a:fillRect/>
          </a:stretch>
        </p:blipFill>
        <p:spPr>
          <a:xfrm>
            <a:off x="2976629" y="2187945"/>
            <a:ext cx="1361178" cy="1266388"/>
          </a:xfrm>
          <a:prstGeom prst="rect">
            <a:avLst/>
          </a:prstGeom>
        </p:spPr>
      </p:pic>
      <p:sp>
        <p:nvSpPr>
          <p:cNvPr id="13" name="文本框 12">
            <a:extLst>
              <a:ext uri="{FF2B5EF4-FFF2-40B4-BE49-F238E27FC236}">
                <a16:creationId xmlns:a16="http://schemas.microsoft.com/office/drawing/2014/main" id="{2466CDEE-3292-A89B-94F8-F46CA0DEF76E}"/>
              </a:ext>
            </a:extLst>
          </p:cNvPr>
          <p:cNvSpPr txBox="1"/>
          <p:nvPr/>
        </p:nvSpPr>
        <p:spPr>
          <a:xfrm>
            <a:off x="8186237" y="3429000"/>
            <a:ext cx="3704655" cy="787460"/>
          </a:xfrm>
          <a:prstGeom prst="rect">
            <a:avLst/>
          </a:prstGeom>
          <a:noFill/>
        </p:spPr>
        <p:txBody>
          <a:bodyPr wrap="square" rtlCol="0">
            <a:spAutoFit/>
          </a:bodyPr>
          <a:lstStyle/>
          <a:p>
            <a:pPr>
              <a:lnSpc>
                <a:spcPct val="150000"/>
              </a:lnSpc>
            </a:pPr>
            <a:r>
              <a:rPr lang="zh-CN" altLang="en-US"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被</a:t>
            </a:r>
            <a:r>
              <a:rPr lang="zh-CN" altLang="zh-CN" sz="16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音乐元素</a:t>
            </a:r>
            <a:r>
              <a:rPr lang="zh-CN"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（如节奏、响度等）吸引，不涉及深入分析或理解音乐背后的内容</a:t>
            </a:r>
            <a:r>
              <a:rPr lang="zh-CN" altLang="zh-CN" sz="1600" dirty="0">
                <a:effectLst/>
                <a:latin typeface="Microsoft YaHei" panose="020B0503020204020204" pitchFamily="34" charset="-122"/>
                <a:ea typeface="Microsoft YaHei" panose="020B0503020204020204" pitchFamily="34" charset="-122"/>
              </a:rPr>
              <a:t> </a:t>
            </a:r>
            <a:endParaRPr kumimoji="1" lang="zh-CN" altLang="en-US" sz="1600" dirty="0">
              <a:latin typeface="Microsoft YaHei" panose="020B0503020204020204" pitchFamily="34" charset="-122"/>
              <a:ea typeface="Microsoft YaHei" panose="020B0503020204020204" pitchFamily="34" charset="-122"/>
            </a:endParaRPr>
          </a:p>
        </p:txBody>
      </p:sp>
      <p:sp>
        <p:nvSpPr>
          <p:cNvPr id="14" name="文本框 13">
            <a:extLst>
              <a:ext uri="{FF2B5EF4-FFF2-40B4-BE49-F238E27FC236}">
                <a16:creationId xmlns:a16="http://schemas.microsoft.com/office/drawing/2014/main" id="{E53D7A5E-3237-48C1-3939-6CB431440C20}"/>
              </a:ext>
            </a:extLst>
          </p:cNvPr>
          <p:cNvSpPr txBox="1"/>
          <p:nvPr/>
        </p:nvSpPr>
        <p:spPr>
          <a:xfrm>
            <a:off x="339443" y="3434146"/>
            <a:ext cx="3852705" cy="1156792"/>
          </a:xfrm>
          <a:prstGeom prst="rect">
            <a:avLst/>
          </a:prstGeom>
          <a:noFill/>
        </p:spPr>
        <p:txBody>
          <a:bodyPr wrap="square">
            <a:spAutoFit/>
          </a:bodyPr>
          <a:lstStyle/>
          <a:p>
            <a:pPr>
              <a:lnSpc>
                <a:spcPct val="150000"/>
              </a:lnSpc>
            </a:pPr>
            <a:r>
              <a:rPr lang="zh-CN" altLang="zh-CN" sz="1600" kern="100" dirty="0">
                <a:latin typeface="Microsoft YaHei" panose="020B0503020204020204" pitchFamily="34" charset="-122"/>
                <a:ea typeface="Microsoft YaHei" panose="020B0503020204020204" pitchFamily="34" charset="-122"/>
                <a:cs typeface="Times New Roman" panose="02020603050405020304" pitchFamily="18" charset="0"/>
              </a:rPr>
              <a:t>使用</a:t>
            </a:r>
            <a:r>
              <a:rPr lang="zh-CN" altLang="en-US" sz="1600" b="1" kern="100" dirty="0">
                <a:latin typeface="Microsoft YaHei" panose="020B0503020204020204" pitchFamily="34" charset="-122"/>
                <a:ea typeface="Microsoft YaHei" panose="020B0503020204020204" pitchFamily="34" charset="-122"/>
                <a:cs typeface="Times New Roman" panose="02020603050405020304" pitchFamily="18" charset="0"/>
              </a:rPr>
              <a:t>个体</a:t>
            </a:r>
            <a:r>
              <a:rPr lang="zh-CN" altLang="zh-CN" sz="1600" kern="100" dirty="0">
                <a:latin typeface="Microsoft YaHei" panose="020B0503020204020204" pitchFamily="34" charset="-122"/>
                <a:ea typeface="Microsoft YaHei" panose="020B0503020204020204" pitchFamily="34" charset="-122"/>
                <a:cs typeface="Times New Roman" panose="02020603050405020304" pitchFamily="18" charset="0"/>
              </a:rPr>
              <a:t>先前的</a:t>
            </a:r>
            <a:r>
              <a:rPr lang="zh-CN" altLang="en-US" sz="1600" b="1" kern="100" dirty="0">
                <a:latin typeface="Microsoft YaHei" panose="020B0503020204020204" pitchFamily="34" charset="-122"/>
                <a:ea typeface="Microsoft YaHei" panose="020B0503020204020204" pitchFamily="34" charset="-122"/>
                <a:cs typeface="Times New Roman" panose="02020603050405020304" pitchFamily="18" charset="0"/>
              </a:rPr>
              <a:t>经验和期望</a:t>
            </a:r>
            <a:r>
              <a:rPr lang="zh-CN" altLang="zh-CN" sz="1600" kern="100" dirty="0">
                <a:latin typeface="Microsoft YaHei" panose="020B0503020204020204" pitchFamily="34" charset="-122"/>
                <a:ea typeface="Microsoft YaHei" panose="020B0503020204020204" pitchFamily="34" charset="-122"/>
                <a:cs typeface="Times New Roman" panose="02020603050405020304" pitchFamily="18" charset="0"/>
              </a:rPr>
              <a:t>来理解音乐的深层含义，可能包括歌词的解读、音乐风格的分析等 </a:t>
            </a:r>
            <a:endParaRPr lang="zh-CN" altLang="en-US" sz="1600" kern="1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7" name="文本框 16">
            <a:extLst>
              <a:ext uri="{FF2B5EF4-FFF2-40B4-BE49-F238E27FC236}">
                <a16:creationId xmlns:a16="http://schemas.microsoft.com/office/drawing/2014/main" id="{37C6CAA0-9AFF-6764-EB45-9F09E44D6C4C}"/>
              </a:ext>
            </a:extLst>
          </p:cNvPr>
          <p:cNvSpPr txBox="1"/>
          <p:nvPr/>
        </p:nvSpPr>
        <p:spPr>
          <a:xfrm>
            <a:off x="5642506" y="4387817"/>
            <a:ext cx="6097656" cy="276999"/>
          </a:xfrm>
          <a:prstGeom prst="rect">
            <a:avLst/>
          </a:prstGeom>
          <a:noFill/>
        </p:spPr>
        <p:txBody>
          <a:bodyPr wrap="square">
            <a:spAutoFit/>
          </a:bodyPr>
          <a:lstStyle/>
          <a:p>
            <a:r>
              <a:rPr lang="en-US" altLang="zh-CN" sz="1200" kern="100" dirty="0">
                <a:solidFill>
                  <a:schemeClr val="tx1">
                    <a:lumMod val="50000"/>
                    <a:lumOff val="50000"/>
                  </a:schemeClr>
                </a:solidFill>
                <a:effectLst/>
                <a:latin typeface="Times New Roman" panose="02020603050405020304" pitchFamily="18" charset="0"/>
                <a:ea typeface="宋体" panose="02010600030101010101" pitchFamily="2" charset="-122"/>
              </a:rPr>
              <a:t>(LaBerge, 1995)</a:t>
            </a:r>
            <a:r>
              <a:rPr lang="zh-CN" altLang="zh-CN" sz="1200" dirty="0">
                <a:solidFill>
                  <a:schemeClr val="tx1">
                    <a:lumMod val="50000"/>
                    <a:lumOff val="50000"/>
                  </a:schemeClr>
                </a:solidFill>
                <a:effectLst/>
              </a:rPr>
              <a:t> </a:t>
            </a:r>
            <a:endParaRPr lang="zh-CN" altLang="en-US" sz="1200" dirty="0">
              <a:solidFill>
                <a:schemeClr val="tx1">
                  <a:lumMod val="50000"/>
                  <a:lumOff val="50000"/>
                </a:schemeClr>
              </a:solidFill>
            </a:endParaRPr>
          </a:p>
        </p:txBody>
      </p:sp>
      <p:sp>
        <p:nvSpPr>
          <p:cNvPr id="10" name="矩形 9">
            <a:extLst>
              <a:ext uri="{FF2B5EF4-FFF2-40B4-BE49-F238E27FC236}">
                <a16:creationId xmlns:a16="http://schemas.microsoft.com/office/drawing/2014/main" id="{10D5B17B-7216-EBDE-E552-B1FCAD25211B}"/>
              </a:ext>
            </a:extLst>
          </p:cNvPr>
          <p:cNvSpPr/>
          <p:nvPr/>
        </p:nvSpPr>
        <p:spPr>
          <a:xfrm>
            <a:off x="8344661" y="4806174"/>
            <a:ext cx="1461058" cy="583812"/>
          </a:xfrm>
          <a:prstGeom prst="rect">
            <a:avLst/>
          </a:prstGeom>
          <a:gradFill>
            <a:gsLst>
              <a:gs pos="0">
                <a:schemeClr val="accent1">
                  <a:hueOff val="0"/>
                  <a:satOff val="0"/>
                  <a:lumOff val="0"/>
                  <a:alphaOff val="0"/>
                  <a:lumMod val="110000"/>
                  <a:satMod val="105000"/>
                  <a:tint val="67000"/>
                </a:schemeClr>
              </a:gs>
              <a:gs pos="39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音乐元素</a:t>
            </a:r>
          </a:p>
        </p:txBody>
      </p:sp>
      <p:sp>
        <p:nvSpPr>
          <p:cNvPr id="15" name="矩形 14">
            <a:extLst>
              <a:ext uri="{FF2B5EF4-FFF2-40B4-BE49-F238E27FC236}">
                <a16:creationId xmlns:a16="http://schemas.microsoft.com/office/drawing/2014/main" id="{205617BA-5F2A-3C93-84BB-02394A7E1AC7}"/>
              </a:ext>
            </a:extLst>
          </p:cNvPr>
          <p:cNvSpPr/>
          <p:nvPr/>
        </p:nvSpPr>
        <p:spPr>
          <a:xfrm>
            <a:off x="2731091" y="4802818"/>
            <a:ext cx="1461057" cy="583812"/>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驾驶员差异</a:t>
            </a:r>
          </a:p>
        </p:txBody>
      </p:sp>
      <p:sp>
        <p:nvSpPr>
          <p:cNvPr id="16" name="五角星 15">
            <a:extLst>
              <a:ext uri="{FF2B5EF4-FFF2-40B4-BE49-F238E27FC236}">
                <a16:creationId xmlns:a16="http://schemas.microsoft.com/office/drawing/2014/main" id="{508E6B51-C939-7B3D-5E1C-75B64A0A693B}"/>
              </a:ext>
            </a:extLst>
          </p:cNvPr>
          <p:cNvSpPr/>
          <p:nvPr/>
        </p:nvSpPr>
        <p:spPr>
          <a:xfrm>
            <a:off x="2561993" y="4656927"/>
            <a:ext cx="381190" cy="274995"/>
          </a:xfrm>
          <a:prstGeom prst="star5">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五角星 19">
            <a:extLst>
              <a:ext uri="{FF2B5EF4-FFF2-40B4-BE49-F238E27FC236}">
                <a16:creationId xmlns:a16="http://schemas.microsoft.com/office/drawing/2014/main" id="{792D652D-88FC-A3DE-A72B-E971B56E26F8}"/>
              </a:ext>
            </a:extLst>
          </p:cNvPr>
          <p:cNvSpPr/>
          <p:nvPr/>
        </p:nvSpPr>
        <p:spPr>
          <a:xfrm>
            <a:off x="9536924" y="4630790"/>
            <a:ext cx="381190" cy="274995"/>
          </a:xfrm>
          <a:prstGeom prst="star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22" name="图片 21" descr="卡通人物&#10;&#10;描述已自动生成">
            <a:extLst>
              <a:ext uri="{FF2B5EF4-FFF2-40B4-BE49-F238E27FC236}">
                <a16:creationId xmlns:a16="http://schemas.microsoft.com/office/drawing/2014/main" id="{8500039F-58C8-6BBD-232F-AC152DAFE918}"/>
              </a:ext>
            </a:extLst>
          </p:cNvPr>
          <p:cNvPicPr>
            <a:picLocks noChangeAspect="1"/>
          </p:cNvPicPr>
          <p:nvPr/>
        </p:nvPicPr>
        <p:blipFill>
          <a:blip r:embed="rId4"/>
          <a:stretch>
            <a:fillRect/>
          </a:stretch>
        </p:blipFill>
        <p:spPr>
          <a:xfrm>
            <a:off x="8208360" y="2208474"/>
            <a:ext cx="1143000" cy="1168400"/>
          </a:xfrm>
          <a:prstGeom prst="rect">
            <a:avLst/>
          </a:prstGeom>
        </p:spPr>
      </p:pic>
    </p:spTree>
    <p:extLst>
      <p:ext uri="{BB962C8B-B14F-4D97-AF65-F5344CB8AC3E}">
        <p14:creationId xmlns:p14="http://schemas.microsoft.com/office/powerpoint/2010/main" val="35886371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6BE3E2-FB86-AF3F-CC6E-006B10F7803F}"/>
              </a:ext>
            </a:extLst>
          </p:cNvPr>
          <p:cNvSpPr>
            <a:spLocks noGrp="1"/>
          </p:cNvSpPr>
          <p:nvPr>
            <p:ph type="title"/>
          </p:nvPr>
        </p:nvSpPr>
        <p:spPr/>
        <p:txBody>
          <a:bodyPr/>
          <a:lstStyle/>
          <a:p>
            <a:r>
              <a:rPr kumimoji="1" lang="zh-CN" altLang="en-US" dirty="0"/>
              <a:t>文献综述  </a:t>
            </a:r>
            <a:r>
              <a:rPr kumimoji="1" lang="zh-CN" altLang="en-US" sz="2000" dirty="0"/>
              <a:t>音乐和驾驶员差异对驾驶行为影响</a:t>
            </a:r>
          </a:p>
        </p:txBody>
      </p:sp>
      <p:sp>
        <p:nvSpPr>
          <p:cNvPr id="3" name="内容占位符 2">
            <a:extLst>
              <a:ext uri="{FF2B5EF4-FFF2-40B4-BE49-F238E27FC236}">
                <a16:creationId xmlns:a16="http://schemas.microsoft.com/office/drawing/2014/main" id="{B4A8652A-A5DD-C351-CD84-0D59A015DAA2}"/>
              </a:ext>
            </a:extLst>
          </p:cNvPr>
          <p:cNvSpPr>
            <a:spLocks noGrp="1"/>
          </p:cNvSpPr>
          <p:nvPr>
            <p:ph idx="1"/>
          </p:nvPr>
        </p:nvSpPr>
        <p:spPr>
          <a:xfrm>
            <a:off x="339443" y="1155014"/>
            <a:ext cx="10515600" cy="4351338"/>
          </a:xfrm>
        </p:spPr>
        <p:txBody>
          <a:bodyPr/>
          <a:lstStyle/>
          <a:p>
            <a:pPr>
              <a:buFont typeface="Wingdings" pitchFamily="2" charset="2"/>
              <a:buChar char="n"/>
            </a:pPr>
            <a:r>
              <a:rPr kumimoji="1" lang="zh-CN" altLang="en-US" b="1" dirty="0"/>
              <a:t>特质</a:t>
            </a:r>
          </a:p>
        </p:txBody>
      </p:sp>
      <p:grpSp>
        <p:nvGrpSpPr>
          <p:cNvPr id="18" name="组合 17">
            <a:extLst>
              <a:ext uri="{FF2B5EF4-FFF2-40B4-BE49-F238E27FC236}">
                <a16:creationId xmlns:a16="http://schemas.microsoft.com/office/drawing/2014/main" id="{D23A6C28-AAA1-64BB-D93E-C7CBE231CC50}"/>
              </a:ext>
            </a:extLst>
          </p:cNvPr>
          <p:cNvGrpSpPr/>
          <p:nvPr/>
        </p:nvGrpSpPr>
        <p:grpSpPr>
          <a:xfrm>
            <a:off x="4547131" y="2136727"/>
            <a:ext cx="1131091" cy="627493"/>
            <a:chOff x="5930643" y="3067206"/>
            <a:chExt cx="2391808" cy="723587"/>
          </a:xfrm>
        </p:grpSpPr>
        <p:sp>
          <p:nvSpPr>
            <p:cNvPr id="13" name="文本框 12">
              <a:extLst>
                <a:ext uri="{FF2B5EF4-FFF2-40B4-BE49-F238E27FC236}">
                  <a16:creationId xmlns:a16="http://schemas.microsoft.com/office/drawing/2014/main" id="{A2562BC9-BB0C-2F0C-3747-E303181DE66C}"/>
                </a:ext>
              </a:extLst>
            </p:cNvPr>
            <p:cNvSpPr txBox="1"/>
            <p:nvPr/>
          </p:nvSpPr>
          <p:spPr>
            <a:xfrm>
              <a:off x="6301713" y="3182778"/>
              <a:ext cx="2020738" cy="246221"/>
            </a:xfrm>
            <a:prstGeom prst="rect">
              <a:avLst/>
            </a:prstGeom>
            <a:noFill/>
          </p:spPr>
          <p:txBody>
            <a:bodyPr wrap="square" rtlCol="0">
              <a:spAutoFit/>
            </a:bodyPr>
            <a:lstStyle/>
            <a:p>
              <a:r>
                <a:rPr kumimoji="1" lang="en-US" altLang="zh-CN" sz="1000" dirty="0">
                  <a:solidFill>
                    <a:schemeClr val="tx1">
                      <a:lumMod val="50000"/>
                      <a:lumOff val="50000"/>
                    </a:schemeClr>
                  </a:solidFill>
                  <a:latin typeface="Microsoft YaHei" panose="020B0503020204020204" pitchFamily="34" charset="-122"/>
                  <a:ea typeface="Microsoft YaHei" panose="020B0503020204020204" pitchFamily="34" charset="-122"/>
                </a:rPr>
                <a:t>introvert</a:t>
              </a:r>
              <a:endParaRPr kumimoji="1" lang="zh-CN" altLang="en-US" sz="1000" dirty="0">
                <a:solidFill>
                  <a:schemeClr val="tx1">
                    <a:lumMod val="50000"/>
                    <a:lumOff val="50000"/>
                  </a:schemeClr>
                </a:solidFill>
                <a:latin typeface="Microsoft YaHei" panose="020B0503020204020204" pitchFamily="34" charset="-122"/>
                <a:ea typeface="Microsoft YaHei" panose="020B0503020204020204" pitchFamily="34" charset="-122"/>
              </a:endParaRPr>
            </a:p>
          </p:txBody>
        </p:sp>
        <p:pic>
          <p:nvPicPr>
            <p:cNvPr id="15" name="图片 14">
              <a:extLst>
                <a:ext uri="{FF2B5EF4-FFF2-40B4-BE49-F238E27FC236}">
                  <a16:creationId xmlns:a16="http://schemas.microsoft.com/office/drawing/2014/main" id="{8C4DB1ED-5C68-5776-C965-729C41257B0D}"/>
                </a:ext>
              </a:extLst>
            </p:cNvPr>
            <p:cNvPicPr>
              <a:picLocks noChangeAspect="1"/>
            </p:cNvPicPr>
            <p:nvPr/>
          </p:nvPicPr>
          <p:blipFill>
            <a:blip r:embed="rId3"/>
            <a:stretch>
              <a:fillRect/>
            </a:stretch>
          </p:blipFill>
          <p:spPr>
            <a:xfrm>
              <a:off x="5930643" y="3067206"/>
              <a:ext cx="371070" cy="723587"/>
            </a:xfrm>
            <a:prstGeom prst="rect">
              <a:avLst/>
            </a:prstGeom>
          </p:spPr>
        </p:pic>
        <p:sp>
          <p:nvSpPr>
            <p:cNvPr id="17" name="文本框 16">
              <a:extLst>
                <a:ext uri="{FF2B5EF4-FFF2-40B4-BE49-F238E27FC236}">
                  <a16:creationId xmlns:a16="http://schemas.microsoft.com/office/drawing/2014/main" id="{31F1E104-E034-B126-0E95-D812FFD9B672}"/>
                </a:ext>
              </a:extLst>
            </p:cNvPr>
            <p:cNvSpPr txBox="1"/>
            <p:nvPr/>
          </p:nvSpPr>
          <p:spPr>
            <a:xfrm>
              <a:off x="6301713" y="3428999"/>
              <a:ext cx="2020738" cy="246221"/>
            </a:xfrm>
            <a:prstGeom prst="rect">
              <a:avLst/>
            </a:prstGeom>
            <a:noFill/>
          </p:spPr>
          <p:txBody>
            <a:bodyPr wrap="square" rtlCol="0">
              <a:spAutoFit/>
            </a:bodyPr>
            <a:lstStyle/>
            <a:p>
              <a:r>
                <a:rPr kumimoji="1" lang="en-US" altLang="zh-CN" sz="1000" dirty="0">
                  <a:solidFill>
                    <a:schemeClr val="tx1">
                      <a:lumMod val="50000"/>
                      <a:lumOff val="50000"/>
                    </a:schemeClr>
                  </a:solidFill>
                  <a:latin typeface="Microsoft YaHei" panose="020B0503020204020204" pitchFamily="34" charset="-122"/>
                  <a:ea typeface="Microsoft YaHei" panose="020B0503020204020204" pitchFamily="34" charset="-122"/>
                </a:rPr>
                <a:t>extrovert</a:t>
              </a:r>
              <a:endParaRPr kumimoji="1" lang="zh-CN" altLang="en-US" sz="1000" dirty="0">
                <a:solidFill>
                  <a:schemeClr val="tx1">
                    <a:lumMod val="50000"/>
                    <a:lumOff val="50000"/>
                  </a:schemeClr>
                </a:solidFill>
                <a:latin typeface="Microsoft YaHei" panose="020B0503020204020204" pitchFamily="34" charset="-122"/>
                <a:ea typeface="Microsoft YaHei" panose="020B0503020204020204" pitchFamily="34" charset="-122"/>
              </a:endParaRPr>
            </a:p>
          </p:txBody>
        </p:sp>
      </p:grpSp>
      <p:sp>
        <p:nvSpPr>
          <p:cNvPr id="22" name="文本框 21">
            <a:extLst>
              <a:ext uri="{FF2B5EF4-FFF2-40B4-BE49-F238E27FC236}">
                <a16:creationId xmlns:a16="http://schemas.microsoft.com/office/drawing/2014/main" id="{FC1F84AF-B4E8-2783-E984-7DA201D75536}"/>
              </a:ext>
            </a:extLst>
          </p:cNvPr>
          <p:cNvSpPr txBox="1"/>
          <p:nvPr/>
        </p:nvSpPr>
        <p:spPr>
          <a:xfrm>
            <a:off x="228679" y="4457559"/>
            <a:ext cx="7460838" cy="787460"/>
          </a:xfrm>
          <a:prstGeom prst="rect">
            <a:avLst/>
          </a:prstGeom>
          <a:noFill/>
        </p:spPr>
        <p:txBody>
          <a:bodyPr wrap="square">
            <a:spAutoFit/>
          </a:bodyPr>
          <a:lstStyle/>
          <a:p>
            <a:pPr>
              <a:lnSpc>
                <a:spcPct val="150000"/>
              </a:lnSpc>
            </a:pPr>
            <a:r>
              <a:rPr lang="zh-CN" altLang="en-US" sz="1600" b="1" dirty="0">
                <a:latin typeface="Microsoft YaHei" panose="020B0503020204020204" pitchFamily="34" charset="-122"/>
                <a:ea typeface="Microsoft YaHei" panose="020B0503020204020204" pitchFamily="34" charset="-122"/>
              </a:rPr>
              <a:t>内向</a:t>
            </a:r>
            <a:r>
              <a:rPr lang="zh-CN" altLang="en-US" sz="1600" dirty="0">
                <a:latin typeface="Microsoft YaHei" panose="020B0503020204020204" pitchFamily="34" charset="-122"/>
                <a:ea typeface="Microsoft YaHei" panose="020B0503020204020204" pitchFamily="34" charset="-122"/>
              </a:rPr>
              <a:t>的驾驶员：在</a:t>
            </a:r>
            <a:r>
              <a:rPr lang="zh-CN" altLang="en-US" sz="1600" b="1" dirty="0">
                <a:latin typeface="Microsoft YaHei" panose="020B0503020204020204" pitchFamily="34" charset="-122"/>
                <a:ea typeface="Microsoft YaHei" panose="020B0503020204020204" pitchFamily="34" charset="-122"/>
              </a:rPr>
              <a:t>Slow</a:t>
            </a:r>
            <a:r>
              <a:rPr lang="zh-CN" altLang="en-US" sz="1600" dirty="0">
                <a:latin typeface="Microsoft YaHei" panose="020B0503020204020204" pitchFamily="34" charset="-122"/>
                <a:ea typeface="Microsoft YaHei" panose="020B0503020204020204" pitchFamily="34" charset="-122"/>
              </a:rPr>
              <a:t>音乐下速度最慢；风险指数更低</a:t>
            </a:r>
            <a:endParaRPr lang="en-US" altLang="zh-CN" sz="1600" dirty="0">
              <a:latin typeface="Microsoft YaHei" panose="020B0503020204020204" pitchFamily="34" charset="-122"/>
              <a:ea typeface="Microsoft YaHei" panose="020B0503020204020204" pitchFamily="34" charset="-122"/>
            </a:endParaRPr>
          </a:p>
          <a:p>
            <a:pPr>
              <a:lnSpc>
                <a:spcPct val="150000"/>
              </a:lnSpc>
            </a:pPr>
            <a:r>
              <a:rPr lang="zh-CN" altLang="en-US" sz="1600" b="1" dirty="0">
                <a:latin typeface="Microsoft YaHei" panose="020B0503020204020204" pitchFamily="34" charset="-122"/>
                <a:ea typeface="Microsoft YaHei" panose="020B0503020204020204" pitchFamily="34" charset="-122"/>
              </a:rPr>
              <a:t>外向</a:t>
            </a:r>
            <a:r>
              <a:rPr lang="zh-CN" altLang="en-US" sz="1600" dirty="0">
                <a:latin typeface="Microsoft YaHei" panose="020B0503020204020204" pitchFamily="34" charset="-122"/>
                <a:ea typeface="Microsoft YaHei" panose="020B0503020204020204" pitchFamily="34" charset="-122"/>
              </a:rPr>
              <a:t>的驾驶员：在</a:t>
            </a:r>
            <a:r>
              <a:rPr lang="zh-CN" altLang="en-US" sz="1600" b="1" dirty="0">
                <a:latin typeface="Microsoft YaHei" panose="020B0503020204020204" pitchFamily="34" charset="-122"/>
                <a:ea typeface="Microsoft YaHei" panose="020B0503020204020204" pitchFamily="34" charset="-122"/>
              </a:rPr>
              <a:t>Fast</a:t>
            </a:r>
            <a:r>
              <a:rPr lang="zh-CN" altLang="en-US" sz="1600" dirty="0">
                <a:latin typeface="Microsoft YaHei" panose="020B0503020204020204" pitchFamily="34" charset="-122"/>
                <a:ea typeface="Microsoft YaHei" panose="020B0503020204020204" pitchFamily="34" charset="-122"/>
              </a:rPr>
              <a:t>音乐下速度最慢；风险指数更低</a:t>
            </a:r>
          </a:p>
        </p:txBody>
      </p:sp>
      <p:sp>
        <p:nvSpPr>
          <p:cNvPr id="26" name="文本框 25">
            <a:extLst>
              <a:ext uri="{FF2B5EF4-FFF2-40B4-BE49-F238E27FC236}">
                <a16:creationId xmlns:a16="http://schemas.microsoft.com/office/drawing/2014/main" id="{EC37C30C-BFAA-6C5F-03C7-DD6E5428428B}"/>
              </a:ext>
            </a:extLst>
          </p:cNvPr>
          <p:cNvSpPr txBox="1"/>
          <p:nvPr/>
        </p:nvSpPr>
        <p:spPr>
          <a:xfrm>
            <a:off x="1486921" y="4110198"/>
            <a:ext cx="6834752" cy="276999"/>
          </a:xfrm>
          <a:prstGeom prst="rect">
            <a:avLst/>
          </a:prstGeom>
          <a:noFill/>
        </p:spPr>
        <p:txBody>
          <a:bodyPr wrap="square">
            <a:spAutoFit/>
          </a:bodyPr>
          <a:lstStyle/>
          <a:p>
            <a:r>
              <a:rPr lang="zh-CN" altLang="en-US" sz="1200" dirty="0">
                <a:solidFill>
                  <a:schemeClr val="tx1">
                    <a:lumMod val="50000"/>
                    <a:lumOff val="50000"/>
                  </a:schemeClr>
                </a:solidFill>
                <a:latin typeface="Arial" panose="020B0604020202020204" pitchFamily="34" charset="0"/>
                <a:cs typeface="Arial" panose="020B0604020202020204" pitchFamily="34" charset="0"/>
              </a:rPr>
              <a:t>(Karageorghis 等, 2021)</a:t>
            </a:r>
          </a:p>
        </p:txBody>
      </p:sp>
      <p:sp>
        <p:nvSpPr>
          <p:cNvPr id="16" name="文本框 15">
            <a:extLst>
              <a:ext uri="{FF2B5EF4-FFF2-40B4-BE49-F238E27FC236}">
                <a16:creationId xmlns:a16="http://schemas.microsoft.com/office/drawing/2014/main" id="{BAAB8438-0D30-50A3-ECF9-22C5A7825F22}"/>
              </a:ext>
            </a:extLst>
          </p:cNvPr>
          <p:cNvSpPr txBox="1"/>
          <p:nvPr/>
        </p:nvSpPr>
        <p:spPr>
          <a:xfrm>
            <a:off x="2879082" y="1779241"/>
            <a:ext cx="1668049" cy="261610"/>
          </a:xfrm>
          <a:prstGeom prst="rect">
            <a:avLst/>
          </a:prstGeom>
          <a:noFill/>
        </p:spPr>
        <p:txBody>
          <a:bodyPr wrap="square">
            <a:spAutoFit/>
          </a:bodyPr>
          <a:lstStyle/>
          <a:p>
            <a:r>
              <a:rPr lang="zh-CN" altLang="en-US" sz="1100" dirty="0">
                <a:latin typeface="Microsoft YaHei" panose="020B0503020204020204" pitchFamily="34" charset="-122"/>
                <a:ea typeface="Microsoft YaHei" panose="020B0503020204020204" pitchFamily="34" charset="-122"/>
              </a:rPr>
              <a:t>risk ratings</a:t>
            </a:r>
            <a:r>
              <a:rPr lang="en-US" altLang="zh-CN" sz="1100" dirty="0">
                <a:latin typeface="Microsoft YaHei" panose="020B0503020204020204" pitchFamily="34" charset="-122"/>
                <a:ea typeface="Microsoft YaHei" panose="020B0503020204020204" pitchFamily="34" charset="-122"/>
              </a:rPr>
              <a:t> (</a:t>
            </a:r>
            <a:r>
              <a:rPr lang="en-US" altLang="zh-CN" sz="1100" i="1" dirty="0">
                <a:latin typeface="Microsoft YaHei" panose="020B0503020204020204" pitchFamily="34" charset="-122"/>
                <a:ea typeface="Microsoft YaHei" panose="020B0503020204020204" pitchFamily="34" charset="-122"/>
              </a:rPr>
              <a:t>p</a:t>
            </a:r>
            <a:r>
              <a:rPr lang="zh-CN" altLang="en-US" sz="1100" dirty="0">
                <a:latin typeface="Microsoft YaHei" panose="020B0503020204020204" pitchFamily="34" charset="-122"/>
                <a:ea typeface="Microsoft YaHei" panose="020B0503020204020204" pitchFamily="34" charset="-122"/>
              </a:rPr>
              <a:t>= .043)</a:t>
            </a:r>
            <a:endParaRPr lang="zh-CN" altLang="en-US" sz="1100" dirty="0"/>
          </a:p>
        </p:txBody>
      </p:sp>
      <p:sp>
        <p:nvSpPr>
          <p:cNvPr id="27" name="文本框 26">
            <a:extLst>
              <a:ext uri="{FF2B5EF4-FFF2-40B4-BE49-F238E27FC236}">
                <a16:creationId xmlns:a16="http://schemas.microsoft.com/office/drawing/2014/main" id="{AC774466-A552-CABE-A341-E56B14A06D0A}"/>
              </a:ext>
            </a:extLst>
          </p:cNvPr>
          <p:cNvSpPr txBox="1"/>
          <p:nvPr/>
        </p:nvSpPr>
        <p:spPr>
          <a:xfrm>
            <a:off x="724102" y="1760916"/>
            <a:ext cx="1668049" cy="261610"/>
          </a:xfrm>
          <a:prstGeom prst="rect">
            <a:avLst/>
          </a:prstGeom>
          <a:noFill/>
        </p:spPr>
        <p:txBody>
          <a:bodyPr wrap="square">
            <a:spAutoFit/>
          </a:bodyPr>
          <a:lstStyle/>
          <a:p>
            <a:r>
              <a:rPr lang="zh-CN" altLang="en-US" sz="1100" dirty="0">
                <a:latin typeface="Microsoft YaHei" panose="020B0503020204020204" pitchFamily="34" charset="-122"/>
                <a:ea typeface="Microsoft YaHei" panose="020B0503020204020204" pitchFamily="34" charset="-122"/>
              </a:rPr>
              <a:t>mean speed ( </a:t>
            </a:r>
            <a:r>
              <a:rPr lang="en-US" altLang="zh-CN" sz="1100" i="1" dirty="0">
                <a:latin typeface="Microsoft YaHei" panose="020B0503020204020204" pitchFamily="34" charset="-122"/>
                <a:ea typeface="Microsoft YaHei" panose="020B0503020204020204" pitchFamily="34" charset="-122"/>
              </a:rPr>
              <a:t>p</a:t>
            </a:r>
            <a:r>
              <a:rPr lang="zh-CN" altLang="en-US" sz="1100" dirty="0">
                <a:latin typeface="Microsoft YaHei" panose="020B0503020204020204" pitchFamily="34" charset="-122"/>
                <a:ea typeface="Microsoft YaHei" panose="020B0503020204020204" pitchFamily="34" charset="-122"/>
              </a:rPr>
              <a:t>=.034)</a:t>
            </a:r>
          </a:p>
        </p:txBody>
      </p:sp>
      <p:pic>
        <p:nvPicPr>
          <p:cNvPr id="28" name="图片 27">
            <a:extLst>
              <a:ext uri="{FF2B5EF4-FFF2-40B4-BE49-F238E27FC236}">
                <a16:creationId xmlns:a16="http://schemas.microsoft.com/office/drawing/2014/main" id="{0866EE7B-140A-5B93-CB47-3C144703B07A}"/>
              </a:ext>
            </a:extLst>
          </p:cNvPr>
          <p:cNvPicPr>
            <a:picLocks noChangeAspect="1"/>
          </p:cNvPicPr>
          <p:nvPr/>
        </p:nvPicPr>
        <p:blipFill>
          <a:blip r:embed="rId4"/>
          <a:stretch>
            <a:fillRect/>
          </a:stretch>
        </p:blipFill>
        <p:spPr>
          <a:xfrm>
            <a:off x="228679" y="2131153"/>
            <a:ext cx="2005780" cy="1896249"/>
          </a:xfrm>
          <a:prstGeom prst="rect">
            <a:avLst/>
          </a:prstGeom>
        </p:spPr>
      </p:pic>
      <p:pic>
        <p:nvPicPr>
          <p:cNvPr id="29" name="图片 28">
            <a:extLst>
              <a:ext uri="{FF2B5EF4-FFF2-40B4-BE49-F238E27FC236}">
                <a16:creationId xmlns:a16="http://schemas.microsoft.com/office/drawing/2014/main" id="{3FD81FB4-7100-FEFC-977D-B5F81B3F9078}"/>
              </a:ext>
            </a:extLst>
          </p:cNvPr>
          <p:cNvPicPr>
            <a:picLocks noChangeAspect="1"/>
          </p:cNvPicPr>
          <p:nvPr/>
        </p:nvPicPr>
        <p:blipFill>
          <a:blip r:embed="rId5"/>
          <a:stretch>
            <a:fillRect/>
          </a:stretch>
        </p:blipFill>
        <p:spPr>
          <a:xfrm>
            <a:off x="2336467" y="2040851"/>
            <a:ext cx="2140355" cy="2041686"/>
          </a:xfrm>
          <a:prstGeom prst="rect">
            <a:avLst/>
          </a:prstGeom>
        </p:spPr>
      </p:pic>
      <p:pic>
        <p:nvPicPr>
          <p:cNvPr id="30" name="图片 29">
            <a:extLst>
              <a:ext uri="{FF2B5EF4-FFF2-40B4-BE49-F238E27FC236}">
                <a16:creationId xmlns:a16="http://schemas.microsoft.com/office/drawing/2014/main" id="{E05C6B58-D9B3-54B1-6809-250EA6B31012}"/>
              </a:ext>
            </a:extLst>
          </p:cNvPr>
          <p:cNvPicPr>
            <a:picLocks noChangeAspect="1"/>
          </p:cNvPicPr>
          <p:nvPr/>
        </p:nvPicPr>
        <p:blipFill>
          <a:blip r:embed="rId6"/>
          <a:stretch>
            <a:fillRect/>
          </a:stretch>
        </p:blipFill>
        <p:spPr>
          <a:xfrm>
            <a:off x="8692276" y="2125438"/>
            <a:ext cx="2838860" cy="1817945"/>
          </a:xfrm>
          <a:prstGeom prst="rect">
            <a:avLst/>
          </a:prstGeom>
        </p:spPr>
      </p:pic>
      <p:pic>
        <p:nvPicPr>
          <p:cNvPr id="31" name="图片 30">
            <a:extLst>
              <a:ext uri="{FF2B5EF4-FFF2-40B4-BE49-F238E27FC236}">
                <a16:creationId xmlns:a16="http://schemas.microsoft.com/office/drawing/2014/main" id="{161AB71A-A9E1-D4DE-C723-F288D8198790}"/>
              </a:ext>
            </a:extLst>
          </p:cNvPr>
          <p:cNvPicPr>
            <a:picLocks noChangeAspect="1"/>
          </p:cNvPicPr>
          <p:nvPr/>
        </p:nvPicPr>
        <p:blipFill>
          <a:blip r:embed="rId7"/>
          <a:stretch>
            <a:fillRect/>
          </a:stretch>
        </p:blipFill>
        <p:spPr>
          <a:xfrm>
            <a:off x="5711019" y="2103486"/>
            <a:ext cx="2838860" cy="1861850"/>
          </a:xfrm>
          <a:prstGeom prst="rect">
            <a:avLst/>
          </a:prstGeom>
        </p:spPr>
      </p:pic>
      <p:sp>
        <p:nvSpPr>
          <p:cNvPr id="32" name="文本框 31">
            <a:extLst>
              <a:ext uri="{FF2B5EF4-FFF2-40B4-BE49-F238E27FC236}">
                <a16:creationId xmlns:a16="http://schemas.microsoft.com/office/drawing/2014/main" id="{69AD5FE8-247E-25B1-9AD6-F9A7E328D0A9}"/>
              </a:ext>
            </a:extLst>
          </p:cNvPr>
          <p:cNvSpPr txBox="1"/>
          <p:nvPr/>
        </p:nvSpPr>
        <p:spPr>
          <a:xfrm>
            <a:off x="6007054" y="4441441"/>
            <a:ext cx="5370444" cy="787460"/>
          </a:xfrm>
          <a:prstGeom prst="rect">
            <a:avLst/>
          </a:prstGeom>
          <a:noFill/>
        </p:spPr>
        <p:txBody>
          <a:bodyPr wrap="square">
            <a:spAutoFit/>
          </a:bodyPr>
          <a:lstStyle/>
          <a:p>
            <a:pPr>
              <a:lnSpc>
                <a:spcPct val="150000"/>
              </a:lnSpc>
            </a:pPr>
            <a:r>
              <a:rPr lang="zh-CN" altLang="en-US" sz="1600" b="1" dirty="0">
                <a:latin typeface="Microsoft YaHei" panose="020B0503020204020204" pitchFamily="34" charset="-122"/>
                <a:ea typeface="Microsoft YaHei" panose="020B0503020204020204" pitchFamily="34" charset="-122"/>
              </a:rPr>
              <a:t>粘液质</a:t>
            </a:r>
            <a:r>
              <a:rPr lang="zh-CN" altLang="en-US" sz="1600" dirty="0">
                <a:latin typeface="Microsoft YaHei" panose="020B0503020204020204" pitchFamily="34" charset="-122"/>
                <a:ea typeface="Microsoft YaHei" panose="020B0503020204020204" pitchFamily="34" charset="-122"/>
              </a:rPr>
              <a:t>的驾驶员受到音乐的影响较小，而</a:t>
            </a:r>
            <a:r>
              <a:rPr lang="zh-CN" altLang="en-US" sz="1600" b="1" dirty="0">
                <a:latin typeface="Microsoft YaHei" panose="020B0503020204020204" pitchFamily="34" charset="-122"/>
                <a:ea typeface="Microsoft YaHei" panose="020B0503020204020204" pitchFamily="34" charset="-122"/>
              </a:rPr>
              <a:t>胆汁质、多血质</a:t>
            </a:r>
            <a:r>
              <a:rPr lang="zh-CN" altLang="en-US" sz="1600" dirty="0">
                <a:latin typeface="Microsoft YaHei" panose="020B0503020204020204" pitchFamily="34" charset="-122"/>
                <a:ea typeface="Microsoft YaHei" panose="020B0503020204020204" pitchFamily="34" charset="-122"/>
              </a:rPr>
              <a:t>的驾驶员在听音乐时更容易分心，车辆控制更差。</a:t>
            </a:r>
          </a:p>
        </p:txBody>
      </p:sp>
      <p:sp>
        <p:nvSpPr>
          <p:cNvPr id="33" name="文本框 32">
            <a:extLst>
              <a:ext uri="{FF2B5EF4-FFF2-40B4-BE49-F238E27FC236}">
                <a16:creationId xmlns:a16="http://schemas.microsoft.com/office/drawing/2014/main" id="{3366CF9C-E662-5A71-1BE2-63DE5C2882D7}"/>
              </a:ext>
            </a:extLst>
          </p:cNvPr>
          <p:cNvSpPr txBox="1"/>
          <p:nvPr/>
        </p:nvSpPr>
        <p:spPr>
          <a:xfrm>
            <a:off x="7775714" y="3971698"/>
            <a:ext cx="6834752" cy="276999"/>
          </a:xfrm>
          <a:prstGeom prst="rect">
            <a:avLst/>
          </a:prstGeom>
          <a:noFill/>
        </p:spPr>
        <p:txBody>
          <a:bodyPr wrap="square">
            <a:spAutoFit/>
          </a:bodyPr>
          <a:lstStyle/>
          <a:p>
            <a:r>
              <a:rPr lang="zh-CN" altLang="en-US" sz="1200" dirty="0">
                <a:solidFill>
                  <a:schemeClr val="tx1">
                    <a:lumMod val="50000"/>
                    <a:lumOff val="50000"/>
                  </a:schemeClr>
                </a:solidFill>
                <a:latin typeface="Arial" panose="020B0604020202020204" pitchFamily="34" charset="0"/>
                <a:cs typeface="Arial" panose="020B0604020202020204" pitchFamily="34" charset="0"/>
              </a:rPr>
              <a:t>(</a:t>
            </a:r>
            <a:r>
              <a:rPr lang="en-US" altLang="zh-CN" sz="1200" dirty="0">
                <a:solidFill>
                  <a:schemeClr val="tx1">
                    <a:lumMod val="50000"/>
                    <a:lumOff val="50000"/>
                  </a:schemeClr>
                </a:solidFill>
                <a:latin typeface="Arial" panose="020B0604020202020204" pitchFamily="34" charset="0"/>
                <a:cs typeface="Arial" panose="020B0604020202020204" pitchFamily="34" charset="0"/>
              </a:rPr>
              <a:t>Wen </a:t>
            </a:r>
            <a:r>
              <a:rPr lang="zh-CN" altLang="en-US" sz="1200" dirty="0">
                <a:solidFill>
                  <a:schemeClr val="tx1">
                    <a:lumMod val="50000"/>
                    <a:lumOff val="50000"/>
                  </a:schemeClr>
                </a:solidFill>
                <a:latin typeface="Arial" panose="020B0604020202020204" pitchFamily="34" charset="0"/>
                <a:cs typeface="Arial" panose="020B0604020202020204" pitchFamily="34" charset="0"/>
              </a:rPr>
              <a:t>等, 20</a:t>
            </a:r>
            <a:r>
              <a:rPr lang="en-US" altLang="zh-CN" sz="1200" dirty="0">
                <a:solidFill>
                  <a:schemeClr val="tx1">
                    <a:lumMod val="50000"/>
                    <a:lumOff val="50000"/>
                  </a:schemeClr>
                </a:solidFill>
                <a:latin typeface="Arial" panose="020B0604020202020204" pitchFamily="34" charset="0"/>
                <a:cs typeface="Arial" panose="020B0604020202020204" pitchFamily="34" charset="0"/>
              </a:rPr>
              <a:t>19</a:t>
            </a:r>
            <a:r>
              <a:rPr lang="zh-CN" altLang="en-US" sz="1200" dirty="0">
                <a:solidFill>
                  <a:schemeClr val="tx1">
                    <a:lumMod val="50000"/>
                    <a:lumOff val="50000"/>
                  </a:schemeClr>
                </a:solidFill>
                <a:latin typeface="Arial" panose="020B0604020202020204" pitchFamily="34" charset="0"/>
                <a:cs typeface="Arial" panose="020B0604020202020204" pitchFamily="34" charset="0"/>
              </a:rPr>
              <a:t>)</a:t>
            </a:r>
          </a:p>
        </p:txBody>
      </p:sp>
      <p:sp>
        <p:nvSpPr>
          <p:cNvPr id="4" name="矩形 3">
            <a:extLst>
              <a:ext uri="{FF2B5EF4-FFF2-40B4-BE49-F238E27FC236}">
                <a16:creationId xmlns:a16="http://schemas.microsoft.com/office/drawing/2014/main" id="{1CD6D4BF-9C20-D27C-A459-2515C1E45E90}"/>
              </a:ext>
            </a:extLst>
          </p:cNvPr>
          <p:cNvSpPr/>
          <p:nvPr/>
        </p:nvSpPr>
        <p:spPr>
          <a:xfrm>
            <a:off x="7689517" y="2540919"/>
            <a:ext cx="774165" cy="597527"/>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a:extLst>
              <a:ext uri="{FF2B5EF4-FFF2-40B4-BE49-F238E27FC236}">
                <a16:creationId xmlns:a16="http://schemas.microsoft.com/office/drawing/2014/main" id="{831D4973-9530-F64E-9D1A-F4965AB1D506}"/>
              </a:ext>
            </a:extLst>
          </p:cNvPr>
          <p:cNvSpPr/>
          <p:nvPr/>
        </p:nvSpPr>
        <p:spPr>
          <a:xfrm>
            <a:off x="10643440" y="2524426"/>
            <a:ext cx="774165" cy="597527"/>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8389225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4A8652A-A5DD-C351-CD84-0D59A015DAA2}"/>
              </a:ext>
            </a:extLst>
          </p:cNvPr>
          <p:cNvSpPr>
            <a:spLocks noGrp="1"/>
          </p:cNvSpPr>
          <p:nvPr>
            <p:ph idx="1"/>
          </p:nvPr>
        </p:nvSpPr>
        <p:spPr>
          <a:xfrm>
            <a:off x="339443" y="1155014"/>
            <a:ext cx="10515600" cy="4351338"/>
          </a:xfrm>
        </p:spPr>
        <p:txBody>
          <a:bodyPr/>
          <a:lstStyle/>
          <a:p>
            <a:pPr>
              <a:buFont typeface="Wingdings" pitchFamily="2" charset="2"/>
              <a:buChar char="n"/>
            </a:pPr>
            <a:r>
              <a:rPr kumimoji="1" lang="zh-CN" altLang="en-US" b="1" dirty="0"/>
              <a:t>个体偏好</a:t>
            </a:r>
          </a:p>
        </p:txBody>
      </p:sp>
      <p:pic>
        <p:nvPicPr>
          <p:cNvPr id="5" name="图片 4">
            <a:extLst>
              <a:ext uri="{FF2B5EF4-FFF2-40B4-BE49-F238E27FC236}">
                <a16:creationId xmlns:a16="http://schemas.microsoft.com/office/drawing/2014/main" id="{5F6B1232-EDE5-38A6-40B6-BC7CAAD44888}"/>
              </a:ext>
            </a:extLst>
          </p:cNvPr>
          <p:cNvPicPr>
            <a:picLocks noChangeAspect="1"/>
          </p:cNvPicPr>
          <p:nvPr/>
        </p:nvPicPr>
        <p:blipFill>
          <a:blip r:embed="rId3"/>
          <a:stretch>
            <a:fillRect/>
          </a:stretch>
        </p:blipFill>
        <p:spPr>
          <a:xfrm>
            <a:off x="412136" y="1708327"/>
            <a:ext cx="2184400" cy="1803400"/>
          </a:xfrm>
          <a:prstGeom prst="rect">
            <a:avLst/>
          </a:prstGeom>
        </p:spPr>
      </p:pic>
      <p:pic>
        <p:nvPicPr>
          <p:cNvPr id="6" name="图片 5">
            <a:extLst>
              <a:ext uri="{FF2B5EF4-FFF2-40B4-BE49-F238E27FC236}">
                <a16:creationId xmlns:a16="http://schemas.microsoft.com/office/drawing/2014/main" id="{3FCF436A-C8EE-E688-E388-C26B3F213DCF}"/>
              </a:ext>
            </a:extLst>
          </p:cNvPr>
          <p:cNvPicPr>
            <a:picLocks noChangeAspect="1"/>
          </p:cNvPicPr>
          <p:nvPr/>
        </p:nvPicPr>
        <p:blipFill>
          <a:blip r:embed="rId4"/>
          <a:stretch>
            <a:fillRect/>
          </a:stretch>
        </p:blipFill>
        <p:spPr>
          <a:xfrm>
            <a:off x="2596536" y="1644152"/>
            <a:ext cx="2171700" cy="1790700"/>
          </a:xfrm>
          <a:prstGeom prst="rect">
            <a:avLst/>
          </a:prstGeom>
        </p:spPr>
      </p:pic>
      <p:sp>
        <p:nvSpPr>
          <p:cNvPr id="7" name="文本框 6">
            <a:extLst>
              <a:ext uri="{FF2B5EF4-FFF2-40B4-BE49-F238E27FC236}">
                <a16:creationId xmlns:a16="http://schemas.microsoft.com/office/drawing/2014/main" id="{CF64DEA3-7309-DCF4-23F7-A61B42084BBA}"/>
              </a:ext>
            </a:extLst>
          </p:cNvPr>
          <p:cNvSpPr txBox="1"/>
          <p:nvPr/>
        </p:nvSpPr>
        <p:spPr>
          <a:xfrm>
            <a:off x="1755212" y="3455687"/>
            <a:ext cx="6098058" cy="276999"/>
          </a:xfrm>
          <a:prstGeom prst="rect">
            <a:avLst/>
          </a:prstGeom>
          <a:noFill/>
        </p:spPr>
        <p:txBody>
          <a:bodyPr wrap="square">
            <a:spAutoFit/>
          </a:bodyPr>
          <a:lstStyle/>
          <a:p>
            <a:r>
              <a:rPr lang="en-US" altLang="zh-CN" sz="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(Hasegawa &amp; </a:t>
            </a:r>
            <a:r>
              <a:rPr lang="en-US" altLang="zh-CN" sz="1200" dirty="0" err="1">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Oguri</a:t>
            </a:r>
            <a:r>
              <a:rPr lang="en-US" altLang="zh-CN" sz="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2006</a:t>
            </a:r>
            <a:r>
              <a:rPr lang="en-US" altLang="zh-CN" sz="1200" dirty="0">
                <a:solidFill>
                  <a:schemeClr val="tx1">
                    <a:lumMod val="50000"/>
                    <a:lumOff val="50000"/>
                  </a:schemeClr>
                </a:solidFill>
                <a:latin typeface="Arial" panose="020B0604020202020204" pitchFamily="34" charset="0"/>
                <a:ea typeface="Microsoft YaHei" panose="020B0503020204020204" pitchFamily="34" charset="-122"/>
                <a:cs typeface="Arial" panose="020B0604020202020204" pitchFamily="34" charset="0"/>
              </a:rPr>
              <a:t>)</a:t>
            </a:r>
            <a:endParaRPr lang="zh-CN" altLang="en-US" sz="1200" dirty="0"/>
          </a:p>
        </p:txBody>
      </p:sp>
      <p:sp>
        <p:nvSpPr>
          <p:cNvPr id="8" name="文本框 7">
            <a:extLst>
              <a:ext uri="{FF2B5EF4-FFF2-40B4-BE49-F238E27FC236}">
                <a16:creationId xmlns:a16="http://schemas.microsoft.com/office/drawing/2014/main" id="{A4724F9C-FC27-903A-68FB-1A881BD70F79}"/>
              </a:ext>
            </a:extLst>
          </p:cNvPr>
          <p:cNvSpPr txBox="1"/>
          <p:nvPr/>
        </p:nvSpPr>
        <p:spPr>
          <a:xfrm>
            <a:off x="412136" y="4043732"/>
            <a:ext cx="7460838" cy="418128"/>
          </a:xfrm>
          <a:prstGeom prst="rect">
            <a:avLst/>
          </a:prstGeom>
          <a:noFill/>
        </p:spPr>
        <p:txBody>
          <a:bodyPr wrap="square">
            <a:spAutoFit/>
          </a:bodyPr>
          <a:lstStyle/>
          <a:p>
            <a:pPr marL="285750" indent="-144000">
              <a:lnSpc>
                <a:spcPct val="150000"/>
              </a:lnSpc>
              <a:buFont typeface="Arial" panose="020B0604020202020204" pitchFamily="34" charset="0"/>
              <a:buChar char="•"/>
            </a:pPr>
            <a:r>
              <a:rPr lang="zh-CN" altLang="en-US" sz="1600" dirty="0">
                <a:latin typeface="Microsoft YaHei" panose="020B0503020204020204" pitchFamily="34" charset="-122"/>
                <a:ea typeface="Microsoft YaHei" panose="020B0503020204020204" pitchFamily="34" charset="-122"/>
              </a:rPr>
              <a:t>在</a:t>
            </a:r>
            <a:r>
              <a:rPr lang="zh-CN" altLang="en-US" sz="1600" b="1" dirty="0">
                <a:latin typeface="Microsoft YaHei" panose="020B0503020204020204" pitchFamily="34" charset="-122"/>
                <a:ea typeface="Microsoft YaHei" panose="020B0503020204020204" pitchFamily="34" charset="-122"/>
              </a:rPr>
              <a:t>高偏好</a:t>
            </a:r>
            <a:r>
              <a:rPr lang="zh-CN" altLang="en-US" sz="1600" dirty="0">
                <a:latin typeface="Microsoft YaHei" panose="020B0503020204020204" pitchFamily="34" charset="-122"/>
                <a:ea typeface="Microsoft YaHei" panose="020B0503020204020204" pitchFamily="34" charset="-122"/>
              </a:rPr>
              <a:t>的音乐下，才会有更高的唤醒和警觉。</a:t>
            </a:r>
          </a:p>
        </p:txBody>
      </p:sp>
      <p:pic>
        <p:nvPicPr>
          <p:cNvPr id="9" name="图片 8">
            <a:extLst>
              <a:ext uri="{FF2B5EF4-FFF2-40B4-BE49-F238E27FC236}">
                <a16:creationId xmlns:a16="http://schemas.microsoft.com/office/drawing/2014/main" id="{82F24F17-231B-E7F0-BED0-81AFE656FB18}"/>
              </a:ext>
            </a:extLst>
          </p:cNvPr>
          <p:cNvPicPr>
            <a:picLocks noChangeAspect="1"/>
          </p:cNvPicPr>
          <p:nvPr/>
        </p:nvPicPr>
        <p:blipFill>
          <a:blip r:embed="rId5"/>
          <a:stretch>
            <a:fillRect/>
          </a:stretch>
        </p:blipFill>
        <p:spPr>
          <a:xfrm>
            <a:off x="5885530" y="1735177"/>
            <a:ext cx="2643356" cy="1866635"/>
          </a:xfrm>
          <a:prstGeom prst="rect">
            <a:avLst/>
          </a:prstGeom>
        </p:spPr>
      </p:pic>
      <p:pic>
        <p:nvPicPr>
          <p:cNvPr id="10" name="图片 9">
            <a:extLst>
              <a:ext uri="{FF2B5EF4-FFF2-40B4-BE49-F238E27FC236}">
                <a16:creationId xmlns:a16="http://schemas.microsoft.com/office/drawing/2014/main" id="{05A22429-666A-E60F-3FE3-FE4FB93275F2}"/>
              </a:ext>
            </a:extLst>
          </p:cNvPr>
          <p:cNvPicPr>
            <a:picLocks noChangeAspect="1"/>
          </p:cNvPicPr>
          <p:nvPr/>
        </p:nvPicPr>
        <p:blipFill>
          <a:blip r:embed="rId6"/>
          <a:stretch>
            <a:fillRect/>
          </a:stretch>
        </p:blipFill>
        <p:spPr>
          <a:xfrm>
            <a:off x="8528886" y="1991264"/>
            <a:ext cx="3001773" cy="1562567"/>
          </a:xfrm>
          <a:prstGeom prst="rect">
            <a:avLst/>
          </a:prstGeom>
        </p:spPr>
      </p:pic>
      <p:sp>
        <p:nvSpPr>
          <p:cNvPr id="11" name="文本框 10">
            <a:extLst>
              <a:ext uri="{FF2B5EF4-FFF2-40B4-BE49-F238E27FC236}">
                <a16:creationId xmlns:a16="http://schemas.microsoft.com/office/drawing/2014/main" id="{95D13736-7F14-FD58-3E5E-1064368E455E}"/>
              </a:ext>
            </a:extLst>
          </p:cNvPr>
          <p:cNvSpPr txBox="1"/>
          <p:nvPr/>
        </p:nvSpPr>
        <p:spPr>
          <a:xfrm>
            <a:off x="6178876" y="4037263"/>
            <a:ext cx="5863554" cy="787460"/>
          </a:xfrm>
          <a:prstGeom prst="rect">
            <a:avLst/>
          </a:prstGeom>
          <a:noFill/>
        </p:spPr>
        <p:txBody>
          <a:bodyPr wrap="square">
            <a:spAutoFit/>
          </a:bodyPr>
          <a:lstStyle/>
          <a:p>
            <a:pPr marL="285750" indent="-144000">
              <a:lnSpc>
                <a:spcPct val="150000"/>
              </a:lnSpc>
              <a:buFont typeface="Arial" panose="020B0604020202020204" pitchFamily="34" charset="0"/>
              <a:buChar char="•"/>
            </a:pPr>
            <a:r>
              <a:rPr lang="zh-CN" altLang="en-US" sz="1600" dirty="0">
                <a:latin typeface="Microsoft YaHei" panose="020B0503020204020204" pitchFamily="34" charset="-122"/>
                <a:ea typeface="Microsoft YaHei" panose="020B0503020204020204" pitchFamily="34" charset="-122"/>
              </a:rPr>
              <a:t>在</a:t>
            </a:r>
            <a:r>
              <a:rPr lang="zh-CN" altLang="en-US" sz="1600" b="1" dirty="0">
                <a:latin typeface="Microsoft YaHei" panose="020B0503020204020204" pitchFamily="34" charset="-122"/>
                <a:ea typeface="Microsoft YaHei" panose="020B0503020204020204" pitchFamily="34" charset="-122"/>
              </a:rPr>
              <a:t>自我选择</a:t>
            </a:r>
            <a:r>
              <a:rPr lang="zh-CN" altLang="en-US" sz="1600" dirty="0">
                <a:latin typeface="Microsoft YaHei" panose="020B0503020204020204" pitchFamily="34" charset="-122"/>
                <a:ea typeface="Microsoft YaHei" panose="020B0503020204020204" pitchFamily="34" charset="-122"/>
              </a:rPr>
              <a:t>（偏好）的音乐下，躲避障碍物的准确性更高，愉悦度和集中度最高。</a:t>
            </a:r>
          </a:p>
        </p:txBody>
      </p:sp>
      <p:sp>
        <p:nvSpPr>
          <p:cNvPr id="4" name="文本框 3">
            <a:extLst>
              <a:ext uri="{FF2B5EF4-FFF2-40B4-BE49-F238E27FC236}">
                <a16:creationId xmlns:a16="http://schemas.microsoft.com/office/drawing/2014/main" id="{4153A08F-ABE2-C2B0-9FB1-4F59F9875123}"/>
              </a:ext>
            </a:extLst>
          </p:cNvPr>
          <p:cNvSpPr txBox="1"/>
          <p:nvPr/>
        </p:nvSpPr>
        <p:spPr>
          <a:xfrm>
            <a:off x="7872974" y="3755952"/>
            <a:ext cx="6098058" cy="276999"/>
          </a:xfrm>
          <a:prstGeom prst="rect">
            <a:avLst/>
          </a:prstGeom>
          <a:noFill/>
        </p:spPr>
        <p:txBody>
          <a:bodyPr wrap="square">
            <a:spAutoFit/>
          </a:bodyPr>
          <a:lstStyle/>
          <a:p>
            <a:r>
              <a:rPr lang="en-US" altLang="zh-CN" sz="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(Cassidy </a:t>
            </a:r>
            <a:r>
              <a:rPr lang="zh-CN" altLang="en-US" sz="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等</a:t>
            </a:r>
            <a:r>
              <a:rPr lang="en-US" altLang="zh-CN" sz="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2010</a:t>
            </a:r>
            <a:r>
              <a:rPr lang="en-US" altLang="zh-CN" sz="1200" dirty="0">
                <a:solidFill>
                  <a:schemeClr val="tx1">
                    <a:lumMod val="50000"/>
                    <a:lumOff val="50000"/>
                  </a:schemeClr>
                </a:solidFill>
                <a:latin typeface="Arial" panose="020B0604020202020204" pitchFamily="34" charset="0"/>
                <a:ea typeface="Microsoft YaHei" panose="020B0503020204020204" pitchFamily="34" charset="-122"/>
                <a:cs typeface="Arial" panose="020B0604020202020204" pitchFamily="34" charset="0"/>
              </a:rPr>
              <a:t>)</a:t>
            </a:r>
            <a:endParaRPr lang="zh-CN" altLang="en-US" sz="1200" dirty="0"/>
          </a:p>
        </p:txBody>
      </p:sp>
      <p:pic>
        <p:nvPicPr>
          <p:cNvPr id="19" name="图片 18">
            <a:extLst>
              <a:ext uri="{FF2B5EF4-FFF2-40B4-BE49-F238E27FC236}">
                <a16:creationId xmlns:a16="http://schemas.microsoft.com/office/drawing/2014/main" id="{B3AC83CE-8562-12FA-21F0-4D2880AAD7D7}"/>
              </a:ext>
            </a:extLst>
          </p:cNvPr>
          <p:cNvPicPr>
            <a:picLocks noChangeAspect="1"/>
          </p:cNvPicPr>
          <p:nvPr/>
        </p:nvPicPr>
        <p:blipFill rotWithShape="1">
          <a:blip r:embed="rId7"/>
          <a:srcRect l="8556"/>
          <a:stretch/>
        </p:blipFill>
        <p:spPr>
          <a:xfrm>
            <a:off x="3901846" y="5325319"/>
            <a:ext cx="2194154" cy="995513"/>
          </a:xfrm>
          <a:prstGeom prst="rect">
            <a:avLst/>
          </a:prstGeom>
        </p:spPr>
      </p:pic>
      <p:sp>
        <p:nvSpPr>
          <p:cNvPr id="23" name="文本框 22">
            <a:extLst>
              <a:ext uri="{FF2B5EF4-FFF2-40B4-BE49-F238E27FC236}">
                <a16:creationId xmlns:a16="http://schemas.microsoft.com/office/drawing/2014/main" id="{15330F82-6D44-3C7D-4FBD-880170AFA2DA}"/>
              </a:ext>
            </a:extLst>
          </p:cNvPr>
          <p:cNvSpPr txBox="1"/>
          <p:nvPr/>
        </p:nvSpPr>
        <p:spPr>
          <a:xfrm>
            <a:off x="6315460" y="5417199"/>
            <a:ext cx="5483291" cy="787460"/>
          </a:xfrm>
          <a:prstGeom prst="rect">
            <a:avLst/>
          </a:prstGeom>
          <a:noFill/>
        </p:spPr>
        <p:txBody>
          <a:bodyPr wrap="square">
            <a:spAutoFit/>
          </a:bodyPr>
          <a:lstStyle/>
          <a:p>
            <a:pPr marL="171450" indent="-171450">
              <a:lnSpc>
                <a:spcPct val="150000"/>
              </a:lnSpc>
              <a:buFont typeface="Arial" panose="020B0604020202020204" pitchFamily="34" charset="0"/>
              <a:buChar char="•"/>
            </a:pPr>
            <a:r>
              <a:rPr lang="zh-CN" altLang="en-US" sz="1600" kern="100" dirty="0">
                <a:effectLst/>
                <a:latin typeface="+mj-ea"/>
                <a:ea typeface="+mj-ea"/>
                <a:cs typeface="Times New Roman" panose="02020603050405020304" pitchFamily="18" charset="0"/>
              </a:rPr>
              <a:t>偏好古典、流行类音乐的人与更少的冒险行为相关，偏好说唱、金属类</a:t>
            </a:r>
            <a:r>
              <a:rPr lang="zh-CN" altLang="zh-CN" sz="1600" kern="100" dirty="0">
                <a:effectLst/>
                <a:latin typeface="+mj-ea"/>
                <a:ea typeface="+mj-ea"/>
                <a:cs typeface="Times New Roman" panose="02020603050405020304" pitchFamily="18" charset="0"/>
              </a:rPr>
              <a:t>的人</a:t>
            </a:r>
            <a:r>
              <a:rPr lang="zh-CN" altLang="en-US" sz="1600" kern="100" dirty="0">
                <a:effectLst/>
                <a:latin typeface="+mj-ea"/>
                <a:ea typeface="+mj-ea"/>
                <a:cs typeface="Times New Roman" panose="02020603050405020304" pitchFamily="18" charset="0"/>
              </a:rPr>
              <a:t>与</a:t>
            </a:r>
            <a:r>
              <a:rPr lang="zh-CN" altLang="zh-CN" sz="1600" kern="100" dirty="0">
                <a:effectLst/>
                <a:latin typeface="+mj-ea"/>
                <a:ea typeface="+mj-ea"/>
                <a:cs typeface="Times New Roman" panose="02020603050405020304" pitchFamily="18" charset="0"/>
              </a:rPr>
              <a:t>更高的</a:t>
            </a:r>
            <a:r>
              <a:rPr lang="zh-CN" altLang="en-US" sz="1600" kern="100" dirty="0">
                <a:effectLst/>
                <a:latin typeface="+mj-ea"/>
                <a:ea typeface="+mj-ea"/>
                <a:cs typeface="Times New Roman" panose="02020603050405020304" pitchFamily="18" charset="0"/>
              </a:rPr>
              <a:t>冒险行为相关</a:t>
            </a:r>
            <a:r>
              <a:rPr lang="en-US" altLang="zh-CN" sz="1600" dirty="0">
                <a:solidFill>
                  <a:schemeClr val="tx1">
                    <a:lumMod val="50000"/>
                    <a:lumOff val="50000"/>
                  </a:schemeClr>
                </a:solidFill>
                <a:latin typeface="+mj-ea"/>
                <a:ea typeface="+mj-ea"/>
              </a:rPr>
              <a:t> </a:t>
            </a:r>
            <a:r>
              <a:rPr lang="en-US" altLang="zh-CN" sz="1200" dirty="0">
                <a:solidFill>
                  <a:schemeClr val="tx1">
                    <a:lumMod val="50000"/>
                    <a:lumOff val="50000"/>
                  </a:schemeClr>
                </a:solidFill>
                <a:latin typeface="+mj-ea"/>
                <a:ea typeface="+mj-ea"/>
              </a:rPr>
              <a:t>(</a:t>
            </a:r>
            <a:r>
              <a:rPr lang="en-US" altLang="zh-CN" sz="1200" dirty="0" err="1">
                <a:solidFill>
                  <a:schemeClr val="tx1">
                    <a:lumMod val="50000"/>
                    <a:lumOff val="50000"/>
                  </a:schemeClr>
                </a:solidFill>
                <a:latin typeface="+mj-ea"/>
                <a:ea typeface="+mj-ea"/>
              </a:rPr>
              <a:t>Yosephine</a:t>
            </a:r>
            <a:r>
              <a:rPr lang="zh-CN" altLang="zh-CN" sz="1200" dirty="0">
                <a:solidFill>
                  <a:schemeClr val="tx1">
                    <a:lumMod val="50000"/>
                    <a:lumOff val="50000"/>
                  </a:schemeClr>
                </a:solidFill>
                <a:latin typeface="+mj-ea"/>
                <a:ea typeface="+mj-ea"/>
              </a:rPr>
              <a:t>等</a:t>
            </a:r>
            <a:r>
              <a:rPr lang="en-US" altLang="zh-CN" sz="1200" dirty="0">
                <a:solidFill>
                  <a:schemeClr val="tx1">
                    <a:lumMod val="50000"/>
                    <a:lumOff val="50000"/>
                  </a:schemeClr>
                </a:solidFill>
                <a:latin typeface="+mj-ea"/>
                <a:ea typeface="+mj-ea"/>
              </a:rPr>
              <a:t>, 2020)</a:t>
            </a:r>
            <a:endParaRPr lang="en-US" altLang="zh-CN" sz="1200" kern="100" dirty="0">
              <a:effectLst/>
              <a:latin typeface="+mj-ea"/>
              <a:ea typeface="+mj-ea"/>
              <a:cs typeface="Times New Roman" panose="02020603050405020304" pitchFamily="18" charset="0"/>
            </a:endParaRPr>
          </a:p>
        </p:txBody>
      </p:sp>
      <p:pic>
        <p:nvPicPr>
          <p:cNvPr id="24" name="图片 23">
            <a:extLst>
              <a:ext uri="{FF2B5EF4-FFF2-40B4-BE49-F238E27FC236}">
                <a16:creationId xmlns:a16="http://schemas.microsoft.com/office/drawing/2014/main" id="{E36A01A0-022D-0A6F-7F98-B38FC81E6506}"/>
              </a:ext>
            </a:extLst>
          </p:cNvPr>
          <p:cNvPicPr>
            <a:picLocks noChangeAspect="1"/>
          </p:cNvPicPr>
          <p:nvPr/>
        </p:nvPicPr>
        <p:blipFill>
          <a:blip r:embed="rId8"/>
          <a:stretch>
            <a:fillRect/>
          </a:stretch>
        </p:blipFill>
        <p:spPr>
          <a:xfrm>
            <a:off x="289028" y="5233647"/>
            <a:ext cx="3393358" cy="1131119"/>
          </a:xfrm>
          <a:prstGeom prst="rect">
            <a:avLst/>
          </a:prstGeom>
        </p:spPr>
      </p:pic>
      <p:sp>
        <p:nvSpPr>
          <p:cNvPr id="25" name="文本框 24">
            <a:extLst>
              <a:ext uri="{FF2B5EF4-FFF2-40B4-BE49-F238E27FC236}">
                <a16:creationId xmlns:a16="http://schemas.microsoft.com/office/drawing/2014/main" id="{18122B0B-D756-F2CA-BC1F-DFDB7AEC5439}"/>
              </a:ext>
            </a:extLst>
          </p:cNvPr>
          <p:cNvSpPr txBox="1"/>
          <p:nvPr/>
        </p:nvSpPr>
        <p:spPr>
          <a:xfrm>
            <a:off x="339443" y="6349127"/>
            <a:ext cx="2972172" cy="261610"/>
          </a:xfrm>
          <a:prstGeom prst="rect">
            <a:avLst/>
          </a:prstGeom>
          <a:noFill/>
        </p:spPr>
        <p:txBody>
          <a:bodyPr wrap="square" rtlCol="0">
            <a:spAutoFit/>
          </a:bodyPr>
          <a:lstStyle/>
          <a:p>
            <a:r>
              <a:rPr kumimoji="1" lang="zh-CN" altLang="en-US" sz="1100" dirty="0">
                <a:solidFill>
                  <a:schemeClr val="tx1">
                    <a:lumMod val="50000"/>
                    <a:lumOff val="50000"/>
                  </a:schemeClr>
                </a:solidFill>
                <a:latin typeface="KaiTi" panose="02010609060101010101" pitchFamily="49" charset="-122"/>
                <a:ea typeface="KaiTi" panose="02010609060101010101" pitchFamily="49" charset="-122"/>
              </a:rPr>
              <a:t>音乐偏好问卷包含</a:t>
            </a:r>
            <a:r>
              <a:rPr kumimoji="1" lang="en-US" altLang="zh-CN" sz="1100" dirty="0">
                <a:solidFill>
                  <a:schemeClr val="tx1">
                    <a:lumMod val="50000"/>
                    <a:lumOff val="50000"/>
                  </a:schemeClr>
                </a:solidFill>
                <a:latin typeface="KaiTi" panose="02010609060101010101" pitchFamily="49" charset="-122"/>
                <a:ea typeface="KaiTi" panose="02010609060101010101" pitchFamily="49" charset="-122"/>
              </a:rPr>
              <a:t>14</a:t>
            </a:r>
            <a:r>
              <a:rPr kumimoji="1" lang="zh-CN" altLang="en-US" sz="1100" dirty="0">
                <a:solidFill>
                  <a:schemeClr val="tx1">
                    <a:lumMod val="50000"/>
                    <a:lumOff val="50000"/>
                  </a:schemeClr>
                </a:solidFill>
                <a:latin typeface="KaiTi" panose="02010609060101010101" pitchFamily="49" charset="-122"/>
                <a:ea typeface="KaiTi" panose="02010609060101010101" pitchFamily="49" charset="-122"/>
              </a:rPr>
              <a:t>类流派，分为</a:t>
            </a:r>
            <a:r>
              <a:rPr kumimoji="1" lang="en-US" altLang="zh-CN" sz="1100" dirty="0">
                <a:solidFill>
                  <a:schemeClr val="tx1">
                    <a:lumMod val="50000"/>
                    <a:lumOff val="50000"/>
                  </a:schemeClr>
                </a:solidFill>
                <a:latin typeface="KaiTi" panose="02010609060101010101" pitchFamily="49" charset="-122"/>
                <a:ea typeface="KaiTi" panose="02010609060101010101" pitchFamily="49" charset="-122"/>
              </a:rPr>
              <a:t>4</a:t>
            </a:r>
            <a:r>
              <a:rPr kumimoji="1" lang="zh-CN" altLang="en-US" sz="1100" dirty="0">
                <a:solidFill>
                  <a:schemeClr val="tx1">
                    <a:lumMod val="50000"/>
                    <a:lumOff val="50000"/>
                  </a:schemeClr>
                </a:solidFill>
                <a:latin typeface="KaiTi" panose="02010609060101010101" pitchFamily="49" charset="-122"/>
                <a:ea typeface="KaiTi" panose="02010609060101010101" pitchFamily="49" charset="-122"/>
              </a:rPr>
              <a:t>个维度</a:t>
            </a:r>
          </a:p>
        </p:txBody>
      </p:sp>
      <p:sp>
        <p:nvSpPr>
          <p:cNvPr id="26" name="文本框 25">
            <a:extLst>
              <a:ext uri="{FF2B5EF4-FFF2-40B4-BE49-F238E27FC236}">
                <a16:creationId xmlns:a16="http://schemas.microsoft.com/office/drawing/2014/main" id="{6FD5617A-DA29-98FA-FF88-46997DBB4EA0}"/>
              </a:ext>
            </a:extLst>
          </p:cNvPr>
          <p:cNvSpPr txBox="1"/>
          <p:nvPr/>
        </p:nvSpPr>
        <p:spPr>
          <a:xfrm>
            <a:off x="3826791" y="6349127"/>
            <a:ext cx="2352085" cy="430887"/>
          </a:xfrm>
          <a:prstGeom prst="rect">
            <a:avLst/>
          </a:prstGeom>
          <a:noFill/>
        </p:spPr>
        <p:txBody>
          <a:bodyPr wrap="square" rtlCol="0">
            <a:spAutoFit/>
          </a:bodyPr>
          <a:lstStyle/>
          <a:p>
            <a:r>
              <a:rPr kumimoji="1" lang="zh-CN" altLang="en-US" sz="1100" dirty="0">
                <a:solidFill>
                  <a:schemeClr val="tx1">
                    <a:lumMod val="50000"/>
                    <a:lumOff val="50000"/>
                  </a:schemeClr>
                </a:solidFill>
                <a:latin typeface="KaiTi" panose="02010609060101010101" pitchFamily="49" charset="-122"/>
                <a:ea typeface="KaiTi" panose="02010609060101010101" pitchFamily="49" charset="-122"/>
              </a:rPr>
              <a:t>在对参与者的实际冒险行为调查中，发现超速驾驶是最多的一项</a:t>
            </a:r>
          </a:p>
        </p:txBody>
      </p:sp>
      <p:sp>
        <p:nvSpPr>
          <p:cNvPr id="12" name="矩形 11">
            <a:extLst>
              <a:ext uri="{FF2B5EF4-FFF2-40B4-BE49-F238E27FC236}">
                <a16:creationId xmlns:a16="http://schemas.microsoft.com/office/drawing/2014/main" id="{A159C8C2-F516-7086-C255-992DD5240BF6}"/>
              </a:ext>
            </a:extLst>
          </p:cNvPr>
          <p:cNvSpPr/>
          <p:nvPr/>
        </p:nvSpPr>
        <p:spPr>
          <a:xfrm>
            <a:off x="6010618" y="3149968"/>
            <a:ext cx="1716062" cy="30572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3" name="矩形 12">
            <a:extLst>
              <a:ext uri="{FF2B5EF4-FFF2-40B4-BE49-F238E27FC236}">
                <a16:creationId xmlns:a16="http://schemas.microsoft.com/office/drawing/2014/main" id="{5AA78F7D-CD8D-36A5-1A1A-7C7EB32649BE}"/>
              </a:ext>
            </a:extLst>
          </p:cNvPr>
          <p:cNvSpPr/>
          <p:nvPr/>
        </p:nvSpPr>
        <p:spPr>
          <a:xfrm>
            <a:off x="11005700" y="2156237"/>
            <a:ext cx="524960" cy="1272763"/>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矩形 13">
            <a:extLst>
              <a:ext uri="{FF2B5EF4-FFF2-40B4-BE49-F238E27FC236}">
                <a16:creationId xmlns:a16="http://schemas.microsoft.com/office/drawing/2014/main" id="{09AD7B0F-6367-81A3-4192-E20959C388BD}"/>
              </a:ext>
            </a:extLst>
          </p:cNvPr>
          <p:cNvSpPr/>
          <p:nvPr/>
        </p:nvSpPr>
        <p:spPr>
          <a:xfrm>
            <a:off x="3002280" y="5710191"/>
            <a:ext cx="680106" cy="26161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矩形 14">
            <a:extLst>
              <a:ext uri="{FF2B5EF4-FFF2-40B4-BE49-F238E27FC236}">
                <a16:creationId xmlns:a16="http://schemas.microsoft.com/office/drawing/2014/main" id="{A368DB6C-B517-73A4-6E3E-C18D6F6DE25E}"/>
              </a:ext>
            </a:extLst>
          </p:cNvPr>
          <p:cNvSpPr/>
          <p:nvPr/>
        </p:nvSpPr>
        <p:spPr>
          <a:xfrm>
            <a:off x="2996586" y="5972351"/>
            <a:ext cx="680106" cy="26161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a:extLst>
              <a:ext uri="{FF2B5EF4-FFF2-40B4-BE49-F238E27FC236}">
                <a16:creationId xmlns:a16="http://schemas.microsoft.com/office/drawing/2014/main" id="{67FB2D70-35C2-CA62-570E-2266DF0BB6D1}"/>
              </a:ext>
            </a:extLst>
          </p:cNvPr>
          <p:cNvSpPr/>
          <p:nvPr/>
        </p:nvSpPr>
        <p:spPr>
          <a:xfrm>
            <a:off x="3930484" y="6043382"/>
            <a:ext cx="2165516" cy="161277"/>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标题 1">
            <a:extLst>
              <a:ext uri="{FF2B5EF4-FFF2-40B4-BE49-F238E27FC236}">
                <a16:creationId xmlns:a16="http://schemas.microsoft.com/office/drawing/2014/main" id="{EBD9508A-03CD-F153-363E-2132955EF84B}"/>
              </a:ext>
            </a:extLst>
          </p:cNvPr>
          <p:cNvSpPr txBox="1">
            <a:spLocks/>
          </p:cNvSpPr>
          <p:nvPr/>
        </p:nvSpPr>
        <p:spPr>
          <a:xfrm>
            <a:off x="339443" y="-269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tx1"/>
                </a:solidFill>
                <a:latin typeface="Microsoft YaHei" panose="020B0503020204020204" pitchFamily="34" charset="-122"/>
                <a:ea typeface="Microsoft YaHei" panose="020B0503020204020204" pitchFamily="34" charset="-122"/>
                <a:cs typeface="+mj-cs"/>
              </a:defRPr>
            </a:lvl1pPr>
          </a:lstStyle>
          <a:p>
            <a:r>
              <a:rPr kumimoji="1" lang="zh-CN" altLang="en-US" dirty="0"/>
              <a:t>文献综述  </a:t>
            </a:r>
            <a:r>
              <a:rPr kumimoji="1" lang="zh-CN" altLang="en-US" sz="2000" dirty="0"/>
              <a:t>音乐和驾驶员差异对驾驶行为影响</a:t>
            </a:r>
          </a:p>
        </p:txBody>
      </p:sp>
    </p:spTree>
    <p:extLst>
      <p:ext uri="{BB962C8B-B14F-4D97-AF65-F5344CB8AC3E}">
        <p14:creationId xmlns:p14="http://schemas.microsoft.com/office/powerpoint/2010/main" val="483833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椭圆 11">
            <a:extLst>
              <a:ext uri="{FF2B5EF4-FFF2-40B4-BE49-F238E27FC236}">
                <a16:creationId xmlns:a16="http://schemas.microsoft.com/office/drawing/2014/main" id="{1175EF95-99D2-93E1-A114-E7A8A7322119}"/>
              </a:ext>
            </a:extLst>
          </p:cNvPr>
          <p:cNvSpPr/>
          <p:nvPr/>
        </p:nvSpPr>
        <p:spPr>
          <a:xfrm>
            <a:off x="359032" y="2701947"/>
            <a:ext cx="4625789" cy="2419374"/>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内容占位符 2">
            <a:extLst>
              <a:ext uri="{FF2B5EF4-FFF2-40B4-BE49-F238E27FC236}">
                <a16:creationId xmlns:a16="http://schemas.microsoft.com/office/drawing/2014/main" id="{B6F314BE-14A3-D5B9-4DF8-87A7DF0B89E5}"/>
              </a:ext>
            </a:extLst>
          </p:cNvPr>
          <p:cNvSpPr>
            <a:spLocks noGrp="1"/>
          </p:cNvSpPr>
          <p:nvPr>
            <p:ph idx="1"/>
          </p:nvPr>
        </p:nvSpPr>
        <p:spPr>
          <a:xfrm>
            <a:off x="339443" y="1144308"/>
            <a:ext cx="10515600" cy="4351338"/>
          </a:xfrm>
        </p:spPr>
        <p:txBody>
          <a:bodyPr/>
          <a:lstStyle/>
          <a:p>
            <a:pPr>
              <a:buFont typeface="系统字体常规体"/>
              <a:buChar char="✤"/>
            </a:pPr>
            <a:r>
              <a:rPr kumimoji="1" lang="zh-CN" altLang="en-US" b="1" dirty="0"/>
              <a:t>问题提出</a:t>
            </a:r>
            <a:r>
              <a:rPr kumimoji="1" lang="en-US" altLang="zh-CN" b="1" dirty="0"/>
              <a:t>1:</a:t>
            </a:r>
            <a:endParaRPr kumimoji="1" lang="zh-CN" altLang="en-US" b="1" dirty="0"/>
          </a:p>
        </p:txBody>
      </p:sp>
      <p:sp>
        <p:nvSpPr>
          <p:cNvPr id="7" name="文本框 6">
            <a:extLst>
              <a:ext uri="{FF2B5EF4-FFF2-40B4-BE49-F238E27FC236}">
                <a16:creationId xmlns:a16="http://schemas.microsoft.com/office/drawing/2014/main" id="{D593D35A-19AE-F571-8A35-8ACE111BD4C9}"/>
              </a:ext>
            </a:extLst>
          </p:cNvPr>
          <p:cNvSpPr txBox="1"/>
          <p:nvPr/>
        </p:nvSpPr>
        <p:spPr>
          <a:xfrm>
            <a:off x="5374909" y="1373099"/>
            <a:ext cx="6477648" cy="4647426"/>
          </a:xfrm>
          <a:prstGeom prst="rect">
            <a:avLst/>
          </a:prstGeom>
          <a:solidFill>
            <a:schemeClr val="bg2">
              <a:lumMod val="90000"/>
              <a:alpha val="45000"/>
            </a:schemeClr>
          </a:solidFill>
        </p:spPr>
        <p:txBody>
          <a:bodyPr wrap="square">
            <a:spAutoFit/>
          </a:bodyPr>
          <a:lstStyle/>
          <a:p>
            <a:pPr marL="171450" indent="-171450">
              <a:lnSpc>
                <a:spcPct val="150000"/>
              </a:lnSpc>
              <a:buFont typeface="Arial" panose="020B0604020202020204" pitchFamily="34" charset="0"/>
              <a:buChar char="•"/>
            </a:pPr>
            <a:endParaRPr lang="en-US" altLang="zh-CN" sz="400" b="1" kern="100" dirty="0">
              <a:effectLst/>
              <a:latin typeface="+mj-ea"/>
              <a:ea typeface="+mj-ea"/>
              <a:cs typeface="Times New Roman" panose="02020603050405020304" pitchFamily="18" charset="0"/>
            </a:endParaRPr>
          </a:p>
          <a:p>
            <a:pPr marL="171450" indent="-171450">
              <a:lnSpc>
                <a:spcPct val="150000"/>
              </a:lnSpc>
              <a:buFont typeface="Arial" panose="020B0604020202020204" pitchFamily="34" charset="0"/>
              <a:buChar char="•"/>
            </a:pPr>
            <a:r>
              <a:rPr lang="zh-CN" altLang="en-US" sz="1600" b="1" kern="100" dirty="0">
                <a:effectLst/>
                <a:latin typeface="+mj-ea"/>
                <a:ea typeface="+mj-ea"/>
                <a:cs typeface="Times New Roman" panose="02020603050405020304" pitchFamily="18" charset="0"/>
              </a:rPr>
              <a:t>音乐偏好对驾驶行为的影响</a:t>
            </a:r>
            <a:endParaRPr lang="en-US" altLang="zh-CN" sz="1600" b="1" kern="100" dirty="0">
              <a:effectLst/>
              <a:latin typeface="+mj-ea"/>
              <a:ea typeface="+mj-ea"/>
              <a:cs typeface="Times New Roman" panose="02020603050405020304" pitchFamily="18" charset="0"/>
            </a:endParaRPr>
          </a:p>
          <a:p>
            <a:pPr marL="180000">
              <a:lnSpc>
                <a:spcPct val="150000"/>
              </a:lnSpc>
            </a:pPr>
            <a:r>
              <a:rPr lang="zh-CN" altLang="zh-CN" sz="1600" kern="100" dirty="0">
                <a:effectLst/>
                <a:latin typeface="+mj-ea"/>
                <a:ea typeface="+mj-ea"/>
                <a:cs typeface="Times New Roman" panose="02020603050405020304" pitchFamily="18" charset="0"/>
              </a:rPr>
              <a:t>对摇滚</a:t>
            </a:r>
            <a:r>
              <a:rPr lang="zh-CN" altLang="en-US" sz="1600" kern="100" dirty="0">
                <a:effectLst/>
                <a:latin typeface="+mj-ea"/>
                <a:ea typeface="+mj-ea"/>
                <a:cs typeface="Times New Roman" panose="02020603050405020304" pitchFamily="18" charset="0"/>
              </a:rPr>
              <a:t>等</a:t>
            </a:r>
            <a:r>
              <a:rPr lang="zh-CN" altLang="zh-CN" sz="1600" kern="100" dirty="0">
                <a:effectLst/>
                <a:latin typeface="+mj-ea"/>
                <a:ea typeface="+mj-ea"/>
                <a:cs typeface="Times New Roman" panose="02020603050405020304" pitchFamily="18" charset="0"/>
              </a:rPr>
              <a:t>音乐偏好的人</a:t>
            </a:r>
            <a:r>
              <a:rPr lang="zh-CN" altLang="en-US" sz="1600" kern="100" dirty="0">
                <a:effectLst/>
                <a:latin typeface="+mj-ea"/>
                <a:ea typeface="+mj-ea"/>
                <a:cs typeface="Times New Roman" panose="02020603050405020304" pitchFamily="18" charset="0"/>
              </a:rPr>
              <a:t>与</a:t>
            </a:r>
            <a:r>
              <a:rPr lang="zh-CN" altLang="zh-CN" sz="1600" kern="100" dirty="0">
                <a:effectLst/>
                <a:latin typeface="+mj-ea"/>
                <a:ea typeface="+mj-ea"/>
                <a:cs typeface="Times New Roman" panose="02020603050405020304" pitchFamily="18" charset="0"/>
              </a:rPr>
              <a:t>更高的感觉寻求</a:t>
            </a:r>
            <a:r>
              <a:rPr lang="zh-CN" altLang="zh-CN" sz="1600" kern="100" dirty="0">
                <a:effectLst/>
                <a:latin typeface="+mj-ea"/>
                <a:ea typeface="+mj-ea"/>
              </a:rPr>
              <a:t> </a:t>
            </a:r>
            <a:r>
              <a:rPr lang="en-US" altLang="zh-CN" sz="1100" dirty="0">
                <a:solidFill>
                  <a:schemeClr val="tx1">
                    <a:lumMod val="50000"/>
                    <a:lumOff val="50000"/>
                  </a:schemeClr>
                </a:solidFill>
                <a:latin typeface="+mj-ea"/>
                <a:ea typeface="+mj-ea"/>
              </a:rPr>
              <a:t>(Arnett, 1991)</a:t>
            </a:r>
            <a:r>
              <a:rPr lang="zh-CN" altLang="zh-CN" sz="1600" kern="100" dirty="0">
                <a:effectLst/>
                <a:latin typeface="+mj-ea"/>
                <a:ea typeface="+mj-ea"/>
                <a:cs typeface="Times New Roman" panose="02020603050405020304" pitchFamily="18" charset="0"/>
              </a:rPr>
              <a:t>、</a:t>
            </a:r>
            <a:r>
              <a:rPr lang="zh-CN" altLang="en-US" sz="1600" kern="100" dirty="0">
                <a:effectLst/>
                <a:latin typeface="+mj-ea"/>
                <a:ea typeface="+mj-ea"/>
                <a:cs typeface="Times New Roman" panose="02020603050405020304" pitchFamily="18" charset="0"/>
              </a:rPr>
              <a:t>冒险</a:t>
            </a:r>
            <a:r>
              <a:rPr lang="zh-CN" altLang="zh-CN" sz="1600" kern="100" dirty="0">
                <a:effectLst/>
                <a:latin typeface="+mj-ea"/>
                <a:ea typeface="+mj-ea"/>
                <a:cs typeface="Times New Roman" panose="02020603050405020304" pitchFamily="18" charset="0"/>
              </a:rPr>
              <a:t>行为倾向有关</a:t>
            </a:r>
            <a:r>
              <a:rPr lang="zh-CN" altLang="zh-CN" sz="1600" kern="100" dirty="0">
                <a:effectLst/>
                <a:latin typeface="+mj-ea"/>
                <a:ea typeface="+mj-ea"/>
              </a:rPr>
              <a:t> </a:t>
            </a:r>
            <a:r>
              <a:rPr lang="en-US" altLang="zh-CN" sz="1100" dirty="0">
                <a:solidFill>
                  <a:schemeClr val="tx1">
                    <a:lumMod val="50000"/>
                    <a:lumOff val="50000"/>
                  </a:schemeClr>
                </a:solidFill>
                <a:latin typeface="+mj-ea"/>
                <a:ea typeface="+mj-ea"/>
              </a:rPr>
              <a:t>(</a:t>
            </a:r>
            <a:r>
              <a:rPr lang="en-US" altLang="zh-CN" sz="1100" dirty="0" err="1">
                <a:solidFill>
                  <a:schemeClr val="tx1">
                    <a:lumMod val="50000"/>
                    <a:lumOff val="50000"/>
                  </a:schemeClr>
                </a:solidFill>
                <a:latin typeface="+mj-ea"/>
                <a:ea typeface="+mj-ea"/>
              </a:rPr>
              <a:t>Yosephine</a:t>
            </a:r>
            <a:r>
              <a:rPr lang="zh-CN" altLang="zh-CN" sz="1100" dirty="0">
                <a:solidFill>
                  <a:schemeClr val="tx1">
                    <a:lumMod val="50000"/>
                    <a:lumOff val="50000"/>
                  </a:schemeClr>
                </a:solidFill>
                <a:latin typeface="+mj-ea"/>
                <a:ea typeface="+mj-ea"/>
              </a:rPr>
              <a:t>等</a:t>
            </a:r>
            <a:r>
              <a:rPr lang="en-US" altLang="zh-CN" sz="1100" dirty="0">
                <a:solidFill>
                  <a:schemeClr val="tx1">
                    <a:lumMod val="50000"/>
                    <a:lumOff val="50000"/>
                  </a:schemeClr>
                </a:solidFill>
                <a:latin typeface="+mj-ea"/>
                <a:ea typeface="+mj-ea"/>
              </a:rPr>
              <a:t>, 2020)</a:t>
            </a:r>
            <a:r>
              <a:rPr lang="zh-CN" altLang="en-US" sz="1600" kern="100" dirty="0">
                <a:solidFill>
                  <a:schemeClr val="tx1">
                    <a:lumMod val="50000"/>
                    <a:lumOff val="50000"/>
                  </a:schemeClr>
                </a:solidFill>
                <a:latin typeface="+mj-ea"/>
                <a:ea typeface="+mj-ea"/>
                <a:cs typeface="Times New Roman" panose="02020603050405020304" pitchFamily="18" charset="0"/>
              </a:rPr>
              <a:t>，</a:t>
            </a:r>
            <a:endParaRPr lang="en-US" altLang="zh-CN" sz="1600" kern="100" dirty="0">
              <a:solidFill>
                <a:schemeClr val="tx1">
                  <a:lumMod val="50000"/>
                  <a:lumOff val="50000"/>
                </a:schemeClr>
              </a:solidFill>
              <a:latin typeface="+mj-ea"/>
              <a:ea typeface="+mj-ea"/>
              <a:cs typeface="Times New Roman" panose="02020603050405020304" pitchFamily="18" charset="0"/>
            </a:endParaRPr>
          </a:p>
          <a:p>
            <a:pPr marL="465750" indent="-285750">
              <a:lnSpc>
                <a:spcPct val="150000"/>
              </a:lnSpc>
              <a:buFont typeface="Wingdings" pitchFamily="2" charset="2"/>
              <a:buChar char="Ø"/>
            </a:pPr>
            <a:r>
              <a:rPr lang="zh-CN" altLang="en-US" sz="1600" b="1" kern="100" dirty="0">
                <a:effectLst/>
                <a:latin typeface="+mj-ea"/>
                <a:ea typeface="+mj-ea"/>
                <a:cs typeface="Times New Roman" panose="02020603050405020304" pitchFamily="18" charset="0"/>
              </a:rPr>
              <a:t>未有研究关注音乐偏好对驾驶行为的影响</a:t>
            </a:r>
            <a:endParaRPr lang="en-US" altLang="zh-CN" sz="1600" b="1" kern="100" dirty="0">
              <a:latin typeface="+mj-ea"/>
              <a:ea typeface="+mj-ea"/>
              <a:cs typeface="Times New Roman" panose="02020603050405020304" pitchFamily="18" charset="0"/>
            </a:endParaRPr>
          </a:p>
          <a:p>
            <a:pPr marL="465750" indent="-285750">
              <a:lnSpc>
                <a:spcPct val="150000"/>
              </a:lnSpc>
              <a:buFont typeface="Wingdings" pitchFamily="2" charset="2"/>
              <a:buChar char="Ø"/>
            </a:pPr>
            <a:endParaRPr lang="en-US" altLang="zh-CN" sz="800" b="1" kern="100" dirty="0">
              <a:effectLst/>
              <a:latin typeface="+mj-ea"/>
              <a:ea typeface="+mj-ea"/>
              <a:cs typeface="Times New Roman" panose="02020603050405020304" pitchFamily="18" charset="0"/>
            </a:endParaRPr>
          </a:p>
          <a:p>
            <a:pPr marL="171450" indent="-171450">
              <a:lnSpc>
                <a:spcPct val="150000"/>
              </a:lnSpc>
              <a:buFont typeface="Arial" panose="020B0604020202020204" pitchFamily="34" charset="0"/>
              <a:buChar char="•"/>
            </a:pPr>
            <a:r>
              <a:rPr lang="zh-CN" altLang="en-US" sz="1600" b="1" dirty="0">
                <a:effectLst/>
                <a:latin typeface="+mj-ea"/>
                <a:ea typeface="+mj-ea"/>
              </a:rPr>
              <a:t>情绪调控</a:t>
            </a:r>
            <a:r>
              <a:rPr lang="zh-CN" altLang="en-US" sz="1600" b="1" dirty="0">
                <a:latin typeface="+mj-ea"/>
                <a:ea typeface="+mj-ea"/>
              </a:rPr>
              <a:t>能力的调节</a:t>
            </a:r>
            <a:endParaRPr lang="en-US" altLang="zh-CN" sz="1600" b="1" dirty="0">
              <a:effectLst/>
              <a:latin typeface="+mj-ea"/>
              <a:ea typeface="+mj-ea"/>
            </a:endParaRPr>
          </a:p>
          <a:p>
            <a:pPr marL="180000">
              <a:lnSpc>
                <a:spcPct val="150000"/>
              </a:lnSpc>
            </a:pPr>
            <a:r>
              <a:rPr lang="zh-CN" altLang="en-US" sz="1600" dirty="0">
                <a:latin typeface="+mj-ea"/>
                <a:ea typeface="+mj-ea"/>
              </a:rPr>
              <a:t>情绪调控能力会影响一个人对音乐的反应</a:t>
            </a:r>
            <a:endParaRPr lang="en-US" altLang="zh-CN" sz="1600" dirty="0">
              <a:effectLst/>
              <a:latin typeface="+mj-ea"/>
              <a:ea typeface="+mj-ea"/>
            </a:endParaRPr>
          </a:p>
          <a:p>
            <a:pPr marL="180000">
              <a:lnSpc>
                <a:spcPct val="150000"/>
              </a:lnSpc>
            </a:pPr>
            <a:r>
              <a:rPr lang="zh-CN" altLang="en-US" sz="1600" dirty="0">
                <a:latin typeface="+mj-ea"/>
                <a:ea typeface="+mj-ea"/>
              </a:rPr>
              <a:t>      健康</a:t>
            </a:r>
            <a:r>
              <a:rPr lang="en-US" altLang="zh-CN" sz="1600" dirty="0">
                <a:latin typeface="+mj-ea"/>
                <a:ea typeface="+mj-ea"/>
              </a:rPr>
              <a:t>—</a:t>
            </a:r>
            <a:r>
              <a:rPr lang="zh-CN" altLang="en-US" sz="1600" dirty="0">
                <a:latin typeface="+mj-ea"/>
                <a:ea typeface="+mj-ea"/>
              </a:rPr>
              <a:t>消极音乐：</a:t>
            </a:r>
            <a:r>
              <a:rPr lang="zh-CN" altLang="en-US" sz="1600" dirty="0">
                <a:effectLst/>
                <a:latin typeface="+mj-ea"/>
                <a:ea typeface="+mj-ea"/>
              </a:rPr>
              <a:t>获得安慰、情绪觉知 </a:t>
            </a:r>
            <a:endParaRPr lang="en-US" altLang="zh-CN" sz="1600" dirty="0">
              <a:latin typeface="+mj-ea"/>
              <a:ea typeface="+mj-ea"/>
            </a:endParaRPr>
          </a:p>
          <a:p>
            <a:pPr marL="720000">
              <a:lnSpc>
                <a:spcPct val="150000"/>
              </a:lnSpc>
            </a:pPr>
            <a:r>
              <a:rPr lang="en-US" altLang="zh-CN" sz="1100" dirty="0">
                <a:solidFill>
                  <a:schemeClr val="tx1">
                    <a:lumMod val="50000"/>
                    <a:lumOff val="50000"/>
                  </a:schemeClr>
                </a:solidFill>
                <a:latin typeface="+mj-ea"/>
                <a:ea typeface="+mj-ea"/>
              </a:rPr>
              <a:t>(</a:t>
            </a:r>
            <a:r>
              <a:rPr lang="en-US" altLang="zh-CN" sz="1100" dirty="0" err="1">
                <a:solidFill>
                  <a:schemeClr val="tx1">
                    <a:lumMod val="50000"/>
                    <a:lumOff val="50000"/>
                  </a:schemeClr>
                </a:solidFill>
                <a:latin typeface="+mj-ea"/>
                <a:ea typeface="+mj-ea"/>
              </a:rPr>
              <a:t>Saarikallio</a:t>
            </a:r>
            <a:r>
              <a:rPr lang="en-US" altLang="zh-CN" sz="1100" dirty="0">
                <a:solidFill>
                  <a:schemeClr val="tx1">
                    <a:lumMod val="50000"/>
                    <a:lumOff val="50000"/>
                  </a:schemeClr>
                </a:solidFill>
                <a:latin typeface="+mj-ea"/>
                <a:ea typeface="+mj-ea"/>
              </a:rPr>
              <a:t> &amp; </a:t>
            </a:r>
            <a:r>
              <a:rPr lang="en-US" altLang="zh-CN" sz="1100" dirty="0" err="1">
                <a:solidFill>
                  <a:schemeClr val="tx1">
                    <a:lumMod val="50000"/>
                    <a:lumOff val="50000"/>
                  </a:schemeClr>
                </a:solidFill>
                <a:latin typeface="+mj-ea"/>
                <a:ea typeface="+mj-ea"/>
              </a:rPr>
              <a:t>Erkkila</a:t>
            </a:r>
            <a:r>
              <a:rPr lang="en-US" altLang="zh-CN" sz="1100" dirty="0">
                <a:solidFill>
                  <a:schemeClr val="tx1">
                    <a:lumMod val="50000"/>
                    <a:lumOff val="50000"/>
                  </a:schemeClr>
                </a:solidFill>
                <a:latin typeface="+mj-ea"/>
                <a:ea typeface="+mj-ea"/>
              </a:rPr>
              <a:t>, 2007</a:t>
            </a:r>
            <a:r>
              <a:rPr lang="zh-CN" altLang="en-US" sz="1100" dirty="0">
                <a:solidFill>
                  <a:schemeClr val="tx1">
                    <a:lumMod val="50000"/>
                    <a:lumOff val="50000"/>
                  </a:schemeClr>
                </a:solidFill>
                <a:latin typeface="+mj-ea"/>
                <a:ea typeface="+mj-ea"/>
              </a:rPr>
              <a:t>；</a:t>
            </a:r>
            <a:r>
              <a:rPr lang="en-US" altLang="zh-CN" sz="1100" kern="100" dirty="0">
                <a:solidFill>
                  <a:srgbClr val="5B9BD5"/>
                </a:solidFill>
                <a:effectLst/>
                <a:latin typeface="Times New Roman Regular"/>
                <a:ea typeface="宋体" panose="02010600030101010101" pitchFamily="2" charset="-122"/>
                <a:cs typeface="Times New Roman" panose="02020603050405020304" pitchFamily="18" charset="0"/>
              </a:rPr>
              <a:t> </a:t>
            </a:r>
            <a:r>
              <a:rPr lang="en-US" altLang="zh-CN" sz="1100" dirty="0" err="1">
                <a:solidFill>
                  <a:schemeClr val="tx1">
                    <a:lumMod val="50000"/>
                    <a:lumOff val="50000"/>
                  </a:schemeClr>
                </a:solidFill>
                <a:latin typeface="+mj-ea"/>
                <a:ea typeface="+mj-ea"/>
              </a:rPr>
              <a:t>Skånland</a:t>
            </a:r>
            <a:r>
              <a:rPr lang="en-US" altLang="zh-CN" sz="1100" dirty="0">
                <a:solidFill>
                  <a:schemeClr val="tx1">
                    <a:lumMod val="50000"/>
                    <a:lumOff val="50000"/>
                  </a:schemeClr>
                </a:solidFill>
                <a:latin typeface="+mj-ea"/>
                <a:ea typeface="+mj-ea"/>
              </a:rPr>
              <a:t>, 2013)</a:t>
            </a:r>
            <a:endParaRPr lang="en-US" altLang="zh-CN" sz="1600" dirty="0">
              <a:latin typeface="+mj-ea"/>
              <a:ea typeface="+mj-ea"/>
            </a:endParaRPr>
          </a:p>
          <a:p>
            <a:pPr marL="180000">
              <a:lnSpc>
                <a:spcPct val="150000"/>
              </a:lnSpc>
            </a:pPr>
            <a:r>
              <a:rPr lang="zh-CN" altLang="en-US" sz="1600" dirty="0">
                <a:latin typeface="+mj-ea"/>
                <a:ea typeface="+mj-ea"/>
              </a:rPr>
              <a:t>      抑郁</a:t>
            </a:r>
            <a:r>
              <a:rPr lang="en-US" altLang="zh-CN" sz="1600" dirty="0">
                <a:latin typeface="+mj-ea"/>
                <a:ea typeface="+mj-ea"/>
              </a:rPr>
              <a:t>—</a:t>
            </a:r>
            <a:r>
              <a:rPr lang="zh-CN" altLang="en-US" sz="1600" dirty="0">
                <a:latin typeface="+mj-ea"/>
                <a:ea typeface="+mj-ea"/>
              </a:rPr>
              <a:t>消极音乐：更高反刍、社会隔离、情绪调节失败</a:t>
            </a:r>
            <a:endParaRPr lang="en-US" altLang="zh-CN" sz="1600" dirty="0">
              <a:latin typeface="+mj-ea"/>
              <a:ea typeface="+mj-ea"/>
            </a:endParaRPr>
          </a:p>
          <a:p>
            <a:pPr marL="720000">
              <a:lnSpc>
                <a:spcPct val="150000"/>
              </a:lnSpc>
            </a:pPr>
            <a:r>
              <a:rPr lang="en-US" altLang="zh-CN" sz="1100" dirty="0">
                <a:solidFill>
                  <a:schemeClr val="tx1">
                    <a:lumMod val="50000"/>
                    <a:lumOff val="50000"/>
                  </a:schemeClr>
                </a:solidFill>
                <a:latin typeface="+mj-ea"/>
                <a:ea typeface="+mj-ea"/>
              </a:rPr>
              <a:t>(</a:t>
            </a:r>
            <a:r>
              <a:rPr lang="en-US" altLang="zh-CN" sz="1100" dirty="0" err="1">
                <a:solidFill>
                  <a:schemeClr val="tx1">
                    <a:lumMod val="50000"/>
                    <a:lumOff val="50000"/>
                  </a:schemeClr>
                </a:solidFill>
                <a:latin typeface="+mj-ea"/>
                <a:ea typeface="+mj-ea"/>
              </a:rPr>
              <a:t>Mcferran</a:t>
            </a:r>
            <a:r>
              <a:rPr lang="en-US" altLang="zh-CN" sz="1100" dirty="0">
                <a:solidFill>
                  <a:schemeClr val="tx1">
                    <a:lumMod val="50000"/>
                    <a:lumOff val="50000"/>
                  </a:schemeClr>
                </a:solidFill>
                <a:latin typeface="+mj-ea"/>
                <a:ea typeface="+mj-ea"/>
              </a:rPr>
              <a:t> &amp; </a:t>
            </a:r>
            <a:r>
              <a:rPr lang="en-US" altLang="zh-CN" sz="1100" dirty="0" err="1">
                <a:solidFill>
                  <a:schemeClr val="tx1">
                    <a:lumMod val="50000"/>
                    <a:lumOff val="50000"/>
                  </a:schemeClr>
                </a:solidFill>
                <a:latin typeface="+mj-ea"/>
                <a:ea typeface="+mj-ea"/>
              </a:rPr>
              <a:t>Saarikallio</a:t>
            </a:r>
            <a:r>
              <a:rPr lang="en-US" altLang="zh-CN" sz="1100" dirty="0">
                <a:solidFill>
                  <a:schemeClr val="tx1">
                    <a:lumMod val="50000"/>
                    <a:lumOff val="50000"/>
                  </a:schemeClr>
                </a:solidFill>
                <a:latin typeface="+mj-ea"/>
                <a:ea typeface="+mj-ea"/>
              </a:rPr>
              <a:t>, 2014)</a:t>
            </a:r>
            <a:r>
              <a:rPr lang="zh-CN" altLang="en-US" sz="1100" dirty="0">
                <a:latin typeface="+mj-ea"/>
                <a:ea typeface="+mj-ea"/>
              </a:rPr>
              <a:t> </a:t>
            </a:r>
            <a:endParaRPr lang="en-US" altLang="zh-CN" sz="1100" dirty="0">
              <a:latin typeface="+mj-ea"/>
              <a:ea typeface="+mj-ea"/>
            </a:endParaRPr>
          </a:p>
          <a:p>
            <a:pPr marL="180000">
              <a:lnSpc>
                <a:spcPct val="150000"/>
              </a:lnSpc>
            </a:pPr>
            <a:r>
              <a:rPr lang="zh-CN" altLang="en-US" sz="1600" dirty="0">
                <a:effectLst/>
                <a:latin typeface="+mj-ea"/>
                <a:ea typeface="+mj-ea"/>
              </a:rPr>
              <a:t>情绪调控能力越差，有更多的危险驾驶行为 </a:t>
            </a:r>
            <a:r>
              <a:rPr lang="en-US" altLang="zh-CN" sz="1100" dirty="0">
                <a:solidFill>
                  <a:schemeClr val="tx1">
                    <a:lumMod val="50000"/>
                    <a:lumOff val="50000"/>
                  </a:schemeClr>
                </a:solidFill>
                <a:latin typeface="+mj-ea"/>
                <a:ea typeface="+mj-ea"/>
              </a:rPr>
              <a:t>(</a:t>
            </a:r>
            <a:r>
              <a:rPr lang="lt-LT" altLang="zh-CN" sz="1100" dirty="0" err="1">
                <a:solidFill>
                  <a:schemeClr val="tx1">
                    <a:lumMod val="50000"/>
                    <a:lumOff val="50000"/>
                  </a:schemeClr>
                </a:solidFill>
                <a:latin typeface="+mj-ea"/>
                <a:ea typeface="+mj-ea"/>
              </a:rPr>
              <a:t>Šeibokaitė</a:t>
            </a:r>
            <a:r>
              <a:rPr lang="lt-LT" altLang="zh-CN" sz="1100" dirty="0">
                <a:solidFill>
                  <a:schemeClr val="tx1">
                    <a:lumMod val="50000"/>
                    <a:lumOff val="50000"/>
                  </a:schemeClr>
                </a:solidFill>
                <a:latin typeface="+mj-ea"/>
                <a:ea typeface="+mj-ea"/>
              </a:rPr>
              <a:t> et al., 2017)</a:t>
            </a:r>
            <a:r>
              <a:rPr lang="zh-CN" altLang="lt-LT" sz="1100" dirty="0">
                <a:solidFill>
                  <a:schemeClr val="tx1">
                    <a:lumMod val="50000"/>
                    <a:lumOff val="50000"/>
                  </a:schemeClr>
                </a:solidFill>
                <a:latin typeface="+mj-ea"/>
                <a:ea typeface="+mj-ea"/>
              </a:rPr>
              <a:t>。</a:t>
            </a:r>
            <a:endParaRPr lang="en-US" altLang="zh-CN" sz="1100" dirty="0">
              <a:solidFill>
                <a:schemeClr val="tx1">
                  <a:lumMod val="50000"/>
                  <a:lumOff val="50000"/>
                </a:schemeClr>
              </a:solidFill>
              <a:latin typeface="+mj-ea"/>
              <a:ea typeface="+mj-ea"/>
            </a:endParaRPr>
          </a:p>
          <a:p>
            <a:pPr marL="465750" indent="-285750">
              <a:lnSpc>
                <a:spcPct val="150000"/>
              </a:lnSpc>
              <a:buFont typeface="Wingdings" pitchFamily="2" charset="2"/>
              <a:buChar char="Ø"/>
            </a:pPr>
            <a:r>
              <a:rPr lang="zh-CN" altLang="en-US" sz="1600" b="1" dirty="0">
                <a:effectLst/>
                <a:latin typeface="+mj-ea"/>
                <a:ea typeface="+mj-ea"/>
              </a:rPr>
              <a:t>在音乐偏好对驾驶行为的影响中，情绪调控能力可能有调节作用。</a:t>
            </a:r>
            <a:endParaRPr lang="en-US" altLang="zh-CN" sz="1600" b="1" dirty="0">
              <a:effectLst/>
              <a:latin typeface="+mj-ea"/>
              <a:ea typeface="+mj-ea"/>
            </a:endParaRPr>
          </a:p>
          <a:p>
            <a:pPr marL="465750" indent="-285750">
              <a:buFont typeface="Wingdings" pitchFamily="2" charset="2"/>
              <a:buChar char="Ø"/>
            </a:pPr>
            <a:endParaRPr lang="en-US" altLang="zh-CN" sz="500" b="1" dirty="0">
              <a:effectLst/>
              <a:latin typeface="+mj-ea"/>
              <a:ea typeface="+mj-ea"/>
            </a:endParaRPr>
          </a:p>
        </p:txBody>
      </p:sp>
      <p:grpSp>
        <p:nvGrpSpPr>
          <p:cNvPr id="15" name="组合 14">
            <a:extLst>
              <a:ext uri="{FF2B5EF4-FFF2-40B4-BE49-F238E27FC236}">
                <a16:creationId xmlns:a16="http://schemas.microsoft.com/office/drawing/2014/main" id="{0486B826-D435-52EB-33FB-6099EBAB361A}"/>
              </a:ext>
            </a:extLst>
          </p:cNvPr>
          <p:cNvGrpSpPr/>
          <p:nvPr/>
        </p:nvGrpSpPr>
        <p:grpSpPr>
          <a:xfrm>
            <a:off x="442182" y="3713134"/>
            <a:ext cx="708107" cy="655042"/>
            <a:chOff x="2348859" y="5176505"/>
            <a:chExt cx="766865" cy="759364"/>
          </a:xfrm>
        </p:grpSpPr>
        <p:sp>
          <p:nvSpPr>
            <p:cNvPr id="14" name="椭圆 13">
              <a:extLst>
                <a:ext uri="{FF2B5EF4-FFF2-40B4-BE49-F238E27FC236}">
                  <a16:creationId xmlns:a16="http://schemas.microsoft.com/office/drawing/2014/main" id="{65D860B5-F46C-C5DE-FB36-42F49A6DCB10}"/>
                </a:ext>
              </a:extLst>
            </p:cNvPr>
            <p:cNvSpPr/>
            <p:nvPr/>
          </p:nvSpPr>
          <p:spPr>
            <a:xfrm>
              <a:off x="2356503" y="5176505"/>
              <a:ext cx="759221" cy="759364"/>
            </a:xfrm>
            <a:prstGeom prst="ellipse">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a:p>
          </p:txBody>
        </p:sp>
        <p:sp>
          <p:nvSpPr>
            <p:cNvPr id="8" name="圆角矩形 7">
              <a:extLst>
                <a:ext uri="{FF2B5EF4-FFF2-40B4-BE49-F238E27FC236}">
                  <a16:creationId xmlns:a16="http://schemas.microsoft.com/office/drawing/2014/main" id="{E816EC0A-F182-7782-584A-0A71443BAC04}"/>
                </a:ext>
              </a:extLst>
            </p:cNvPr>
            <p:cNvSpPr/>
            <p:nvPr/>
          </p:nvSpPr>
          <p:spPr>
            <a:xfrm>
              <a:off x="2348859" y="5229929"/>
              <a:ext cx="759341" cy="607327"/>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t>音乐偏好</a:t>
              </a:r>
            </a:p>
          </p:txBody>
        </p:sp>
      </p:grpSp>
      <p:grpSp>
        <p:nvGrpSpPr>
          <p:cNvPr id="19" name="组合 18">
            <a:extLst>
              <a:ext uri="{FF2B5EF4-FFF2-40B4-BE49-F238E27FC236}">
                <a16:creationId xmlns:a16="http://schemas.microsoft.com/office/drawing/2014/main" id="{2A4CBCC7-94D2-4056-BE54-3AAE040FAD31}"/>
              </a:ext>
            </a:extLst>
          </p:cNvPr>
          <p:cNvGrpSpPr/>
          <p:nvPr/>
        </p:nvGrpSpPr>
        <p:grpSpPr>
          <a:xfrm>
            <a:off x="4115194" y="3713134"/>
            <a:ext cx="708107" cy="655042"/>
            <a:chOff x="2348859" y="5176505"/>
            <a:chExt cx="766865" cy="759364"/>
          </a:xfrm>
        </p:grpSpPr>
        <p:sp>
          <p:nvSpPr>
            <p:cNvPr id="20" name="椭圆 19">
              <a:extLst>
                <a:ext uri="{FF2B5EF4-FFF2-40B4-BE49-F238E27FC236}">
                  <a16:creationId xmlns:a16="http://schemas.microsoft.com/office/drawing/2014/main" id="{72866A95-B3B0-1D1D-04A0-E152DA11DEA1}"/>
                </a:ext>
              </a:extLst>
            </p:cNvPr>
            <p:cNvSpPr/>
            <p:nvPr/>
          </p:nvSpPr>
          <p:spPr>
            <a:xfrm>
              <a:off x="2356503" y="5176505"/>
              <a:ext cx="759221" cy="759364"/>
            </a:xfrm>
            <a:prstGeom prst="ellipse">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a:p>
          </p:txBody>
        </p:sp>
        <p:sp>
          <p:nvSpPr>
            <p:cNvPr id="21" name="圆角矩形 20">
              <a:extLst>
                <a:ext uri="{FF2B5EF4-FFF2-40B4-BE49-F238E27FC236}">
                  <a16:creationId xmlns:a16="http://schemas.microsoft.com/office/drawing/2014/main" id="{62961C7D-BA16-6A2C-903D-9F54C4CF0067}"/>
                </a:ext>
              </a:extLst>
            </p:cNvPr>
            <p:cNvSpPr/>
            <p:nvPr/>
          </p:nvSpPr>
          <p:spPr>
            <a:xfrm>
              <a:off x="2348859" y="5229929"/>
              <a:ext cx="759341" cy="607327"/>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t>驾驶行为</a:t>
              </a:r>
            </a:p>
          </p:txBody>
        </p:sp>
      </p:grpSp>
      <p:cxnSp>
        <p:nvCxnSpPr>
          <p:cNvPr id="24" name="直线箭头连接符 23">
            <a:extLst>
              <a:ext uri="{FF2B5EF4-FFF2-40B4-BE49-F238E27FC236}">
                <a16:creationId xmlns:a16="http://schemas.microsoft.com/office/drawing/2014/main" id="{96E9EBA2-DFDC-6B9C-911D-43348EBBD56C}"/>
              </a:ext>
            </a:extLst>
          </p:cNvPr>
          <p:cNvCxnSpPr>
            <a:cxnSpLocks/>
          </p:cNvCxnSpPr>
          <p:nvPr/>
        </p:nvCxnSpPr>
        <p:spPr>
          <a:xfrm>
            <a:off x="1197191" y="4040655"/>
            <a:ext cx="2876324" cy="0"/>
          </a:xfrm>
          <a:prstGeom prst="straightConnector1">
            <a:avLst/>
          </a:prstGeom>
          <a:ln w="127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BFC96CA9-C6E0-6CEE-EEDD-AD7DAF0961B0}"/>
              </a:ext>
            </a:extLst>
          </p:cNvPr>
          <p:cNvSpPr txBox="1"/>
          <p:nvPr/>
        </p:nvSpPr>
        <p:spPr>
          <a:xfrm>
            <a:off x="564912" y="1719163"/>
            <a:ext cx="11932120" cy="369332"/>
          </a:xfrm>
          <a:prstGeom prst="rect">
            <a:avLst/>
          </a:prstGeom>
          <a:noFill/>
        </p:spPr>
        <p:txBody>
          <a:bodyPr wrap="square">
            <a:spAutoFit/>
          </a:bodyPr>
          <a:lstStyle/>
          <a:p>
            <a:pPr marL="285750" indent="-285750">
              <a:buFont typeface="Arial" panose="020B0604020202020204" pitchFamily="34" charset="0"/>
              <a:buChar char="•"/>
            </a:pPr>
            <a:r>
              <a:rPr lang="zh-CN" altLang="en-US" sz="1800" b="1" kern="100" dirty="0">
                <a:solidFill>
                  <a:srgbClr val="4472C4"/>
                </a:solidFill>
                <a:effectLst/>
                <a:latin typeface="+mj-ea"/>
                <a:ea typeface="+mj-ea"/>
                <a:cs typeface="Times New Roman" panose="02020603050405020304" pitchFamily="18" charset="0"/>
              </a:rPr>
              <a:t>音乐偏好对驾驶行为</a:t>
            </a:r>
            <a:r>
              <a:rPr lang="zh-CN" altLang="en-US" b="1" kern="100" dirty="0">
                <a:solidFill>
                  <a:srgbClr val="4472C4"/>
                </a:solidFill>
                <a:latin typeface="+mj-ea"/>
                <a:ea typeface="+mj-ea"/>
                <a:cs typeface="Times New Roman" panose="02020603050405020304" pitchFamily="18" charset="0"/>
              </a:rPr>
              <a:t>有什么影响？</a:t>
            </a:r>
            <a:endParaRPr lang="zh-CN" altLang="en-US" b="1" dirty="0">
              <a:solidFill>
                <a:srgbClr val="4472C4"/>
              </a:solidFill>
              <a:latin typeface="+mj-ea"/>
              <a:ea typeface="+mj-ea"/>
            </a:endParaRPr>
          </a:p>
        </p:txBody>
      </p:sp>
      <p:grpSp>
        <p:nvGrpSpPr>
          <p:cNvPr id="56" name="组合 55">
            <a:extLst>
              <a:ext uri="{FF2B5EF4-FFF2-40B4-BE49-F238E27FC236}">
                <a16:creationId xmlns:a16="http://schemas.microsoft.com/office/drawing/2014/main" id="{679F1C2D-10ED-8BE7-DC66-6E22A5FB7493}"/>
              </a:ext>
            </a:extLst>
          </p:cNvPr>
          <p:cNvGrpSpPr/>
          <p:nvPr/>
        </p:nvGrpSpPr>
        <p:grpSpPr>
          <a:xfrm>
            <a:off x="2321348" y="2904594"/>
            <a:ext cx="708107" cy="655042"/>
            <a:chOff x="2348859" y="5176505"/>
            <a:chExt cx="766865" cy="759364"/>
          </a:xfrm>
        </p:grpSpPr>
        <p:sp>
          <p:nvSpPr>
            <p:cNvPr id="57" name="椭圆 56">
              <a:extLst>
                <a:ext uri="{FF2B5EF4-FFF2-40B4-BE49-F238E27FC236}">
                  <a16:creationId xmlns:a16="http://schemas.microsoft.com/office/drawing/2014/main" id="{880AE90E-B52F-297D-CFF0-A8C9857986F7}"/>
                </a:ext>
              </a:extLst>
            </p:cNvPr>
            <p:cNvSpPr/>
            <p:nvPr/>
          </p:nvSpPr>
          <p:spPr>
            <a:xfrm>
              <a:off x="2356503" y="5176505"/>
              <a:ext cx="759221" cy="759364"/>
            </a:xfrm>
            <a:prstGeom prst="ellipse">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a:p>
          </p:txBody>
        </p:sp>
        <p:sp>
          <p:nvSpPr>
            <p:cNvPr id="58" name="圆角矩形 57">
              <a:extLst>
                <a:ext uri="{FF2B5EF4-FFF2-40B4-BE49-F238E27FC236}">
                  <a16:creationId xmlns:a16="http://schemas.microsoft.com/office/drawing/2014/main" id="{E2000B3E-9A68-8F30-13A3-2F767C750C26}"/>
                </a:ext>
              </a:extLst>
            </p:cNvPr>
            <p:cNvSpPr/>
            <p:nvPr/>
          </p:nvSpPr>
          <p:spPr>
            <a:xfrm>
              <a:off x="2348859" y="5229929"/>
              <a:ext cx="759341" cy="607327"/>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t>情绪调控</a:t>
              </a:r>
            </a:p>
          </p:txBody>
        </p:sp>
      </p:grpSp>
      <p:cxnSp>
        <p:nvCxnSpPr>
          <p:cNvPr id="79" name="直线箭头连接符 78">
            <a:extLst>
              <a:ext uri="{FF2B5EF4-FFF2-40B4-BE49-F238E27FC236}">
                <a16:creationId xmlns:a16="http://schemas.microsoft.com/office/drawing/2014/main" id="{7DFFC535-F8FC-F251-6CDA-380DC0ECADC5}"/>
              </a:ext>
            </a:extLst>
          </p:cNvPr>
          <p:cNvCxnSpPr>
            <a:cxnSpLocks/>
          </p:cNvCxnSpPr>
          <p:nvPr/>
        </p:nvCxnSpPr>
        <p:spPr>
          <a:xfrm>
            <a:off x="2675402" y="3672308"/>
            <a:ext cx="3528" cy="34793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标题 1">
            <a:extLst>
              <a:ext uri="{FF2B5EF4-FFF2-40B4-BE49-F238E27FC236}">
                <a16:creationId xmlns:a16="http://schemas.microsoft.com/office/drawing/2014/main" id="{34B9391D-6F36-D532-5BFC-2899A066D5B0}"/>
              </a:ext>
            </a:extLst>
          </p:cNvPr>
          <p:cNvSpPr>
            <a:spLocks noGrp="1"/>
          </p:cNvSpPr>
          <p:nvPr>
            <p:ph type="title"/>
          </p:nvPr>
        </p:nvSpPr>
        <p:spPr>
          <a:xfrm>
            <a:off x="339443" y="-16370"/>
            <a:ext cx="10515600" cy="1325563"/>
          </a:xfrm>
        </p:spPr>
        <p:txBody>
          <a:bodyPr/>
          <a:lstStyle/>
          <a:p>
            <a:r>
              <a:rPr kumimoji="1" lang="zh-CN" altLang="en-US" dirty="0"/>
              <a:t>文献综述  </a:t>
            </a:r>
            <a:r>
              <a:rPr kumimoji="1" lang="zh-CN" altLang="en-US" sz="2000" dirty="0"/>
              <a:t>音乐和驾驶员差异对驾驶行为影响</a:t>
            </a:r>
          </a:p>
        </p:txBody>
      </p:sp>
    </p:spTree>
    <p:extLst>
      <p:ext uri="{BB962C8B-B14F-4D97-AF65-F5344CB8AC3E}">
        <p14:creationId xmlns:p14="http://schemas.microsoft.com/office/powerpoint/2010/main" val="36787578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DC098A25-2D57-A2C4-27BD-B43DC3FED83D}"/>
              </a:ext>
            </a:extLst>
          </p:cNvPr>
          <p:cNvSpPr>
            <a:spLocks noGrp="1"/>
          </p:cNvSpPr>
          <p:nvPr>
            <p:ph type="title"/>
          </p:nvPr>
        </p:nvSpPr>
        <p:spPr>
          <a:xfrm>
            <a:off x="339443" y="-16370"/>
            <a:ext cx="10515600" cy="1325563"/>
          </a:xfrm>
        </p:spPr>
        <p:txBody>
          <a:bodyPr/>
          <a:lstStyle/>
          <a:p>
            <a:r>
              <a:rPr kumimoji="1" lang="zh-CN" altLang="en-US" dirty="0"/>
              <a:t>文献综述  </a:t>
            </a:r>
            <a:r>
              <a:rPr kumimoji="1" lang="zh-CN" altLang="en-US" sz="2000" dirty="0"/>
              <a:t>音乐流派对驾驶行为的影响</a:t>
            </a:r>
          </a:p>
        </p:txBody>
      </p:sp>
      <p:grpSp>
        <p:nvGrpSpPr>
          <p:cNvPr id="23" name="组合 22">
            <a:extLst>
              <a:ext uri="{FF2B5EF4-FFF2-40B4-BE49-F238E27FC236}">
                <a16:creationId xmlns:a16="http://schemas.microsoft.com/office/drawing/2014/main" id="{3893E25E-E287-908B-EDF7-5374D54D0F8B}"/>
              </a:ext>
            </a:extLst>
          </p:cNvPr>
          <p:cNvGrpSpPr/>
          <p:nvPr/>
        </p:nvGrpSpPr>
        <p:grpSpPr>
          <a:xfrm>
            <a:off x="4337807" y="2444177"/>
            <a:ext cx="3666523" cy="1924409"/>
            <a:chOff x="4255155" y="3552967"/>
            <a:chExt cx="3666523" cy="1924409"/>
          </a:xfrm>
        </p:grpSpPr>
        <p:sp>
          <p:nvSpPr>
            <p:cNvPr id="24" name="对角圆角矩形 23">
              <a:extLst>
                <a:ext uri="{FF2B5EF4-FFF2-40B4-BE49-F238E27FC236}">
                  <a16:creationId xmlns:a16="http://schemas.microsoft.com/office/drawing/2014/main" id="{B80DC3A5-EBF5-12F8-2430-581F30F95BFB}"/>
                </a:ext>
              </a:extLst>
            </p:cNvPr>
            <p:cNvSpPr/>
            <p:nvPr/>
          </p:nvSpPr>
          <p:spPr>
            <a:xfrm>
              <a:off x="4777124" y="3802285"/>
              <a:ext cx="2637751" cy="1418492"/>
            </a:xfrm>
            <a:prstGeom prst="round2DiagRect">
              <a:avLst>
                <a:gd name="adj1" fmla="val 0"/>
                <a:gd name="adj2" fmla="val 1667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5" name="直线连接符 24">
              <a:extLst>
                <a:ext uri="{FF2B5EF4-FFF2-40B4-BE49-F238E27FC236}">
                  <a16:creationId xmlns:a16="http://schemas.microsoft.com/office/drawing/2014/main" id="{4FA982BF-743A-4C44-F3DC-5A41EF1D9959}"/>
                </a:ext>
              </a:extLst>
            </p:cNvPr>
            <p:cNvSpPr/>
            <p:nvPr/>
          </p:nvSpPr>
          <p:spPr>
            <a:xfrm>
              <a:off x="6096000" y="3952731"/>
              <a:ext cx="351" cy="1117600"/>
            </a:xfrm>
            <a:prstGeom prst="line">
              <a:avLst/>
            </a:prstGeom>
          </p:spPr>
          <p:style>
            <a:lnRef idx="2">
              <a:schemeClr val="accent1">
                <a:tint val="50000"/>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p:nvSpPr>
            <p:cNvPr id="26" name="任意形状 25">
              <a:extLst>
                <a:ext uri="{FF2B5EF4-FFF2-40B4-BE49-F238E27FC236}">
                  <a16:creationId xmlns:a16="http://schemas.microsoft.com/office/drawing/2014/main" id="{E7E33E6B-0422-2CAC-224C-EE3BAD86E960}"/>
                </a:ext>
              </a:extLst>
            </p:cNvPr>
            <p:cNvSpPr/>
            <p:nvPr/>
          </p:nvSpPr>
          <p:spPr>
            <a:xfrm>
              <a:off x="4865050" y="4083272"/>
              <a:ext cx="1143025" cy="1203569"/>
            </a:xfrm>
            <a:custGeom>
              <a:avLst/>
              <a:gdLst>
                <a:gd name="connsiteX0" fmla="*/ 0 w 1143025"/>
                <a:gd name="connsiteY0" fmla="*/ 0 h 1203569"/>
                <a:gd name="connsiteX1" fmla="*/ 1143025 w 1143025"/>
                <a:gd name="connsiteY1" fmla="*/ 0 h 1203569"/>
                <a:gd name="connsiteX2" fmla="*/ 1143025 w 1143025"/>
                <a:gd name="connsiteY2" fmla="*/ 1203569 h 1203569"/>
                <a:gd name="connsiteX3" fmla="*/ 0 w 1143025"/>
                <a:gd name="connsiteY3" fmla="*/ 1203569 h 1203569"/>
                <a:gd name="connsiteX4" fmla="*/ 0 w 1143025"/>
                <a:gd name="connsiteY4" fmla="*/ 0 h 1203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25" h="1203569">
                  <a:moveTo>
                    <a:pt x="0" y="0"/>
                  </a:moveTo>
                  <a:lnTo>
                    <a:pt x="1143025" y="0"/>
                  </a:lnTo>
                  <a:lnTo>
                    <a:pt x="1143025" y="1203569"/>
                  </a:lnTo>
                  <a:lnTo>
                    <a:pt x="0" y="1203569"/>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0010" tIns="80010" rIns="80010" bIns="80010" numCol="1" spcCol="1270" anchor="t" anchorCtr="0">
              <a:noAutofit/>
            </a:bodyPr>
            <a:lstStyle/>
            <a:p>
              <a:pPr marL="0" lvl="0" indent="0" algn="ctr" defTabSz="933450">
                <a:lnSpc>
                  <a:spcPct val="90000"/>
                </a:lnSpc>
                <a:spcBef>
                  <a:spcPct val="0"/>
                </a:spcBef>
                <a:spcAft>
                  <a:spcPct val="35000"/>
                </a:spcAft>
                <a:buNone/>
              </a:pPr>
              <a:r>
                <a:rPr lang="zh-CN" altLang="en-US" sz="2100" kern="1200" dirty="0">
                  <a:solidFill>
                    <a:schemeClr val="bg1"/>
                  </a:solidFill>
                  <a:latin typeface="Microsoft YaHei" panose="020B0503020204020204" pitchFamily="34" charset="-122"/>
                  <a:ea typeface="Microsoft YaHei" panose="020B0503020204020204" pitchFamily="34" charset="-122"/>
                </a:rPr>
                <a:t>自上</a:t>
              </a:r>
              <a:endParaRPr lang="en-US" altLang="zh-CN" sz="2100" kern="1200" dirty="0">
                <a:solidFill>
                  <a:schemeClr val="bg1"/>
                </a:solidFill>
                <a:latin typeface="Microsoft YaHei" panose="020B0503020204020204" pitchFamily="34" charset="-122"/>
                <a:ea typeface="Microsoft YaHei" panose="020B0503020204020204" pitchFamily="34" charset="-122"/>
              </a:endParaRPr>
            </a:p>
            <a:p>
              <a:pPr marL="0" lvl="0" indent="0" algn="ctr" defTabSz="933450">
                <a:lnSpc>
                  <a:spcPct val="90000"/>
                </a:lnSpc>
                <a:spcBef>
                  <a:spcPct val="0"/>
                </a:spcBef>
                <a:spcAft>
                  <a:spcPct val="35000"/>
                </a:spcAft>
                <a:buNone/>
              </a:pPr>
              <a:r>
                <a:rPr lang="zh-CN" altLang="en-US" sz="2100" kern="1200" dirty="0">
                  <a:solidFill>
                    <a:schemeClr val="bg1"/>
                  </a:solidFill>
                  <a:latin typeface="Microsoft YaHei" panose="020B0503020204020204" pitchFamily="34" charset="-122"/>
                  <a:ea typeface="Microsoft YaHei" panose="020B0503020204020204" pitchFamily="34" charset="-122"/>
                </a:rPr>
                <a:t>而</a:t>
              </a:r>
              <a:r>
                <a:rPr lang="zh-CN" altLang="en-US" sz="2100" dirty="0">
                  <a:solidFill>
                    <a:schemeClr val="bg1"/>
                  </a:solidFill>
                  <a:latin typeface="Microsoft YaHei" panose="020B0503020204020204" pitchFamily="34" charset="-122"/>
                  <a:ea typeface="Microsoft YaHei" panose="020B0503020204020204" pitchFamily="34" charset="-122"/>
                </a:rPr>
                <a:t>下</a:t>
              </a:r>
              <a:endParaRPr lang="zh-CN" altLang="en-US" sz="2100" kern="1200" dirty="0">
                <a:solidFill>
                  <a:schemeClr val="bg1"/>
                </a:solidFill>
                <a:latin typeface="Microsoft YaHei" panose="020B0503020204020204" pitchFamily="34" charset="-122"/>
                <a:ea typeface="Microsoft YaHei" panose="020B0503020204020204" pitchFamily="34" charset="-122"/>
              </a:endParaRPr>
            </a:p>
          </p:txBody>
        </p:sp>
        <p:sp>
          <p:nvSpPr>
            <p:cNvPr id="27" name="任意形状 26">
              <a:extLst>
                <a:ext uri="{FF2B5EF4-FFF2-40B4-BE49-F238E27FC236}">
                  <a16:creationId xmlns:a16="http://schemas.microsoft.com/office/drawing/2014/main" id="{733E6C39-91FD-C354-E8B0-FE6BBA904E1F}"/>
                </a:ext>
              </a:extLst>
            </p:cNvPr>
            <p:cNvSpPr/>
            <p:nvPr/>
          </p:nvSpPr>
          <p:spPr>
            <a:xfrm>
              <a:off x="6183926" y="4092365"/>
              <a:ext cx="1143025" cy="1203569"/>
            </a:xfrm>
            <a:custGeom>
              <a:avLst/>
              <a:gdLst>
                <a:gd name="connsiteX0" fmla="*/ 0 w 1143025"/>
                <a:gd name="connsiteY0" fmla="*/ 0 h 1203569"/>
                <a:gd name="connsiteX1" fmla="*/ 1143025 w 1143025"/>
                <a:gd name="connsiteY1" fmla="*/ 0 h 1203569"/>
                <a:gd name="connsiteX2" fmla="*/ 1143025 w 1143025"/>
                <a:gd name="connsiteY2" fmla="*/ 1203569 h 1203569"/>
                <a:gd name="connsiteX3" fmla="*/ 0 w 1143025"/>
                <a:gd name="connsiteY3" fmla="*/ 1203569 h 1203569"/>
                <a:gd name="connsiteX4" fmla="*/ 0 w 1143025"/>
                <a:gd name="connsiteY4" fmla="*/ 0 h 1203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25" h="1203569">
                  <a:moveTo>
                    <a:pt x="0" y="0"/>
                  </a:moveTo>
                  <a:lnTo>
                    <a:pt x="1143025" y="0"/>
                  </a:lnTo>
                  <a:lnTo>
                    <a:pt x="1143025" y="1203569"/>
                  </a:lnTo>
                  <a:lnTo>
                    <a:pt x="0" y="1203569"/>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0010" tIns="80010" rIns="80010" bIns="80010" numCol="1" spcCol="1270" anchor="t" anchorCtr="0">
              <a:noAutofit/>
            </a:bodyPr>
            <a:lstStyle/>
            <a:p>
              <a:pPr marL="0" lvl="0" indent="0" algn="ctr" defTabSz="933450">
                <a:lnSpc>
                  <a:spcPct val="90000"/>
                </a:lnSpc>
                <a:spcBef>
                  <a:spcPct val="0"/>
                </a:spcBef>
                <a:spcAft>
                  <a:spcPct val="35000"/>
                </a:spcAft>
                <a:buNone/>
              </a:pPr>
              <a:r>
                <a:rPr lang="zh-CN" altLang="en-US" sz="2100" kern="1200" dirty="0">
                  <a:solidFill>
                    <a:schemeClr val="bg1"/>
                  </a:solidFill>
                  <a:latin typeface="Microsoft YaHei" panose="020B0503020204020204" pitchFamily="34" charset="-122"/>
                  <a:ea typeface="Microsoft YaHei" panose="020B0503020204020204" pitchFamily="34" charset="-122"/>
                </a:rPr>
                <a:t>自</a:t>
              </a:r>
              <a:r>
                <a:rPr lang="zh-CN" altLang="en-US" sz="2100" dirty="0">
                  <a:solidFill>
                    <a:schemeClr val="bg1"/>
                  </a:solidFill>
                  <a:latin typeface="Microsoft YaHei" panose="020B0503020204020204" pitchFamily="34" charset="-122"/>
                  <a:ea typeface="Microsoft YaHei" panose="020B0503020204020204" pitchFamily="34" charset="-122"/>
                </a:rPr>
                <a:t>下</a:t>
              </a:r>
              <a:endParaRPr lang="en-US" altLang="zh-CN" sz="2100" kern="1200" dirty="0">
                <a:solidFill>
                  <a:schemeClr val="bg1"/>
                </a:solidFill>
                <a:latin typeface="Microsoft YaHei" panose="020B0503020204020204" pitchFamily="34" charset="-122"/>
                <a:ea typeface="Microsoft YaHei" panose="020B0503020204020204" pitchFamily="34" charset="-122"/>
              </a:endParaRPr>
            </a:p>
            <a:p>
              <a:pPr marL="0" lvl="0" indent="0" algn="ctr" defTabSz="933450">
                <a:lnSpc>
                  <a:spcPct val="90000"/>
                </a:lnSpc>
                <a:spcBef>
                  <a:spcPct val="0"/>
                </a:spcBef>
                <a:spcAft>
                  <a:spcPct val="35000"/>
                </a:spcAft>
                <a:buNone/>
              </a:pPr>
              <a:r>
                <a:rPr lang="zh-CN" altLang="en-US" sz="2100" kern="1200" dirty="0">
                  <a:solidFill>
                    <a:schemeClr val="bg1"/>
                  </a:solidFill>
                  <a:latin typeface="Microsoft YaHei" panose="020B0503020204020204" pitchFamily="34" charset="-122"/>
                  <a:ea typeface="Microsoft YaHei" panose="020B0503020204020204" pitchFamily="34" charset="-122"/>
                </a:rPr>
                <a:t>而上</a:t>
              </a:r>
            </a:p>
          </p:txBody>
        </p:sp>
        <p:sp>
          <p:nvSpPr>
            <p:cNvPr id="28" name="任意形状 27">
              <a:extLst>
                <a:ext uri="{FF2B5EF4-FFF2-40B4-BE49-F238E27FC236}">
                  <a16:creationId xmlns:a16="http://schemas.microsoft.com/office/drawing/2014/main" id="{40E12071-942E-895A-36C1-D4A9C1BA2F33}"/>
                </a:ext>
              </a:extLst>
            </p:cNvPr>
            <p:cNvSpPr/>
            <p:nvPr/>
          </p:nvSpPr>
          <p:spPr>
            <a:xfrm rot="16200000">
              <a:off x="6928143" y="4483840"/>
              <a:ext cx="1547446" cy="439625"/>
            </a:xfrm>
            <a:custGeom>
              <a:avLst/>
              <a:gdLst>
                <a:gd name="connsiteX0" fmla="*/ 0 w 1547446"/>
                <a:gd name="connsiteY0" fmla="*/ 110280 h 439625"/>
                <a:gd name="connsiteX1" fmla="*/ 1280769 w 1547446"/>
                <a:gd name="connsiteY1" fmla="*/ 110280 h 439625"/>
                <a:gd name="connsiteX2" fmla="*/ 1280769 w 1547446"/>
                <a:gd name="connsiteY2" fmla="*/ 0 h 439625"/>
                <a:gd name="connsiteX3" fmla="*/ 1547446 w 1547446"/>
                <a:gd name="connsiteY3" fmla="*/ 219813 h 439625"/>
                <a:gd name="connsiteX4" fmla="*/ 1280769 w 1547446"/>
                <a:gd name="connsiteY4" fmla="*/ 439625 h 439625"/>
                <a:gd name="connsiteX5" fmla="*/ 1280769 w 1547446"/>
                <a:gd name="connsiteY5" fmla="*/ 329345 h 439625"/>
                <a:gd name="connsiteX6" fmla="*/ 0 w 1547446"/>
                <a:gd name="connsiteY6" fmla="*/ 329345 h 439625"/>
                <a:gd name="connsiteX7" fmla="*/ 0 w 1547446"/>
                <a:gd name="connsiteY7" fmla="*/ 110280 h 439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7446" h="439625">
                  <a:moveTo>
                    <a:pt x="0" y="110280"/>
                  </a:moveTo>
                  <a:lnTo>
                    <a:pt x="1280769" y="110280"/>
                  </a:lnTo>
                  <a:lnTo>
                    <a:pt x="1280769" y="0"/>
                  </a:lnTo>
                  <a:lnTo>
                    <a:pt x="1547446" y="219813"/>
                  </a:lnTo>
                  <a:lnTo>
                    <a:pt x="1280769" y="439625"/>
                  </a:lnTo>
                  <a:lnTo>
                    <a:pt x="1280769" y="329345"/>
                  </a:lnTo>
                  <a:lnTo>
                    <a:pt x="0" y="329345"/>
                  </a:lnTo>
                  <a:lnTo>
                    <a:pt x="0" y="110280"/>
                  </a:lnTo>
                  <a:close/>
                </a:path>
              </a:pathLst>
            </a:cu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spcFirstLastPara="0" vert="horz" wrap="square" lIns="26669" tIns="136949" rIns="159556" bIns="136951" numCol="1" spcCol="1270" anchor="ctr" anchorCtr="0">
              <a:noAutofit/>
            </a:bodyPr>
            <a:lstStyle/>
            <a:p>
              <a:pPr marL="0" lvl="0" indent="0" algn="r" defTabSz="311150">
                <a:lnSpc>
                  <a:spcPct val="90000"/>
                </a:lnSpc>
                <a:spcBef>
                  <a:spcPct val="0"/>
                </a:spcBef>
                <a:spcAft>
                  <a:spcPct val="35000"/>
                </a:spcAft>
                <a:buNone/>
              </a:pPr>
              <a:endParaRPr lang="zh-CN" altLang="en-US" sz="700" kern="1200" dirty="0">
                <a:latin typeface="Microsoft YaHei" panose="020B0503020204020204" pitchFamily="34" charset="-122"/>
                <a:ea typeface="Microsoft YaHei" panose="020B0503020204020204" pitchFamily="34" charset="-122"/>
              </a:endParaRPr>
            </a:p>
          </p:txBody>
        </p:sp>
        <p:sp>
          <p:nvSpPr>
            <p:cNvPr id="29" name="任意形状 28">
              <a:extLst>
                <a:ext uri="{FF2B5EF4-FFF2-40B4-BE49-F238E27FC236}">
                  <a16:creationId xmlns:a16="http://schemas.microsoft.com/office/drawing/2014/main" id="{E24BDDC3-61A5-56DE-8EA7-0D662D6E4D7D}"/>
                </a:ext>
              </a:extLst>
            </p:cNvPr>
            <p:cNvSpPr/>
            <p:nvPr/>
          </p:nvSpPr>
          <p:spPr>
            <a:xfrm rot="5400000">
              <a:off x="3701245" y="4106877"/>
              <a:ext cx="1547446" cy="439625"/>
            </a:xfrm>
            <a:custGeom>
              <a:avLst/>
              <a:gdLst>
                <a:gd name="connsiteX0" fmla="*/ 0 w 1547446"/>
                <a:gd name="connsiteY0" fmla="*/ 110280 h 439625"/>
                <a:gd name="connsiteX1" fmla="*/ 1280769 w 1547446"/>
                <a:gd name="connsiteY1" fmla="*/ 110280 h 439625"/>
                <a:gd name="connsiteX2" fmla="*/ 1280769 w 1547446"/>
                <a:gd name="connsiteY2" fmla="*/ 0 h 439625"/>
                <a:gd name="connsiteX3" fmla="*/ 1547446 w 1547446"/>
                <a:gd name="connsiteY3" fmla="*/ 219813 h 439625"/>
                <a:gd name="connsiteX4" fmla="*/ 1280769 w 1547446"/>
                <a:gd name="connsiteY4" fmla="*/ 439625 h 439625"/>
                <a:gd name="connsiteX5" fmla="*/ 1280769 w 1547446"/>
                <a:gd name="connsiteY5" fmla="*/ 329345 h 439625"/>
                <a:gd name="connsiteX6" fmla="*/ 0 w 1547446"/>
                <a:gd name="connsiteY6" fmla="*/ 329345 h 439625"/>
                <a:gd name="connsiteX7" fmla="*/ 0 w 1547446"/>
                <a:gd name="connsiteY7" fmla="*/ 110280 h 439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7446" h="439625">
                  <a:moveTo>
                    <a:pt x="0" y="110280"/>
                  </a:moveTo>
                  <a:lnTo>
                    <a:pt x="1280769" y="110280"/>
                  </a:lnTo>
                  <a:lnTo>
                    <a:pt x="1280769" y="0"/>
                  </a:lnTo>
                  <a:lnTo>
                    <a:pt x="1547446" y="219813"/>
                  </a:lnTo>
                  <a:lnTo>
                    <a:pt x="1280769" y="439625"/>
                  </a:lnTo>
                  <a:lnTo>
                    <a:pt x="1280769" y="329345"/>
                  </a:lnTo>
                  <a:lnTo>
                    <a:pt x="0" y="329345"/>
                  </a:lnTo>
                  <a:lnTo>
                    <a:pt x="0" y="110280"/>
                  </a:lnTo>
                  <a:close/>
                </a:path>
              </a:pathLst>
            </a:cu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spcFirstLastPara="0" vert="horz" wrap="square" lIns="26671" tIns="136949" rIns="159554" bIns="136951" numCol="1" spcCol="1270" anchor="ctr" anchorCtr="0">
              <a:noAutofit/>
            </a:bodyPr>
            <a:lstStyle/>
            <a:p>
              <a:pPr marL="0" lvl="0" indent="0" algn="r" defTabSz="311150">
                <a:lnSpc>
                  <a:spcPct val="90000"/>
                </a:lnSpc>
                <a:spcBef>
                  <a:spcPct val="0"/>
                </a:spcBef>
                <a:spcAft>
                  <a:spcPct val="35000"/>
                </a:spcAft>
                <a:buNone/>
              </a:pPr>
              <a:endParaRPr lang="zh-CN" altLang="en-US" sz="700" kern="1200" dirty="0">
                <a:latin typeface="Microsoft YaHei" panose="020B0503020204020204" pitchFamily="34" charset="-122"/>
                <a:ea typeface="Microsoft YaHei" panose="020B0503020204020204" pitchFamily="34" charset="-122"/>
              </a:endParaRPr>
            </a:p>
          </p:txBody>
        </p:sp>
      </p:grpSp>
      <p:sp>
        <p:nvSpPr>
          <p:cNvPr id="8" name="内容占位符 2">
            <a:extLst>
              <a:ext uri="{FF2B5EF4-FFF2-40B4-BE49-F238E27FC236}">
                <a16:creationId xmlns:a16="http://schemas.microsoft.com/office/drawing/2014/main" id="{D694F173-59F4-6FED-284F-9152503A07EC}"/>
              </a:ext>
            </a:extLst>
          </p:cNvPr>
          <p:cNvSpPr txBox="1">
            <a:spLocks/>
          </p:cNvSpPr>
          <p:nvPr/>
        </p:nvSpPr>
        <p:spPr>
          <a:xfrm>
            <a:off x="451838" y="1815954"/>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n"/>
            </a:pPr>
            <a:r>
              <a:rPr kumimoji="1" lang="zh-CN" altLang="en-US" b="1" dirty="0"/>
              <a:t>音乐欣赏的注意过程</a:t>
            </a:r>
          </a:p>
        </p:txBody>
      </p:sp>
      <p:pic>
        <p:nvPicPr>
          <p:cNvPr id="12" name="图片 11">
            <a:extLst>
              <a:ext uri="{FF2B5EF4-FFF2-40B4-BE49-F238E27FC236}">
                <a16:creationId xmlns:a16="http://schemas.microsoft.com/office/drawing/2014/main" id="{576506D4-81EA-DE56-A5D5-225E91E673BE}"/>
              </a:ext>
            </a:extLst>
          </p:cNvPr>
          <p:cNvPicPr>
            <a:picLocks noChangeAspect="1"/>
          </p:cNvPicPr>
          <p:nvPr/>
        </p:nvPicPr>
        <p:blipFill>
          <a:blip r:embed="rId3"/>
          <a:stretch>
            <a:fillRect/>
          </a:stretch>
        </p:blipFill>
        <p:spPr>
          <a:xfrm>
            <a:off x="2976629" y="2187945"/>
            <a:ext cx="1361178" cy="1266388"/>
          </a:xfrm>
          <a:prstGeom prst="rect">
            <a:avLst/>
          </a:prstGeom>
        </p:spPr>
      </p:pic>
      <p:sp>
        <p:nvSpPr>
          <p:cNvPr id="13" name="文本框 12">
            <a:extLst>
              <a:ext uri="{FF2B5EF4-FFF2-40B4-BE49-F238E27FC236}">
                <a16:creationId xmlns:a16="http://schemas.microsoft.com/office/drawing/2014/main" id="{2466CDEE-3292-A89B-94F8-F46CA0DEF76E}"/>
              </a:ext>
            </a:extLst>
          </p:cNvPr>
          <p:cNvSpPr txBox="1"/>
          <p:nvPr/>
        </p:nvSpPr>
        <p:spPr>
          <a:xfrm>
            <a:off x="8186237" y="3429000"/>
            <a:ext cx="3704655" cy="787460"/>
          </a:xfrm>
          <a:prstGeom prst="rect">
            <a:avLst/>
          </a:prstGeom>
          <a:noFill/>
        </p:spPr>
        <p:txBody>
          <a:bodyPr wrap="square" rtlCol="0">
            <a:spAutoFit/>
          </a:bodyPr>
          <a:lstStyle/>
          <a:p>
            <a:pPr>
              <a:lnSpc>
                <a:spcPct val="150000"/>
              </a:lnSpc>
            </a:pPr>
            <a:r>
              <a:rPr lang="zh-CN" altLang="en-US"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被</a:t>
            </a:r>
            <a:r>
              <a:rPr lang="zh-CN" altLang="zh-CN" sz="16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音乐元素</a:t>
            </a:r>
            <a:r>
              <a:rPr lang="zh-CN"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（如节奏、响度等）吸引，不涉及深入分析或理解音乐背后的内容</a:t>
            </a:r>
            <a:r>
              <a:rPr lang="zh-CN" altLang="zh-CN" sz="1600" dirty="0">
                <a:effectLst/>
                <a:latin typeface="Microsoft YaHei" panose="020B0503020204020204" pitchFamily="34" charset="-122"/>
                <a:ea typeface="Microsoft YaHei" panose="020B0503020204020204" pitchFamily="34" charset="-122"/>
              </a:rPr>
              <a:t> </a:t>
            </a:r>
            <a:endParaRPr kumimoji="1" lang="zh-CN" altLang="en-US" sz="1600" dirty="0">
              <a:latin typeface="Microsoft YaHei" panose="020B0503020204020204" pitchFamily="34" charset="-122"/>
              <a:ea typeface="Microsoft YaHei" panose="020B0503020204020204" pitchFamily="34" charset="-122"/>
            </a:endParaRPr>
          </a:p>
        </p:txBody>
      </p:sp>
      <p:sp>
        <p:nvSpPr>
          <p:cNvPr id="14" name="文本框 13">
            <a:extLst>
              <a:ext uri="{FF2B5EF4-FFF2-40B4-BE49-F238E27FC236}">
                <a16:creationId xmlns:a16="http://schemas.microsoft.com/office/drawing/2014/main" id="{E53D7A5E-3237-48C1-3939-6CB431440C20}"/>
              </a:ext>
            </a:extLst>
          </p:cNvPr>
          <p:cNvSpPr txBox="1"/>
          <p:nvPr/>
        </p:nvSpPr>
        <p:spPr>
          <a:xfrm>
            <a:off x="339443" y="3434146"/>
            <a:ext cx="3852705" cy="1156792"/>
          </a:xfrm>
          <a:prstGeom prst="rect">
            <a:avLst/>
          </a:prstGeom>
          <a:noFill/>
        </p:spPr>
        <p:txBody>
          <a:bodyPr wrap="square">
            <a:spAutoFit/>
          </a:bodyPr>
          <a:lstStyle/>
          <a:p>
            <a:pPr>
              <a:lnSpc>
                <a:spcPct val="150000"/>
              </a:lnSpc>
            </a:pPr>
            <a:r>
              <a:rPr lang="zh-CN" altLang="zh-CN" sz="1600" kern="100" dirty="0">
                <a:latin typeface="Microsoft YaHei" panose="020B0503020204020204" pitchFamily="34" charset="-122"/>
                <a:ea typeface="Microsoft YaHei" panose="020B0503020204020204" pitchFamily="34" charset="-122"/>
                <a:cs typeface="Times New Roman" panose="02020603050405020304" pitchFamily="18" charset="0"/>
              </a:rPr>
              <a:t>使用</a:t>
            </a:r>
            <a:r>
              <a:rPr lang="zh-CN" altLang="en-US" sz="1600" b="1" kern="100" dirty="0">
                <a:latin typeface="Microsoft YaHei" panose="020B0503020204020204" pitchFamily="34" charset="-122"/>
                <a:ea typeface="Microsoft YaHei" panose="020B0503020204020204" pitchFamily="34" charset="-122"/>
                <a:cs typeface="Times New Roman" panose="02020603050405020304" pitchFamily="18" charset="0"/>
              </a:rPr>
              <a:t>个体</a:t>
            </a:r>
            <a:r>
              <a:rPr lang="zh-CN" altLang="zh-CN" sz="1600" kern="100" dirty="0">
                <a:latin typeface="Microsoft YaHei" panose="020B0503020204020204" pitchFamily="34" charset="-122"/>
                <a:ea typeface="Microsoft YaHei" panose="020B0503020204020204" pitchFamily="34" charset="-122"/>
                <a:cs typeface="Times New Roman" panose="02020603050405020304" pitchFamily="18" charset="0"/>
              </a:rPr>
              <a:t>先前的</a:t>
            </a:r>
            <a:r>
              <a:rPr lang="zh-CN" altLang="en-US" sz="1600" b="1" kern="100" dirty="0">
                <a:latin typeface="Microsoft YaHei" panose="020B0503020204020204" pitchFamily="34" charset="-122"/>
                <a:ea typeface="Microsoft YaHei" panose="020B0503020204020204" pitchFamily="34" charset="-122"/>
                <a:cs typeface="Times New Roman" panose="02020603050405020304" pitchFamily="18" charset="0"/>
              </a:rPr>
              <a:t>经验和期望</a:t>
            </a:r>
            <a:r>
              <a:rPr lang="zh-CN" altLang="zh-CN" sz="1600" kern="100" dirty="0">
                <a:latin typeface="Microsoft YaHei" panose="020B0503020204020204" pitchFamily="34" charset="-122"/>
                <a:ea typeface="Microsoft YaHei" panose="020B0503020204020204" pitchFamily="34" charset="-122"/>
                <a:cs typeface="Times New Roman" panose="02020603050405020304" pitchFamily="18" charset="0"/>
              </a:rPr>
              <a:t>来理解音乐的深层含义，可能包括歌词的解读、音乐风格的分析等 </a:t>
            </a:r>
            <a:endParaRPr lang="zh-CN" altLang="en-US" sz="1600" kern="1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7" name="文本框 16">
            <a:extLst>
              <a:ext uri="{FF2B5EF4-FFF2-40B4-BE49-F238E27FC236}">
                <a16:creationId xmlns:a16="http://schemas.microsoft.com/office/drawing/2014/main" id="{37C6CAA0-9AFF-6764-EB45-9F09E44D6C4C}"/>
              </a:ext>
            </a:extLst>
          </p:cNvPr>
          <p:cNvSpPr txBox="1"/>
          <p:nvPr/>
        </p:nvSpPr>
        <p:spPr>
          <a:xfrm>
            <a:off x="5642506" y="4387817"/>
            <a:ext cx="6097656" cy="276999"/>
          </a:xfrm>
          <a:prstGeom prst="rect">
            <a:avLst/>
          </a:prstGeom>
          <a:noFill/>
        </p:spPr>
        <p:txBody>
          <a:bodyPr wrap="square">
            <a:spAutoFit/>
          </a:bodyPr>
          <a:lstStyle/>
          <a:p>
            <a:r>
              <a:rPr lang="en-US" altLang="zh-CN" sz="1200" kern="100" dirty="0">
                <a:solidFill>
                  <a:schemeClr val="tx1">
                    <a:lumMod val="50000"/>
                    <a:lumOff val="50000"/>
                  </a:schemeClr>
                </a:solidFill>
                <a:effectLst/>
                <a:latin typeface="Times New Roman" panose="02020603050405020304" pitchFamily="18" charset="0"/>
                <a:ea typeface="宋体" panose="02010600030101010101" pitchFamily="2" charset="-122"/>
              </a:rPr>
              <a:t>(LaBerge, 1995)</a:t>
            </a:r>
            <a:r>
              <a:rPr lang="zh-CN" altLang="zh-CN" sz="1200" dirty="0">
                <a:solidFill>
                  <a:schemeClr val="tx1">
                    <a:lumMod val="50000"/>
                    <a:lumOff val="50000"/>
                  </a:schemeClr>
                </a:solidFill>
                <a:effectLst/>
              </a:rPr>
              <a:t> </a:t>
            </a:r>
            <a:endParaRPr lang="zh-CN" altLang="en-US" sz="1200" dirty="0">
              <a:solidFill>
                <a:schemeClr val="tx1">
                  <a:lumMod val="50000"/>
                  <a:lumOff val="50000"/>
                </a:schemeClr>
              </a:solidFill>
            </a:endParaRPr>
          </a:p>
        </p:txBody>
      </p:sp>
      <p:sp>
        <p:nvSpPr>
          <p:cNvPr id="10" name="矩形 9">
            <a:extLst>
              <a:ext uri="{FF2B5EF4-FFF2-40B4-BE49-F238E27FC236}">
                <a16:creationId xmlns:a16="http://schemas.microsoft.com/office/drawing/2014/main" id="{10D5B17B-7216-EBDE-E552-B1FCAD25211B}"/>
              </a:ext>
            </a:extLst>
          </p:cNvPr>
          <p:cNvSpPr/>
          <p:nvPr/>
        </p:nvSpPr>
        <p:spPr>
          <a:xfrm>
            <a:off x="8344661" y="4806174"/>
            <a:ext cx="1461058" cy="583812"/>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音乐元素</a:t>
            </a:r>
          </a:p>
        </p:txBody>
      </p:sp>
      <p:sp>
        <p:nvSpPr>
          <p:cNvPr id="15" name="矩形 14">
            <a:extLst>
              <a:ext uri="{FF2B5EF4-FFF2-40B4-BE49-F238E27FC236}">
                <a16:creationId xmlns:a16="http://schemas.microsoft.com/office/drawing/2014/main" id="{205617BA-5F2A-3C93-84BB-02394A7E1AC7}"/>
              </a:ext>
            </a:extLst>
          </p:cNvPr>
          <p:cNvSpPr/>
          <p:nvPr/>
        </p:nvSpPr>
        <p:spPr>
          <a:xfrm>
            <a:off x="2731091" y="4802818"/>
            <a:ext cx="1461057" cy="583812"/>
          </a:xfrm>
          <a:prstGeom prst="rect">
            <a:avLst/>
          </a:prstGeom>
          <a:gradFill>
            <a:gsLst>
              <a:gs pos="0">
                <a:schemeClr val="accent1">
                  <a:hueOff val="0"/>
                  <a:satOff val="0"/>
                  <a:lumOff val="0"/>
                  <a:alphaOff val="0"/>
                  <a:lumMod val="110000"/>
                  <a:satMod val="105000"/>
                  <a:tint val="67000"/>
                </a:schemeClr>
              </a:gs>
              <a:gs pos="39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驾驶员差异</a:t>
            </a:r>
          </a:p>
        </p:txBody>
      </p:sp>
      <p:sp>
        <p:nvSpPr>
          <p:cNvPr id="16" name="五角星 15">
            <a:extLst>
              <a:ext uri="{FF2B5EF4-FFF2-40B4-BE49-F238E27FC236}">
                <a16:creationId xmlns:a16="http://schemas.microsoft.com/office/drawing/2014/main" id="{508E6B51-C939-7B3D-5E1C-75B64A0A693B}"/>
              </a:ext>
            </a:extLst>
          </p:cNvPr>
          <p:cNvSpPr/>
          <p:nvPr/>
        </p:nvSpPr>
        <p:spPr>
          <a:xfrm>
            <a:off x="2561993" y="4656927"/>
            <a:ext cx="381190" cy="274995"/>
          </a:xfrm>
          <a:prstGeom prst="star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五角星 19">
            <a:extLst>
              <a:ext uri="{FF2B5EF4-FFF2-40B4-BE49-F238E27FC236}">
                <a16:creationId xmlns:a16="http://schemas.microsoft.com/office/drawing/2014/main" id="{792D652D-88FC-A3DE-A72B-E971B56E26F8}"/>
              </a:ext>
            </a:extLst>
          </p:cNvPr>
          <p:cNvSpPr/>
          <p:nvPr/>
        </p:nvSpPr>
        <p:spPr>
          <a:xfrm>
            <a:off x="9536924" y="4630790"/>
            <a:ext cx="381190" cy="274995"/>
          </a:xfrm>
          <a:prstGeom prst="star5">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22" name="图片 21" descr="卡通人物&#10;&#10;描述已自动生成">
            <a:extLst>
              <a:ext uri="{FF2B5EF4-FFF2-40B4-BE49-F238E27FC236}">
                <a16:creationId xmlns:a16="http://schemas.microsoft.com/office/drawing/2014/main" id="{8500039F-58C8-6BBD-232F-AC152DAFE918}"/>
              </a:ext>
            </a:extLst>
          </p:cNvPr>
          <p:cNvPicPr>
            <a:picLocks noChangeAspect="1"/>
          </p:cNvPicPr>
          <p:nvPr/>
        </p:nvPicPr>
        <p:blipFill>
          <a:blip r:embed="rId4"/>
          <a:stretch>
            <a:fillRect/>
          </a:stretch>
        </p:blipFill>
        <p:spPr>
          <a:xfrm>
            <a:off x="8208360" y="2208474"/>
            <a:ext cx="1143000" cy="1168400"/>
          </a:xfrm>
          <a:prstGeom prst="rect">
            <a:avLst/>
          </a:prstGeom>
        </p:spPr>
      </p:pic>
    </p:spTree>
    <p:extLst>
      <p:ext uri="{BB962C8B-B14F-4D97-AF65-F5344CB8AC3E}">
        <p14:creationId xmlns:p14="http://schemas.microsoft.com/office/powerpoint/2010/main" val="42724900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06FFBF-A497-8134-4AC2-2F7275F409A5}"/>
              </a:ext>
            </a:extLst>
          </p:cNvPr>
          <p:cNvSpPr>
            <a:spLocks noGrp="1"/>
          </p:cNvSpPr>
          <p:nvPr>
            <p:ph type="title"/>
          </p:nvPr>
        </p:nvSpPr>
        <p:spPr/>
        <p:txBody>
          <a:bodyPr/>
          <a:lstStyle/>
          <a:p>
            <a:r>
              <a:rPr kumimoji="1" lang="zh-CN" altLang="en-US" dirty="0"/>
              <a:t>文献综述  </a:t>
            </a:r>
            <a:r>
              <a:rPr kumimoji="1" lang="zh-CN" altLang="en-US" sz="2000" dirty="0"/>
              <a:t>音乐感知的基本元素</a:t>
            </a:r>
            <a:endParaRPr kumimoji="1" lang="zh-CN" altLang="en-US" dirty="0"/>
          </a:p>
        </p:txBody>
      </p:sp>
      <p:graphicFrame>
        <p:nvGraphicFramePr>
          <p:cNvPr id="7" name="内容占位符 6">
            <a:extLst>
              <a:ext uri="{FF2B5EF4-FFF2-40B4-BE49-F238E27FC236}">
                <a16:creationId xmlns:a16="http://schemas.microsoft.com/office/drawing/2014/main" id="{10E54CF9-1B59-C36B-5180-D4C27F29CFB5}"/>
              </a:ext>
            </a:extLst>
          </p:cNvPr>
          <p:cNvGraphicFramePr>
            <a:graphicFrameLocks noGrp="1"/>
          </p:cNvGraphicFramePr>
          <p:nvPr>
            <p:ph idx="1"/>
            <p:extLst>
              <p:ext uri="{D42A27DB-BD31-4B8C-83A1-F6EECF244321}">
                <p14:modId xmlns:p14="http://schemas.microsoft.com/office/powerpoint/2010/main" val="1968215283"/>
              </p:ext>
            </p:extLst>
          </p:nvPr>
        </p:nvGraphicFramePr>
        <p:xfrm>
          <a:off x="-2178011" y="1659420"/>
          <a:ext cx="9326217" cy="36806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文本框 8">
            <a:extLst>
              <a:ext uri="{FF2B5EF4-FFF2-40B4-BE49-F238E27FC236}">
                <a16:creationId xmlns:a16="http://schemas.microsoft.com/office/drawing/2014/main" id="{8DA8F370-3B24-E971-29C0-3AED084DF3B6}"/>
              </a:ext>
            </a:extLst>
          </p:cNvPr>
          <p:cNvSpPr txBox="1"/>
          <p:nvPr/>
        </p:nvSpPr>
        <p:spPr>
          <a:xfrm>
            <a:off x="1190652" y="5551800"/>
            <a:ext cx="7071690" cy="276999"/>
          </a:xfrm>
          <a:prstGeom prst="rect">
            <a:avLst/>
          </a:prstGeom>
          <a:noFill/>
        </p:spPr>
        <p:txBody>
          <a:bodyPr wrap="square">
            <a:spAutoFit/>
          </a:bodyPr>
          <a:lstStyle/>
          <a:p>
            <a:r>
              <a:rPr lang="zh-CN" altLang="zh-CN" sz="1200" kern="100" dirty="0">
                <a:solidFill>
                  <a:schemeClr val="tx1">
                    <a:lumMod val="50000"/>
                    <a:lumOff val="50000"/>
                  </a:schemeClr>
                </a:solidFill>
                <a:effectLst/>
                <a:ea typeface="Times New Roman" panose="02020603050405020304" pitchFamily="18" charset="0"/>
              </a:rPr>
              <a:t> </a:t>
            </a:r>
            <a:r>
              <a:rPr lang="en-US" altLang="zh-CN" sz="1200" kern="100" dirty="0">
                <a:solidFill>
                  <a:schemeClr val="tx1">
                    <a:lumMod val="50000"/>
                    <a:lumOff val="50000"/>
                  </a:schemeClr>
                </a:solidFill>
                <a:effectLst/>
                <a:latin typeface="Times New Roman" panose="02020603050405020304" pitchFamily="18" charset="0"/>
                <a:ea typeface="宋体" panose="02010600030101010101" pitchFamily="2" charset="-122"/>
              </a:rPr>
              <a:t>(Nussbaum, 2015</a:t>
            </a:r>
            <a:r>
              <a:rPr lang="zh-CN" altLang="en-US" sz="1200" kern="100" dirty="0">
                <a:solidFill>
                  <a:schemeClr val="tx1">
                    <a:lumMod val="50000"/>
                    <a:lumOff val="50000"/>
                  </a:schemeClr>
                </a:solidFill>
                <a:latin typeface="Times New Roman" panose="02020603050405020304" pitchFamily="18" charset="0"/>
                <a:ea typeface="宋体" panose="02010600030101010101" pitchFamily="2" charset="-122"/>
              </a:rPr>
              <a:t>；</a:t>
            </a:r>
            <a:r>
              <a:rPr lang="zh-CN" altLang="zh-CN" sz="1200" dirty="0">
                <a:solidFill>
                  <a:schemeClr val="tx1">
                    <a:lumMod val="50000"/>
                    <a:lumOff val="50000"/>
                  </a:schemeClr>
                </a:solidFill>
                <a:effectLst/>
                <a:latin typeface="Times New Roman" panose="02020603050405020304" pitchFamily="18" charset="0"/>
                <a:ea typeface="宋体" panose="02010600030101010101" pitchFamily="2" charset="-122"/>
                <a:cs typeface="Times New Roman" panose="02020603050405020304" pitchFamily="18" charset="0"/>
              </a:rPr>
              <a:t>陈玉田</a:t>
            </a:r>
            <a:r>
              <a:rPr lang="en-US" altLang="zh-CN" sz="1200" dirty="0">
                <a:solidFill>
                  <a:schemeClr val="tx1">
                    <a:lumMod val="50000"/>
                    <a:lumOff val="50000"/>
                  </a:schemeClr>
                </a:solidFill>
                <a:effectLst/>
                <a:latin typeface="Times New Roman" panose="02020603050405020304" pitchFamily="18" charset="0"/>
                <a:ea typeface="宋体" panose="02010600030101010101" pitchFamily="2" charset="-122"/>
              </a:rPr>
              <a:t>, 2022</a:t>
            </a:r>
            <a:r>
              <a:rPr lang="zh-CN" altLang="zh-CN" sz="1200" dirty="0">
                <a:solidFill>
                  <a:schemeClr val="tx1">
                    <a:lumMod val="50000"/>
                    <a:lumOff val="50000"/>
                  </a:schemeClr>
                </a:solidFill>
                <a:effectLst/>
              </a:rPr>
              <a:t> </a:t>
            </a:r>
            <a:r>
              <a:rPr lang="en-US" altLang="zh-CN" sz="1200" kern="100" dirty="0">
                <a:solidFill>
                  <a:schemeClr val="tx1">
                    <a:lumMod val="50000"/>
                    <a:lumOff val="50000"/>
                  </a:schemeClr>
                </a:solidFill>
                <a:effectLst/>
                <a:latin typeface="Times New Roman" panose="02020603050405020304" pitchFamily="18" charset="0"/>
                <a:ea typeface="宋体" panose="02010600030101010101" pitchFamily="2" charset="-122"/>
              </a:rPr>
              <a:t>)</a:t>
            </a:r>
            <a:r>
              <a:rPr lang="zh-CN" altLang="zh-CN" sz="1200" dirty="0">
                <a:solidFill>
                  <a:schemeClr val="tx1">
                    <a:lumMod val="50000"/>
                    <a:lumOff val="50000"/>
                  </a:schemeClr>
                </a:solidFill>
                <a:effectLst/>
              </a:rPr>
              <a:t> </a:t>
            </a:r>
            <a:endParaRPr lang="zh-CN" altLang="en-US" sz="1200" dirty="0">
              <a:solidFill>
                <a:schemeClr val="tx1">
                  <a:lumMod val="50000"/>
                  <a:lumOff val="50000"/>
                </a:schemeClr>
              </a:solidFill>
            </a:endParaRPr>
          </a:p>
        </p:txBody>
      </p:sp>
      <p:grpSp>
        <p:nvGrpSpPr>
          <p:cNvPr id="10" name="组合 9">
            <a:extLst>
              <a:ext uri="{FF2B5EF4-FFF2-40B4-BE49-F238E27FC236}">
                <a16:creationId xmlns:a16="http://schemas.microsoft.com/office/drawing/2014/main" id="{249F79B6-C670-B0F4-B6CD-B9FBD3B2C326}"/>
              </a:ext>
            </a:extLst>
          </p:cNvPr>
          <p:cNvGrpSpPr/>
          <p:nvPr/>
        </p:nvGrpSpPr>
        <p:grpSpPr>
          <a:xfrm>
            <a:off x="5834270" y="1188939"/>
            <a:ext cx="10828681" cy="5509863"/>
            <a:chOff x="0" y="1309193"/>
            <a:chExt cx="10828681" cy="5509863"/>
          </a:xfrm>
        </p:grpSpPr>
        <p:pic>
          <p:nvPicPr>
            <p:cNvPr id="11" name="图片 10">
              <a:extLst>
                <a:ext uri="{FF2B5EF4-FFF2-40B4-BE49-F238E27FC236}">
                  <a16:creationId xmlns:a16="http://schemas.microsoft.com/office/drawing/2014/main" id="{46C6D791-4A14-182C-53D1-EB5FF3B79A46}"/>
                </a:ext>
              </a:extLst>
            </p:cNvPr>
            <p:cNvPicPr>
              <a:picLocks noChangeAspect="1"/>
            </p:cNvPicPr>
            <p:nvPr/>
          </p:nvPicPr>
          <p:blipFill>
            <a:blip r:embed="rId8"/>
            <a:stretch>
              <a:fillRect/>
            </a:stretch>
          </p:blipFill>
          <p:spPr>
            <a:xfrm>
              <a:off x="1015304" y="1309194"/>
              <a:ext cx="1568870" cy="1552528"/>
            </a:xfrm>
            <a:prstGeom prst="rect">
              <a:avLst/>
            </a:prstGeom>
          </p:spPr>
        </p:pic>
        <p:pic>
          <p:nvPicPr>
            <p:cNvPr id="12" name="图片 11">
              <a:extLst>
                <a:ext uri="{FF2B5EF4-FFF2-40B4-BE49-F238E27FC236}">
                  <a16:creationId xmlns:a16="http://schemas.microsoft.com/office/drawing/2014/main" id="{DF4DA284-DF41-A71F-5C65-97A6A32C6C84}"/>
                </a:ext>
              </a:extLst>
            </p:cNvPr>
            <p:cNvPicPr>
              <a:picLocks noChangeAspect="1"/>
            </p:cNvPicPr>
            <p:nvPr/>
          </p:nvPicPr>
          <p:blipFill>
            <a:blip r:embed="rId9"/>
            <a:stretch>
              <a:fillRect/>
            </a:stretch>
          </p:blipFill>
          <p:spPr>
            <a:xfrm>
              <a:off x="3599478" y="1309193"/>
              <a:ext cx="2067271" cy="1552529"/>
            </a:xfrm>
            <a:prstGeom prst="rect">
              <a:avLst/>
            </a:prstGeom>
          </p:spPr>
        </p:pic>
        <p:sp>
          <p:nvSpPr>
            <p:cNvPr id="13" name="右箭头 12">
              <a:extLst>
                <a:ext uri="{FF2B5EF4-FFF2-40B4-BE49-F238E27FC236}">
                  <a16:creationId xmlns:a16="http://schemas.microsoft.com/office/drawing/2014/main" id="{54803EF6-4118-135E-EA8B-C88635F6EAB7}"/>
                </a:ext>
              </a:extLst>
            </p:cNvPr>
            <p:cNvSpPr/>
            <p:nvPr/>
          </p:nvSpPr>
          <p:spPr>
            <a:xfrm>
              <a:off x="2892286" y="2085458"/>
              <a:ext cx="626166" cy="45719"/>
            </a:xfrm>
            <a:prstGeom prst="rightArrow">
              <a:avLst/>
            </a:prstGeom>
            <a:solidFill>
              <a:schemeClr val="tx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4" name="图片 13">
              <a:extLst>
                <a:ext uri="{FF2B5EF4-FFF2-40B4-BE49-F238E27FC236}">
                  <a16:creationId xmlns:a16="http://schemas.microsoft.com/office/drawing/2014/main" id="{D71D662A-6AE4-C42B-8516-AC722DB89694}"/>
                </a:ext>
              </a:extLst>
            </p:cNvPr>
            <p:cNvPicPr>
              <a:picLocks noChangeAspect="1"/>
            </p:cNvPicPr>
            <p:nvPr/>
          </p:nvPicPr>
          <p:blipFill>
            <a:blip r:embed="rId10"/>
            <a:stretch>
              <a:fillRect/>
            </a:stretch>
          </p:blipFill>
          <p:spPr>
            <a:xfrm>
              <a:off x="0" y="2703052"/>
              <a:ext cx="6096000" cy="3427222"/>
            </a:xfrm>
            <a:prstGeom prst="rect">
              <a:avLst/>
            </a:prstGeom>
          </p:spPr>
        </p:pic>
        <p:sp>
          <p:nvSpPr>
            <p:cNvPr id="15" name="右箭头 14">
              <a:extLst>
                <a:ext uri="{FF2B5EF4-FFF2-40B4-BE49-F238E27FC236}">
                  <a16:creationId xmlns:a16="http://schemas.microsoft.com/office/drawing/2014/main" id="{9708D59D-9A7C-9592-9591-C594278A148C}"/>
                </a:ext>
              </a:extLst>
            </p:cNvPr>
            <p:cNvSpPr/>
            <p:nvPr/>
          </p:nvSpPr>
          <p:spPr>
            <a:xfrm rot="5400000">
              <a:off x="3002415" y="5821883"/>
              <a:ext cx="288671" cy="905454"/>
            </a:xfrm>
            <a:prstGeom prst="rightArrow">
              <a:avLst/>
            </a:prstGeom>
            <a:solidFill>
              <a:schemeClr val="tx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15">
              <a:extLst>
                <a:ext uri="{FF2B5EF4-FFF2-40B4-BE49-F238E27FC236}">
                  <a16:creationId xmlns:a16="http://schemas.microsoft.com/office/drawing/2014/main" id="{6B8987A1-0D7C-748D-67BD-2EA145C2F984}"/>
                </a:ext>
              </a:extLst>
            </p:cNvPr>
            <p:cNvSpPr txBox="1"/>
            <p:nvPr/>
          </p:nvSpPr>
          <p:spPr>
            <a:xfrm>
              <a:off x="2694023" y="6418946"/>
              <a:ext cx="1062968" cy="400110"/>
            </a:xfrm>
            <a:prstGeom prst="rect">
              <a:avLst/>
            </a:prstGeom>
            <a:noFill/>
          </p:spPr>
          <p:txBody>
            <a:bodyPr wrap="square" rtlCol="0">
              <a:spAutoFit/>
            </a:bodyPr>
            <a:lstStyle/>
            <a:p>
              <a:r>
                <a:rPr kumimoji="1" lang="en-US" altLang="zh-CN" sz="2000" b="1" dirty="0">
                  <a:latin typeface="Arial" panose="020B0604020202020204" pitchFamily="34" charset="0"/>
                  <a:cs typeface="Arial" panose="020B0604020202020204" pitchFamily="34" charset="0"/>
                </a:rPr>
                <a:t>······</a:t>
              </a:r>
              <a:endParaRPr kumimoji="1" lang="zh-CN" altLang="en-US" sz="2000" b="1" dirty="0">
                <a:latin typeface="Arial" panose="020B0604020202020204" pitchFamily="34" charset="0"/>
                <a:cs typeface="Arial" panose="020B0604020202020204" pitchFamily="34" charset="0"/>
              </a:endParaRPr>
            </a:p>
          </p:txBody>
        </p:sp>
        <p:sp>
          <p:nvSpPr>
            <p:cNvPr id="17" name="文本框 16">
              <a:extLst>
                <a:ext uri="{FF2B5EF4-FFF2-40B4-BE49-F238E27FC236}">
                  <a16:creationId xmlns:a16="http://schemas.microsoft.com/office/drawing/2014/main" id="{F7B05A00-55C1-A607-4625-06FFA90C1144}"/>
                </a:ext>
              </a:extLst>
            </p:cNvPr>
            <p:cNvSpPr txBox="1"/>
            <p:nvPr/>
          </p:nvSpPr>
          <p:spPr>
            <a:xfrm>
              <a:off x="3756991" y="6120585"/>
              <a:ext cx="7071690" cy="276999"/>
            </a:xfrm>
            <a:prstGeom prst="rect">
              <a:avLst/>
            </a:prstGeom>
            <a:noFill/>
          </p:spPr>
          <p:txBody>
            <a:bodyPr wrap="square">
              <a:spAutoFit/>
            </a:bodyPr>
            <a:lstStyle/>
            <a:p>
              <a:r>
                <a:rPr lang="zh-CN" altLang="zh-CN" sz="1200" kern="100" dirty="0">
                  <a:solidFill>
                    <a:schemeClr val="tx1">
                      <a:lumMod val="50000"/>
                      <a:lumOff val="50000"/>
                    </a:schemeClr>
                  </a:solidFill>
                  <a:effectLst/>
                  <a:ea typeface="Times New Roman" panose="02020603050405020304" pitchFamily="18" charset="0"/>
                </a:rPr>
                <a:t> </a:t>
              </a:r>
              <a:r>
                <a:rPr lang="en-US" altLang="zh-CN" sz="1200" kern="100" dirty="0">
                  <a:solidFill>
                    <a:schemeClr val="tx1">
                      <a:lumMod val="50000"/>
                      <a:lumOff val="50000"/>
                    </a:schemeClr>
                  </a:solidFill>
                  <a:effectLst/>
                  <a:latin typeface="Times New Roman" panose="02020603050405020304" pitchFamily="18" charset="0"/>
                  <a:ea typeface="宋体" panose="02010600030101010101" pitchFamily="2" charset="-122"/>
                </a:rPr>
                <a:t>(</a:t>
              </a:r>
              <a:r>
                <a:rPr lang="en-US" altLang="zh-CN" sz="1200" kern="100" dirty="0" err="1">
                  <a:solidFill>
                    <a:schemeClr val="tx1">
                      <a:lumMod val="50000"/>
                      <a:lumOff val="50000"/>
                    </a:schemeClr>
                  </a:solidFill>
                  <a:effectLst/>
                  <a:latin typeface="Times New Roman" panose="02020603050405020304" pitchFamily="18" charset="0"/>
                  <a:ea typeface="宋体" panose="02010600030101010101" pitchFamily="2" charset="-122"/>
                </a:rPr>
                <a:t>Peretz</a:t>
              </a:r>
              <a:r>
                <a:rPr lang="zh-CN" altLang="en-US" sz="1200" kern="100" dirty="0">
                  <a:solidFill>
                    <a:schemeClr val="tx1">
                      <a:lumMod val="50000"/>
                      <a:lumOff val="50000"/>
                    </a:schemeClr>
                  </a:solidFill>
                  <a:effectLst/>
                  <a:latin typeface="Times New Roman" panose="02020603050405020304" pitchFamily="18" charset="0"/>
                  <a:ea typeface="宋体" panose="02010600030101010101" pitchFamily="2" charset="-122"/>
                </a:rPr>
                <a:t>等</a:t>
              </a:r>
              <a:r>
                <a:rPr lang="zh-CN" altLang="en-US" sz="1200" kern="100" dirty="0">
                  <a:solidFill>
                    <a:schemeClr val="tx1">
                      <a:lumMod val="50000"/>
                      <a:lumOff val="50000"/>
                    </a:schemeClr>
                  </a:solidFill>
                  <a:latin typeface="Times New Roman" panose="02020603050405020304" pitchFamily="18" charset="0"/>
                  <a:ea typeface="宋体" panose="02010600030101010101" pitchFamily="2" charset="-122"/>
                </a:rPr>
                <a:t>，</a:t>
              </a:r>
              <a:r>
                <a:rPr lang="en-US" altLang="zh-CN" sz="1200" kern="100" dirty="0">
                  <a:solidFill>
                    <a:schemeClr val="tx1">
                      <a:lumMod val="50000"/>
                      <a:lumOff val="50000"/>
                    </a:schemeClr>
                  </a:solidFill>
                  <a:effectLst/>
                  <a:latin typeface="Times New Roman" panose="02020603050405020304" pitchFamily="18" charset="0"/>
                  <a:ea typeface="宋体" panose="02010600030101010101" pitchFamily="2" charset="-122"/>
                </a:rPr>
                <a:t>2005))</a:t>
              </a:r>
              <a:r>
                <a:rPr lang="zh-CN" altLang="zh-CN" sz="1200" dirty="0">
                  <a:solidFill>
                    <a:schemeClr val="tx1">
                      <a:lumMod val="50000"/>
                      <a:lumOff val="50000"/>
                    </a:schemeClr>
                  </a:solidFill>
                  <a:effectLst/>
                </a:rPr>
                <a:t> </a:t>
              </a:r>
              <a:endParaRPr lang="zh-CN" altLang="en-US" sz="1200" dirty="0">
                <a:solidFill>
                  <a:schemeClr val="tx1">
                    <a:lumMod val="50000"/>
                    <a:lumOff val="50000"/>
                  </a:schemeClr>
                </a:solidFill>
              </a:endParaRPr>
            </a:p>
          </p:txBody>
        </p:sp>
      </p:grpSp>
    </p:spTree>
    <p:extLst>
      <p:ext uri="{BB962C8B-B14F-4D97-AF65-F5344CB8AC3E}">
        <p14:creationId xmlns:p14="http://schemas.microsoft.com/office/powerpoint/2010/main" val="38738688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837CD7C-7807-A41A-791F-24FF1E347FDE}"/>
              </a:ext>
            </a:extLst>
          </p:cNvPr>
          <p:cNvSpPr>
            <a:spLocks noGrp="1"/>
          </p:cNvSpPr>
          <p:nvPr>
            <p:ph idx="1"/>
          </p:nvPr>
        </p:nvSpPr>
        <p:spPr>
          <a:xfrm>
            <a:off x="339442" y="1143603"/>
            <a:ext cx="12317015" cy="4351338"/>
          </a:xfrm>
        </p:spPr>
        <p:txBody>
          <a:bodyPr/>
          <a:lstStyle/>
          <a:p>
            <a:pPr>
              <a:lnSpc>
                <a:spcPct val="150000"/>
              </a:lnSpc>
              <a:buFont typeface="Wingdings" pitchFamily="2" charset="2"/>
              <a:buChar char="l"/>
            </a:pPr>
            <a:r>
              <a:rPr kumimoji="1" lang="zh-CN" altLang="en-US" dirty="0"/>
              <a:t>音高被认为是最主要的音乐特征之一 </a:t>
            </a:r>
            <a:r>
              <a:rPr kumimoji="1" lang="en-US" altLang="zh-CN" sz="1200" dirty="0">
                <a:solidFill>
                  <a:schemeClr val="tx1">
                    <a:lumMod val="50000"/>
                    <a:lumOff val="50000"/>
                  </a:schemeClr>
                </a:solidFill>
              </a:rPr>
              <a:t>(</a:t>
            </a:r>
            <a:r>
              <a:rPr kumimoji="1" lang="en" altLang="zh-CN" sz="1200" dirty="0" err="1">
                <a:solidFill>
                  <a:schemeClr val="tx1">
                    <a:lumMod val="50000"/>
                    <a:lumOff val="50000"/>
                  </a:schemeClr>
                </a:solidFill>
              </a:rPr>
              <a:t>Karydis</a:t>
            </a:r>
            <a:r>
              <a:rPr kumimoji="1" lang="en" altLang="zh-CN" sz="1200" dirty="0">
                <a:solidFill>
                  <a:schemeClr val="tx1">
                    <a:lumMod val="50000"/>
                    <a:lumOff val="50000"/>
                  </a:schemeClr>
                </a:solidFill>
              </a:rPr>
              <a:t>, 2006)</a:t>
            </a:r>
            <a:r>
              <a:rPr kumimoji="1" lang="zh-CN" altLang="en" dirty="0"/>
              <a:t>。</a:t>
            </a:r>
            <a:r>
              <a:rPr kumimoji="1" lang="zh-CN" altLang="en-US" dirty="0"/>
              <a:t>是知觉属性，声音按频率相关的尺度进行组织</a:t>
            </a:r>
            <a:r>
              <a:rPr kumimoji="1" lang="zh-CN" altLang="en-US" sz="1200" dirty="0">
                <a:solidFill>
                  <a:schemeClr val="tx1">
                    <a:lumMod val="50000"/>
                    <a:lumOff val="50000"/>
                  </a:schemeClr>
                </a:solidFill>
              </a:rPr>
              <a:t> </a:t>
            </a:r>
            <a:r>
              <a:rPr kumimoji="1" lang="en-US" altLang="zh-CN" sz="1200" dirty="0">
                <a:solidFill>
                  <a:schemeClr val="tx1">
                    <a:lumMod val="50000"/>
                    <a:lumOff val="50000"/>
                  </a:schemeClr>
                </a:solidFill>
              </a:rPr>
              <a:t>(</a:t>
            </a:r>
            <a:r>
              <a:rPr kumimoji="1" lang="en" altLang="zh-CN" sz="1200" dirty="0">
                <a:solidFill>
                  <a:schemeClr val="tx1">
                    <a:lumMod val="50000"/>
                    <a:lumOff val="50000"/>
                  </a:schemeClr>
                </a:solidFill>
              </a:rPr>
              <a:t>Haynes &amp; Cooke, 2001)</a:t>
            </a:r>
            <a:r>
              <a:rPr kumimoji="1" lang="zh-CN" altLang="en" dirty="0"/>
              <a:t>。</a:t>
            </a:r>
            <a:endParaRPr kumimoji="1" lang="zh-CN" altLang="en-US" dirty="0"/>
          </a:p>
        </p:txBody>
      </p:sp>
      <p:pic>
        <p:nvPicPr>
          <p:cNvPr id="4" name="图片 3">
            <a:extLst>
              <a:ext uri="{FF2B5EF4-FFF2-40B4-BE49-F238E27FC236}">
                <a16:creationId xmlns:a16="http://schemas.microsoft.com/office/drawing/2014/main" id="{0566F0F2-DF64-7FD3-5997-D8743D10774C}"/>
              </a:ext>
            </a:extLst>
          </p:cNvPr>
          <p:cNvPicPr>
            <a:picLocks noChangeAspect="1"/>
          </p:cNvPicPr>
          <p:nvPr/>
        </p:nvPicPr>
        <p:blipFill>
          <a:blip r:embed="rId3"/>
          <a:stretch>
            <a:fillRect/>
          </a:stretch>
        </p:blipFill>
        <p:spPr>
          <a:xfrm>
            <a:off x="209394" y="4343009"/>
            <a:ext cx="4144891" cy="2415490"/>
          </a:xfrm>
          <a:prstGeom prst="rect">
            <a:avLst/>
          </a:prstGeom>
        </p:spPr>
      </p:pic>
      <p:sp>
        <p:nvSpPr>
          <p:cNvPr id="7" name="文本框 6">
            <a:extLst>
              <a:ext uri="{FF2B5EF4-FFF2-40B4-BE49-F238E27FC236}">
                <a16:creationId xmlns:a16="http://schemas.microsoft.com/office/drawing/2014/main" id="{04FE9331-D65D-4EC8-2BCF-8CE4BF23EE76}"/>
              </a:ext>
            </a:extLst>
          </p:cNvPr>
          <p:cNvSpPr txBox="1"/>
          <p:nvPr/>
        </p:nvSpPr>
        <p:spPr>
          <a:xfrm>
            <a:off x="209394" y="2699307"/>
            <a:ext cx="4144891" cy="1075359"/>
          </a:xfrm>
          <a:prstGeom prst="rect">
            <a:avLst/>
          </a:prstGeom>
          <a:noFill/>
        </p:spPr>
        <p:txBody>
          <a:bodyPr wrap="square">
            <a:spAutoFit/>
          </a:bodyPr>
          <a:lstStyle/>
          <a:p>
            <a:pPr marL="285750" indent="-285750">
              <a:lnSpc>
                <a:spcPct val="150000"/>
              </a:lnSpc>
              <a:buFont typeface="Wingdings" pitchFamily="2" charset="2"/>
              <a:buChar char="p"/>
            </a:pPr>
            <a:r>
              <a:rPr lang="zh-CN" altLang="en-US" sz="1600" dirty="0">
                <a:latin typeface="Microsoft YaHei" panose="020B0503020204020204" pitchFamily="34" charset="-122"/>
                <a:ea typeface="Microsoft YaHei" panose="020B0503020204020204" pitchFamily="34" charset="-122"/>
              </a:rPr>
              <a:t>高音下主观更快乐、兴奋、有活力、更轻盈；身体控制速度更快、感觉容易、简单 </a:t>
            </a:r>
            <a:r>
              <a:rPr lang="en" altLang="zh-CN" sz="1200" dirty="0">
                <a:solidFill>
                  <a:schemeClr val="tx1">
                    <a:lumMod val="50000"/>
                    <a:lumOff val="50000"/>
                  </a:schemeClr>
                </a:solidFill>
                <a:latin typeface="Microsoft YaHei" panose="020B0503020204020204" pitchFamily="34" charset="-122"/>
                <a:ea typeface="Microsoft YaHei" panose="020B0503020204020204" pitchFamily="34" charset="-122"/>
              </a:rPr>
              <a:t>(Ley-Flores </a:t>
            </a:r>
            <a:r>
              <a:rPr lang="zh-CN" altLang="en-US" sz="1200" dirty="0">
                <a:solidFill>
                  <a:schemeClr val="tx1">
                    <a:lumMod val="50000"/>
                    <a:lumOff val="50000"/>
                  </a:schemeClr>
                </a:solidFill>
                <a:latin typeface="Microsoft YaHei" panose="020B0503020204020204" pitchFamily="34" charset="-122"/>
                <a:ea typeface="Microsoft YaHei" panose="020B0503020204020204" pitchFamily="34" charset="-122"/>
              </a:rPr>
              <a:t>等</a:t>
            </a:r>
            <a:r>
              <a:rPr lang="en-US" altLang="zh-CN" sz="1200" dirty="0">
                <a:solidFill>
                  <a:schemeClr val="tx1">
                    <a:lumMod val="50000"/>
                    <a:lumOff val="50000"/>
                  </a:schemeClr>
                </a:solidFill>
                <a:latin typeface="Microsoft YaHei" panose="020B0503020204020204" pitchFamily="34" charset="-122"/>
                <a:ea typeface="Microsoft YaHei" panose="020B0503020204020204" pitchFamily="34" charset="-122"/>
              </a:rPr>
              <a:t>, 2022</a:t>
            </a:r>
            <a:r>
              <a:rPr lang="en" altLang="zh-CN" sz="1200" dirty="0">
                <a:solidFill>
                  <a:schemeClr val="tx1">
                    <a:lumMod val="50000"/>
                    <a:lumOff val="50000"/>
                  </a:schemeClr>
                </a:solidFill>
                <a:latin typeface="Microsoft YaHei" panose="020B0503020204020204" pitchFamily="34" charset="-122"/>
                <a:ea typeface="Microsoft YaHei" panose="020B0503020204020204" pitchFamily="34" charset="-122"/>
              </a:rPr>
              <a:t>)</a:t>
            </a:r>
            <a:endParaRPr lang="zh-CN" altLang="en-US" sz="1200" dirty="0">
              <a:latin typeface="Microsoft YaHei" panose="020B0503020204020204" pitchFamily="34" charset="-122"/>
              <a:ea typeface="Microsoft YaHei" panose="020B0503020204020204" pitchFamily="34" charset="-122"/>
            </a:endParaRPr>
          </a:p>
        </p:txBody>
      </p:sp>
      <p:sp>
        <p:nvSpPr>
          <p:cNvPr id="9" name="标题 1">
            <a:extLst>
              <a:ext uri="{FF2B5EF4-FFF2-40B4-BE49-F238E27FC236}">
                <a16:creationId xmlns:a16="http://schemas.microsoft.com/office/drawing/2014/main" id="{430E5901-B887-1454-A1F4-BA8C207F8BF5}"/>
              </a:ext>
            </a:extLst>
          </p:cNvPr>
          <p:cNvSpPr txBox="1">
            <a:spLocks/>
          </p:cNvSpPr>
          <p:nvPr/>
        </p:nvSpPr>
        <p:spPr>
          <a:xfrm>
            <a:off x="339443"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tx1"/>
                </a:solidFill>
                <a:latin typeface="Microsoft YaHei" panose="020B0503020204020204" pitchFamily="34" charset="-122"/>
                <a:ea typeface="Microsoft YaHei" panose="020B0503020204020204" pitchFamily="34" charset="-122"/>
                <a:cs typeface="+mj-cs"/>
              </a:defRPr>
            </a:lvl1pPr>
          </a:lstStyle>
          <a:p>
            <a:r>
              <a:rPr kumimoji="1" lang="zh-CN" altLang="en-US" dirty="0"/>
              <a:t>文献综述  </a:t>
            </a:r>
            <a:r>
              <a:rPr kumimoji="1" lang="zh-CN" altLang="en-US" sz="2000" dirty="0"/>
              <a:t>音高对情绪及认知的影响</a:t>
            </a:r>
            <a:endParaRPr kumimoji="1" lang="zh-CN" altLang="en-US" dirty="0"/>
          </a:p>
        </p:txBody>
      </p:sp>
      <p:sp>
        <p:nvSpPr>
          <p:cNvPr id="2" name="文本框 1">
            <a:extLst>
              <a:ext uri="{FF2B5EF4-FFF2-40B4-BE49-F238E27FC236}">
                <a16:creationId xmlns:a16="http://schemas.microsoft.com/office/drawing/2014/main" id="{52497C39-FCD3-3ED7-7084-BA8DC27374D2}"/>
              </a:ext>
            </a:extLst>
          </p:cNvPr>
          <p:cNvSpPr txBox="1"/>
          <p:nvPr/>
        </p:nvSpPr>
        <p:spPr>
          <a:xfrm>
            <a:off x="4881758" y="2699307"/>
            <a:ext cx="3372061" cy="1197572"/>
          </a:xfrm>
          <a:prstGeom prst="rect">
            <a:avLst/>
          </a:prstGeom>
          <a:noFill/>
        </p:spPr>
        <p:txBody>
          <a:bodyPr wrap="square">
            <a:spAutoFit/>
          </a:bodyPr>
          <a:lstStyle/>
          <a:p>
            <a:pPr marL="285750" indent="-285750">
              <a:lnSpc>
                <a:spcPct val="150000"/>
              </a:lnSpc>
              <a:buFont typeface="Wingdings" pitchFamily="2" charset="2"/>
              <a:buChar char="p"/>
            </a:pPr>
            <a:r>
              <a:rPr lang="zh-CN" altLang="en-US" sz="1600" dirty="0">
                <a:latin typeface="Microsoft YaHei" panose="020B0503020204020204" pitchFamily="34" charset="-122"/>
                <a:ea typeface="Microsoft YaHei" panose="020B0503020204020204" pitchFamily="34" charset="-122"/>
              </a:rPr>
              <a:t>当参与者听低音音乐时，他们感知到的音乐源距离比听高音音乐时更远</a:t>
            </a:r>
            <a:r>
              <a:rPr lang="zh-CN" altLang="en-US" dirty="0">
                <a:latin typeface="Microsoft YaHei" panose="020B0503020204020204" pitchFamily="34" charset="-122"/>
                <a:ea typeface="Microsoft YaHei" panose="020B0503020204020204" pitchFamily="34" charset="-122"/>
              </a:rPr>
              <a:t> </a:t>
            </a:r>
            <a:r>
              <a:rPr lang="en" altLang="zh-CN" sz="1200" dirty="0">
                <a:solidFill>
                  <a:schemeClr val="tx1">
                    <a:lumMod val="50000"/>
                    <a:lumOff val="50000"/>
                  </a:schemeClr>
                </a:solidFill>
                <a:latin typeface="Microsoft YaHei" panose="020B0503020204020204" pitchFamily="34" charset="-122"/>
                <a:ea typeface="Microsoft YaHei" panose="020B0503020204020204" pitchFamily="34" charset="-122"/>
              </a:rPr>
              <a:t>(Sunaga, 2018)</a:t>
            </a:r>
            <a:endParaRPr lang="zh-CN" altLang="en-US" sz="1200" dirty="0">
              <a:latin typeface="Microsoft YaHei" panose="020B0503020204020204" pitchFamily="34" charset="-122"/>
              <a:ea typeface="Microsoft YaHei" panose="020B0503020204020204" pitchFamily="34" charset="-122"/>
            </a:endParaRPr>
          </a:p>
        </p:txBody>
      </p:sp>
      <p:pic>
        <p:nvPicPr>
          <p:cNvPr id="5" name="图片 4">
            <a:extLst>
              <a:ext uri="{FF2B5EF4-FFF2-40B4-BE49-F238E27FC236}">
                <a16:creationId xmlns:a16="http://schemas.microsoft.com/office/drawing/2014/main" id="{3501A9BF-3D58-A7FF-4E36-829C85D57659}"/>
              </a:ext>
            </a:extLst>
          </p:cNvPr>
          <p:cNvPicPr>
            <a:picLocks noChangeAspect="1"/>
          </p:cNvPicPr>
          <p:nvPr/>
        </p:nvPicPr>
        <p:blipFill>
          <a:blip r:embed="rId4"/>
          <a:stretch>
            <a:fillRect/>
          </a:stretch>
        </p:blipFill>
        <p:spPr>
          <a:xfrm>
            <a:off x="4722642" y="4256039"/>
            <a:ext cx="4097544" cy="1595227"/>
          </a:xfrm>
          <a:prstGeom prst="rect">
            <a:avLst/>
          </a:prstGeom>
        </p:spPr>
      </p:pic>
      <p:sp>
        <p:nvSpPr>
          <p:cNvPr id="6" name="文本框 5">
            <a:extLst>
              <a:ext uri="{FF2B5EF4-FFF2-40B4-BE49-F238E27FC236}">
                <a16:creationId xmlns:a16="http://schemas.microsoft.com/office/drawing/2014/main" id="{0A4D8565-2313-86B6-4F55-1470B8688CB7}"/>
              </a:ext>
            </a:extLst>
          </p:cNvPr>
          <p:cNvSpPr txBox="1"/>
          <p:nvPr/>
        </p:nvSpPr>
        <p:spPr>
          <a:xfrm>
            <a:off x="5176015" y="6173724"/>
            <a:ext cx="3455261" cy="584775"/>
          </a:xfrm>
          <a:prstGeom prst="rect">
            <a:avLst/>
          </a:prstGeom>
          <a:noFill/>
        </p:spPr>
        <p:txBody>
          <a:bodyPr wrap="square">
            <a:spAutoFit/>
          </a:bodyPr>
          <a:lstStyle/>
          <a:p>
            <a:r>
              <a:rPr lang="zh-CN" altLang="en-US" sz="800" dirty="0">
                <a:solidFill>
                  <a:schemeClr val="tx1">
                    <a:lumMod val="50000"/>
                    <a:lumOff val="50000"/>
                  </a:schemeClr>
                </a:solidFill>
                <a:latin typeface="Arial" panose="020B0604020202020204" pitchFamily="34" charset="0"/>
                <a:cs typeface="Arial" panose="020B0604020202020204" pitchFamily="34" charset="0"/>
              </a:rPr>
              <a:t>FIGURE 1 Effects of frequency on perceived distance in Study 1A. The first (left) and second (right) axes correspond to the interval and ratio</a:t>
            </a:r>
          </a:p>
          <a:p>
            <a:r>
              <a:rPr lang="zh-CN" altLang="en-US" sz="800" dirty="0">
                <a:solidFill>
                  <a:schemeClr val="tx1">
                    <a:lumMod val="50000"/>
                    <a:lumOff val="50000"/>
                  </a:schemeClr>
                </a:solidFill>
                <a:latin typeface="Arial" panose="020B0604020202020204" pitchFamily="34" charset="0"/>
                <a:cs typeface="Arial" panose="020B0604020202020204" pitchFamily="34" charset="0"/>
              </a:rPr>
              <a:t>scales. respectivelv. Error bars represent the standard errors of the means</a:t>
            </a:r>
          </a:p>
        </p:txBody>
      </p:sp>
      <p:sp>
        <p:nvSpPr>
          <p:cNvPr id="10" name="文本框 9">
            <a:extLst>
              <a:ext uri="{FF2B5EF4-FFF2-40B4-BE49-F238E27FC236}">
                <a16:creationId xmlns:a16="http://schemas.microsoft.com/office/drawing/2014/main" id="{9F42718B-40C0-7E25-B9BB-D879752E7ECB}"/>
              </a:ext>
            </a:extLst>
          </p:cNvPr>
          <p:cNvSpPr txBox="1"/>
          <p:nvPr/>
        </p:nvSpPr>
        <p:spPr>
          <a:xfrm>
            <a:off x="8665198" y="2699307"/>
            <a:ext cx="3372061" cy="1156792"/>
          </a:xfrm>
          <a:prstGeom prst="rect">
            <a:avLst/>
          </a:prstGeom>
          <a:noFill/>
        </p:spPr>
        <p:txBody>
          <a:bodyPr wrap="square">
            <a:spAutoFit/>
          </a:bodyPr>
          <a:lstStyle/>
          <a:p>
            <a:pPr marL="285750" indent="-285750">
              <a:lnSpc>
                <a:spcPct val="150000"/>
              </a:lnSpc>
              <a:buFont typeface="Wingdings" pitchFamily="2" charset="2"/>
              <a:buChar char="p"/>
            </a:pPr>
            <a:r>
              <a:rPr lang="zh-CN" altLang="en-US" sz="1600" dirty="0">
                <a:latin typeface="Microsoft YaHei" panose="020B0503020204020204" pitchFamily="34" charset="-122"/>
                <a:ea typeface="Microsoft YaHei" panose="020B0503020204020204" pitchFamily="34" charset="-122"/>
              </a:rPr>
              <a:t>当在高音背景下，被试感知小球下落的速度的更快，更快地按键释放挡板 </a:t>
            </a:r>
            <a:r>
              <a:rPr lang="en" altLang="zh-CN" sz="1200" dirty="0">
                <a:solidFill>
                  <a:schemeClr val="tx1">
                    <a:lumMod val="50000"/>
                    <a:lumOff val="50000"/>
                  </a:schemeClr>
                </a:solidFill>
                <a:latin typeface="Microsoft YaHei" panose="020B0503020204020204" pitchFamily="34" charset="-122"/>
                <a:ea typeface="Microsoft YaHei" panose="020B0503020204020204" pitchFamily="34" charset="-122"/>
              </a:rPr>
              <a:t>(Zhang </a:t>
            </a:r>
            <a:r>
              <a:rPr lang="zh-CN" altLang="en-US" sz="1200" dirty="0">
                <a:solidFill>
                  <a:schemeClr val="tx1">
                    <a:lumMod val="50000"/>
                    <a:lumOff val="50000"/>
                  </a:schemeClr>
                </a:solidFill>
                <a:latin typeface="Microsoft YaHei" panose="020B0503020204020204" pitchFamily="34" charset="-122"/>
                <a:ea typeface="Microsoft YaHei" panose="020B0503020204020204" pitchFamily="34" charset="-122"/>
              </a:rPr>
              <a:t>等</a:t>
            </a:r>
            <a:r>
              <a:rPr lang="en-US" altLang="zh-CN" sz="1200" dirty="0">
                <a:solidFill>
                  <a:schemeClr val="tx1">
                    <a:lumMod val="50000"/>
                    <a:lumOff val="50000"/>
                  </a:schemeClr>
                </a:solidFill>
                <a:latin typeface="Microsoft YaHei" panose="020B0503020204020204" pitchFamily="34" charset="-122"/>
                <a:ea typeface="Microsoft YaHei" panose="020B0503020204020204" pitchFamily="34" charset="-122"/>
              </a:rPr>
              <a:t>, 2021</a:t>
            </a:r>
            <a:r>
              <a:rPr lang="en" altLang="zh-CN" sz="1200" dirty="0">
                <a:solidFill>
                  <a:schemeClr val="tx1">
                    <a:lumMod val="50000"/>
                    <a:lumOff val="50000"/>
                  </a:schemeClr>
                </a:solidFill>
                <a:latin typeface="Microsoft YaHei" panose="020B0503020204020204" pitchFamily="34" charset="-122"/>
                <a:ea typeface="Microsoft YaHei" panose="020B0503020204020204" pitchFamily="34" charset="-122"/>
              </a:rPr>
              <a:t>)</a:t>
            </a:r>
            <a:endParaRPr lang="zh-CN" altLang="en-US" sz="1200" dirty="0">
              <a:latin typeface="Microsoft YaHei" panose="020B0503020204020204" pitchFamily="34" charset="-122"/>
              <a:ea typeface="Microsoft YaHei" panose="020B0503020204020204" pitchFamily="34" charset="-122"/>
            </a:endParaRPr>
          </a:p>
        </p:txBody>
      </p:sp>
      <p:sp>
        <p:nvSpPr>
          <p:cNvPr id="11" name="文本框 10">
            <a:extLst>
              <a:ext uri="{FF2B5EF4-FFF2-40B4-BE49-F238E27FC236}">
                <a16:creationId xmlns:a16="http://schemas.microsoft.com/office/drawing/2014/main" id="{447A08CF-4ED1-1066-6A51-981783271DFE}"/>
              </a:ext>
            </a:extLst>
          </p:cNvPr>
          <p:cNvSpPr txBox="1"/>
          <p:nvPr/>
        </p:nvSpPr>
        <p:spPr>
          <a:xfrm>
            <a:off x="649095" y="1844388"/>
            <a:ext cx="1242391" cy="369332"/>
          </a:xfrm>
          <a:prstGeom prst="rect">
            <a:avLst/>
          </a:prstGeom>
          <a:noFill/>
        </p:spPr>
        <p:txBody>
          <a:bodyPr wrap="square" rtlCol="0">
            <a:spAutoFit/>
          </a:bodyPr>
          <a:lstStyle/>
          <a:p>
            <a:r>
              <a:rPr kumimoji="1" lang="zh-CN" altLang="en-US" b="1" dirty="0">
                <a:latin typeface="Microsoft YaHei" panose="020B0503020204020204" pitchFamily="34" charset="-122"/>
                <a:ea typeface="Microsoft YaHei" panose="020B0503020204020204" pitchFamily="34" charset="-122"/>
              </a:rPr>
              <a:t>音乐</a:t>
            </a:r>
          </a:p>
        </p:txBody>
      </p:sp>
      <p:cxnSp>
        <p:nvCxnSpPr>
          <p:cNvPr id="12" name="直线箭头连接符 11">
            <a:extLst>
              <a:ext uri="{FF2B5EF4-FFF2-40B4-BE49-F238E27FC236}">
                <a16:creationId xmlns:a16="http://schemas.microsoft.com/office/drawing/2014/main" id="{93001D44-4E15-8A50-F916-64E713F2FF8F}"/>
              </a:ext>
            </a:extLst>
          </p:cNvPr>
          <p:cNvCxnSpPr/>
          <p:nvPr/>
        </p:nvCxnSpPr>
        <p:spPr>
          <a:xfrm>
            <a:off x="1451206" y="2017264"/>
            <a:ext cx="1635926"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CD757078-C4F3-A1F8-0217-D7D4E6787CF4}"/>
              </a:ext>
            </a:extLst>
          </p:cNvPr>
          <p:cNvSpPr txBox="1"/>
          <p:nvPr/>
        </p:nvSpPr>
        <p:spPr>
          <a:xfrm>
            <a:off x="3187082" y="1789167"/>
            <a:ext cx="1988933" cy="461665"/>
          </a:xfrm>
          <a:prstGeom prst="rect">
            <a:avLst/>
          </a:prstGeom>
          <a:noFill/>
        </p:spPr>
        <p:txBody>
          <a:bodyPr wrap="square" rtlCol="0">
            <a:spAutoFit/>
          </a:bodyPr>
          <a:lstStyle/>
          <a:p>
            <a:r>
              <a:rPr kumimoji="1" lang="zh-CN" altLang="en-US" sz="2400" b="1" dirty="0">
                <a:solidFill>
                  <a:schemeClr val="accent1"/>
                </a:solidFill>
                <a:effectLst>
                  <a:outerShdw blurRad="63500" sx="102000" sy="102000" algn="ctr" rotWithShape="0">
                    <a:prstClr val="black">
                      <a:alpha val="40000"/>
                    </a:prstClr>
                  </a:outerShdw>
                </a:effectLst>
                <a:latin typeface="Microsoft YaHei" panose="020B0503020204020204" pitchFamily="34" charset="-122"/>
                <a:ea typeface="Microsoft YaHei" panose="020B0503020204020204" pitchFamily="34" charset="-122"/>
              </a:rPr>
              <a:t>情绪、认知</a:t>
            </a:r>
          </a:p>
        </p:txBody>
      </p:sp>
      <p:cxnSp>
        <p:nvCxnSpPr>
          <p:cNvPr id="14" name="直线箭头连接符 13">
            <a:extLst>
              <a:ext uri="{FF2B5EF4-FFF2-40B4-BE49-F238E27FC236}">
                <a16:creationId xmlns:a16="http://schemas.microsoft.com/office/drawing/2014/main" id="{E21F2213-079D-8053-DA3D-E9B187D50096}"/>
              </a:ext>
            </a:extLst>
          </p:cNvPr>
          <p:cNvCxnSpPr/>
          <p:nvPr/>
        </p:nvCxnSpPr>
        <p:spPr>
          <a:xfrm>
            <a:off x="4992691" y="2013579"/>
            <a:ext cx="1635926"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ED89438C-E182-BCA1-C9BF-8745AB17E165}"/>
              </a:ext>
            </a:extLst>
          </p:cNvPr>
          <p:cNvSpPr txBox="1"/>
          <p:nvPr/>
        </p:nvSpPr>
        <p:spPr>
          <a:xfrm>
            <a:off x="6771414" y="1844388"/>
            <a:ext cx="1242391" cy="369332"/>
          </a:xfrm>
          <a:prstGeom prst="rect">
            <a:avLst/>
          </a:prstGeom>
          <a:noFill/>
        </p:spPr>
        <p:txBody>
          <a:bodyPr wrap="square" rtlCol="0">
            <a:spAutoFit/>
          </a:bodyPr>
          <a:lstStyle/>
          <a:p>
            <a:r>
              <a:rPr kumimoji="1" lang="zh-CN" altLang="en-US" b="1" dirty="0">
                <a:latin typeface="Microsoft YaHei" panose="020B0503020204020204" pitchFamily="34" charset="-122"/>
                <a:ea typeface="Microsoft YaHei" panose="020B0503020204020204" pitchFamily="34" charset="-122"/>
              </a:rPr>
              <a:t>驾驶行为</a:t>
            </a:r>
          </a:p>
        </p:txBody>
      </p:sp>
      <p:pic>
        <p:nvPicPr>
          <p:cNvPr id="16" name="图片 15">
            <a:extLst>
              <a:ext uri="{FF2B5EF4-FFF2-40B4-BE49-F238E27FC236}">
                <a16:creationId xmlns:a16="http://schemas.microsoft.com/office/drawing/2014/main" id="{5B8670C4-58A5-EC67-BEE7-27339B43B854}"/>
              </a:ext>
            </a:extLst>
          </p:cNvPr>
          <p:cNvPicPr>
            <a:picLocks noChangeAspect="1"/>
          </p:cNvPicPr>
          <p:nvPr/>
        </p:nvPicPr>
        <p:blipFill>
          <a:blip r:embed="rId5"/>
          <a:stretch>
            <a:fillRect/>
          </a:stretch>
        </p:blipFill>
        <p:spPr>
          <a:xfrm>
            <a:off x="9453006" y="4223638"/>
            <a:ext cx="2322286" cy="2239347"/>
          </a:xfrm>
          <a:prstGeom prst="rect">
            <a:avLst/>
          </a:prstGeom>
        </p:spPr>
      </p:pic>
    </p:spTree>
    <p:extLst>
      <p:ext uri="{BB962C8B-B14F-4D97-AF65-F5344CB8AC3E}">
        <p14:creationId xmlns:p14="http://schemas.microsoft.com/office/powerpoint/2010/main" val="32085381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5">
            <a:extLst>
              <a:ext uri="{FF2B5EF4-FFF2-40B4-BE49-F238E27FC236}">
                <a16:creationId xmlns:a16="http://schemas.microsoft.com/office/drawing/2014/main" id="{91A12007-A062-E45E-0308-36C39235F6CB}"/>
              </a:ext>
            </a:extLst>
          </p:cNvPr>
          <p:cNvGraphicFramePr>
            <a:graphicFrameLocks noGrp="1"/>
          </p:cNvGraphicFramePr>
          <p:nvPr>
            <p:extLst>
              <p:ext uri="{D42A27DB-BD31-4B8C-83A1-F6EECF244321}">
                <p14:modId xmlns:p14="http://schemas.microsoft.com/office/powerpoint/2010/main" val="4183237050"/>
              </p:ext>
            </p:extLst>
          </p:nvPr>
        </p:nvGraphicFramePr>
        <p:xfrm>
          <a:off x="339443" y="1401408"/>
          <a:ext cx="7788605" cy="5108162"/>
        </p:xfrm>
        <a:graphic>
          <a:graphicData uri="http://schemas.openxmlformats.org/drawingml/2006/table">
            <a:tbl>
              <a:tblPr firstRow="1" bandRow="1" bandCol="1">
                <a:tableStyleId>{5C22544A-7EE6-4342-B048-85BDC9FD1C3A}</a:tableStyleId>
              </a:tblPr>
              <a:tblGrid>
                <a:gridCol w="1302068">
                  <a:extLst>
                    <a:ext uri="{9D8B030D-6E8A-4147-A177-3AD203B41FA5}">
                      <a16:colId xmlns:a16="http://schemas.microsoft.com/office/drawing/2014/main" val="2966649822"/>
                    </a:ext>
                  </a:extLst>
                </a:gridCol>
                <a:gridCol w="6486537">
                  <a:extLst>
                    <a:ext uri="{9D8B030D-6E8A-4147-A177-3AD203B41FA5}">
                      <a16:colId xmlns:a16="http://schemas.microsoft.com/office/drawing/2014/main" val="3820442408"/>
                    </a:ext>
                  </a:extLst>
                </a:gridCol>
              </a:tblGrid>
              <a:tr h="464313">
                <a:tc>
                  <a:txBody>
                    <a:bodyPr/>
                    <a:lstStyle/>
                    <a:p>
                      <a:pPr algn="ctr"/>
                      <a:r>
                        <a:rPr lang="zh-CN" altLang="en-US" sz="1800" dirty="0">
                          <a:solidFill>
                            <a:schemeClr val="bg1"/>
                          </a:solidFill>
                          <a:latin typeface="Microsoft YaHei" panose="020B0503020204020204" pitchFamily="34" charset="-122"/>
                          <a:ea typeface="Microsoft YaHei" panose="020B0503020204020204" pitchFamily="34" charset="-122"/>
                        </a:rPr>
                        <a:t>关注变量</a:t>
                      </a:r>
                    </a:p>
                  </a:txBody>
                  <a:tcPr anchor="ctr">
                    <a:solidFill>
                      <a:srgbClr val="4472C4"/>
                    </a:solidFill>
                  </a:tcPr>
                </a:tc>
                <a:tc>
                  <a:txBody>
                    <a:bodyPr/>
                    <a:lstStyle/>
                    <a:p>
                      <a:pPr algn="ctr"/>
                      <a:r>
                        <a:rPr lang="zh-CN" altLang="en-US" sz="1800" dirty="0">
                          <a:solidFill>
                            <a:schemeClr val="bg1"/>
                          </a:solidFill>
                          <a:latin typeface="Microsoft YaHei" panose="020B0503020204020204" pitchFamily="34" charset="-122"/>
                          <a:ea typeface="Microsoft YaHei" panose="020B0503020204020204" pitchFamily="34" charset="-122"/>
                        </a:rPr>
                        <a:t>发现</a:t>
                      </a:r>
                    </a:p>
                  </a:txBody>
                  <a:tcPr anchor="ctr">
                    <a:solidFill>
                      <a:srgbClr val="4472C4"/>
                    </a:solidFill>
                  </a:tcPr>
                </a:tc>
                <a:extLst>
                  <a:ext uri="{0D108BD9-81ED-4DB2-BD59-A6C34878D82A}">
                    <a16:rowId xmlns:a16="http://schemas.microsoft.com/office/drawing/2014/main" val="2852684604"/>
                  </a:ext>
                </a:extLst>
              </a:tr>
              <a:tr h="568421">
                <a:tc>
                  <a:txBody>
                    <a:bodyPr/>
                    <a:lstStyle/>
                    <a:p>
                      <a:pPr algn="ctr"/>
                      <a:r>
                        <a:rPr lang="zh-CN" altLang="en-US" sz="1400" b="1" dirty="0">
                          <a:solidFill>
                            <a:schemeClr val="bg1"/>
                          </a:solidFill>
                          <a:latin typeface="Microsoft YaHei" panose="020B0503020204020204" pitchFamily="34" charset="-122"/>
                          <a:ea typeface="Microsoft YaHei" panose="020B0503020204020204" pitchFamily="34" charset="-122"/>
                        </a:rPr>
                        <a:t>情绪</a:t>
                      </a:r>
                      <a:endParaRPr lang="en-US" altLang="zh-CN" sz="1400" b="1" dirty="0">
                        <a:solidFill>
                          <a:schemeClr val="bg1"/>
                        </a:solidFill>
                        <a:latin typeface="Microsoft YaHei" panose="020B0503020204020204" pitchFamily="34" charset="-122"/>
                        <a:ea typeface="Microsoft YaHei" panose="020B0503020204020204" pitchFamily="34" charset="-122"/>
                      </a:endParaRPr>
                    </a:p>
                  </a:txBody>
                  <a:tcPr anchor="ctr">
                    <a:solidFill>
                      <a:schemeClr val="tx1">
                        <a:lumMod val="65000"/>
                        <a:lumOff val="35000"/>
                      </a:schemeClr>
                    </a:solidFill>
                  </a:tcPr>
                </a:tc>
                <a:tc>
                  <a:txBody>
                    <a:bodyPr/>
                    <a:lstStyle/>
                    <a:p>
                      <a:pPr algn="l"/>
                      <a:r>
                        <a:rPr lang="zh-CN" altLang="en-US" sz="1200" dirty="0">
                          <a:latin typeface="Microsoft YaHei" panose="020B0503020204020204" pitchFamily="34" charset="-122"/>
                          <a:ea typeface="Microsoft YaHei" panose="020B0503020204020204" pitchFamily="34" charset="-122"/>
                        </a:rPr>
                        <a:t>  在高音下，</a:t>
                      </a:r>
                      <a:r>
                        <a:rPr lang="zh-CN" altLang="en-US" sz="1200" b="1" dirty="0">
                          <a:latin typeface="Microsoft YaHei" panose="020B0503020204020204" pitchFamily="34" charset="-122"/>
                          <a:ea typeface="Microsoft YaHei" panose="020B0503020204020204" pitchFamily="34" charset="-122"/>
                        </a:rPr>
                        <a:t>唤醒度更高、更愉快 </a:t>
                      </a:r>
                      <a:r>
                        <a:rPr lang="en" altLang="zh-CN" sz="1050" dirty="0">
                          <a:solidFill>
                            <a:schemeClr val="tx1">
                              <a:lumMod val="50000"/>
                              <a:lumOff val="50000"/>
                            </a:schemeClr>
                          </a:solidFill>
                          <a:latin typeface="Microsoft YaHei" panose="020B0503020204020204" pitchFamily="34" charset="-122"/>
                          <a:ea typeface="Microsoft YaHei" panose="020B0503020204020204" pitchFamily="34" charset="-122"/>
                        </a:rPr>
                        <a:t>(Ley-Flores </a:t>
                      </a:r>
                      <a:r>
                        <a:rPr lang="zh-CN" altLang="en-US" sz="1050" dirty="0">
                          <a:solidFill>
                            <a:schemeClr val="tx1">
                              <a:lumMod val="50000"/>
                              <a:lumOff val="50000"/>
                            </a:schemeClr>
                          </a:solidFill>
                          <a:latin typeface="Microsoft YaHei" panose="020B0503020204020204" pitchFamily="34" charset="-122"/>
                          <a:ea typeface="Microsoft YaHei" panose="020B0503020204020204" pitchFamily="34" charset="-122"/>
                        </a:rPr>
                        <a:t>等</a:t>
                      </a:r>
                      <a:r>
                        <a:rPr lang="en-US" altLang="zh-CN" sz="1050" dirty="0">
                          <a:solidFill>
                            <a:schemeClr val="tx1">
                              <a:lumMod val="50000"/>
                              <a:lumOff val="50000"/>
                            </a:schemeClr>
                          </a:solidFill>
                          <a:latin typeface="Microsoft YaHei" panose="020B0503020204020204" pitchFamily="34" charset="-122"/>
                          <a:ea typeface="Microsoft YaHei" panose="020B0503020204020204" pitchFamily="34" charset="-122"/>
                        </a:rPr>
                        <a:t>, 2022</a:t>
                      </a:r>
                      <a:r>
                        <a:rPr lang="en" altLang="zh-CN" sz="1050" dirty="0">
                          <a:solidFill>
                            <a:schemeClr val="tx1">
                              <a:lumMod val="50000"/>
                              <a:lumOff val="50000"/>
                            </a:schemeClr>
                          </a:solidFill>
                          <a:latin typeface="Microsoft YaHei" panose="020B0503020204020204" pitchFamily="34" charset="-122"/>
                          <a:ea typeface="Microsoft YaHei" panose="020B0503020204020204" pitchFamily="34" charset="-122"/>
                        </a:rPr>
                        <a:t>)</a:t>
                      </a:r>
                      <a:endParaRPr lang="en" altLang="zh-CN" sz="1200" dirty="0">
                        <a:solidFill>
                          <a:schemeClr val="tx1">
                            <a:lumMod val="50000"/>
                            <a:lumOff val="50000"/>
                          </a:schemeClr>
                        </a:solidFill>
                        <a:latin typeface="Microsoft YaHei" panose="020B0503020204020204" pitchFamily="34" charset="-122"/>
                        <a:ea typeface="Microsoft YaHei" panose="020B0503020204020204" pitchFamily="34" charset="-122"/>
                      </a:endParaRPr>
                    </a:p>
                  </a:txBody>
                  <a:tcPr anchor="ctr">
                    <a:solidFill>
                      <a:schemeClr val="bg1">
                        <a:lumMod val="85000"/>
                      </a:schemeClr>
                    </a:solidFill>
                  </a:tcPr>
                </a:tc>
                <a:extLst>
                  <a:ext uri="{0D108BD9-81ED-4DB2-BD59-A6C34878D82A}">
                    <a16:rowId xmlns:a16="http://schemas.microsoft.com/office/drawing/2014/main" val="1377118995"/>
                  </a:ext>
                </a:extLst>
              </a:tr>
              <a:tr h="899100">
                <a:tc>
                  <a:txBody>
                    <a:bodyPr/>
                    <a:lstStyle/>
                    <a:p>
                      <a:pPr algn="ctr"/>
                      <a:r>
                        <a:rPr lang="zh-CN" altLang="en-US" sz="1400" b="1" dirty="0">
                          <a:solidFill>
                            <a:schemeClr val="bg1"/>
                          </a:solidFill>
                          <a:latin typeface="Microsoft YaHei" panose="020B0503020204020204" pitchFamily="34" charset="-122"/>
                          <a:ea typeface="Microsoft YaHei" panose="020B0503020204020204" pitchFamily="34" charset="-122"/>
                        </a:rPr>
                        <a:t>身体感知</a:t>
                      </a:r>
                    </a:p>
                  </a:txBody>
                  <a:tcPr anchor="ctr">
                    <a:solidFill>
                      <a:schemeClr val="tx1">
                        <a:lumMod val="65000"/>
                        <a:lumOff val="35000"/>
                      </a:schemeClr>
                    </a:solidFill>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1200" dirty="0">
                          <a:latin typeface="Microsoft YaHei" panose="020B0503020204020204" pitchFamily="34" charset="-122"/>
                          <a:ea typeface="Microsoft YaHei" panose="020B0503020204020204" pitchFamily="34" charset="-122"/>
                        </a:rPr>
                        <a:t>  在高音下，拉动手指，会感觉</a:t>
                      </a:r>
                      <a:r>
                        <a:rPr lang="zh-CN" altLang="en-US" sz="1200" b="1" dirty="0">
                          <a:latin typeface="Microsoft YaHei" panose="020B0503020204020204" pitchFamily="34" charset="-122"/>
                          <a:ea typeface="Microsoft YaHei" panose="020B0503020204020204" pitchFamily="34" charset="-122"/>
                        </a:rPr>
                        <a:t>手指更长</a:t>
                      </a:r>
                      <a:r>
                        <a:rPr lang="zh-CN" altLang="en-US" sz="1050" dirty="0">
                          <a:solidFill>
                            <a:schemeClr val="tx1">
                              <a:lumMod val="50000"/>
                              <a:lumOff val="50000"/>
                            </a:schemeClr>
                          </a:solidFill>
                          <a:latin typeface="Microsoft YaHei" panose="020B0503020204020204" pitchFamily="34" charset="-122"/>
                          <a:ea typeface="Microsoft YaHei" panose="020B0503020204020204" pitchFamily="34" charset="-122"/>
                        </a:rPr>
                        <a:t> </a:t>
                      </a:r>
                      <a:r>
                        <a:rPr lang="en" altLang="zh-CN" sz="1050" dirty="0">
                          <a:solidFill>
                            <a:schemeClr val="tx1">
                              <a:lumMod val="50000"/>
                              <a:lumOff val="50000"/>
                            </a:schemeClr>
                          </a:solidFill>
                          <a:latin typeface="Microsoft YaHei" panose="020B0503020204020204" pitchFamily="34" charset="-122"/>
                          <a:ea typeface="Microsoft YaHei" panose="020B0503020204020204" pitchFamily="34" charset="-122"/>
                        </a:rPr>
                        <a:t>(</a:t>
                      </a:r>
                      <a:r>
                        <a:rPr lang="en" altLang="zh-CN" sz="1050" dirty="0" err="1">
                          <a:solidFill>
                            <a:schemeClr val="tx1">
                              <a:lumMod val="50000"/>
                              <a:lumOff val="50000"/>
                            </a:schemeClr>
                          </a:solidFill>
                          <a:latin typeface="Microsoft YaHei" panose="020B0503020204020204" pitchFamily="34" charset="-122"/>
                          <a:ea typeface="Microsoft YaHei" panose="020B0503020204020204" pitchFamily="34" charset="-122"/>
                        </a:rPr>
                        <a:t>Tajadura</a:t>
                      </a:r>
                      <a:r>
                        <a:rPr lang="en" altLang="zh-CN" sz="1050" dirty="0">
                          <a:solidFill>
                            <a:schemeClr val="tx1">
                              <a:lumMod val="50000"/>
                              <a:lumOff val="50000"/>
                            </a:schemeClr>
                          </a:solidFill>
                          <a:latin typeface="Microsoft YaHei" panose="020B0503020204020204" pitchFamily="34" charset="-122"/>
                          <a:ea typeface="Microsoft YaHei" panose="020B0503020204020204" pitchFamily="34" charset="-122"/>
                        </a:rPr>
                        <a:t>-Jiménez </a:t>
                      </a:r>
                      <a:r>
                        <a:rPr lang="zh-CN" altLang="en-US" sz="1050" dirty="0">
                          <a:solidFill>
                            <a:schemeClr val="tx1">
                              <a:lumMod val="50000"/>
                              <a:lumOff val="50000"/>
                            </a:schemeClr>
                          </a:solidFill>
                          <a:latin typeface="Microsoft YaHei" panose="020B0503020204020204" pitchFamily="34" charset="-122"/>
                          <a:ea typeface="Microsoft YaHei" panose="020B0503020204020204" pitchFamily="34" charset="-122"/>
                        </a:rPr>
                        <a:t>等</a:t>
                      </a:r>
                      <a:r>
                        <a:rPr lang="en-US" altLang="zh-CN" sz="1050" dirty="0">
                          <a:solidFill>
                            <a:schemeClr val="tx1">
                              <a:lumMod val="50000"/>
                              <a:lumOff val="50000"/>
                            </a:schemeClr>
                          </a:solidFill>
                          <a:latin typeface="Microsoft YaHei" panose="020B0503020204020204" pitchFamily="34" charset="-122"/>
                          <a:ea typeface="Microsoft YaHei" panose="020B0503020204020204" pitchFamily="34" charset="-122"/>
                        </a:rPr>
                        <a:t>, 2017</a:t>
                      </a:r>
                      <a:r>
                        <a:rPr lang="en" altLang="zh-CN" sz="1050" dirty="0">
                          <a:solidFill>
                            <a:schemeClr val="tx1">
                              <a:lumMod val="50000"/>
                              <a:lumOff val="50000"/>
                            </a:schemeClr>
                          </a:solidFill>
                          <a:latin typeface="Microsoft YaHei" panose="020B0503020204020204" pitchFamily="34" charset="-122"/>
                          <a:ea typeface="Microsoft YaHei" panose="020B0503020204020204" pitchFamily="34" charset="-122"/>
                        </a:rPr>
                        <a:t>)</a:t>
                      </a:r>
                      <a:endParaRPr lang="en" altLang="zh-CN" sz="1200" dirty="0">
                        <a:solidFill>
                          <a:schemeClr val="tx1">
                            <a:lumMod val="50000"/>
                            <a:lumOff val="50000"/>
                          </a:schemeClr>
                        </a:solidFill>
                        <a:latin typeface="Microsoft YaHei" panose="020B0503020204020204" pitchFamily="34" charset="-122"/>
                        <a:ea typeface="Microsoft YaHei" panose="020B0503020204020204" pitchFamily="34" charset="-122"/>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1200" dirty="0">
                          <a:latin typeface="Microsoft YaHei" panose="020B0503020204020204" pitchFamily="34" charset="-122"/>
                          <a:ea typeface="Microsoft YaHei" panose="020B0503020204020204" pitchFamily="34" charset="-122"/>
                        </a:rPr>
                        <a:t>  </a:t>
                      </a:r>
                      <a:r>
                        <a:rPr lang="zh-CN" altLang="en" sz="1200" dirty="0">
                          <a:latin typeface="Microsoft YaHei" panose="020B0503020204020204" pitchFamily="34" charset="-122"/>
                          <a:ea typeface="Microsoft YaHei" panose="020B0503020204020204" pitchFamily="34" charset="-122"/>
                        </a:rPr>
                        <a:t>在</a:t>
                      </a:r>
                      <a:r>
                        <a:rPr lang="zh-CN" altLang="en-US" sz="1200" dirty="0">
                          <a:latin typeface="Microsoft YaHei" panose="020B0503020204020204" pitchFamily="34" charset="-122"/>
                          <a:ea typeface="Microsoft YaHei" panose="020B0503020204020204" pitchFamily="34" charset="-122"/>
                        </a:rPr>
                        <a:t>高音下，抬手，会感觉手</a:t>
                      </a:r>
                      <a:r>
                        <a:rPr lang="zh-CN" altLang="en-US" sz="1200" b="1" dirty="0">
                          <a:latin typeface="Microsoft YaHei" panose="020B0503020204020204" pitchFamily="34" charset="-122"/>
                          <a:ea typeface="Microsoft YaHei" panose="020B0503020204020204" pitchFamily="34" charset="-122"/>
                        </a:rPr>
                        <a:t>更轻</a:t>
                      </a:r>
                      <a:r>
                        <a:rPr lang="zh-CN" altLang="en-US" sz="1050" dirty="0">
                          <a:solidFill>
                            <a:schemeClr val="tx1">
                              <a:lumMod val="50000"/>
                              <a:lumOff val="50000"/>
                            </a:schemeClr>
                          </a:solidFill>
                          <a:latin typeface="Microsoft YaHei" panose="020B0503020204020204" pitchFamily="34" charset="-122"/>
                          <a:ea typeface="Microsoft YaHei" panose="020B0503020204020204" pitchFamily="34" charset="-122"/>
                        </a:rPr>
                        <a:t> </a:t>
                      </a:r>
                      <a:r>
                        <a:rPr lang="en" altLang="zh-CN" sz="1050" dirty="0">
                          <a:solidFill>
                            <a:schemeClr val="tx1">
                              <a:lumMod val="50000"/>
                              <a:lumOff val="50000"/>
                            </a:schemeClr>
                          </a:solidFill>
                          <a:latin typeface="Microsoft YaHei" panose="020B0503020204020204" pitchFamily="34" charset="-122"/>
                          <a:ea typeface="Microsoft YaHei" panose="020B0503020204020204" pitchFamily="34" charset="-122"/>
                        </a:rPr>
                        <a:t>(Ley-Flores </a:t>
                      </a:r>
                      <a:r>
                        <a:rPr lang="zh-CN" altLang="en-US" sz="1050" dirty="0">
                          <a:solidFill>
                            <a:schemeClr val="tx1">
                              <a:lumMod val="50000"/>
                              <a:lumOff val="50000"/>
                            </a:schemeClr>
                          </a:solidFill>
                          <a:latin typeface="Microsoft YaHei" panose="020B0503020204020204" pitchFamily="34" charset="-122"/>
                          <a:ea typeface="Microsoft YaHei" panose="020B0503020204020204" pitchFamily="34" charset="-122"/>
                        </a:rPr>
                        <a:t>等</a:t>
                      </a:r>
                      <a:r>
                        <a:rPr lang="en-US" altLang="zh-CN" sz="1050" dirty="0">
                          <a:solidFill>
                            <a:schemeClr val="tx1">
                              <a:lumMod val="50000"/>
                              <a:lumOff val="50000"/>
                            </a:schemeClr>
                          </a:solidFill>
                          <a:latin typeface="Microsoft YaHei" panose="020B0503020204020204" pitchFamily="34" charset="-122"/>
                          <a:ea typeface="Microsoft YaHei" panose="020B0503020204020204" pitchFamily="34" charset="-122"/>
                        </a:rPr>
                        <a:t>, 2022</a:t>
                      </a:r>
                      <a:r>
                        <a:rPr lang="en" altLang="zh-CN" sz="1050" dirty="0">
                          <a:solidFill>
                            <a:schemeClr val="tx1">
                              <a:lumMod val="50000"/>
                              <a:lumOff val="50000"/>
                            </a:schemeClr>
                          </a:solidFill>
                          <a:latin typeface="Microsoft YaHei" panose="020B0503020204020204" pitchFamily="34" charset="-122"/>
                          <a:ea typeface="Microsoft YaHei" panose="020B0503020204020204" pitchFamily="34" charset="-122"/>
                        </a:rPr>
                        <a:t>)</a:t>
                      </a:r>
                      <a:endParaRPr lang="en" altLang="zh-CN" sz="1200" dirty="0">
                        <a:solidFill>
                          <a:schemeClr val="tx1">
                            <a:lumMod val="50000"/>
                            <a:lumOff val="50000"/>
                          </a:schemeClr>
                        </a:solidFill>
                        <a:latin typeface="Microsoft YaHei" panose="020B0503020204020204" pitchFamily="34" charset="-122"/>
                        <a:ea typeface="Microsoft YaHei" panose="020B0503020204020204" pitchFamily="34" charset="-122"/>
                      </a:endParaRPr>
                    </a:p>
                  </a:txBody>
                  <a:tcPr anchor="ctr">
                    <a:solidFill>
                      <a:schemeClr val="bg1">
                        <a:lumMod val="85000"/>
                      </a:schemeClr>
                    </a:solidFill>
                  </a:tcPr>
                </a:tc>
                <a:extLst>
                  <a:ext uri="{0D108BD9-81ED-4DB2-BD59-A6C34878D82A}">
                    <a16:rowId xmlns:a16="http://schemas.microsoft.com/office/drawing/2014/main" val="246013986"/>
                  </a:ext>
                </a:extLst>
              </a:tr>
              <a:tr h="534540">
                <a:tc>
                  <a:txBody>
                    <a:bodyPr/>
                    <a:lstStyle/>
                    <a:p>
                      <a:pPr algn="ctr"/>
                      <a:r>
                        <a:rPr lang="zh-CN" altLang="en-US" sz="1400" b="1" dirty="0">
                          <a:solidFill>
                            <a:schemeClr val="bg1"/>
                          </a:solidFill>
                          <a:latin typeface="Microsoft YaHei" panose="020B0503020204020204" pitchFamily="34" charset="-122"/>
                          <a:ea typeface="Microsoft YaHei" panose="020B0503020204020204" pitchFamily="34" charset="-122"/>
                        </a:rPr>
                        <a:t>尺寸感知</a:t>
                      </a:r>
                      <a:endParaRPr lang="en-US" altLang="zh-CN" sz="1400" b="1" dirty="0">
                        <a:solidFill>
                          <a:schemeClr val="bg1"/>
                        </a:solidFill>
                        <a:latin typeface="Microsoft YaHei" panose="020B0503020204020204" pitchFamily="34" charset="-122"/>
                        <a:ea typeface="Microsoft YaHei" panose="020B0503020204020204" pitchFamily="34" charset="-122"/>
                      </a:endParaRPr>
                    </a:p>
                  </a:txBody>
                  <a:tcPr anchor="ctr">
                    <a:solidFill>
                      <a:schemeClr val="tx1">
                        <a:lumMod val="65000"/>
                        <a:lumOff val="3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Microsoft YaHei" panose="020B0503020204020204" pitchFamily="34" charset="-122"/>
                          <a:ea typeface="Microsoft YaHei" panose="020B0503020204020204" pitchFamily="34" charset="-122"/>
                        </a:rPr>
                        <a:t>  在高音下，感知</a:t>
                      </a:r>
                      <a:r>
                        <a:rPr lang="zh-CN" altLang="en-US" sz="1200" b="1" dirty="0">
                          <a:latin typeface="Microsoft YaHei" panose="020B0503020204020204" pitchFamily="34" charset="-122"/>
                          <a:ea typeface="Microsoft YaHei" panose="020B0503020204020204" pitchFamily="34" charset="-122"/>
                        </a:rPr>
                        <a:t>尺寸更小</a:t>
                      </a:r>
                      <a:r>
                        <a:rPr lang="zh-CN" altLang="en-US" sz="1200" dirty="0">
                          <a:latin typeface="Microsoft YaHei" panose="020B0503020204020204" pitchFamily="34" charset="-122"/>
                          <a:ea typeface="Microsoft YaHei" panose="020B0503020204020204" pitchFamily="34" charset="-122"/>
                        </a:rPr>
                        <a:t> </a:t>
                      </a:r>
                      <a:r>
                        <a:rPr lang="en" altLang="zh-CN" sz="1050" dirty="0">
                          <a:solidFill>
                            <a:schemeClr val="tx1">
                              <a:lumMod val="50000"/>
                              <a:lumOff val="50000"/>
                            </a:schemeClr>
                          </a:solidFill>
                          <a:latin typeface="Microsoft YaHei" panose="020B0503020204020204" pitchFamily="34" charset="-122"/>
                          <a:ea typeface="Microsoft YaHei" panose="020B0503020204020204" pitchFamily="34" charset="-122"/>
                        </a:rPr>
                        <a:t>(Lowe </a:t>
                      </a:r>
                      <a:r>
                        <a:rPr lang="zh-CN" altLang="en-US" sz="1050" dirty="0">
                          <a:solidFill>
                            <a:schemeClr val="tx1">
                              <a:lumMod val="50000"/>
                              <a:lumOff val="50000"/>
                            </a:schemeClr>
                          </a:solidFill>
                          <a:latin typeface="Microsoft YaHei" panose="020B0503020204020204" pitchFamily="34" charset="-122"/>
                          <a:ea typeface="Microsoft YaHei" panose="020B0503020204020204" pitchFamily="34" charset="-122"/>
                        </a:rPr>
                        <a:t>和 </a:t>
                      </a:r>
                      <a:r>
                        <a:rPr lang="en" altLang="zh-CN" sz="1050" dirty="0">
                          <a:solidFill>
                            <a:schemeClr val="tx1">
                              <a:lumMod val="50000"/>
                              <a:lumOff val="50000"/>
                            </a:schemeClr>
                          </a:solidFill>
                          <a:latin typeface="Microsoft YaHei" panose="020B0503020204020204" pitchFamily="34" charset="-122"/>
                          <a:ea typeface="Microsoft YaHei" panose="020B0503020204020204" pitchFamily="34" charset="-122"/>
                        </a:rPr>
                        <a:t>Haws, 2017)</a:t>
                      </a:r>
                      <a:endParaRPr lang="en" altLang="zh-CN" sz="1200" dirty="0">
                        <a:solidFill>
                          <a:schemeClr val="tx1">
                            <a:lumMod val="50000"/>
                            <a:lumOff val="50000"/>
                          </a:schemeClr>
                        </a:solidFill>
                        <a:latin typeface="Microsoft YaHei" panose="020B0503020204020204" pitchFamily="34" charset="-122"/>
                        <a:ea typeface="Microsoft YaHei" panose="020B0503020204020204" pitchFamily="34" charset="-122"/>
                      </a:endParaRPr>
                    </a:p>
                  </a:txBody>
                  <a:tcPr anchor="ctr">
                    <a:solidFill>
                      <a:schemeClr val="bg1">
                        <a:lumMod val="85000"/>
                      </a:schemeClr>
                    </a:solidFill>
                  </a:tcPr>
                </a:tc>
                <a:extLst>
                  <a:ext uri="{0D108BD9-81ED-4DB2-BD59-A6C34878D82A}">
                    <a16:rowId xmlns:a16="http://schemas.microsoft.com/office/drawing/2014/main" val="2671594108"/>
                  </a:ext>
                </a:extLst>
              </a:tr>
              <a:tr h="576267">
                <a:tc>
                  <a:txBody>
                    <a:bodyPr/>
                    <a:lstStyle/>
                    <a:p>
                      <a:pPr algn="ctr"/>
                      <a:r>
                        <a:rPr lang="zh-CN" altLang="en-US" sz="1400" b="1" dirty="0">
                          <a:solidFill>
                            <a:schemeClr val="bg1"/>
                          </a:solidFill>
                          <a:latin typeface="Microsoft YaHei" panose="020B0503020204020204" pitchFamily="34" charset="-122"/>
                          <a:ea typeface="Microsoft YaHei" panose="020B0503020204020204" pitchFamily="34" charset="-122"/>
                        </a:rPr>
                        <a:t>距离感知</a:t>
                      </a:r>
                      <a:endParaRPr lang="en-US" altLang="zh-CN" sz="1400" b="1" dirty="0">
                        <a:solidFill>
                          <a:schemeClr val="bg1"/>
                        </a:solidFill>
                        <a:latin typeface="Microsoft YaHei" panose="020B0503020204020204" pitchFamily="34" charset="-122"/>
                        <a:ea typeface="Microsoft YaHei" panose="020B0503020204020204" pitchFamily="34" charset="-122"/>
                      </a:endParaRPr>
                    </a:p>
                  </a:txBody>
                  <a:tcPr anchor="ctr">
                    <a:solidFill>
                      <a:schemeClr val="tx1">
                        <a:lumMod val="65000"/>
                        <a:lumOff val="3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Microsoft YaHei" panose="020B0503020204020204" pitchFamily="34" charset="-122"/>
                          <a:ea typeface="Microsoft YaHei" panose="020B0503020204020204" pitchFamily="34" charset="-122"/>
                        </a:rPr>
                        <a:t>  在高音下，感知</a:t>
                      </a:r>
                      <a:r>
                        <a:rPr lang="zh-CN" altLang="en-US" sz="1200" b="1" dirty="0">
                          <a:latin typeface="Microsoft YaHei" panose="020B0503020204020204" pitchFamily="34" charset="-122"/>
                          <a:ea typeface="Microsoft YaHei" panose="020B0503020204020204" pitchFamily="34" charset="-122"/>
                        </a:rPr>
                        <a:t>距离更近</a:t>
                      </a:r>
                      <a:r>
                        <a:rPr lang="zh-CN" altLang="en-US" sz="1200" dirty="0">
                          <a:latin typeface="Microsoft YaHei" panose="020B0503020204020204" pitchFamily="34" charset="-122"/>
                          <a:ea typeface="Microsoft YaHei" panose="020B0503020204020204" pitchFamily="34" charset="-122"/>
                        </a:rPr>
                        <a:t> </a:t>
                      </a:r>
                      <a:r>
                        <a:rPr lang="en" altLang="zh-CN" sz="1050" dirty="0">
                          <a:solidFill>
                            <a:schemeClr val="tx1">
                              <a:lumMod val="50000"/>
                              <a:lumOff val="50000"/>
                            </a:schemeClr>
                          </a:solidFill>
                          <a:latin typeface="Microsoft YaHei" panose="020B0503020204020204" pitchFamily="34" charset="-122"/>
                          <a:ea typeface="Microsoft YaHei" panose="020B0503020204020204" pitchFamily="34" charset="-122"/>
                        </a:rPr>
                        <a:t>(Sunaga, 2018)</a:t>
                      </a:r>
                      <a:endParaRPr lang="en" altLang="zh-CN" sz="1200" dirty="0">
                        <a:solidFill>
                          <a:schemeClr val="tx1">
                            <a:lumMod val="50000"/>
                            <a:lumOff val="50000"/>
                          </a:schemeClr>
                        </a:solidFill>
                        <a:latin typeface="Microsoft YaHei" panose="020B0503020204020204" pitchFamily="34" charset="-122"/>
                        <a:ea typeface="Microsoft YaHei" panose="020B0503020204020204" pitchFamily="34" charset="-122"/>
                      </a:endParaRPr>
                    </a:p>
                  </a:txBody>
                  <a:tcPr anchor="ctr">
                    <a:solidFill>
                      <a:schemeClr val="bg1">
                        <a:lumMod val="85000"/>
                      </a:schemeClr>
                    </a:solidFill>
                  </a:tcPr>
                </a:tc>
                <a:extLst>
                  <a:ext uri="{0D108BD9-81ED-4DB2-BD59-A6C34878D82A}">
                    <a16:rowId xmlns:a16="http://schemas.microsoft.com/office/drawing/2014/main" val="1843568794"/>
                  </a:ext>
                </a:extLst>
              </a:tr>
              <a:tr h="5059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dirty="0">
                          <a:solidFill>
                            <a:schemeClr val="bg1"/>
                          </a:solidFill>
                          <a:latin typeface="Microsoft YaHei" panose="020B0503020204020204" pitchFamily="34" charset="-122"/>
                          <a:ea typeface="Microsoft YaHei" panose="020B0503020204020204" pitchFamily="34" charset="-122"/>
                        </a:rPr>
                        <a:t>速度感知</a:t>
                      </a:r>
                      <a:endParaRPr lang="en-US" altLang="zh-CN" sz="1400" b="1" dirty="0">
                        <a:solidFill>
                          <a:schemeClr val="bg1"/>
                        </a:solidFill>
                        <a:latin typeface="Microsoft YaHei" panose="020B0503020204020204" pitchFamily="34" charset="-122"/>
                        <a:ea typeface="Microsoft YaHei" panose="020B0503020204020204" pitchFamily="34" charset="-122"/>
                      </a:endParaRPr>
                    </a:p>
                  </a:txBody>
                  <a:tcPr anchor="ctr">
                    <a:solidFill>
                      <a:schemeClr val="tx1">
                        <a:lumMod val="65000"/>
                        <a:lumOff val="3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Microsoft YaHei" panose="020B0503020204020204" pitchFamily="34" charset="-122"/>
                          <a:ea typeface="Microsoft YaHei" panose="020B0503020204020204" pitchFamily="34" charset="-122"/>
                        </a:rPr>
                        <a:t>  在高音下，</a:t>
                      </a:r>
                      <a:r>
                        <a:rPr lang="zh-CN" altLang="en-US" sz="1200" b="1" dirty="0">
                          <a:latin typeface="Microsoft YaHei" panose="020B0503020204020204" pitchFamily="34" charset="-122"/>
                          <a:ea typeface="Microsoft YaHei" panose="020B0503020204020204" pitchFamily="34" charset="-122"/>
                        </a:rPr>
                        <a:t>感知小球掉落速度更快</a:t>
                      </a:r>
                      <a:r>
                        <a:rPr lang="zh-CN" altLang="en-US" sz="1200" dirty="0">
                          <a:latin typeface="Microsoft YaHei" panose="020B0503020204020204" pitchFamily="34" charset="-122"/>
                          <a:ea typeface="Microsoft YaHei" panose="020B0503020204020204" pitchFamily="34" charset="-122"/>
                        </a:rPr>
                        <a:t> </a:t>
                      </a:r>
                      <a:r>
                        <a:rPr lang="en" altLang="zh-CN" sz="1050" dirty="0">
                          <a:solidFill>
                            <a:schemeClr val="tx1">
                              <a:lumMod val="50000"/>
                              <a:lumOff val="50000"/>
                            </a:schemeClr>
                          </a:solidFill>
                          <a:latin typeface="Microsoft YaHei" panose="020B0503020204020204" pitchFamily="34" charset="-122"/>
                          <a:ea typeface="Microsoft YaHei" panose="020B0503020204020204" pitchFamily="34" charset="-122"/>
                        </a:rPr>
                        <a:t>(Zhang </a:t>
                      </a:r>
                      <a:r>
                        <a:rPr lang="zh-CN" altLang="en-US" sz="1050" dirty="0">
                          <a:solidFill>
                            <a:schemeClr val="tx1">
                              <a:lumMod val="50000"/>
                              <a:lumOff val="50000"/>
                            </a:schemeClr>
                          </a:solidFill>
                          <a:latin typeface="Microsoft YaHei" panose="020B0503020204020204" pitchFamily="34" charset="-122"/>
                          <a:ea typeface="Microsoft YaHei" panose="020B0503020204020204" pitchFamily="34" charset="-122"/>
                        </a:rPr>
                        <a:t>等</a:t>
                      </a:r>
                      <a:r>
                        <a:rPr lang="en-US" altLang="zh-CN" sz="1050" dirty="0">
                          <a:solidFill>
                            <a:schemeClr val="tx1">
                              <a:lumMod val="50000"/>
                              <a:lumOff val="50000"/>
                            </a:schemeClr>
                          </a:solidFill>
                          <a:latin typeface="Microsoft YaHei" panose="020B0503020204020204" pitchFamily="34" charset="-122"/>
                          <a:ea typeface="Microsoft YaHei" panose="020B0503020204020204" pitchFamily="34" charset="-122"/>
                        </a:rPr>
                        <a:t>, 2021</a:t>
                      </a:r>
                      <a:r>
                        <a:rPr lang="en" altLang="zh-CN" sz="1050" dirty="0">
                          <a:solidFill>
                            <a:schemeClr val="tx1">
                              <a:lumMod val="50000"/>
                              <a:lumOff val="50000"/>
                            </a:schemeClr>
                          </a:solidFill>
                          <a:latin typeface="Microsoft YaHei" panose="020B0503020204020204" pitchFamily="34" charset="-122"/>
                          <a:ea typeface="Microsoft YaHei" panose="020B0503020204020204" pitchFamily="34" charset="-122"/>
                        </a:rPr>
                        <a:t>)</a:t>
                      </a:r>
                      <a:endParaRPr lang="en" altLang="zh-CN" sz="1200" dirty="0">
                        <a:solidFill>
                          <a:schemeClr val="tx1">
                            <a:lumMod val="50000"/>
                            <a:lumOff val="50000"/>
                          </a:schemeClr>
                        </a:solidFill>
                        <a:latin typeface="Microsoft YaHei" panose="020B0503020204020204" pitchFamily="34" charset="-122"/>
                        <a:ea typeface="Microsoft YaHei" panose="020B0503020204020204" pitchFamily="34" charset="-122"/>
                      </a:endParaRPr>
                    </a:p>
                  </a:txBody>
                  <a:tcPr anchor="ctr">
                    <a:solidFill>
                      <a:schemeClr val="bg1">
                        <a:lumMod val="85000"/>
                      </a:schemeClr>
                    </a:solidFill>
                  </a:tcPr>
                </a:tc>
                <a:extLst>
                  <a:ext uri="{0D108BD9-81ED-4DB2-BD59-A6C34878D82A}">
                    <a16:rowId xmlns:a16="http://schemas.microsoft.com/office/drawing/2014/main" val="2475790832"/>
                  </a:ext>
                </a:extLst>
              </a:tr>
              <a:tr h="6043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dirty="0">
                          <a:solidFill>
                            <a:schemeClr val="bg1"/>
                          </a:solidFill>
                          <a:latin typeface="Microsoft YaHei" panose="020B0503020204020204" pitchFamily="34" charset="-122"/>
                          <a:ea typeface="Microsoft YaHei" panose="020B0503020204020204" pitchFamily="34" charset="-122"/>
                        </a:rPr>
                        <a:t>空间位置感知</a:t>
                      </a:r>
                      <a:endParaRPr lang="en-US" altLang="zh-CN" sz="1400" b="1" dirty="0">
                        <a:solidFill>
                          <a:schemeClr val="bg1"/>
                        </a:solidFill>
                        <a:latin typeface="Microsoft YaHei" panose="020B0503020204020204" pitchFamily="34" charset="-122"/>
                        <a:ea typeface="Microsoft YaHei" panose="020B0503020204020204" pitchFamily="34" charset="-122"/>
                      </a:endParaRPr>
                    </a:p>
                  </a:txBody>
                  <a:tcPr anchor="ctr">
                    <a:solidFill>
                      <a:schemeClr val="tx1">
                        <a:lumMod val="65000"/>
                        <a:lumOff val="35000"/>
                      </a:schemeClr>
                    </a:solidFill>
                  </a:tcPr>
                </a:tc>
                <a:tc>
                  <a:txBody>
                    <a:bodyPr/>
                    <a:lstStyle/>
                    <a:p>
                      <a:pPr algn="l"/>
                      <a:r>
                        <a:rPr lang="zh-CN" altLang="en-US" sz="1200" dirty="0">
                          <a:latin typeface="Microsoft YaHei" panose="020B0503020204020204" pitchFamily="34" charset="-122"/>
                          <a:ea typeface="Microsoft YaHei" panose="020B0503020204020204" pitchFamily="34" charset="-122"/>
                        </a:rPr>
                        <a:t>  </a:t>
                      </a:r>
                      <a:r>
                        <a:rPr lang="zh-CN" altLang="en" sz="1200" dirty="0">
                          <a:latin typeface="Microsoft YaHei" panose="020B0503020204020204" pitchFamily="34" charset="-122"/>
                          <a:ea typeface="Microsoft YaHei" panose="020B0503020204020204" pitchFamily="34" charset="-122"/>
                        </a:rPr>
                        <a:t>音乐</a:t>
                      </a:r>
                      <a:r>
                        <a:rPr lang="en-US" altLang="zh-CN" sz="1200" dirty="0">
                          <a:latin typeface="Microsoft YaHei" panose="020B0503020204020204" pitchFamily="34" charset="-122"/>
                          <a:ea typeface="Microsoft YaHei" panose="020B0503020204020204" pitchFamily="34" charset="-122"/>
                        </a:rPr>
                        <a:t>-</a:t>
                      </a:r>
                      <a:r>
                        <a:rPr lang="zh-CN" altLang="en-US" sz="1200" dirty="0">
                          <a:latin typeface="Microsoft YaHei" panose="020B0503020204020204" pitchFamily="34" charset="-122"/>
                          <a:ea typeface="Microsoft YaHei" panose="020B0503020204020204" pitchFamily="34" charset="-122"/>
                        </a:rPr>
                        <a:t>空间关联</a:t>
                      </a:r>
                      <a:r>
                        <a:rPr lang="en" altLang="zh-CN" sz="1200" dirty="0">
                          <a:latin typeface="Microsoft YaHei" panose="020B0503020204020204" pitchFamily="34" charset="-122"/>
                          <a:ea typeface="Microsoft YaHei" panose="020B0503020204020204" pitchFamily="34" charset="-122"/>
                        </a:rPr>
                        <a:t>SMARC </a:t>
                      </a:r>
                      <a:r>
                        <a:rPr lang="zh-CN" altLang="en-US" sz="1200" dirty="0">
                          <a:latin typeface="Microsoft YaHei" panose="020B0503020204020204" pitchFamily="34" charset="-122"/>
                          <a:ea typeface="Microsoft YaHei" panose="020B0503020204020204" pitchFamily="34" charset="-122"/>
                        </a:rPr>
                        <a:t>效应，</a:t>
                      </a:r>
                      <a:r>
                        <a:rPr lang="zh-CN" altLang="en-US" sz="1200" b="1" dirty="0">
                          <a:latin typeface="Microsoft YaHei" panose="020B0503020204020204" pitchFamily="34" charset="-122"/>
                          <a:ea typeface="Microsoft YaHei" panose="020B0503020204020204" pitchFamily="34" charset="-122"/>
                        </a:rPr>
                        <a:t>高音对应垂直高、低音对应低位置</a:t>
                      </a:r>
                      <a:r>
                        <a:rPr lang="zh-CN" altLang="en-US" sz="1050" dirty="0">
                          <a:solidFill>
                            <a:schemeClr val="tx1">
                              <a:lumMod val="50000"/>
                              <a:lumOff val="50000"/>
                            </a:schemeClr>
                          </a:solidFill>
                          <a:latin typeface="Microsoft YaHei" panose="020B0503020204020204" pitchFamily="34" charset="-122"/>
                          <a:ea typeface="Microsoft YaHei" panose="020B0503020204020204" pitchFamily="34" charset="-122"/>
                        </a:rPr>
                        <a:t> </a:t>
                      </a:r>
                      <a:r>
                        <a:rPr lang="en-US" altLang="zh-CN" sz="1050" dirty="0">
                          <a:solidFill>
                            <a:schemeClr val="tx1">
                              <a:lumMod val="50000"/>
                              <a:lumOff val="50000"/>
                            </a:schemeClr>
                          </a:solidFill>
                          <a:latin typeface="Microsoft YaHei" panose="020B0503020204020204" pitchFamily="34" charset="-122"/>
                          <a:ea typeface="Microsoft YaHei" panose="020B0503020204020204" pitchFamily="34" charset="-122"/>
                        </a:rPr>
                        <a:t>(</a:t>
                      </a:r>
                      <a:r>
                        <a:rPr lang="en" altLang="zh-CN" sz="1050" dirty="0" err="1">
                          <a:solidFill>
                            <a:schemeClr val="tx1">
                              <a:lumMod val="50000"/>
                              <a:lumOff val="50000"/>
                            </a:schemeClr>
                          </a:solidFill>
                          <a:latin typeface="Microsoft YaHei" panose="020B0503020204020204" pitchFamily="34" charset="-122"/>
                          <a:ea typeface="Microsoft YaHei" panose="020B0503020204020204" pitchFamily="34" charset="-122"/>
                        </a:rPr>
                        <a:t>Pitteri</a:t>
                      </a:r>
                      <a:r>
                        <a:rPr lang="zh-CN" altLang="en-US" sz="1050" dirty="0">
                          <a:solidFill>
                            <a:schemeClr val="tx1">
                              <a:lumMod val="50000"/>
                              <a:lumOff val="50000"/>
                            </a:schemeClr>
                          </a:solidFill>
                          <a:latin typeface="Microsoft YaHei" panose="020B0503020204020204" pitchFamily="34" charset="-122"/>
                          <a:ea typeface="Microsoft YaHei" panose="020B0503020204020204" pitchFamily="34" charset="-122"/>
                        </a:rPr>
                        <a:t>，</a:t>
                      </a:r>
                      <a:r>
                        <a:rPr lang="en-US" altLang="zh-CN" sz="1050" dirty="0">
                          <a:solidFill>
                            <a:schemeClr val="tx1">
                              <a:lumMod val="50000"/>
                              <a:lumOff val="50000"/>
                            </a:schemeClr>
                          </a:solidFill>
                          <a:latin typeface="Microsoft YaHei" panose="020B0503020204020204" pitchFamily="34" charset="-122"/>
                          <a:ea typeface="Microsoft YaHei" panose="020B0503020204020204" pitchFamily="34" charset="-122"/>
                        </a:rPr>
                        <a:t>2017</a:t>
                      </a:r>
                      <a:r>
                        <a:rPr lang="zh-CN" altLang="en-US" sz="1050" dirty="0">
                          <a:solidFill>
                            <a:schemeClr val="tx1">
                              <a:lumMod val="50000"/>
                              <a:lumOff val="50000"/>
                            </a:schemeClr>
                          </a:solidFill>
                          <a:latin typeface="Microsoft YaHei" panose="020B0503020204020204" pitchFamily="34" charset="-122"/>
                          <a:ea typeface="Microsoft YaHei" panose="020B0503020204020204" pitchFamily="34" charset="-122"/>
                        </a:rPr>
                        <a:t>；</a:t>
                      </a:r>
                      <a:r>
                        <a:rPr lang="en-US" altLang="zh-CN" sz="1050" dirty="0">
                          <a:solidFill>
                            <a:schemeClr val="tx1">
                              <a:lumMod val="50000"/>
                              <a:lumOff val="50000"/>
                            </a:schemeClr>
                          </a:solidFill>
                          <a:latin typeface="Microsoft YaHei" panose="020B0503020204020204" pitchFamily="34" charset="-122"/>
                          <a:ea typeface="Microsoft YaHei" panose="020B0503020204020204" pitchFamily="34" charset="-122"/>
                        </a:rPr>
                        <a:t>2020)</a:t>
                      </a:r>
                      <a:r>
                        <a:rPr lang="zh-CN" altLang="en-US" sz="1050" dirty="0">
                          <a:solidFill>
                            <a:schemeClr val="tx1">
                              <a:lumMod val="50000"/>
                              <a:lumOff val="50000"/>
                            </a:schemeClr>
                          </a:solidFill>
                          <a:latin typeface="Microsoft YaHei" panose="020B0503020204020204" pitchFamily="34" charset="-122"/>
                          <a:ea typeface="Microsoft YaHei" panose="020B0503020204020204" pitchFamily="34" charset="-122"/>
                        </a:rPr>
                        <a:t>。</a:t>
                      </a:r>
                      <a:endParaRPr lang="zh-CN" altLang="en-US" sz="1200" dirty="0">
                        <a:solidFill>
                          <a:schemeClr val="tx1">
                            <a:lumMod val="50000"/>
                            <a:lumOff val="50000"/>
                          </a:schemeClr>
                        </a:solidFill>
                        <a:latin typeface="Microsoft YaHei" panose="020B0503020204020204" pitchFamily="34" charset="-122"/>
                        <a:ea typeface="Microsoft YaHei" panose="020B0503020204020204" pitchFamily="34" charset="-122"/>
                      </a:endParaRPr>
                    </a:p>
                  </a:txBody>
                  <a:tcPr anchor="ctr">
                    <a:solidFill>
                      <a:schemeClr val="bg1">
                        <a:lumMod val="85000"/>
                      </a:schemeClr>
                    </a:solidFill>
                  </a:tcPr>
                </a:tc>
                <a:extLst>
                  <a:ext uri="{0D108BD9-81ED-4DB2-BD59-A6C34878D82A}">
                    <a16:rowId xmlns:a16="http://schemas.microsoft.com/office/drawing/2014/main" val="3327646039"/>
                  </a:ext>
                </a:extLst>
              </a:tr>
              <a:tr h="464313">
                <a:tc>
                  <a:txBody>
                    <a:bodyPr/>
                    <a:lstStyle/>
                    <a:p>
                      <a:pPr algn="ctr"/>
                      <a:r>
                        <a:rPr lang="zh-CN" altLang="en-US" sz="1400" b="1" dirty="0">
                          <a:solidFill>
                            <a:schemeClr val="bg1"/>
                          </a:solidFill>
                          <a:latin typeface="Microsoft YaHei" panose="020B0503020204020204" pitchFamily="34" charset="-122"/>
                          <a:ea typeface="Microsoft YaHei" panose="020B0503020204020204" pitchFamily="34" charset="-122"/>
                        </a:rPr>
                        <a:t>明暗感知</a:t>
                      </a:r>
                      <a:endParaRPr lang="en-US" altLang="zh-CN" sz="1400" b="1" dirty="0">
                        <a:solidFill>
                          <a:schemeClr val="bg1"/>
                        </a:solidFill>
                        <a:latin typeface="Microsoft YaHei" panose="020B0503020204020204" pitchFamily="34" charset="-122"/>
                        <a:ea typeface="Microsoft YaHei" panose="020B0503020204020204" pitchFamily="34" charset="-122"/>
                      </a:endParaRPr>
                    </a:p>
                  </a:txBody>
                  <a:tcPr anchor="ctr">
                    <a:solidFill>
                      <a:schemeClr val="tx1">
                        <a:lumMod val="65000"/>
                        <a:lumOff val="35000"/>
                      </a:schemeClr>
                    </a:solidFill>
                  </a:tcPr>
                </a:tc>
                <a:tc>
                  <a:txBody>
                    <a:bodyPr/>
                    <a:lstStyle/>
                    <a:p>
                      <a:pPr algn="l"/>
                      <a:r>
                        <a:rPr lang="zh-CN" altLang="en-US" sz="1200" dirty="0">
                          <a:latin typeface="Microsoft YaHei" panose="020B0503020204020204" pitchFamily="34" charset="-122"/>
                          <a:ea typeface="Microsoft YaHei" panose="020B0503020204020204" pitchFamily="34" charset="-122"/>
                        </a:rPr>
                        <a:t>  高音下，</a:t>
                      </a:r>
                      <a:r>
                        <a:rPr lang="zh-CN" altLang="en-US" sz="1200" b="1" dirty="0">
                          <a:latin typeface="Microsoft YaHei" panose="020B0503020204020204" pitchFamily="34" charset="-122"/>
                          <a:ea typeface="Microsoft YaHei" panose="020B0503020204020204" pitchFamily="34" charset="-122"/>
                        </a:rPr>
                        <a:t>有更明亮的感觉 </a:t>
                      </a:r>
                      <a:r>
                        <a:rPr lang="en" altLang="zh-CN" sz="1050" dirty="0">
                          <a:solidFill>
                            <a:schemeClr val="tx1">
                              <a:lumMod val="50000"/>
                              <a:lumOff val="50000"/>
                            </a:schemeClr>
                          </a:solidFill>
                          <a:latin typeface="Microsoft YaHei" panose="020B0503020204020204" pitchFamily="34" charset="-122"/>
                          <a:ea typeface="Microsoft YaHei" panose="020B0503020204020204" pitchFamily="34" charset="-122"/>
                        </a:rPr>
                        <a:t>(Marks, 1987</a:t>
                      </a:r>
                      <a:r>
                        <a:rPr lang="en-US" altLang="zh-CN" sz="1050" dirty="0">
                          <a:solidFill>
                            <a:schemeClr val="tx1">
                              <a:lumMod val="50000"/>
                              <a:lumOff val="50000"/>
                            </a:schemeClr>
                          </a:solidFill>
                          <a:latin typeface="Microsoft YaHei" panose="020B0503020204020204" pitchFamily="34" charset="-122"/>
                          <a:ea typeface="Microsoft YaHei" panose="020B0503020204020204" pitchFamily="34" charset="-122"/>
                        </a:rPr>
                        <a:t>)</a:t>
                      </a:r>
                      <a:endParaRPr lang="en-US" altLang="zh-CN" sz="1200" dirty="0">
                        <a:solidFill>
                          <a:schemeClr val="tx1">
                            <a:lumMod val="50000"/>
                            <a:lumOff val="50000"/>
                          </a:schemeClr>
                        </a:solidFill>
                        <a:latin typeface="Microsoft YaHei" panose="020B0503020204020204" pitchFamily="34" charset="-122"/>
                        <a:ea typeface="Microsoft YaHei" panose="020B0503020204020204" pitchFamily="34" charset="-122"/>
                      </a:endParaRPr>
                    </a:p>
                  </a:txBody>
                  <a:tcPr anchor="ctr">
                    <a:solidFill>
                      <a:schemeClr val="bg1">
                        <a:lumMod val="85000"/>
                      </a:schemeClr>
                    </a:solidFill>
                  </a:tcPr>
                </a:tc>
                <a:extLst>
                  <a:ext uri="{0D108BD9-81ED-4DB2-BD59-A6C34878D82A}">
                    <a16:rowId xmlns:a16="http://schemas.microsoft.com/office/drawing/2014/main" val="1778001146"/>
                  </a:ext>
                </a:extLst>
              </a:tr>
              <a:tr h="4908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dirty="0">
                          <a:solidFill>
                            <a:schemeClr val="bg1"/>
                          </a:solidFill>
                          <a:latin typeface="Microsoft YaHei" panose="020B0503020204020204" pitchFamily="34" charset="-122"/>
                          <a:ea typeface="Microsoft YaHei" panose="020B0503020204020204" pitchFamily="34" charset="-122"/>
                        </a:rPr>
                        <a:t>运动控制</a:t>
                      </a:r>
                      <a:endParaRPr lang="en-US" altLang="zh-CN" sz="1400" b="1" dirty="0">
                        <a:solidFill>
                          <a:schemeClr val="bg1"/>
                        </a:solidFill>
                        <a:latin typeface="Microsoft YaHei" panose="020B0503020204020204" pitchFamily="34" charset="-122"/>
                        <a:ea typeface="Microsoft YaHei" panose="020B0503020204020204" pitchFamily="34" charset="-122"/>
                      </a:endParaRPr>
                    </a:p>
                  </a:txBody>
                  <a:tcPr anchor="ctr">
                    <a:solidFill>
                      <a:schemeClr val="tx1">
                        <a:lumMod val="65000"/>
                        <a:lumOff val="35000"/>
                      </a:schemeClr>
                    </a:solidFill>
                  </a:tcPr>
                </a:tc>
                <a:tc>
                  <a:txBody>
                    <a:bodyPr/>
                    <a:lstStyle/>
                    <a:p>
                      <a:pPr algn="l"/>
                      <a:r>
                        <a:rPr lang="zh-CN" altLang="en-US" sz="1200" dirty="0">
                          <a:latin typeface="Microsoft YaHei" panose="020B0503020204020204" pitchFamily="34" charset="-122"/>
                          <a:ea typeface="Microsoft YaHei" panose="020B0503020204020204" pitchFamily="34" charset="-122"/>
                        </a:rPr>
                        <a:t>  在高音下，</a:t>
                      </a:r>
                      <a:r>
                        <a:rPr lang="zh-CN" altLang="en-US" sz="1200" b="1" dirty="0">
                          <a:latin typeface="Microsoft YaHei" panose="020B0503020204020204" pitchFamily="34" charset="-122"/>
                          <a:ea typeface="Microsoft YaHei" panose="020B0503020204020204" pitchFamily="34" charset="-122"/>
                        </a:rPr>
                        <a:t>抬手速度更快 </a:t>
                      </a:r>
                      <a:r>
                        <a:rPr lang="en" altLang="zh-CN" sz="1200" dirty="0">
                          <a:latin typeface="Microsoft YaHei" panose="020B0503020204020204" pitchFamily="34" charset="-122"/>
                          <a:ea typeface="Microsoft YaHei" panose="020B0503020204020204" pitchFamily="34" charset="-122"/>
                        </a:rPr>
                        <a:t>(Ley-Flores </a:t>
                      </a:r>
                      <a:r>
                        <a:rPr lang="zh-CN" altLang="en-US" sz="1200" dirty="0">
                          <a:latin typeface="Microsoft YaHei" panose="020B0503020204020204" pitchFamily="34" charset="-122"/>
                          <a:ea typeface="Microsoft YaHei" panose="020B0503020204020204" pitchFamily="34" charset="-122"/>
                        </a:rPr>
                        <a:t>等</a:t>
                      </a:r>
                      <a:r>
                        <a:rPr lang="en-US" altLang="zh-CN" sz="1200" dirty="0">
                          <a:latin typeface="Microsoft YaHei" panose="020B0503020204020204" pitchFamily="34" charset="-122"/>
                          <a:ea typeface="Microsoft YaHei" panose="020B0503020204020204" pitchFamily="34" charset="-122"/>
                        </a:rPr>
                        <a:t>, 2022</a:t>
                      </a:r>
                      <a:r>
                        <a:rPr lang="en" altLang="zh-CN" sz="1200" dirty="0">
                          <a:latin typeface="Microsoft YaHei" panose="020B0503020204020204" pitchFamily="34" charset="-122"/>
                          <a:ea typeface="Microsoft YaHei" panose="020B0503020204020204" pitchFamily="34" charset="-122"/>
                        </a:rPr>
                        <a:t>)</a:t>
                      </a:r>
                      <a:endParaRPr lang="zh-CN" altLang="en-US" sz="1200" dirty="0">
                        <a:latin typeface="Microsoft YaHei" panose="020B0503020204020204" pitchFamily="34" charset="-122"/>
                        <a:ea typeface="Microsoft YaHei" panose="020B0503020204020204" pitchFamily="34" charset="-122"/>
                      </a:endParaRPr>
                    </a:p>
                  </a:txBody>
                  <a:tcPr anchor="ctr">
                    <a:solidFill>
                      <a:schemeClr val="bg1">
                        <a:lumMod val="85000"/>
                      </a:schemeClr>
                    </a:solidFill>
                  </a:tcPr>
                </a:tc>
                <a:extLst>
                  <a:ext uri="{0D108BD9-81ED-4DB2-BD59-A6C34878D82A}">
                    <a16:rowId xmlns:a16="http://schemas.microsoft.com/office/drawing/2014/main" val="2229493103"/>
                  </a:ext>
                </a:extLst>
              </a:tr>
            </a:tbl>
          </a:graphicData>
        </a:graphic>
      </p:graphicFrame>
      <p:sp>
        <p:nvSpPr>
          <p:cNvPr id="3" name="内容占位符 2">
            <a:extLst>
              <a:ext uri="{FF2B5EF4-FFF2-40B4-BE49-F238E27FC236}">
                <a16:creationId xmlns:a16="http://schemas.microsoft.com/office/drawing/2014/main" id="{D3B41A26-2EE3-03FB-A233-4A0C60DE846E}"/>
              </a:ext>
            </a:extLst>
          </p:cNvPr>
          <p:cNvSpPr txBox="1">
            <a:spLocks/>
          </p:cNvSpPr>
          <p:nvPr/>
        </p:nvSpPr>
        <p:spPr>
          <a:xfrm>
            <a:off x="8272929" y="1492809"/>
            <a:ext cx="3431391" cy="4351338"/>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系统字体常规体"/>
              <a:buChar char="✤"/>
            </a:pPr>
            <a:r>
              <a:rPr kumimoji="1" lang="zh-CN" altLang="en-US" b="1" dirty="0"/>
              <a:t>问题提出</a:t>
            </a:r>
            <a:r>
              <a:rPr kumimoji="1" lang="en-US" altLang="zh-CN" b="1" dirty="0"/>
              <a:t>2:</a:t>
            </a:r>
            <a:endParaRPr kumimoji="1" lang="zh-CN" altLang="en-US" b="1" dirty="0"/>
          </a:p>
        </p:txBody>
      </p:sp>
      <p:sp>
        <p:nvSpPr>
          <p:cNvPr id="4" name="文本框 3">
            <a:extLst>
              <a:ext uri="{FF2B5EF4-FFF2-40B4-BE49-F238E27FC236}">
                <a16:creationId xmlns:a16="http://schemas.microsoft.com/office/drawing/2014/main" id="{9B43F33D-7EE6-28B5-2F74-3600EF4A3C65}"/>
              </a:ext>
            </a:extLst>
          </p:cNvPr>
          <p:cNvSpPr txBox="1"/>
          <p:nvPr/>
        </p:nvSpPr>
        <p:spPr>
          <a:xfrm>
            <a:off x="8524240" y="2038545"/>
            <a:ext cx="3088640" cy="2264787"/>
          </a:xfrm>
          <a:prstGeom prst="rect">
            <a:avLst/>
          </a:prstGeom>
          <a:noFill/>
        </p:spPr>
        <p:txBody>
          <a:bodyPr wrap="square">
            <a:spAutoFit/>
          </a:bodyPr>
          <a:lstStyle/>
          <a:p>
            <a:pPr>
              <a:lnSpc>
                <a:spcPct val="150000"/>
              </a:lnSpc>
            </a:pPr>
            <a:r>
              <a:rPr lang="zh-CN"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已有研究发现音高对情绪、速度感知、距离感知、空间位置感知和运动控制都有影响，而这些在对驾驶</a:t>
            </a:r>
            <a:r>
              <a:rPr lang="zh-CN" altLang="en-US" sz="1600" kern="100" dirty="0">
                <a:latin typeface="Microsoft YaHei" panose="020B0503020204020204" pitchFamily="34" charset="-122"/>
                <a:ea typeface="Microsoft YaHei" panose="020B0503020204020204" pitchFamily="34" charset="-122"/>
                <a:cs typeface="Times New Roman" panose="02020603050405020304" pitchFamily="18" charset="0"/>
              </a:rPr>
              <a:t>表现</a:t>
            </a:r>
            <a:r>
              <a:rPr lang="zh-CN"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有</a:t>
            </a:r>
            <a:r>
              <a:rPr lang="zh-CN" altLang="en-US"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重要</a:t>
            </a:r>
            <a:r>
              <a:rPr lang="zh-CN"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影响。</a:t>
            </a:r>
            <a:r>
              <a:rPr lang="zh-CN" altLang="zh-CN" sz="16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目前在音乐对驾驶影响的研究中，缺乏关注音高的影响。</a:t>
            </a:r>
            <a:r>
              <a:rPr lang="zh-CN" altLang="zh-CN" sz="1600" b="1" dirty="0">
                <a:effectLst/>
                <a:latin typeface="Microsoft YaHei" panose="020B0503020204020204" pitchFamily="34" charset="-122"/>
                <a:ea typeface="Microsoft YaHei" panose="020B0503020204020204" pitchFamily="34" charset="-122"/>
              </a:rPr>
              <a:t> </a:t>
            </a:r>
            <a:endParaRPr lang="zh-CN" altLang="en-US" sz="1600" b="1" dirty="0">
              <a:latin typeface="Microsoft YaHei" panose="020B0503020204020204" pitchFamily="34" charset="-122"/>
              <a:ea typeface="Microsoft YaHei" panose="020B0503020204020204" pitchFamily="34" charset="-122"/>
            </a:endParaRPr>
          </a:p>
        </p:txBody>
      </p:sp>
      <p:sp>
        <p:nvSpPr>
          <p:cNvPr id="6" name="文本框 5">
            <a:extLst>
              <a:ext uri="{FF2B5EF4-FFF2-40B4-BE49-F238E27FC236}">
                <a16:creationId xmlns:a16="http://schemas.microsoft.com/office/drawing/2014/main" id="{97969E05-F189-F247-94C2-D1CC75288AD1}"/>
              </a:ext>
            </a:extLst>
          </p:cNvPr>
          <p:cNvSpPr txBox="1"/>
          <p:nvPr/>
        </p:nvSpPr>
        <p:spPr>
          <a:xfrm>
            <a:off x="8382737" y="4525902"/>
            <a:ext cx="3371646" cy="87440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800" b="1" kern="100" dirty="0">
                <a:solidFill>
                  <a:srgbClr val="4472C4"/>
                </a:solidFill>
                <a:effectLst/>
                <a:latin typeface="+mj-ea"/>
                <a:ea typeface="+mj-ea"/>
                <a:cs typeface="Times New Roman" panose="02020603050405020304" pitchFamily="18" charset="0"/>
              </a:rPr>
              <a:t>音高如何影响不同流派音乐对驾驶行为的影响？</a:t>
            </a:r>
            <a:endParaRPr lang="zh-CN" altLang="en-US" b="1" dirty="0">
              <a:solidFill>
                <a:srgbClr val="4472C4"/>
              </a:solidFill>
              <a:latin typeface="+mj-ea"/>
              <a:ea typeface="+mj-ea"/>
            </a:endParaRPr>
          </a:p>
        </p:txBody>
      </p:sp>
      <p:sp>
        <p:nvSpPr>
          <p:cNvPr id="9" name="标题 1">
            <a:extLst>
              <a:ext uri="{FF2B5EF4-FFF2-40B4-BE49-F238E27FC236}">
                <a16:creationId xmlns:a16="http://schemas.microsoft.com/office/drawing/2014/main" id="{4CE8DCA9-B3CD-B7D3-96A1-3A5B30E1E550}"/>
              </a:ext>
            </a:extLst>
          </p:cNvPr>
          <p:cNvSpPr txBox="1">
            <a:spLocks/>
          </p:cNvSpPr>
          <p:nvPr/>
        </p:nvSpPr>
        <p:spPr>
          <a:xfrm>
            <a:off x="339443"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tx1"/>
                </a:solidFill>
                <a:latin typeface="Microsoft YaHei" panose="020B0503020204020204" pitchFamily="34" charset="-122"/>
                <a:ea typeface="Microsoft YaHei" panose="020B0503020204020204" pitchFamily="34" charset="-122"/>
                <a:cs typeface="+mj-cs"/>
              </a:defRPr>
            </a:lvl1pPr>
          </a:lstStyle>
          <a:p>
            <a:r>
              <a:rPr kumimoji="1" lang="zh-CN" altLang="en-US" dirty="0"/>
              <a:t>文献综述  </a:t>
            </a:r>
            <a:r>
              <a:rPr kumimoji="1" lang="zh-CN" altLang="en-US" sz="2000" dirty="0"/>
              <a:t>音高对情绪及认知的影响</a:t>
            </a:r>
            <a:endParaRPr kumimoji="1" lang="zh-CN" altLang="en-US" dirty="0"/>
          </a:p>
        </p:txBody>
      </p:sp>
    </p:spTree>
    <p:extLst>
      <p:ext uri="{BB962C8B-B14F-4D97-AF65-F5344CB8AC3E}">
        <p14:creationId xmlns:p14="http://schemas.microsoft.com/office/powerpoint/2010/main" val="12273677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06FFBF-A497-8134-4AC2-2F7275F409A5}"/>
              </a:ext>
            </a:extLst>
          </p:cNvPr>
          <p:cNvSpPr>
            <a:spLocks noGrp="1"/>
          </p:cNvSpPr>
          <p:nvPr>
            <p:ph type="title"/>
          </p:nvPr>
        </p:nvSpPr>
        <p:spPr/>
        <p:txBody>
          <a:bodyPr/>
          <a:lstStyle/>
          <a:p>
            <a:r>
              <a:rPr kumimoji="1" lang="zh-CN" altLang="en-US" dirty="0"/>
              <a:t>文献综述  </a:t>
            </a:r>
            <a:r>
              <a:rPr kumimoji="1" lang="zh-CN" altLang="en-US" sz="2000" dirty="0"/>
              <a:t>音乐感知的基本元素</a:t>
            </a:r>
            <a:endParaRPr kumimoji="1" lang="zh-CN" altLang="en-US" dirty="0"/>
          </a:p>
        </p:txBody>
      </p:sp>
      <p:graphicFrame>
        <p:nvGraphicFramePr>
          <p:cNvPr id="7" name="内容占位符 6">
            <a:extLst>
              <a:ext uri="{FF2B5EF4-FFF2-40B4-BE49-F238E27FC236}">
                <a16:creationId xmlns:a16="http://schemas.microsoft.com/office/drawing/2014/main" id="{10E54CF9-1B59-C36B-5180-D4C27F29CFB5}"/>
              </a:ext>
            </a:extLst>
          </p:cNvPr>
          <p:cNvGraphicFramePr>
            <a:graphicFrameLocks noGrp="1"/>
          </p:cNvGraphicFramePr>
          <p:nvPr>
            <p:ph idx="1"/>
            <p:extLst>
              <p:ext uri="{D42A27DB-BD31-4B8C-83A1-F6EECF244321}">
                <p14:modId xmlns:p14="http://schemas.microsoft.com/office/powerpoint/2010/main" val="3226377417"/>
              </p:ext>
            </p:extLst>
          </p:nvPr>
        </p:nvGraphicFramePr>
        <p:xfrm>
          <a:off x="-2178011" y="1659420"/>
          <a:ext cx="9326217" cy="36806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文本框 8">
            <a:extLst>
              <a:ext uri="{FF2B5EF4-FFF2-40B4-BE49-F238E27FC236}">
                <a16:creationId xmlns:a16="http://schemas.microsoft.com/office/drawing/2014/main" id="{8DA8F370-3B24-E971-29C0-3AED084DF3B6}"/>
              </a:ext>
            </a:extLst>
          </p:cNvPr>
          <p:cNvSpPr txBox="1"/>
          <p:nvPr/>
        </p:nvSpPr>
        <p:spPr>
          <a:xfrm>
            <a:off x="1190652" y="5551800"/>
            <a:ext cx="7071690" cy="276999"/>
          </a:xfrm>
          <a:prstGeom prst="rect">
            <a:avLst/>
          </a:prstGeom>
          <a:noFill/>
        </p:spPr>
        <p:txBody>
          <a:bodyPr wrap="square">
            <a:spAutoFit/>
          </a:bodyPr>
          <a:lstStyle/>
          <a:p>
            <a:r>
              <a:rPr lang="zh-CN" altLang="zh-CN" sz="1200" kern="100" dirty="0">
                <a:solidFill>
                  <a:schemeClr val="tx1">
                    <a:lumMod val="50000"/>
                    <a:lumOff val="50000"/>
                  </a:schemeClr>
                </a:solidFill>
                <a:effectLst/>
                <a:ea typeface="Times New Roman" panose="02020603050405020304" pitchFamily="18" charset="0"/>
              </a:rPr>
              <a:t> </a:t>
            </a:r>
            <a:r>
              <a:rPr lang="en-US" altLang="zh-CN" sz="1200" kern="100" dirty="0">
                <a:solidFill>
                  <a:schemeClr val="tx1">
                    <a:lumMod val="50000"/>
                    <a:lumOff val="50000"/>
                  </a:schemeClr>
                </a:solidFill>
                <a:effectLst/>
                <a:latin typeface="Times New Roman" panose="02020603050405020304" pitchFamily="18" charset="0"/>
                <a:ea typeface="宋体" panose="02010600030101010101" pitchFamily="2" charset="-122"/>
              </a:rPr>
              <a:t>(Nussbaum, 2015</a:t>
            </a:r>
            <a:r>
              <a:rPr lang="zh-CN" altLang="en-US" sz="1200" kern="100" dirty="0">
                <a:solidFill>
                  <a:schemeClr val="tx1">
                    <a:lumMod val="50000"/>
                    <a:lumOff val="50000"/>
                  </a:schemeClr>
                </a:solidFill>
                <a:latin typeface="Times New Roman" panose="02020603050405020304" pitchFamily="18" charset="0"/>
                <a:ea typeface="宋体" panose="02010600030101010101" pitchFamily="2" charset="-122"/>
              </a:rPr>
              <a:t>；</a:t>
            </a:r>
            <a:r>
              <a:rPr lang="zh-CN" altLang="zh-CN" sz="1200" dirty="0">
                <a:solidFill>
                  <a:schemeClr val="tx1">
                    <a:lumMod val="50000"/>
                    <a:lumOff val="50000"/>
                  </a:schemeClr>
                </a:solidFill>
                <a:effectLst/>
                <a:latin typeface="Times New Roman" panose="02020603050405020304" pitchFamily="18" charset="0"/>
                <a:ea typeface="宋体" panose="02010600030101010101" pitchFamily="2" charset="-122"/>
                <a:cs typeface="Times New Roman" panose="02020603050405020304" pitchFamily="18" charset="0"/>
              </a:rPr>
              <a:t>陈玉田</a:t>
            </a:r>
            <a:r>
              <a:rPr lang="en-US" altLang="zh-CN" sz="1200" dirty="0">
                <a:solidFill>
                  <a:schemeClr val="tx1">
                    <a:lumMod val="50000"/>
                    <a:lumOff val="50000"/>
                  </a:schemeClr>
                </a:solidFill>
                <a:effectLst/>
                <a:latin typeface="Times New Roman" panose="02020603050405020304" pitchFamily="18" charset="0"/>
                <a:ea typeface="宋体" panose="02010600030101010101" pitchFamily="2" charset="-122"/>
              </a:rPr>
              <a:t>, 2022</a:t>
            </a:r>
            <a:r>
              <a:rPr lang="zh-CN" altLang="zh-CN" sz="1200" dirty="0">
                <a:solidFill>
                  <a:schemeClr val="tx1">
                    <a:lumMod val="50000"/>
                    <a:lumOff val="50000"/>
                  </a:schemeClr>
                </a:solidFill>
                <a:effectLst/>
              </a:rPr>
              <a:t> </a:t>
            </a:r>
            <a:r>
              <a:rPr lang="en-US" altLang="zh-CN" sz="1200" kern="100" dirty="0">
                <a:solidFill>
                  <a:schemeClr val="tx1">
                    <a:lumMod val="50000"/>
                    <a:lumOff val="50000"/>
                  </a:schemeClr>
                </a:solidFill>
                <a:effectLst/>
                <a:latin typeface="Times New Roman" panose="02020603050405020304" pitchFamily="18" charset="0"/>
                <a:ea typeface="宋体" panose="02010600030101010101" pitchFamily="2" charset="-122"/>
              </a:rPr>
              <a:t>)</a:t>
            </a:r>
            <a:r>
              <a:rPr lang="zh-CN" altLang="zh-CN" sz="1200" dirty="0">
                <a:solidFill>
                  <a:schemeClr val="tx1">
                    <a:lumMod val="50000"/>
                    <a:lumOff val="50000"/>
                  </a:schemeClr>
                </a:solidFill>
                <a:effectLst/>
              </a:rPr>
              <a:t> </a:t>
            </a:r>
            <a:endParaRPr lang="zh-CN" altLang="en-US" sz="1200" dirty="0">
              <a:solidFill>
                <a:schemeClr val="tx1">
                  <a:lumMod val="50000"/>
                  <a:lumOff val="50000"/>
                </a:schemeClr>
              </a:solidFill>
            </a:endParaRPr>
          </a:p>
        </p:txBody>
      </p:sp>
      <p:grpSp>
        <p:nvGrpSpPr>
          <p:cNvPr id="10" name="组合 9">
            <a:extLst>
              <a:ext uri="{FF2B5EF4-FFF2-40B4-BE49-F238E27FC236}">
                <a16:creationId xmlns:a16="http://schemas.microsoft.com/office/drawing/2014/main" id="{249F79B6-C670-B0F4-B6CD-B9FBD3B2C326}"/>
              </a:ext>
            </a:extLst>
          </p:cNvPr>
          <p:cNvGrpSpPr/>
          <p:nvPr/>
        </p:nvGrpSpPr>
        <p:grpSpPr>
          <a:xfrm>
            <a:off x="5834270" y="1188939"/>
            <a:ext cx="10828681" cy="5509863"/>
            <a:chOff x="0" y="1309193"/>
            <a:chExt cx="10828681" cy="5509863"/>
          </a:xfrm>
        </p:grpSpPr>
        <p:pic>
          <p:nvPicPr>
            <p:cNvPr id="11" name="图片 10">
              <a:extLst>
                <a:ext uri="{FF2B5EF4-FFF2-40B4-BE49-F238E27FC236}">
                  <a16:creationId xmlns:a16="http://schemas.microsoft.com/office/drawing/2014/main" id="{46C6D791-4A14-182C-53D1-EB5FF3B79A46}"/>
                </a:ext>
              </a:extLst>
            </p:cNvPr>
            <p:cNvPicPr>
              <a:picLocks noChangeAspect="1"/>
            </p:cNvPicPr>
            <p:nvPr/>
          </p:nvPicPr>
          <p:blipFill>
            <a:blip r:embed="rId8"/>
            <a:stretch>
              <a:fillRect/>
            </a:stretch>
          </p:blipFill>
          <p:spPr>
            <a:xfrm>
              <a:off x="1015304" y="1309194"/>
              <a:ext cx="1568870" cy="1552528"/>
            </a:xfrm>
            <a:prstGeom prst="rect">
              <a:avLst/>
            </a:prstGeom>
          </p:spPr>
        </p:pic>
        <p:pic>
          <p:nvPicPr>
            <p:cNvPr id="12" name="图片 11">
              <a:extLst>
                <a:ext uri="{FF2B5EF4-FFF2-40B4-BE49-F238E27FC236}">
                  <a16:creationId xmlns:a16="http://schemas.microsoft.com/office/drawing/2014/main" id="{DF4DA284-DF41-A71F-5C65-97A6A32C6C84}"/>
                </a:ext>
              </a:extLst>
            </p:cNvPr>
            <p:cNvPicPr>
              <a:picLocks noChangeAspect="1"/>
            </p:cNvPicPr>
            <p:nvPr/>
          </p:nvPicPr>
          <p:blipFill>
            <a:blip r:embed="rId9"/>
            <a:stretch>
              <a:fillRect/>
            </a:stretch>
          </p:blipFill>
          <p:spPr>
            <a:xfrm>
              <a:off x="3599478" y="1309193"/>
              <a:ext cx="2067271" cy="1552529"/>
            </a:xfrm>
            <a:prstGeom prst="rect">
              <a:avLst/>
            </a:prstGeom>
          </p:spPr>
        </p:pic>
        <p:sp>
          <p:nvSpPr>
            <p:cNvPr id="13" name="右箭头 12">
              <a:extLst>
                <a:ext uri="{FF2B5EF4-FFF2-40B4-BE49-F238E27FC236}">
                  <a16:creationId xmlns:a16="http://schemas.microsoft.com/office/drawing/2014/main" id="{54803EF6-4118-135E-EA8B-C88635F6EAB7}"/>
                </a:ext>
              </a:extLst>
            </p:cNvPr>
            <p:cNvSpPr/>
            <p:nvPr/>
          </p:nvSpPr>
          <p:spPr>
            <a:xfrm>
              <a:off x="2892286" y="2085458"/>
              <a:ext cx="626166" cy="45719"/>
            </a:xfrm>
            <a:prstGeom prst="rightArrow">
              <a:avLst/>
            </a:prstGeom>
            <a:solidFill>
              <a:schemeClr val="tx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4" name="图片 13">
              <a:extLst>
                <a:ext uri="{FF2B5EF4-FFF2-40B4-BE49-F238E27FC236}">
                  <a16:creationId xmlns:a16="http://schemas.microsoft.com/office/drawing/2014/main" id="{D71D662A-6AE4-C42B-8516-AC722DB89694}"/>
                </a:ext>
              </a:extLst>
            </p:cNvPr>
            <p:cNvPicPr>
              <a:picLocks noChangeAspect="1"/>
            </p:cNvPicPr>
            <p:nvPr/>
          </p:nvPicPr>
          <p:blipFill>
            <a:blip r:embed="rId10"/>
            <a:stretch>
              <a:fillRect/>
            </a:stretch>
          </p:blipFill>
          <p:spPr>
            <a:xfrm>
              <a:off x="0" y="2703052"/>
              <a:ext cx="6096000" cy="3427222"/>
            </a:xfrm>
            <a:prstGeom prst="rect">
              <a:avLst/>
            </a:prstGeom>
          </p:spPr>
        </p:pic>
        <p:sp>
          <p:nvSpPr>
            <p:cNvPr id="15" name="右箭头 14">
              <a:extLst>
                <a:ext uri="{FF2B5EF4-FFF2-40B4-BE49-F238E27FC236}">
                  <a16:creationId xmlns:a16="http://schemas.microsoft.com/office/drawing/2014/main" id="{9708D59D-9A7C-9592-9591-C594278A148C}"/>
                </a:ext>
              </a:extLst>
            </p:cNvPr>
            <p:cNvSpPr/>
            <p:nvPr/>
          </p:nvSpPr>
          <p:spPr>
            <a:xfrm rot="5400000">
              <a:off x="3002415" y="5821883"/>
              <a:ext cx="288671" cy="905454"/>
            </a:xfrm>
            <a:prstGeom prst="rightArrow">
              <a:avLst/>
            </a:prstGeom>
            <a:solidFill>
              <a:schemeClr val="tx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15">
              <a:extLst>
                <a:ext uri="{FF2B5EF4-FFF2-40B4-BE49-F238E27FC236}">
                  <a16:creationId xmlns:a16="http://schemas.microsoft.com/office/drawing/2014/main" id="{6B8987A1-0D7C-748D-67BD-2EA145C2F984}"/>
                </a:ext>
              </a:extLst>
            </p:cNvPr>
            <p:cNvSpPr txBox="1"/>
            <p:nvPr/>
          </p:nvSpPr>
          <p:spPr>
            <a:xfrm>
              <a:off x="2694023" y="6418946"/>
              <a:ext cx="1062968" cy="400110"/>
            </a:xfrm>
            <a:prstGeom prst="rect">
              <a:avLst/>
            </a:prstGeom>
            <a:noFill/>
          </p:spPr>
          <p:txBody>
            <a:bodyPr wrap="square" rtlCol="0">
              <a:spAutoFit/>
            </a:bodyPr>
            <a:lstStyle/>
            <a:p>
              <a:r>
                <a:rPr kumimoji="1" lang="en-US" altLang="zh-CN" sz="2000" b="1" dirty="0">
                  <a:latin typeface="Arial" panose="020B0604020202020204" pitchFamily="34" charset="0"/>
                  <a:cs typeface="Arial" panose="020B0604020202020204" pitchFamily="34" charset="0"/>
                </a:rPr>
                <a:t>······</a:t>
              </a:r>
              <a:endParaRPr kumimoji="1" lang="zh-CN" altLang="en-US" sz="2000" b="1" dirty="0">
                <a:latin typeface="Arial" panose="020B0604020202020204" pitchFamily="34" charset="0"/>
                <a:cs typeface="Arial" panose="020B0604020202020204" pitchFamily="34" charset="0"/>
              </a:endParaRPr>
            </a:p>
          </p:txBody>
        </p:sp>
        <p:sp>
          <p:nvSpPr>
            <p:cNvPr id="17" name="文本框 16">
              <a:extLst>
                <a:ext uri="{FF2B5EF4-FFF2-40B4-BE49-F238E27FC236}">
                  <a16:creationId xmlns:a16="http://schemas.microsoft.com/office/drawing/2014/main" id="{F7B05A00-55C1-A607-4625-06FFA90C1144}"/>
                </a:ext>
              </a:extLst>
            </p:cNvPr>
            <p:cNvSpPr txBox="1"/>
            <p:nvPr/>
          </p:nvSpPr>
          <p:spPr>
            <a:xfrm>
              <a:off x="3756991" y="6120585"/>
              <a:ext cx="7071690" cy="276999"/>
            </a:xfrm>
            <a:prstGeom prst="rect">
              <a:avLst/>
            </a:prstGeom>
            <a:noFill/>
          </p:spPr>
          <p:txBody>
            <a:bodyPr wrap="square">
              <a:spAutoFit/>
            </a:bodyPr>
            <a:lstStyle/>
            <a:p>
              <a:r>
                <a:rPr lang="zh-CN" altLang="zh-CN" sz="1200" kern="100" dirty="0">
                  <a:solidFill>
                    <a:schemeClr val="tx1">
                      <a:lumMod val="50000"/>
                      <a:lumOff val="50000"/>
                    </a:schemeClr>
                  </a:solidFill>
                  <a:effectLst/>
                  <a:ea typeface="Times New Roman" panose="02020603050405020304" pitchFamily="18" charset="0"/>
                </a:rPr>
                <a:t> </a:t>
              </a:r>
              <a:r>
                <a:rPr lang="en-US" altLang="zh-CN" sz="1200" kern="100" dirty="0">
                  <a:solidFill>
                    <a:schemeClr val="tx1">
                      <a:lumMod val="50000"/>
                      <a:lumOff val="50000"/>
                    </a:schemeClr>
                  </a:solidFill>
                  <a:effectLst/>
                  <a:latin typeface="Times New Roman" panose="02020603050405020304" pitchFamily="18" charset="0"/>
                  <a:ea typeface="宋体" panose="02010600030101010101" pitchFamily="2" charset="-122"/>
                </a:rPr>
                <a:t>(</a:t>
              </a:r>
              <a:r>
                <a:rPr lang="en-US" altLang="zh-CN" sz="1200" kern="100" dirty="0" err="1">
                  <a:solidFill>
                    <a:schemeClr val="tx1">
                      <a:lumMod val="50000"/>
                      <a:lumOff val="50000"/>
                    </a:schemeClr>
                  </a:solidFill>
                  <a:effectLst/>
                  <a:latin typeface="Times New Roman" panose="02020603050405020304" pitchFamily="18" charset="0"/>
                  <a:ea typeface="宋体" panose="02010600030101010101" pitchFamily="2" charset="-122"/>
                </a:rPr>
                <a:t>Peretz</a:t>
              </a:r>
              <a:r>
                <a:rPr lang="zh-CN" altLang="en-US" sz="1200" kern="100" dirty="0">
                  <a:solidFill>
                    <a:schemeClr val="tx1">
                      <a:lumMod val="50000"/>
                      <a:lumOff val="50000"/>
                    </a:schemeClr>
                  </a:solidFill>
                  <a:effectLst/>
                  <a:latin typeface="Times New Roman" panose="02020603050405020304" pitchFamily="18" charset="0"/>
                  <a:ea typeface="宋体" panose="02010600030101010101" pitchFamily="2" charset="-122"/>
                </a:rPr>
                <a:t>等</a:t>
              </a:r>
              <a:r>
                <a:rPr lang="zh-CN" altLang="en-US" sz="1200" kern="100" dirty="0">
                  <a:solidFill>
                    <a:schemeClr val="tx1">
                      <a:lumMod val="50000"/>
                      <a:lumOff val="50000"/>
                    </a:schemeClr>
                  </a:solidFill>
                  <a:latin typeface="Times New Roman" panose="02020603050405020304" pitchFamily="18" charset="0"/>
                  <a:ea typeface="宋体" panose="02010600030101010101" pitchFamily="2" charset="-122"/>
                </a:rPr>
                <a:t>，</a:t>
              </a:r>
              <a:r>
                <a:rPr lang="en-US" altLang="zh-CN" sz="1200" kern="100" dirty="0">
                  <a:solidFill>
                    <a:schemeClr val="tx1">
                      <a:lumMod val="50000"/>
                      <a:lumOff val="50000"/>
                    </a:schemeClr>
                  </a:solidFill>
                  <a:effectLst/>
                  <a:latin typeface="Times New Roman" panose="02020603050405020304" pitchFamily="18" charset="0"/>
                  <a:ea typeface="宋体" panose="02010600030101010101" pitchFamily="2" charset="-122"/>
                </a:rPr>
                <a:t>2005))</a:t>
              </a:r>
              <a:r>
                <a:rPr lang="zh-CN" altLang="zh-CN" sz="1200" dirty="0">
                  <a:solidFill>
                    <a:schemeClr val="tx1">
                      <a:lumMod val="50000"/>
                      <a:lumOff val="50000"/>
                    </a:schemeClr>
                  </a:solidFill>
                  <a:effectLst/>
                </a:rPr>
                <a:t> </a:t>
              </a:r>
              <a:endParaRPr lang="zh-CN" altLang="en-US" sz="1200" dirty="0">
                <a:solidFill>
                  <a:schemeClr val="tx1">
                    <a:lumMod val="50000"/>
                    <a:lumOff val="50000"/>
                  </a:schemeClr>
                </a:solidFill>
              </a:endParaRPr>
            </a:p>
          </p:txBody>
        </p:sp>
      </p:grpSp>
    </p:spTree>
    <p:extLst>
      <p:ext uri="{BB962C8B-B14F-4D97-AF65-F5344CB8AC3E}">
        <p14:creationId xmlns:p14="http://schemas.microsoft.com/office/powerpoint/2010/main" val="1850997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06FFBF-A497-8134-4AC2-2F7275F409A5}"/>
              </a:ext>
            </a:extLst>
          </p:cNvPr>
          <p:cNvSpPr>
            <a:spLocks noGrp="1"/>
          </p:cNvSpPr>
          <p:nvPr>
            <p:ph type="title"/>
          </p:nvPr>
        </p:nvSpPr>
        <p:spPr/>
        <p:txBody>
          <a:bodyPr/>
          <a:lstStyle/>
          <a:p>
            <a:r>
              <a:rPr kumimoji="1" lang="zh-CN" altLang="en-US" dirty="0"/>
              <a:t>文献综述  </a:t>
            </a:r>
            <a:r>
              <a:rPr kumimoji="1" lang="zh-CN" altLang="en-US" sz="2000" dirty="0"/>
              <a:t>音乐速度</a:t>
            </a:r>
            <a:endParaRPr kumimoji="1" lang="zh-CN" altLang="en-US" dirty="0"/>
          </a:p>
        </p:txBody>
      </p:sp>
      <p:graphicFrame>
        <p:nvGraphicFramePr>
          <p:cNvPr id="4" name="图示 3">
            <a:extLst>
              <a:ext uri="{FF2B5EF4-FFF2-40B4-BE49-F238E27FC236}">
                <a16:creationId xmlns:a16="http://schemas.microsoft.com/office/drawing/2014/main" id="{A358E528-34F1-E21A-1846-59BBDE87C899}"/>
              </a:ext>
            </a:extLst>
          </p:cNvPr>
          <p:cNvGraphicFramePr/>
          <p:nvPr>
            <p:extLst>
              <p:ext uri="{D42A27DB-BD31-4B8C-83A1-F6EECF244321}">
                <p14:modId xmlns:p14="http://schemas.microsoft.com/office/powerpoint/2010/main" val="3856204474"/>
              </p:ext>
            </p:extLst>
          </p:nvPr>
        </p:nvGraphicFramePr>
        <p:xfrm>
          <a:off x="-1399300" y="1663136"/>
          <a:ext cx="6672696" cy="36434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文本框 4">
            <a:extLst>
              <a:ext uri="{FF2B5EF4-FFF2-40B4-BE49-F238E27FC236}">
                <a16:creationId xmlns:a16="http://schemas.microsoft.com/office/drawing/2014/main" id="{66A8C711-2248-A701-882F-04C8A0D891E7}"/>
              </a:ext>
            </a:extLst>
          </p:cNvPr>
          <p:cNvSpPr txBox="1"/>
          <p:nvPr/>
        </p:nvSpPr>
        <p:spPr>
          <a:xfrm>
            <a:off x="1201648" y="5191171"/>
            <a:ext cx="6862572" cy="646331"/>
          </a:xfrm>
          <a:prstGeom prst="rect">
            <a:avLst/>
          </a:prstGeom>
          <a:noFill/>
        </p:spPr>
        <p:txBody>
          <a:bodyPr wrap="square">
            <a:spAutoFit/>
          </a:bodyPr>
          <a:lstStyle/>
          <a:p>
            <a:r>
              <a:rPr lang="zh-CN" altLang="en-US" sz="1400" dirty="0">
                <a:latin typeface="Microsoft YaHei" panose="020B0503020204020204" pitchFamily="34" charset="-122"/>
                <a:ea typeface="Microsoft YaHei" panose="020B0503020204020204" pitchFamily="34" charset="-122"/>
              </a:rPr>
              <a:t>三个节奏亚属性</a:t>
            </a:r>
            <a:endParaRPr lang="en-US" altLang="zh-CN" sz="1400" dirty="0">
              <a:latin typeface="Microsoft YaHei" panose="020B0503020204020204" pitchFamily="34" charset="-122"/>
              <a:ea typeface="Microsoft YaHei" panose="020B0503020204020204" pitchFamily="34" charset="-122"/>
            </a:endParaRPr>
          </a:p>
          <a:p>
            <a:pPr>
              <a:spcBef>
                <a:spcPts val="1200"/>
              </a:spcBef>
            </a:pPr>
            <a:r>
              <a:rPr lang="zh-CN" altLang="en" sz="1200" dirty="0">
                <a:solidFill>
                  <a:schemeClr val="tx1">
                    <a:lumMod val="50000"/>
                    <a:lumOff val="50000"/>
                  </a:schemeClr>
                </a:solidFill>
                <a:latin typeface="Microsoft YaHei" panose="020B0503020204020204" pitchFamily="34" charset="-122"/>
                <a:ea typeface="Microsoft YaHei" panose="020B0503020204020204" pitchFamily="34" charset="-122"/>
              </a:rPr>
              <a:t>（</a:t>
            </a:r>
            <a:r>
              <a:rPr lang="en" altLang="zh-CN" sz="1200" dirty="0" err="1">
                <a:solidFill>
                  <a:schemeClr val="tx1">
                    <a:lumMod val="50000"/>
                    <a:lumOff val="50000"/>
                  </a:schemeClr>
                </a:solidFill>
                <a:latin typeface="Microsoft YaHei" panose="020B0503020204020204" pitchFamily="34" charset="-122"/>
                <a:ea typeface="Microsoft YaHei" panose="020B0503020204020204" pitchFamily="34" charset="-122"/>
              </a:rPr>
              <a:t>Thaut</a:t>
            </a:r>
            <a:r>
              <a:rPr lang="en" altLang="zh-CN" sz="1200" dirty="0">
                <a:solidFill>
                  <a:schemeClr val="tx1">
                    <a:lumMod val="50000"/>
                    <a:lumOff val="50000"/>
                  </a:schemeClr>
                </a:solidFill>
                <a:latin typeface="Microsoft YaHei" panose="020B0503020204020204" pitchFamily="34" charset="-122"/>
                <a:ea typeface="Microsoft YaHei" panose="020B0503020204020204" pitchFamily="34" charset="-122"/>
              </a:rPr>
              <a:t>, 2013</a:t>
            </a:r>
            <a:r>
              <a:rPr lang="zh-CN" altLang="en" sz="1200" dirty="0">
                <a:solidFill>
                  <a:schemeClr val="tx1">
                    <a:lumMod val="50000"/>
                    <a:lumOff val="50000"/>
                  </a:schemeClr>
                </a:solidFill>
                <a:latin typeface="Microsoft YaHei" panose="020B0503020204020204" pitchFamily="34" charset="-122"/>
                <a:ea typeface="Microsoft YaHei" panose="020B0503020204020204" pitchFamily="34" charset="-122"/>
              </a:rPr>
              <a:t>）</a:t>
            </a:r>
            <a:endParaRPr lang="zh-CN" altLang="en-US" sz="1200" dirty="0">
              <a:solidFill>
                <a:schemeClr val="tx1">
                  <a:lumMod val="50000"/>
                  <a:lumOff val="50000"/>
                </a:schemeClr>
              </a:solidFill>
              <a:latin typeface="Microsoft YaHei" panose="020B0503020204020204" pitchFamily="34" charset="-122"/>
              <a:ea typeface="Microsoft YaHei" panose="020B0503020204020204" pitchFamily="34" charset="-122"/>
            </a:endParaRPr>
          </a:p>
        </p:txBody>
      </p:sp>
      <p:sp>
        <p:nvSpPr>
          <p:cNvPr id="7" name="文本框 6">
            <a:extLst>
              <a:ext uri="{FF2B5EF4-FFF2-40B4-BE49-F238E27FC236}">
                <a16:creationId xmlns:a16="http://schemas.microsoft.com/office/drawing/2014/main" id="{5A6F830F-C496-DD92-B8EB-7F91E0D3B1EA}"/>
              </a:ext>
            </a:extLst>
          </p:cNvPr>
          <p:cNvSpPr txBox="1"/>
          <p:nvPr/>
        </p:nvSpPr>
        <p:spPr>
          <a:xfrm>
            <a:off x="3814523" y="1641416"/>
            <a:ext cx="7885478" cy="3372783"/>
          </a:xfrm>
          <a:prstGeom prst="rect">
            <a:avLst/>
          </a:prstGeom>
          <a:noFill/>
        </p:spPr>
        <p:txBody>
          <a:bodyPr wrap="square">
            <a:spAutoFit/>
          </a:bodyPr>
          <a:lstStyle/>
          <a:p>
            <a:pPr marL="393750" indent="-285750" algn="just">
              <a:lnSpc>
                <a:spcPct val="150000"/>
              </a:lnSpc>
              <a:spcBef>
                <a:spcPts val="1200"/>
              </a:spcBef>
              <a:buFont typeface="Wingdings" pitchFamily="2" charset="2"/>
              <a:buChar char="l"/>
            </a:pPr>
            <a:r>
              <a:rPr lang="zh-CN" altLang="zh-CN" sz="1800" kern="100" dirty="0">
                <a:effectLst/>
                <a:latin typeface="Microsoft YaHei" panose="020B0503020204020204" pitchFamily="34" charset="-122"/>
                <a:ea typeface="Microsoft YaHei" panose="020B0503020204020204" pitchFamily="34" charset="-122"/>
              </a:rPr>
              <a:t>以往研究通常</a:t>
            </a:r>
            <a:r>
              <a:rPr lang="zh-CN" altLang="zh-CN" sz="1800" b="1" kern="100" dirty="0">
                <a:effectLst/>
                <a:latin typeface="Microsoft YaHei" panose="020B0503020204020204" pitchFamily="34" charset="-122"/>
                <a:ea typeface="Microsoft YaHei" panose="020B0503020204020204" pitchFamily="34" charset="-122"/>
              </a:rPr>
              <a:t>从音乐速度</a:t>
            </a:r>
            <a:r>
              <a:rPr lang="zh-CN" altLang="zh-CN" sz="1800" kern="100" dirty="0">
                <a:effectLst/>
                <a:latin typeface="Microsoft YaHei" panose="020B0503020204020204" pitchFamily="34" charset="-122"/>
                <a:ea typeface="Microsoft YaHei" panose="020B0503020204020204" pitchFamily="34" charset="-122"/>
              </a:rPr>
              <a:t>来研究</a:t>
            </a:r>
            <a:r>
              <a:rPr lang="zh-CN" altLang="zh-CN" sz="1800" b="1" kern="100" dirty="0">
                <a:effectLst/>
                <a:latin typeface="Microsoft YaHei" panose="020B0503020204020204" pitchFamily="34" charset="-122"/>
                <a:ea typeface="Microsoft YaHei" panose="020B0503020204020204" pitchFamily="34" charset="-122"/>
              </a:rPr>
              <a:t>节奏</a:t>
            </a:r>
            <a:r>
              <a:rPr lang="zh-CN" altLang="zh-CN" sz="1800" kern="100" dirty="0">
                <a:effectLst/>
                <a:latin typeface="Microsoft YaHei" panose="020B0503020204020204" pitchFamily="34" charset="-122"/>
                <a:ea typeface="Microsoft YaHei" panose="020B0503020204020204" pitchFamily="34" charset="-122"/>
              </a:rPr>
              <a:t>的影响</a:t>
            </a:r>
            <a:r>
              <a:rPr lang="zh-CN" altLang="en-US" sz="1800" kern="100" dirty="0">
                <a:effectLst/>
                <a:latin typeface="Microsoft YaHei" panose="020B0503020204020204" pitchFamily="34" charset="-122"/>
                <a:ea typeface="Microsoft YaHei" panose="020B0503020204020204" pitchFamily="34" charset="-122"/>
              </a:rPr>
              <a:t> </a:t>
            </a:r>
            <a:r>
              <a:rPr lang="en-US" altLang="zh-CN" sz="1200" kern="100" dirty="0">
                <a:solidFill>
                  <a:schemeClr val="tx1">
                    <a:lumMod val="50000"/>
                    <a:lumOff val="50000"/>
                  </a:schemeClr>
                </a:solidFill>
                <a:effectLst/>
                <a:latin typeface="Microsoft YaHei" panose="020B0503020204020204" pitchFamily="34" charset="-122"/>
                <a:ea typeface="Microsoft YaHei" panose="020B0503020204020204" pitchFamily="34" charset="-122"/>
              </a:rPr>
              <a:t>(</a:t>
            </a:r>
            <a:r>
              <a:rPr lang="zh-CN" altLang="en-US" sz="1200" kern="100" dirty="0">
                <a:solidFill>
                  <a:schemeClr val="tx1">
                    <a:lumMod val="50000"/>
                    <a:lumOff val="50000"/>
                  </a:schemeClr>
                </a:solidFill>
                <a:effectLst/>
                <a:latin typeface="Microsoft YaHei" panose="020B0503020204020204" pitchFamily="34" charset="-122"/>
                <a:ea typeface="Microsoft YaHei" panose="020B0503020204020204" pitchFamily="34" charset="-122"/>
              </a:rPr>
              <a:t>刘颖</a:t>
            </a:r>
            <a:r>
              <a:rPr lang="en-US" altLang="zh-CN" sz="1200" kern="100" dirty="0">
                <a:solidFill>
                  <a:schemeClr val="tx1">
                    <a:lumMod val="50000"/>
                    <a:lumOff val="50000"/>
                  </a:schemeClr>
                </a:solidFill>
                <a:effectLst/>
                <a:latin typeface="Microsoft YaHei" panose="020B0503020204020204" pitchFamily="34" charset="-122"/>
                <a:ea typeface="Microsoft YaHei" panose="020B0503020204020204" pitchFamily="34" charset="-122"/>
              </a:rPr>
              <a:t>, 2019; </a:t>
            </a:r>
            <a:r>
              <a:rPr lang="zh-CN" altLang="en-US" sz="1200" kern="100" dirty="0">
                <a:solidFill>
                  <a:schemeClr val="tx1">
                    <a:lumMod val="50000"/>
                    <a:lumOff val="50000"/>
                  </a:schemeClr>
                </a:solidFill>
                <a:effectLst/>
                <a:latin typeface="Microsoft YaHei" panose="020B0503020204020204" pitchFamily="34" charset="-122"/>
                <a:ea typeface="Microsoft YaHei" panose="020B0503020204020204" pitchFamily="34" charset="-122"/>
              </a:rPr>
              <a:t>卢章平等</a:t>
            </a:r>
            <a:r>
              <a:rPr lang="en-US" altLang="zh-CN" sz="1200" kern="100" dirty="0">
                <a:solidFill>
                  <a:schemeClr val="tx1">
                    <a:lumMod val="50000"/>
                    <a:lumOff val="50000"/>
                  </a:schemeClr>
                </a:solidFill>
                <a:effectLst/>
                <a:latin typeface="Microsoft YaHei" panose="020B0503020204020204" pitchFamily="34" charset="-122"/>
                <a:ea typeface="Microsoft YaHei" panose="020B0503020204020204" pitchFamily="34" charset="-122"/>
              </a:rPr>
              <a:t>, 2016; </a:t>
            </a:r>
            <a:r>
              <a:rPr lang="zh-CN" altLang="en-US" sz="1200" kern="100" dirty="0">
                <a:solidFill>
                  <a:schemeClr val="tx1">
                    <a:lumMod val="50000"/>
                    <a:lumOff val="50000"/>
                  </a:schemeClr>
                </a:solidFill>
                <a:effectLst/>
                <a:latin typeface="Microsoft YaHei" panose="020B0503020204020204" pitchFamily="34" charset="-122"/>
                <a:ea typeface="Microsoft YaHei" panose="020B0503020204020204" pitchFamily="34" charset="-122"/>
              </a:rPr>
              <a:t>马锦飞</a:t>
            </a:r>
            <a:r>
              <a:rPr lang="en-US" altLang="zh-CN" sz="1200" kern="100" dirty="0">
                <a:solidFill>
                  <a:schemeClr val="tx1">
                    <a:lumMod val="50000"/>
                    <a:lumOff val="50000"/>
                  </a:schemeClr>
                </a:solidFill>
                <a:effectLst/>
                <a:latin typeface="Microsoft YaHei" panose="020B0503020204020204" pitchFamily="34" charset="-122"/>
                <a:ea typeface="Microsoft YaHei" panose="020B0503020204020204" pitchFamily="34" charset="-122"/>
              </a:rPr>
              <a:t>, 2014; </a:t>
            </a:r>
            <a:r>
              <a:rPr lang="en" altLang="zh-CN" sz="1200" kern="100" dirty="0">
                <a:solidFill>
                  <a:schemeClr val="tx1">
                    <a:lumMod val="50000"/>
                    <a:lumOff val="50000"/>
                  </a:schemeClr>
                </a:solidFill>
                <a:effectLst/>
                <a:latin typeface="Microsoft YaHei" panose="020B0503020204020204" pitchFamily="34" charset="-122"/>
                <a:ea typeface="Microsoft YaHei" panose="020B0503020204020204" pitchFamily="34" charset="-122"/>
              </a:rPr>
              <a:t>Navarro</a:t>
            </a:r>
            <a:r>
              <a:rPr lang="zh-CN" altLang="en-US" sz="1200" kern="100" dirty="0">
                <a:solidFill>
                  <a:schemeClr val="tx1">
                    <a:lumMod val="50000"/>
                    <a:lumOff val="50000"/>
                  </a:schemeClr>
                </a:solidFill>
                <a:effectLst/>
                <a:latin typeface="Microsoft YaHei" panose="020B0503020204020204" pitchFamily="34" charset="-122"/>
                <a:ea typeface="Microsoft YaHei" panose="020B0503020204020204" pitchFamily="34" charset="-122"/>
              </a:rPr>
              <a:t>等</a:t>
            </a:r>
            <a:r>
              <a:rPr lang="en-US" altLang="zh-CN" sz="1200" kern="100" dirty="0">
                <a:solidFill>
                  <a:schemeClr val="tx1">
                    <a:lumMod val="50000"/>
                    <a:lumOff val="50000"/>
                  </a:schemeClr>
                </a:solidFill>
                <a:effectLst/>
                <a:latin typeface="Microsoft YaHei" panose="020B0503020204020204" pitchFamily="34" charset="-122"/>
                <a:ea typeface="Microsoft YaHei" panose="020B0503020204020204" pitchFamily="34" charset="-122"/>
              </a:rPr>
              <a:t>, 2019)</a:t>
            </a:r>
            <a:r>
              <a:rPr lang="zh-CN" altLang="zh-CN" sz="1800" kern="100" dirty="0">
                <a:effectLst/>
                <a:latin typeface="Microsoft YaHei" panose="020B0503020204020204" pitchFamily="34" charset="-122"/>
                <a:ea typeface="Microsoft YaHei" panose="020B0503020204020204" pitchFamily="34" charset="-122"/>
              </a:rPr>
              <a:t>。</a:t>
            </a:r>
            <a:endParaRPr lang="en-US" altLang="zh-CN" sz="1800" kern="100" dirty="0">
              <a:effectLst/>
              <a:latin typeface="Microsoft YaHei" panose="020B0503020204020204" pitchFamily="34" charset="-122"/>
              <a:ea typeface="Microsoft YaHei" panose="020B0503020204020204" pitchFamily="34" charset="-122"/>
            </a:endParaRPr>
          </a:p>
          <a:p>
            <a:pPr marL="108000" algn="just">
              <a:lnSpc>
                <a:spcPct val="150000"/>
              </a:lnSpc>
              <a:spcBef>
                <a:spcPts val="1200"/>
              </a:spcBef>
            </a:pPr>
            <a:endParaRPr lang="en-US" altLang="zh-CN" sz="400" kern="100" dirty="0">
              <a:effectLst/>
              <a:latin typeface="Microsoft YaHei" panose="020B0503020204020204" pitchFamily="34" charset="-122"/>
              <a:ea typeface="Microsoft YaHei" panose="020B0503020204020204" pitchFamily="34" charset="-122"/>
            </a:endParaRPr>
          </a:p>
          <a:p>
            <a:pPr marL="393750" indent="-285750" algn="just">
              <a:lnSpc>
                <a:spcPct val="150000"/>
              </a:lnSpc>
              <a:spcBef>
                <a:spcPts val="1200"/>
              </a:spcBef>
              <a:buFont typeface="Wingdings" pitchFamily="2" charset="2"/>
              <a:buChar char="l"/>
            </a:pPr>
            <a:r>
              <a:rPr lang="zh-CN" altLang="zh-CN" sz="1800" b="1" kern="100" dirty="0">
                <a:effectLst/>
                <a:latin typeface="Microsoft YaHei" panose="020B0503020204020204" pitchFamily="34" charset="-122"/>
                <a:ea typeface="Microsoft YaHei" panose="020B0503020204020204" pitchFamily="34" charset="-122"/>
              </a:rPr>
              <a:t>音乐速度的定义</a:t>
            </a:r>
            <a:r>
              <a:rPr lang="zh-CN" altLang="zh-CN" sz="1800" kern="100" dirty="0">
                <a:effectLst/>
                <a:latin typeface="Microsoft YaHei" panose="020B0503020204020204" pitchFamily="34" charset="-122"/>
                <a:ea typeface="Microsoft YaHei" panose="020B0503020204020204" pitchFamily="34" charset="-122"/>
              </a:rPr>
              <a:t>较为统一，是指单位时间内音乐进行的快慢，单位是以音乐每分钟的节拍数，即拍子的速率。</a:t>
            </a:r>
            <a:endParaRPr lang="en-US" altLang="zh-CN" sz="1800" kern="100" dirty="0">
              <a:effectLst/>
              <a:latin typeface="Microsoft YaHei" panose="020B0503020204020204" pitchFamily="34" charset="-122"/>
              <a:ea typeface="Microsoft YaHei" panose="020B0503020204020204" pitchFamily="34" charset="-122"/>
            </a:endParaRPr>
          </a:p>
          <a:p>
            <a:pPr marL="108000" algn="just">
              <a:lnSpc>
                <a:spcPct val="150000"/>
              </a:lnSpc>
              <a:spcBef>
                <a:spcPts val="1200"/>
              </a:spcBef>
            </a:pPr>
            <a:endParaRPr lang="en-US" altLang="zh-CN" sz="400" kern="100" dirty="0">
              <a:effectLst/>
              <a:latin typeface="Microsoft YaHei" panose="020B0503020204020204" pitchFamily="34" charset="-122"/>
              <a:ea typeface="Microsoft YaHei" panose="020B0503020204020204" pitchFamily="34" charset="-122"/>
            </a:endParaRPr>
          </a:p>
          <a:p>
            <a:pPr marL="393750" indent="-285750" algn="just">
              <a:lnSpc>
                <a:spcPct val="150000"/>
              </a:lnSpc>
              <a:spcBef>
                <a:spcPts val="1200"/>
              </a:spcBef>
              <a:buFont typeface="Wingdings" pitchFamily="2" charset="2"/>
              <a:buChar char="l"/>
            </a:pPr>
            <a:r>
              <a:rPr lang="zh-CN" altLang="zh-CN" sz="1800" kern="100" dirty="0">
                <a:effectLst/>
                <a:latin typeface="Microsoft YaHei" panose="020B0503020204020204" pitchFamily="34" charset="-122"/>
                <a:ea typeface="Microsoft YaHei" panose="020B0503020204020204" pitchFamily="34" charset="-122"/>
              </a:rPr>
              <a:t>对于慢、中、快速度的划分</a:t>
            </a:r>
            <a:r>
              <a:rPr lang="zh-CN" altLang="en-US" sz="1800" kern="100" dirty="0">
                <a:effectLst/>
                <a:latin typeface="Microsoft YaHei" panose="020B0503020204020204" pitchFamily="34" charset="-122"/>
                <a:ea typeface="Microsoft YaHei" panose="020B0503020204020204" pitchFamily="34" charset="-122"/>
              </a:rPr>
              <a:t>：</a:t>
            </a:r>
            <a:endParaRPr lang="en-US" altLang="zh-CN" sz="1800" kern="100" dirty="0">
              <a:effectLst/>
              <a:latin typeface="Microsoft YaHei" panose="020B0503020204020204" pitchFamily="34" charset="-122"/>
              <a:ea typeface="Microsoft YaHei" panose="020B0503020204020204" pitchFamily="34" charset="-122"/>
            </a:endParaRPr>
          </a:p>
          <a:p>
            <a:pPr marL="288000" algn="just">
              <a:lnSpc>
                <a:spcPct val="150000"/>
              </a:lnSpc>
              <a:spcBef>
                <a:spcPts val="600"/>
              </a:spcBef>
            </a:pPr>
            <a:r>
              <a:rPr lang="zh-CN" altLang="en-US" sz="1600" b="1" kern="0" dirty="0">
                <a:solidFill>
                  <a:schemeClr val="tx1">
                    <a:lumMod val="50000"/>
                    <a:lumOff val="50000"/>
                  </a:schemeClr>
                </a:solidFill>
                <a:effectLst/>
                <a:latin typeface="Microsoft YaHei" panose="020B0503020204020204" pitchFamily="34" charset="-122"/>
                <a:ea typeface="Microsoft YaHei" panose="020B0503020204020204" pitchFamily="34" charset="-122"/>
              </a:rPr>
              <a:t> </a:t>
            </a:r>
            <a:endParaRPr lang="en-US" altLang="zh-CN" sz="1600" b="1" kern="100" dirty="0">
              <a:solidFill>
                <a:schemeClr val="tx1">
                  <a:lumMod val="50000"/>
                  <a:lumOff val="50000"/>
                </a:schemeClr>
              </a:solidFill>
              <a:effectLst/>
              <a:latin typeface="Microsoft YaHei" panose="020B0503020204020204" pitchFamily="34" charset="-122"/>
              <a:ea typeface="Microsoft YaHei" panose="020B0503020204020204" pitchFamily="34" charset="-122"/>
            </a:endParaRPr>
          </a:p>
        </p:txBody>
      </p:sp>
      <p:sp>
        <p:nvSpPr>
          <p:cNvPr id="9" name="文本框 8">
            <a:extLst>
              <a:ext uri="{FF2B5EF4-FFF2-40B4-BE49-F238E27FC236}">
                <a16:creationId xmlns:a16="http://schemas.microsoft.com/office/drawing/2014/main" id="{AD54E31D-574D-A112-8653-C303676DE125}"/>
              </a:ext>
            </a:extLst>
          </p:cNvPr>
          <p:cNvSpPr txBox="1"/>
          <p:nvPr/>
        </p:nvSpPr>
        <p:spPr>
          <a:xfrm>
            <a:off x="3492854" y="4980803"/>
            <a:ext cx="8528817" cy="753220"/>
          </a:xfrm>
          <a:prstGeom prst="rect">
            <a:avLst/>
          </a:prstGeom>
          <a:noFill/>
        </p:spPr>
        <p:txBody>
          <a:bodyPr wrap="square">
            <a:spAutoFit/>
          </a:bodyPr>
          <a:lstStyle/>
          <a:p>
            <a:pPr lvl="1">
              <a:lnSpc>
                <a:spcPct val="125000"/>
              </a:lnSpc>
              <a:spcBef>
                <a:spcPts val="1200"/>
              </a:spcBef>
            </a:pPr>
            <a:r>
              <a:rPr lang="zh-CN" altLang="zh-CN" kern="100" dirty="0">
                <a:effectLst/>
                <a:latin typeface="Microsoft YaHei" panose="020B0503020204020204" pitchFamily="34" charset="-122"/>
                <a:ea typeface="Microsoft YaHei" panose="020B0503020204020204" pitchFamily="34" charset="-122"/>
              </a:rPr>
              <a:t>不同的研究选择的音乐速度值各异，但慢速、中速和快速</a:t>
            </a:r>
            <a:r>
              <a:rPr lang="en-US" altLang="zh-CN" kern="100" dirty="0">
                <a:effectLst/>
                <a:latin typeface="Microsoft YaHei" panose="020B0503020204020204" pitchFamily="34" charset="-122"/>
                <a:ea typeface="Microsoft YaHei" panose="020B0503020204020204" pitchFamily="34" charset="-122"/>
              </a:rPr>
              <a:t>BPM</a:t>
            </a:r>
            <a:r>
              <a:rPr lang="zh-CN" altLang="zh-CN" kern="100" dirty="0">
                <a:effectLst/>
                <a:latin typeface="Microsoft YaHei" panose="020B0503020204020204" pitchFamily="34" charset="-122"/>
                <a:ea typeface="Microsoft YaHei" panose="020B0503020204020204" pitchFamily="34" charset="-122"/>
              </a:rPr>
              <a:t>值大体都在某一范围</a:t>
            </a:r>
            <a:r>
              <a:rPr lang="zh-CN" altLang="zh-CN" b="1" kern="100" dirty="0">
                <a:effectLst/>
                <a:latin typeface="Microsoft YaHei" panose="020B0503020204020204" pitchFamily="34" charset="-122"/>
                <a:ea typeface="Microsoft YaHei" panose="020B0503020204020204" pitchFamily="34" charset="-122"/>
              </a:rPr>
              <a:t>。</a:t>
            </a:r>
            <a:endParaRPr lang="zh-CN" altLang="zh-CN" sz="1400" b="1" kern="100" dirty="0">
              <a:effectLs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2569634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6BE3E2-FB86-AF3F-CC6E-006B10F7803F}"/>
              </a:ext>
            </a:extLst>
          </p:cNvPr>
          <p:cNvSpPr>
            <a:spLocks noGrp="1"/>
          </p:cNvSpPr>
          <p:nvPr>
            <p:ph type="title"/>
          </p:nvPr>
        </p:nvSpPr>
        <p:spPr/>
        <p:txBody>
          <a:bodyPr/>
          <a:lstStyle/>
          <a:p>
            <a:r>
              <a:rPr kumimoji="1" lang="zh-CN" altLang="en-US" dirty="0"/>
              <a:t>文献综述  </a:t>
            </a:r>
            <a:r>
              <a:rPr kumimoji="1" lang="zh-CN" altLang="en-US" sz="2000" dirty="0"/>
              <a:t>音乐速度对驾驶行为的影响</a:t>
            </a:r>
          </a:p>
        </p:txBody>
      </p:sp>
      <p:sp>
        <p:nvSpPr>
          <p:cNvPr id="4" name="文本框 3">
            <a:extLst>
              <a:ext uri="{FF2B5EF4-FFF2-40B4-BE49-F238E27FC236}">
                <a16:creationId xmlns:a16="http://schemas.microsoft.com/office/drawing/2014/main" id="{E5058C9D-32AC-991B-5FA4-7F7C32A5D3CD}"/>
              </a:ext>
            </a:extLst>
          </p:cNvPr>
          <p:cNvSpPr txBox="1"/>
          <p:nvPr/>
        </p:nvSpPr>
        <p:spPr>
          <a:xfrm>
            <a:off x="277008" y="1264455"/>
            <a:ext cx="11298116" cy="369332"/>
          </a:xfrm>
          <a:prstGeom prst="rect">
            <a:avLst/>
          </a:prstGeom>
          <a:noFill/>
        </p:spPr>
        <p:txBody>
          <a:bodyPr wrap="square" rtlCol="0">
            <a:spAutoFit/>
          </a:bodyPr>
          <a:lstStyle/>
          <a:p>
            <a:pPr marL="285750" indent="-285750">
              <a:buFont typeface="Wingdings" pitchFamily="2" charset="2"/>
              <a:buChar char="p"/>
            </a:pPr>
            <a:r>
              <a:rPr lang="zh-CN" altLang="en-US" sz="1800" b="1" kern="100" dirty="0">
                <a:effectLst/>
                <a:latin typeface="Arial" panose="020B0604020202020204" pitchFamily="34" charset="0"/>
                <a:ea typeface="Microsoft YaHei" panose="020B0503020204020204" pitchFamily="34" charset="-122"/>
                <a:cs typeface="Arial" panose="020B0604020202020204" pitchFamily="34" charset="0"/>
              </a:rPr>
              <a:t>速度：</a:t>
            </a:r>
            <a:r>
              <a:rPr lang="zh-CN" altLang="zh-CN" sz="1800" kern="100" dirty="0">
                <a:effectLst/>
                <a:latin typeface="Arial" panose="020B0604020202020204" pitchFamily="34" charset="0"/>
                <a:ea typeface="Microsoft YaHei" panose="020B0503020204020204" pitchFamily="34" charset="-122"/>
                <a:cs typeface="Arial" panose="020B0604020202020204" pitchFamily="34" charset="0"/>
              </a:rPr>
              <a:t>一些学者 </a:t>
            </a:r>
            <a:r>
              <a:rPr lang="en-US" altLang="zh-CN" sz="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(Brodsky, 2001; Brodsky &amp; </a:t>
            </a:r>
            <a:r>
              <a:rPr lang="en-US" altLang="zh-CN" sz="1200" dirty="0" err="1">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Kizner</a:t>
            </a:r>
            <a:r>
              <a:rPr lang="en-US" altLang="zh-CN" sz="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2012b; van der </a:t>
            </a:r>
            <a:r>
              <a:rPr lang="en-US" altLang="zh-CN" sz="1200" dirty="0" err="1">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Zwaag</a:t>
            </a:r>
            <a:r>
              <a:rPr lang="zh-CN" altLang="zh-CN" sz="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等</a:t>
            </a:r>
            <a:r>
              <a:rPr lang="en-US" altLang="zh-CN" sz="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2012)</a:t>
            </a:r>
            <a:r>
              <a:rPr lang="en-US" altLang="zh-CN" sz="1200" kern="1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a:t>
            </a:r>
            <a:r>
              <a:rPr lang="zh-CN" altLang="zh-CN" sz="1800" kern="100" dirty="0">
                <a:effectLst/>
                <a:latin typeface="Arial" panose="020B0604020202020204" pitchFamily="34" charset="0"/>
                <a:ea typeface="Microsoft YaHei" panose="020B0503020204020204" pitchFamily="34" charset="-122"/>
                <a:cs typeface="Arial" panose="020B0604020202020204" pitchFamily="34" charset="0"/>
              </a:rPr>
              <a:t>认为，音乐速度快对驾驶有</a:t>
            </a:r>
            <a:r>
              <a:rPr lang="zh-CN" altLang="zh-CN" sz="1800" b="1" kern="100" dirty="0">
                <a:effectLst/>
                <a:latin typeface="Arial" panose="020B0604020202020204" pitchFamily="34" charset="0"/>
                <a:ea typeface="Microsoft YaHei" panose="020B0503020204020204" pitchFamily="34" charset="-122"/>
                <a:cs typeface="Arial" panose="020B0604020202020204" pitchFamily="34" charset="0"/>
              </a:rPr>
              <a:t>负面</a:t>
            </a:r>
            <a:r>
              <a:rPr lang="zh-CN" altLang="zh-CN" sz="1800" kern="100" dirty="0">
                <a:effectLst/>
                <a:latin typeface="Arial" panose="020B0604020202020204" pitchFamily="34" charset="0"/>
                <a:ea typeface="Microsoft YaHei" panose="020B0503020204020204" pitchFamily="34" charset="-122"/>
                <a:cs typeface="Arial" panose="020B0604020202020204" pitchFamily="34" charset="0"/>
              </a:rPr>
              <a:t>影响。</a:t>
            </a:r>
            <a:r>
              <a:rPr lang="zh-CN" altLang="zh-CN" sz="1200" dirty="0">
                <a:effectLst/>
                <a:latin typeface="Arial" panose="020B0604020202020204" pitchFamily="34" charset="0"/>
                <a:ea typeface="Microsoft YaHei" panose="020B0503020204020204" pitchFamily="34" charset="-122"/>
                <a:cs typeface="Arial" panose="020B0604020202020204" pitchFamily="34" charset="0"/>
              </a:rPr>
              <a:t> </a:t>
            </a:r>
            <a:endParaRPr kumimoji="1" lang="zh-CN" altLang="en-US" sz="1200" dirty="0">
              <a:solidFill>
                <a:schemeClr val="tx1">
                  <a:lumMod val="50000"/>
                  <a:lumOff val="50000"/>
                </a:schemeClr>
              </a:solidFill>
              <a:latin typeface="Arial" panose="020B0604020202020204" pitchFamily="34" charset="0"/>
              <a:ea typeface="Microsoft YaHei" panose="020B0503020204020204" pitchFamily="34" charset="-122"/>
              <a:cs typeface="Arial" panose="020B0604020202020204" pitchFamily="34" charset="0"/>
            </a:endParaRPr>
          </a:p>
        </p:txBody>
      </p:sp>
      <p:pic>
        <p:nvPicPr>
          <p:cNvPr id="1026" name="Picture 2">
            <a:extLst>
              <a:ext uri="{FF2B5EF4-FFF2-40B4-BE49-F238E27FC236}">
                <a16:creationId xmlns:a16="http://schemas.microsoft.com/office/drawing/2014/main" id="{97547E0E-8328-894C-1BDB-76341F8ADB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749" y="1863866"/>
            <a:ext cx="2340643" cy="143588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30D1A200-CA94-AA65-2069-FA469ADC8A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5630" y="1809215"/>
            <a:ext cx="2673773" cy="1525099"/>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EF34ED68-D747-7E5A-22A9-EECA186EAE12}"/>
              </a:ext>
            </a:extLst>
          </p:cNvPr>
          <p:cNvSpPr txBox="1"/>
          <p:nvPr/>
        </p:nvSpPr>
        <p:spPr>
          <a:xfrm>
            <a:off x="7156804" y="1970525"/>
            <a:ext cx="5014877" cy="1197572"/>
          </a:xfrm>
          <a:prstGeom prst="rect">
            <a:avLst/>
          </a:prstGeom>
          <a:noFill/>
        </p:spPr>
        <p:txBody>
          <a:bodyPr wrap="square">
            <a:spAutoFit/>
          </a:bodyPr>
          <a:lstStyle/>
          <a:p>
            <a:pPr marL="285750" indent="-144000">
              <a:lnSpc>
                <a:spcPct val="150000"/>
              </a:lnSpc>
              <a:buFont typeface="Arial" panose="020B0604020202020204" pitchFamily="34" charset="0"/>
              <a:buChar char="•"/>
            </a:pPr>
            <a:r>
              <a:rPr lang="zh-CN" altLang="zh-CN" sz="1600" kern="100" dirty="0">
                <a:effectLst/>
                <a:latin typeface="Arial" panose="020B0604020202020204" pitchFamily="34" charset="0"/>
                <a:ea typeface="Microsoft YaHei" panose="020B0503020204020204" pitchFamily="34" charset="-122"/>
                <a:cs typeface="Arial" panose="020B0604020202020204" pitchFamily="34" charset="0"/>
              </a:rPr>
              <a:t>在不同速度的音乐下，完成日常模拟驾驶任务时，发现在快速的背景音乐下，驾驶员有更快的驾驶速度、违规和变道次数也增多</a:t>
            </a:r>
            <a:r>
              <a:rPr lang="zh-CN" altLang="zh-CN" sz="1800" kern="100" dirty="0">
                <a:effectLst/>
                <a:latin typeface="Arial" panose="020B0604020202020204" pitchFamily="34" charset="0"/>
                <a:ea typeface="Microsoft YaHei" panose="020B0503020204020204" pitchFamily="34" charset="-122"/>
                <a:cs typeface="Arial" panose="020B0604020202020204" pitchFamily="34" charset="0"/>
              </a:rPr>
              <a:t>。</a:t>
            </a:r>
            <a:r>
              <a:rPr lang="zh-CN" altLang="zh-CN" sz="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a:t>
            </a:r>
            <a:r>
              <a:rPr lang="en-US" altLang="zh-CN" sz="1200" kern="1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(Brodsky</a:t>
            </a:r>
            <a:r>
              <a:rPr lang="zh-CN" altLang="en-US" sz="1200" kern="1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a:t>
            </a:r>
            <a:r>
              <a:rPr lang="en-US" altLang="zh-CN" sz="1200" kern="1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2001)</a:t>
            </a:r>
            <a:endParaRPr lang="zh-CN" altLang="en-US" sz="1200" dirty="0">
              <a:solidFill>
                <a:schemeClr val="tx1">
                  <a:lumMod val="50000"/>
                  <a:lumOff val="50000"/>
                </a:schemeClr>
              </a:solidFill>
              <a:latin typeface="Arial" panose="020B0604020202020204" pitchFamily="34" charset="0"/>
              <a:ea typeface="Microsoft YaHei" panose="020B0503020204020204" pitchFamily="34" charset="-122"/>
              <a:cs typeface="Arial" panose="020B0604020202020204" pitchFamily="34" charset="0"/>
            </a:endParaRPr>
          </a:p>
        </p:txBody>
      </p:sp>
      <p:sp>
        <p:nvSpPr>
          <p:cNvPr id="12" name="文本框 11">
            <a:extLst>
              <a:ext uri="{FF2B5EF4-FFF2-40B4-BE49-F238E27FC236}">
                <a16:creationId xmlns:a16="http://schemas.microsoft.com/office/drawing/2014/main" id="{00919253-B123-C638-85FE-A56E60BD76A6}"/>
              </a:ext>
            </a:extLst>
          </p:cNvPr>
          <p:cNvSpPr txBox="1"/>
          <p:nvPr/>
        </p:nvSpPr>
        <p:spPr>
          <a:xfrm>
            <a:off x="1516667" y="1891007"/>
            <a:ext cx="1150068" cy="276999"/>
          </a:xfrm>
          <a:prstGeom prst="rect">
            <a:avLst/>
          </a:prstGeom>
          <a:noFill/>
        </p:spPr>
        <p:txBody>
          <a:bodyPr wrap="square" rtlCol="0">
            <a:spAutoFit/>
          </a:bodyPr>
          <a:lstStyle/>
          <a:p>
            <a:r>
              <a:rPr kumimoji="1" lang="zh-CN" altLang="en-US" sz="1200" dirty="0">
                <a:latin typeface="Microsoft YaHei" panose="020B0503020204020204" pitchFamily="34" charset="-122"/>
                <a:ea typeface="Microsoft YaHei" panose="020B0503020204020204" pitchFamily="34" charset="-122"/>
              </a:rPr>
              <a:t>速度</a:t>
            </a:r>
          </a:p>
        </p:txBody>
      </p:sp>
      <p:sp>
        <p:nvSpPr>
          <p:cNvPr id="13" name="文本框 12">
            <a:extLst>
              <a:ext uri="{FF2B5EF4-FFF2-40B4-BE49-F238E27FC236}">
                <a16:creationId xmlns:a16="http://schemas.microsoft.com/office/drawing/2014/main" id="{6B4CA4CB-1FBF-C8D3-47ED-E093DE31A077}"/>
              </a:ext>
            </a:extLst>
          </p:cNvPr>
          <p:cNvSpPr txBox="1"/>
          <p:nvPr/>
        </p:nvSpPr>
        <p:spPr>
          <a:xfrm>
            <a:off x="3666093" y="1894803"/>
            <a:ext cx="1150068" cy="276999"/>
          </a:xfrm>
          <a:prstGeom prst="rect">
            <a:avLst/>
          </a:prstGeom>
          <a:noFill/>
        </p:spPr>
        <p:txBody>
          <a:bodyPr wrap="square" rtlCol="0">
            <a:spAutoFit/>
          </a:bodyPr>
          <a:lstStyle/>
          <a:p>
            <a:r>
              <a:rPr kumimoji="1" lang="zh-CN" altLang="en-US" sz="1200" dirty="0">
                <a:latin typeface="Microsoft YaHei" panose="020B0503020204020204" pitchFamily="34" charset="-122"/>
                <a:ea typeface="Microsoft YaHei" panose="020B0503020204020204" pitchFamily="34" charset="-122"/>
              </a:rPr>
              <a:t>变道</a:t>
            </a:r>
          </a:p>
        </p:txBody>
      </p:sp>
      <p:grpSp>
        <p:nvGrpSpPr>
          <p:cNvPr id="16" name="组合 15">
            <a:extLst>
              <a:ext uri="{FF2B5EF4-FFF2-40B4-BE49-F238E27FC236}">
                <a16:creationId xmlns:a16="http://schemas.microsoft.com/office/drawing/2014/main" id="{E721D05D-EACB-08C6-1CFE-CBC3903BDE3D}"/>
              </a:ext>
            </a:extLst>
          </p:cNvPr>
          <p:cNvGrpSpPr/>
          <p:nvPr/>
        </p:nvGrpSpPr>
        <p:grpSpPr>
          <a:xfrm>
            <a:off x="4936273" y="1912369"/>
            <a:ext cx="2340643" cy="1421945"/>
            <a:chOff x="404411" y="3965448"/>
            <a:chExt cx="2446330" cy="1525099"/>
          </a:xfrm>
        </p:grpSpPr>
        <p:pic>
          <p:nvPicPr>
            <p:cNvPr id="8" name="图片 7">
              <a:extLst>
                <a:ext uri="{FF2B5EF4-FFF2-40B4-BE49-F238E27FC236}">
                  <a16:creationId xmlns:a16="http://schemas.microsoft.com/office/drawing/2014/main" id="{EEFE4CC4-ED54-FF6F-34BC-D7836A609782}"/>
                </a:ext>
              </a:extLst>
            </p:cNvPr>
            <p:cNvPicPr>
              <a:picLocks noChangeAspect="1"/>
            </p:cNvPicPr>
            <p:nvPr/>
          </p:nvPicPr>
          <p:blipFill>
            <a:blip r:embed="rId5"/>
            <a:stretch>
              <a:fillRect/>
            </a:stretch>
          </p:blipFill>
          <p:spPr>
            <a:xfrm>
              <a:off x="404411" y="3965448"/>
              <a:ext cx="2446330" cy="1525099"/>
            </a:xfrm>
            <a:prstGeom prst="rect">
              <a:avLst/>
            </a:prstGeom>
          </p:spPr>
        </p:pic>
        <p:sp>
          <p:nvSpPr>
            <p:cNvPr id="15" name="文本框 14">
              <a:extLst>
                <a:ext uri="{FF2B5EF4-FFF2-40B4-BE49-F238E27FC236}">
                  <a16:creationId xmlns:a16="http://schemas.microsoft.com/office/drawing/2014/main" id="{E91BD8DE-1220-F237-9A0A-C7C9B5A8C001}"/>
                </a:ext>
              </a:extLst>
            </p:cNvPr>
            <p:cNvSpPr txBox="1"/>
            <p:nvPr/>
          </p:nvSpPr>
          <p:spPr>
            <a:xfrm>
              <a:off x="1308985" y="3977884"/>
              <a:ext cx="1150068" cy="276999"/>
            </a:xfrm>
            <a:prstGeom prst="rect">
              <a:avLst/>
            </a:prstGeom>
            <a:noFill/>
          </p:spPr>
          <p:txBody>
            <a:bodyPr wrap="square" rtlCol="0">
              <a:spAutoFit/>
            </a:bodyPr>
            <a:lstStyle/>
            <a:p>
              <a:r>
                <a:rPr kumimoji="1" lang="zh-CN" altLang="en-US" sz="1200" dirty="0">
                  <a:latin typeface="Microsoft YaHei" panose="020B0503020204020204" pitchFamily="34" charset="-122"/>
                  <a:ea typeface="Microsoft YaHei" panose="020B0503020204020204" pitchFamily="34" charset="-122"/>
                </a:rPr>
                <a:t>闯红灯</a:t>
              </a:r>
            </a:p>
          </p:txBody>
        </p:sp>
      </p:grpSp>
      <p:sp>
        <p:nvSpPr>
          <p:cNvPr id="18" name="文本框 17">
            <a:extLst>
              <a:ext uri="{FF2B5EF4-FFF2-40B4-BE49-F238E27FC236}">
                <a16:creationId xmlns:a16="http://schemas.microsoft.com/office/drawing/2014/main" id="{63AA3F86-85CC-5E84-5759-18F66476D8B1}"/>
              </a:ext>
            </a:extLst>
          </p:cNvPr>
          <p:cNvSpPr txBox="1"/>
          <p:nvPr/>
        </p:nvSpPr>
        <p:spPr>
          <a:xfrm>
            <a:off x="3932516" y="4029331"/>
            <a:ext cx="7771804" cy="787460"/>
          </a:xfrm>
          <a:prstGeom prst="rect">
            <a:avLst/>
          </a:prstGeom>
          <a:noFill/>
        </p:spPr>
        <p:txBody>
          <a:bodyPr wrap="square">
            <a:spAutoFit/>
          </a:bodyPr>
          <a:lstStyle/>
          <a:p>
            <a:pPr marL="285750" indent="-144000">
              <a:lnSpc>
                <a:spcPct val="150000"/>
              </a:lnSpc>
              <a:buFont typeface="Arial" panose="020B0604020202020204" pitchFamily="34" charset="0"/>
              <a:buChar char="•"/>
            </a:pPr>
            <a:r>
              <a:rPr lang="zh-CN" altLang="zh-CN" sz="1600" kern="100" dirty="0">
                <a:effectLst/>
                <a:latin typeface="Arial" panose="020B0604020202020204" pitchFamily="34" charset="0"/>
                <a:ea typeface="Microsoft YaHei" panose="020B0503020204020204" pitchFamily="34" charset="-122"/>
                <a:cs typeface="Arial" panose="020B0604020202020204" pitchFamily="34" charset="0"/>
              </a:rPr>
              <a:t>音乐速度影响驾驶员的心理负荷和危险知觉，快速度的背景音乐损害了驾驶员的危险知觉任务表现。</a:t>
            </a:r>
            <a:r>
              <a:rPr lang="en-US" altLang="zh-CN" sz="1200" kern="1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(Miao</a:t>
            </a:r>
            <a:r>
              <a:rPr lang="zh-CN" altLang="en-US" sz="1200" kern="1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a:t>
            </a:r>
            <a:r>
              <a:rPr lang="en-US" altLang="zh-CN" sz="1200" kern="1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2021)</a:t>
            </a:r>
            <a:r>
              <a:rPr lang="zh-CN" altLang="zh-CN" sz="1200" dirty="0">
                <a:effectLst/>
                <a:latin typeface="Arial" panose="020B0604020202020204" pitchFamily="34" charset="0"/>
                <a:ea typeface="Microsoft YaHei" panose="020B0503020204020204" pitchFamily="34" charset="-122"/>
                <a:cs typeface="Arial" panose="020B0604020202020204" pitchFamily="34" charset="0"/>
              </a:rPr>
              <a:t> </a:t>
            </a:r>
            <a:endParaRPr lang="zh-CN" altLang="en-US" sz="1200" dirty="0">
              <a:latin typeface="Arial" panose="020B0604020202020204" pitchFamily="34" charset="0"/>
              <a:ea typeface="Microsoft YaHei" panose="020B0503020204020204" pitchFamily="34" charset="-122"/>
              <a:cs typeface="Arial" panose="020B0604020202020204" pitchFamily="34" charset="0"/>
            </a:endParaRPr>
          </a:p>
        </p:txBody>
      </p:sp>
      <p:sp>
        <p:nvSpPr>
          <p:cNvPr id="20" name="文本框 19">
            <a:extLst>
              <a:ext uri="{FF2B5EF4-FFF2-40B4-BE49-F238E27FC236}">
                <a16:creationId xmlns:a16="http://schemas.microsoft.com/office/drawing/2014/main" id="{441AA671-BE74-7F47-59E9-C9EA35B7A5BC}"/>
              </a:ext>
            </a:extLst>
          </p:cNvPr>
          <p:cNvSpPr txBox="1"/>
          <p:nvPr/>
        </p:nvSpPr>
        <p:spPr>
          <a:xfrm>
            <a:off x="236926" y="5811531"/>
            <a:ext cx="11467394" cy="418128"/>
          </a:xfrm>
          <a:prstGeom prst="rect">
            <a:avLst/>
          </a:prstGeom>
          <a:noFill/>
        </p:spPr>
        <p:txBody>
          <a:bodyPr wrap="square">
            <a:spAutoFit/>
          </a:bodyPr>
          <a:lstStyle/>
          <a:p>
            <a:pPr marL="285750" indent="-285750">
              <a:lnSpc>
                <a:spcPct val="150000"/>
              </a:lnSpc>
              <a:buFont typeface="Wingdings" pitchFamily="2" charset="2"/>
              <a:buChar char="Ø"/>
            </a:pPr>
            <a:r>
              <a:rPr lang="zh-CN" altLang="en-US" sz="1600" dirty="0">
                <a:latin typeface="Microsoft YaHei" panose="020B0503020204020204" pitchFamily="34" charset="-122"/>
                <a:ea typeface="Microsoft YaHei" panose="020B0503020204020204" pitchFamily="34" charset="-122"/>
              </a:rPr>
              <a:t>在跟车任务中，</a:t>
            </a:r>
            <a:r>
              <a:rPr lang="zh-CN" altLang="en-US" sz="1600" b="1" dirty="0">
                <a:latin typeface="Microsoft YaHei" panose="020B0503020204020204" pitchFamily="34" charset="-122"/>
                <a:ea typeface="Microsoft YaHei" panose="020B0503020204020204" pitchFamily="34" charset="-122"/>
              </a:rPr>
              <a:t>快速的音乐下</a:t>
            </a:r>
            <a:r>
              <a:rPr lang="zh-CN" altLang="en-US" sz="1600" dirty="0">
                <a:latin typeface="Microsoft YaHei" panose="020B0503020204020204" pitchFamily="34" charset="-122"/>
                <a:ea typeface="Microsoft YaHei" panose="020B0503020204020204" pitchFamily="34" charset="-122"/>
              </a:rPr>
              <a:t>，</a:t>
            </a:r>
            <a:r>
              <a:rPr lang="zh-CN" altLang="en-US" sz="1600" b="1" dirty="0">
                <a:latin typeface="Microsoft YaHei" panose="020B0503020204020204" pitchFamily="34" charset="-122"/>
                <a:ea typeface="Microsoft YaHei" panose="020B0503020204020204" pitchFamily="34" charset="-122"/>
              </a:rPr>
              <a:t>跟车表现最差</a:t>
            </a:r>
            <a:r>
              <a:rPr lang="zh-CN" altLang="en-US" sz="1600" dirty="0">
                <a:latin typeface="Microsoft YaHei" panose="020B0503020204020204" pitchFamily="34" charset="-122"/>
                <a:ea typeface="Microsoft YaHei" panose="020B0503020204020204" pitchFamily="34" charset="-122"/>
              </a:rPr>
              <a:t>（前后车时间间隔最短），中等速度下表现最好</a:t>
            </a:r>
            <a:r>
              <a:rPr lang="zh-CN" altLang="en-US" sz="1200" kern="100" dirty="0">
                <a:latin typeface="Arial" panose="020B0604020202020204" pitchFamily="34" charset="0"/>
                <a:ea typeface="Microsoft YaHei" panose="020B0503020204020204" pitchFamily="34" charset="-122"/>
                <a:cs typeface="Arial" panose="020B0604020202020204" pitchFamily="34" charset="0"/>
              </a:rPr>
              <a:t>。</a:t>
            </a:r>
            <a:r>
              <a:rPr lang="en-US" altLang="zh-CN" sz="1200" kern="1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a:t>
            </a:r>
            <a:r>
              <a:rPr lang="en-US" altLang="zh-CN" sz="1200" kern="100" dirty="0" err="1">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Niu</a:t>
            </a:r>
            <a:r>
              <a:rPr lang="zh-CN" altLang="en-US" sz="1200" kern="1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a:t>
            </a:r>
            <a:r>
              <a:rPr lang="en-US" altLang="zh-CN" sz="1200" kern="1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2020)</a:t>
            </a:r>
            <a:r>
              <a:rPr lang="zh-CN" altLang="zh-CN" sz="1200" dirty="0">
                <a:effectLst/>
                <a:latin typeface="Arial" panose="020B0604020202020204" pitchFamily="34" charset="0"/>
                <a:ea typeface="Microsoft YaHei" panose="020B0503020204020204" pitchFamily="34" charset="-122"/>
                <a:cs typeface="Arial" panose="020B0604020202020204" pitchFamily="34" charset="0"/>
              </a:rPr>
              <a:t> </a:t>
            </a:r>
            <a:endParaRPr lang="zh-CN" altLang="en-US" sz="1200" dirty="0">
              <a:latin typeface="Microsoft YaHei" panose="020B0503020204020204" pitchFamily="34" charset="-122"/>
              <a:ea typeface="Microsoft YaHei" panose="020B0503020204020204" pitchFamily="34" charset="-122"/>
            </a:endParaRPr>
          </a:p>
        </p:txBody>
      </p:sp>
      <p:pic>
        <p:nvPicPr>
          <p:cNvPr id="7" name="图片 6">
            <a:extLst>
              <a:ext uri="{FF2B5EF4-FFF2-40B4-BE49-F238E27FC236}">
                <a16:creationId xmlns:a16="http://schemas.microsoft.com/office/drawing/2014/main" id="{D4E3B912-6078-C16E-5573-7656B9AEA417}"/>
              </a:ext>
            </a:extLst>
          </p:cNvPr>
          <p:cNvPicPr>
            <a:picLocks noChangeAspect="1"/>
          </p:cNvPicPr>
          <p:nvPr/>
        </p:nvPicPr>
        <p:blipFill>
          <a:blip r:embed="rId6"/>
          <a:stretch>
            <a:fillRect/>
          </a:stretch>
        </p:blipFill>
        <p:spPr>
          <a:xfrm>
            <a:off x="2127758" y="3391547"/>
            <a:ext cx="1907594" cy="2063028"/>
          </a:xfrm>
          <a:prstGeom prst="rect">
            <a:avLst/>
          </a:prstGeom>
        </p:spPr>
      </p:pic>
      <p:pic>
        <p:nvPicPr>
          <p:cNvPr id="10" name="图片 9">
            <a:extLst>
              <a:ext uri="{FF2B5EF4-FFF2-40B4-BE49-F238E27FC236}">
                <a16:creationId xmlns:a16="http://schemas.microsoft.com/office/drawing/2014/main" id="{23578B52-779B-CDF2-2F96-CBBCBEAF40BC}"/>
              </a:ext>
            </a:extLst>
          </p:cNvPr>
          <p:cNvPicPr>
            <a:picLocks noChangeAspect="1"/>
          </p:cNvPicPr>
          <p:nvPr/>
        </p:nvPicPr>
        <p:blipFill>
          <a:blip r:embed="rId7"/>
          <a:stretch>
            <a:fillRect/>
          </a:stretch>
        </p:blipFill>
        <p:spPr>
          <a:xfrm>
            <a:off x="338526" y="3547655"/>
            <a:ext cx="1659972" cy="1916448"/>
          </a:xfrm>
          <a:prstGeom prst="rect">
            <a:avLst/>
          </a:prstGeom>
        </p:spPr>
      </p:pic>
      <p:sp>
        <p:nvSpPr>
          <p:cNvPr id="17" name="文本框 16">
            <a:extLst>
              <a:ext uri="{FF2B5EF4-FFF2-40B4-BE49-F238E27FC236}">
                <a16:creationId xmlns:a16="http://schemas.microsoft.com/office/drawing/2014/main" id="{7A9E45E9-8C15-73D2-1D85-2B3A548C534C}"/>
              </a:ext>
            </a:extLst>
          </p:cNvPr>
          <p:cNvSpPr txBox="1"/>
          <p:nvPr/>
        </p:nvSpPr>
        <p:spPr>
          <a:xfrm>
            <a:off x="1721159" y="5164219"/>
            <a:ext cx="6096000" cy="230832"/>
          </a:xfrm>
          <a:prstGeom prst="rect">
            <a:avLst/>
          </a:prstGeom>
          <a:noFill/>
        </p:spPr>
        <p:txBody>
          <a:bodyPr wrap="square">
            <a:spAutoFit/>
          </a:bodyPr>
          <a:lstStyle/>
          <a:p>
            <a:r>
              <a:rPr lang="en-US" altLang="zh-CN" sz="900" kern="1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(Miao</a:t>
            </a:r>
            <a:r>
              <a:rPr lang="zh-CN" altLang="en-US" sz="900" kern="1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a:t>
            </a:r>
            <a:r>
              <a:rPr lang="en-US" altLang="zh-CN" sz="900" kern="1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2021)</a:t>
            </a:r>
            <a:r>
              <a:rPr lang="zh-CN" altLang="zh-CN" sz="900" dirty="0">
                <a:effectLst/>
                <a:latin typeface="Arial" panose="020B0604020202020204" pitchFamily="34" charset="0"/>
                <a:ea typeface="Microsoft YaHei" panose="020B0503020204020204" pitchFamily="34" charset="-122"/>
                <a:cs typeface="Arial" panose="020B0604020202020204" pitchFamily="34" charset="0"/>
              </a:rPr>
              <a:t> </a:t>
            </a:r>
            <a:endParaRPr lang="zh-CN" altLang="en-US" sz="900" dirty="0"/>
          </a:p>
        </p:txBody>
      </p:sp>
    </p:spTree>
    <p:extLst>
      <p:ext uri="{BB962C8B-B14F-4D97-AF65-F5344CB8AC3E}">
        <p14:creationId xmlns:p14="http://schemas.microsoft.com/office/powerpoint/2010/main" val="26256290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0BF648B1-8675-E92A-11A6-433E60A61D12}"/>
              </a:ext>
            </a:extLst>
          </p:cNvPr>
          <p:cNvPicPr>
            <a:picLocks noChangeAspect="1"/>
          </p:cNvPicPr>
          <p:nvPr/>
        </p:nvPicPr>
        <p:blipFill rotWithShape="1">
          <a:blip r:embed="rId3"/>
          <a:srcRect b="13619"/>
          <a:stretch/>
        </p:blipFill>
        <p:spPr>
          <a:xfrm>
            <a:off x="6802239" y="3050658"/>
            <a:ext cx="4986319" cy="1858997"/>
          </a:xfrm>
          <a:prstGeom prst="rect">
            <a:avLst/>
          </a:prstGeom>
        </p:spPr>
      </p:pic>
      <p:sp>
        <p:nvSpPr>
          <p:cNvPr id="2" name="标题 1">
            <a:extLst>
              <a:ext uri="{FF2B5EF4-FFF2-40B4-BE49-F238E27FC236}">
                <a16:creationId xmlns:a16="http://schemas.microsoft.com/office/drawing/2014/main" id="{C96BE3E2-FB86-AF3F-CC6E-006B10F7803F}"/>
              </a:ext>
            </a:extLst>
          </p:cNvPr>
          <p:cNvSpPr>
            <a:spLocks noGrp="1"/>
          </p:cNvSpPr>
          <p:nvPr>
            <p:ph type="title"/>
          </p:nvPr>
        </p:nvSpPr>
        <p:spPr/>
        <p:txBody>
          <a:bodyPr/>
          <a:lstStyle/>
          <a:p>
            <a:r>
              <a:rPr kumimoji="1" lang="zh-CN" altLang="en-US" dirty="0"/>
              <a:t>文献综述  </a:t>
            </a:r>
            <a:r>
              <a:rPr kumimoji="1" lang="zh-CN" altLang="en-US" sz="2000" dirty="0"/>
              <a:t>音乐速度对驾驶行为的影响</a:t>
            </a:r>
          </a:p>
        </p:txBody>
      </p:sp>
      <p:sp>
        <p:nvSpPr>
          <p:cNvPr id="4" name="文本框 3">
            <a:extLst>
              <a:ext uri="{FF2B5EF4-FFF2-40B4-BE49-F238E27FC236}">
                <a16:creationId xmlns:a16="http://schemas.microsoft.com/office/drawing/2014/main" id="{E5058C9D-32AC-991B-5FA4-7F7C32A5D3CD}"/>
              </a:ext>
            </a:extLst>
          </p:cNvPr>
          <p:cNvSpPr txBox="1"/>
          <p:nvPr/>
        </p:nvSpPr>
        <p:spPr>
          <a:xfrm>
            <a:off x="263419" y="1324210"/>
            <a:ext cx="11298116" cy="1711431"/>
          </a:xfrm>
          <a:prstGeom prst="rect">
            <a:avLst/>
          </a:prstGeom>
          <a:noFill/>
        </p:spPr>
        <p:txBody>
          <a:bodyPr wrap="square" rtlCol="0">
            <a:spAutoFit/>
          </a:bodyPr>
          <a:lstStyle/>
          <a:p>
            <a:pPr marL="285750" indent="-285750">
              <a:lnSpc>
                <a:spcPct val="150000"/>
              </a:lnSpc>
              <a:buFont typeface="Wingdings" pitchFamily="2" charset="2"/>
              <a:buChar char="p"/>
            </a:pPr>
            <a:r>
              <a:rPr lang="zh-CN" altLang="en-US" b="1" kern="100" dirty="0">
                <a:latin typeface="Arial" panose="020B0604020202020204" pitchFamily="34" charset="0"/>
                <a:ea typeface="Microsoft YaHei" panose="020B0503020204020204" pitchFamily="34" charset="-122"/>
                <a:cs typeface="Arial" panose="020B0604020202020204" pitchFamily="34" charset="0"/>
              </a:rPr>
              <a:t>音乐</a:t>
            </a:r>
            <a:r>
              <a:rPr lang="zh-CN" altLang="en-US" sz="1800" b="1" kern="100" dirty="0">
                <a:effectLst/>
                <a:latin typeface="Arial" panose="020B0604020202020204" pitchFamily="34" charset="0"/>
                <a:ea typeface="Microsoft YaHei" panose="020B0503020204020204" pitchFamily="34" charset="-122"/>
                <a:cs typeface="Arial" panose="020B0604020202020204" pitchFamily="34" charset="0"/>
              </a:rPr>
              <a:t>速度：</a:t>
            </a:r>
            <a:r>
              <a:rPr lang="zh-CN" altLang="zh-CN" sz="1800" kern="100" dirty="0">
                <a:effectLst/>
                <a:latin typeface="Arial" panose="020B0604020202020204" pitchFamily="34" charset="0"/>
                <a:ea typeface="Microsoft YaHei" panose="020B0503020204020204" pitchFamily="34" charset="-122"/>
                <a:cs typeface="Arial" panose="020B0604020202020204" pitchFamily="34" charset="0"/>
              </a:rPr>
              <a:t>一些学者 </a:t>
            </a:r>
            <a:r>
              <a:rPr lang="en-US" altLang="zh-CN" sz="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(Hasegawa &amp; </a:t>
            </a:r>
            <a:r>
              <a:rPr lang="en-US" altLang="zh-CN" sz="1200" dirty="0" err="1">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Oguri</a:t>
            </a:r>
            <a:r>
              <a:rPr lang="en-US" altLang="zh-CN" sz="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2006; Li</a:t>
            </a:r>
            <a:r>
              <a:rPr lang="zh-CN" altLang="en-US" sz="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等</a:t>
            </a:r>
            <a:r>
              <a:rPr lang="en-US" altLang="zh-CN" sz="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2019)</a:t>
            </a:r>
            <a:r>
              <a:rPr lang="en-US" altLang="zh-CN" sz="1200" kern="1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a:t>
            </a:r>
            <a:r>
              <a:rPr lang="zh-CN" altLang="zh-CN" sz="1800" kern="100" dirty="0">
                <a:effectLst/>
                <a:latin typeface="Arial" panose="020B0604020202020204" pitchFamily="34" charset="0"/>
                <a:ea typeface="Microsoft YaHei" panose="020B0503020204020204" pitchFamily="34" charset="-122"/>
                <a:cs typeface="Arial" panose="020B0604020202020204" pitchFamily="34" charset="0"/>
              </a:rPr>
              <a:t>认为，音乐速度快对驾驶有</a:t>
            </a:r>
            <a:r>
              <a:rPr lang="zh-CN" altLang="en-US" sz="1800" b="1" kern="100" dirty="0">
                <a:effectLst/>
                <a:latin typeface="Arial" panose="020B0604020202020204" pitchFamily="34" charset="0"/>
                <a:ea typeface="Microsoft YaHei" panose="020B0503020204020204" pitchFamily="34" charset="-122"/>
                <a:cs typeface="Arial" panose="020B0604020202020204" pitchFamily="34" charset="0"/>
              </a:rPr>
              <a:t>正</a:t>
            </a:r>
            <a:r>
              <a:rPr lang="zh-CN" altLang="zh-CN" sz="1800" b="1" kern="100" dirty="0">
                <a:effectLst/>
                <a:latin typeface="Arial" panose="020B0604020202020204" pitchFamily="34" charset="0"/>
                <a:ea typeface="Microsoft YaHei" panose="020B0503020204020204" pitchFamily="34" charset="-122"/>
                <a:cs typeface="Arial" panose="020B0604020202020204" pitchFamily="34" charset="0"/>
              </a:rPr>
              <a:t>面</a:t>
            </a:r>
            <a:r>
              <a:rPr lang="zh-CN" altLang="zh-CN" sz="1800" kern="100" dirty="0">
                <a:effectLst/>
                <a:latin typeface="Arial" panose="020B0604020202020204" pitchFamily="34" charset="0"/>
                <a:ea typeface="Microsoft YaHei" panose="020B0503020204020204" pitchFamily="34" charset="-122"/>
                <a:cs typeface="Arial" panose="020B0604020202020204" pitchFamily="34" charset="0"/>
              </a:rPr>
              <a:t>影响。</a:t>
            </a:r>
            <a:endParaRPr lang="en-US" altLang="zh-CN" sz="1800" kern="100" dirty="0">
              <a:effectLst/>
              <a:latin typeface="Arial" panose="020B0604020202020204" pitchFamily="34" charset="0"/>
              <a:ea typeface="Microsoft YaHei" panose="020B0503020204020204" pitchFamily="34" charset="-122"/>
              <a:cs typeface="Arial" panose="020B0604020202020204" pitchFamily="34" charset="0"/>
            </a:endParaRPr>
          </a:p>
          <a:p>
            <a:pPr marL="288000">
              <a:lnSpc>
                <a:spcPct val="150000"/>
              </a:lnSpc>
            </a:pPr>
            <a:endParaRPr lang="en-US" altLang="zh-CN" sz="1050" kern="100" dirty="0">
              <a:effectLst/>
              <a:latin typeface="Arial" panose="020B0604020202020204" pitchFamily="34" charset="0"/>
              <a:ea typeface="Microsoft YaHei" panose="020B0503020204020204" pitchFamily="34" charset="-122"/>
              <a:cs typeface="Arial" panose="020B0604020202020204" pitchFamily="34" charset="0"/>
            </a:endParaRPr>
          </a:p>
          <a:p>
            <a:pPr marL="288000">
              <a:lnSpc>
                <a:spcPct val="150000"/>
              </a:lnSpc>
            </a:pPr>
            <a:r>
              <a:rPr lang="zh-CN" altLang="en-US" sz="1600" kern="100" dirty="0">
                <a:effectLst/>
                <a:latin typeface="Arial" panose="020B0604020202020204" pitchFamily="34" charset="0"/>
                <a:ea typeface="Microsoft YaHei" panose="020B0503020204020204" pitchFamily="34" charset="-122"/>
                <a:cs typeface="Arial" panose="020B0604020202020204" pitchFamily="34" charset="0"/>
              </a:rPr>
              <a:t>快速度的音乐对</a:t>
            </a:r>
            <a:r>
              <a:rPr lang="zh-CN" altLang="en-US" sz="1600" b="1" kern="100" dirty="0">
                <a:effectLst/>
                <a:latin typeface="Arial" panose="020B0604020202020204" pitchFamily="34" charset="0"/>
                <a:ea typeface="Microsoft YaHei" panose="020B0503020204020204" pitchFamily="34" charset="-122"/>
                <a:cs typeface="Arial" panose="020B0604020202020204" pitchFamily="34" charset="0"/>
              </a:rPr>
              <a:t>缓解驾驶过程中的疲劳</a:t>
            </a:r>
            <a:r>
              <a:rPr lang="zh-CN" altLang="en-US" sz="1600" kern="100" dirty="0">
                <a:effectLst/>
                <a:latin typeface="Arial" panose="020B0604020202020204" pitchFamily="34" charset="0"/>
                <a:ea typeface="Microsoft YaHei" panose="020B0503020204020204" pitchFamily="34" charset="-122"/>
                <a:cs typeface="Arial" panose="020B0604020202020204" pitchFamily="34" charset="0"/>
              </a:rPr>
              <a:t>有利。相比于慢速的音乐，在快速的音乐下，驾驶员的心率和脑电波活动水平都更高，在快速的音乐下，有更高的唤醒和警觉 。</a:t>
            </a:r>
            <a:r>
              <a:rPr lang="zh-CN" altLang="zh-CN" sz="1100" dirty="0">
                <a:effectLst/>
                <a:latin typeface="Arial" panose="020B0604020202020204" pitchFamily="34" charset="0"/>
                <a:ea typeface="Microsoft YaHei" panose="020B0503020204020204" pitchFamily="34" charset="-122"/>
                <a:cs typeface="Arial" panose="020B0604020202020204" pitchFamily="34" charset="0"/>
              </a:rPr>
              <a:t> </a:t>
            </a:r>
            <a:endParaRPr lang="en-US" altLang="zh-CN" sz="1100" dirty="0">
              <a:effectLst/>
              <a:latin typeface="Arial" panose="020B0604020202020204" pitchFamily="34" charset="0"/>
              <a:ea typeface="Microsoft YaHei" panose="020B0503020204020204" pitchFamily="34" charset="-122"/>
              <a:cs typeface="Arial" panose="020B0604020202020204" pitchFamily="34" charset="0"/>
            </a:endParaRPr>
          </a:p>
          <a:p>
            <a:pPr marL="288000">
              <a:lnSpc>
                <a:spcPct val="150000"/>
              </a:lnSpc>
            </a:pPr>
            <a:endParaRPr kumimoji="1" lang="zh-CN" altLang="en-US" sz="1100" dirty="0">
              <a:solidFill>
                <a:schemeClr val="tx1">
                  <a:lumMod val="50000"/>
                  <a:lumOff val="50000"/>
                </a:schemeClr>
              </a:solidFill>
              <a:latin typeface="Arial" panose="020B0604020202020204" pitchFamily="34" charset="0"/>
              <a:ea typeface="Microsoft YaHei" panose="020B0503020204020204" pitchFamily="34" charset="-122"/>
              <a:cs typeface="Arial" panose="020B0604020202020204" pitchFamily="34" charset="0"/>
            </a:endParaRPr>
          </a:p>
        </p:txBody>
      </p:sp>
      <p:grpSp>
        <p:nvGrpSpPr>
          <p:cNvPr id="12" name="组合 11">
            <a:extLst>
              <a:ext uri="{FF2B5EF4-FFF2-40B4-BE49-F238E27FC236}">
                <a16:creationId xmlns:a16="http://schemas.microsoft.com/office/drawing/2014/main" id="{6A4E03CE-19CC-C721-171E-FB2AAEBBDD64}"/>
              </a:ext>
            </a:extLst>
          </p:cNvPr>
          <p:cNvGrpSpPr/>
          <p:nvPr/>
        </p:nvGrpSpPr>
        <p:grpSpPr>
          <a:xfrm>
            <a:off x="418464" y="3199153"/>
            <a:ext cx="6708270" cy="2078652"/>
            <a:chOff x="266786" y="2305798"/>
            <a:chExt cx="6708270" cy="2078652"/>
          </a:xfrm>
        </p:grpSpPr>
        <p:pic>
          <p:nvPicPr>
            <p:cNvPr id="5" name="图片 4">
              <a:extLst>
                <a:ext uri="{FF2B5EF4-FFF2-40B4-BE49-F238E27FC236}">
                  <a16:creationId xmlns:a16="http://schemas.microsoft.com/office/drawing/2014/main" id="{99603DDC-DAB3-45F0-CD5B-77BE3E7D38C8}"/>
                </a:ext>
              </a:extLst>
            </p:cNvPr>
            <p:cNvPicPr>
              <a:picLocks noChangeAspect="1"/>
            </p:cNvPicPr>
            <p:nvPr/>
          </p:nvPicPr>
          <p:blipFill>
            <a:blip r:embed="rId4"/>
            <a:stretch>
              <a:fillRect/>
            </a:stretch>
          </p:blipFill>
          <p:spPr>
            <a:xfrm>
              <a:off x="2423747" y="2305798"/>
              <a:ext cx="2204076" cy="2020403"/>
            </a:xfrm>
            <a:prstGeom prst="rect">
              <a:avLst/>
            </a:prstGeom>
          </p:spPr>
        </p:pic>
        <p:pic>
          <p:nvPicPr>
            <p:cNvPr id="6" name="图片 5">
              <a:extLst>
                <a:ext uri="{FF2B5EF4-FFF2-40B4-BE49-F238E27FC236}">
                  <a16:creationId xmlns:a16="http://schemas.microsoft.com/office/drawing/2014/main" id="{C77062F5-CE14-AF7A-1675-F180E7BB7394}"/>
                </a:ext>
              </a:extLst>
            </p:cNvPr>
            <p:cNvPicPr>
              <a:picLocks noChangeAspect="1"/>
            </p:cNvPicPr>
            <p:nvPr/>
          </p:nvPicPr>
          <p:blipFill>
            <a:blip r:embed="rId5"/>
            <a:stretch>
              <a:fillRect/>
            </a:stretch>
          </p:blipFill>
          <p:spPr>
            <a:xfrm>
              <a:off x="266786" y="2392568"/>
              <a:ext cx="2311682" cy="1874080"/>
            </a:xfrm>
            <a:prstGeom prst="rect">
              <a:avLst/>
            </a:prstGeom>
          </p:spPr>
        </p:pic>
        <p:pic>
          <p:nvPicPr>
            <p:cNvPr id="7" name="图片 6">
              <a:extLst>
                <a:ext uri="{FF2B5EF4-FFF2-40B4-BE49-F238E27FC236}">
                  <a16:creationId xmlns:a16="http://schemas.microsoft.com/office/drawing/2014/main" id="{36263CD6-98D9-C6E3-218A-F84DDC2F3C66}"/>
                </a:ext>
              </a:extLst>
            </p:cNvPr>
            <p:cNvPicPr>
              <a:picLocks noChangeAspect="1"/>
            </p:cNvPicPr>
            <p:nvPr/>
          </p:nvPicPr>
          <p:blipFill>
            <a:blip r:embed="rId6"/>
            <a:stretch>
              <a:fillRect/>
            </a:stretch>
          </p:blipFill>
          <p:spPr>
            <a:xfrm>
              <a:off x="4627823" y="2364047"/>
              <a:ext cx="2347233" cy="2020403"/>
            </a:xfrm>
            <a:prstGeom prst="rect">
              <a:avLst/>
            </a:prstGeom>
          </p:spPr>
        </p:pic>
      </p:grpSp>
      <p:sp>
        <p:nvSpPr>
          <p:cNvPr id="10" name="文本框 9">
            <a:extLst>
              <a:ext uri="{FF2B5EF4-FFF2-40B4-BE49-F238E27FC236}">
                <a16:creationId xmlns:a16="http://schemas.microsoft.com/office/drawing/2014/main" id="{3BD17540-2AFE-2EFD-E417-F7B8E302A785}"/>
              </a:ext>
            </a:extLst>
          </p:cNvPr>
          <p:cNvSpPr txBox="1"/>
          <p:nvPr/>
        </p:nvSpPr>
        <p:spPr>
          <a:xfrm>
            <a:off x="7710834" y="4991774"/>
            <a:ext cx="3694075" cy="400110"/>
          </a:xfrm>
          <a:prstGeom prst="rect">
            <a:avLst/>
          </a:prstGeom>
          <a:noFill/>
        </p:spPr>
        <p:txBody>
          <a:bodyPr wrap="square">
            <a:spAutoFit/>
          </a:bodyPr>
          <a:lstStyle/>
          <a:p>
            <a:r>
              <a:rPr lang="zh-CN" altLang="en-US" sz="1000" dirty="0">
                <a:solidFill>
                  <a:schemeClr val="tx1">
                    <a:lumMod val="50000"/>
                    <a:lumOff val="50000"/>
                  </a:schemeClr>
                </a:solidFill>
                <a:latin typeface="Microsoft YaHei" panose="020B0503020204020204" pitchFamily="34" charset="-122"/>
                <a:ea typeface="Microsoft YaHei" panose="020B0503020204020204" pitchFamily="34" charset="-122"/>
              </a:rPr>
              <a:t>Figure 3. R value curves for the four tempos during 75 to 140 min.</a:t>
            </a:r>
          </a:p>
        </p:txBody>
      </p:sp>
      <p:sp>
        <p:nvSpPr>
          <p:cNvPr id="14" name="文本框 13">
            <a:extLst>
              <a:ext uri="{FF2B5EF4-FFF2-40B4-BE49-F238E27FC236}">
                <a16:creationId xmlns:a16="http://schemas.microsoft.com/office/drawing/2014/main" id="{C5A91434-47D6-C136-BEA2-A9F11F2A7187}"/>
              </a:ext>
            </a:extLst>
          </p:cNvPr>
          <p:cNvSpPr txBox="1"/>
          <p:nvPr/>
        </p:nvSpPr>
        <p:spPr>
          <a:xfrm>
            <a:off x="2088773" y="5351342"/>
            <a:ext cx="6098058" cy="276999"/>
          </a:xfrm>
          <a:prstGeom prst="rect">
            <a:avLst/>
          </a:prstGeom>
          <a:noFill/>
        </p:spPr>
        <p:txBody>
          <a:bodyPr wrap="square">
            <a:spAutoFit/>
          </a:bodyPr>
          <a:lstStyle/>
          <a:p>
            <a:r>
              <a:rPr lang="en-US" altLang="zh-CN" sz="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(Hasegawa &amp; </a:t>
            </a:r>
            <a:r>
              <a:rPr lang="en-US" altLang="zh-CN" sz="1200" dirty="0" err="1">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Oguri</a:t>
            </a:r>
            <a:r>
              <a:rPr lang="en-US" altLang="zh-CN" sz="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2006</a:t>
            </a:r>
            <a:r>
              <a:rPr lang="en-US" altLang="zh-CN" sz="1200" dirty="0">
                <a:solidFill>
                  <a:schemeClr val="tx1">
                    <a:lumMod val="50000"/>
                    <a:lumOff val="50000"/>
                  </a:schemeClr>
                </a:solidFill>
                <a:latin typeface="Arial" panose="020B0604020202020204" pitchFamily="34" charset="0"/>
                <a:ea typeface="Microsoft YaHei" panose="020B0503020204020204" pitchFamily="34" charset="-122"/>
                <a:cs typeface="Arial" panose="020B0604020202020204" pitchFamily="34" charset="0"/>
              </a:rPr>
              <a:t>)</a:t>
            </a:r>
            <a:endParaRPr lang="zh-CN" altLang="en-US" sz="1200" dirty="0"/>
          </a:p>
        </p:txBody>
      </p:sp>
      <p:sp>
        <p:nvSpPr>
          <p:cNvPr id="16" name="文本框 15">
            <a:extLst>
              <a:ext uri="{FF2B5EF4-FFF2-40B4-BE49-F238E27FC236}">
                <a16:creationId xmlns:a16="http://schemas.microsoft.com/office/drawing/2014/main" id="{4469B937-5063-6EC9-4242-82762E1FF26F}"/>
              </a:ext>
            </a:extLst>
          </p:cNvPr>
          <p:cNvSpPr txBox="1"/>
          <p:nvPr/>
        </p:nvSpPr>
        <p:spPr>
          <a:xfrm>
            <a:off x="8917302" y="6354802"/>
            <a:ext cx="6098058" cy="276999"/>
          </a:xfrm>
          <a:prstGeom prst="rect">
            <a:avLst/>
          </a:prstGeom>
          <a:noFill/>
        </p:spPr>
        <p:txBody>
          <a:bodyPr wrap="square">
            <a:spAutoFit/>
          </a:bodyPr>
          <a:lstStyle/>
          <a:p>
            <a:r>
              <a:rPr lang="en-US" altLang="zh-CN" sz="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(Li</a:t>
            </a:r>
            <a:r>
              <a:rPr lang="zh-CN" altLang="en-US" sz="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等</a:t>
            </a:r>
            <a:r>
              <a:rPr lang="en-US" altLang="zh-CN" sz="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2019)</a:t>
            </a:r>
            <a:r>
              <a:rPr lang="en-US" altLang="zh-CN" sz="1200" kern="1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a:t>
            </a:r>
            <a:endParaRPr lang="zh-CN" altLang="en-US" sz="1200" dirty="0"/>
          </a:p>
        </p:txBody>
      </p:sp>
    </p:spTree>
    <p:extLst>
      <p:ext uri="{BB962C8B-B14F-4D97-AF65-F5344CB8AC3E}">
        <p14:creationId xmlns:p14="http://schemas.microsoft.com/office/powerpoint/2010/main" val="6932992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04FE9331-D65D-4EC8-2BCF-8CE4BF23EE76}"/>
              </a:ext>
            </a:extLst>
          </p:cNvPr>
          <p:cNvSpPr txBox="1"/>
          <p:nvPr/>
        </p:nvSpPr>
        <p:spPr>
          <a:xfrm>
            <a:off x="684441" y="2244110"/>
            <a:ext cx="5707789" cy="874407"/>
          </a:xfrm>
          <a:prstGeom prst="rect">
            <a:avLst/>
          </a:prstGeom>
          <a:noFill/>
        </p:spPr>
        <p:txBody>
          <a:bodyPr wrap="square">
            <a:spAutoFit/>
          </a:bodyPr>
          <a:lstStyle/>
          <a:p>
            <a:pPr marL="285750" indent="-285750">
              <a:lnSpc>
                <a:spcPct val="150000"/>
              </a:lnSpc>
              <a:buFont typeface="Wingdings" pitchFamily="2" charset="2"/>
              <a:buChar char="p"/>
            </a:pPr>
            <a:r>
              <a:rPr lang="zh-CN" altLang="en-US" dirty="0">
                <a:latin typeface="Microsoft YaHei" panose="020B0503020204020204" pitchFamily="34" charset="-122"/>
                <a:ea typeface="Microsoft YaHei" panose="020B0503020204020204" pitchFamily="34" charset="-122"/>
              </a:rPr>
              <a:t>更快的速度与更高水平的主观唤醒相关，也与副交感神经系统活动的更大程度减少相关 </a:t>
            </a:r>
            <a:r>
              <a:rPr lang="en" altLang="zh-CN" sz="1200" dirty="0">
                <a:solidFill>
                  <a:schemeClr val="tx1">
                    <a:lumMod val="50000"/>
                    <a:lumOff val="50000"/>
                  </a:schemeClr>
                </a:solidFill>
                <a:latin typeface="Microsoft YaHei" panose="020B0503020204020204" pitchFamily="34" charset="-122"/>
                <a:ea typeface="Microsoft YaHei" panose="020B0503020204020204" pitchFamily="34" charset="-122"/>
              </a:rPr>
              <a:t>(Ellis, 2009)</a:t>
            </a:r>
            <a:endParaRPr lang="zh-CN" altLang="en-US" sz="1200" dirty="0">
              <a:latin typeface="Microsoft YaHei" panose="020B0503020204020204" pitchFamily="34" charset="-122"/>
              <a:ea typeface="Microsoft YaHei" panose="020B0503020204020204" pitchFamily="34" charset="-122"/>
            </a:endParaRPr>
          </a:p>
        </p:txBody>
      </p:sp>
      <p:sp>
        <p:nvSpPr>
          <p:cNvPr id="14" name="文本框 13">
            <a:extLst>
              <a:ext uri="{FF2B5EF4-FFF2-40B4-BE49-F238E27FC236}">
                <a16:creationId xmlns:a16="http://schemas.microsoft.com/office/drawing/2014/main" id="{436B8706-02DD-2D0C-74C5-F462966831FB}"/>
              </a:ext>
            </a:extLst>
          </p:cNvPr>
          <p:cNvSpPr txBox="1"/>
          <p:nvPr/>
        </p:nvSpPr>
        <p:spPr>
          <a:xfrm>
            <a:off x="1530345" y="6384634"/>
            <a:ext cx="5170469" cy="430887"/>
          </a:xfrm>
          <a:prstGeom prst="rect">
            <a:avLst/>
          </a:prstGeom>
          <a:noFill/>
        </p:spPr>
        <p:txBody>
          <a:bodyPr wrap="square">
            <a:spAutoFit/>
          </a:bodyPr>
          <a:lstStyle/>
          <a:p>
            <a:r>
              <a:rPr lang="en" altLang="zh-CN" sz="1050" dirty="0">
                <a:solidFill>
                  <a:schemeClr val="tx1">
                    <a:lumMod val="50000"/>
                    <a:lumOff val="50000"/>
                  </a:schemeClr>
                </a:solidFill>
                <a:latin typeface="Arial" panose="020B0604020202020204" pitchFamily="34" charset="0"/>
                <a:cs typeface="Arial" panose="020B0604020202020204" pitchFamily="34" charset="0"/>
              </a:rPr>
              <a:t>Figure 3 Valence </a:t>
            </a:r>
            <a:r>
              <a:rPr lang="zh-CN" altLang="en-US" sz="1050" dirty="0">
                <a:solidFill>
                  <a:schemeClr val="tx1">
                    <a:lumMod val="50000"/>
                    <a:lumOff val="50000"/>
                  </a:schemeClr>
                </a:solidFill>
                <a:latin typeface="Arial" panose="020B0604020202020204" pitchFamily="34" charset="0"/>
                <a:cs typeface="Arial" panose="020B0604020202020204" pitchFamily="34" charset="0"/>
              </a:rPr>
              <a:t>，</a:t>
            </a:r>
            <a:r>
              <a:rPr lang="en" altLang="zh-CN" sz="1050" dirty="0">
                <a:solidFill>
                  <a:schemeClr val="tx1">
                    <a:lumMod val="50000"/>
                    <a:lumOff val="50000"/>
                  </a:schemeClr>
                </a:solidFill>
                <a:latin typeface="Arial" panose="020B0604020202020204" pitchFamily="34" charset="0"/>
                <a:cs typeface="Arial" panose="020B0604020202020204" pitchFamily="34" charset="0"/>
              </a:rPr>
              <a:t>Arousal ratings</a:t>
            </a:r>
            <a:r>
              <a:rPr lang="zh-CN" altLang="en-US" sz="1050" dirty="0">
                <a:solidFill>
                  <a:schemeClr val="tx1">
                    <a:lumMod val="50000"/>
                    <a:lumOff val="50000"/>
                  </a:schemeClr>
                </a:solidFill>
                <a:latin typeface="Arial" panose="020B0604020202020204" pitchFamily="34" charset="0"/>
                <a:cs typeface="Arial" panose="020B0604020202020204" pitchFamily="34" charset="0"/>
              </a:rPr>
              <a:t> </a:t>
            </a:r>
            <a:r>
              <a:rPr lang="en-US" altLang="zh-CN" sz="1050" dirty="0">
                <a:solidFill>
                  <a:schemeClr val="tx1">
                    <a:lumMod val="50000"/>
                    <a:lumOff val="50000"/>
                  </a:schemeClr>
                </a:solidFill>
                <a:latin typeface="Arial" panose="020B0604020202020204" pitchFamily="34" charset="0"/>
                <a:cs typeface="Arial" panose="020B0604020202020204" pitchFamily="34" charset="0"/>
              </a:rPr>
              <a:t>and</a:t>
            </a:r>
            <a:r>
              <a:rPr lang="zh-CN" altLang="en-US" sz="1050" dirty="0">
                <a:solidFill>
                  <a:schemeClr val="tx1">
                    <a:lumMod val="50000"/>
                    <a:lumOff val="50000"/>
                  </a:schemeClr>
                </a:solidFill>
                <a:latin typeface="Arial" panose="020B0604020202020204" pitchFamily="34" charset="0"/>
                <a:cs typeface="Arial" panose="020B0604020202020204" pitchFamily="34" charset="0"/>
              </a:rPr>
              <a:t> </a:t>
            </a:r>
            <a:r>
              <a:rPr lang="en" altLang="zh-CN" sz="1050" dirty="0">
                <a:solidFill>
                  <a:schemeClr val="tx1">
                    <a:lumMod val="50000"/>
                    <a:lumOff val="50000"/>
                  </a:schemeClr>
                </a:solidFill>
                <a:latin typeface="Arial" panose="020B0604020202020204" pitchFamily="34" charset="0"/>
                <a:cs typeface="Arial" panose="020B0604020202020204" pitchFamily="34" charset="0"/>
              </a:rPr>
              <a:t>Physiological reactivity as a function of Tempo.</a:t>
            </a:r>
            <a:endParaRPr lang="zh-CN" altLang="en-US" sz="105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15" name="文本框 14">
            <a:extLst>
              <a:ext uri="{FF2B5EF4-FFF2-40B4-BE49-F238E27FC236}">
                <a16:creationId xmlns:a16="http://schemas.microsoft.com/office/drawing/2014/main" id="{67819BB6-ED38-A989-3803-67AC9F84AB5F}"/>
              </a:ext>
            </a:extLst>
          </p:cNvPr>
          <p:cNvSpPr txBox="1"/>
          <p:nvPr/>
        </p:nvSpPr>
        <p:spPr>
          <a:xfrm>
            <a:off x="6718308" y="2244110"/>
            <a:ext cx="5473692" cy="1167692"/>
          </a:xfrm>
          <a:prstGeom prst="rect">
            <a:avLst/>
          </a:prstGeom>
          <a:noFill/>
        </p:spPr>
        <p:txBody>
          <a:bodyPr wrap="square">
            <a:spAutoFit/>
          </a:bodyPr>
          <a:lstStyle/>
          <a:p>
            <a:pPr marL="285750" indent="-285750">
              <a:lnSpc>
                <a:spcPct val="150000"/>
              </a:lnSpc>
              <a:buFont typeface="Wingdings" pitchFamily="2" charset="2"/>
              <a:buChar char="p"/>
            </a:pPr>
            <a:r>
              <a:rPr lang="zh-CN" altLang="en-US" dirty="0">
                <a:latin typeface="Microsoft YaHei" panose="020B0503020204020204" pitchFamily="34" charset="-122"/>
                <a:ea typeface="Microsoft YaHei" panose="020B0503020204020204" pitchFamily="34" charset="-122"/>
              </a:rPr>
              <a:t>当在快速的重金属音乐下，被试在打气次数显著多于慢速，有更高的冒险水平 </a:t>
            </a:r>
            <a:r>
              <a:rPr lang="en-US" altLang="zh-CN" sz="1200" dirty="0">
                <a:solidFill>
                  <a:schemeClr val="tx1">
                    <a:lumMod val="50000"/>
                    <a:lumOff val="50000"/>
                  </a:schemeClr>
                </a:solidFill>
                <a:latin typeface="Microsoft YaHei" panose="020B0503020204020204" pitchFamily="34" charset="-122"/>
                <a:ea typeface="Microsoft YaHei" panose="020B0503020204020204" pitchFamily="34" charset="-122"/>
              </a:rPr>
              <a:t>(</a:t>
            </a:r>
            <a:r>
              <a:rPr lang="zh-CN" altLang="en-US" sz="1200" dirty="0">
                <a:solidFill>
                  <a:schemeClr val="tx1">
                    <a:lumMod val="50000"/>
                    <a:lumOff val="50000"/>
                  </a:schemeClr>
                </a:solidFill>
                <a:latin typeface="Microsoft YaHei" panose="020B0503020204020204" pitchFamily="34" charset="-122"/>
                <a:ea typeface="Microsoft YaHei" panose="020B0503020204020204" pitchFamily="34" charset="-122"/>
              </a:rPr>
              <a:t>杜文轩</a:t>
            </a:r>
            <a:r>
              <a:rPr lang="en-US" altLang="zh-CN" sz="1200" dirty="0">
                <a:solidFill>
                  <a:schemeClr val="tx1">
                    <a:lumMod val="50000"/>
                    <a:lumOff val="50000"/>
                  </a:schemeClr>
                </a:solidFill>
                <a:latin typeface="Microsoft YaHei" panose="020B0503020204020204" pitchFamily="34" charset="-122"/>
                <a:ea typeface="Microsoft YaHei" panose="020B0503020204020204" pitchFamily="34" charset="-122"/>
              </a:rPr>
              <a:t>, 2014)</a:t>
            </a:r>
          </a:p>
          <a:p>
            <a:pPr marL="285750" indent="-285750">
              <a:lnSpc>
                <a:spcPct val="150000"/>
              </a:lnSpc>
              <a:buFont typeface="Wingdings" pitchFamily="2" charset="2"/>
              <a:buChar char="p"/>
            </a:pPr>
            <a:endParaRPr lang="zh-CN" altLang="en-US" sz="1200" dirty="0">
              <a:latin typeface="Microsoft YaHei" panose="020B0503020204020204" pitchFamily="34" charset="-122"/>
              <a:ea typeface="Microsoft YaHei" panose="020B0503020204020204" pitchFamily="34" charset="-122"/>
            </a:endParaRPr>
          </a:p>
        </p:txBody>
      </p:sp>
      <p:pic>
        <p:nvPicPr>
          <p:cNvPr id="3" name="图片 2">
            <a:extLst>
              <a:ext uri="{FF2B5EF4-FFF2-40B4-BE49-F238E27FC236}">
                <a16:creationId xmlns:a16="http://schemas.microsoft.com/office/drawing/2014/main" id="{9EEA5E74-F525-71F7-5608-0FEC35A9D4CE}"/>
              </a:ext>
            </a:extLst>
          </p:cNvPr>
          <p:cNvPicPr>
            <a:picLocks noChangeAspect="1"/>
          </p:cNvPicPr>
          <p:nvPr/>
        </p:nvPicPr>
        <p:blipFill rotWithShape="1">
          <a:blip r:embed="rId3"/>
          <a:srcRect b="6842"/>
          <a:stretch/>
        </p:blipFill>
        <p:spPr>
          <a:xfrm>
            <a:off x="1095680" y="3349241"/>
            <a:ext cx="2673828" cy="2758734"/>
          </a:xfrm>
          <a:prstGeom prst="rect">
            <a:avLst/>
          </a:prstGeom>
        </p:spPr>
      </p:pic>
      <p:pic>
        <p:nvPicPr>
          <p:cNvPr id="4" name="图片 3">
            <a:extLst>
              <a:ext uri="{FF2B5EF4-FFF2-40B4-BE49-F238E27FC236}">
                <a16:creationId xmlns:a16="http://schemas.microsoft.com/office/drawing/2014/main" id="{FB1DEA3C-7AAC-B5BD-D5F6-BB2EA47ADE38}"/>
              </a:ext>
            </a:extLst>
          </p:cNvPr>
          <p:cNvPicPr>
            <a:picLocks noChangeAspect="1"/>
          </p:cNvPicPr>
          <p:nvPr/>
        </p:nvPicPr>
        <p:blipFill>
          <a:blip r:embed="rId4"/>
          <a:stretch>
            <a:fillRect/>
          </a:stretch>
        </p:blipFill>
        <p:spPr>
          <a:xfrm>
            <a:off x="3911744" y="3432984"/>
            <a:ext cx="2169742" cy="2720926"/>
          </a:xfrm>
          <a:prstGeom prst="rect">
            <a:avLst/>
          </a:prstGeom>
        </p:spPr>
      </p:pic>
      <p:pic>
        <p:nvPicPr>
          <p:cNvPr id="5" name="图片 4">
            <a:extLst>
              <a:ext uri="{FF2B5EF4-FFF2-40B4-BE49-F238E27FC236}">
                <a16:creationId xmlns:a16="http://schemas.microsoft.com/office/drawing/2014/main" id="{1F728D1D-816A-C5A9-A7F7-93B4D65CC37A}"/>
              </a:ext>
            </a:extLst>
          </p:cNvPr>
          <p:cNvPicPr>
            <a:picLocks noChangeAspect="1"/>
          </p:cNvPicPr>
          <p:nvPr/>
        </p:nvPicPr>
        <p:blipFill>
          <a:blip r:embed="rId5"/>
          <a:stretch>
            <a:fillRect/>
          </a:stretch>
        </p:blipFill>
        <p:spPr>
          <a:xfrm>
            <a:off x="3428428" y="6174022"/>
            <a:ext cx="622300" cy="190500"/>
          </a:xfrm>
          <a:prstGeom prst="rect">
            <a:avLst/>
          </a:prstGeom>
        </p:spPr>
      </p:pic>
      <p:pic>
        <p:nvPicPr>
          <p:cNvPr id="6" name="图片 5">
            <a:extLst>
              <a:ext uri="{FF2B5EF4-FFF2-40B4-BE49-F238E27FC236}">
                <a16:creationId xmlns:a16="http://schemas.microsoft.com/office/drawing/2014/main" id="{CDD0666D-77DA-7122-56C8-FDC3778C16E5}"/>
              </a:ext>
            </a:extLst>
          </p:cNvPr>
          <p:cNvPicPr>
            <a:picLocks noChangeAspect="1"/>
          </p:cNvPicPr>
          <p:nvPr/>
        </p:nvPicPr>
        <p:blipFill>
          <a:blip r:embed="rId6"/>
          <a:stretch>
            <a:fillRect/>
          </a:stretch>
        </p:blipFill>
        <p:spPr>
          <a:xfrm>
            <a:off x="7407826" y="3435726"/>
            <a:ext cx="4094655" cy="3049865"/>
          </a:xfrm>
          <a:prstGeom prst="rect">
            <a:avLst/>
          </a:prstGeom>
        </p:spPr>
      </p:pic>
      <p:pic>
        <p:nvPicPr>
          <p:cNvPr id="13" name="图片 12">
            <a:extLst>
              <a:ext uri="{FF2B5EF4-FFF2-40B4-BE49-F238E27FC236}">
                <a16:creationId xmlns:a16="http://schemas.microsoft.com/office/drawing/2014/main" id="{261110C1-29E4-12C8-AFAE-CB4F48109FA9}"/>
              </a:ext>
            </a:extLst>
          </p:cNvPr>
          <p:cNvPicPr>
            <a:picLocks noChangeAspect="1"/>
          </p:cNvPicPr>
          <p:nvPr/>
        </p:nvPicPr>
        <p:blipFill>
          <a:blip r:embed="rId7"/>
          <a:stretch>
            <a:fillRect/>
          </a:stretch>
        </p:blipFill>
        <p:spPr>
          <a:xfrm>
            <a:off x="8573971" y="6332027"/>
            <a:ext cx="2012219" cy="307128"/>
          </a:xfrm>
          <a:prstGeom prst="rect">
            <a:avLst/>
          </a:prstGeom>
        </p:spPr>
      </p:pic>
      <p:sp>
        <p:nvSpPr>
          <p:cNvPr id="12" name="标题 1">
            <a:extLst>
              <a:ext uri="{FF2B5EF4-FFF2-40B4-BE49-F238E27FC236}">
                <a16:creationId xmlns:a16="http://schemas.microsoft.com/office/drawing/2014/main" id="{0697D5DC-9B31-2E30-CE7F-32A80926F3CA}"/>
              </a:ext>
            </a:extLst>
          </p:cNvPr>
          <p:cNvSpPr>
            <a:spLocks noGrp="1"/>
          </p:cNvSpPr>
          <p:nvPr>
            <p:ph type="title"/>
          </p:nvPr>
        </p:nvSpPr>
        <p:spPr>
          <a:xfrm>
            <a:off x="339443" y="-16370"/>
            <a:ext cx="10515600" cy="1325563"/>
          </a:xfrm>
        </p:spPr>
        <p:txBody>
          <a:bodyPr/>
          <a:lstStyle/>
          <a:p>
            <a:r>
              <a:rPr kumimoji="1" lang="zh-CN" altLang="en-US" dirty="0"/>
              <a:t>文献综述  </a:t>
            </a:r>
            <a:r>
              <a:rPr kumimoji="1" lang="zh-CN" altLang="en-US" sz="2000" dirty="0"/>
              <a:t>音乐速度对情绪及认知的影响</a:t>
            </a:r>
          </a:p>
        </p:txBody>
      </p:sp>
      <p:sp>
        <p:nvSpPr>
          <p:cNvPr id="16" name="文本框 15">
            <a:extLst>
              <a:ext uri="{FF2B5EF4-FFF2-40B4-BE49-F238E27FC236}">
                <a16:creationId xmlns:a16="http://schemas.microsoft.com/office/drawing/2014/main" id="{DF6AEE51-B3A6-2227-69FA-C9F0FE40FA94}"/>
              </a:ext>
            </a:extLst>
          </p:cNvPr>
          <p:cNvSpPr txBox="1"/>
          <p:nvPr/>
        </p:nvSpPr>
        <p:spPr>
          <a:xfrm>
            <a:off x="2527117" y="1467173"/>
            <a:ext cx="1242391" cy="369332"/>
          </a:xfrm>
          <a:prstGeom prst="rect">
            <a:avLst/>
          </a:prstGeom>
          <a:noFill/>
        </p:spPr>
        <p:txBody>
          <a:bodyPr wrap="square" rtlCol="0">
            <a:spAutoFit/>
          </a:bodyPr>
          <a:lstStyle/>
          <a:p>
            <a:r>
              <a:rPr kumimoji="1" lang="zh-CN" altLang="en-US" b="1" dirty="0">
                <a:latin typeface="Microsoft YaHei" panose="020B0503020204020204" pitchFamily="34" charset="-122"/>
                <a:ea typeface="Microsoft YaHei" panose="020B0503020204020204" pitchFamily="34" charset="-122"/>
              </a:rPr>
              <a:t>音乐</a:t>
            </a:r>
          </a:p>
        </p:txBody>
      </p:sp>
      <p:cxnSp>
        <p:nvCxnSpPr>
          <p:cNvPr id="17" name="直线箭头连接符 16">
            <a:extLst>
              <a:ext uri="{FF2B5EF4-FFF2-40B4-BE49-F238E27FC236}">
                <a16:creationId xmlns:a16="http://schemas.microsoft.com/office/drawing/2014/main" id="{82683B19-BAB7-0737-FFAD-686FABC1769E}"/>
              </a:ext>
            </a:extLst>
          </p:cNvPr>
          <p:cNvCxnSpPr/>
          <p:nvPr/>
        </p:nvCxnSpPr>
        <p:spPr>
          <a:xfrm>
            <a:off x="3329228" y="1640049"/>
            <a:ext cx="1635926"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0C72D37A-AF31-01B1-F2C6-C3B753AA8B06}"/>
              </a:ext>
            </a:extLst>
          </p:cNvPr>
          <p:cNvSpPr txBox="1"/>
          <p:nvPr/>
        </p:nvSpPr>
        <p:spPr>
          <a:xfrm>
            <a:off x="5065104" y="1411952"/>
            <a:ext cx="1988933" cy="461665"/>
          </a:xfrm>
          <a:prstGeom prst="rect">
            <a:avLst/>
          </a:prstGeom>
          <a:noFill/>
        </p:spPr>
        <p:txBody>
          <a:bodyPr wrap="square" rtlCol="0">
            <a:spAutoFit/>
          </a:bodyPr>
          <a:lstStyle/>
          <a:p>
            <a:r>
              <a:rPr kumimoji="1" lang="zh-CN" altLang="en-US" sz="2400" b="1" dirty="0">
                <a:solidFill>
                  <a:schemeClr val="accent1"/>
                </a:solidFill>
                <a:effectLst>
                  <a:outerShdw blurRad="63500" sx="102000" sy="102000" algn="ctr" rotWithShape="0">
                    <a:prstClr val="black">
                      <a:alpha val="40000"/>
                    </a:prstClr>
                  </a:outerShdw>
                </a:effectLst>
                <a:latin typeface="Microsoft YaHei" panose="020B0503020204020204" pitchFamily="34" charset="-122"/>
                <a:ea typeface="Microsoft YaHei" panose="020B0503020204020204" pitchFamily="34" charset="-122"/>
              </a:rPr>
              <a:t>情绪、认知</a:t>
            </a:r>
          </a:p>
        </p:txBody>
      </p:sp>
      <p:cxnSp>
        <p:nvCxnSpPr>
          <p:cNvPr id="19" name="直线箭头连接符 18">
            <a:extLst>
              <a:ext uri="{FF2B5EF4-FFF2-40B4-BE49-F238E27FC236}">
                <a16:creationId xmlns:a16="http://schemas.microsoft.com/office/drawing/2014/main" id="{74970E17-B4A6-A2E2-8FA4-88FB696FC549}"/>
              </a:ext>
            </a:extLst>
          </p:cNvPr>
          <p:cNvCxnSpPr/>
          <p:nvPr/>
        </p:nvCxnSpPr>
        <p:spPr>
          <a:xfrm>
            <a:off x="6870713" y="1636364"/>
            <a:ext cx="1635926"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5C37113D-862D-335A-3944-33DB9E3F9D67}"/>
              </a:ext>
            </a:extLst>
          </p:cNvPr>
          <p:cNvSpPr txBox="1"/>
          <p:nvPr/>
        </p:nvSpPr>
        <p:spPr>
          <a:xfrm>
            <a:off x="8649436" y="1467173"/>
            <a:ext cx="1242391" cy="369332"/>
          </a:xfrm>
          <a:prstGeom prst="rect">
            <a:avLst/>
          </a:prstGeom>
          <a:noFill/>
        </p:spPr>
        <p:txBody>
          <a:bodyPr wrap="square" rtlCol="0">
            <a:spAutoFit/>
          </a:bodyPr>
          <a:lstStyle/>
          <a:p>
            <a:r>
              <a:rPr kumimoji="1" lang="zh-CN" altLang="en-US" b="1" dirty="0">
                <a:latin typeface="Microsoft YaHei" panose="020B0503020204020204" pitchFamily="34" charset="-122"/>
                <a:ea typeface="Microsoft YaHei" panose="020B0503020204020204" pitchFamily="34" charset="-122"/>
              </a:rPr>
              <a:t>驾驶行为</a:t>
            </a:r>
          </a:p>
        </p:txBody>
      </p:sp>
    </p:spTree>
    <p:extLst>
      <p:ext uri="{BB962C8B-B14F-4D97-AF65-F5344CB8AC3E}">
        <p14:creationId xmlns:p14="http://schemas.microsoft.com/office/powerpoint/2010/main" val="410236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04FE9331-D65D-4EC8-2BCF-8CE4BF23EE76}"/>
              </a:ext>
            </a:extLst>
          </p:cNvPr>
          <p:cNvSpPr txBox="1"/>
          <p:nvPr/>
        </p:nvSpPr>
        <p:spPr>
          <a:xfrm>
            <a:off x="232227" y="1309193"/>
            <a:ext cx="5081454" cy="1029193"/>
          </a:xfrm>
          <a:prstGeom prst="rect">
            <a:avLst/>
          </a:prstGeom>
          <a:noFill/>
        </p:spPr>
        <p:txBody>
          <a:bodyPr wrap="square">
            <a:spAutoFit/>
          </a:bodyPr>
          <a:lstStyle/>
          <a:p>
            <a:pPr marL="285750" indent="-285750">
              <a:lnSpc>
                <a:spcPct val="150000"/>
              </a:lnSpc>
              <a:buFont typeface="Wingdings" pitchFamily="2" charset="2"/>
              <a:buChar char="p"/>
            </a:pPr>
            <a:r>
              <a:rPr lang="zh-CN" altLang="en-US" dirty="0">
                <a:latin typeface="Microsoft YaHei" panose="020B0503020204020204" pitchFamily="34" charset="-122"/>
                <a:ea typeface="Microsoft YaHei" panose="020B0503020204020204" pitchFamily="34" charset="-122"/>
              </a:rPr>
              <a:t>更快的速度与更快的视觉注意、认知处理有关 </a:t>
            </a:r>
            <a:r>
              <a:rPr lang="en" altLang="zh-CN" sz="1200" dirty="0">
                <a:solidFill>
                  <a:schemeClr val="tx1">
                    <a:lumMod val="50000"/>
                    <a:lumOff val="50000"/>
                  </a:schemeClr>
                </a:solidFill>
                <a:latin typeface="Microsoft YaHei" panose="020B0503020204020204" pitchFamily="34" charset="-122"/>
                <a:ea typeface="Microsoft YaHei" panose="020B0503020204020204" pitchFamily="34" charset="-122"/>
              </a:rPr>
              <a:t>(Lin </a:t>
            </a:r>
            <a:r>
              <a:rPr lang="zh-CN" altLang="en-US" sz="1200" dirty="0">
                <a:solidFill>
                  <a:schemeClr val="tx1">
                    <a:lumMod val="50000"/>
                    <a:lumOff val="50000"/>
                  </a:schemeClr>
                </a:solidFill>
                <a:latin typeface="Microsoft YaHei" panose="020B0503020204020204" pitchFamily="34" charset="-122"/>
                <a:ea typeface="Microsoft YaHei" panose="020B0503020204020204" pitchFamily="34" charset="-122"/>
              </a:rPr>
              <a:t>等</a:t>
            </a:r>
            <a:r>
              <a:rPr lang="en-US" altLang="zh-CN" sz="1200" dirty="0">
                <a:solidFill>
                  <a:schemeClr val="tx1">
                    <a:lumMod val="50000"/>
                    <a:lumOff val="50000"/>
                  </a:schemeClr>
                </a:solidFill>
                <a:latin typeface="Microsoft YaHei" panose="020B0503020204020204" pitchFamily="34" charset="-122"/>
                <a:ea typeface="Microsoft YaHei" panose="020B0503020204020204" pitchFamily="34" charset="-122"/>
              </a:rPr>
              <a:t>, 2023)</a:t>
            </a:r>
          </a:p>
          <a:p>
            <a:pPr marL="285750" indent="-285750">
              <a:lnSpc>
                <a:spcPct val="150000"/>
              </a:lnSpc>
              <a:buFont typeface="Wingdings" pitchFamily="2" charset="2"/>
              <a:buChar char="p"/>
            </a:pPr>
            <a:endParaRPr lang="zh-CN" altLang="en-US" sz="1200" dirty="0">
              <a:latin typeface="Microsoft YaHei" panose="020B0503020204020204" pitchFamily="34" charset="-122"/>
              <a:ea typeface="Microsoft YaHei" panose="020B0503020204020204" pitchFamily="34" charset="-122"/>
            </a:endParaRPr>
          </a:p>
        </p:txBody>
      </p:sp>
      <p:sp>
        <p:nvSpPr>
          <p:cNvPr id="15" name="文本框 14">
            <a:extLst>
              <a:ext uri="{FF2B5EF4-FFF2-40B4-BE49-F238E27FC236}">
                <a16:creationId xmlns:a16="http://schemas.microsoft.com/office/drawing/2014/main" id="{67819BB6-ED38-A989-3803-67AC9F84AB5F}"/>
              </a:ext>
            </a:extLst>
          </p:cNvPr>
          <p:cNvSpPr txBox="1"/>
          <p:nvPr/>
        </p:nvSpPr>
        <p:spPr>
          <a:xfrm>
            <a:off x="232227" y="4460958"/>
            <a:ext cx="6414925" cy="752194"/>
          </a:xfrm>
          <a:prstGeom prst="rect">
            <a:avLst/>
          </a:prstGeom>
          <a:noFill/>
        </p:spPr>
        <p:txBody>
          <a:bodyPr wrap="square">
            <a:spAutoFit/>
          </a:bodyPr>
          <a:lstStyle/>
          <a:p>
            <a:pPr marL="285750" indent="-285750">
              <a:lnSpc>
                <a:spcPct val="150000"/>
              </a:lnSpc>
              <a:buFont typeface="Wingdings" pitchFamily="2" charset="2"/>
              <a:buChar char="p"/>
            </a:pPr>
            <a:r>
              <a:rPr lang="zh-CN" altLang="en-US" dirty="0">
                <a:latin typeface="Microsoft YaHei" panose="020B0503020204020204" pitchFamily="34" charset="-122"/>
                <a:ea typeface="Microsoft YaHei" panose="020B0503020204020204" pitchFamily="34" charset="-122"/>
              </a:rPr>
              <a:t>更快的音乐速度下，抑制控制更差 </a:t>
            </a:r>
            <a:r>
              <a:rPr lang="en-US" altLang="zh-CN" sz="1200" dirty="0">
                <a:solidFill>
                  <a:schemeClr val="tx1">
                    <a:lumMod val="50000"/>
                    <a:lumOff val="50000"/>
                  </a:schemeClr>
                </a:solidFill>
                <a:latin typeface="Microsoft YaHei" panose="020B0503020204020204" pitchFamily="34" charset="-122"/>
                <a:ea typeface="Microsoft YaHei" panose="020B0503020204020204" pitchFamily="34" charset="-122"/>
              </a:rPr>
              <a:t>(Xiao, 2014)</a:t>
            </a:r>
          </a:p>
          <a:p>
            <a:pPr marL="285750" indent="-285750">
              <a:lnSpc>
                <a:spcPct val="150000"/>
              </a:lnSpc>
              <a:buFont typeface="Wingdings" pitchFamily="2" charset="2"/>
              <a:buChar char="p"/>
            </a:pPr>
            <a:endParaRPr lang="zh-CN" altLang="en-US" sz="1200" dirty="0">
              <a:latin typeface="Microsoft YaHei" panose="020B0503020204020204" pitchFamily="34" charset="-122"/>
              <a:ea typeface="Microsoft YaHei" panose="020B0503020204020204" pitchFamily="34" charset="-122"/>
            </a:endParaRPr>
          </a:p>
        </p:txBody>
      </p:sp>
      <p:pic>
        <p:nvPicPr>
          <p:cNvPr id="9" name="图片 8">
            <a:extLst>
              <a:ext uri="{FF2B5EF4-FFF2-40B4-BE49-F238E27FC236}">
                <a16:creationId xmlns:a16="http://schemas.microsoft.com/office/drawing/2014/main" id="{20D48B5C-D7E3-4CF1-63ED-BC4093239DF3}"/>
              </a:ext>
            </a:extLst>
          </p:cNvPr>
          <p:cNvPicPr>
            <a:picLocks noChangeAspect="1"/>
          </p:cNvPicPr>
          <p:nvPr/>
        </p:nvPicPr>
        <p:blipFill>
          <a:blip r:embed="rId3"/>
          <a:stretch>
            <a:fillRect/>
          </a:stretch>
        </p:blipFill>
        <p:spPr>
          <a:xfrm>
            <a:off x="1858154" y="1882326"/>
            <a:ext cx="3398860" cy="2062466"/>
          </a:xfrm>
          <a:prstGeom prst="rect">
            <a:avLst/>
          </a:prstGeom>
        </p:spPr>
      </p:pic>
      <p:pic>
        <p:nvPicPr>
          <p:cNvPr id="11" name="图片 10">
            <a:extLst>
              <a:ext uri="{FF2B5EF4-FFF2-40B4-BE49-F238E27FC236}">
                <a16:creationId xmlns:a16="http://schemas.microsoft.com/office/drawing/2014/main" id="{633357A4-F804-2F79-077A-B9CDB280CF36}"/>
              </a:ext>
            </a:extLst>
          </p:cNvPr>
          <p:cNvPicPr>
            <a:picLocks noChangeAspect="1"/>
          </p:cNvPicPr>
          <p:nvPr/>
        </p:nvPicPr>
        <p:blipFill>
          <a:blip r:embed="rId4"/>
          <a:stretch>
            <a:fillRect/>
          </a:stretch>
        </p:blipFill>
        <p:spPr>
          <a:xfrm>
            <a:off x="6014109" y="1328961"/>
            <a:ext cx="6177891" cy="2873914"/>
          </a:xfrm>
          <a:prstGeom prst="rect">
            <a:avLst/>
          </a:prstGeom>
        </p:spPr>
      </p:pic>
      <p:sp>
        <p:nvSpPr>
          <p:cNvPr id="16" name="文本框 15">
            <a:extLst>
              <a:ext uri="{FF2B5EF4-FFF2-40B4-BE49-F238E27FC236}">
                <a16:creationId xmlns:a16="http://schemas.microsoft.com/office/drawing/2014/main" id="{67447C5F-D455-0643-C248-27E58584644D}"/>
              </a:ext>
            </a:extLst>
          </p:cNvPr>
          <p:cNvSpPr txBox="1"/>
          <p:nvPr/>
        </p:nvSpPr>
        <p:spPr>
          <a:xfrm>
            <a:off x="6570846" y="4630799"/>
            <a:ext cx="5388927" cy="1833900"/>
          </a:xfrm>
          <a:prstGeom prst="rect">
            <a:avLst/>
          </a:prstGeom>
          <a:noFill/>
        </p:spPr>
        <p:txBody>
          <a:bodyPr wrap="square">
            <a:spAutoFit/>
          </a:bodyPr>
          <a:lstStyle/>
          <a:p>
            <a:pPr marL="285750" indent="-285750">
              <a:lnSpc>
                <a:spcPct val="150000"/>
              </a:lnSpc>
              <a:buFont typeface="Wingdings" pitchFamily="2" charset="2"/>
              <a:buChar char="Ø"/>
            </a:pPr>
            <a:r>
              <a:rPr lang="en" altLang="zh-CN" sz="1400" dirty="0">
                <a:latin typeface="Microsoft YaHei" panose="020B0503020204020204" pitchFamily="34" charset="-122"/>
                <a:ea typeface="Microsoft YaHei" panose="020B0503020204020204" pitchFamily="34" charset="-122"/>
              </a:rPr>
              <a:t>No-go </a:t>
            </a:r>
            <a:r>
              <a:rPr lang="zh-CN" altLang="en-US" sz="1400" dirty="0">
                <a:latin typeface="Microsoft YaHei" panose="020B0503020204020204" pitchFamily="34" charset="-122"/>
                <a:ea typeface="Microsoft YaHei" panose="020B0503020204020204" pitchFamily="34" charset="-122"/>
              </a:rPr>
              <a:t>条件比 </a:t>
            </a:r>
            <a:r>
              <a:rPr lang="en" altLang="zh-CN" sz="1400" dirty="0">
                <a:latin typeface="Microsoft YaHei" panose="020B0503020204020204" pitchFamily="34" charset="-122"/>
                <a:ea typeface="Microsoft YaHei" panose="020B0503020204020204" pitchFamily="34" charset="-122"/>
              </a:rPr>
              <a:t>Go </a:t>
            </a:r>
            <a:r>
              <a:rPr lang="zh-CN" altLang="en-US" sz="1400" dirty="0">
                <a:latin typeface="Microsoft YaHei" panose="020B0503020204020204" pitchFamily="34" charset="-122"/>
                <a:ea typeface="Microsoft YaHei" panose="020B0503020204020204" pitchFamily="34" charset="-122"/>
              </a:rPr>
              <a:t>条件诱发更大的 </a:t>
            </a:r>
            <a:r>
              <a:rPr lang="en" altLang="zh-CN" sz="1400" dirty="0">
                <a:latin typeface="Microsoft YaHei" panose="020B0503020204020204" pitchFamily="34" charset="-122"/>
                <a:ea typeface="Microsoft YaHei" panose="020B0503020204020204" pitchFamily="34" charset="-122"/>
              </a:rPr>
              <a:t>N2 </a:t>
            </a:r>
            <a:r>
              <a:rPr lang="zh-CN" altLang="en-US" sz="1400" dirty="0">
                <a:latin typeface="Microsoft YaHei" panose="020B0503020204020204" pitchFamily="34" charset="-122"/>
                <a:ea typeface="Microsoft YaHei" panose="020B0503020204020204" pitchFamily="34" charset="-122"/>
              </a:rPr>
              <a:t>和 </a:t>
            </a:r>
            <a:r>
              <a:rPr lang="en" altLang="zh-CN" sz="1400" dirty="0">
                <a:latin typeface="Microsoft YaHei" panose="020B0503020204020204" pitchFamily="34" charset="-122"/>
                <a:ea typeface="Microsoft YaHei" panose="020B0503020204020204" pitchFamily="34" charset="-122"/>
              </a:rPr>
              <a:t>P3 </a:t>
            </a:r>
            <a:r>
              <a:rPr lang="zh-CN" altLang="en-US" sz="1400" dirty="0">
                <a:latin typeface="Microsoft YaHei" panose="020B0503020204020204" pitchFamily="34" charset="-122"/>
                <a:ea typeface="Microsoft YaHei" panose="020B0503020204020204" pitchFamily="34" charset="-122"/>
              </a:rPr>
              <a:t>波幅。</a:t>
            </a:r>
            <a:endParaRPr lang="en-US" altLang="zh-CN" sz="1400" dirty="0">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r>
              <a:rPr lang="zh-CN" altLang="en-US" sz="1400" dirty="0">
                <a:latin typeface="Microsoft YaHei" panose="020B0503020204020204" pitchFamily="34" charset="-122"/>
                <a:ea typeface="Microsoft YaHei" panose="020B0503020204020204" pitchFamily="34" charset="-122"/>
              </a:rPr>
              <a:t>快速音乐条件下的 </a:t>
            </a:r>
            <a:r>
              <a:rPr lang="en" altLang="zh-CN" sz="1400" dirty="0">
                <a:latin typeface="Microsoft YaHei" panose="020B0503020204020204" pitchFamily="34" charset="-122"/>
                <a:ea typeface="Microsoft YaHei" panose="020B0503020204020204" pitchFamily="34" charset="-122"/>
              </a:rPr>
              <a:t>N2 </a:t>
            </a:r>
            <a:r>
              <a:rPr lang="zh-CN" altLang="en-US" sz="1400" dirty="0">
                <a:latin typeface="Microsoft YaHei" panose="020B0503020204020204" pitchFamily="34" charset="-122"/>
                <a:ea typeface="Microsoft YaHei" panose="020B0503020204020204" pitchFamily="34" charset="-122"/>
              </a:rPr>
              <a:t>差异波显著大于中速、慢速以及无音乐条件。</a:t>
            </a:r>
            <a:endParaRPr lang="en-US" altLang="zh-CN" sz="1400" dirty="0">
              <a:latin typeface="Microsoft YaHei" panose="020B0503020204020204" pitchFamily="34" charset="-122"/>
              <a:ea typeface="Microsoft YaHei" panose="020B0503020204020204" pitchFamily="34" charset="-122"/>
            </a:endParaRPr>
          </a:p>
          <a:p>
            <a:pPr>
              <a:lnSpc>
                <a:spcPct val="150000"/>
              </a:lnSpc>
              <a:spcBef>
                <a:spcPts val="600"/>
              </a:spcBef>
            </a:pPr>
            <a:r>
              <a:rPr lang="zh-CN" altLang="en-US" sz="1600" dirty="0">
                <a:latin typeface="Microsoft YaHei" panose="020B0503020204020204" pitchFamily="34" charset="-122"/>
                <a:ea typeface="Microsoft YaHei" panose="020B0503020204020204" pitchFamily="34" charset="-122"/>
              </a:rPr>
              <a:t>快速音乐条件下，对冲突监测的过程中消耗的认知资源更多。</a:t>
            </a:r>
            <a:r>
              <a:rPr lang="zh-CN" altLang="en-US" sz="1600" b="1" dirty="0">
                <a:latin typeface="Microsoft YaHei" panose="020B0503020204020204" pitchFamily="34" charset="-122"/>
                <a:ea typeface="Microsoft YaHei" panose="020B0503020204020204" pitchFamily="34" charset="-122"/>
              </a:rPr>
              <a:t>快速的音乐对冲突监测能力有消极影响</a:t>
            </a:r>
            <a:endParaRPr lang="zh-CN" altLang="en-US" sz="1600" dirty="0">
              <a:latin typeface="Microsoft YaHei" panose="020B0503020204020204" pitchFamily="34" charset="-122"/>
              <a:ea typeface="Microsoft YaHei" panose="020B0503020204020204" pitchFamily="34" charset="-122"/>
            </a:endParaRPr>
          </a:p>
        </p:txBody>
      </p:sp>
      <p:grpSp>
        <p:nvGrpSpPr>
          <p:cNvPr id="3" name="组合 2">
            <a:extLst>
              <a:ext uri="{FF2B5EF4-FFF2-40B4-BE49-F238E27FC236}">
                <a16:creationId xmlns:a16="http://schemas.microsoft.com/office/drawing/2014/main" id="{C625E22F-C847-09E2-525E-30846DD6386F}"/>
              </a:ext>
            </a:extLst>
          </p:cNvPr>
          <p:cNvGrpSpPr/>
          <p:nvPr/>
        </p:nvGrpSpPr>
        <p:grpSpPr>
          <a:xfrm>
            <a:off x="221567" y="5248645"/>
            <a:ext cx="6057313" cy="1216054"/>
            <a:chOff x="339443" y="3104112"/>
            <a:chExt cx="7609741" cy="1216054"/>
          </a:xfrm>
        </p:grpSpPr>
        <p:pic>
          <p:nvPicPr>
            <p:cNvPr id="10" name="图片 9">
              <a:extLst>
                <a:ext uri="{FF2B5EF4-FFF2-40B4-BE49-F238E27FC236}">
                  <a16:creationId xmlns:a16="http://schemas.microsoft.com/office/drawing/2014/main" id="{FC1544CF-4472-7BC6-AC42-A037D79EAA50}"/>
                </a:ext>
              </a:extLst>
            </p:cNvPr>
            <p:cNvPicPr>
              <a:picLocks noChangeAspect="1"/>
            </p:cNvPicPr>
            <p:nvPr/>
          </p:nvPicPr>
          <p:blipFill>
            <a:blip r:embed="rId5"/>
            <a:stretch>
              <a:fillRect/>
            </a:stretch>
          </p:blipFill>
          <p:spPr>
            <a:xfrm>
              <a:off x="339443" y="3104112"/>
              <a:ext cx="7609741" cy="1216054"/>
            </a:xfrm>
            <a:prstGeom prst="rect">
              <a:avLst/>
            </a:prstGeom>
          </p:spPr>
        </p:pic>
        <p:sp>
          <p:nvSpPr>
            <p:cNvPr id="17" name="矩形 16">
              <a:extLst>
                <a:ext uri="{FF2B5EF4-FFF2-40B4-BE49-F238E27FC236}">
                  <a16:creationId xmlns:a16="http://schemas.microsoft.com/office/drawing/2014/main" id="{472D345D-5FBA-7EB1-52DF-DAE9A9708B1F}"/>
                </a:ext>
              </a:extLst>
            </p:cNvPr>
            <p:cNvSpPr/>
            <p:nvPr/>
          </p:nvSpPr>
          <p:spPr>
            <a:xfrm>
              <a:off x="2182368" y="3621024"/>
              <a:ext cx="3706368" cy="195072"/>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a:extLst>
                <a:ext uri="{FF2B5EF4-FFF2-40B4-BE49-F238E27FC236}">
                  <a16:creationId xmlns:a16="http://schemas.microsoft.com/office/drawing/2014/main" id="{D5D70C72-3D37-18A8-4DA2-4927166A297D}"/>
                </a:ext>
              </a:extLst>
            </p:cNvPr>
            <p:cNvSpPr txBox="1"/>
            <p:nvPr/>
          </p:nvSpPr>
          <p:spPr>
            <a:xfrm>
              <a:off x="3157728" y="3527473"/>
              <a:ext cx="166137" cy="369332"/>
            </a:xfrm>
            <a:prstGeom prst="rect">
              <a:avLst/>
            </a:prstGeom>
            <a:noFill/>
          </p:spPr>
          <p:txBody>
            <a:bodyPr wrap="square" rtlCol="0">
              <a:spAutoFit/>
            </a:bodyPr>
            <a:lstStyle/>
            <a:p>
              <a:r>
                <a:rPr kumimoji="1" lang="en-US" altLang="zh-CN" dirty="0"/>
                <a:t>&lt;</a:t>
              </a:r>
              <a:endParaRPr kumimoji="1" lang="zh-CN" altLang="en-US" dirty="0"/>
            </a:p>
          </p:txBody>
        </p:sp>
        <p:sp>
          <p:nvSpPr>
            <p:cNvPr id="19" name="文本框 18">
              <a:extLst>
                <a:ext uri="{FF2B5EF4-FFF2-40B4-BE49-F238E27FC236}">
                  <a16:creationId xmlns:a16="http://schemas.microsoft.com/office/drawing/2014/main" id="{3260B9AC-CC87-0757-8D52-C0B79A94B036}"/>
                </a:ext>
              </a:extLst>
            </p:cNvPr>
            <p:cNvSpPr txBox="1"/>
            <p:nvPr/>
          </p:nvSpPr>
          <p:spPr>
            <a:xfrm>
              <a:off x="4651248" y="3527473"/>
              <a:ext cx="166137" cy="369332"/>
            </a:xfrm>
            <a:prstGeom prst="rect">
              <a:avLst/>
            </a:prstGeom>
            <a:noFill/>
          </p:spPr>
          <p:txBody>
            <a:bodyPr wrap="square" rtlCol="0">
              <a:spAutoFit/>
            </a:bodyPr>
            <a:lstStyle/>
            <a:p>
              <a:r>
                <a:rPr kumimoji="1" lang="en-US" altLang="zh-CN" dirty="0"/>
                <a:t>&lt;</a:t>
              </a:r>
              <a:endParaRPr kumimoji="1" lang="zh-CN" altLang="en-US" dirty="0"/>
            </a:p>
          </p:txBody>
        </p:sp>
      </p:grpSp>
      <p:sp>
        <p:nvSpPr>
          <p:cNvPr id="4" name="文本框 3">
            <a:extLst>
              <a:ext uri="{FF2B5EF4-FFF2-40B4-BE49-F238E27FC236}">
                <a16:creationId xmlns:a16="http://schemas.microsoft.com/office/drawing/2014/main" id="{0ABA4EF5-9F4E-E861-5C64-6E80CC7208C0}"/>
              </a:ext>
            </a:extLst>
          </p:cNvPr>
          <p:cNvSpPr txBox="1"/>
          <p:nvPr/>
        </p:nvSpPr>
        <p:spPr>
          <a:xfrm>
            <a:off x="3039852" y="3969935"/>
            <a:ext cx="1447800" cy="261610"/>
          </a:xfrm>
          <a:prstGeom prst="rect">
            <a:avLst/>
          </a:prstGeom>
          <a:noFill/>
        </p:spPr>
        <p:txBody>
          <a:bodyPr wrap="square">
            <a:spAutoFit/>
          </a:bodyPr>
          <a:lstStyle/>
          <a:p>
            <a:r>
              <a:rPr lang="zh-CN" altLang="en-US" sz="1100" dirty="0">
                <a:latin typeface="Microsoft YaHei" panose="020B0503020204020204" pitchFamily="34" charset="-122"/>
                <a:ea typeface="Microsoft YaHei" panose="020B0503020204020204" pitchFamily="34" charset="-122"/>
              </a:rPr>
              <a:t> </a:t>
            </a:r>
            <a:r>
              <a:rPr lang="en" altLang="zh-CN" sz="1100" dirty="0">
                <a:solidFill>
                  <a:schemeClr val="tx1">
                    <a:lumMod val="50000"/>
                    <a:lumOff val="50000"/>
                  </a:schemeClr>
                </a:solidFill>
                <a:latin typeface="Microsoft YaHei" panose="020B0503020204020204" pitchFamily="34" charset="-122"/>
                <a:ea typeface="Microsoft YaHei" panose="020B0503020204020204" pitchFamily="34" charset="-122"/>
              </a:rPr>
              <a:t>(Lin </a:t>
            </a:r>
            <a:r>
              <a:rPr lang="zh-CN" altLang="en-US" sz="1100" dirty="0">
                <a:solidFill>
                  <a:schemeClr val="tx1">
                    <a:lumMod val="50000"/>
                    <a:lumOff val="50000"/>
                  </a:schemeClr>
                </a:solidFill>
                <a:latin typeface="Microsoft YaHei" panose="020B0503020204020204" pitchFamily="34" charset="-122"/>
                <a:ea typeface="Microsoft YaHei" panose="020B0503020204020204" pitchFamily="34" charset="-122"/>
              </a:rPr>
              <a:t>等</a:t>
            </a:r>
            <a:r>
              <a:rPr lang="en-US" altLang="zh-CN" sz="1100" dirty="0">
                <a:solidFill>
                  <a:schemeClr val="tx1">
                    <a:lumMod val="50000"/>
                    <a:lumOff val="50000"/>
                  </a:schemeClr>
                </a:solidFill>
                <a:latin typeface="Microsoft YaHei" panose="020B0503020204020204" pitchFamily="34" charset="-122"/>
                <a:ea typeface="Microsoft YaHei" panose="020B0503020204020204" pitchFamily="34" charset="-122"/>
              </a:rPr>
              <a:t>, 2023)</a:t>
            </a:r>
            <a:endParaRPr lang="zh-CN" altLang="en-US" sz="1100" dirty="0"/>
          </a:p>
        </p:txBody>
      </p:sp>
      <p:sp>
        <p:nvSpPr>
          <p:cNvPr id="6" name="文本框 5">
            <a:extLst>
              <a:ext uri="{FF2B5EF4-FFF2-40B4-BE49-F238E27FC236}">
                <a16:creationId xmlns:a16="http://schemas.microsoft.com/office/drawing/2014/main" id="{68879185-BFC5-3225-DA12-8CEB5F1F3980}"/>
              </a:ext>
            </a:extLst>
          </p:cNvPr>
          <p:cNvSpPr txBox="1"/>
          <p:nvPr/>
        </p:nvSpPr>
        <p:spPr>
          <a:xfrm>
            <a:off x="8611989" y="4247965"/>
            <a:ext cx="6096000" cy="336695"/>
          </a:xfrm>
          <a:prstGeom prst="rect">
            <a:avLst/>
          </a:prstGeom>
          <a:noFill/>
        </p:spPr>
        <p:txBody>
          <a:bodyPr wrap="square">
            <a:spAutoFit/>
          </a:bodyPr>
          <a:lstStyle/>
          <a:p>
            <a:pPr>
              <a:lnSpc>
                <a:spcPct val="150000"/>
              </a:lnSpc>
            </a:pPr>
            <a:r>
              <a:rPr lang="en-US" altLang="zh-CN" sz="1200" dirty="0">
                <a:solidFill>
                  <a:schemeClr val="tx1">
                    <a:lumMod val="50000"/>
                    <a:lumOff val="50000"/>
                  </a:schemeClr>
                </a:solidFill>
                <a:latin typeface="Microsoft YaHei" panose="020B0503020204020204" pitchFamily="34" charset="-122"/>
                <a:ea typeface="Microsoft YaHei" panose="020B0503020204020204" pitchFamily="34" charset="-122"/>
              </a:rPr>
              <a:t>(Xiao, 2014)</a:t>
            </a:r>
          </a:p>
        </p:txBody>
      </p:sp>
      <p:sp>
        <p:nvSpPr>
          <p:cNvPr id="8" name="文本框 7">
            <a:extLst>
              <a:ext uri="{FF2B5EF4-FFF2-40B4-BE49-F238E27FC236}">
                <a16:creationId xmlns:a16="http://schemas.microsoft.com/office/drawing/2014/main" id="{AAAC827C-8E03-4DAC-1194-EEE754448D74}"/>
              </a:ext>
            </a:extLst>
          </p:cNvPr>
          <p:cNvSpPr txBox="1"/>
          <p:nvPr/>
        </p:nvSpPr>
        <p:spPr>
          <a:xfrm>
            <a:off x="4544560" y="3037853"/>
            <a:ext cx="2088397" cy="646331"/>
          </a:xfrm>
          <a:prstGeom prst="rect">
            <a:avLst/>
          </a:prstGeom>
          <a:noFill/>
        </p:spPr>
        <p:txBody>
          <a:bodyPr wrap="square">
            <a:spAutoFit/>
          </a:bodyPr>
          <a:lstStyle/>
          <a:p>
            <a:r>
              <a:rPr lang="zh-CN" altLang="zh-CN" sz="1200" kern="100" dirty="0">
                <a:effectLst/>
                <a:latin typeface="KaiTi" panose="02010609060101010101" pitchFamily="49" charset="-122"/>
                <a:ea typeface="KaiTi" panose="02010609060101010101" pitchFamily="49" charset="-122"/>
                <a:cs typeface="Times New Roman" panose="02020603050405020304" pitchFamily="18" charset="0"/>
              </a:rPr>
              <a:t>选择反应</a:t>
            </a:r>
            <a:endParaRPr lang="en-US" altLang="zh-CN" sz="1200" kern="100" dirty="0">
              <a:effectLst/>
              <a:latin typeface="KaiTi" panose="02010609060101010101" pitchFamily="49" charset="-122"/>
              <a:ea typeface="KaiTi" panose="02010609060101010101" pitchFamily="49" charset="-122"/>
              <a:cs typeface="Times New Roman" panose="02020603050405020304" pitchFamily="18" charset="0"/>
            </a:endParaRPr>
          </a:p>
          <a:p>
            <a:r>
              <a:rPr lang="zh-CN" altLang="zh-CN" sz="1200" kern="100" dirty="0">
                <a:effectLst/>
                <a:latin typeface="KaiTi" panose="02010609060101010101" pitchFamily="49" charset="-122"/>
                <a:ea typeface="KaiTi" panose="02010609060101010101" pitchFamily="49" charset="-122"/>
                <a:cs typeface="Times New Roman" panose="02020603050405020304" pitchFamily="18" charset="0"/>
              </a:rPr>
              <a:t>视觉搜索</a:t>
            </a:r>
            <a:endParaRPr lang="en-US" altLang="zh-CN" sz="1200" kern="100" dirty="0">
              <a:effectLst/>
              <a:latin typeface="KaiTi" panose="02010609060101010101" pitchFamily="49" charset="-122"/>
              <a:ea typeface="KaiTi" panose="02010609060101010101" pitchFamily="49" charset="-122"/>
              <a:cs typeface="Times New Roman" panose="02020603050405020304" pitchFamily="18" charset="0"/>
            </a:endParaRPr>
          </a:p>
          <a:p>
            <a:r>
              <a:rPr lang="zh-CN" altLang="zh-CN" sz="1200" kern="100" dirty="0">
                <a:effectLst/>
                <a:latin typeface="KaiTi" panose="02010609060101010101" pitchFamily="49" charset="-122"/>
                <a:ea typeface="KaiTi" panose="02010609060101010101" pitchFamily="49" charset="-122"/>
                <a:cs typeface="Times New Roman" panose="02020603050405020304" pitchFamily="18" charset="0"/>
              </a:rPr>
              <a:t>字母名称匹配任务</a:t>
            </a:r>
            <a:endParaRPr lang="zh-CN" altLang="en-US" sz="1200" dirty="0">
              <a:latin typeface="KaiTi" panose="02010609060101010101" pitchFamily="49" charset="-122"/>
              <a:ea typeface="KaiTi" panose="02010609060101010101" pitchFamily="49" charset="-122"/>
            </a:endParaRPr>
          </a:p>
        </p:txBody>
      </p:sp>
      <p:sp>
        <p:nvSpPr>
          <p:cNvPr id="13" name="标题 1">
            <a:extLst>
              <a:ext uri="{FF2B5EF4-FFF2-40B4-BE49-F238E27FC236}">
                <a16:creationId xmlns:a16="http://schemas.microsoft.com/office/drawing/2014/main" id="{742C3169-FDE5-AC75-2727-5B2DFF605C8C}"/>
              </a:ext>
            </a:extLst>
          </p:cNvPr>
          <p:cNvSpPr>
            <a:spLocks noGrp="1"/>
          </p:cNvSpPr>
          <p:nvPr>
            <p:ph type="title"/>
          </p:nvPr>
        </p:nvSpPr>
        <p:spPr>
          <a:xfrm>
            <a:off x="339443" y="-16370"/>
            <a:ext cx="10515600" cy="1325563"/>
          </a:xfrm>
        </p:spPr>
        <p:txBody>
          <a:bodyPr/>
          <a:lstStyle/>
          <a:p>
            <a:r>
              <a:rPr kumimoji="1" lang="zh-CN" altLang="en-US" dirty="0"/>
              <a:t>文献综述  </a:t>
            </a:r>
            <a:r>
              <a:rPr kumimoji="1" lang="zh-CN" altLang="en-US" sz="2000" dirty="0"/>
              <a:t>音乐速度对情绪及认知的影响</a:t>
            </a:r>
          </a:p>
        </p:txBody>
      </p:sp>
    </p:spTree>
    <p:extLst>
      <p:ext uri="{BB962C8B-B14F-4D97-AF65-F5344CB8AC3E}">
        <p14:creationId xmlns:p14="http://schemas.microsoft.com/office/powerpoint/2010/main" val="33551486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a:extLst>
              <a:ext uri="{FF2B5EF4-FFF2-40B4-BE49-F238E27FC236}">
                <a16:creationId xmlns:a16="http://schemas.microsoft.com/office/drawing/2014/main" id="{DCB68D97-5DA6-699B-84D2-334B3A105AE3}"/>
              </a:ext>
            </a:extLst>
          </p:cNvPr>
          <p:cNvGraphicFramePr>
            <a:graphicFrameLocks noGrp="1"/>
          </p:cNvGraphicFramePr>
          <p:nvPr>
            <p:extLst>
              <p:ext uri="{D42A27DB-BD31-4B8C-83A1-F6EECF244321}">
                <p14:modId xmlns:p14="http://schemas.microsoft.com/office/powerpoint/2010/main" val="2785647404"/>
              </p:ext>
            </p:extLst>
          </p:nvPr>
        </p:nvGraphicFramePr>
        <p:xfrm>
          <a:off x="1265239" y="1192652"/>
          <a:ext cx="9311321" cy="5548807"/>
        </p:xfrm>
        <a:graphic>
          <a:graphicData uri="http://schemas.openxmlformats.org/drawingml/2006/table">
            <a:tbl>
              <a:tblPr>
                <a:tableStyleId>{5C22544A-7EE6-4342-B048-85BDC9FD1C3A}</a:tableStyleId>
              </a:tblPr>
              <a:tblGrid>
                <a:gridCol w="1451870">
                  <a:extLst>
                    <a:ext uri="{9D8B030D-6E8A-4147-A177-3AD203B41FA5}">
                      <a16:colId xmlns:a16="http://schemas.microsoft.com/office/drawing/2014/main" val="2081762713"/>
                    </a:ext>
                  </a:extLst>
                </a:gridCol>
                <a:gridCol w="7859451">
                  <a:extLst>
                    <a:ext uri="{9D8B030D-6E8A-4147-A177-3AD203B41FA5}">
                      <a16:colId xmlns:a16="http://schemas.microsoft.com/office/drawing/2014/main" val="1377823593"/>
                    </a:ext>
                  </a:extLst>
                </a:gridCol>
              </a:tblGrid>
              <a:tr h="405325">
                <a:tc>
                  <a:txBody>
                    <a:bodyPr/>
                    <a:lstStyle/>
                    <a:p>
                      <a:pPr algn="ctr" fontAlgn="ctr">
                        <a:lnSpc>
                          <a:spcPct val="150000"/>
                        </a:lnSpc>
                      </a:pPr>
                      <a:r>
                        <a:rPr lang="zh-CN" altLang="en-US" sz="1600" b="1" i="0" u="none" strike="noStrike" dirty="0">
                          <a:solidFill>
                            <a:schemeClr val="bg1"/>
                          </a:solidFill>
                          <a:effectLst/>
                          <a:latin typeface="Arial" panose="020B0604020202020204" pitchFamily="34" charset="0"/>
                          <a:ea typeface="Microsoft YaHei" panose="020B0503020204020204" pitchFamily="34" charset="-122"/>
                          <a:cs typeface="Arial" panose="020B0604020202020204" pitchFamily="34" charset="0"/>
                        </a:rPr>
                        <a:t>关注</a:t>
                      </a:r>
                    </a:p>
                  </a:txBody>
                  <a:tcPr marL="6695" marR="6695" marT="6695" marB="0" anchor="ctr">
                    <a:solidFill>
                      <a:srgbClr val="4472C4"/>
                    </a:solidFill>
                  </a:tcPr>
                </a:tc>
                <a:tc>
                  <a:txBody>
                    <a:bodyPr/>
                    <a:lstStyle/>
                    <a:p>
                      <a:pPr algn="ctr" fontAlgn="ctr">
                        <a:lnSpc>
                          <a:spcPct val="150000"/>
                        </a:lnSpc>
                      </a:pPr>
                      <a:r>
                        <a:rPr lang="zh-CN" altLang="en-US" sz="1600" b="1" u="none" strike="noStrike" dirty="0">
                          <a:solidFill>
                            <a:schemeClr val="bg1"/>
                          </a:solidFill>
                          <a:effectLst/>
                          <a:latin typeface="Arial" panose="020B0604020202020204" pitchFamily="34" charset="0"/>
                          <a:ea typeface="Microsoft YaHei" panose="020B0503020204020204" pitchFamily="34" charset="-122"/>
                          <a:cs typeface="Arial" panose="020B0604020202020204" pitchFamily="34" charset="0"/>
                        </a:rPr>
                        <a:t>发现</a:t>
                      </a:r>
                      <a:endParaRPr lang="zh-CN" altLang="en-US" sz="1600" b="1" i="0" u="none" strike="noStrike" dirty="0">
                        <a:solidFill>
                          <a:schemeClr val="bg1"/>
                        </a:solidFill>
                        <a:effectLst/>
                        <a:latin typeface="Arial" panose="020B0604020202020204" pitchFamily="34" charset="0"/>
                        <a:ea typeface="Microsoft YaHei" panose="020B0503020204020204" pitchFamily="34" charset="-122"/>
                        <a:cs typeface="Arial" panose="020B0604020202020204" pitchFamily="34" charset="0"/>
                      </a:endParaRPr>
                    </a:p>
                  </a:txBody>
                  <a:tcPr marL="6695" marR="6695" marT="6695" marB="0" anchor="ctr">
                    <a:lnB w="19050" cap="flat" cmpd="sng" algn="ctr">
                      <a:solidFill>
                        <a:schemeClr val="bg1"/>
                      </a:solidFill>
                      <a:prstDash val="solid"/>
                      <a:round/>
                      <a:headEnd type="none" w="med" len="med"/>
                      <a:tailEnd type="none" w="med" len="med"/>
                    </a:lnB>
                    <a:solidFill>
                      <a:srgbClr val="4472C4"/>
                    </a:solidFill>
                  </a:tcPr>
                </a:tc>
                <a:extLst>
                  <a:ext uri="{0D108BD9-81ED-4DB2-BD59-A6C34878D82A}">
                    <a16:rowId xmlns:a16="http://schemas.microsoft.com/office/drawing/2014/main" val="3704293313"/>
                  </a:ext>
                </a:extLst>
              </a:tr>
              <a:tr h="501594">
                <a:tc>
                  <a:txBody>
                    <a:bodyPr/>
                    <a:lstStyle/>
                    <a:p>
                      <a:pPr algn="ctr" fontAlgn="ctr">
                        <a:lnSpc>
                          <a:spcPct val="150000"/>
                        </a:lnSpc>
                      </a:pPr>
                      <a:r>
                        <a:rPr lang="zh-CN" altLang="en-US" sz="1600" b="1" i="0" u="none" strike="noStrike" dirty="0">
                          <a:solidFill>
                            <a:schemeClr val="bg1"/>
                          </a:solidFill>
                          <a:effectLst/>
                          <a:latin typeface="Arial" panose="020B0604020202020204" pitchFamily="34" charset="0"/>
                          <a:ea typeface="Microsoft YaHei" panose="020B0503020204020204" pitchFamily="34" charset="-122"/>
                          <a:cs typeface="Arial" panose="020B0604020202020204" pitchFamily="34" charset="0"/>
                        </a:rPr>
                        <a:t>情绪唤醒</a:t>
                      </a:r>
                    </a:p>
                  </a:txBody>
                  <a:tcPr marL="6695" marR="6695" marT="6695" marB="0" anchor="ctr" anchorCtr="1">
                    <a:lnR w="19050" cap="flat" cmpd="sng" algn="ctr">
                      <a:solidFill>
                        <a:schemeClr val="bg1"/>
                      </a:solidFill>
                      <a:prstDash val="solid"/>
                      <a:round/>
                      <a:headEnd type="none" w="med" len="med"/>
                      <a:tailEnd type="none" w="med" len="med"/>
                    </a:lnR>
                    <a:solidFill>
                      <a:schemeClr val="tx1">
                        <a:lumMod val="65000"/>
                        <a:lumOff val="35000"/>
                      </a:schemeClr>
                    </a:solidFill>
                  </a:tcPr>
                </a:tc>
                <a:tc>
                  <a:txBody>
                    <a:bodyPr/>
                    <a:lstStyle/>
                    <a:p>
                      <a:pPr algn="l" fontAlgn="ctr">
                        <a:lnSpc>
                          <a:spcPct val="150000"/>
                        </a:lnSpc>
                      </a:pPr>
                      <a:r>
                        <a:rPr lang="zh-CN" altLang="en-US" sz="1200" b="0" i="0" u="none" strike="noStrike" dirty="0">
                          <a:solidFill>
                            <a:schemeClr val="tx1"/>
                          </a:solidFill>
                          <a:effectLst/>
                          <a:latin typeface="Arial" panose="020B0604020202020204" pitchFamily="34" charset="0"/>
                          <a:ea typeface="Microsoft YaHei" panose="020B0503020204020204" pitchFamily="34" charset="-122"/>
                          <a:cs typeface="Arial" panose="020B0604020202020204" pitchFamily="34" charset="0"/>
                        </a:rPr>
                        <a:t>  更快的速度与</a:t>
                      </a:r>
                      <a:r>
                        <a:rPr lang="zh-CN" altLang="en-US" sz="1200" b="1" i="0" u="none" strike="noStrike" dirty="0">
                          <a:solidFill>
                            <a:schemeClr val="tx1"/>
                          </a:solidFill>
                          <a:effectLst/>
                          <a:latin typeface="Arial" panose="020B0604020202020204" pitchFamily="34" charset="0"/>
                          <a:ea typeface="Microsoft YaHei" panose="020B0503020204020204" pitchFamily="34" charset="-122"/>
                          <a:cs typeface="Arial" panose="020B0604020202020204" pitchFamily="34" charset="0"/>
                        </a:rPr>
                        <a:t>更高水平的主观唤醒</a:t>
                      </a:r>
                      <a:r>
                        <a:rPr lang="zh-CN" altLang="en-US" sz="1200" b="0" i="0" u="none" strike="noStrike" dirty="0">
                          <a:solidFill>
                            <a:schemeClr val="tx1"/>
                          </a:solidFill>
                          <a:effectLst/>
                          <a:latin typeface="Arial" panose="020B0604020202020204" pitchFamily="34" charset="0"/>
                          <a:ea typeface="Microsoft YaHei" panose="020B0503020204020204" pitchFamily="34" charset="-122"/>
                          <a:cs typeface="Arial" panose="020B0604020202020204" pitchFamily="34" charset="0"/>
                        </a:rPr>
                        <a:t>相关，也与</a:t>
                      </a:r>
                      <a:r>
                        <a:rPr lang="zh-CN" altLang="en-US" sz="1200" b="1" i="0" u="none" strike="noStrike" dirty="0">
                          <a:solidFill>
                            <a:schemeClr val="tx1"/>
                          </a:solidFill>
                          <a:effectLst/>
                          <a:latin typeface="Arial" panose="020B0604020202020204" pitchFamily="34" charset="0"/>
                          <a:ea typeface="Microsoft YaHei" panose="020B0503020204020204" pitchFamily="34" charset="-122"/>
                          <a:cs typeface="Arial" panose="020B0604020202020204" pitchFamily="34" charset="0"/>
                        </a:rPr>
                        <a:t>副交感神经系统活动减少</a:t>
                      </a:r>
                      <a:r>
                        <a:rPr lang="zh-CN" altLang="en-US" sz="1200" b="0" i="0" u="none" strike="noStrike" dirty="0">
                          <a:solidFill>
                            <a:schemeClr val="tx1"/>
                          </a:solidFill>
                          <a:effectLst/>
                          <a:latin typeface="Arial" panose="020B0604020202020204" pitchFamily="34" charset="0"/>
                          <a:ea typeface="Microsoft YaHei" panose="020B0503020204020204" pitchFamily="34" charset="-122"/>
                          <a:cs typeface="Arial" panose="020B0604020202020204" pitchFamily="34" charset="0"/>
                        </a:rPr>
                        <a:t>相关 </a:t>
                      </a:r>
                      <a:r>
                        <a:rPr lang="en-US" altLang="zh-CN" sz="1200" b="0" i="0" u="none" strike="noStrike"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a:t>
                      </a:r>
                      <a:r>
                        <a:rPr lang="en" sz="1200" b="0" i="0" u="none" strike="noStrike"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Ellis, 2009)</a:t>
                      </a:r>
                    </a:p>
                  </a:txBody>
                  <a:tcPr marL="6695" marR="6695" marT="6695"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936693390"/>
                  </a:ext>
                </a:extLst>
              </a:tr>
              <a:tr h="1201403">
                <a:tc>
                  <a:txBody>
                    <a:bodyPr/>
                    <a:lstStyle/>
                    <a:p>
                      <a:pPr algn="ctr" fontAlgn="ctr">
                        <a:lnSpc>
                          <a:spcPct val="150000"/>
                        </a:lnSpc>
                      </a:pPr>
                      <a:r>
                        <a:rPr lang="zh-CN" altLang="en-US" sz="1600" b="1" u="none" strike="noStrike" dirty="0">
                          <a:solidFill>
                            <a:schemeClr val="bg1"/>
                          </a:solidFill>
                          <a:effectLst/>
                          <a:latin typeface="Arial" panose="020B0604020202020204" pitchFamily="34" charset="0"/>
                          <a:ea typeface="Microsoft YaHei" panose="020B0503020204020204" pitchFamily="34" charset="-122"/>
                          <a:cs typeface="Arial" panose="020B0604020202020204" pitchFamily="34" charset="0"/>
                        </a:rPr>
                        <a:t>冒险</a:t>
                      </a:r>
                      <a:endParaRPr lang="zh-CN" altLang="en-US" sz="1600" b="1" i="0" u="none" strike="noStrike" dirty="0">
                        <a:solidFill>
                          <a:schemeClr val="bg1"/>
                        </a:solidFill>
                        <a:effectLst/>
                        <a:latin typeface="Arial" panose="020B0604020202020204" pitchFamily="34" charset="0"/>
                        <a:ea typeface="Microsoft YaHei" panose="020B0503020204020204" pitchFamily="34" charset="-122"/>
                        <a:cs typeface="Arial" panose="020B0604020202020204" pitchFamily="34" charset="0"/>
                      </a:endParaRPr>
                    </a:p>
                  </a:txBody>
                  <a:tcPr marL="6695" marR="6695" marT="6695" marB="0" anchor="ctr" anchorCtr="1">
                    <a:lnR w="19050" cap="flat" cmpd="sng" algn="ctr">
                      <a:solidFill>
                        <a:schemeClr val="bg1"/>
                      </a:solidFill>
                      <a:prstDash val="solid"/>
                      <a:round/>
                      <a:headEnd type="none" w="med" len="med"/>
                      <a:tailEnd type="none" w="med" len="med"/>
                    </a:lnR>
                    <a:solidFill>
                      <a:schemeClr val="tx1">
                        <a:lumMod val="65000"/>
                        <a:lumOff val="35000"/>
                      </a:schemeClr>
                    </a:solidFill>
                  </a:tcPr>
                </a:tc>
                <a:tc>
                  <a:txBody>
                    <a:bodyPr/>
                    <a:lstStyle/>
                    <a:p>
                      <a:pPr algn="l" fontAlgn="ctr">
                        <a:lnSpc>
                          <a:spcPct val="150000"/>
                        </a:lnSpc>
                      </a:pP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  </a:t>
                      </a:r>
                      <a:r>
                        <a:rPr lang="en" sz="1200" u="none" strike="noStrike" dirty="0">
                          <a:effectLst/>
                          <a:latin typeface="Arial" panose="020B0604020202020204" pitchFamily="34" charset="0"/>
                          <a:ea typeface="Microsoft YaHei" panose="020B0503020204020204" pitchFamily="34" charset="-122"/>
                          <a:cs typeface="Arial" panose="020B0604020202020204" pitchFamily="34" charset="0"/>
                        </a:rPr>
                        <a:t>Fast</a:t>
                      </a: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音乐有</a:t>
                      </a:r>
                      <a:r>
                        <a:rPr lang="zh-CN" altLang="en-US" sz="1200" b="1" u="none" strike="noStrike" dirty="0">
                          <a:effectLst/>
                          <a:latin typeface="Arial" panose="020B0604020202020204" pitchFamily="34" charset="0"/>
                          <a:ea typeface="Microsoft YaHei" panose="020B0503020204020204" pitchFamily="34" charset="-122"/>
                          <a:cs typeface="Arial" panose="020B0604020202020204" pitchFamily="34" charset="0"/>
                        </a:rPr>
                        <a:t>更高的冒险水平 </a:t>
                      </a:r>
                      <a:r>
                        <a:rPr lang="en-US" altLang="zh-CN" sz="1200" u="none" strike="noStrike"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a:t>
                      </a:r>
                      <a:r>
                        <a:rPr lang="en" sz="1200" u="none" strike="noStrike"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Ho, 2020)</a:t>
                      </a:r>
                    </a:p>
                    <a:p>
                      <a:pPr algn="l" fontAlgn="ctr">
                        <a:lnSpc>
                          <a:spcPct val="150000"/>
                        </a:lnSpc>
                      </a:pP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  </a:t>
                      </a:r>
                      <a:r>
                        <a:rPr lang="en" altLang="zh-CN" sz="1200" u="none" strike="noStrike" dirty="0">
                          <a:effectLst/>
                          <a:latin typeface="Arial" panose="020B0604020202020204" pitchFamily="34" charset="0"/>
                          <a:ea typeface="Microsoft YaHei" panose="020B0503020204020204" pitchFamily="34" charset="-122"/>
                          <a:cs typeface="Arial" panose="020B0604020202020204" pitchFamily="34" charset="0"/>
                        </a:rPr>
                        <a:t>Fast</a:t>
                      </a: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音乐下，</a:t>
                      </a:r>
                      <a:r>
                        <a:rPr lang="zh-CN" altLang="en-US" sz="1200" b="1" u="none" strike="noStrike" dirty="0">
                          <a:effectLst/>
                          <a:latin typeface="Arial" panose="020B0604020202020204" pitchFamily="34" charset="0"/>
                          <a:ea typeface="Microsoft YaHei" panose="020B0503020204020204" pitchFamily="34" charset="-122"/>
                          <a:cs typeface="Arial" panose="020B0604020202020204" pitchFamily="34" charset="0"/>
                        </a:rPr>
                        <a:t>下注速度会更快 </a:t>
                      </a:r>
                      <a:r>
                        <a:rPr lang="en-US" altLang="zh-C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a:t>
                      </a:r>
                      <a:r>
                        <a:rPr lang="en" altLang="zh-CN" sz="1200" u="none" strike="noStrike" kern="1200" dirty="0" err="1">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Spenwyn</a:t>
                      </a:r>
                      <a:r>
                        <a:rPr lang="en" altLang="zh-C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a:t>
                      </a:r>
                      <a:r>
                        <a:rPr lang="zh-CN" altLang="en-US"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等</a:t>
                      </a:r>
                      <a:r>
                        <a:rPr lang="en-US" altLang="zh-C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2010)</a:t>
                      </a:r>
                    </a:p>
                    <a:p>
                      <a:pPr algn="l" fontAlgn="ctr">
                        <a:lnSpc>
                          <a:spcPct val="150000"/>
                        </a:lnSpc>
                      </a:pP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  </a:t>
                      </a:r>
                      <a:r>
                        <a:rPr lang="en" altLang="zh-CN" sz="1200" u="none" strike="noStrike" dirty="0">
                          <a:effectLst/>
                          <a:latin typeface="Arial" panose="020B0604020202020204" pitchFamily="34" charset="0"/>
                          <a:ea typeface="Microsoft YaHei" panose="020B0503020204020204" pitchFamily="34" charset="-122"/>
                          <a:cs typeface="Arial" panose="020B0604020202020204" pitchFamily="34" charset="0"/>
                        </a:rPr>
                        <a:t>Fast</a:t>
                      </a: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音乐下，</a:t>
                      </a:r>
                      <a:r>
                        <a:rPr lang="zh-CN" altLang="en-US" sz="1200" b="1" u="none" strike="noStrike" dirty="0">
                          <a:effectLst/>
                          <a:latin typeface="Arial" panose="020B0604020202020204" pitchFamily="34" charset="0"/>
                          <a:ea typeface="Microsoft YaHei" panose="020B0503020204020204" pitchFamily="34" charset="-122"/>
                          <a:cs typeface="Arial" panose="020B0604020202020204" pitchFamily="34" charset="0"/>
                        </a:rPr>
                        <a:t>准确率会更高 </a:t>
                      </a:r>
                      <a:r>
                        <a:rPr lang="en-US" altLang="zh-C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a:t>
                      </a:r>
                      <a:r>
                        <a:rPr lang="en" altLang="zh-C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Day </a:t>
                      </a:r>
                      <a:r>
                        <a:rPr lang="zh-CN" altLang="en-US"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等</a:t>
                      </a:r>
                      <a:r>
                        <a:rPr lang="en-US" altLang="zh-C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2009)</a:t>
                      </a:r>
                    </a:p>
                    <a:p>
                      <a:pPr algn="l" fontAlgn="ctr">
                        <a:lnSpc>
                          <a:spcPct val="150000"/>
                        </a:lnSpc>
                      </a:pP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  </a:t>
                      </a:r>
                      <a:r>
                        <a:rPr lang="en" altLang="zh-CN" sz="1200" u="none" strike="noStrike" dirty="0" err="1">
                          <a:effectLst/>
                          <a:latin typeface="Arial" panose="020B0604020202020204" pitchFamily="34" charset="0"/>
                          <a:ea typeface="Microsoft YaHei" panose="020B0503020204020204" pitchFamily="34" charset="-122"/>
                          <a:cs typeface="Arial" panose="020B0604020202020204" pitchFamily="34" charset="0"/>
                        </a:rPr>
                        <a:t>Fast音乐下</a:t>
                      </a: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a:t>
                      </a:r>
                      <a:r>
                        <a:rPr lang="zh-CN" altLang="en-US" sz="1200" b="1" u="none" strike="noStrike" dirty="0">
                          <a:effectLst/>
                          <a:latin typeface="Arial" panose="020B0604020202020204" pitchFamily="34" charset="0"/>
                          <a:ea typeface="Microsoft YaHei" panose="020B0503020204020204" pitchFamily="34" charset="-122"/>
                          <a:cs typeface="Arial" panose="020B0604020202020204" pitchFamily="34" charset="0"/>
                        </a:rPr>
                        <a:t>风险决策更少 </a:t>
                      </a:r>
                      <a:r>
                        <a:rPr lang="en-US" altLang="zh-C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a:t>
                      </a:r>
                      <a:r>
                        <a:rPr lang="en" altLang="zh-C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Israel </a:t>
                      </a:r>
                      <a:r>
                        <a:rPr lang="zh-CN" altLang="en-US"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等</a:t>
                      </a:r>
                      <a:r>
                        <a:rPr lang="en-US" altLang="zh-C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2019)</a:t>
                      </a:r>
                      <a:endParaRPr lang="en" sz="1200" b="0" i="0" u="none" strike="noStrike"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endParaRPr>
                    </a:p>
                  </a:txBody>
                  <a:tcPr marL="6695" marR="6695" marT="6695"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315481717"/>
                  </a:ext>
                </a:extLst>
              </a:tr>
              <a:tr h="1201403">
                <a:tc>
                  <a:txBody>
                    <a:bodyPr/>
                    <a:lstStyle/>
                    <a:p>
                      <a:pPr algn="ctr" fontAlgn="ctr">
                        <a:lnSpc>
                          <a:spcPct val="150000"/>
                        </a:lnSpc>
                      </a:pPr>
                      <a:r>
                        <a:rPr lang="zh-CN" altLang="en-US" sz="1600" b="1" u="none" strike="noStrike" dirty="0">
                          <a:solidFill>
                            <a:schemeClr val="bg1"/>
                          </a:solidFill>
                          <a:effectLst/>
                          <a:latin typeface="Arial" panose="020B0604020202020204" pitchFamily="34" charset="0"/>
                          <a:ea typeface="Microsoft YaHei" panose="020B0503020204020204" pitchFamily="34" charset="-122"/>
                          <a:cs typeface="Arial" panose="020B0604020202020204" pitchFamily="34" charset="0"/>
                        </a:rPr>
                        <a:t>认知处理反应</a:t>
                      </a:r>
                      <a:endParaRPr lang="zh-CN" altLang="en-US" sz="1600" b="1" i="0" u="none" strike="noStrike" dirty="0">
                        <a:solidFill>
                          <a:schemeClr val="bg1"/>
                        </a:solidFill>
                        <a:effectLst/>
                        <a:latin typeface="Arial" panose="020B0604020202020204" pitchFamily="34" charset="0"/>
                        <a:ea typeface="Microsoft YaHei" panose="020B0503020204020204" pitchFamily="34" charset="-122"/>
                        <a:cs typeface="Arial" panose="020B0604020202020204" pitchFamily="34" charset="0"/>
                      </a:endParaRPr>
                    </a:p>
                  </a:txBody>
                  <a:tcPr marL="6695" marR="6695" marT="6695" marB="0" anchor="ctr" anchorCtr="1">
                    <a:lnR w="19050" cap="flat" cmpd="sng" algn="ctr">
                      <a:solidFill>
                        <a:schemeClr val="bg1"/>
                      </a:solidFill>
                      <a:prstDash val="solid"/>
                      <a:round/>
                      <a:headEnd type="none" w="med" len="med"/>
                      <a:tailEnd type="none" w="med" len="med"/>
                    </a:lnR>
                    <a:solidFill>
                      <a:schemeClr val="tx1">
                        <a:lumMod val="65000"/>
                        <a:lumOff val="35000"/>
                      </a:schemeClr>
                    </a:solidFill>
                  </a:tcPr>
                </a:tc>
                <a:tc>
                  <a:txBody>
                    <a:bodyPr/>
                    <a:lstStyle/>
                    <a:p>
                      <a:pPr algn="l" fontAlgn="ctr">
                        <a:lnSpc>
                          <a:spcPct val="150000"/>
                        </a:lnSpc>
                      </a:pP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  </a:t>
                      </a:r>
                      <a:r>
                        <a:rPr lang="en" altLang="zh-CN" sz="1200" u="none" strike="noStrike" dirty="0">
                          <a:effectLst/>
                          <a:latin typeface="Arial" panose="020B0604020202020204" pitchFamily="34" charset="0"/>
                          <a:ea typeface="Microsoft YaHei" panose="020B0503020204020204" pitchFamily="34" charset="-122"/>
                          <a:cs typeface="Arial" panose="020B0604020202020204" pitchFamily="34" charset="0"/>
                        </a:rPr>
                        <a:t>Fast</a:t>
                      </a: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音乐下，形状辨别、视觉搜索和判断、字母辨别</a:t>
                      </a:r>
                      <a:r>
                        <a:rPr lang="zh-CN" altLang="en-US" sz="1200" b="1" u="none" strike="noStrike" dirty="0">
                          <a:effectLst/>
                          <a:latin typeface="Arial" panose="020B0604020202020204" pitchFamily="34" charset="0"/>
                          <a:ea typeface="Microsoft YaHei" panose="020B0503020204020204" pitchFamily="34" charset="-122"/>
                          <a:cs typeface="Arial" panose="020B0604020202020204" pitchFamily="34" charset="0"/>
                        </a:rPr>
                        <a:t>反应时间更快，得分更</a:t>
                      </a:r>
                      <a:r>
                        <a:rPr lang="zh-CN" altLang="en-US" sz="1200" b="1" u="none" strike="noStrike" kern="1200" dirty="0">
                          <a:solidFill>
                            <a:schemeClr val="dk1"/>
                          </a:solidFill>
                          <a:effectLst/>
                          <a:latin typeface="Arial" panose="020B0604020202020204" pitchFamily="34" charset="0"/>
                          <a:ea typeface="Microsoft YaHei" panose="020B0503020204020204" pitchFamily="34" charset="-122"/>
                          <a:cs typeface="Arial" panose="020B0604020202020204" pitchFamily="34" charset="0"/>
                        </a:rPr>
                        <a:t>高</a:t>
                      </a:r>
                      <a:r>
                        <a:rPr lang="zh-CN" altLang="en-US" sz="1200" b="1" u="none" strike="noStrike" dirty="0">
                          <a:effectLst/>
                          <a:latin typeface="Arial" panose="020B0604020202020204" pitchFamily="34" charset="0"/>
                          <a:ea typeface="Microsoft YaHei" panose="020B0503020204020204" pitchFamily="34" charset="-122"/>
                          <a:cs typeface="Arial" panose="020B0604020202020204" pitchFamily="34" charset="0"/>
                        </a:rPr>
                        <a:t> </a:t>
                      </a:r>
                      <a:r>
                        <a:rPr lang="en-US" altLang="zh-CN" sz="1200" u="none" strike="noStrike"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a:t>
                      </a:r>
                      <a:r>
                        <a:rPr lang="en" sz="1200" u="none" strike="noStrike"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Lin </a:t>
                      </a:r>
                      <a:r>
                        <a:rPr lang="zh-CN" altLang="en-US" sz="1200" u="none" strike="noStrike"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等</a:t>
                      </a:r>
                      <a:r>
                        <a:rPr lang="en-US" altLang="zh-CN" sz="1200" u="none" strike="noStrike"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2023)</a:t>
                      </a:r>
                    </a:p>
                    <a:p>
                      <a:pPr algn="l" fontAlgn="ctr">
                        <a:lnSpc>
                          <a:spcPct val="150000"/>
                        </a:lnSpc>
                      </a:pP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  </a:t>
                      </a:r>
                      <a:r>
                        <a:rPr lang="en" altLang="zh-CN" sz="1200" u="none" strike="noStrike" dirty="0">
                          <a:effectLst/>
                          <a:latin typeface="Arial" panose="020B0604020202020204" pitchFamily="34" charset="0"/>
                          <a:ea typeface="Microsoft YaHei" panose="020B0503020204020204" pitchFamily="34" charset="-122"/>
                          <a:cs typeface="Arial" panose="020B0604020202020204" pitchFamily="34" charset="0"/>
                        </a:rPr>
                        <a:t>Fast</a:t>
                      </a: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音乐下，视觉</a:t>
                      </a:r>
                      <a:r>
                        <a:rPr lang="zh-CN" altLang="en-US" sz="1200" b="0" u="none" strike="noStrike" dirty="0">
                          <a:effectLst/>
                          <a:latin typeface="Arial" panose="020B0604020202020204" pitchFamily="34" charset="0"/>
                          <a:ea typeface="Microsoft YaHei" panose="020B0503020204020204" pitchFamily="34" charset="-122"/>
                          <a:cs typeface="Arial" panose="020B0604020202020204" pitchFamily="34" charset="0"/>
                        </a:rPr>
                        <a:t>注意</a:t>
                      </a:r>
                      <a:r>
                        <a:rPr lang="zh-CN" altLang="en-US" sz="1200" b="1" u="none" strike="noStrike" dirty="0">
                          <a:effectLst/>
                          <a:latin typeface="Arial" panose="020B0604020202020204" pitchFamily="34" charset="0"/>
                          <a:ea typeface="Microsoft YaHei" panose="020B0503020204020204" pitchFamily="34" charset="-122"/>
                          <a:cs typeface="Arial" panose="020B0604020202020204" pitchFamily="34" charset="0"/>
                        </a:rPr>
                        <a:t>反应时更快，但准确率更低 </a:t>
                      </a:r>
                      <a:r>
                        <a:rPr lang="en-US" altLang="zh-C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a:t>
                      </a:r>
                      <a:r>
                        <a:rPr lang="en" altLang="zh-C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Meehan, 2019)</a:t>
                      </a:r>
                    </a:p>
                    <a:p>
                      <a:pPr algn="l" fontAlgn="ctr">
                        <a:lnSpc>
                          <a:spcPct val="150000"/>
                        </a:lnSpc>
                      </a:pP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  </a:t>
                      </a:r>
                      <a:r>
                        <a:rPr lang="en" altLang="zh-CN" sz="1200" u="none" strike="noStrike" dirty="0">
                          <a:effectLst/>
                          <a:latin typeface="Arial" panose="020B0604020202020204" pitchFamily="34" charset="0"/>
                          <a:ea typeface="Microsoft YaHei" panose="020B0503020204020204" pitchFamily="34" charset="-122"/>
                          <a:cs typeface="Arial" panose="020B0604020202020204" pitchFamily="34" charset="0"/>
                        </a:rPr>
                        <a:t>Fast</a:t>
                      </a: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音乐下，正确率更低， </a:t>
                      </a:r>
                      <a:r>
                        <a:rPr lang="en" altLang="zh-CN" sz="1200" u="none" strike="noStrike" dirty="0">
                          <a:effectLst/>
                          <a:latin typeface="Arial" panose="020B0604020202020204" pitchFamily="34" charset="0"/>
                          <a:ea typeface="Microsoft YaHei" panose="020B0503020204020204" pitchFamily="34" charset="-122"/>
                          <a:cs typeface="Arial" panose="020B0604020202020204" pitchFamily="34" charset="0"/>
                        </a:rPr>
                        <a:t>N2d </a:t>
                      </a: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波幅更大，说明</a:t>
                      </a:r>
                      <a:r>
                        <a:rPr lang="zh-CN" altLang="en-US" sz="1200" b="1" u="none" strike="noStrike" dirty="0">
                          <a:effectLst/>
                          <a:latin typeface="Arial" panose="020B0604020202020204" pitchFamily="34" charset="0"/>
                          <a:ea typeface="Microsoft YaHei" panose="020B0503020204020204" pitchFamily="34" charset="-122"/>
                          <a:cs typeface="Arial" panose="020B0604020202020204" pitchFamily="34" charset="0"/>
                        </a:rPr>
                        <a:t>有更多的认知努力 </a:t>
                      </a:r>
                      <a:r>
                        <a:rPr lang="en-US" altLang="zh-C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a:t>
                      </a:r>
                      <a:r>
                        <a:rPr lang="en" altLang="zh-C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Xiao </a:t>
                      </a:r>
                      <a:r>
                        <a:rPr lang="zh-CN" altLang="en-US"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等</a:t>
                      </a:r>
                      <a:r>
                        <a:rPr lang="en-US" altLang="zh-C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2020)</a:t>
                      </a:r>
                    </a:p>
                    <a:p>
                      <a:pPr algn="l" fontAlgn="ctr">
                        <a:lnSpc>
                          <a:spcPct val="150000"/>
                        </a:lnSpc>
                      </a:pP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  </a:t>
                      </a:r>
                      <a:r>
                        <a:rPr lang="en" altLang="zh-CN" sz="1200" u="none" strike="noStrike" dirty="0">
                          <a:effectLst/>
                          <a:latin typeface="Arial" panose="020B0604020202020204" pitchFamily="34" charset="0"/>
                          <a:ea typeface="Microsoft YaHei" panose="020B0503020204020204" pitchFamily="34" charset="-122"/>
                          <a:cs typeface="Arial" panose="020B0604020202020204" pitchFamily="34" charset="0"/>
                        </a:rPr>
                        <a:t>Fast</a:t>
                      </a: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的音乐下，反应速度更快，</a:t>
                      </a:r>
                      <a:r>
                        <a:rPr lang="en" altLang="zh-CN" sz="1200" u="none" strike="noStrike" dirty="0">
                          <a:effectLst/>
                          <a:latin typeface="Arial" panose="020B0604020202020204" pitchFamily="34" charset="0"/>
                          <a:ea typeface="Microsoft YaHei" panose="020B0503020204020204" pitchFamily="34" charset="-122"/>
                          <a:cs typeface="Arial" panose="020B0604020202020204" pitchFamily="34" charset="0"/>
                        </a:rPr>
                        <a:t>P3d </a:t>
                      </a: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潜伏期更短，说明试</a:t>
                      </a:r>
                      <a:r>
                        <a:rPr lang="zh-CN" altLang="en-US" sz="1200" b="1" u="none" strike="noStrike" dirty="0">
                          <a:effectLst/>
                          <a:latin typeface="Arial" panose="020B0604020202020204" pitchFamily="34" charset="0"/>
                          <a:ea typeface="Microsoft YaHei" panose="020B0503020204020204" pitchFamily="34" charset="-122"/>
                          <a:cs typeface="Arial" panose="020B0604020202020204" pitchFamily="34" charset="0"/>
                        </a:rPr>
                        <a:t>处理信息速度更快 </a:t>
                      </a:r>
                      <a:r>
                        <a:rPr lang="en-US" altLang="zh-C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a:t>
                      </a:r>
                      <a:r>
                        <a:rPr lang="en" altLang="zh-CN" sz="1200" u="none" strike="noStrike" kern="1200" dirty="0" err="1">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Amezcua</a:t>
                      </a:r>
                      <a:r>
                        <a:rPr lang="en" altLang="zh-C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a:t>
                      </a:r>
                      <a:r>
                        <a:rPr lang="zh-CN" altLang="en-US"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等</a:t>
                      </a:r>
                      <a:r>
                        <a:rPr lang="en-US" altLang="zh-C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2005)</a:t>
                      </a:r>
                      <a:endParaRPr lang="en-US" altLang="zh-CN" sz="1200" b="0" i="0" u="none" strike="noStrike"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endParaRPr>
                    </a:p>
                  </a:txBody>
                  <a:tcPr marL="6695" marR="6695" marT="6695"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820355303"/>
                  </a:ext>
                </a:extLst>
              </a:tr>
              <a:tr h="416637">
                <a:tc>
                  <a:txBody>
                    <a:bodyPr/>
                    <a:lstStyle/>
                    <a:p>
                      <a:pPr algn="ctr" fontAlgn="ctr">
                        <a:lnSpc>
                          <a:spcPct val="150000"/>
                        </a:lnSpc>
                      </a:pPr>
                      <a:r>
                        <a:rPr lang="zh-CN" altLang="en-US" sz="1600" b="1" u="none" strike="noStrike" dirty="0">
                          <a:solidFill>
                            <a:schemeClr val="bg1"/>
                          </a:solidFill>
                          <a:effectLst/>
                          <a:latin typeface="Arial" panose="020B0604020202020204" pitchFamily="34" charset="0"/>
                          <a:ea typeface="Microsoft YaHei" panose="020B0503020204020204" pitchFamily="34" charset="-122"/>
                          <a:cs typeface="Arial" panose="020B0604020202020204" pitchFamily="34" charset="0"/>
                        </a:rPr>
                        <a:t>反应抑制</a:t>
                      </a:r>
                      <a:endParaRPr lang="zh-CN" altLang="en-US" sz="1600" b="1" i="0" u="none" strike="noStrike" dirty="0">
                        <a:solidFill>
                          <a:schemeClr val="bg1"/>
                        </a:solidFill>
                        <a:effectLst/>
                        <a:latin typeface="Arial" panose="020B0604020202020204" pitchFamily="34" charset="0"/>
                        <a:ea typeface="Microsoft YaHei" panose="020B0503020204020204" pitchFamily="34" charset="-122"/>
                        <a:cs typeface="Arial" panose="020B0604020202020204" pitchFamily="34" charset="0"/>
                      </a:endParaRPr>
                    </a:p>
                  </a:txBody>
                  <a:tcPr marL="6695" marR="6695" marT="6695" marB="0" anchor="ctr" anchorCtr="1">
                    <a:lnR w="19050" cap="flat" cmpd="sng" algn="ctr">
                      <a:solidFill>
                        <a:schemeClr val="bg1"/>
                      </a:solidFill>
                      <a:prstDash val="solid"/>
                      <a:round/>
                      <a:headEnd type="none" w="med" len="med"/>
                      <a:tailEnd type="none" w="med" len="med"/>
                    </a:lnR>
                    <a:solidFill>
                      <a:schemeClr val="tx1">
                        <a:lumMod val="65000"/>
                        <a:lumOff val="35000"/>
                      </a:schemeClr>
                    </a:solidFill>
                  </a:tcPr>
                </a:tc>
                <a:tc>
                  <a:txBody>
                    <a:bodyPr/>
                    <a:lstStyle/>
                    <a:p>
                      <a:pPr algn="l" fontAlgn="ctr">
                        <a:lnSpc>
                          <a:spcPct val="150000"/>
                        </a:lnSpc>
                      </a:pP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  </a:t>
                      </a:r>
                      <a:r>
                        <a:rPr lang="en" sz="1200" u="none" strike="noStrike" dirty="0">
                          <a:effectLst/>
                          <a:latin typeface="Arial" panose="020B0604020202020204" pitchFamily="34" charset="0"/>
                          <a:ea typeface="Microsoft YaHei" panose="020B0503020204020204" pitchFamily="34" charset="-122"/>
                          <a:cs typeface="Arial" panose="020B0604020202020204" pitchFamily="34" charset="0"/>
                        </a:rPr>
                        <a:t>Fast</a:t>
                      </a: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音乐下，</a:t>
                      </a:r>
                      <a:r>
                        <a:rPr lang="en-US" altLang="zh-CN" sz="1200" b="1" u="none" strike="noStrike" dirty="0" err="1">
                          <a:effectLst/>
                          <a:latin typeface="Arial" panose="020B0604020202020204" pitchFamily="34" charset="0"/>
                          <a:ea typeface="Microsoft YaHei" panose="020B0503020204020204" pitchFamily="34" charset="-122"/>
                          <a:cs typeface="Arial" panose="020B0604020202020204" pitchFamily="34" charset="0"/>
                        </a:rPr>
                        <a:t>nogo</a:t>
                      </a:r>
                      <a:r>
                        <a:rPr lang="zh-CN" altLang="en-US" sz="1200" b="1" u="none" strike="noStrike" dirty="0">
                          <a:effectLst/>
                          <a:latin typeface="Arial" panose="020B0604020202020204" pitchFamily="34" charset="0"/>
                          <a:ea typeface="Microsoft YaHei" panose="020B0503020204020204" pitchFamily="34" charset="-122"/>
                          <a:cs typeface="Arial" panose="020B0604020202020204" pitchFamily="34" charset="0"/>
                        </a:rPr>
                        <a:t>正确率更低 </a:t>
                      </a:r>
                      <a:r>
                        <a:rPr lang="en-US" altLang="zh-C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a:t>
                      </a:r>
                      <a:r>
                        <a:rPr lang="e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Xiao </a:t>
                      </a:r>
                      <a:r>
                        <a:rPr lang="zh-CN" altLang="en-US"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等</a:t>
                      </a:r>
                      <a:r>
                        <a:rPr lang="en-US" altLang="zh-C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2020)</a:t>
                      </a:r>
                    </a:p>
                  </a:txBody>
                  <a:tcPr marL="6695" marR="6695" marT="6695"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918985352"/>
                  </a:ext>
                </a:extLst>
              </a:tr>
              <a:tr h="809736">
                <a:tc>
                  <a:txBody>
                    <a:bodyPr/>
                    <a:lstStyle/>
                    <a:p>
                      <a:pPr algn="ctr" fontAlgn="ctr">
                        <a:lnSpc>
                          <a:spcPct val="150000"/>
                        </a:lnSpc>
                      </a:pPr>
                      <a:r>
                        <a:rPr lang="zh-CN" altLang="en-US" sz="1600" b="1" u="none" strike="noStrike" dirty="0">
                          <a:solidFill>
                            <a:schemeClr val="bg1"/>
                          </a:solidFill>
                          <a:effectLst/>
                          <a:latin typeface="Arial" panose="020B0604020202020204" pitchFamily="34" charset="0"/>
                          <a:ea typeface="Microsoft YaHei" panose="020B0503020204020204" pitchFamily="34" charset="-122"/>
                          <a:cs typeface="Arial" panose="020B0604020202020204" pitchFamily="34" charset="0"/>
                        </a:rPr>
                        <a:t>记忆</a:t>
                      </a:r>
                      <a:endParaRPr lang="zh-CN" altLang="en-US" sz="1600" b="1" i="0" u="none" strike="noStrike" dirty="0">
                        <a:solidFill>
                          <a:schemeClr val="bg1"/>
                        </a:solidFill>
                        <a:effectLst/>
                        <a:latin typeface="Arial" panose="020B0604020202020204" pitchFamily="34" charset="0"/>
                        <a:ea typeface="Microsoft YaHei" panose="020B0503020204020204" pitchFamily="34" charset="-122"/>
                        <a:cs typeface="Arial" panose="020B0604020202020204" pitchFamily="34" charset="0"/>
                      </a:endParaRPr>
                    </a:p>
                  </a:txBody>
                  <a:tcPr marL="6695" marR="6695" marT="6695" marB="0" anchor="ctr" anchorCtr="1">
                    <a:lnR w="19050" cap="flat" cmpd="sng" algn="ctr">
                      <a:solidFill>
                        <a:schemeClr val="bg1"/>
                      </a:solidFill>
                      <a:prstDash val="solid"/>
                      <a:round/>
                      <a:headEnd type="none" w="med" len="med"/>
                      <a:tailEnd type="none" w="med" len="med"/>
                    </a:lnR>
                    <a:solidFill>
                      <a:schemeClr val="tx1">
                        <a:lumMod val="65000"/>
                        <a:lumOff val="35000"/>
                      </a:schemeClr>
                    </a:solidFill>
                  </a:tcPr>
                </a:tc>
                <a:tc>
                  <a:txBody>
                    <a:bodyPr/>
                    <a:lstStyle/>
                    <a:p>
                      <a:pPr algn="l" fontAlgn="ctr">
                        <a:lnSpc>
                          <a:spcPct val="150000"/>
                        </a:lnSpc>
                      </a:pP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  </a:t>
                      </a:r>
                      <a:r>
                        <a:rPr lang="en" altLang="zh-CN" sz="1200" u="none" strike="noStrike" dirty="0">
                          <a:effectLst/>
                          <a:latin typeface="Arial" panose="020B0604020202020204" pitchFamily="34" charset="0"/>
                          <a:ea typeface="Microsoft YaHei" panose="020B0503020204020204" pitchFamily="34" charset="-122"/>
                          <a:cs typeface="Arial" panose="020B0604020202020204" pitchFamily="34" charset="0"/>
                        </a:rPr>
                        <a:t>Fast</a:t>
                      </a: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音乐下，</a:t>
                      </a:r>
                      <a:r>
                        <a:rPr lang="zh-CN" altLang="en-US" sz="1200" b="1" u="none" strike="noStrike" dirty="0">
                          <a:effectLst/>
                          <a:latin typeface="Arial" panose="020B0604020202020204" pitchFamily="34" charset="0"/>
                          <a:ea typeface="Microsoft YaHei" panose="020B0503020204020204" pitchFamily="34" charset="-122"/>
                          <a:cs typeface="Arial" panose="020B0604020202020204" pitchFamily="34" charset="0"/>
                        </a:rPr>
                        <a:t>错认更少</a:t>
                      </a: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 </a:t>
                      </a:r>
                      <a:r>
                        <a:rPr lang="en-US" altLang="zh-C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a:t>
                      </a:r>
                      <a:r>
                        <a:rPr lang="e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Kamal </a:t>
                      </a:r>
                      <a:r>
                        <a:rPr lang="zh-CN" altLang="en-US"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和 </a:t>
                      </a:r>
                      <a:r>
                        <a:rPr lang="e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Berry, 2015)</a:t>
                      </a:r>
                    </a:p>
                    <a:p>
                      <a:pPr algn="l" fontAlgn="ctr">
                        <a:lnSpc>
                          <a:spcPct val="150000"/>
                        </a:lnSpc>
                      </a:pP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  </a:t>
                      </a:r>
                      <a:r>
                        <a:rPr lang="en" altLang="zh-CN" sz="1200" b="1" u="none" strike="noStrike" dirty="0">
                          <a:effectLst/>
                          <a:latin typeface="Arial" panose="020B0604020202020204" pitchFamily="34" charset="0"/>
                          <a:ea typeface="Microsoft YaHei" panose="020B0503020204020204" pitchFamily="34" charset="-122"/>
                          <a:cs typeface="Arial" panose="020B0604020202020204" pitchFamily="34" charset="0"/>
                        </a:rPr>
                        <a:t>Medium</a:t>
                      </a: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音乐下，</a:t>
                      </a:r>
                      <a:r>
                        <a:rPr lang="zh-CN" altLang="en-US" sz="1200" b="1" u="none" strike="noStrike" dirty="0">
                          <a:effectLst/>
                          <a:latin typeface="Arial" panose="020B0604020202020204" pitchFamily="34" charset="0"/>
                          <a:ea typeface="Microsoft YaHei" panose="020B0503020204020204" pitchFamily="34" charset="-122"/>
                          <a:cs typeface="Arial" panose="020B0604020202020204" pitchFamily="34" charset="0"/>
                        </a:rPr>
                        <a:t>得分最高</a:t>
                      </a: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 </a:t>
                      </a:r>
                      <a:r>
                        <a:rPr lang="en-US" altLang="zh-C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a:t>
                      </a:r>
                      <a:r>
                        <a:rPr lang="en" altLang="zh-C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Chie </a:t>
                      </a:r>
                      <a:r>
                        <a:rPr lang="zh-CN" altLang="en-US"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等</a:t>
                      </a:r>
                      <a:r>
                        <a:rPr lang="en-US" altLang="zh-C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2009)</a:t>
                      </a:r>
                      <a:endParaRPr lang="e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endParaRPr>
                    </a:p>
                  </a:txBody>
                  <a:tcPr marL="6695" marR="6695" marT="6695"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33716665"/>
                  </a:ext>
                </a:extLst>
              </a:tr>
              <a:tr h="385876">
                <a:tc>
                  <a:txBody>
                    <a:bodyPr/>
                    <a:lstStyle/>
                    <a:p>
                      <a:pPr algn="ctr" fontAlgn="ctr">
                        <a:lnSpc>
                          <a:spcPct val="150000"/>
                        </a:lnSpc>
                      </a:pPr>
                      <a:r>
                        <a:rPr lang="zh-CN" altLang="en-US" sz="1600" b="1" u="none" strike="noStrike" dirty="0">
                          <a:solidFill>
                            <a:schemeClr val="bg1"/>
                          </a:solidFill>
                          <a:effectLst/>
                          <a:latin typeface="Arial" panose="020B0604020202020204" pitchFamily="34" charset="0"/>
                          <a:ea typeface="Microsoft YaHei" panose="020B0503020204020204" pitchFamily="34" charset="-122"/>
                          <a:cs typeface="Arial" panose="020B0604020202020204" pitchFamily="34" charset="0"/>
                        </a:rPr>
                        <a:t>持续注意力</a:t>
                      </a:r>
                      <a:endParaRPr lang="zh-CN" altLang="en-US" sz="1600" b="1" i="0" u="none" strike="noStrike" dirty="0">
                        <a:solidFill>
                          <a:schemeClr val="bg1"/>
                        </a:solidFill>
                        <a:effectLst/>
                        <a:latin typeface="Arial" panose="020B0604020202020204" pitchFamily="34" charset="0"/>
                        <a:ea typeface="Microsoft YaHei" panose="020B0503020204020204" pitchFamily="34" charset="-122"/>
                        <a:cs typeface="Arial" panose="020B0604020202020204" pitchFamily="34" charset="0"/>
                      </a:endParaRPr>
                    </a:p>
                  </a:txBody>
                  <a:tcPr marL="6695" marR="6695" marT="6695" marB="0" anchor="ctr" anchorCtr="1">
                    <a:lnR w="19050" cap="flat" cmpd="sng" algn="ctr">
                      <a:solidFill>
                        <a:schemeClr val="bg1"/>
                      </a:solidFill>
                      <a:prstDash val="solid"/>
                      <a:round/>
                      <a:headEnd type="none" w="med" len="med"/>
                      <a:tailEnd type="none" w="med" len="med"/>
                    </a:lnR>
                    <a:solidFill>
                      <a:schemeClr val="tx1">
                        <a:lumMod val="65000"/>
                        <a:lumOff val="35000"/>
                      </a:schemeClr>
                    </a:solidFill>
                  </a:tcPr>
                </a:tc>
                <a:tc>
                  <a:txBody>
                    <a:bodyPr/>
                    <a:lstStyle/>
                    <a:p>
                      <a:pPr algn="l" fontAlgn="ctr">
                        <a:lnSpc>
                          <a:spcPct val="150000"/>
                        </a:lnSpc>
                      </a:pP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  </a:t>
                      </a:r>
                      <a:r>
                        <a:rPr lang="en" sz="1200" u="none" strike="noStrike" dirty="0">
                          <a:effectLst/>
                          <a:latin typeface="Arial" panose="020B0604020202020204" pitchFamily="34" charset="0"/>
                          <a:ea typeface="Microsoft YaHei" panose="020B0503020204020204" pitchFamily="34" charset="-122"/>
                          <a:cs typeface="Arial" panose="020B0604020202020204" pitchFamily="34" charset="0"/>
                        </a:rPr>
                        <a:t>Fast</a:t>
                      </a: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音乐下，得分更高，</a:t>
                      </a:r>
                      <a:r>
                        <a:rPr lang="zh-CN" altLang="en-US" sz="1200" b="1" u="none" strike="noStrike" dirty="0">
                          <a:effectLst/>
                          <a:latin typeface="Arial" panose="020B0604020202020204" pitchFamily="34" charset="0"/>
                          <a:ea typeface="Microsoft YaHei" panose="020B0503020204020204" pitchFamily="34" charset="-122"/>
                          <a:cs typeface="Arial" panose="020B0604020202020204" pitchFamily="34" charset="0"/>
                        </a:rPr>
                        <a:t>有更好的集中力</a:t>
                      </a: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 </a:t>
                      </a:r>
                      <a:r>
                        <a:rPr lang="en-US" altLang="zh-C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a:t>
                      </a:r>
                      <a:r>
                        <a:rPr lang="e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Kim, 2014)</a:t>
                      </a:r>
                    </a:p>
                  </a:txBody>
                  <a:tcPr marL="6695" marR="6695" marT="6695"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22838874"/>
                  </a:ext>
                </a:extLst>
              </a:tr>
              <a:tr h="626833">
                <a:tc>
                  <a:txBody>
                    <a:bodyPr/>
                    <a:lstStyle/>
                    <a:p>
                      <a:pPr algn="ctr" fontAlgn="ctr">
                        <a:lnSpc>
                          <a:spcPct val="150000"/>
                        </a:lnSpc>
                      </a:pPr>
                      <a:r>
                        <a:rPr lang="zh-CN" altLang="en-US" sz="1600" b="1" u="none" strike="noStrike" dirty="0">
                          <a:solidFill>
                            <a:schemeClr val="bg1"/>
                          </a:solidFill>
                          <a:effectLst/>
                          <a:latin typeface="Arial" panose="020B0604020202020204" pitchFamily="34" charset="0"/>
                          <a:ea typeface="Microsoft YaHei" panose="020B0503020204020204" pitchFamily="34" charset="-122"/>
                          <a:cs typeface="Arial" panose="020B0604020202020204" pitchFamily="34" charset="0"/>
                        </a:rPr>
                        <a:t>视觉空间认知</a:t>
                      </a:r>
                      <a:endParaRPr lang="zh-CN" altLang="en-US" sz="1600" b="1" i="0" u="none" strike="noStrike" dirty="0">
                        <a:solidFill>
                          <a:schemeClr val="bg1"/>
                        </a:solidFill>
                        <a:effectLst/>
                        <a:latin typeface="Arial" panose="020B0604020202020204" pitchFamily="34" charset="0"/>
                        <a:ea typeface="Microsoft YaHei" panose="020B0503020204020204" pitchFamily="34" charset="-122"/>
                        <a:cs typeface="Arial" panose="020B0604020202020204" pitchFamily="34" charset="0"/>
                      </a:endParaRPr>
                    </a:p>
                  </a:txBody>
                  <a:tcPr marL="6695" marR="6695" marT="6695" marB="0" anchor="ctr" anchorCtr="1">
                    <a:lnR w="19050" cap="flat" cmpd="sng" algn="ctr">
                      <a:solidFill>
                        <a:schemeClr val="bg1"/>
                      </a:solidFill>
                      <a:prstDash val="solid"/>
                      <a:round/>
                      <a:headEnd type="none" w="med" len="med"/>
                      <a:tailEnd type="none" w="med" len="med"/>
                    </a:lnR>
                    <a:solidFill>
                      <a:schemeClr val="tx1">
                        <a:lumMod val="65000"/>
                        <a:lumOff val="35000"/>
                      </a:schemeClr>
                    </a:solidFill>
                  </a:tcPr>
                </a:tc>
                <a:tc>
                  <a:txBody>
                    <a:bodyPr/>
                    <a:lstStyle/>
                    <a:p>
                      <a:pPr algn="l" fontAlgn="ctr">
                        <a:lnSpc>
                          <a:spcPct val="150000"/>
                        </a:lnSpc>
                      </a:pP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  </a:t>
                      </a:r>
                      <a:r>
                        <a:rPr lang="en" sz="1200" u="none" strike="noStrike" dirty="0">
                          <a:effectLst/>
                          <a:latin typeface="Arial" panose="020B0604020202020204" pitchFamily="34" charset="0"/>
                          <a:ea typeface="Microsoft YaHei" panose="020B0503020204020204" pitchFamily="34" charset="-122"/>
                          <a:cs typeface="Arial" panose="020B0604020202020204" pitchFamily="34" charset="0"/>
                        </a:rPr>
                        <a:t>Fast</a:t>
                      </a:r>
                      <a:r>
                        <a:rPr lang="zh-CN" altLang="en-US" sz="1200" u="none" strike="noStrike" dirty="0">
                          <a:effectLst/>
                          <a:latin typeface="Arial" panose="020B0604020202020204" pitchFamily="34" charset="0"/>
                          <a:ea typeface="Microsoft YaHei" panose="020B0503020204020204" pitchFamily="34" charset="-122"/>
                          <a:cs typeface="Arial" panose="020B0604020202020204" pitchFamily="34" charset="0"/>
                        </a:rPr>
                        <a:t>音乐下，</a:t>
                      </a:r>
                      <a:r>
                        <a:rPr lang="en" sz="1200" b="1" u="none" strike="noStrike" dirty="0">
                          <a:effectLst/>
                          <a:latin typeface="Arial" panose="020B0604020202020204" pitchFamily="34" charset="0"/>
                          <a:ea typeface="Microsoft YaHei" panose="020B0503020204020204" pitchFamily="34" charset="-122"/>
                          <a:cs typeface="Arial" panose="020B0604020202020204" pitchFamily="34" charset="0"/>
                        </a:rPr>
                        <a:t>PF&amp;C</a:t>
                      </a:r>
                      <a:r>
                        <a:rPr lang="zh-CN" altLang="en-US" sz="1200" b="1" u="none" strike="noStrike" dirty="0">
                          <a:effectLst/>
                          <a:latin typeface="Arial" panose="020B0604020202020204" pitchFamily="34" charset="0"/>
                          <a:ea typeface="Microsoft YaHei" panose="020B0503020204020204" pitchFamily="34" charset="-122"/>
                          <a:cs typeface="Arial" panose="020B0604020202020204" pitchFamily="34" charset="0"/>
                        </a:rPr>
                        <a:t>得分会更高 </a:t>
                      </a:r>
                      <a:r>
                        <a:rPr lang="en-US" altLang="zh-C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a:t>
                      </a:r>
                      <a:r>
                        <a:rPr lang="e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Thompson </a:t>
                      </a:r>
                      <a:r>
                        <a:rPr lang="zh-CN" altLang="en-US"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等</a:t>
                      </a:r>
                      <a:r>
                        <a:rPr lang="en-US" altLang="zh-C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2001</a:t>
                      </a:r>
                      <a:r>
                        <a:rPr lang="zh-CN" altLang="en-US"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a:t>
                      </a:r>
                      <a:r>
                        <a:rPr lang="en" altLang="zh-C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Husain </a:t>
                      </a:r>
                      <a:r>
                        <a:rPr lang="zh-CN" altLang="en-US"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等</a:t>
                      </a:r>
                      <a:r>
                        <a:rPr lang="en-US" altLang="zh-C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2002</a:t>
                      </a:r>
                      <a:r>
                        <a:rPr lang="zh-CN" altLang="en-US"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a:t>
                      </a:r>
                      <a:r>
                        <a:rPr lang="en-US" altLang="zh-CN" sz="1200" u="none" strike="noStrike" kern="120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a:t>
                      </a:r>
                    </a:p>
                  </a:txBody>
                  <a:tcPr marL="6695" marR="6695" marT="6695"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746820640"/>
                  </a:ext>
                </a:extLst>
              </a:tr>
            </a:tbl>
          </a:graphicData>
        </a:graphic>
      </p:graphicFrame>
      <p:sp>
        <p:nvSpPr>
          <p:cNvPr id="6" name="标题 1">
            <a:extLst>
              <a:ext uri="{FF2B5EF4-FFF2-40B4-BE49-F238E27FC236}">
                <a16:creationId xmlns:a16="http://schemas.microsoft.com/office/drawing/2014/main" id="{658D17B2-8420-EDF4-091F-1A8564BF6634}"/>
              </a:ext>
            </a:extLst>
          </p:cNvPr>
          <p:cNvSpPr txBox="1">
            <a:spLocks/>
          </p:cNvSpPr>
          <p:nvPr/>
        </p:nvSpPr>
        <p:spPr>
          <a:xfrm>
            <a:off x="339443"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tx1"/>
                </a:solidFill>
                <a:latin typeface="Microsoft YaHei" panose="020B0503020204020204" pitchFamily="34" charset="-122"/>
                <a:ea typeface="Microsoft YaHei" panose="020B0503020204020204" pitchFamily="34" charset="-122"/>
                <a:cs typeface="+mj-cs"/>
              </a:defRPr>
            </a:lvl1pPr>
          </a:lstStyle>
          <a:p>
            <a:r>
              <a:rPr kumimoji="1" lang="zh-CN" altLang="en-US" dirty="0"/>
              <a:t>文献综述  </a:t>
            </a:r>
            <a:r>
              <a:rPr kumimoji="1" lang="zh-CN" altLang="en-US" sz="2000" dirty="0"/>
              <a:t>音乐速度对情绪及认知的影响</a:t>
            </a:r>
            <a:endParaRPr kumimoji="1" lang="zh-CN" altLang="en-US" dirty="0"/>
          </a:p>
        </p:txBody>
      </p:sp>
    </p:spTree>
    <p:extLst>
      <p:ext uri="{BB962C8B-B14F-4D97-AF65-F5344CB8AC3E}">
        <p14:creationId xmlns:p14="http://schemas.microsoft.com/office/powerpoint/2010/main" val="37869045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06B7C4A-CF16-1AF5-8978-5C7901F066CF}"/>
              </a:ext>
            </a:extLst>
          </p:cNvPr>
          <p:cNvSpPr>
            <a:spLocks noGrp="1"/>
          </p:cNvSpPr>
          <p:nvPr>
            <p:ph idx="1"/>
          </p:nvPr>
        </p:nvSpPr>
        <p:spPr>
          <a:xfrm>
            <a:off x="523724" y="1870584"/>
            <a:ext cx="10515600" cy="563035"/>
          </a:xfrm>
        </p:spPr>
        <p:txBody>
          <a:bodyPr/>
          <a:lstStyle/>
          <a:p>
            <a:pPr marL="0" indent="0">
              <a:buNone/>
            </a:pPr>
            <a:r>
              <a:rPr kumimoji="1" lang="zh-CN" altLang="en-US" b="1" dirty="0"/>
              <a:t>音乐速度对驾驶行为影响的研究结论不一致</a:t>
            </a:r>
          </a:p>
        </p:txBody>
      </p:sp>
      <p:sp>
        <p:nvSpPr>
          <p:cNvPr id="9" name="文本框 8">
            <a:extLst>
              <a:ext uri="{FF2B5EF4-FFF2-40B4-BE49-F238E27FC236}">
                <a16:creationId xmlns:a16="http://schemas.microsoft.com/office/drawing/2014/main" id="{7E1E3B11-ACE6-9F1F-549E-571D6F0A759F}"/>
              </a:ext>
            </a:extLst>
          </p:cNvPr>
          <p:cNvSpPr txBox="1"/>
          <p:nvPr/>
        </p:nvSpPr>
        <p:spPr>
          <a:xfrm>
            <a:off x="2499218" y="3174792"/>
            <a:ext cx="11089342" cy="335092"/>
          </a:xfrm>
          <a:prstGeom prst="rect">
            <a:avLst/>
          </a:prstGeom>
          <a:noFill/>
        </p:spPr>
        <p:txBody>
          <a:bodyPr wrap="square">
            <a:spAutoFit/>
          </a:bodyPr>
          <a:lstStyle/>
          <a:p>
            <a:pPr>
              <a:lnSpc>
                <a:spcPct val="150000"/>
              </a:lnSpc>
            </a:pPr>
            <a:r>
              <a:rPr lang="zh-CN" altLang="en-US" sz="1200" kern="100" dirty="0">
                <a:effectLst/>
                <a:latin typeface="Arial" panose="020B0604020202020204" pitchFamily="34" charset="0"/>
                <a:ea typeface="Microsoft YaHei" panose="020B0503020204020204" pitchFamily="34" charset="-122"/>
                <a:cs typeface="Arial" panose="020B0604020202020204" pitchFamily="34" charset="0"/>
              </a:rPr>
              <a:t> </a:t>
            </a:r>
            <a:r>
              <a:rPr lang="en-US" altLang="zh-CN" sz="105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(Ellis, 2009; M. Kim, 2014; </a:t>
            </a:r>
            <a:r>
              <a:rPr lang="en-US" altLang="zh-CN" sz="1050" dirty="0" err="1">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Spenwyn</a:t>
            </a:r>
            <a:r>
              <a:rPr lang="zh-CN" altLang="zh-CN" sz="105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等</a:t>
            </a:r>
            <a:r>
              <a:rPr lang="en-US" altLang="zh-CN" sz="1050" dirty="0">
                <a:solidFill>
                  <a:schemeClr val="tx1">
                    <a:lumMod val="50000"/>
                    <a:lumOff val="50000"/>
                  </a:schemeClr>
                </a:solidFill>
                <a:effectLst/>
                <a:latin typeface="Arial" panose="020B0604020202020204" pitchFamily="34" charset="0"/>
                <a:ea typeface="Microsoft YaHei" panose="020B0503020204020204" pitchFamily="34" charset="-122"/>
                <a:cs typeface="Arial" panose="020B0604020202020204" pitchFamily="34" charset="0"/>
              </a:rPr>
              <a:t>, 2010)</a:t>
            </a:r>
            <a:endParaRPr lang="en-US" altLang="zh-CN" sz="1400" kern="100" dirty="0">
              <a:effectLst/>
              <a:latin typeface="Arial" panose="020B0604020202020204" pitchFamily="34" charset="0"/>
              <a:ea typeface="Microsoft YaHei" panose="020B0503020204020204" pitchFamily="34" charset="-122"/>
              <a:cs typeface="Arial" panose="020B0604020202020204" pitchFamily="34" charset="0"/>
            </a:endParaRPr>
          </a:p>
        </p:txBody>
      </p:sp>
      <p:sp>
        <p:nvSpPr>
          <p:cNvPr id="14" name="文本框 13">
            <a:extLst>
              <a:ext uri="{FF2B5EF4-FFF2-40B4-BE49-F238E27FC236}">
                <a16:creationId xmlns:a16="http://schemas.microsoft.com/office/drawing/2014/main" id="{5CDA834C-1D7B-E6BB-067A-5E7E38E66AE3}"/>
              </a:ext>
            </a:extLst>
          </p:cNvPr>
          <p:cNvSpPr txBox="1"/>
          <p:nvPr/>
        </p:nvSpPr>
        <p:spPr>
          <a:xfrm>
            <a:off x="9191355" y="2175331"/>
            <a:ext cx="2635063" cy="1289905"/>
          </a:xfrm>
          <a:prstGeom prst="rect">
            <a:avLst/>
          </a:prstGeom>
          <a:noFill/>
        </p:spPr>
        <p:txBody>
          <a:bodyPr wrap="square">
            <a:spAutoFit/>
          </a:bodyPr>
          <a:lstStyle/>
          <a:p>
            <a:pPr marL="285750" indent="-285750">
              <a:lnSpc>
                <a:spcPct val="150000"/>
              </a:lnSpc>
              <a:buFont typeface="Wingdings" pitchFamily="2" charset="2"/>
              <a:buChar char="Ø"/>
            </a:pPr>
            <a:r>
              <a:rPr lang="zh-CN" altLang="en-US" sz="1800" b="1" kern="100" dirty="0">
                <a:effectLst/>
                <a:latin typeface="+mj-ea"/>
                <a:ea typeface="+mj-ea"/>
                <a:cs typeface="Times New Roman" panose="02020603050405020304" pitchFamily="18" charset="0"/>
              </a:rPr>
              <a:t>需要通过</a:t>
            </a:r>
            <a:r>
              <a:rPr lang="zh-CN" altLang="en-US" sz="1800" b="1" kern="100" dirty="0">
                <a:solidFill>
                  <a:schemeClr val="accent1"/>
                </a:solidFill>
                <a:effectLst/>
                <a:latin typeface="+mj-ea"/>
                <a:ea typeface="+mj-ea"/>
                <a:cs typeface="Times New Roman" panose="02020603050405020304" pitchFamily="18" charset="0"/>
              </a:rPr>
              <a:t>变速操作</a:t>
            </a:r>
            <a:r>
              <a:rPr lang="zh-CN" altLang="en-US" sz="1800" b="1" kern="100" dirty="0">
                <a:effectLst/>
                <a:latin typeface="+mj-ea"/>
                <a:ea typeface="+mj-ea"/>
                <a:cs typeface="Times New Roman" panose="02020603050405020304" pitchFamily="18" charset="0"/>
              </a:rPr>
              <a:t>对速度操纵更加精准，而避免改变其它变量。</a:t>
            </a:r>
            <a:r>
              <a:rPr lang="zh-CN" altLang="zh-CN" b="1" dirty="0">
                <a:effectLst/>
                <a:latin typeface="+mj-ea"/>
                <a:ea typeface="+mj-ea"/>
              </a:rPr>
              <a:t> </a:t>
            </a:r>
            <a:endParaRPr lang="zh-CN" altLang="en-US" b="1" dirty="0">
              <a:latin typeface="+mj-ea"/>
              <a:ea typeface="+mj-ea"/>
            </a:endParaRPr>
          </a:p>
        </p:txBody>
      </p:sp>
      <p:sp>
        <p:nvSpPr>
          <p:cNvPr id="17" name="圆角矩形 16">
            <a:extLst>
              <a:ext uri="{FF2B5EF4-FFF2-40B4-BE49-F238E27FC236}">
                <a16:creationId xmlns:a16="http://schemas.microsoft.com/office/drawing/2014/main" id="{B9762C59-04D7-8F2D-8366-5A90DA737E7A}"/>
              </a:ext>
            </a:extLst>
          </p:cNvPr>
          <p:cNvSpPr/>
          <p:nvPr/>
        </p:nvSpPr>
        <p:spPr>
          <a:xfrm>
            <a:off x="777931" y="2523394"/>
            <a:ext cx="2617694" cy="535927"/>
          </a:xfrm>
          <a:prstGeom prst="roundRect">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t>使用不同速度的曲目</a:t>
            </a:r>
          </a:p>
        </p:txBody>
      </p:sp>
      <p:cxnSp>
        <p:nvCxnSpPr>
          <p:cNvPr id="19" name="直线连接符 18">
            <a:extLst>
              <a:ext uri="{FF2B5EF4-FFF2-40B4-BE49-F238E27FC236}">
                <a16:creationId xmlns:a16="http://schemas.microsoft.com/office/drawing/2014/main" id="{3B5CD57C-1B0E-F34F-FFED-CE94FA9A077E}"/>
              </a:ext>
            </a:extLst>
          </p:cNvPr>
          <p:cNvCxnSpPr>
            <a:cxnSpLocks/>
          </p:cNvCxnSpPr>
          <p:nvPr/>
        </p:nvCxnSpPr>
        <p:spPr>
          <a:xfrm>
            <a:off x="3457303" y="2806999"/>
            <a:ext cx="615933"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0DC59C38-B070-59AE-955A-5945589B2A29}"/>
              </a:ext>
            </a:extLst>
          </p:cNvPr>
          <p:cNvSpPr txBox="1"/>
          <p:nvPr/>
        </p:nvSpPr>
        <p:spPr>
          <a:xfrm>
            <a:off x="4209322" y="2635979"/>
            <a:ext cx="6096000" cy="338554"/>
          </a:xfrm>
          <a:prstGeom prst="rect">
            <a:avLst/>
          </a:prstGeom>
          <a:noFill/>
        </p:spPr>
        <p:txBody>
          <a:bodyPr wrap="square">
            <a:spAutoFit/>
          </a:bodyPr>
          <a:lstStyle/>
          <a:p>
            <a:r>
              <a:rPr lang="zh-CN" altLang="zh-CN" sz="1600" b="1" kern="100" dirty="0">
                <a:effectLst/>
                <a:latin typeface="Arial" panose="020B0604020202020204" pitchFamily="34" charset="0"/>
                <a:ea typeface="Microsoft YaHei" panose="020B0503020204020204" pitchFamily="34" charset="-122"/>
                <a:cs typeface="Arial" panose="020B0604020202020204" pitchFamily="34" charset="0"/>
              </a:rPr>
              <a:t>假阳性错误</a:t>
            </a:r>
            <a:endParaRPr lang="zh-CN" altLang="en-US" sz="1600" dirty="0"/>
          </a:p>
        </p:txBody>
      </p:sp>
      <p:sp>
        <p:nvSpPr>
          <p:cNvPr id="23" name="文本框 22">
            <a:extLst>
              <a:ext uri="{FF2B5EF4-FFF2-40B4-BE49-F238E27FC236}">
                <a16:creationId xmlns:a16="http://schemas.microsoft.com/office/drawing/2014/main" id="{12034BCE-48DA-5A54-3AE1-8A0879301EF4}"/>
              </a:ext>
            </a:extLst>
          </p:cNvPr>
          <p:cNvSpPr txBox="1"/>
          <p:nvPr/>
        </p:nvSpPr>
        <p:spPr>
          <a:xfrm>
            <a:off x="5597236" y="2182239"/>
            <a:ext cx="3594119" cy="1346522"/>
          </a:xfrm>
          <a:prstGeom prst="rect">
            <a:avLst/>
          </a:prstGeom>
          <a:solidFill>
            <a:schemeClr val="tx1">
              <a:lumMod val="65000"/>
              <a:lumOff val="35000"/>
              <a:alpha val="16000"/>
            </a:schemeClr>
          </a:solidFill>
        </p:spPr>
        <p:txBody>
          <a:bodyPr wrap="square">
            <a:spAutoFit/>
          </a:bodyPr>
          <a:lstStyle/>
          <a:p>
            <a:pPr>
              <a:lnSpc>
                <a:spcPct val="150000"/>
              </a:lnSpc>
            </a:pPr>
            <a:r>
              <a:rPr lang="zh-CN" altLang="zh-CN" sz="1400" kern="100" dirty="0">
                <a:effectLst/>
                <a:latin typeface="Arial" panose="020B0604020202020204" pitchFamily="34" charset="0"/>
                <a:ea typeface="Microsoft YaHei" panose="020B0503020204020204" pitchFamily="34" charset="-122"/>
                <a:cs typeface="Arial" panose="020B0604020202020204" pitchFamily="34" charset="0"/>
              </a:rPr>
              <a:t>另一个变量引起的效应被误认为是由研究变量引起的</a:t>
            </a:r>
            <a:endParaRPr lang="en-US" altLang="zh-CN" sz="1400" kern="100" dirty="0">
              <a:effectLst/>
              <a:latin typeface="Arial" panose="020B0604020202020204" pitchFamily="34" charset="0"/>
              <a:ea typeface="Microsoft YaHei" panose="020B0503020204020204" pitchFamily="34" charset="-122"/>
              <a:cs typeface="Arial" panose="020B0604020202020204" pitchFamily="34" charset="0"/>
            </a:endParaRPr>
          </a:p>
          <a:p>
            <a:pPr>
              <a:lnSpc>
                <a:spcPct val="150000"/>
              </a:lnSpc>
            </a:pPr>
            <a:r>
              <a:rPr lang="zh-CN" altLang="zh-CN" sz="1400" kern="100" dirty="0">
                <a:effectLst/>
                <a:latin typeface="Arial" panose="020B0604020202020204" pitchFamily="34" charset="0"/>
                <a:ea typeface="Microsoft YaHei" panose="020B0503020204020204" pitchFamily="34" charset="-122"/>
                <a:cs typeface="Arial" panose="020B0604020202020204" pitchFamily="34" charset="0"/>
              </a:rPr>
              <a:t>研究变量的控制和操纵常常</a:t>
            </a:r>
            <a:r>
              <a:rPr lang="zh-CN" altLang="zh-CN" sz="1400" b="1" kern="100" dirty="0">
                <a:effectLst/>
                <a:latin typeface="Arial" panose="020B0604020202020204" pitchFamily="34" charset="0"/>
                <a:ea typeface="Microsoft YaHei" panose="020B0503020204020204" pitchFamily="34" charset="-122"/>
                <a:cs typeface="Arial" panose="020B0604020202020204" pitchFamily="34" charset="0"/>
              </a:rPr>
              <a:t>被其他音乐变量</a:t>
            </a:r>
            <a:r>
              <a:rPr lang="zh-CN" altLang="zh-CN" sz="1400" kern="100" dirty="0">
                <a:effectLst/>
                <a:latin typeface="Arial" panose="020B0604020202020204" pitchFamily="34" charset="0"/>
                <a:ea typeface="Microsoft YaHei" panose="020B0503020204020204" pitchFamily="34" charset="-122"/>
                <a:cs typeface="Arial" panose="020B0604020202020204" pitchFamily="34" charset="0"/>
              </a:rPr>
              <a:t>的影响所</a:t>
            </a:r>
            <a:r>
              <a:rPr lang="zh-CN" altLang="zh-CN" sz="1400" b="1" kern="100" dirty="0">
                <a:effectLst/>
                <a:latin typeface="Arial" panose="020B0604020202020204" pitchFamily="34" charset="0"/>
                <a:ea typeface="Microsoft YaHei" panose="020B0503020204020204" pitchFamily="34" charset="-122"/>
                <a:cs typeface="Arial" panose="020B0604020202020204" pitchFamily="34" charset="0"/>
              </a:rPr>
              <a:t>混淆</a:t>
            </a:r>
            <a:endParaRPr lang="zh-CN" altLang="en-US" sz="1400" dirty="0"/>
          </a:p>
        </p:txBody>
      </p:sp>
      <p:sp>
        <p:nvSpPr>
          <p:cNvPr id="2" name="标题 1">
            <a:extLst>
              <a:ext uri="{FF2B5EF4-FFF2-40B4-BE49-F238E27FC236}">
                <a16:creationId xmlns:a16="http://schemas.microsoft.com/office/drawing/2014/main" id="{9C871D0B-4671-AFA2-53F4-2C7B742ECEA6}"/>
              </a:ext>
            </a:extLst>
          </p:cNvPr>
          <p:cNvSpPr>
            <a:spLocks noGrp="1"/>
          </p:cNvSpPr>
          <p:nvPr>
            <p:ph type="title"/>
          </p:nvPr>
        </p:nvSpPr>
        <p:spPr>
          <a:xfrm>
            <a:off x="339443" y="-16370"/>
            <a:ext cx="10515600" cy="1325563"/>
          </a:xfrm>
        </p:spPr>
        <p:txBody>
          <a:bodyPr/>
          <a:lstStyle/>
          <a:p>
            <a:r>
              <a:rPr kumimoji="1" lang="zh-CN" altLang="en-US" dirty="0"/>
              <a:t>文献综述  </a:t>
            </a:r>
            <a:r>
              <a:rPr kumimoji="1" lang="zh-CN" altLang="en-US" sz="2000" dirty="0"/>
              <a:t>音乐速度对驾驶行为的影响</a:t>
            </a:r>
          </a:p>
        </p:txBody>
      </p:sp>
      <p:sp>
        <p:nvSpPr>
          <p:cNvPr id="4" name="内容占位符 2">
            <a:extLst>
              <a:ext uri="{FF2B5EF4-FFF2-40B4-BE49-F238E27FC236}">
                <a16:creationId xmlns:a16="http://schemas.microsoft.com/office/drawing/2014/main" id="{553D92FC-F6D8-43BA-858C-FBABDA0794BB}"/>
              </a:ext>
            </a:extLst>
          </p:cNvPr>
          <p:cNvSpPr txBox="1">
            <a:spLocks/>
          </p:cNvSpPr>
          <p:nvPr/>
        </p:nvSpPr>
        <p:spPr>
          <a:xfrm>
            <a:off x="247575" y="1197235"/>
            <a:ext cx="3431391" cy="4351338"/>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系统字体常规体"/>
              <a:buChar char="✤"/>
            </a:pPr>
            <a:r>
              <a:rPr kumimoji="1" lang="zh-CN" altLang="en-US" b="1" dirty="0"/>
              <a:t>问题提出</a:t>
            </a:r>
            <a:r>
              <a:rPr kumimoji="1" lang="en-US" altLang="zh-CN" b="1" dirty="0"/>
              <a:t>3:</a:t>
            </a:r>
            <a:endParaRPr kumimoji="1" lang="zh-CN" altLang="en-US" b="1" dirty="0"/>
          </a:p>
        </p:txBody>
      </p:sp>
      <p:sp>
        <p:nvSpPr>
          <p:cNvPr id="5" name="文本框 4">
            <a:extLst>
              <a:ext uri="{FF2B5EF4-FFF2-40B4-BE49-F238E27FC236}">
                <a16:creationId xmlns:a16="http://schemas.microsoft.com/office/drawing/2014/main" id="{34CDB955-90FA-9FFB-8204-87820773FA9D}"/>
              </a:ext>
            </a:extLst>
          </p:cNvPr>
          <p:cNvSpPr txBox="1"/>
          <p:nvPr/>
        </p:nvSpPr>
        <p:spPr>
          <a:xfrm>
            <a:off x="1726906" y="1185902"/>
            <a:ext cx="8228628" cy="458908"/>
          </a:xfrm>
          <a:prstGeom prst="rect">
            <a:avLst/>
          </a:prstGeom>
          <a:noFill/>
        </p:spPr>
        <p:txBody>
          <a:bodyPr wrap="square">
            <a:spAutoFit/>
          </a:bodyPr>
          <a:lstStyle/>
          <a:p>
            <a:pPr>
              <a:lnSpc>
                <a:spcPct val="150000"/>
              </a:lnSpc>
            </a:pPr>
            <a:r>
              <a:rPr lang="zh-CN" altLang="en-US" sz="1800" b="1" kern="100" dirty="0">
                <a:solidFill>
                  <a:srgbClr val="4472C4"/>
                </a:solidFill>
                <a:effectLst/>
                <a:latin typeface="+mj-ea"/>
                <a:ea typeface="+mj-ea"/>
                <a:cs typeface="Times New Roman" panose="02020603050405020304" pitchFamily="18" charset="0"/>
              </a:rPr>
              <a:t>音乐速度如何影响到不同流派音乐对驾驶行为的影响？</a:t>
            </a:r>
            <a:endParaRPr lang="zh-CN" altLang="en-US" b="1" dirty="0">
              <a:solidFill>
                <a:srgbClr val="4472C4"/>
              </a:solidFill>
              <a:latin typeface="+mj-ea"/>
              <a:ea typeface="+mj-ea"/>
            </a:endParaRPr>
          </a:p>
        </p:txBody>
      </p:sp>
      <p:sp>
        <p:nvSpPr>
          <p:cNvPr id="6" name="内容占位符 2">
            <a:extLst>
              <a:ext uri="{FF2B5EF4-FFF2-40B4-BE49-F238E27FC236}">
                <a16:creationId xmlns:a16="http://schemas.microsoft.com/office/drawing/2014/main" id="{E0D5CFF4-BA32-65A4-EA6D-498AB9BC4DE3}"/>
              </a:ext>
            </a:extLst>
          </p:cNvPr>
          <p:cNvSpPr txBox="1">
            <a:spLocks/>
          </p:cNvSpPr>
          <p:nvPr/>
        </p:nvSpPr>
        <p:spPr>
          <a:xfrm>
            <a:off x="3583120" y="4287220"/>
            <a:ext cx="10515600" cy="535927"/>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kumimoji="1" lang="zh-CN" altLang="en-US" sz="1600" b="1" dirty="0"/>
              <a:t>驾驶情境是复杂的</a:t>
            </a:r>
          </a:p>
        </p:txBody>
      </p:sp>
      <p:sp>
        <p:nvSpPr>
          <p:cNvPr id="8" name="文本框 7">
            <a:extLst>
              <a:ext uri="{FF2B5EF4-FFF2-40B4-BE49-F238E27FC236}">
                <a16:creationId xmlns:a16="http://schemas.microsoft.com/office/drawing/2014/main" id="{686075CB-1C53-A5DE-052A-9C305F5A1294}"/>
              </a:ext>
            </a:extLst>
          </p:cNvPr>
          <p:cNvSpPr txBox="1"/>
          <p:nvPr/>
        </p:nvSpPr>
        <p:spPr>
          <a:xfrm>
            <a:off x="5597235" y="3990715"/>
            <a:ext cx="3594119" cy="1346907"/>
          </a:xfrm>
          <a:prstGeom prst="rect">
            <a:avLst/>
          </a:prstGeom>
          <a:solidFill>
            <a:schemeClr val="tx1">
              <a:lumMod val="65000"/>
              <a:lumOff val="35000"/>
              <a:alpha val="16000"/>
            </a:schemeClr>
          </a:solidFill>
        </p:spPr>
        <p:txBody>
          <a:bodyPr wrap="square">
            <a:spAutoFit/>
          </a:bodyPr>
          <a:lstStyle>
            <a:defPPr>
              <a:defRPr lang="zh-CN"/>
            </a:defPPr>
            <a:lvl1pPr>
              <a:lnSpc>
                <a:spcPct val="150000"/>
              </a:lnSpc>
              <a:defRPr sz="1400" kern="100">
                <a:effectLst/>
                <a:latin typeface="Arial" panose="020B0604020202020204" pitchFamily="34" charset="0"/>
                <a:ea typeface="Microsoft YaHei" panose="020B0503020204020204" pitchFamily="34" charset="-122"/>
                <a:cs typeface="Arial" panose="020B0604020202020204" pitchFamily="34" charset="0"/>
              </a:defRPr>
            </a:lvl1pPr>
          </a:lstStyle>
          <a:p>
            <a:r>
              <a:rPr lang="zh-CN" altLang="zh-CN" dirty="0"/>
              <a:t>根据动态模型，驾驶员工作负荷水平</a:t>
            </a:r>
            <a:r>
              <a:rPr lang="zh-CN" altLang="el-GR" dirty="0"/>
              <a:t>是</a:t>
            </a:r>
            <a:r>
              <a:rPr lang="zh-CN" altLang="zh-CN" dirty="0"/>
              <a:t>驾驶员适宜性</a:t>
            </a:r>
            <a:r>
              <a:rPr lang="zh-CN" altLang="en-US" dirty="0"/>
              <a:t>和</a:t>
            </a:r>
            <a:r>
              <a:rPr lang="zh-CN" altLang="zh-CN" dirty="0"/>
              <a:t>驾驶情境的函数</a:t>
            </a:r>
            <a:r>
              <a:rPr lang="zh-CN" altLang="en-US" dirty="0"/>
              <a:t>；</a:t>
            </a:r>
            <a:endParaRPr lang="en-US" altLang="zh-CN" dirty="0"/>
          </a:p>
          <a:p>
            <a:r>
              <a:rPr lang="zh-CN" altLang="zh-CN" dirty="0"/>
              <a:t>驾驶员工作负荷分为三个水平：负荷不足、最佳负荷及超负荷</a:t>
            </a:r>
            <a:r>
              <a:rPr lang="zh-CN" altLang="zh-CN" sz="1050" dirty="0"/>
              <a:t>。 </a:t>
            </a:r>
            <a:r>
              <a:rPr lang="en-US" altLang="zh-CN" sz="1050" dirty="0"/>
              <a:t>(</a:t>
            </a:r>
            <a:r>
              <a:rPr lang="en-US" altLang="zh-CN" sz="1050" dirty="0" err="1"/>
              <a:t>Oron</a:t>
            </a:r>
            <a:r>
              <a:rPr lang="en-US" altLang="zh-CN" sz="1050" dirty="0"/>
              <a:t>-Gilad</a:t>
            </a:r>
            <a:r>
              <a:rPr lang="zh-CN" altLang="zh-CN" sz="1050" dirty="0"/>
              <a:t>等</a:t>
            </a:r>
            <a:r>
              <a:rPr lang="en-US" altLang="zh-CN" sz="1050" dirty="0"/>
              <a:t>, 2008)</a:t>
            </a:r>
            <a:r>
              <a:rPr lang="zh-CN" altLang="zh-CN" sz="1050" dirty="0"/>
              <a:t> </a:t>
            </a:r>
            <a:endParaRPr lang="zh-CN" altLang="en-US" dirty="0"/>
          </a:p>
        </p:txBody>
      </p:sp>
      <p:sp>
        <p:nvSpPr>
          <p:cNvPr id="10" name="圆角矩形 9">
            <a:extLst>
              <a:ext uri="{FF2B5EF4-FFF2-40B4-BE49-F238E27FC236}">
                <a16:creationId xmlns:a16="http://schemas.microsoft.com/office/drawing/2014/main" id="{1A21EC75-EC8C-DF01-62D4-AFA1F1544864}"/>
              </a:ext>
            </a:extLst>
          </p:cNvPr>
          <p:cNvSpPr/>
          <p:nvPr/>
        </p:nvSpPr>
        <p:spPr>
          <a:xfrm>
            <a:off x="761659" y="4252254"/>
            <a:ext cx="2617694" cy="535927"/>
          </a:xfrm>
          <a:prstGeom prst="roundRect">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t>驾驶情境不同</a:t>
            </a:r>
          </a:p>
        </p:txBody>
      </p:sp>
      <p:pic>
        <p:nvPicPr>
          <p:cNvPr id="16" name="图片 15">
            <a:extLst>
              <a:ext uri="{FF2B5EF4-FFF2-40B4-BE49-F238E27FC236}">
                <a16:creationId xmlns:a16="http://schemas.microsoft.com/office/drawing/2014/main" id="{D0C323B3-9FC4-32A9-ACDC-5EFFFE89977E}"/>
              </a:ext>
            </a:extLst>
          </p:cNvPr>
          <p:cNvPicPr>
            <a:picLocks noChangeAspect="1"/>
          </p:cNvPicPr>
          <p:nvPr/>
        </p:nvPicPr>
        <p:blipFill>
          <a:blip r:embed="rId3"/>
          <a:stretch>
            <a:fillRect/>
          </a:stretch>
        </p:blipFill>
        <p:spPr>
          <a:xfrm>
            <a:off x="2313792" y="5427172"/>
            <a:ext cx="3075815" cy="1066283"/>
          </a:xfrm>
          <a:prstGeom prst="rect">
            <a:avLst/>
          </a:prstGeom>
        </p:spPr>
      </p:pic>
      <p:sp>
        <p:nvSpPr>
          <p:cNvPr id="20" name="文本框 19">
            <a:extLst>
              <a:ext uri="{FF2B5EF4-FFF2-40B4-BE49-F238E27FC236}">
                <a16:creationId xmlns:a16="http://schemas.microsoft.com/office/drawing/2014/main" id="{CB18BB19-D512-731F-C2C7-E55ED39BF39F}"/>
              </a:ext>
            </a:extLst>
          </p:cNvPr>
          <p:cNvSpPr txBox="1"/>
          <p:nvPr/>
        </p:nvSpPr>
        <p:spPr>
          <a:xfrm>
            <a:off x="4551866" y="6529575"/>
            <a:ext cx="10807336" cy="333489"/>
          </a:xfrm>
          <a:prstGeom prst="rect">
            <a:avLst/>
          </a:prstGeom>
          <a:noFill/>
        </p:spPr>
        <p:txBody>
          <a:bodyPr wrap="square">
            <a:spAutoFit/>
          </a:bodyPr>
          <a:lstStyle/>
          <a:p>
            <a:pPr>
              <a:lnSpc>
                <a:spcPct val="150000"/>
              </a:lnSpc>
            </a:pPr>
            <a:r>
              <a:rPr lang="en" altLang="zh-CN" sz="1200" dirty="0">
                <a:solidFill>
                  <a:schemeClr val="tx1">
                    <a:lumMod val="50000"/>
                    <a:lumOff val="50000"/>
                  </a:schemeClr>
                </a:solidFill>
                <a:effectLst/>
                <a:latin typeface="Arial" panose="020B0604020202020204" pitchFamily="34" charset="0"/>
                <a:cs typeface="Arial" panose="020B0604020202020204" pitchFamily="34" charset="0"/>
              </a:rPr>
              <a:t>(Kim </a:t>
            </a:r>
            <a:r>
              <a:rPr lang="zh-CN" altLang="en-US" sz="1200" dirty="0">
                <a:solidFill>
                  <a:schemeClr val="tx1">
                    <a:lumMod val="50000"/>
                    <a:lumOff val="50000"/>
                  </a:schemeClr>
                </a:solidFill>
                <a:effectLst/>
                <a:latin typeface="Arial" panose="020B0604020202020204" pitchFamily="34" charset="0"/>
                <a:cs typeface="Arial" panose="020B0604020202020204" pitchFamily="34" charset="0"/>
              </a:rPr>
              <a:t>和 </a:t>
            </a:r>
            <a:r>
              <a:rPr lang="en" altLang="zh-CN" sz="1200" dirty="0" err="1">
                <a:solidFill>
                  <a:schemeClr val="tx1">
                    <a:lumMod val="50000"/>
                    <a:lumOff val="50000"/>
                  </a:schemeClr>
                </a:solidFill>
                <a:effectLst/>
                <a:latin typeface="Arial" panose="020B0604020202020204" pitchFamily="34" charset="0"/>
                <a:cs typeface="Arial" panose="020B0604020202020204" pitchFamily="34" charset="0"/>
              </a:rPr>
              <a:t>Bishu</a:t>
            </a:r>
            <a:r>
              <a:rPr lang="en" altLang="zh-CN" sz="1200" dirty="0">
                <a:solidFill>
                  <a:schemeClr val="tx1">
                    <a:lumMod val="50000"/>
                    <a:lumOff val="50000"/>
                  </a:schemeClr>
                </a:solidFill>
                <a:effectLst/>
                <a:latin typeface="Arial" panose="020B0604020202020204" pitchFamily="34" charset="0"/>
                <a:cs typeface="Arial" panose="020B0604020202020204" pitchFamily="34" charset="0"/>
              </a:rPr>
              <a:t>, 2004)</a:t>
            </a:r>
          </a:p>
        </p:txBody>
      </p:sp>
      <p:sp>
        <p:nvSpPr>
          <p:cNvPr id="22" name="文本框 21">
            <a:extLst>
              <a:ext uri="{FF2B5EF4-FFF2-40B4-BE49-F238E27FC236}">
                <a16:creationId xmlns:a16="http://schemas.microsoft.com/office/drawing/2014/main" id="{7A62ACD6-6570-9B06-81F0-BEE06EE9EF1F}"/>
              </a:ext>
            </a:extLst>
          </p:cNvPr>
          <p:cNvSpPr txBox="1"/>
          <p:nvPr/>
        </p:nvSpPr>
        <p:spPr>
          <a:xfrm>
            <a:off x="9228519" y="4151404"/>
            <a:ext cx="2635063" cy="1289905"/>
          </a:xfrm>
          <a:prstGeom prst="rect">
            <a:avLst/>
          </a:prstGeom>
          <a:noFill/>
        </p:spPr>
        <p:txBody>
          <a:bodyPr wrap="square">
            <a:spAutoFit/>
          </a:bodyPr>
          <a:lstStyle/>
          <a:p>
            <a:pPr marL="285750" indent="-285750">
              <a:lnSpc>
                <a:spcPct val="150000"/>
              </a:lnSpc>
              <a:buFont typeface="Wingdings" pitchFamily="2" charset="2"/>
              <a:buChar char="Ø"/>
            </a:pPr>
            <a:r>
              <a:rPr lang="zh-CN" altLang="en-US" sz="1800" b="1" kern="100" dirty="0">
                <a:effectLst/>
                <a:latin typeface="+mj-ea"/>
                <a:ea typeface="+mj-ea"/>
                <a:cs typeface="Times New Roman" panose="02020603050405020304" pitchFamily="18" charset="0"/>
              </a:rPr>
              <a:t>需要更好地</a:t>
            </a:r>
            <a:r>
              <a:rPr lang="zh-CN" altLang="en-US" sz="1800" b="1" kern="100" dirty="0">
                <a:solidFill>
                  <a:schemeClr val="accent1"/>
                </a:solidFill>
                <a:effectLst/>
                <a:latin typeface="+mj-ea"/>
                <a:ea typeface="+mj-ea"/>
                <a:cs typeface="Times New Roman" panose="02020603050405020304" pitchFamily="18" charset="0"/>
              </a:rPr>
              <a:t>区分驾驶情境</a:t>
            </a:r>
            <a:r>
              <a:rPr lang="zh-CN" altLang="en-US" sz="1800" b="1" kern="100" dirty="0">
                <a:effectLst/>
                <a:latin typeface="+mj-ea"/>
                <a:ea typeface="+mj-ea"/>
                <a:cs typeface="Times New Roman" panose="02020603050405020304" pitchFamily="18" charset="0"/>
              </a:rPr>
              <a:t>，才能深入了解音乐对驾驶的影响。</a:t>
            </a:r>
            <a:r>
              <a:rPr lang="zh-CN" altLang="zh-CN" b="1" dirty="0">
                <a:effectLst/>
                <a:latin typeface="+mj-ea"/>
                <a:ea typeface="+mj-ea"/>
              </a:rPr>
              <a:t> </a:t>
            </a:r>
            <a:endParaRPr lang="zh-CN" altLang="en-US" b="1" dirty="0">
              <a:latin typeface="+mj-ea"/>
              <a:ea typeface="+mj-ea"/>
            </a:endParaRPr>
          </a:p>
        </p:txBody>
      </p:sp>
      <p:pic>
        <p:nvPicPr>
          <p:cNvPr id="7" name="图片 6">
            <a:extLst>
              <a:ext uri="{FF2B5EF4-FFF2-40B4-BE49-F238E27FC236}">
                <a16:creationId xmlns:a16="http://schemas.microsoft.com/office/drawing/2014/main" id="{FDF35E3F-E593-A649-5134-864C28E1B595}"/>
              </a:ext>
            </a:extLst>
          </p:cNvPr>
          <p:cNvPicPr>
            <a:picLocks noChangeAspect="1"/>
          </p:cNvPicPr>
          <p:nvPr/>
        </p:nvPicPr>
        <p:blipFill>
          <a:blip r:embed="rId4"/>
          <a:stretch>
            <a:fillRect/>
          </a:stretch>
        </p:blipFill>
        <p:spPr>
          <a:xfrm>
            <a:off x="5426772" y="5429331"/>
            <a:ext cx="3801747" cy="1070197"/>
          </a:xfrm>
          <a:prstGeom prst="rect">
            <a:avLst/>
          </a:prstGeom>
        </p:spPr>
      </p:pic>
    </p:spTree>
    <p:extLst>
      <p:ext uri="{BB962C8B-B14F-4D97-AF65-F5344CB8AC3E}">
        <p14:creationId xmlns:p14="http://schemas.microsoft.com/office/powerpoint/2010/main" val="19720818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11"/>
          <p:cNvSpPr>
            <a:spLocks/>
          </p:cNvSpPr>
          <p:nvPr/>
        </p:nvSpPr>
        <p:spPr bwMode="auto">
          <a:xfrm>
            <a:off x="4792379" y="1094789"/>
            <a:ext cx="891827" cy="112668"/>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39" name="Freeform 10"/>
          <p:cNvSpPr>
            <a:spLocks/>
          </p:cNvSpPr>
          <p:nvPr/>
        </p:nvSpPr>
        <p:spPr bwMode="auto">
          <a:xfrm>
            <a:off x="4628930" y="1183655"/>
            <a:ext cx="6690287" cy="701401"/>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chemeClr val="bg1"/>
          </a:solidFill>
          <a:ln w="10" cap="flat" cmpd="sng">
            <a:solidFill>
              <a:srgbClr val="A8A9AD"/>
            </a:solidFill>
            <a:round/>
            <a:headEnd/>
            <a:tailEnd/>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0" name="Rectangle 12"/>
          <p:cNvSpPr>
            <a:spLocks noChangeArrowheads="1"/>
          </p:cNvSpPr>
          <p:nvPr/>
        </p:nvSpPr>
        <p:spPr bwMode="auto">
          <a:xfrm>
            <a:off x="4878070" y="1094789"/>
            <a:ext cx="720444" cy="737899"/>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1" name="Freeform 11"/>
          <p:cNvSpPr>
            <a:spLocks/>
          </p:cNvSpPr>
          <p:nvPr/>
        </p:nvSpPr>
        <p:spPr bwMode="auto">
          <a:xfrm>
            <a:off x="4792379" y="2115153"/>
            <a:ext cx="891827" cy="112669"/>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2" name="Freeform 10"/>
          <p:cNvSpPr>
            <a:spLocks/>
          </p:cNvSpPr>
          <p:nvPr/>
        </p:nvSpPr>
        <p:spPr bwMode="auto">
          <a:xfrm>
            <a:off x="4628930" y="2204018"/>
            <a:ext cx="6690287" cy="701401"/>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round/>
            <a:headEnd/>
            <a:tailEnd/>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3" name="Rectangle 12"/>
          <p:cNvSpPr>
            <a:spLocks noChangeArrowheads="1"/>
          </p:cNvSpPr>
          <p:nvPr/>
        </p:nvSpPr>
        <p:spPr bwMode="auto">
          <a:xfrm>
            <a:off x="4878070" y="2115152"/>
            <a:ext cx="720444" cy="737900"/>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4" name="Freeform 11"/>
          <p:cNvSpPr>
            <a:spLocks/>
          </p:cNvSpPr>
          <p:nvPr/>
        </p:nvSpPr>
        <p:spPr bwMode="auto">
          <a:xfrm>
            <a:off x="4792379" y="3113301"/>
            <a:ext cx="891827" cy="112668"/>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5" name="Freeform 10"/>
          <p:cNvSpPr>
            <a:spLocks/>
          </p:cNvSpPr>
          <p:nvPr/>
        </p:nvSpPr>
        <p:spPr bwMode="auto">
          <a:xfrm>
            <a:off x="4628930" y="3200579"/>
            <a:ext cx="6690287" cy="701401"/>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chemeClr val="bg2">
              <a:lumMod val="90000"/>
            </a:schemeClr>
          </a:solidFill>
          <a:ln w="10" cap="flat" cmpd="sng">
            <a:solidFill>
              <a:srgbClr val="A8A9AD"/>
            </a:solidFill>
            <a:round/>
            <a:headEnd/>
            <a:tailEnd/>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6" name="Rectangle 12"/>
          <p:cNvSpPr>
            <a:spLocks noChangeArrowheads="1"/>
          </p:cNvSpPr>
          <p:nvPr/>
        </p:nvSpPr>
        <p:spPr bwMode="auto">
          <a:xfrm>
            <a:off x="4878070" y="3113301"/>
            <a:ext cx="720444" cy="737899"/>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7" name="Freeform 11"/>
          <p:cNvSpPr>
            <a:spLocks/>
          </p:cNvSpPr>
          <p:nvPr/>
        </p:nvSpPr>
        <p:spPr bwMode="auto">
          <a:xfrm>
            <a:off x="4792379" y="4122556"/>
            <a:ext cx="891827" cy="112668"/>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8" name="Freeform 10"/>
          <p:cNvSpPr>
            <a:spLocks/>
          </p:cNvSpPr>
          <p:nvPr/>
        </p:nvSpPr>
        <p:spPr bwMode="auto">
          <a:xfrm>
            <a:off x="4628930" y="4209835"/>
            <a:ext cx="6690287" cy="701401"/>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round/>
            <a:headEnd/>
            <a:tailEnd/>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9" name="Rectangle 12"/>
          <p:cNvSpPr>
            <a:spLocks noChangeArrowheads="1"/>
          </p:cNvSpPr>
          <p:nvPr/>
        </p:nvSpPr>
        <p:spPr bwMode="auto">
          <a:xfrm>
            <a:off x="4878070" y="4122557"/>
            <a:ext cx="720444" cy="737899"/>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50" name="Freeform 11"/>
          <p:cNvSpPr>
            <a:spLocks/>
          </p:cNvSpPr>
          <p:nvPr/>
        </p:nvSpPr>
        <p:spPr bwMode="auto">
          <a:xfrm>
            <a:off x="4792379" y="5166723"/>
            <a:ext cx="891827" cy="112668"/>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51" name="Freeform 10"/>
          <p:cNvSpPr>
            <a:spLocks/>
          </p:cNvSpPr>
          <p:nvPr/>
        </p:nvSpPr>
        <p:spPr bwMode="auto">
          <a:xfrm>
            <a:off x="4628930" y="5254002"/>
            <a:ext cx="6690287" cy="701401"/>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round/>
            <a:headEnd/>
            <a:tailEnd/>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52" name="Rectangle 12"/>
          <p:cNvSpPr>
            <a:spLocks noChangeArrowheads="1"/>
          </p:cNvSpPr>
          <p:nvPr/>
        </p:nvSpPr>
        <p:spPr bwMode="auto">
          <a:xfrm>
            <a:off x="4878070" y="5166724"/>
            <a:ext cx="720444" cy="737899"/>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53" name="TextBox 105"/>
          <p:cNvSpPr txBox="1">
            <a:spLocks noChangeArrowheads="1"/>
          </p:cNvSpPr>
          <p:nvPr/>
        </p:nvSpPr>
        <p:spPr bwMode="auto">
          <a:xfrm>
            <a:off x="5807981" y="1270942"/>
            <a:ext cx="2698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3C3C3C"/>
                </a:solidFill>
                <a:effectLst/>
                <a:uLnTx/>
                <a:uFillTx/>
                <a:latin typeface="微软雅黑" panose="020B0503020204020204" pitchFamily="34" charset="-122"/>
                <a:ea typeface="微软雅黑" panose="020B0503020204020204" pitchFamily="34" charset="-122"/>
                <a:cs typeface="+mn-cs"/>
              </a:rPr>
              <a:t>研究背景及意义</a:t>
            </a:r>
          </a:p>
        </p:txBody>
      </p:sp>
      <p:sp>
        <p:nvSpPr>
          <p:cNvPr id="14354" name="TextBox 106"/>
          <p:cNvSpPr txBox="1">
            <a:spLocks noChangeArrowheads="1"/>
          </p:cNvSpPr>
          <p:nvPr/>
        </p:nvSpPr>
        <p:spPr bwMode="auto">
          <a:xfrm>
            <a:off x="4985978" y="1137635"/>
            <a:ext cx="499868" cy="7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en-US" altLang="zh-CN"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1</a:t>
            </a:r>
            <a:endParaRPr kumimoji="0" lang="zh-CN" altLang="en-US"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4355" name="TextBox 108"/>
          <p:cNvSpPr txBox="1">
            <a:spLocks noChangeArrowheads="1"/>
          </p:cNvSpPr>
          <p:nvPr/>
        </p:nvSpPr>
        <p:spPr bwMode="auto">
          <a:xfrm>
            <a:off x="5807981" y="2321457"/>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3C3C3C"/>
                </a:solidFill>
                <a:effectLst/>
                <a:uLnTx/>
                <a:uFillTx/>
                <a:latin typeface="微软雅黑" panose="020B0503020204020204" pitchFamily="34" charset="-122"/>
                <a:ea typeface="微软雅黑" panose="020B0503020204020204" pitchFamily="34" charset="-122"/>
                <a:cs typeface="+mn-cs"/>
              </a:rPr>
              <a:t>文献综述</a:t>
            </a:r>
          </a:p>
        </p:txBody>
      </p:sp>
      <p:sp>
        <p:nvSpPr>
          <p:cNvPr id="14356" name="TextBox 109"/>
          <p:cNvSpPr txBox="1">
            <a:spLocks noChangeArrowheads="1"/>
          </p:cNvSpPr>
          <p:nvPr/>
        </p:nvSpPr>
        <p:spPr bwMode="auto">
          <a:xfrm>
            <a:off x="4985978" y="2135783"/>
            <a:ext cx="499868" cy="707749"/>
          </a:xfrm>
          <a:prstGeom prst="rect">
            <a:avLst/>
          </a:prstGeom>
          <a:solidFill>
            <a:schemeClr val="accent2"/>
          </a:solidFill>
          <a:ln>
            <a:noFill/>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en-US" altLang="zh-CN"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2</a:t>
            </a:r>
            <a:endParaRPr kumimoji="0" lang="zh-CN" altLang="en-US"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4357" name="TextBox 115"/>
          <p:cNvSpPr txBox="1">
            <a:spLocks noChangeArrowheads="1"/>
          </p:cNvSpPr>
          <p:nvPr/>
        </p:nvSpPr>
        <p:spPr bwMode="auto">
          <a:xfrm>
            <a:off x="5807981" y="3265651"/>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3C3C3C"/>
                </a:solidFill>
                <a:effectLst/>
                <a:uLnTx/>
                <a:uFillTx/>
                <a:latin typeface="微软雅黑" panose="020B0503020204020204" pitchFamily="34" charset="-122"/>
                <a:ea typeface="微软雅黑" panose="020B0503020204020204" pitchFamily="34" charset="-122"/>
                <a:cs typeface="+mn-cs"/>
              </a:rPr>
              <a:t>研究</a:t>
            </a:r>
            <a:r>
              <a:rPr lang="zh-CN" altLang="en-US" sz="2800" b="1" dirty="0">
                <a:solidFill>
                  <a:srgbClr val="3C3C3C"/>
                </a:solidFill>
                <a:latin typeface="微软雅黑" panose="020B0503020204020204" pitchFamily="34" charset="-122"/>
                <a:ea typeface="微软雅黑" panose="020B0503020204020204" pitchFamily="34" charset="-122"/>
              </a:rPr>
              <a:t>问题</a:t>
            </a:r>
            <a:endParaRPr kumimoji="0" lang="zh-CN" altLang="en-US" sz="2800" b="1" i="0" u="none" strike="noStrike" kern="1200" cap="none" spc="0" normalizeH="0" baseline="0" noProof="0" dirty="0">
              <a:ln>
                <a:noFill/>
              </a:ln>
              <a:solidFill>
                <a:srgbClr val="3C3C3C"/>
              </a:solidFill>
              <a:effectLst/>
              <a:uLnTx/>
              <a:uFillTx/>
              <a:latin typeface="微软雅黑" panose="020B0503020204020204" pitchFamily="34" charset="-122"/>
              <a:ea typeface="微软雅黑" panose="020B0503020204020204" pitchFamily="34" charset="-122"/>
              <a:cs typeface="+mn-cs"/>
            </a:endParaRPr>
          </a:p>
        </p:txBody>
      </p:sp>
      <p:sp>
        <p:nvSpPr>
          <p:cNvPr id="14358" name="TextBox 116"/>
          <p:cNvSpPr txBox="1">
            <a:spLocks noChangeArrowheads="1"/>
          </p:cNvSpPr>
          <p:nvPr/>
        </p:nvSpPr>
        <p:spPr bwMode="auto">
          <a:xfrm>
            <a:off x="4985978" y="3132343"/>
            <a:ext cx="499868" cy="7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en-US" altLang="zh-CN"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3</a:t>
            </a:r>
            <a:endParaRPr kumimoji="0" lang="zh-CN" altLang="en-US"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4359" name="TextBox 117"/>
          <p:cNvSpPr txBox="1">
            <a:spLocks noChangeArrowheads="1"/>
          </p:cNvSpPr>
          <p:nvPr/>
        </p:nvSpPr>
        <p:spPr bwMode="auto">
          <a:xfrm>
            <a:off x="5807981" y="4286014"/>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3C3C3C"/>
                </a:solidFill>
                <a:effectLst/>
                <a:uLnTx/>
                <a:uFillTx/>
                <a:latin typeface="微软雅黑" panose="020B0503020204020204" pitchFamily="34" charset="-122"/>
                <a:ea typeface="微软雅黑" panose="020B0503020204020204" pitchFamily="34" charset="-122"/>
                <a:cs typeface="+mn-cs"/>
              </a:rPr>
              <a:t>研究方案</a:t>
            </a:r>
          </a:p>
        </p:txBody>
      </p:sp>
      <p:sp>
        <p:nvSpPr>
          <p:cNvPr id="14360" name="TextBox 118"/>
          <p:cNvSpPr txBox="1">
            <a:spLocks noChangeArrowheads="1"/>
          </p:cNvSpPr>
          <p:nvPr/>
        </p:nvSpPr>
        <p:spPr bwMode="auto">
          <a:xfrm>
            <a:off x="4985978" y="4152707"/>
            <a:ext cx="499868" cy="7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en-US" altLang="zh-CN"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4</a:t>
            </a:r>
            <a:endParaRPr kumimoji="0" lang="zh-CN" altLang="en-US"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4361" name="TextBox 119"/>
          <p:cNvSpPr txBox="1">
            <a:spLocks noChangeArrowheads="1"/>
          </p:cNvSpPr>
          <p:nvPr/>
        </p:nvSpPr>
        <p:spPr bwMode="auto">
          <a:xfrm>
            <a:off x="5807981" y="5360333"/>
            <a:ext cx="413446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3C3C3C"/>
                </a:solidFill>
                <a:effectLst/>
                <a:uLnTx/>
                <a:uFillTx/>
                <a:latin typeface="微软雅黑" panose="020B0503020204020204" pitchFamily="34" charset="-122"/>
                <a:ea typeface="微软雅黑" panose="020B0503020204020204" pitchFamily="34" charset="-122"/>
                <a:cs typeface="+mn-cs"/>
              </a:rPr>
              <a:t>研究工作计划与进度安排</a:t>
            </a:r>
          </a:p>
        </p:txBody>
      </p:sp>
      <p:sp>
        <p:nvSpPr>
          <p:cNvPr id="14362" name="TextBox 120"/>
          <p:cNvSpPr txBox="1">
            <a:spLocks noChangeArrowheads="1"/>
          </p:cNvSpPr>
          <p:nvPr/>
        </p:nvSpPr>
        <p:spPr bwMode="auto">
          <a:xfrm>
            <a:off x="4985978" y="5174658"/>
            <a:ext cx="499868" cy="7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en-US" altLang="zh-CN" sz="3998"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rPr>
              <a:t>5</a:t>
            </a:r>
            <a:endParaRPr kumimoji="0" lang="zh-CN" altLang="en-US" sz="3998"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4363" name="Freeform 5"/>
          <p:cNvSpPr>
            <a:spLocks/>
          </p:cNvSpPr>
          <p:nvPr/>
        </p:nvSpPr>
        <p:spPr bwMode="auto">
          <a:xfrm>
            <a:off x="0" y="1339"/>
            <a:ext cx="4260774" cy="6869605"/>
          </a:xfrm>
          <a:custGeom>
            <a:avLst/>
            <a:gdLst>
              <a:gd name="T0" fmla="*/ 0 w 5566"/>
              <a:gd name="T1" fmla="*/ 0 h 9000"/>
              <a:gd name="T2" fmla="*/ 4324 w 5566"/>
              <a:gd name="T3" fmla="*/ 0 h 9000"/>
              <a:gd name="T4" fmla="*/ 5566 w 5566"/>
              <a:gd name="T5" fmla="*/ 9000 h 9000"/>
              <a:gd name="T6" fmla="*/ 0 w 5566"/>
              <a:gd name="T7" fmla="*/ 9000 h 9000"/>
              <a:gd name="T8" fmla="*/ 0 w 5566"/>
              <a:gd name="T9" fmla="*/ 0 h 9000"/>
            </a:gdLst>
            <a:ahLst/>
            <a:cxnLst>
              <a:cxn ang="0">
                <a:pos x="T0" y="T1"/>
              </a:cxn>
              <a:cxn ang="0">
                <a:pos x="T2" y="T3"/>
              </a:cxn>
              <a:cxn ang="0">
                <a:pos x="T4" y="T5"/>
              </a:cxn>
              <a:cxn ang="0">
                <a:pos x="T6" y="T7"/>
              </a:cxn>
              <a:cxn ang="0">
                <a:pos x="T8" y="T9"/>
              </a:cxn>
            </a:cxnLst>
            <a:rect l="0" t="0" r="r" b="b"/>
            <a:pathLst>
              <a:path w="5566" h="9000">
                <a:moveTo>
                  <a:pt x="0" y="0"/>
                </a:moveTo>
                <a:lnTo>
                  <a:pt x="4324" y="0"/>
                </a:lnTo>
                <a:lnTo>
                  <a:pt x="5566" y="9000"/>
                </a:lnTo>
                <a:lnTo>
                  <a:pt x="0" y="9000"/>
                </a:lnTo>
                <a:lnTo>
                  <a:pt x="0" y="0"/>
                </a:lnTo>
                <a:close/>
              </a:path>
            </a:pathLst>
          </a:custGeom>
          <a:blipFill dpi="0" rotWithShape="1">
            <a:blip r:embed="rId3" cstate="screen">
              <a:extLst>
                <a:ext uri="{BEBA8EAE-BF5A-486C-A8C5-ECC9F3942E4B}">
                  <a14:imgProps xmlns:a14="http://schemas.microsoft.com/office/drawing/2010/main">
                    <a14:imgLayer r:embed="rId4">
                      <a14:imgEffect>
                        <a14:colorTemperature colorTemp="5900"/>
                      </a14:imgEffect>
                      <a14:imgEffect>
                        <a14:saturation sat="120000"/>
                      </a14:imgEffect>
                    </a14:imgLayer>
                  </a14:imgProps>
                </a:ext>
                <a:ext uri="{28A0092B-C50C-407E-A947-70E740481C1C}">
                  <a14:useLocalDpi xmlns:a14="http://schemas.microsoft.com/office/drawing/2010/main"/>
                </a:ext>
              </a:extLst>
            </a:blip>
            <a:srcRect/>
            <a:stretch>
              <a:fillRect l="-14000" r="-35000"/>
            </a:stretch>
          </a:blipFill>
          <a:ln>
            <a:noFill/>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grpSp>
        <p:nvGrpSpPr>
          <p:cNvPr id="2" name="组合 1"/>
          <p:cNvGrpSpPr/>
          <p:nvPr/>
        </p:nvGrpSpPr>
        <p:grpSpPr>
          <a:xfrm>
            <a:off x="2640569" y="1339"/>
            <a:ext cx="1867759" cy="6869605"/>
            <a:chOff x="2640569" y="1339"/>
            <a:chExt cx="1867759" cy="6869605"/>
          </a:xfrm>
        </p:grpSpPr>
        <p:sp>
          <p:nvSpPr>
            <p:cNvPr id="14364" name="Freeform 6"/>
            <p:cNvSpPr>
              <a:spLocks/>
            </p:cNvSpPr>
            <p:nvPr/>
          </p:nvSpPr>
          <p:spPr bwMode="auto">
            <a:xfrm>
              <a:off x="3392751" y="1339"/>
              <a:ext cx="1115577" cy="6869605"/>
            </a:xfrm>
            <a:custGeom>
              <a:avLst/>
              <a:gdLst>
                <a:gd name="T0" fmla="*/ 0 w 1457"/>
                <a:gd name="T1" fmla="*/ 0 h 9000"/>
                <a:gd name="T2" fmla="*/ 224 w 1457"/>
                <a:gd name="T3" fmla="*/ 0 h 9000"/>
                <a:gd name="T4" fmla="*/ 1457 w 1457"/>
                <a:gd name="T5" fmla="*/ 9000 h 9000"/>
                <a:gd name="T6" fmla="*/ 1233 w 1457"/>
                <a:gd name="T7" fmla="*/ 9000 h 9000"/>
                <a:gd name="T8" fmla="*/ 0 w 1457"/>
                <a:gd name="T9" fmla="*/ 0 h 9000"/>
              </a:gdLst>
              <a:ahLst/>
              <a:cxnLst>
                <a:cxn ang="0">
                  <a:pos x="T0" y="T1"/>
                </a:cxn>
                <a:cxn ang="0">
                  <a:pos x="T2" y="T3"/>
                </a:cxn>
                <a:cxn ang="0">
                  <a:pos x="T4" y="T5"/>
                </a:cxn>
                <a:cxn ang="0">
                  <a:pos x="T6" y="T7"/>
                </a:cxn>
                <a:cxn ang="0">
                  <a:pos x="T8" y="T9"/>
                </a:cxn>
              </a:cxnLst>
              <a:rect l="0" t="0" r="r" b="b"/>
              <a:pathLst>
                <a:path w="1457" h="9000">
                  <a:moveTo>
                    <a:pt x="0" y="0"/>
                  </a:moveTo>
                  <a:lnTo>
                    <a:pt x="224" y="0"/>
                  </a:lnTo>
                  <a:lnTo>
                    <a:pt x="1457" y="9000"/>
                  </a:lnTo>
                  <a:lnTo>
                    <a:pt x="1233" y="9000"/>
                  </a:lnTo>
                  <a:lnTo>
                    <a:pt x="0" y="0"/>
                  </a:lnTo>
                  <a:close/>
                </a:path>
              </a:pathLst>
            </a:custGeom>
            <a:solidFill>
              <a:schemeClr val="accent2"/>
            </a:solidFill>
            <a:ln>
              <a:noFill/>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65" name="矩形 12"/>
            <p:cNvSpPr>
              <a:spLocks noChangeArrowheads="1"/>
            </p:cNvSpPr>
            <p:nvPr/>
          </p:nvSpPr>
          <p:spPr bwMode="auto">
            <a:xfrm>
              <a:off x="2640569" y="5937859"/>
              <a:ext cx="1732873" cy="782331"/>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grpSp>
      <p:sp>
        <p:nvSpPr>
          <p:cNvPr id="14366" name="TextBox 98"/>
          <p:cNvSpPr txBox="1">
            <a:spLocks noChangeArrowheads="1"/>
          </p:cNvSpPr>
          <p:nvPr/>
        </p:nvSpPr>
        <p:spPr bwMode="auto">
          <a:xfrm>
            <a:off x="2800845" y="5977530"/>
            <a:ext cx="902934" cy="523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zh-CN" altLang="en-US" sz="2799"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目录</a:t>
            </a:r>
          </a:p>
        </p:txBody>
      </p:sp>
      <p:sp>
        <p:nvSpPr>
          <p:cNvPr id="14367" name="TextBox 104"/>
          <p:cNvSpPr txBox="1">
            <a:spLocks noChangeArrowheads="1"/>
          </p:cNvSpPr>
          <p:nvPr/>
        </p:nvSpPr>
        <p:spPr bwMode="auto">
          <a:xfrm>
            <a:off x="2854798" y="6359968"/>
            <a:ext cx="1180639" cy="36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en-US" altLang="zh-CN" sz="1799"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rPr>
              <a:t>Contents</a:t>
            </a:r>
            <a:endParaRPr kumimoji="0" lang="zh-CN" altLang="en-US" sz="1799"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pic>
        <p:nvPicPr>
          <p:cNvPr id="34" name="图片 33" descr="横版组合——透明.png"/>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8468075" y="127196"/>
            <a:ext cx="3429530" cy="7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灯片编号占位符 3">
            <a:extLst>
              <a:ext uri="{FF2B5EF4-FFF2-40B4-BE49-F238E27FC236}">
                <a16:creationId xmlns:a16="http://schemas.microsoft.com/office/drawing/2014/main" id="{23BC06AA-3BE5-88A5-A2B0-5B0825EABE9B}"/>
              </a:ext>
            </a:extLst>
          </p:cNvPr>
          <p:cNvSpPr>
            <a:spLocks noGrp="1"/>
          </p:cNvSpPr>
          <p:nvPr>
            <p:ph type="sldNum" sz="quarter" idx="4294967295"/>
          </p:nvPr>
        </p:nvSpPr>
        <p:spPr>
          <a:xfrm>
            <a:off x="8610600" y="6356350"/>
            <a:ext cx="2743200" cy="365125"/>
          </a:xfrm>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D0C70D4-B8A7-1C47-A003-56128FA9BF31}" type="slidenum">
              <a:rPr kumimoji="0" lang="zh-CN" altLang="en-US" sz="1200" b="1" i="0" u="none" strike="noStrike" kern="1200" cap="none" spc="0" normalizeH="0" baseline="0" noProof="0" smtClean="0">
                <a:ln>
                  <a:noFill/>
                </a:ln>
                <a:solidFill>
                  <a:prstClr val="black">
                    <a:tint val="75000"/>
                  </a:prstClr>
                </a:solidFill>
                <a:effectLst/>
                <a:uLnTx/>
                <a:uFillTx/>
                <a:latin typeface="Arial" panose="020B0604020202090204" pitchFamily="34" charset="0"/>
                <a:ea typeface="华文中宋" panose="02010600040101010101" charset="-122"/>
                <a:cs typeface="+mn-cs"/>
              </a:rPr>
              <a:t>28</a:t>
            </a:fld>
            <a:endParaRPr kumimoji="0" lang="en-US" altLang="zh-CN" sz="1200" b="1" i="0" u="none" strike="noStrike" kern="1200" cap="none" spc="0" normalizeH="0" baseline="0" noProof="0" dirty="0">
              <a:ln>
                <a:noFill/>
              </a:ln>
              <a:solidFill>
                <a:prstClr val="black">
                  <a:tint val="75000"/>
                </a:prstClr>
              </a:solidFill>
              <a:effectLst/>
              <a:uLnTx/>
              <a:uFillTx/>
              <a:latin typeface="Arial" panose="020B0604020202090204" pitchFamily="34" charset="0"/>
              <a:ea typeface="华文中宋" panose="02010600040101010101" charset="-122"/>
              <a:cs typeface="+mn-cs"/>
            </a:endParaRPr>
          </a:p>
        </p:txBody>
      </p:sp>
    </p:spTree>
    <p:extLst>
      <p:ext uri="{BB962C8B-B14F-4D97-AF65-F5344CB8AC3E}">
        <p14:creationId xmlns:p14="http://schemas.microsoft.com/office/powerpoint/2010/main" val="234431654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a:extLst>
              <a:ext uri="{FF2B5EF4-FFF2-40B4-BE49-F238E27FC236}">
                <a16:creationId xmlns:a16="http://schemas.microsoft.com/office/drawing/2014/main" id="{E09F3E14-A569-BC4D-CA49-5A21B401C039}"/>
              </a:ext>
            </a:extLst>
          </p:cNvPr>
          <p:cNvSpPr/>
          <p:nvPr/>
        </p:nvSpPr>
        <p:spPr>
          <a:xfrm>
            <a:off x="449688" y="1425032"/>
            <a:ext cx="6666729" cy="6341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800" b="1" kern="100" dirty="0">
                <a:effectLst/>
                <a:latin typeface="Microsoft YaHei" panose="020B0503020204020204" pitchFamily="34" charset="-122"/>
                <a:ea typeface="Microsoft YaHei" panose="020B0503020204020204" pitchFamily="34" charset="-122"/>
              </a:rPr>
              <a:t>音乐</a:t>
            </a:r>
            <a:r>
              <a:rPr lang="zh-CN" altLang="en-US" sz="1800" b="1" kern="100" dirty="0">
                <a:effectLst/>
                <a:latin typeface="Microsoft YaHei" panose="020B0503020204020204" pitchFamily="34" charset="-122"/>
                <a:ea typeface="Microsoft YaHei" panose="020B0503020204020204" pitchFamily="34" charset="-122"/>
              </a:rPr>
              <a:t>偏好</a:t>
            </a:r>
            <a:r>
              <a:rPr lang="zh-CN" altLang="zh-CN" sz="1800" b="1" kern="100" dirty="0">
                <a:effectLst/>
                <a:latin typeface="Microsoft YaHei" panose="020B0503020204020204" pitchFamily="34" charset="-122"/>
                <a:ea typeface="Microsoft YaHei" panose="020B0503020204020204" pitchFamily="34" charset="-122"/>
              </a:rPr>
              <a:t>对</a:t>
            </a:r>
            <a:r>
              <a:rPr lang="zh-CN" altLang="en-US" sz="1800" b="1" kern="100" dirty="0">
                <a:effectLst/>
                <a:latin typeface="Microsoft YaHei" panose="020B0503020204020204" pitchFamily="34" charset="-122"/>
                <a:ea typeface="Microsoft YaHei" panose="020B0503020204020204" pitchFamily="34" charset="-122"/>
              </a:rPr>
              <a:t>驾驶行为有什么影响</a:t>
            </a:r>
            <a:r>
              <a:rPr lang="zh-CN" altLang="zh-CN" sz="1800" b="1" kern="100" dirty="0">
                <a:effectLst/>
                <a:latin typeface="Microsoft YaHei" panose="020B0503020204020204" pitchFamily="34" charset="-122"/>
                <a:ea typeface="Microsoft YaHei" panose="020B0503020204020204" pitchFamily="34" charset="-122"/>
              </a:rPr>
              <a:t>？</a:t>
            </a:r>
            <a:endParaRPr lang="en-US" altLang="zh-CN" sz="1400" b="1" kern="100" dirty="0">
              <a:latin typeface="Microsoft YaHei" panose="020B0503020204020204" pitchFamily="34" charset="-122"/>
              <a:ea typeface="Microsoft YaHei" panose="020B0503020204020204" pitchFamily="34" charset="-122"/>
            </a:endParaRPr>
          </a:p>
        </p:txBody>
      </p:sp>
      <p:sp>
        <p:nvSpPr>
          <p:cNvPr id="2" name="标题 1">
            <a:extLst>
              <a:ext uri="{FF2B5EF4-FFF2-40B4-BE49-F238E27FC236}">
                <a16:creationId xmlns:a16="http://schemas.microsoft.com/office/drawing/2014/main" id="{5005A328-B2FA-6045-11FA-69F105899019}"/>
              </a:ext>
            </a:extLst>
          </p:cNvPr>
          <p:cNvSpPr>
            <a:spLocks noGrp="1"/>
          </p:cNvSpPr>
          <p:nvPr>
            <p:ph type="title"/>
          </p:nvPr>
        </p:nvSpPr>
        <p:spPr/>
        <p:txBody>
          <a:bodyPr/>
          <a:lstStyle/>
          <a:p>
            <a:r>
              <a:rPr kumimoji="1" lang="zh-CN" altLang="en-US" dirty="0"/>
              <a:t>研究问题</a:t>
            </a:r>
          </a:p>
        </p:txBody>
      </p:sp>
      <p:sp>
        <p:nvSpPr>
          <p:cNvPr id="5" name="文本框 4">
            <a:extLst>
              <a:ext uri="{FF2B5EF4-FFF2-40B4-BE49-F238E27FC236}">
                <a16:creationId xmlns:a16="http://schemas.microsoft.com/office/drawing/2014/main" id="{C9AF4A84-D668-04D4-E31B-CF5D2CEBFB09}"/>
              </a:ext>
            </a:extLst>
          </p:cNvPr>
          <p:cNvSpPr txBox="1"/>
          <p:nvPr/>
        </p:nvSpPr>
        <p:spPr>
          <a:xfrm>
            <a:off x="1156157" y="2175063"/>
            <a:ext cx="11515004" cy="3927742"/>
          </a:xfrm>
          <a:prstGeom prst="rect">
            <a:avLst/>
          </a:prstGeom>
          <a:noFill/>
        </p:spPr>
        <p:txBody>
          <a:bodyPr wrap="square">
            <a:spAutoFit/>
          </a:bodyPr>
          <a:lstStyle/>
          <a:p>
            <a:pPr marL="342900" lvl="0" indent="-342900" algn="just">
              <a:lnSpc>
                <a:spcPct val="150000"/>
              </a:lnSpc>
              <a:spcBef>
                <a:spcPts val="1200"/>
              </a:spcBef>
              <a:buFont typeface="+mj-ea"/>
              <a:buAutoNum type="circleNumDbPlain"/>
            </a:pPr>
            <a:r>
              <a:rPr lang="zh-CN" altLang="en-US" sz="1800" b="1" kern="100" dirty="0">
                <a:effectLst/>
                <a:latin typeface="Microsoft YaHei" panose="020B0503020204020204" pitchFamily="34" charset="-122"/>
                <a:ea typeface="Microsoft YaHei" panose="020B0503020204020204" pitchFamily="34" charset="-122"/>
              </a:rPr>
              <a:t>音乐流派偏好对驾驶行为有什么影响？</a:t>
            </a:r>
            <a:endParaRPr lang="en-US" altLang="zh-CN" b="1" kern="100" dirty="0">
              <a:latin typeface="Microsoft YaHei" panose="020B0503020204020204" pitchFamily="34" charset="-122"/>
              <a:ea typeface="Microsoft YaHei" panose="020B0503020204020204" pitchFamily="34" charset="-122"/>
            </a:endParaRPr>
          </a:p>
          <a:p>
            <a:pPr indent="266700" algn="just">
              <a:lnSpc>
                <a:spcPct val="150000"/>
              </a:lnSpc>
              <a:spcBef>
                <a:spcPts val="1200"/>
              </a:spcBef>
            </a:pPr>
            <a:endParaRPr lang="en-US" altLang="zh-CN" sz="1400" kern="100" dirty="0">
              <a:latin typeface="Microsoft YaHei" panose="020B0503020204020204" pitchFamily="34" charset="-122"/>
              <a:ea typeface="Microsoft YaHei" panose="020B0503020204020204" pitchFamily="34" charset="-122"/>
            </a:endParaRPr>
          </a:p>
          <a:p>
            <a:pPr indent="266700" algn="just">
              <a:lnSpc>
                <a:spcPct val="150000"/>
              </a:lnSpc>
              <a:spcBef>
                <a:spcPts val="1200"/>
              </a:spcBef>
            </a:pPr>
            <a:endParaRPr lang="en-US" altLang="zh-CN" sz="1400" kern="100" dirty="0">
              <a:latin typeface="Microsoft YaHei" panose="020B0503020204020204" pitchFamily="34" charset="-122"/>
              <a:ea typeface="Microsoft YaHei" panose="020B0503020204020204" pitchFamily="34" charset="-122"/>
            </a:endParaRPr>
          </a:p>
          <a:p>
            <a:pPr indent="266700" algn="just">
              <a:lnSpc>
                <a:spcPct val="150000"/>
              </a:lnSpc>
              <a:spcBef>
                <a:spcPts val="1200"/>
              </a:spcBef>
            </a:pPr>
            <a:endParaRPr lang="en-US" altLang="zh-CN" sz="1400" kern="100" dirty="0">
              <a:latin typeface="Microsoft YaHei" panose="020B0503020204020204" pitchFamily="34" charset="-122"/>
              <a:ea typeface="Microsoft YaHei" panose="020B0503020204020204" pitchFamily="34" charset="-122"/>
            </a:endParaRPr>
          </a:p>
          <a:p>
            <a:pPr marL="342900" indent="-342900">
              <a:lnSpc>
                <a:spcPct val="150000"/>
              </a:lnSpc>
              <a:spcBef>
                <a:spcPts val="1200"/>
              </a:spcBef>
              <a:buFont typeface="+mj-ea"/>
              <a:buAutoNum type="circleNumDbPlain" startAt="2"/>
            </a:pPr>
            <a:r>
              <a:rPr lang="zh-CN" altLang="en-US" sz="18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音乐速度如何影响不</a:t>
            </a:r>
            <a:r>
              <a:rPr lang="zh-CN" altLang="en-US" b="1" kern="100" dirty="0">
                <a:latin typeface="Microsoft YaHei" panose="020B0503020204020204" pitchFamily="34" charset="-122"/>
                <a:ea typeface="Microsoft YaHei" panose="020B0503020204020204" pitchFamily="34" charset="-122"/>
                <a:cs typeface="Times New Roman" panose="02020603050405020304" pitchFamily="18" charset="0"/>
              </a:rPr>
              <a:t>同</a:t>
            </a:r>
            <a:r>
              <a:rPr lang="zh-CN" altLang="en-US" sz="1800" b="1" kern="100" dirty="0">
                <a:effectLst/>
                <a:latin typeface="Microsoft YaHei" panose="020B0503020204020204" pitchFamily="34" charset="-122"/>
                <a:ea typeface="Microsoft YaHei" panose="020B0503020204020204" pitchFamily="34" charset="-122"/>
                <a:cs typeface="Times New Roman" panose="02020603050405020304" pitchFamily="18" charset="0"/>
              </a:rPr>
              <a:t>流派音乐对驾驶行为的影响？</a:t>
            </a:r>
            <a:endParaRPr lang="en-US" altLang="zh-CN" sz="1800" b="1"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p>
            <a:pPr marL="342900" indent="-342900">
              <a:lnSpc>
                <a:spcPct val="150000"/>
              </a:lnSpc>
              <a:spcBef>
                <a:spcPts val="1200"/>
              </a:spcBef>
              <a:buFont typeface="+mj-ea"/>
              <a:buAutoNum type="circleNumDbPlain" startAt="2"/>
            </a:pPr>
            <a:r>
              <a:rPr lang="zh-CN" altLang="en-US" b="1" kern="100" dirty="0">
                <a:latin typeface="Microsoft YaHei" panose="020B0503020204020204" pitchFamily="34" charset="-122"/>
                <a:ea typeface="Microsoft YaHei" panose="020B0503020204020204" pitchFamily="34" charset="-122"/>
                <a:cs typeface="Times New Roman" panose="02020603050405020304" pitchFamily="18" charset="0"/>
              </a:rPr>
              <a:t>音高如何影响不同流派音乐对驾驶行为的影响？</a:t>
            </a:r>
            <a:endParaRPr lang="en-US" altLang="zh-CN" sz="1800" b="1"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p>
            <a:pPr>
              <a:lnSpc>
                <a:spcPct val="150000"/>
              </a:lnSpc>
            </a:pPr>
            <a:endParaRPr lang="en-US" altLang="zh-CN" b="1"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a:lnSpc>
                <a:spcPct val="150000"/>
              </a:lnSpc>
            </a:pPr>
            <a:endParaRPr lang="en-US" altLang="zh-CN" sz="1000" b="1"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a:lnSpc>
                <a:spcPct val="150000"/>
              </a:lnSpc>
            </a:pPr>
            <a:endParaRPr lang="en-US" altLang="zh-CN" sz="1000" kern="1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4" name="圆角矩形 3">
            <a:extLst>
              <a:ext uri="{FF2B5EF4-FFF2-40B4-BE49-F238E27FC236}">
                <a16:creationId xmlns:a16="http://schemas.microsoft.com/office/drawing/2014/main" id="{E1140A53-F385-F3F5-91A5-BD71102EB5BE}"/>
              </a:ext>
            </a:extLst>
          </p:cNvPr>
          <p:cNvSpPr/>
          <p:nvPr/>
        </p:nvSpPr>
        <p:spPr>
          <a:xfrm>
            <a:off x="449687" y="3429000"/>
            <a:ext cx="6666729" cy="6336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b="1" kern="100" dirty="0">
                <a:effectLst/>
                <a:latin typeface="Microsoft YaHei" panose="020B0503020204020204" pitchFamily="34" charset="-122"/>
                <a:ea typeface="Microsoft YaHei" panose="020B0503020204020204" pitchFamily="34" charset="-122"/>
              </a:rPr>
              <a:t>不同流派的音乐属性对驾驶行为有什么影响？</a:t>
            </a:r>
          </a:p>
        </p:txBody>
      </p:sp>
    </p:spTree>
    <p:extLst>
      <p:ext uri="{BB962C8B-B14F-4D97-AF65-F5344CB8AC3E}">
        <p14:creationId xmlns:p14="http://schemas.microsoft.com/office/powerpoint/2010/main" val="32826191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DA7F6A-4132-7B11-32E5-2D62F0007A50}"/>
              </a:ext>
            </a:extLst>
          </p:cNvPr>
          <p:cNvSpPr>
            <a:spLocks noGrp="1"/>
          </p:cNvSpPr>
          <p:nvPr>
            <p:ph type="title"/>
          </p:nvPr>
        </p:nvSpPr>
        <p:spPr/>
        <p:txBody>
          <a:bodyPr/>
          <a:lstStyle/>
          <a:p>
            <a:r>
              <a:rPr kumimoji="1" lang="zh-CN" altLang="en-US" dirty="0"/>
              <a:t>研究问题  </a:t>
            </a:r>
            <a:r>
              <a:rPr kumimoji="1" lang="zh-CN" altLang="en-US" sz="2000" dirty="0"/>
              <a:t>研究框架</a:t>
            </a:r>
          </a:p>
        </p:txBody>
      </p:sp>
      <p:pic>
        <p:nvPicPr>
          <p:cNvPr id="4" name="图片 3">
            <a:extLst>
              <a:ext uri="{FF2B5EF4-FFF2-40B4-BE49-F238E27FC236}">
                <a16:creationId xmlns:a16="http://schemas.microsoft.com/office/drawing/2014/main" id="{971A2DEB-5DFD-DFAA-A1E5-84CDEFBBB1D9}"/>
              </a:ext>
            </a:extLst>
          </p:cNvPr>
          <p:cNvPicPr>
            <a:picLocks noChangeAspect="1"/>
          </p:cNvPicPr>
          <p:nvPr/>
        </p:nvPicPr>
        <p:blipFill>
          <a:blip r:embed="rId3"/>
          <a:stretch>
            <a:fillRect/>
          </a:stretch>
        </p:blipFill>
        <p:spPr>
          <a:xfrm>
            <a:off x="1693110" y="1180562"/>
            <a:ext cx="8805780" cy="5384829"/>
          </a:xfrm>
          <a:prstGeom prst="rect">
            <a:avLst/>
          </a:prstGeom>
        </p:spPr>
      </p:pic>
    </p:spTree>
    <p:extLst>
      <p:ext uri="{BB962C8B-B14F-4D97-AF65-F5344CB8AC3E}">
        <p14:creationId xmlns:p14="http://schemas.microsoft.com/office/powerpoint/2010/main" val="22061050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11"/>
          <p:cNvSpPr>
            <a:spLocks/>
          </p:cNvSpPr>
          <p:nvPr/>
        </p:nvSpPr>
        <p:spPr bwMode="auto">
          <a:xfrm>
            <a:off x="4792379" y="1094789"/>
            <a:ext cx="891827" cy="112668"/>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39" name="Freeform 10"/>
          <p:cNvSpPr>
            <a:spLocks/>
          </p:cNvSpPr>
          <p:nvPr/>
        </p:nvSpPr>
        <p:spPr bwMode="auto">
          <a:xfrm>
            <a:off x="4628930" y="1183655"/>
            <a:ext cx="6690287" cy="701401"/>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chemeClr val="bg1"/>
          </a:solidFill>
          <a:ln w="10" cap="flat" cmpd="sng">
            <a:solidFill>
              <a:srgbClr val="A8A9AD"/>
            </a:solidFill>
            <a:round/>
            <a:headEnd/>
            <a:tailEnd/>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0" name="Rectangle 12"/>
          <p:cNvSpPr>
            <a:spLocks noChangeArrowheads="1"/>
          </p:cNvSpPr>
          <p:nvPr/>
        </p:nvSpPr>
        <p:spPr bwMode="auto">
          <a:xfrm>
            <a:off x="4878070" y="1094789"/>
            <a:ext cx="720444" cy="737899"/>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1" name="Freeform 11"/>
          <p:cNvSpPr>
            <a:spLocks/>
          </p:cNvSpPr>
          <p:nvPr/>
        </p:nvSpPr>
        <p:spPr bwMode="auto">
          <a:xfrm>
            <a:off x="4792379" y="2115153"/>
            <a:ext cx="891827" cy="112669"/>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2" name="Freeform 10"/>
          <p:cNvSpPr>
            <a:spLocks/>
          </p:cNvSpPr>
          <p:nvPr/>
        </p:nvSpPr>
        <p:spPr bwMode="auto">
          <a:xfrm>
            <a:off x="4628930" y="2204018"/>
            <a:ext cx="6690287" cy="701401"/>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round/>
            <a:headEnd/>
            <a:tailEnd/>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3" name="Rectangle 12"/>
          <p:cNvSpPr>
            <a:spLocks noChangeArrowheads="1"/>
          </p:cNvSpPr>
          <p:nvPr/>
        </p:nvSpPr>
        <p:spPr bwMode="auto">
          <a:xfrm>
            <a:off x="4878070" y="2115152"/>
            <a:ext cx="720444" cy="737900"/>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4" name="Freeform 11"/>
          <p:cNvSpPr>
            <a:spLocks/>
          </p:cNvSpPr>
          <p:nvPr/>
        </p:nvSpPr>
        <p:spPr bwMode="auto">
          <a:xfrm>
            <a:off x="4792379" y="3113301"/>
            <a:ext cx="891827" cy="112668"/>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5" name="Freeform 10"/>
          <p:cNvSpPr>
            <a:spLocks/>
          </p:cNvSpPr>
          <p:nvPr/>
        </p:nvSpPr>
        <p:spPr bwMode="auto">
          <a:xfrm>
            <a:off x="4628930" y="3200579"/>
            <a:ext cx="6690287" cy="701401"/>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round/>
            <a:headEnd/>
            <a:tailEnd/>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6" name="Rectangle 12"/>
          <p:cNvSpPr>
            <a:spLocks noChangeArrowheads="1"/>
          </p:cNvSpPr>
          <p:nvPr/>
        </p:nvSpPr>
        <p:spPr bwMode="auto">
          <a:xfrm>
            <a:off x="4878070" y="3113301"/>
            <a:ext cx="720444" cy="737899"/>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7" name="Freeform 11"/>
          <p:cNvSpPr>
            <a:spLocks/>
          </p:cNvSpPr>
          <p:nvPr/>
        </p:nvSpPr>
        <p:spPr bwMode="auto">
          <a:xfrm>
            <a:off x="4792379" y="4122556"/>
            <a:ext cx="891827" cy="112668"/>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8" name="Freeform 10"/>
          <p:cNvSpPr>
            <a:spLocks/>
          </p:cNvSpPr>
          <p:nvPr/>
        </p:nvSpPr>
        <p:spPr bwMode="auto">
          <a:xfrm>
            <a:off x="4628930" y="4209835"/>
            <a:ext cx="6690287" cy="701401"/>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chemeClr val="bg2">
              <a:lumMod val="90000"/>
            </a:schemeClr>
          </a:solidFill>
          <a:ln w="10" cap="flat" cmpd="sng">
            <a:solidFill>
              <a:srgbClr val="A8A9AD"/>
            </a:solidFill>
            <a:round/>
            <a:headEnd/>
            <a:tailEnd/>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9" name="Rectangle 12"/>
          <p:cNvSpPr>
            <a:spLocks noChangeArrowheads="1"/>
          </p:cNvSpPr>
          <p:nvPr/>
        </p:nvSpPr>
        <p:spPr bwMode="auto">
          <a:xfrm>
            <a:off x="4878070" y="4122557"/>
            <a:ext cx="720444" cy="737899"/>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50" name="Freeform 11"/>
          <p:cNvSpPr>
            <a:spLocks/>
          </p:cNvSpPr>
          <p:nvPr/>
        </p:nvSpPr>
        <p:spPr bwMode="auto">
          <a:xfrm>
            <a:off x="4792379" y="5166723"/>
            <a:ext cx="891827" cy="112668"/>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51" name="Freeform 10"/>
          <p:cNvSpPr>
            <a:spLocks/>
          </p:cNvSpPr>
          <p:nvPr/>
        </p:nvSpPr>
        <p:spPr bwMode="auto">
          <a:xfrm>
            <a:off x="4628930" y="5254002"/>
            <a:ext cx="6690287" cy="701401"/>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round/>
            <a:headEnd/>
            <a:tailEnd/>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52" name="Rectangle 12"/>
          <p:cNvSpPr>
            <a:spLocks noChangeArrowheads="1"/>
          </p:cNvSpPr>
          <p:nvPr/>
        </p:nvSpPr>
        <p:spPr bwMode="auto">
          <a:xfrm>
            <a:off x="4878070" y="5166724"/>
            <a:ext cx="720444" cy="737899"/>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53" name="TextBox 105"/>
          <p:cNvSpPr txBox="1">
            <a:spLocks noChangeArrowheads="1"/>
          </p:cNvSpPr>
          <p:nvPr/>
        </p:nvSpPr>
        <p:spPr bwMode="auto">
          <a:xfrm>
            <a:off x="5807981" y="1270942"/>
            <a:ext cx="2698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3C3C3C"/>
                </a:solidFill>
                <a:effectLst/>
                <a:uLnTx/>
                <a:uFillTx/>
                <a:latin typeface="微软雅黑" panose="020B0503020204020204" pitchFamily="34" charset="-122"/>
                <a:ea typeface="微软雅黑" panose="020B0503020204020204" pitchFamily="34" charset="-122"/>
                <a:cs typeface="+mn-cs"/>
              </a:rPr>
              <a:t>研究背景及意义</a:t>
            </a:r>
          </a:p>
        </p:txBody>
      </p:sp>
      <p:sp>
        <p:nvSpPr>
          <p:cNvPr id="14354" name="TextBox 106"/>
          <p:cNvSpPr txBox="1">
            <a:spLocks noChangeArrowheads="1"/>
          </p:cNvSpPr>
          <p:nvPr/>
        </p:nvSpPr>
        <p:spPr bwMode="auto">
          <a:xfrm>
            <a:off x="4985978" y="1137635"/>
            <a:ext cx="499868" cy="7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en-US" altLang="zh-CN"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1</a:t>
            </a:r>
            <a:endParaRPr kumimoji="0" lang="zh-CN" altLang="en-US"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4355" name="TextBox 108"/>
          <p:cNvSpPr txBox="1">
            <a:spLocks noChangeArrowheads="1"/>
          </p:cNvSpPr>
          <p:nvPr/>
        </p:nvSpPr>
        <p:spPr bwMode="auto">
          <a:xfrm>
            <a:off x="5807981" y="2321457"/>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3C3C3C"/>
                </a:solidFill>
                <a:effectLst/>
                <a:uLnTx/>
                <a:uFillTx/>
                <a:latin typeface="微软雅黑" panose="020B0503020204020204" pitchFamily="34" charset="-122"/>
                <a:ea typeface="微软雅黑" panose="020B0503020204020204" pitchFamily="34" charset="-122"/>
                <a:cs typeface="+mn-cs"/>
              </a:rPr>
              <a:t>文献综述</a:t>
            </a:r>
          </a:p>
        </p:txBody>
      </p:sp>
      <p:sp>
        <p:nvSpPr>
          <p:cNvPr id="14356" name="TextBox 109"/>
          <p:cNvSpPr txBox="1">
            <a:spLocks noChangeArrowheads="1"/>
          </p:cNvSpPr>
          <p:nvPr/>
        </p:nvSpPr>
        <p:spPr bwMode="auto">
          <a:xfrm>
            <a:off x="4985978" y="2135783"/>
            <a:ext cx="499868" cy="707749"/>
          </a:xfrm>
          <a:prstGeom prst="rect">
            <a:avLst/>
          </a:prstGeom>
          <a:solidFill>
            <a:schemeClr val="accent2"/>
          </a:solidFill>
          <a:ln>
            <a:noFill/>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en-US" altLang="zh-CN"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2</a:t>
            </a:r>
            <a:endParaRPr kumimoji="0" lang="zh-CN" altLang="en-US"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4357" name="TextBox 115"/>
          <p:cNvSpPr txBox="1">
            <a:spLocks noChangeArrowheads="1"/>
          </p:cNvSpPr>
          <p:nvPr/>
        </p:nvSpPr>
        <p:spPr bwMode="auto">
          <a:xfrm>
            <a:off x="5807981" y="3265651"/>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3C3C3C"/>
                </a:solidFill>
                <a:effectLst/>
                <a:uLnTx/>
                <a:uFillTx/>
                <a:latin typeface="微软雅黑" panose="020B0503020204020204" pitchFamily="34" charset="-122"/>
                <a:ea typeface="微软雅黑" panose="020B0503020204020204" pitchFamily="34" charset="-122"/>
                <a:cs typeface="+mn-cs"/>
              </a:rPr>
              <a:t>研究</a:t>
            </a:r>
            <a:r>
              <a:rPr lang="zh-CN" altLang="en-US" sz="2800" b="1" dirty="0">
                <a:solidFill>
                  <a:srgbClr val="3C3C3C"/>
                </a:solidFill>
                <a:latin typeface="微软雅黑" panose="020B0503020204020204" pitchFamily="34" charset="-122"/>
                <a:ea typeface="微软雅黑" panose="020B0503020204020204" pitchFamily="34" charset="-122"/>
              </a:rPr>
              <a:t>问题</a:t>
            </a:r>
            <a:endParaRPr kumimoji="0" lang="zh-CN" altLang="en-US" sz="2800" b="1" i="0" u="none" strike="noStrike" kern="1200" cap="none" spc="0" normalizeH="0" baseline="0" noProof="0" dirty="0">
              <a:ln>
                <a:noFill/>
              </a:ln>
              <a:solidFill>
                <a:srgbClr val="3C3C3C"/>
              </a:solidFill>
              <a:effectLst/>
              <a:uLnTx/>
              <a:uFillTx/>
              <a:latin typeface="微软雅黑" panose="020B0503020204020204" pitchFamily="34" charset="-122"/>
              <a:ea typeface="微软雅黑" panose="020B0503020204020204" pitchFamily="34" charset="-122"/>
              <a:cs typeface="+mn-cs"/>
            </a:endParaRPr>
          </a:p>
        </p:txBody>
      </p:sp>
      <p:sp>
        <p:nvSpPr>
          <p:cNvPr id="14358" name="TextBox 116"/>
          <p:cNvSpPr txBox="1">
            <a:spLocks noChangeArrowheads="1"/>
          </p:cNvSpPr>
          <p:nvPr/>
        </p:nvSpPr>
        <p:spPr bwMode="auto">
          <a:xfrm>
            <a:off x="4985978" y="3132343"/>
            <a:ext cx="499868" cy="7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en-US" altLang="zh-CN"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3</a:t>
            </a:r>
            <a:endParaRPr kumimoji="0" lang="zh-CN" altLang="en-US"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4359" name="TextBox 117"/>
          <p:cNvSpPr txBox="1">
            <a:spLocks noChangeArrowheads="1"/>
          </p:cNvSpPr>
          <p:nvPr/>
        </p:nvSpPr>
        <p:spPr bwMode="auto">
          <a:xfrm>
            <a:off x="5807981" y="4286014"/>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3C3C3C"/>
                </a:solidFill>
                <a:effectLst/>
                <a:uLnTx/>
                <a:uFillTx/>
                <a:latin typeface="微软雅黑" panose="020B0503020204020204" pitchFamily="34" charset="-122"/>
                <a:ea typeface="微软雅黑" panose="020B0503020204020204" pitchFamily="34" charset="-122"/>
                <a:cs typeface="+mn-cs"/>
              </a:rPr>
              <a:t>研究方案</a:t>
            </a:r>
          </a:p>
        </p:txBody>
      </p:sp>
      <p:sp>
        <p:nvSpPr>
          <p:cNvPr id="14360" name="TextBox 118"/>
          <p:cNvSpPr txBox="1">
            <a:spLocks noChangeArrowheads="1"/>
          </p:cNvSpPr>
          <p:nvPr/>
        </p:nvSpPr>
        <p:spPr bwMode="auto">
          <a:xfrm>
            <a:off x="4985978" y="4152707"/>
            <a:ext cx="499868" cy="7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en-US" altLang="zh-CN"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4</a:t>
            </a:r>
            <a:endParaRPr kumimoji="0" lang="zh-CN" altLang="en-US"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4361" name="TextBox 119"/>
          <p:cNvSpPr txBox="1">
            <a:spLocks noChangeArrowheads="1"/>
          </p:cNvSpPr>
          <p:nvPr/>
        </p:nvSpPr>
        <p:spPr bwMode="auto">
          <a:xfrm>
            <a:off x="5807981" y="5360333"/>
            <a:ext cx="413446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3C3C3C"/>
                </a:solidFill>
                <a:effectLst/>
                <a:uLnTx/>
                <a:uFillTx/>
                <a:latin typeface="微软雅黑" panose="020B0503020204020204" pitchFamily="34" charset="-122"/>
                <a:ea typeface="微软雅黑" panose="020B0503020204020204" pitchFamily="34" charset="-122"/>
                <a:cs typeface="+mn-cs"/>
              </a:rPr>
              <a:t>研究工作计划与进度安排</a:t>
            </a:r>
          </a:p>
        </p:txBody>
      </p:sp>
      <p:sp>
        <p:nvSpPr>
          <p:cNvPr id="14362" name="TextBox 120"/>
          <p:cNvSpPr txBox="1">
            <a:spLocks noChangeArrowheads="1"/>
          </p:cNvSpPr>
          <p:nvPr/>
        </p:nvSpPr>
        <p:spPr bwMode="auto">
          <a:xfrm>
            <a:off x="4985978" y="5174658"/>
            <a:ext cx="499868" cy="7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en-US" altLang="zh-CN" sz="3998"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rPr>
              <a:t>5</a:t>
            </a:r>
            <a:endParaRPr kumimoji="0" lang="zh-CN" altLang="en-US" sz="3998"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4363" name="Freeform 5"/>
          <p:cNvSpPr>
            <a:spLocks/>
          </p:cNvSpPr>
          <p:nvPr/>
        </p:nvSpPr>
        <p:spPr bwMode="auto">
          <a:xfrm>
            <a:off x="0" y="1339"/>
            <a:ext cx="4260774" cy="6869605"/>
          </a:xfrm>
          <a:custGeom>
            <a:avLst/>
            <a:gdLst>
              <a:gd name="T0" fmla="*/ 0 w 5566"/>
              <a:gd name="T1" fmla="*/ 0 h 9000"/>
              <a:gd name="T2" fmla="*/ 4324 w 5566"/>
              <a:gd name="T3" fmla="*/ 0 h 9000"/>
              <a:gd name="T4" fmla="*/ 5566 w 5566"/>
              <a:gd name="T5" fmla="*/ 9000 h 9000"/>
              <a:gd name="T6" fmla="*/ 0 w 5566"/>
              <a:gd name="T7" fmla="*/ 9000 h 9000"/>
              <a:gd name="T8" fmla="*/ 0 w 5566"/>
              <a:gd name="T9" fmla="*/ 0 h 9000"/>
            </a:gdLst>
            <a:ahLst/>
            <a:cxnLst>
              <a:cxn ang="0">
                <a:pos x="T0" y="T1"/>
              </a:cxn>
              <a:cxn ang="0">
                <a:pos x="T2" y="T3"/>
              </a:cxn>
              <a:cxn ang="0">
                <a:pos x="T4" y="T5"/>
              </a:cxn>
              <a:cxn ang="0">
                <a:pos x="T6" y="T7"/>
              </a:cxn>
              <a:cxn ang="0">
                <a:pos x="T8" y="T9"/>
              </a:cxn>
            </a:cxnLst>
            <a:rect l="0" t="0" r="r" b="b"/>
            <a:pathLst>
              <a:path w="5566" h="9000">
                <a:moveTo>
                  <a:pt x="0" y="0"/>
                </a:moveTo>
                <a:lnTo>
                  <a:pt x="4324" y="0"/>
                </a:lnTo>
                <a:lnTo>
                  <a:pt x="5566" y="9000"/>
                </a:lnTo>
                <a:lnTo>
                  <a:pt x="0" y="9000"/>
                </a:lnTo>
                <a:lnTo>
                  <a:pt x="0" y="0"/>
                </a:lnTo>
                <a:close/>
              </a:path>
            </a:pathLst>
          </a:custGeom>
          <a:blipFill dpi="0" rotWithShape="1">
            <a:blip r:embed="rId3" cstate="screen">
              <a:extLst>
                <a:ext uri="{BEBA8EAE-BF5A-486C-A8C5-ECC9F3942E4B}">
                  <a14:imgProps xmlns:a14="http://schemas.microsoft.com/office/drawing/2010/main">
                    <a14:imgLayer r:embed="rId4">
                      <a14:imgEffect>
                        <a14:colorTemperature colorTemp="5900"/>
                      </a14:imgEffect>
                      <a14:imgEffect>
                        <a14:saturation sat="120000"/>
                      </a14:imgEffect>
                    </a14:imgLayer>
                  </a14:imgProps>
                </a:ext>
                <a:ext uri="{28A0092B-C50C-407E-A947-70E740481C1C}">
                  <a14:useLocalDpi xmlns:a14="http://schemas.microsoft.com/office/drawing/2010/main"/>
                </a:ext>
              </a:extLst>
            </a:blip>
            <a:srcRect/>
            <a:stretch>
              <a:fillRect l="-14000" r="-35000"/>
            </a:stretch>
          </a:blipFill>
          <a:ln>
            <a:noFill/>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grpSp>
        <p:nvGrpSpPr>
          <p:cNvPr id="2" name="组合 1"/>
          <p:cNvGrpSpPr/>
          <p:nvPr/>
        </p:nvGrpSpPr>
        <p:grpSpPr>
          <a:xfrm>
            <a:off x="2640569" y="1339"/>
            <a:ext cx="1867759" cy="6869605"/>
            <a:chOff x="2640569" y="1339"/>
            <a:chExt cx="1867759" cy="6869605"/>
          </a:xfrm>
        </p:grpSpPr>
        <p:sp>
          <p:nvSpPr>
            <p:cNvPr id="14364" name="Freeform 6"/>
            <p:cNvSpPr>
              <a:spLocks/>
            </p:cNvSpPr>
            <p:nvPr/>
          </p:nvSpPr>
          <p:spPr bwMode="auto">
            <a:xfrm>
              <a:off x="3392751" y="1339"/>
              <a:ext cx="1115577" cy="6869605"/>
            </a:xfrm>
            <a:custGeom>
              <a:avLst/>
              <a:gdLst>
                <a:gd name="T0" fmla="*/ 0 w 1457"/>
                <a:gd name="T1" fmla="*/ 0 h 9000"/>
                <a:gd name="T2" fmla="*/ 224 w 1457"/>
                <a:gd name="T3" fmla="*/ 0 h 9000"/>
                <a:gd name="T4" fmla="*/ 1457 w 1457"/>
                <a:gd name="T5" fmla="*/ 9000 h 9000"/>
                <a:gd name="T6" fmla="*/ 1233 w 1457"/>
                <a:gd name="T7" fmla="*/ 9000 h 9000"/>
                <a:gd name="T8" fmla="*/ 0 w 1457"/>
                <a:gd name="T9" fmla="*/ 0 h 9000"/>
              </a:gdLst>
              <a:ahLst/>
              <a:cxnLst>
                <a:cxn ang="0">
                  <a:pos x="T0" y="T1"/>
                </a:cxn>
                <a:cxn ang="0">
                  <a:pos x="T2" y="T3"/>
                </a:cxn>
                <a:cxn ang="0">
                  <a:pos x="T4" y="T5"/>
                </a:cxn>
                <a:cxn ang="0">
                  <a:pos x="T6" y="T7"/>
                </a:cxn>
                <a:cxn ang="0">
                  <a:pos x="T8" y="T9"/>
                </a:cxn>
              </a:cxnLst>
              <a:rect l="0" t="0" r="r" b="b"/>
              <a:pathLst>
                <a:path w="1457" h="9000">
                  <a:moveTo>
                    <a:pt x="0" y="0"/>
                  </a:moveTo>
                  <a:lnTo>
                    <a:pt x="224" y="0"/>
                  </a:lnTo>
                  <a:lnTo>
                    <a:pt x="1457" y="9000"/>
                  </a:lnTo>
                  <a:lnTo>
                    <a:pt x="1233" y="9000"/>
                  </a:lnTo>
                  <a:lnTo>
                    <a:pt x="0" y="0"/>
                  </a:lnTo>
                  <a:close/>
                </a:path>
              </a:pathLst>
            </a:custGeom>
            <a:solidFill>
              <a:schemeClr val="accent2"/>
            </a:solidFill>
            <a:ln>
              <a:noFill/>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65" name="矩形 12"/>
            <p:cNvSpPr>
              <a:spLocks noChangeArrowheads="1"/>
            </p:cNvSpPr>
            <p:nvPr/>
          </p:nvSpPr>
          <p:spPr bwMode="auto">
            <a:xfrm>
              <a:off x="2640569" y="5937859"/>
              <a:ext cx="1732873" cy="782331"/>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grpSp>
      <p:sp>
        <p:nvSpPr>
          <p:cNvPr id="14366" name="TextBox 98"/>
          <p:cNvSpPr txBox="1">
            <a:spLocks noChangeArrowheads="1"/>
          </p:cNvSpPr>
          <p:nvPr/>
        </p:nvSpPr>
        <p:spPr bwMode="auto">
          <a:xfrm>
            <a:off x="2800845" y="5977530"/>
            <a:ext cx="902934" cy="523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zh-CN" altLang="en-US" sz="2799"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目录</a:t>
            </a:r>
          </a:p>
        </p:txBody>
      </p:sp>
      <p:sp>
        <p:nvSpPr>
          <p:cNvPr id="14367" name="TextBox 104"/>
          <p:cNvSpPr txBox="1">
            <a:spLocks noChangeArrowheads="1"/>
          </p:cNvSpPr>
          <p:nvPr/>
        </p:nvSpPr>
        <p:spPr bwMode="auto">
          <a:xfrm>
            <a:off x="2854798" y="6359968"/>
            <a:ext cx="1180639" cy="36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en-US" altLang="zh-CN" sz="1799"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rPr>
              <a:t>Contents</a:t>
            </a:r>
            <a:endParaRPr kumimoji="0" lang="zh-CN" altLang="en-US" sz="1799"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pic>
        <p:nvPicPr>
          <p:cNvPr id="34" name="图片 33" descr="横版组合——透明.png"/>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8468075" y="127196"/>
            <a:ext cx="3429530" cy="7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灯片编号占位符 3">
            <a:extLst>
              <a:ext uri="{FF2B5EF4-FFF2-40B4-BE49-F238E27FC236}">
                <a16:creationId xmlns:a16="http://schemas.microsoft.com/office/drawing/2014/main" id="{23BC06AA-3BE5-88A5-A2B0-5B0825EABE9B}"/>
              </a:ext>
            </a:extLst>
          </p:cNvPr>
          <p:cNvSpPr>
            <a:spLocks noGrp="1"/>
          </p:cNvSpPr>
          <p:nvPr>
            <p:ph type="sldNum" sz="quarter" idx="4294967295"/>
          </p:nvPr>
        </p:nvSpPr>
        <p:spPr>
          <a:xfrm>
            <a:off x="8610600" y="6356350"/>
            <a:ext cx="2743200" cy="365125"/>
          </a:xfrm>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D0C70D4-B8A7-1C47-A003-56128FA9BF31}" type="slidenum">
              <a:rPr kumimoji="0" lang="zh-CN" altLang="en-US" sz="1200" b="1" i="0" u="none" strike="noStrike" kern="1200" cap="none" spc="0" normalizeH="0" baseline="0" noProof="0" smtClean="0">
                <a:ln>
                  <a:noFill/>
                </a:ln>
                <a:solidFill>
                  <a:prstClr val="black">
                    <a:tint val="75000"/>
                  </a:prstClr>
                </a:solidFill>
                <a:effectLst/>
                <a:uLnTx/>
                <a:uFillTx/>
                <a:latin typeface="Arial" panose="020B0604020202090204" pitchFamily="34" charset="0"/>
                <a:ea typeface="华文中宋" panose="02010600040101010101" charset="-122"/>
                <a:cs typeface="+mn-cs"/>
              </a:rPr>
              <a:t>31</a:t>
            </a:fld>
            <a:endParaRPr kumimoji="0" lang="en-US" altLang="zh-CN" sz="1200" b="1" i="0" u="none" strike="noStrike" kern="1200" cap="none" spc="0" normalizeH="0" baseline="0" noProof="0" dirty="0">
              <a:ln>
                <a:noFill/>
              </a:ln>
              <a:solidFill>
                <a:prstClr val="black">
                  <a:tint val="75000"/>
                </a:prstClr>
              </a:solidFill>
              <a:effectLst/>
              <a:uLnTx/>
              <a:uFillTx/>
              <a:latin typeface="Arial" panose="020B0604020202090204" pitchFamily="34" charset="0"/>
              <a:ea typeface="华文中宋" panose="02010600040101010101" charset="-122"/>
              <a:cs typeface="+mn-cs"/>
            </a:endParaRPr>
          </a:p>
        </p:txBody>
      </p:sp>
    </p:spTree>
    <p:extLst>
      <p:ext uri="{BB962C8B-B14F-4D97-AF65-F5344CB8AC3E}">
        <p14:creationId xmlns:p14="http://schemas.microsoft.com/office/powerpoint/2010/main" val="427090148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E951EB-31D5-9DD3-F364-DB16388043E8}"/>
              </a:ext>
            </a:extLst>
          </p:cNvPr>
          <p:cNvSpPr>
            <a:spLocks noGrp="1"/>
          </p:cNvSpPr>
          <p:nvPr>
            <p:ph type="title"/>
          </p:nvPr>
        </p:nvSpPr>
        <p:spPr/>
        <p:txBody>
          <a:bodyPr/>
          <a:lstStyle/>
          <a:p>
            <a:r>
              <a:rPr kumimoji="1" lang="zh-CN" altLang="en-US" dirty="0"/>
              <a:t>研究方案  </a:t>
            </a:r>
            <a:r>
              <a:rPr kumimoji="1" lang="zh-CN" altLang="en-US" sz="2400" dirty="0"/>
              <a:t>研究一  </a:t>
            </a:r>
            <a:r>
              <a:rPr kumimoji="1" lang="zh-CN" altLang="en-US" sz="2000" dirty="0"/>
              <a:t>实验</a:t>
            </a:r>
            <a:r>
              <a:rPr kumimoji="1" lang="en-US" altLang="zh-CN" sz="2000" dirty="0"/>
              <a:t>1</a:t>
            </a:r>
            <a:r>
              <a:rPr kumimoji="1" lang="zh-CN" altLang="en-US" sz="2000" dirty="0"/>
              <a:t>：</a:t>
            </a:r>
            <a:r>
              <a:rPr lang="zh-CN" altLang="zh-CN" sz="2000" kern="100" dirty="0">
                <a:effectLst/>
                <a:cs typeface="Times New Roman" panose="02020603050405020304" pitchFamily="18" charset="0"/>
              </a:rPr>
              <a:t>音乐偏好对驾驶员影响的调查研究</a:t>
            </a:r>
            <a:r>
              <a:rPr lang="zh-CN" altLang="zh-CN" sz="3600" dirty="0">
                <a:effectLst/>
              </a:rPr>
              <a:t> </a:t>
            </a:r>
            <a:endParaRPr kumimoji="1" lang="zh-CN" altLang="en-US" dirty="0"/>
          </a:p>
        </p:txBody>
      </p:sp>
      <p:sp>
        <p:nvSpPr>
          <p:cNvPr id="3" name="内容占位符 2">
            <a:extLst>
              <a:ext uri="{FF2B5EF4-FFF2-40B4-BE49-F238E27FC236}">
                <a16:creationId xmlns:a16="http://schemas.microsoft.com/office/drawing/2014/main" id="{90B39D07-8621-777D-9C5B-0BCB588B5465}"/>
              </a:ext>
            </a:extLst>
          </p:cNvPr>
          <p:cNvSpPr>
            <a:spLocks noGrp="1"/>
          </p:cNvSpPr>
          <p:nvPr>
            <p:ph idx="1"/>
          </p:nvPr>
        </p:nvSpPr>
        <p:spPr>
          <a:xfrm>
            <a:off x="339442" y="1106693"/>
            <a:ext cx="11362020" cy="4351338"/>
          </a:xfrm>
        </p:spPr>
        <p:txBody>
          <a:bodyPr/>
          <a:lstStyle/>
          <a:p>
            <a:pPr>
              <a:buFont typeface="Wingdings" pitchFamily="2" charset="2"/>
              <a:buChar char="n"/>
            </a:pPr>
            <a:r>
              <a:rPr kumimoji="1" lang="zh-CN" altLang="en-US" b="1" dirty="0">
                <a:solidFill>
                  <a:srgbClr val="4472C4"/>
                </a:solidFill>
              </a:rPr>
              <a:t>实验目的：</a:t>
            </a:r>
            <a:endParaRPr kumimoji="1" lang="en-US" altLang="zh-CN" b="1" dirty="0">
              <a:solidFill>
                <a:srgbClr val="4472C4"/>
              </a:solidFill>
            </a:endParaRPr>
          </a:p>
          <a:p>
            <a:pPr marL="457200" lvl="1" indent="0">
              <a:buNone/>
            </a:pPr>
            <a:r>
              <a:rPr kumimoji="1" lang="zh-CN" altLang="en-US" sz="1600" dirty="0"/>
              <a:t>探究音乐流派偏好、情绪调控能力和驾驶行为倾向之间的关系。</a:t>
            </a:r>
            <a:endParaRPr kumimoji="1" lang="en-US" altLang="zh-CN" sz="1600" dirty="0"/>
          </a:p>
        </p:txBody>
      </p:sp>
      <p:sp>
        <p:nvSpPr>
          <p:cNvPr id="4" name="内容占位符 2">
            <a:extLst>
              <a:ext uri="{FF2B5EF4-FFF2-40B4-BE49-F238E27FC236}">
                <a16:creationId xmlns:a16="http://schemas.microsoft.com/office/drawing/2014/main" id="{62F3EF7F-03C8-1DE6-BA27-0B778B032B98}"/>
              </a:ext>
            </a:extLst>
          </p:cNvPr>
          <p:cNvSpPr txBox="1">
            <a:spLocks/>
          </p:cNvSpPr>
          <p:nvPr/>
        </p:nvSpPr>
        <p:spPr>
          <a:xfrm>
            <a:off x="339442" y="2229756"/>
            <a:ext cx="12004957" cy="4351338"/>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n"/>
            </a:pPr>
            <a:r>
              <a:rPr kumimoji="1" lang="zh-CN" altLang="en-US" b="1" dirty="0">
                <a:solidFill>
                  <a:srgbClr val="4472C4"/>
                </a:solidFill>
              </a:rPr>
              <a:t>研究方法：</a:t>
            </a:r>
            <a:endParaRPr kumimoji="1" lang="en-US" altLang="zh-CN" b="1" dirty="0">
              <a:solidFill>
                <a:srgbClr val="4472C4"/>
              </a:solidFill>
            </a:endParaRPr>
          </a:p>
          <a:p>
            <a:pPr marL="457200" lvl="1" indent="0">
              <a:buNone/>
            </a:pPr>
            <a:r>
              <a:rPr kumimoji="1" lang="zh-CN" altLang="en-US" sz="1600" b="1" dirty="0"/>
              <a:t>被试：</a:t>
            </a:r>
            <a:endParaRPr kumimoji="1" lang="en-US" altLang="zh-CN" sz="1600" b="1" dirty="0"/>
          </a:p>
          <a:p>
            <a:pPr marL="1440000" lvl="1" indent="0">
              <a:buNone/>
            </a:pPr>
            <a:r>
              <a:rPr kumimoji="1" lang="zh-CN" altLang="en-US" sz="1600" dirty="0"/>
              <a:t>在</a:t>
            </a:r>
            <a:r>
              <a:rPr kumimoji="1" lang="en" altLang="zh-CN" sz="1600" dirty="0"/>
              <a:t>Qualtrics</a:t>
            </a:r>
            <a:r>
              <a:rPr kumimoji="1" lang="zh-CN" altLang="en-US" sz="1600" dirty="0"/>
              <a:t>网络平台分发问卷，收集驾驶员有效数据约</a:t>
            </a:r>
            <a:r>
              <a:rPr kumimoji="1" lang="en-US" altLang="zh-CN" sz="1600" dirty="0"/>
              <a:t>300</a:t>
            </a:r>
            <a:r>
              <a:rPr kumimoji="1" lang="zh-CN" altLang="en-US" sz="1600" dirty="0"/>
              <a:t>份</a:t>
            </a:r>
            <a:endParaRPr kumimoji="1" lang="en-US" altLang="zh-CN" sz="1600" dirty="0"/>
          </a:p>
          <a:p>
            <a:pPr marL="457200" lvl="1" indent="0">
              <a:buNone/>
            </a:pPr>
            <a:r>
              <a:rPr kumimoji="1" lang="zh-CN" altLang="en-US" sz="1600" b="1" dirty="0"/>
              <a:t>测量工具：</a:t>
            </a:r>
            <a:endParaRPr kumimoji="1" lang="en-US" altLang="zh-CN" sz="1600" b="1" dirty="0"/>
          </a:p>
          <a:p>
            <a:pPr marL="180000" lvl="1" indent="0">
              <a:buNone/>
            </a:pPr>
            <a:r>
              <a:rPr kumimoji="1" lang="en-US" altLang="zh-CN" dirty="0"/>
              <a:t>	</a:t>
            </a:r>
            <a:r>
              <a:rPr kumimoji="1" lang="zh-CN" altLang="en-US" dirty="0"/>
              <a:t>        </a:t>
            </a:r>
            <a:r>
              <a:rPr kumimoji="1" lang="zh-CN" altLang="en-US" sz="1600" dirty="0"/>
              <a:t>驾驶行为倾向</a:t>
            </a:r>
            <a:r>
              <a:rPr kumimoji="1" lang="en-US" altLang="zh-CN" sz="1600" dirty="0"/>
              <a:t>-DBQ</a:t>
            </a:r>
            <a:r>
              <a:rPr kumimoji="1" lang="en" altLang="zh-CN" sz="1600" dirty="0"/>
              <a:t> </a:t>
            </a:r>
            <a:r>
              <a:rPr kumimoji="1" lang="en" altLang="zh-CN" sz="1100" dirty="0">
                <a:solidFill>
                  <a:schemeClr val="tx1">
                    <a:lumMod val="50000"/>
                    <a:lumOff val="50000"/>
                  </a:schemeClr>
                </a:solidFill>
              </a:rPr>
              <a:t>(Shen</a:t>
            </a:r>
            <a:r>
              <a:rPr kumimoji="1" lang="zh-CN" altLang="en-US" sz="1100" dirty="0">
                <a:solidFill>
                  <a:schemeClr val="tx1">
                    <a:lumMod val="50000"/>
                    <a:lumOff val="50000"/>
                  </a:schemeClr>
                </a:solidFill>
              </a:rPr>
              <a:t>等</a:t>
            </a:r>
            <a:r>
              <a:rPr kumimoji="1" lang="en-US" altLang="zh-CN" sz="1100" dirty="0">
                <a:solidFill>
                  <a:schemeClr val="tx1">
                    <a:lumMod val="50000"/>
                    <a:lumOff val="50000"/>
                  </a:schemeClr>
                </a:solidFill>
              </a:rPr>
              <a:t>, 2018)</a:t>
            </a:r>
            <a:r>
              <a:rPr kumimoji="1" lang="zh-CN" altLang="en-US" sz="1600" dirty="0"/>
              <a:t>、情绪调控</a:t>
            </a:r>
            <a:r>
              <a:rPr kumimoji="1" lang="en-US" altLang="zh-CN" sz="1600" dirty="0"/>
              <a:t>-DERS</a:t>
            </a:r>
            <a:r>
              <a:rPr kumimoji="1" lang="zh-CN" altLang="en-US" sz="1600" dirty="0"/>
              <a:t> </a:t>
            </a:r>
            <a:r>
              <a:rPr kumimoji="1" lang="en" altLang="zh-CN" sz="1100" dirty="0">
                <a:solidFill>
                  <a:schemeClr val="tx1">
                    <a:lumMod val="50000"/>
                    <a:lumOff val="50000"/>
                  </a:schemeClr>
                </a:solidFill>
              </a:rPr>
              <a:t>(Kaufman</a:t>
            </a:r>
            <a:r>
              <a:rPr kumimoji="1" lang="zh-CN" altLang="en-US" sz="1100" dirty="0">
                <a:solidFill>
                  <a:schemeClr val="tx1">
                    <a:lumMod val="50000"/>
                    <a:lumOff val="50000"/>
                  </a:schemeClr>
                </a:solidFill>
              </a:rPr>
              <a:t>等</a:t>
            </a:r>
            <a:r>
              <a:rPr kumimoji="1" lang="en-US" altLang="zh-CN" sz="1100" dirty="0">
                <a:solidFill>
                  <a:schemeClr val="tx1">
                    <a:lumMod val="50000"/>
                    <a:lumOff val="50000"/>
                  </a:schemeClr>
                </a:solidFill>
              </a:rPr>
              <a:t>, 2016)</a:t>
            </a:r>
          </a:p>
          <a:p>
            <a:pPr marL="180000" lvl="1" indent="0">
              <a:buNone/>
            </a:pPr>
            <a:r>
              <a:rPr kumimoji="1" lang="en-US" altLang="zh-CN" sz="1600" dirty="0"/>
              <a:t>	        </a:t>
            </a:r>
            <a:r>
              <a:rPr kumimoji="1" lang="zh-CN" altLang="en-US" sz="1600" dirty="0"/>
              <a:t>文字版音乐偏好量表：</a:t>
            </a:r>
            <a:r>
              <a:rPr kumimoji="1" lang="en-US" altLang="zh-CN" sz="1600" dirty="0">
                <a:latin typeface="SimSun" panose="02010600030101010101" pitchFamily="2" charset="-122"/>
                <a:ea typeface="SimSun" panose="02010600030101010101" pitchFamily="2" charset="-122"/>
              </a:rPr>
              <a:t> 18</a:t>
            </a:r>
            <a:r>
              <a:rPr kumimoji="1" lang="zh-CN" altLang="en-US" sz="1600" dirty="0">
                <a:latin typeface="SimSun" panose="02010600030101010101" pitchFamily="2" charset="-122"/>
                <a:ea typeface="SimSun" panose="02010600030101010101" pitchFamily="2" charset="-122"/>
              </a:rPr>
              <a:t>类音乐流派，</a:t>
            </a:r>
            <a:r>
              <a:rPr lang="zh-CN" altLang="zh-CN" sz="1600" kern="100" dirty="0">
                <a:effectLst/>
                <a:latin typeface="Times New Roman" panose="02020603050405020304" pitchFamily="18" charset="0"/>
                <a:ea typeface="宋体" panose="02010600030101010101" pitchFamily="2" charset="-122"/>
              </a:rPr>
              <a:t>参与者需要对每个流派的音乐表示喜欢的程度，采用</a:t>
            </a:r>
            <a:r>
              <a:rPr lang="en-US" altLang="zh-CN" sz="1600" kern="100" dirty="0">
                <a:effectLst/>
                <a:latin typeface="Times New Roman" panose="02020603050405020304" pitchFamily="18" charset="0"/>
                <a:ea typeface="宋体" panose="02010600030101010101" pitchFamily="2" charset="-122"/>
              </a:rPr>
              <a:t>5</a:t>
            </a:r>
            <a:r>
              <a:rPr lang="zh-CN" altLang="zh-CN" sz="1600" kern="100" dirty="0">
                <a:effectLst/>
                <a:latin typeface="Times New Roman" panose="02020603050405020304" pitchFamily="18" charset="0"/>
                <a:ea typeface="宋体" panose="02010600030101010101" pitchFamily="2" charset="-122"/>
              </a:rPr>
              <a:t>点量表</a:t>
            </a:r>
            <a:endParaRPr kumimoji="1" lang="en-US" altLang="zh-CN" sz="1600" dirty="0"/>
          </a:p>
          <a:p>
            <a:pPr marL="180000" lvl="1" indent="0">
              <a:buNone/>
            </a:pPr>
            <a:r>
              <a:rPr kumimoji="1" lang="en-US" altLang="zh-CN" sz="1600" dirty="0"/>
              <a:t>	</a:t>
            </a:r>
            <a:r>
              <a:rPr kumimoji="1" lang="zh-CN" altLang="en-US" sz="1600" dirty="0"/>
              <a:t>        音频版音乐偏好量表：</a:t>
            </a:r>
            <a:r>
              <a:rPr kumimoji="1" lang="en-US" altLang="zh-CN" sz="1600" dirty="0">
                <a:latin typeface="SimSun" panose="02010600030101010101" pitchFamily="2" charset="-122"/>
                <a:ea typeface="SimSun" panose="02010600030101010101" pitchFamily="2" charset="-122"/>
              </a:rPr>
              <a:t>18</a:t>
            </a:r>
            <a:r>
              <a:rPr kumimoji="1" lang="zh-CN" altLang="en-US" sz="1600" dirty="0">
                <a:latin typeface="SimSun" panose="02010600030101010101" pitchFamily="2" charset="-122"/>
                <a:ea typeface="SimSun" panose="02010600030101010101" pitchFamily="2" charset="-122"/>
              </a:rPr>
              <a:t>类音乐流派，每个流派选取了</a:t>
            </a:r>
            <a:r>
              <a:rPr kumimoji="1" lang="en-US" altLang="zh-CN" sz="1600" dirty="0">
                <a:latin typeface="SimSun" panose="02010600030101010101" pitchFamily="2" charset="-122"/>
                <a:ea typeface="SimSun" panose="02010600030101010101" pitchFamily="2" charset="-122"/>
              </a:rPr>
              <a:t>2</a:t>
            </a:r>
            <a:r>
              <a:rPr kumimoji="1" lang="zh-CN" altLang="en-US" sz="1600" dirty="0">
                <a:latin typeface="SimSun" panose="02010600030101010101" pitchFamily="2" charset="-122"/>
                <a:ea typeface="SimSun" panose="02010600030101010101" pitchFamily="2" charset="-122"/>
              </a:rPr>
              <a:t>段音乐片段，每段约</a:t>
            </a:r>
            <a:r>
              <a:rPr kumimoji="1" lang="en-US" altLang="zh-CN" sz="1600" dirty="0">
                <a:latin typeface="SimSun" panose="02010600030101010101" pitchFamily="2" charset="-122"/>
                <a:ea typeface="SimSun" panose="02010600030101010101" pitchFamily="2" charset="-122"/>
              </a:rPr>
              <a:t>15s</a:t>
            </a:r>
            <a:r>
              <a:rPr kumimoji="1" lang="zh-CN" altLang="en-US" sz="1600" dirty="0">
                <a:latin typeface="SimSun" panose="02010600030101010101" pitchFamily="2" charset="-122"/>
                <a:ea typeface="SimSun" panose="02010600030101010101" pitchFamily="2" charset="-122"/>
              </a:rPr>
              <a:t>，</a:t>
            </a:r>
            <a:r>
              <a:rPr lang="zh-CN" altLang="zh-CN" sz="1600" kern="100" dirty="0">
                <a:effectLst/>
                <a:latin typeface="Times New Roman" panose="02020603050405020304" pitchFamily="18" charset="0"/>
                <a:ea typeface="宋体" panose="02010600030101010101" pitchFamily="2" charset="-122"/>
              </a:rPr>
              <a:t>采用</a:t>
            </a:r>
            <a:r>
              <a:rPr lang="en-US" altLang="zh-CN" sz="1600" kern="100" dirty="0">
                <a:effectLst/>
                <a:latin typeface="Times New Roman" panose="02020603050405020304" pitchFamily="18" charset="0"/>
                <a:ea typeface="宋体" panose="02010600030101010101" pitchFamily="2" charset="-122"/>
              </a:rPr>
              <a:t>5</a:t>
            </a:r>
            <a:r>
              <a:rPr lang="zh-CN" altLang="zh-CN" sz="1600" kern="100" dirty="0">
                <a:effectLst/>
                <a:latin typeface="Times New Roman" panose="02020603050405020304" pitchFamily="18" charset="0"/>
                <a:ea typeface="宋体" panose="02010600030101010101" pitchFamily="2" charset="-122"/>
              </a:rPr>
              <a:t>点量表</a:t>
            </a:r>
            <a:r>
              <a:rPr kumimoji="1" lang="zh-CN" altLang="en-US" sz="1600" dirty="0">
                <a:latin typeface="SimSun" panose="02010600030101010101" pitchFamily="2" charset="-122"/>
                <a:ea typeface="SimSun" panose="02010600030101010101" pitchFamily="2" charset="-122"/>
              </a:rPr>
              <a:t>。</a:t>
            </a:r>
            <a:endParaRPr kumimoji="1" lang="en-US" altLang="zh-CN" sz="1600" dirty="0">
              <a:latin typeface="SimSun" panose="02010600030101010101" pitchFamily="2" charset="-122"/>
              <a:ea typeface="SimSun" panose="02010600030101010101" pitchFamily="2" charset="-122"/>
            </a:endParaRPr>
          </a:p>
          <a:p>
            <a:pPr marL="180000" lvl="1" indent="0">
              <a:buNone/>
            </a:pPr>
            <a:r>
              <a:rPr kumimoji="1" lang="en-US" altLang="zh-CN" sz="1600" dirty="0">
                <a:latin typeface="SimSun" panose="02010600030101010101" pitchFamily="2" charset="-122"/>
                <a:ea typeface="SimSun" panose="02010600030101010101" pitchFamily="2" charset="-122"/>
              </a:rPr>
              <a:t>	</a:t>
            </a:r>
            <a:r>
              <a:rPr kumimoji="1" lang="zh-CN" altLang="en-US" sz="1600" dirty="0">
                <a:latin typeface="SimSun" panose="02010600030101010101" pitchFamily="2" charset="-122"/>
                <a:ea typeface="SimSun" panose="02010600030101010101" pitchFamily="2" charset="-122"/>
              </a:rPr>
              <a:t>    音乐片段来自两个来源：</a:t>
            </a:r>
            <a:r>
              <a:rPr kumimoji="1" lang="en" altLang="zh-CN" sz="1600" dirty="0" err="1">
                <a:latin typeface="SimSun" panose="02010600030101010101" pitchFamily="2" charset="-122"/>
                <a:ea typeface="SimSun" panose="02010600030101010101" pitchFamily="2" charset="-122"/>
              </a:rPr>
              <a:t>Rentfrow</a:t>
            </a:r>
            <a:r>
              <a:rPr kumimoji="1" lang="zh-CN" altLang="en-US" sz="1600" dirty="0">
                <a:latin typeface="SimSun" panose="02010600030101010101" pitchFamily="2" charset="-122"/>
                <a:ea typeface="SimSun" panose="02010600030101010101" pitchFamily="2" charset="-122"/>
              </a:rPr>
              <a:t>等 </a:t>
            </a:r>
            <a:r>
              <a:rPr kumimoji="1" lang="en-US" altLang="zh-CN" sz="1600" dirty="0">
                <a:latin typeface="SimSun" panose="02010600030101010101" pitchFamily="2" charset="-122"/>
                <a:ea typeface="SimSun" panose="02010600030101010101" pitchFamily="2" charset="-122"/>
              </a:rPr>
              <a:t>(2011) </a:t>
            </a:r>
            <a:r>
              <a:rPr kumimoji="1" lang="zh-CN" altLang="en-US" sz="1600" dirty="0">
                <a:latin typeface="SimSun" panose="02010600030101010101" pitchFamily="2" charset="-122"/>
                <a:ea typeface="SimSun" panose="02010600030101010101" pitchFamily="2" charset="-122"/>
              </a:rPr>
              <a:t>提供的音频材料库 </a:t>
            </a:r>
            <a:r>
              <a:rPr kumimoji="1" lang="en-US" altLang="zh-CN" sz="1600" dirty="0">
                <a:latin typeface="SimSun" panose="02010600030101010101" pitchFamily="2" charset="-122"/>
                <a:ea typeface="SimSun" panose="02010600030101010101" pitchFamily="2" charset="-122"/>
              </a:rPr>
              <a:t>&amp;</a:t>
            </a:r>
            <a:r>
              <a:rPr lang="en-US" altLang="zh-CN" sz="1600" kern="100" dirty="0">
                <a:effectLst/>
                <a:latin typeface="Times New Roman" panose="02020603050405020304" pitchFamily="18" charset="0"/>
                <a:ea typeface="宋体" panose="02010600030101010101" pitchFamily="2" charset="-122"/>
              </a:rPr>
              <a:t> QQ</a:t>
            </a:r>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音乐上</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评论数</a:t>
            </a:r>
            <a:r>
              <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&lt;100</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的音乐</a:t>
            </a:r>
            <a:r>
              <a:rPr kumimoji="1" lang="zh-CN" altLang="en-US" sz="1600" dirty="0">
                <a:latin typeface="SimSun" panose="02010600030101010101" pitchFamily="2" charset="-122"/>
                <a:ea typeface="SimSun" panose="02010600030101010101" pitchFamily="2" charset="-122"/>
              </a:rPr>
              <a:t>。</a:t>
            </a:r>
            <a:endParaRPr kumimoji="1" lang="en-US" altLang="zh-CN" sz="1600" dirty="0">
              <a:latin typeface="SimSun" panose="02010600030101010101" pitchFamily="2" charset="-122"/>
              <a:ea typeface="SimSun" panose="02010600030101010101" pitchFamily="2" charset="-122"/>
            </a:endParaRPr>
          </a:p>
          <a:p>
            <a:pPr marL="180000" lvl="1" indent="0">
              <a:buNone/>
            </a:pPr>
            <a:r>
              <a:rPr kumimoji="1" lang="en-US" altLang="zh-CN" sz="1600" dirty="0">
                <a:latin typeface="SimSun" panose="02010600030101010101" pitchFamily="2" charset="-122"/>
                <a:ea typeface="SimSun" panose="02010600030101010101" pitchFamily="2" charset="-122"/>
              </a:rPr>
              <a:t>	</a:t>
            </a:r>
            <a:endParaRPr kumimoji="1" lang="en-US" altLang="zh-CN" dirty="0">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40241489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E951EB-31D5-9DD3-F364-DB16388043E8}"/>
              </a:ext>
            </a:extLst>
          </p:cNvPr>
          <p:cNvSpPr>
            <a:spLocks noGrp="1"/>
          </p:cNvSpPr>
          <p:nvPr>
            <p:ph type="title"/>
          </p:nvPr>
        </p:nvSpPr>
        <p:spPr/>
        <p:txBody>
          <a:bodyPr/>
          <a:lstStyle/>
          <a:p>
            <a:r>
              <a:rPr kumimoji="1" lang="zh-CN" altLang="en-US" dirty="0"/>
              <a:t>研究方案  </a:t>
            </a:r>
            <a:r>
              <a:rPr kumimoji="1" lang="zh-CN" altLang="en-US" sz="2400" dirty="0"/>
              <a:t>研究一  </a:t>
            </a:r>
            <a:r>
              <a:rPr kumimoji="1" lang="zh-CN" altLang="en-US" sz="2000" dirty="0"/>
              <a:t>实验</a:t>
            </a:r>
            <a:r>
              <a:rPr kumimoji="1" lang="en-US" altLang="zh-CN" sz="2000" dirty="0"/>
              <a:t>1</a:t>
            </a:r>
            <a:r>
              <a:rPr kumimoji="1" lang="zh-CN" altLang="en-US" sz="2000" dirty="0"/>
              <a:t>：</a:t>
            </a:r>
            <a:r>
              <a:rPr lang="zh-CN" altLang="zh-CN" sz="2000" kern="100" dirty="0">
                <a:effectLst/>
                <a:cs typeface="Times New Roman" panose="02020603050405020304" pitchFamily="18" charset="0"/>
              </a:rPr>
              <a:t>音乐偏好对驾驶员影响的调查研究</a:t>
            </a:r>
            <a:r>
              <a:rPr lang="zh-CN" altLang="zh-CN" sz="3600" dirty="0">
                <a:effectLst/>
              </a:rPr>
              <a:t> </a:t>
            </a:r>
            <a:endParaRPr kumimoji="1" lang="zh-CN" altLang="en-US" dirty="0"/>
          </a:p>
        </p:txBody>
      </p:sp>
      <p:sp>
        <p:nvSpPr>
          <p:cNvPr id="3" name="内容占位符 2">
            <a:extLst>
              <a:ext uri="{FF2B5EF4-FFF2-40B4-BE49-F238E27FC236}">
                <a16:creationId xmlns:a16="http://schemas.microsoft.com/office/drawing/2014/main" id="{90B39D07-8621-777D-9C5B-0BCB588B5465}"/>
              </a:ext>
            </a:extLst>
          </p:cNvPr>
          <p:cNvSpPr>
            <a:spLocks noGrp="1"/>
          </p:cNvSpPr>
          <p:nvPr>
            <p:ph idx="1"/>
          </p:nvPr>
        </p:nvSpPr>
        <p:spPr>
          <a:xfrm>
            <a:off x="339441" y="1106693"/>
            <a:ext cx="11640523" cy="4351338"/>
          </a:xfrm>
        </p:spPr>
        <p:txBody>
          <a:bodyPr/>
          <a:lstStyle/>
          <a:p>
            <a:pPr>
              <a:buFont typeface="Wingdings" pitchFamily="2" charset="2"/>
              <a:buChar char="n"/>
            </a:pPr>
            <a:r>
              <a:rPr kumimoji="1" lang="zh-CN" altLang="en-US" b="1" dirty="0">
                <a:solidFill>
                  <a:srgbClr val="4472C4"/>
                </a:solidFill>
              </a:rPr>
              <a:t>数据分析：</a:t>
            </a:r>
            <a:endParaRPr kumimoji="1" lang="en-US" altLang="zh-CN" b="1" dirty="0">
              <a:solidFill>
                <a:srgbClr val="4472C4"/>
              </a:solidFill>
            </a:endParaRPr>
          </a:p>
          <a:p>
            <a:pPr marL="900000" indent="0">
              <a:buNone/>
            </a:pPr>
            <a:r>
              <a:rPr kumimoji="1" lang="en-US" altLang="zh-CN" b="1" dirty="0">
                <a:solidFill>
                  <a:srgbClr val="4472C4"/>
                </a:solidFill>
              </a:rPr>
              <a:t>	</a:t>
            </a:r>
            <a:r>
              <a:rPr kumimoji="1" lang="zh-CN" altLang="en-US" sz="1600" b="1" dirty="0">
                <a:latin typeface="+mj-ea"/>
                <a:ea typeface="+mj-ea"/>
              </a:rPr>
              <a:t>相关检验：</a:t>
            </a:r>
            <a:r>
              <a:rPr kumimoji="1" lang="zh-CN" altLang="en-US" sz="1600" dirty="0">
                <a:latin typeface="+mj-ea"/>
                <a:ea typeface="+mj-ea"/>
              </a:rPr>
              <a:t>使用皮尔逊相关系数或斯皮尔曼等级相关系数，探究音乐偏好、情绪调控能力与驾驶行为之间的相关关系。</a:t>
            </a:r>
            <a:endParaRPr kumimoji="1" lang="en-US" altLang="zh-CN" sz="1600" dirty="0">
              <a:latin typeface="+mj-ea"/>
              <a:ea typeface="+mj-ea"/>
            </a:endParaRPr>
          </a:p>
          <a:p>
            <a:pPr marL="0" indent="0">
              <a:buNone/>
            </a:pPr>
            <a:r>
              <a:rPr kumimoji="1" lang="en-US" altLang="zh-CN" sz="1600" dirty="0">
                <a:latin typeface="+mj-ea"/>
                <a:ea typeface="+mj-ea"/>
              </a:rPr>
              <a:t>	</a:t>
            </a:r>
            <a:r>
              <a:rPr kumimoji="1" lang="zh-CN" altLang="en-US" sz="1600" b="1" dirty="0">
                <a:latin typeface="+mj-ea"/>
                <a:ea typeface="+mj-ea"/>
              </a:rPr>
              <a:t>多元回归分析：</a:t>
            </a:r>
            <a:r>
              <a:rPr kumimoji="1" lang="zh-CN" altLang="en-US" sz="1600" dirty="0">
                <a:latin typeface="+mj-ea"/>
                <a:ea typeface="+mj-ea"/>
              </a:rPr>
              <a:t>验证情绪调控能力在音乐偏好和驾驶行为倾向间的调节效应</a:t>
            </a:r>
            <a:endParaRPr kumimoji="1" lang="en-US" altLang="zh-CN" sz="1600" dirty="0">
              <a:latin typeface="+mj-ea"/>
              <a:ea typeface="+mj-ea"/>
            </a:endParaRPr>
          </a:p>
        </p:txBody>
      </p:sp>
      <p:sp>
        <p:nvSpPr>
          <p:cNvPr id="5" name="内容占位符 2">
            <a:extLst>
              <a:ext uri="{FF2B5EF4-FFF2-40B4-BE49-F238E27FC236}">
                <a16:creationId xmlns:a16="http://schemas.microsoft.com/office/drawing/2014/main" id="{1CA470E9-177D-576D-DAF9-A0D80DA2F840}"/>
              </a:ext>
            </a:extLst>
          </p:cNvPr>
          <p:cNvSpPr txBox="1">
            <a:spLocks/>
          </p:cNvSpPr>
          <p:nvPr/>
        </p:nvSpPr>
        <p:spPr>
          <a:xfrm>
            <a:off x="339441" y="3429000"/>
            <a:ext cx="11362020" cy="4351338"/>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n"/>
            </a:pPr>
            <a:r>
              <a:rPr kumimoji="1" lang="zh-CN" altLang="en-US" b="1" dirty="0">
                <a:solidFill>
                  <a:srgbClr val="4472C4"/>
                </a:solidFill>
              </a:rPr>
              <a:t>预期结果：</a:t>
            </a:r>
            <a:endParaRPr kumimoji="1" lang="en-US" altLang="zh-CN" b="1" dirty="0">
              <a:solidFill>
                <a:srgbClr val="4472C4"/>
              </a:solidFill>
            </a:endParaRPr>
          </a:p>
          <a:p>
            <a:pPr marL="0" indent="0">
              <a:buFont typeface="Arial" panose="020B0604020202020204" pitchFamily="34" charset="0"/>
              <a:buNone/>
            </a:pPr>
            <a:r>
              <a:rPr kumimoji="1" lang="en-US" altLang="zh-CN" b="1" dirty="0">
                <a:solidFill>
                  <a:srgbClr val="4472C4"/>
                </a:solidFill>
              </a:rPr>
              <a:t>	</a:t>
            </a:r>
            <a:r>
              <a:rPr kumimoji="1" lang="zh-CN" altLang="en-US" sz="1600" dirty="0"/>
              <a:t>更偏好摇滚乐等与更高的情绪调控困难和更高的危险驾驶行为倾向相关</a:t>
            </a:r>
            <a:endParaRPr kumimoji="1" lang="en-US" altLang="zh-CN" sz="1600" dirty="0">
              <a:latin typeface="+mj-ea"/>
              <a:ea typeface="+mj-ea"/>
            </a:endParaRPr>
          </a:p>
          <a:p>
            <a:pPr marL="457200" indent="0">
              <a:buFont typeface="Arial" panose="020B0604020202020204" pitchFamily="34" charset="0"/>
              <a:buNone/>
            </a:pPr>
            <a:r>
              <a:rPr kumimoji="1" lang="en-US" altLang="zh-CN" sz="1600" dirty="0">
                <a:latin typeface="+mj-ea"/>
                <a:ea typeface="+mj-ea"/>
              </a:rPr>
              <a:t>	</a:t>
            </a:r>
            <a:r>
              <a:rPr kumimoji="1" lang="zh-CN" altLang="en-US" sz="1600" dirty="0">
                <a:latin typeface="+mj-ea"/>
                <a:ea typeface="+mj-ea"/>
              </a:rPr>
              <a:t>音乐偏好将与驾驶行为倾向有显著关联。且这一关系预期会受到情绪调控能力的调节。在情绪调控能力较高的个体中，音乐偏好与驾驶行为倾向的关联可能会减弱或消失，而在情绪调控能力较低的个体中，这种关联可能更为显著。</a:t>
            </a:r>
            <a:endParaRPr kumimoji="1" lang="en-US" altLang="zh-CN" sz="1600" dirty="0">
              <a:latin typeface="+mj-ea"/>
              <a:ea typeface="+mj-ea"/>
            </a:endParaRPr>
          </a:p>
        </p:txBody>
      </p:sp>
    </p:spTree>
    <p:extLst>
      <p:ext uri="{BB962C8B-B14F-4D97-AF65-F5344CB8AC3E}">
        <p14:creationId xmlns:p14="http://schemas.microsoft.com/office/powerpoint/2010/main" val="21660579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046F4B-3102-7405-7E5A-E41299B2E975}"/>
              </a:ext>
            </a:extLst>
          </p:cNvPr>
          <p:cNvSpPr>
            <a:spLocks noGrp="1"/>
          </p:cNvSpPr>
          <p:nvPr>
            <p:ph type="title"/>
          </p:nvPr>
        </p:nvSpPr>
        <p:spPr/>
        <p:txBody>
          <a:bodyPr/>
          <a:lstStyle/>
          <a:p>
            <a:r>
              <a:rPr kumimoji="1" lang="zh-CN" altLang="en-US" dirty="0"/>
              <a:t>研究方案 </a:t>
            </a:r>
            <a:r>
              <a:rPr kumimoji="1" lang="zh-CN" altLang="en-US" sz="2400" dirty="0"/>
              <a:t>研究二  </a:t>
            </a:r>
            <a:r>
              <a:rPr kumimoji="1" lang="zh-CN" altLang="en-US" sz="2000" dirty="0"/>
              <a:t>实验</a:t>
            </a:r>
            <a:r>
              <a:rPr kumimoji="1" lang="en-US" altLang="zh-CN" sz="2000" dirty="0"/>
              <a:t>2:</a:t>
            </a:r>
            <a:r>
              <a:rPr kumimoji="1" lang="zh-CN" altLang="en-US" sz="2000" dirty="0"/>
              <a:t>音乐流派和音乐速度对车辆控制的影响</a:t>
            </a:r>
            <a:endParaRPr kumimoji="1" lang="zh-CN" altLang="en-US" dirty="0"/>
          </a:p>
        </p:txBody>
      </p:sp>
      <p:sp>
        <p:nvSpPr>
          <p:cNvPr id="3" name="内容占位符 2">
            <a:extLst>
              <a:ext uri="{FF2B5EF4-FFF2-40B4-BE49-F238E27FC236}">
                <a16:creationId xmlns:a16="http://schemas.microsoft.com/office/drawing/2014/main" id="{55B8300D-689B-BF2E-2B68-58D98E0156DB}"/>
              </a:ext>
            </a:extLst>
          </p:cNvPr>
          <p:cNvSpPr>
            <a:spLocks noGrp="1"/>
          </p:cNvSpPr>
          <p:nvPr>
            <p:ph idx="1"/>
          </p:nvPr>
        </p:nvSpPr>
        <p:spPr>
          <a:xfrm>
            <a:off x="339443" y="1123587"/>
            <a:ext cx="11513114" cy="1325563"/>
          </a:xfrm>
        </p:spPr>
        <p:txBody>
          <a:bodyPr>
            <a:normAutofit/>
          </a:bodyPr>
          <a:lstStyle/>
          <a:p>
            <a:pPr>
              <a:buFont typeface="Wingdings" pitchFamily="2" charset="2"/>
              <a:buChar char="n"/>
            </a:pPr>
            <a:r>
              <a:rPr kumimoji="1" lang="zh-CN" altLang="en-US" b="1" dirty="0">
                <a:solidFill>
                  <a:srgbClr val="4472C4"/>
                </a:solidFill>
              </a:rPr>
              <a:t>实验目的：</a:t>
            </a:r>
            <a:endParaRPr kumimoji="1" lang="en-US" altLang="zh-CN" b="1" dirty="0">
              <a:solidFill>
                <a:srgbClr val="4472C4"/>
              </a:solidFill>
            </a:endParaRPr>
          </a:p>
          <a:p>
            <a:pPr marL="457200" lvl="1" indent="0">
              <a:buNone/>
            </a:pPr>
            <a:r>
              <a:rPr kumimoji="1" lang="zh-CN" altLang="en-US" sz="1600" dirty="0"/>
              <a:t>旨在探究</a:t>
            </a:r>
            <a:r>
              <a:rPr kumimoji="1" lang="zh-CN" altLang="en-US" sz="1600" b="1" dirty="0"/>
              <a:t>音乐流派</a:t>
            </a:r>
            <a:r>
              <a:rPr kumimoji="1" lang="zh-CN" altLang="en-US" sz="1600" dirty="0"/>
              <a:t>和</a:t>
            </a:r>
            <a:r>
              <a:rPr kumimoji="1" lang="zh-CN" altLang="en-US" sz="1600" b="1" dirty="0"/>
              <a:t>音乐速度</a:t>
            </a:r>
            <a:r>
              <a:rPr kumimoji="1" lang="zh-CN" altLang="en-US" sz="1600" dirty="0"/>
              <a:t>对</a:t>
            </a:r>
            <a:r>
              <a:rPr kumimoji="1" lang="zh-CN" altLang="en-US" sz="1600" b="1" dirty="0"/>
              <a:t>无风险情境</a:t>
            </a:r>
            <a:r>
              <a:rPr kumimoji="1" lang="zh-CN" altLang="en-US" sz="1600" dirty="0"/>
              <a:t>下，对</a:t>
            </a:r>
            <a:r>
              <a:rPr kumimoji="1" lang="zh-CN" altLang="en-US" sz="1600" b="1" dirty="0"/>
              <a:t>车辆控制</a:t>
            </a:r>
            <a:r>
              <a:rPr kumimoji="1" lang="zh-CN" altLang="en-US" sz="1600" dirty="0"/>
              <a:t>驾驶行为的影响</a:t>
            </a:r>
          </a:p>
        </p:txBody>
      </p:sp>
      <p:sp>
        <p:nvSpPr>
          <p:cNvPr id="4" name="内容占位符 2">
            <a:extLst>
              <a:ext uri="{FF2B5EF4-FFF2-40B4-BE49-F238E27FC236}">
                <a16:creationId xmlns:a16="http://schemas.microsoft.com/office/drawing/2014/main" id="{38116242-4345-29C1-F7BA-71D6769FC9D8}"/>
              </a:ext>
            </a:extLst>
          </p:cNvPr>
          <p:cNvSpPr txBox="1">
            <a:spLocks/>
          </p:cNvSpPr>
          <p:nvPr/>
        </p:nvSpPr>
        <p:spPr>
          <a:xfrm>
            <a:off x="339443" y="2114948"/>
            <a:ext cx="11950093" cy="4940341"/>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n"/>
            </a:pPr>
            <a:r>
              <a:rPr kumimoji="1" lang="zh-CN" altLang="en-US" b="1" dirty="0">
                <a:solidFill>
                  <a:srgbClr val="4472C4"/>
                </a:solidFill>
              </a:rPr>
              <a:t>研究方法：</a:t>
            </a:r>
            <a:endParaRPr kumimoji="1" lang="en-US" altLang="zh-CN" b="1" dirty="0">
              <a:solidFill>
                <a:srgbClr val="4472C4"/>
              </a:solidFill>
            </a:endParaRPr>
          </a:p>
          <a:p>
            <a:pPr marL="457200" lvl="1" indent="0">
              <a:buFont typeface="Arial" panose="020B0604020202020204" pitchFamily="34" charset="0"/>
              <a:buNone/>
            </a:pPr>
            <a:r>
              <a:rPr kumimoji="1" lang="zh-CN" altLang="en-US" sz="1600" b="1" dirty="0"/>
              <a:t>实验设计：</a:t>
            </a:r>
            <a:r>
              <a:rPr lang="en-US" altLang="zh-CN" sz="1600" kern="100" dirty="0">
                <a:effectLst/>
                <a:latin typeface="Microsoft YaHei" panose="020B0503020204020204" pitchFamily="34" charset="-122"/>
              </a:rPr>
              <a:t> 3</a:t>
            </a:r>
            <a:r>
              <a:rPr lang="zh-CN" altLang="en-US" sz="1600" kern="100" dirty="0">
                <a:effectLst/>
                <a:latin typeface="Microsoft YaHei" panose="020B0503020204020204" pitchFamily="34" charset="-122"/>
              </a:rPr>
              <a:t>（组间</a:t>
            </a:r>
            <a:r>
              <a:rPr lang="en-US" altLang="zh-CN" sz="1600" kern="100" dirty="0">
                <a:effectLst/>
                <a:latin typeface="Microsoft YaHei" panose="020B0503020204020204" pitchFamily="34" charset="-122"/>
              </a:rPr>
              <a:t>-</a:t>
            </a:r>
            <a:r>
              <a:rPr lang="zh-CN" altLang="en-US" sz="1600" b="1" kern="100" dirty="0">
                <a:effectLst/>
                <a:latin typeface="Microsoft YaHei" panose="020B0503020204020204" pitchFamily="34" charset="-122"/>
              </a:rPr>
              <a:t>音乐流派</a:t>
            </a:r>
            <a:r>
              <a:rPr lang="zh-CN" altLang="en-US" sz="1600" kern="100" dirty="0">
                <a:effectLst/>
                <a:latin typeface="Microsoft YaHei" panose="020B0503020204020204" pitchFamily="34" charset="-122"/>
              </a:rPr>
              <a:t>：</a:t>
            </a:r>
            <a:r>
              <a:rPr lang="zh-CN" altLang="en-US" sz="1600" kern="100" dirty="0">
                <a:effectLst/>
                <a:latin typeface="SimSun" panose="02010600030101010101" pitchFamily="2" charset="-122"/>
                <a:ea typeface="SimSun" panose="02010600030101010101" pitchFamily="2" charset="-122"/>
              </a:rPr>
              <a:t>摇滚</a:t>
            </a:r>
            <a:r>
              <a:rPr lang="en-US" altLang="zh-CN" sz="1600" kern="100" dirty="0">
                <a:effectLst/>
                <a:latin typeface="SimSun" panose="02010600030101010101" pitchFamily="2" charset="-122"/>
                <a:ea typeface="SimSun" panose="02010600030101010101" pitchFamily="2" charset="-122"/>
              </a:rPr>
              <a:t>/</a:t>
            </a:r>
            <a:r>
              <a:rPr lang="zh-CN" altLang="en-US" sz="1600" kern="100" dirty="0">
                <a:effectLst/>
                <a:latin typeface="SimSun" panose="02010600030101010101" pitchFamily="2" charset="-122"/>
                <a:ea typeface="SimSun" panose="02010600030101010101" pitchFamily="2" charset="-122"/>
              </a:rPr>
              <a:t>古典</a:t>
            </a:r>
            <a:r>
              <a:rPr lang="en-US" altLang="zh-CN" sz="1600" kern="100" dirty="0">
                <a:effectLst/>
                <a:latin typeface="SimSun" panose="02010600030101010101" pitchFamily="2" charset="-122"/>
                <a:ea typeface="SimSun" panose="02010600030101010101" pitchFamily="2" charset="-122"/>
              </a:rPr>
              <a:t>/</a:t>
            </a:r>
            <a:r>
              <a:rPr lang="zh-CN" altLang="en-US" sz="1600" kern="100" dirty="0">
                <a:effectLst/>
                <a:latin typeface="SimSun" panose="02010600030101010101" pitchFamily="2" charset="-122"/>
                <a:ea typeface="SimSun" panose="02010600030101010101" pitchFamily="2" charset="-122"/>
              </a:rPr>
              <a:t>流行</a:t>
            </a:r>
            <a:r>
              <a:rPr lang="zh-CN" altLang="en-US" sz="1600" kern="100" dirty="0">
                <a:effectLst/>
                <a:latin typeface="Microsoft YaHei" panose="020B0503020204020204" pitchFamily="34" charset="-122"/>
              </a:rPr>
              <a:t>）</a:t>
            </a:r>
            <a:r>
              <a:rPr lang="en-US" altLang="zh-CN" sz="1600" kern="100" dirty="0">
                <a:effectLst/>
                <a:latin typeface="Microsoft YaHei" panose="020B0503020204020204" pitchFamily="34" charset="-122"/>
              </a:rPr>
              <a:t>*3</a:t>
            </a:r>
            <a:r>
              <a:rPr lang="zh-CN" altLang="en-US" sz="1600" kern="100" dirty="0">
                <a:effectLst/>
                <a:latin typeface="Microsoft YaHei" panose="020B0503020204020204" pitchFamily="34" charset="-122"/>
              </a:rPr>
              <a:t>（组内</a:t>
            </a:r>
            <a:r>
              <a:rPr lang="en-US" altLang="zh-CN" sz="1600" kern="100" dirty="0">
                <a:latin typeface="Microsoft YaHei" panose="020B0503020204020204" pitchFamily="34" charset="-122"/>
              </a:rPr>
              <a:t>-</a:t>
            </a:r>
            <a:r>
              <a:rPr lang="zh-CN" altLang="en-US" sz="1600" b="1" kern="100" dirty="0">
                <a:latin typeface="Microsoft YaHei" panose="020B0503020204020204" pitchFamily="34" charset="-122"/>
              </a:rPr>
              <a:t>速度</a:t>
            </a:r>
            <a:r>
              <a:rPr lang="zh-CN" altLang="en-US" sz="1600" kern="100" dirty="0">
                <a:latin typeface="Microsoft YaHei" panose="020B0503020204020204" pitchFamily="34" charset="-122"/>
              </a:rPr>
              <a:t>：</a:t>
            </a:r>
            <a:r>
              <a:rPr lang="zh-CN" altLang="en-US" sz="1600" kern="100" dirty="0">
                <a:latin typeface="SimSun" panose="02010600030101010101" pitchFamily="2" charset="-122"/>
                <a:ea typeface="SimSun" panose="02010600030101010101" pitchFamily="2" charset="-122"/>
              </a:rPr>
              <a:t>慢</a:t>
            </a:r>
            <a:r>
              <a:rPr lang="en-US" altLang="zh-CN" sz="1600" kern="100" dirty="0">
                <a:latin typeface="SimSun" panose="02010600030101010101" pitchFamily="2" charset="-122"/>
                <a:ea typeface="SimSun" panose="02010600030101010101" pitchFamily="2" charset="-122"/>
              </a:rPr>
              <a:t>/</a:t>
            </a:r>
            <a:r>
              <a:rPr lang="zh-CN" altLang="en-US" sz="1600" kern="100" dirty="0">
                <a:latin typeface="SimSun" panose="02010600030101010101" pitchFamily="2" charset="-122"/>
                <a:ea typeface="SimSun" panose="02010600030101010101" pitchFamily="2" charset="-122"/>
              </a:rPr>
              <a:t>中</a:t>
            </a:r>
            <a:r>
              <a:rPr lang="en-US" altLang="zh-CN" sz="1600" kern="100" dirty="0">
                <a:latin typeface="SimSun" panose="02010600030101010101" pitchFamily="2" charset="-122"/>
                <a:ea typeface="SimSun" panose="02010600030101010101" pitchFamily="2" charset="-122"/>
              </a:rPr>
              <a:t>/</a:t>
            </a:r>
            <a:r>
              <a:rPr lang="zh-CN" altLang="en-US" sz="1600" kern="100" dirty="0">
                <a:latin typeface="SimSun" panose="02010600030101010101" pitchFamily="2" charset="-122"/>
                <a:ea typeface="SimSun" panose="02010600030101010101" pitchFamily="2" charset="-122"/>
              </a:rPr>
              <a:t>快</a:t>
            </a:r>
            <a:r>
              <a:rPr lang="zh-CN" altLang="en-US" sz="1600" kern="100" dirty="0">
                <a:effectLst/>
                <a:latin typeface="Microsoft YaHei" panose="020B0503020204020204" pitchFamily="34" charset="-122"/>
              </a:rPr>
              <a:t>）</a:t>
            </a:r>
            <a:r>
              <a:rPr lang="zh-CN" altLang="zh-CN" sz="1600" kern="100" dirty="0">
                <a:effectLst/>
                <a:latin typeface="Microsoft YaHei" panose="020B0503020204020204" pitchFamily="34" charset="-122"/>
                <a:cs typeface="Times New Roman" panose="02020603050405020304" pitchFamily="18" charset="0"/>
              </a:rPr>
              <a:t>混合实验设计</a:t>
            </a:r>
            <a:r>
              <a:rPr lang="zh-CN" altLang="zh-CN" sz="1600" dirty="0">
                <a:effectLst/>
                <a:latin typeface="Microsoft YaHei" panose="020B0503020204020204" pitchFamily="34" charset="-122"/>
              </a:rPr>
              <a:t> </a:t>
            </a:r>
            <a:endParaRPr kumimoji="1" lang="en-US" altLang="zh-CN" sz="1600" b="1" dirty="0">
              <a:latin typeface="Microsoft YaHei" panose="020B0503020204020204" pitchFamily="34" charset="-122"/>
            </a:endParaRPr>
          </a:p>
          <a:p>
            <a:pPr marL="1440000" lvl="1" indent="0">
              <a:spcBef>
                <a:spcPts val="0"/>
              </a:spcBef>
              <a:buFont typeface="Arial" panose="020B0604020202020204" pitchFamily="34" charset="0"/>
              <a:buNone/>
            </a:pPr>
            <a:r>
              <a:rPr kumimoji="1" lang="zh-CN" altLang="en-US" sz="1600" dirty="0">
                <a:latin typeface="Microsoft YaHei" panose="020B0503020204020204" pitchFamily="34" charset="-122"/>
              </a:rPr>
              <a:t>控制变量：驾驶经验、音乐偏好、性别</a:t>
            </a:r>
            <a:endParaRPr kumimoji="1" lang="en-US" altLang="zh-CN" sz="1600" dirty="0">
              <a:latin typeface="Microsoft YaHei" panose="020B0503020204020204" pitchFamily="34" charset="-122"/>
            </a:endParaRPr>
          </a:p>
          <a:p>
            <a:pPr marL="1440000" lvl="1" indent="0">
              <a:spcBef>
                <a:spcPts val="0"/>
              </a:spcBef>
              <a:buFont typeface="Arial" panose="020B0604020202020204" pitchFamily="34" charset="0"/>
              <a:buNone/>
            </a:pPr>
            <a:r>
              <a:rPr kumimoji="1" lang="zh-CN" altLang="en-US" sz="1600" dirty="0">
                <a:latin typeface="Microsoft YaHei" panose="020B0503020204020204" pitchFamily="34" charset="-122"/>
              </a:rPr>
              <a:t>因变量：驾驶行为（</a:t>
            </a:r>
            <a:r>
              <a:rPr lang="zh-CN" altLang="en-US" sz="1600" kern="100" dirty="0">
                <a:latin typeface="SimSun" panose="02010600030101010101" pitchFamily="2" charset="-122"/>
                <a:ea typeface="SimSun" panose="02010600030101010101" pitchFamily="2" charset="-122"/>
              </a:rPr>
              <a:t>速度、速度标准差、横向位置标准差、制动踏板位置</a:t>
            </a:r>
            <a:r>
              <a:rPr lang="en-US" altLang="zh-CN" sz="1600" kern="100" dirty="0">
                <a:latin typeface="SimSun" panose="02010600030101010101" pitchFamily="2" charset="-122"/>
                <a:ea typeface="SimSun" panose="02010600030101010101" pitchFamily="2" charset="-122"/>
              </a:rPr>
              <a:t>/</a:t>
            </a:r>
            <a:r>
              <a:rPr lang="zh-CN" altLang="en-US" sz="1600" kern="100" dirty="0">
                <a:latin typeface="SimSun" panose="02010600030101010101" pitchFamily="2" charset="-122"/>
                <a:ea typeface="SimSun" panose="02010600030101010101" pitchFamily="2" charset="-122"/>
              </a:rPr>
              <a:t>制动踏板力、碰撞次数</a:t>
            </a:r>
            <a:r>
              <a:rPr kumimoji="1" lang="zh-CN" altLang="en-US" sz="1600" dirty="0">
                <a:latin typeface="Microsoft YaHei" panose="020B0503020204020204" pitchFamily="34" charset="-122"/>
              </a:rPr>
              <a:t>）；</a:t>
            </a:r>
            <a:endParaRPr kumimoji="1" lang="en-US" altLang="zh-CN" sz="1600" dirty="0">
              <a:latin typeface="Microsoft YaHei" panose="020B0503020204020204" pitchFamily="34" charset="-122"/>
            </a:endParaRPr>
          </a:p>
          <a:p>
            <a:pPr marL="1440000" lvl="1" indent="0">
              <a:spcBef>
                <a:spcPts val="0"/>
              </a:spcBef>
              <a:buFont typeface="Arial" panose="020B0604020202020204" pitchFamily="34" charset="0"/>
              <a:buNone/>
            </a:pPr>
            <a:r>
              <a:rPr kumimoji="1" lang="zh-CN" altLang="en-US" sz="1600" dirty="0">
                <a:latin typeface="Microsoft YaHei" panose="020B0503020204020204" pitchFamily="34" charset="-122"/>
              </a:rPr>
              <a:t>以无音乐为控制组，音乐条件顺序平衡</a:t>
            </a:r>
            <a:endParaRPr kumimoji="1" lang="en-US" altLang="zh-CN" sz="1600" dirty="0">
              <a:latin typeface="Microsoft YaHei" panose="020B0503020204020204" pitchFamily="34" charset="-122"/>
            </a:endParaRPr>
          </a:p>
          <a:p>
            <a:pPr marL="457200" lvl="1" indent="0">
              <a:buFont typeface="Arial" panose="020B0604020202020204" pitchFamily="34" charset="0"/>
              <a:buNone/>
            </a:pPr>
            <a:r>
              <a:rPr kumimoji="1" lang="zh-CN" altLang="en-US" sz="1600" b="1" dirty="0">
                <a:latin typeface="Microsoft YaHei" panose="020B0503020204020204" pitchFamily="34" charset="-122"/>
              </a:rPr>
              <a:t>被试：</a:t>
            </a:r>
            <a:endParaRPr kumimoji="1" lang="en-US" altLang="zh-CN" sz="1600" b="1" dirty="0">
              <a:latin typeface="Microsoft YaHei" panose="020B0503020204020204" pitchFamily="34" charset="-122"/>
            </a:endParaRPr>
          </a:p>
          <a:p>
            <a:pPr marL="1440000" lvl="1" indent="0">
              <a:spcBef>
                <a:spcPts val="0"/>
              </a:spcBef>
              <a:buFont typeface="Arial" panose="020B0604020202020204" pitchFamily="34" charset="0"/>
              <a:buNone/>
            </a:pPr>
            <a:r>
              <a:rPr lang="en-US" altLang="zh-CN" sz="1600" dirty="0">
                <a:latin typeface="微软雅黑" panose="020B0503020204020204" pitchFamily="34" charset="-122"/>
                <a:ea typeface="微软雅黑" panose="020B0503020204020204" pitchFamily="34" charset="-122"/>
              </a:rPr>
              <a:t>54</a:t>
            </a:r>
            <a:r>
              <a:rPr lang="zh-CN" altLang="en-US" sz="1600" dirty="0">
                <a:latin typeface="微软雅黑" panose="020B0503020204020204" pitchFamily="34" charset="-122"/>
                <a:ea typeface="微软雅黑" panose="020B0503020204020204" pitchFamily="34" charset="-122"/>
              </a:rPr>
              <a:t>名（</a:t>
            </a:r>
            <a:r>
              <a:rPr lang="en-US" altLang="zh-CN" sz="1600" dirty="0">
                <a:latin typeface="微软雅黑" panose="020B0503020204020204" pitchFamily="34" charset="-122"/>
                <a:ea typeface="微软雅黑" panose="020B0503020204020204" pitchFamily="34" charset="-122"/>
              </a:rPr>
              <a:t>g</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power</a:t>
            </a:r>
            <a:r>
              <a:rPr lang="zh-CN" altLang="en-US" sz="1600" dirty="0">
                <a:latin typeface="微软雅黑" panose="020B0503020204020204" pitchFamily="34" charset="-122"/>
                <a:ea typeface="微软雅黑" panose="020B0503020204020204" pitchFamily="34" charset="-122"/>
              </a:rPr>
              <a:t>计算），</a:t>
            </a:r>
            <a:r>
              <a:rPr lang="en" altLang="zh-CN" sz="1600" dirty="0">
                <a:latin typeface="微软雅黑" panose="020B0503020204020204" pitchFamily="34" charset="-122"/>
                <a:ea typeface="微软雅黑" panose="020B0503020204020204" pitchFamily="34" charset="-122"/>
              </a:rPr>
              <a:t>C1</a:t>
            </a:r>
            <a:r>
              <a:rPr lang="zh-CN" altLang="en-US" sz="1600" dirty="0">
                <a:latin typeface="微软雅黑" panose="020B0503020204020204" pitchFamily="34" charset="-122"/>
                <a:ea typeface="微软雅黑" panose="020B0503020204020204" pitchFamily="34" charset="-122"/>
              </a:rPr>
              <a:t>驾照，驾龄</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年以上，年龄</a:t>
            </a:r>
            <a:r>
              <a:rPr lang="en-US" altLang="zh-CN" sz="1600" dirty="0">
                <a:latin typeface="微软雅黑" panose="020B0503020204020204" pitchFamily="34" charset="-122"/>
                <a:ea typeface="微软雅黑" panose="020B0503020204020204" pitchFamily="34" charset="-122"/>
              </a:rPr>
              <a:t>20-50</a:t>
            </a:r>
          </a:p>
          <a:p>
            <a:pPr marL="457200" lvl="1" indent="0">
              <a:spcBef>
                <a:spcPts val="1100"/>
              </a:spcBef>
              <a:buFont typeface="Arial" panose="020B0604020202020204" pitchFamily="34" charset="0"/>
              <a:buNone/>
            </a:pPr>
            <a:r>
              <a:rPr kumimoji="1" lang="zh-CN" altLang="en-US" sz="1600" b="1" dirty="0">
                <a:latin typeface="微软雅黑" panose="020B0503020204020204" pitchFamily="34" charset="-122"/>
                <a:ea typeface="微软雅黑" panose="020B0503020204020204" pitchFamily="34" charset="-122"/>
              </a:rPr>
              <a:t>实验材料及设备：</a:t>
            </a:r>
            <a:endParaRPr kumimoji="1" lang="en-US" altLang="zh-CN" sz="1600" b="1" dirty="0">
              <a:latin typeface="微软雅黑" panose="020B0503020204020204" pitchFamily="34" charset="-122"/>
              <a:ea typeface="微软雅黑" panose="020B0503020204020204" pitchFamily="34" charset="-122"/>
            </a:endParaRPr>
          </a:p>
          <a:p>
            <a:pPr marL="1440000" lvl="1" indent="0">
              <a:buFont typeface="Arial" panose="020B0604020202020204" pitchFamily="34" charset="0"/>
              <a:buNone/>
            </a:pPr>
            <a:r>
              <a:rPr kumimoji="1" lang="zh-CN" altLang="en-US" sz="1600" dirty="0">
                <a:latin typeface="Microsoft YaHei" panose="020B0503020204020204" pitchFamily="34" charset="-122"/>
              </a:rPr>
              <a:t>音乐刺激材料：使用</a:t>
            </a:r>
            <a:r>
              <a:rPr kumimoji="1" lang="en-US" altLang="zh-CN" sz="1600" dirty="0">
                <a:latin typeface="Microsoft YaHei" panose="020B0503020204020204" pitchFamily="34" charset="-122"/>
              </a:rPr>
              <a:t>audacity</a:t>
            </a:r>
            <a:r>
              <a:rPr kumimoji="1" lang="zh-CN" altLang="en-US" sz="1600" dirty="0">
                <a:latin typeface="Microsoft YaHei" panose="020B0503020204020204" pitchFamily="34" charset="-122"/>
              </a:rPr>
              <a:t>进行调整（支持不改变音高，调整速度），使用音响外放，强度控制在</a:t>
            </a:r>
            <a:r>
              <a:rPr kumimoji="1" lang="en-US" altLang="zh-CN" sz="1600" dirty="0">
                <a:latin typeface="Microsoft YaHei" panose="020B0503020204020204" pitchFamily="34" charset="-122"/>
              </a:rPr>
              <a:t>70</a:t>
            </a:r>
            <a:r>
              <a:rPr kumimoji="1" lang="zh-CN" altLang="en-US" sz="1600" dirty="0">
                <a:latin typeface="Microsoft YaHei" panose="020B0503020204020204" pitchFamily="34" charset="-122"/>
              </a:rPr>
              <a:t>分贝左右。</a:t>
            </a:r>
          </a:p>
          <a:p>
            <a:pPr marL="1440000" lvl="1" indent="0">
              <a:spcBef>
                <a:spcPts val="1100"/>
              </a:spcBef>
              <a:buFont typeface="Arial" panose="020B0604020202020204" pitchFamily="34" charset="0"/>
              <a:buNone/>
            </a:pPr>
            <a:r>
              <a:rPr kumimoji="1" lang="zh-CN" altLang="en-US" sz="1600" dirty="0">
                <a:latin typeface="+mj-ea"/>
                <a:ea typeface="+mj-ea"/>
              </a:rPr>
              <a:t>驾驶模拟器采用</a:t>
            </a:r>
            <a:r>
              <a:rPr kumimoji="1" lang="en" altLang="zh-CN" sz="1600" dirty="0">
                <a:latin typeface="+mj-ea"/>
                <a:ea typeface="+mj-ea"/>
              </a:rPr>
              <a:t>STISIM</a:t>
            </a:r>
            <a:r>
              <a:rPr kumimoji="1" lang="zh-CN" altLang="en-US" sz="1600" dirty="0">
                <a:latin typeface="+mj-ea"/>
                <a:ea typeface="+mj-ea"/>
              </a:rPr>
              <a:t>驾驶软件，罗技方向盘和踏板</a:t>
            </a:r>
            <a:endParaRPr kumimoji="1" lang="zh-CN" altLang="en" sz="1600" dirty="0">
              <a:latin typeface="+mj-ea"/>
              <a:ea typeface="+mj-ea"/>
            </a:endParaRPr>
          </a:p>
          <a:p>
            <a:pPr marL="1440000" lvl="1" indent="0">
              <a:spcBef>
                <a:spcPts val="1100"/>
              </a:spcBef>
              <a:buFont typeface="Arial" panose="020B0604020202020204" pitchFamily="34" charset="0"/>
              <a:buNone/>
            </a:pPr>
            <a:endParaRPr kumimoji="1" lang="zh-CN" altLang="en-US" b="1" dirty="0">
              <a:latin typeface="+mj-ea"/>
              <a:ea typeface="+mj-ea"/>
            </a:endParaRPr>
          </a:p>
        </p:txBody>
      </p:sp>
    </p:spTree>
    <p:extLst>
      <p:ext uri="{BB962C8B-B14F-4D97-AF65-F5344CB8AC3E}">
        <p14:creationId xmlns:p14="http://schemas.microsoft.com/office/powerpoint/2010/main" val="41518023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53373EE5-210F-4365-3E09-A8AF4C3C6CDC}"/>
              </a:ext>
            </a:extLst>
          </p:cNvPr>
          <p:cNvPicPr>
            <a:picLocks noChangeAspect="1"/>
          </p:cNvPicPr>
          <p:nvPr/>
        </p:nvPicPr>
        <p:blipFill>
          <a:blip r:embed="rId3"/>
          <a:stretch>
            <a:fillRect/>
          </a:stretch>
        </p:blipFill>
        <p:spPr>
          <a:xfrm>
            <a:off x="6467059" y="1486784"/>
            <a:ext cx="5353811" cy="1601081"/>
          </a:xfrm>
          <a:prstGeom prst="rect">
            <a:avLst/>
          </a:prstGeom>
        </p:spPr>
      </p:pic>
      <p:pic>
        <p:nvPicPr>
          <p:cNvPr id="5" name="图片 4">
            <a:extLst>
              <a:ext uri="{FF2B5EF4-FFF2-40B4-BE49-F238E27FC236}">
                <a16:creationId xmlns:a16="http://schemas.microsoft.com/office/drawing/2014/main" id="{978FB237-E37E-90E6-A8FC-01279D2A2C2F}"/>
              </a:ext>
            </a:extLst>
          </p:cNvPr>
          <p:cNvPicPr>
            <a:picLocks noChangeAspect="1"/>
          </p:cNvPicPr>
          <p:nvPr/>
        </p:nvPicPr>
        <p:blipFill>
          <a:blip r:embed="rId4"/>
          <a:stretch>
            <a:fillRect/>
          </a:stretch>
        </p:blipFill>
        <p:spPr>
          <a:xfrm>
            <a:off x="1127011" y="5973225"/>
            <a:ext cx="1135681" cy="884775"/>
          </a:xfrm>
          <a:prstGeom prst="rect">
            <a:avLst/>
          </a:prstGeom>
        </p:spPr>
      </p:pic>
      <p:sp>
        <p:nvSpPr>
          <p:cNvPr id="10" name="内容占位符 2">
            <a:extLst>
              <a:ext uri="{FF2B5EF4-FFF2-40B4-BE49-F238E27FC236}">
                <a16:creationId xmlns:a16="http://schemas.microsoft.com/office/drawing/2014/main" id="{5442ED14-3986-CDC7-6D63-A0E3952F79F4}"/>
              </a:ext>
            </a:extLst>
          </p:cNvPr>
          <p:cNvSpPr txBox="1">
            <a:spLocks/>
          </p:cNvSpPr>
          <p:nvPr/>
        </p:nvSpPr>
        <p:spPr>
          <a:xfrm>
            <a:off x="263346" y="1194707"/>
            <a:ext cx="5674864" cy="3487021"/>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n"/>
            </a:pPr>
            <a:r>
              <a:rPr kumimoji="1" lang="zh-CN" altLang="en-US" b="1" dirty="0">
                <a:solidFill>
                  <a:srgbClr val="4472C4"/>
                </a:solidFill>
              </a:rPr>
              <a:t>研究方法：</a:t>
            </a:r>
            <a:endParaRPr kumimoji="1" lang="en-US" altLang="zh-CN" b="1" dirty="0">
              <a:solidFill>
                <a:srgbClr val="4472C4"/>
              </a:solidFill>
            </a:endParaRPr>
          </a:p>
          <a:p>
            <a:pPr marL="457200" lvl="1" indent="0">
              <a:buFont typeface="Arial" panose="020B0604020202020204" pitchFamily="34" charset="0"/>
              <a:buNone/>
            </a:pPr>
            <a:r>
              <a:rPr kumimoji="1" lang="zh-CN" altLang="en-US" b="1" dirty="0"/>
              <a:t>模拟驾驶任务</a:t>
            </a:r>
            <a:endParaRPr kumimoji="1" lang="en-US" altLang="zh-CN" b="1" dirty="0"/>
          </a:p>
          <a:p>
            <a:pPr marL="457200" lvl="1" indent="0">
              <a:spcBef>
                <a:spcPts val="0"/>
              </a:spcBef>
              <a:buFont typeface="Arial" panose="020B0604020202020204" pitchFamily="34" charset="0"/>
              <a:buNone/>
            </a:pPr>
            <a:r>
              <a:rPr lang="zh-CN" altLang="en-US" sz="1600" kern="100" dirty="0">
                <a:latin typeface="Times New Roman" panose="02020603050405020304" pitchFamily="18" charset="0"/>
                <a:ea typeface="宋体" panose="02010600030101010101" pitchFamily="2" charset="-122"/>
                <a:cs typeface="Times New Roman" panose="02020603050405020304" pitchFamily="18" charset="0"/>
              </a:rPr>
              <a:t>单侧宽度 </a:t>
            </a:r>
            <a:r>
              <a:rPr lang="en-US" altLang="zh-CN" sz="1600" kern="100" dirty="0">
                <a:latin typeface="Times New Roman" panose="02020603050405020304" pitchFamily="18" charset="0"/>
                <a:ea typeface="宋体" panose="02010600030101010101" pitchFamily="2" charset="-122"/>
                <a:cs typeface="Times New Roman" panose="02020603050405020304" pitchFamily="18" charset="0"/>
              </a:rPr>
              <a:t>4.8 </a:t>
            </a:r>
            <a:r>
              <a:rPr lang="zh-CN" altLang="en-US" sz="1600" kern="100" dirty="0">
                <a:latin typeface="Times New Roman" panose="02020603050405020304" pitchFamily="18" charset="0"/>
                <a:ea typeface="宋体" panose="02010600030101010101" pitchFamily="2" charset="-122"/>
                <a:cs typeface="Times New Roman" panose="02020603050405020304" pitchFamily="18" charset="0"/>
              </a:rPr>
              <a:t>米的双向车道，中间有双黄线。全长约</a:t>
            </a:r>
            <a:r>
              <a:rPr lang="en-US" altLang="zh-CN" sz="1600" kern="100" dirty="0">
                <a:latin typeface="Times New Roman" panose="02020603050405020304" pitchFamily="18" charset="0"/>
                <a:ea typeface="宋体" panose="02010600030101010101" pitchFamily="2" charset="-122"/>
                <a:cs typeface="Times New Roman" panose="02020603050405020304" pitchFamily="18" charset="0"/>
              </a:rPr>
              <a:t>22</a:t>
            </a:r>
            <a:r>
              <a:rPr lang="en" altLang="zh-CN" sz="1600" kern="100" dirty="0">
                <a:latin typeface="Times New Roman" panose="02020603050405020304" pitchFamily="18" charset="0"/>
                <a:ea typeface="宋体" panose="02010600030101010101" pitchFamily="2" charset="-122"/>
                <a:cs typeface="Times New Roman" panose="02020603050405020304" pitchFamily="18" charset="0"/>
              </a:rPr>
              <a:t>km</a:t>
            </a:r>
            <a:r>
              <a:rPr lang="zh-CN" altLang="en-US" sz="1600" kern="100" dirty="0">
                <a:latin typeface="Times New Roman" panose="02020603050405020304" pitchFamily="18" charset="0"/>
                <a:ea typeface="宋体" panose="02010600030101010101" pitchFamily="2" charset="-122"/>
                <a:cs typeface="Times New Roman" panose="02020603050405020304" pitchFamily="18" charset="0"/>
              </a:rPr>
              <a:t>，全程道路无障碍驾驶。完成</a:t>
            </a:r>
            <a:r>
              <a:rPr lang="en-US" altLang="zh-CN" sz="1600" kern="1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1600" kern="100" dirty="0">
                <a:latin typeface="Times New Roman" panose="02020603050405020304" pitchFamily="18" charset="0"/>
                <a:ea typeface="宋体" panose="02010600030101010101" pitchFamily="2" charset="-122"/>
                <a:cs typeface="Times New Roman" panose="02020603050405020304" pitchFamily="18" charset="0"/>
              </a:rPr>
              <a:t>个条件（</a:t>
            </a:r>
            <a:r>
              <a:rPr lang="en-US" altLang="zh-CN" sz="1600" kern="1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1600" kern="100" dirty="0">
                <a:latin typeface="Times New Roman" panose="02020603050405020304" pitchFamily="18" charset="0"/>
                <a:ea typeface="宋体" panose="02010600030101010101" pitchFamily="2" charset="-122"/>
                <a:cs typeface="Times New Roman" panose="02020603050405020304" pitchFamily="18" charset="0"/>
              </a:rPr>
              <a:t>音乐</a:t>
            </a:r>
            <a:r>
              <a:rPr lang="en-US" altLang="zh-CN" sz="1600" kern="1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1600" kern="100" dirty="0">
                <a:latin typeface="Times New Roman" panose="02020603050405020304" pitchFamily="18" charset="0"/>
                <a:ea typeface="宋体" panose="02010600030101010101" pitchFamily="2" charset="-122"/>
                <a:cs typeface="Times New Roman" panose="02020603050405020304" pitchFamily="18" charset="0"/>
              </a:rPr>
              <a:t>无音乐），需要两圈，预计需</a:t>
            </a:r>
            <a:r>
              <a:rPr lang="en-US" altLang="zh-CN" sz="1600" kern="100" dirty="0">
                <a:latin typeface="Times New Roman" panose="02020603050405020304" pitchFamily="18" charset="0"/>
                <a:ea typeface="宋体" panose="02010600030101010101" pitchFamily="2" charset="-122"/>
                <a:cs typeface="Times New Roman" panose="02020603050405020304" pitchFamily="18" charset="0"/>
              </a:rPr>
              <a:t>30</a:t>
            </a:r>
            <a:r>
              <a:rPr lang="zh-CN" altLang="en-US" sz="1600" kern="100" dirty="0">
                <a:latin typeface="Times New Roman" panose="02020603050405020304" pitchFamily="18" charset="0"/>
                <a:ea typeface="宋体" panose="02010600030101010101" pitchFamily="2" charset="-122"/>
                <a:cs typeface="Times New Roman" panose="02020603050405020304" pitchFamily="18" charset="0"/>
              </a:rPr>
              <a:t>分钟。</a:t>
            </a:r>
          </a:p>
        </p:txBody>
      </p:sp>
      <p:pic>
        <p:nvPicPr>
          <p:cNvPr id="2" name="图片 1">
            <a:extLst>
              <a:ext uri="{FF2B5EF4-FFF2-40B4-BE49-F238E27FC236}">
                <a16:creationId xmlns:a16="http://schemas.microsoft.com/office/drawing/2014/main" id="{02991F20-3B54-D15F-15D1-9F86968D5575}"/>
              </a:ext>
            </a:extLst>
          </p:cNvPr>
          <p:cNvPicPr>
            <a:picLocks noChangeAspect="1"/>
          </p:cNvPicPr>
          <p:nvPr/>
        </p:nvPicPr>
        <p:blipFill>
          <a:blip r:embed="rId5"/>
          <a:stretch>
            <a:fillRect/>
          </a:stretch>
        </p:blipFill>
        <p:spPr>
          <a:xfrm>
            <a:off x="339443" y="3333122"/>
            <a:ext cx="5680460" cy="2484942"/>
          </a:xfrm>
          <a:prstGeom prst="rect">
            <a:avLst/>
          </a:prstGeom>
        </p:spPr>
      </p:pic>
      <p:pic>
        <p:nvPicPr>
          <p:cNvPr id="4" name="图片 3">
            <a:extLst>
              <a:ext uri="{FF2B5EF4-FFF2-40B4-BE49-F238E27FC236}">
                <a16:creationId xmlns:a16="http://schemas.microsoft.com/office/drawing/2014/main" id="{3FBCE933-FADA-4AA5-32E3-356E61F17ADF}"/>
              </a:ext>
            </a:extLst>
          </p:cNvPr>
          <p:cNvPicPr>
            <a:picLocks noChangeAspect="1"/>
          </p:cNvPicPr>
          <p:nvPr/>
        </p:nvPicPr>
        <p:blipFill>
          <a:blip r:embed="rId6"/>
          <a:stretch>
            <a:fillRect/>
          </a:stretch>
        </p:blipFill>
        <p:spPr>
          <a:xfrm>
            <a:off x="2620500" y="6052979"/>
            <a:ext cx="1903177" cy="725265"/>
          </a:xfrm>
          <a:prstGeom prst="rect">
            <a:avLst/>
          </a:prstGeom>
        </p:spPr>
      </p:pic>
      <p:sp>
        <p:nvSpPr>
          <p:cNvPr id="12" name="标题 1">
            <a:extLst>
              <a:ext uri="{FF2B5EF4-FFF2-40B4-BE49-F238E27FC236}">
                <a16:creationId xmlns:a16="http://schemas.microsoft.com/office/drawing/2014/main" id="{640EBCAF-10A1-E696-358C-DA51E4FC02AF}"/>
              </a:ext>
            </a:extLst>
          </p:cNvPr>
          <p:cNvSpPr txBox="1">
            <a:spLocks/>
          </p:cNvSpPr>
          <p:nvPr/>
        </p:nvSpPr>
        <p:spPr>
          <a:xfrm>
            <a:off x="339443" y="579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tx1"/>
                </a:solidFill>
                <a:latin typeface="Microsoft YaHei" panose="020B0503020204020204" pitchFamily="34" charset="-122"/>
                <a:ea typeface="Microsoft YaHei" panose="020B0503020204020204" pitchFamily="34" charset="-122"/>
                <a:cs typeface="+mj-cs"/>
              </a:defRPr>
            </a:lvl1pPr>
          </a:lstStyle>
          <a:p>
            <a:r>
              <a:rPr kumimoji="1" lang="zh-CN" altLang="en-US" dirty="0"/>
              <a:t>研究方案 </a:t>
            </a:r>
            <a:r>
              <a:rPr kumimoji="1" lang="zh-CN" altLang="en-US" sz="2400" dirty="0"/>
              <a:t>研究二  </a:t>
            </a:r>
            <a:r>
              <a:rPr kumimoji="1" lang="zh-CN" altLang="en-US" sz="2000" dirty="0"/>
              <a:t>实验</a:t>
            </a:r>
            <a:r>
              <a:rPr kumimoji="1" lang="en-US" altLang="zh-CN" sz="2000" dirty="0"/>
              <a:t>2:</a:t>
            </a:r>
            <a:r>
              <a:rPr kumimoji="1" lang="zh-CN" altLang="en-US" sz="2000" dirty="0"/>
              <a:t>音乐流派和音乐速度对车辆控制的影响</a:t>
            </a:r>
            <a:endParaRPr kumimoji="1" lang="zh-CN" altLang="en-US" dirty="0"/>
          </a:p>
        </p:txBody>
      </p:sp>
      <p:sp>
        <p:nvSpPr>
          <p:cNvPr id="3" name="内容占位符 2">
            <a:extLst>
              <a:ext uri="{FF2B5EF4-FFF2-40B4-BE49-F238E27FC236}">
                <a16:creationId xmlns:a16="http://schemas.microsoft.com/office/drawing/2014/main" id="{7F264885-CE05-70C3-1CFF-3589FB692921}"/>
              </a:ext>
            </a:extLst>
          </p:cNvPr>
          <p:cNvSpPr txBox="1">
            <a:spLocks/>
          </p:cNvSpPr>
          <p:nvPr/>
        </p:nvSpPr>
        <p:spPr>
          <a:xfrm>
            <a:off x="6116265" y="1194707"/>
            <a:ext cx="6370305" cy="4351338"/>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n"/>
            </a:pPr>
            <a:r>
              <a:rPr kumimoji="1" lang="zh-CN" altLang="en-US" b="1" dirty="0">
                <a:solidFill>
                  <a:srgbClr val="4472C4"/>
                </a:solidFill>
              </a:rPr>
              <a:t>实验流程</a:t>
            </a:r>
            <a:endParaRPr kumimoji="1" lang="en-US" altLang="zh-CN" b="1" dirty="0">
              <a:solidFill>
                <a:srgbClr val="4472C4"/>
              </a:solidFill>
            </a:endParaRPr>
          </a:p>
        </p:txBody>
      </p:sp>
      <p:sp>
        <p:nvSpPr>
          <p:cNvPr id="7" name="内容占位符 2">
            <a:extLst>
              <a:ext uri="{FF2B5EF4-FFF2-40B4-BE49-F238E27FC236}">
                <a16:creationId xmlns:a16="http://schemas.microsoft.com/office/drawing/2014/main" id="{C3127703-CD7B-8566-C428-84A90AC0D4B4}"/>
              </a:ext>
            </a:extLst>
          </p:cNvPr>
          <p:cNvSpPr txBox="1">
            <a:spLocks/>
          </p:cNvSpPr>
          <p:nvPr/>
        </p:nvSpPr>
        <p:spPr>
          <a:xfrm>
            <a:off x="6116265" y="3263353"/>
            <a:ext cx="6019902" cy="4351338"/>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n"/>
            </a:pPr>
            <a:r>
              <a:rPr kumimoji="1" lang="zh-CN" altLang="en-US" b="1" dirty="0">
                <a:solidFill>
                  <a:srgbClr val="4472C4"/>
                </a:solidFill>
              </a:rPr>
              <a:t>数据分析：</a:t>
            </a:r>
            <a:endParaRPr kumimoji="1" lang="en-US" altLang="zh-CN" b="1" dirty="0">
              <a:solidFill>
                <a:srgbClr val="4472C4"/>
              </a:solidFill>
            </a:endParaRPr>
          </a:p>
          <a:p>
            <a:pPr marL="457200" indent="0">
              <a:buFont typeface="Arial" panose="020B0604020202020204" pitchFamily="34" charset="0"/>
              <a:buNone/>
            </a:pPr>
            <a:r>
              <a:rPr kumimoji="1" lang="en-US" altLang="zh-CN" b="1" dirty="0">
                <a:solidFill>
                  <a:srgbClr val="4472C4"/>
                </a:solidFill>
              </a:rPr>
              <a:t>	</a:t>
            </a:r>
            <a:r>
              <a:rPr kumimoji="1" lang="zh-CN" altLang="en-US" sz="1600" b="1" dirty="0">
                <a:latin typeface="+mj-ea"/>
                <a:ea typeface="+mj-ea"/>
              </a:rPr>
              <a:t>重复测量方差分析：</a:t>
            </a:r>
            <a:r>
              <a:rPr kumimoji="1" lang="zh-CN" altLang="en-US" sz="1600" dirty="0">
                <a:latin typeface="+mj-ea"/>
                <a:ea typeface="+mj-ea"/>
              </a:rPr>
              <a:t>音乐流派、速度对各变量是有主效应、交互效应、以及对比各组之间的差异</a:t>
            </a:r>
            <a:endParaRPr kumimoji="1" lang="en-US" altLang="zh-CN" sz="1600" dirty="0">
              <a:latin typeface="+mj-ea"/>
              <a:ea typeface="+mj-ea"/>
            </a:endParaRPr>
          </a:p>
          <a:p>
            <a:pPr marL="457200" indent="0">
              <a:buFont typeface="Arial" panose="020B0604020202020204" pitchFamily="34" charset="0"/>
              <a:buNone/>
            </a:pPr>
            <a:r>
              <a:rPr kumimoji="1" lang="en-US" altLang="zh-CN" sz="1600" dirty="0">
                <a:latin typeface="+mj-ea"/>
                <a:ea typeface="+mj-ea"/>
              </a:rPr>
              <a:t>	</a:t>
            </a:r>
          </a:p>
        </p:txBody>
      </p:sp>
      <p:sp>
        <p:nvSpPr>
          <p:cNvPr id="8" name="内容占位符 2">
            <a:extLst>
              <a:ext uri="{FF2B5EF4-FFF2-40B4-BE49-F238E27FC236}">
                <a16:creationId xmlns:a16="http://schemas.microsoft.com/office/drawing/2014/main" id="{B0604AA2-C642-8134-C7AE-9AC0CB0C7F99}"/>
              </a:ext>
            </a:extLst>
          </p:cNvPr>
          <p:cNvSpPr txBox="1">
            <a:spLocks/>
          </p:cNvSpPr>
          <p:nvPr/>
        </p:nvSpPr>
        <p:spPr>
          <a:xfrm>
            <a:off x="6116265" y="5086124"/>
            <a:ext cx="6370305" cy="4351338"/>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n"/>
            </a:pPr>
            <a:r>
              <a:rPr kumimoji="1" lang="zh-CN" altLang="en-US" b="1" dirty="0">
                <a:solidFill>
                  <a:srgbClr val="4472C4"/>
                </a:solidFill>
              </a:rPr>
              <a:t>预期结果：</a:t>
            </a:r>
            <a:endParaRPr kumimoji="1" lang="en-US" altLang="zh-CN" b="1" dirty="0">
              <a:solidFill>
                <a:srgbClr val="4472C4"/>
              </a:solidFill>
            </a:endParaRPr>
          </a:p>
          <a:p>
            <a:pPr marL="0" indent="0">
              <a:buFont typeface="Arial" panose="020B0604020202020204" pitchFamily="34" charset="0"/>
              <a:buNone/>
            </a:pPr>
            <a:r>
              <a:rPr kumimoji="1" lang="en-US" altLang="zh-CN" b="1" dirty="0">
                <a:solidFill>
                  <a:srgbClr val="4472C4"/>
                </a:solidFill>
              </a:rPr>
              <a:t>	</a:t>
            </a:r>
            <a:r>
              <a:rPr kumimoji="1" lang="zh-CN" altLang="en-US" sz="1600" dirty="0"/>
              <a:t>音乐流派和速度主效应显著；交互效应显著；</a:t>
            </a:r>
            <a:endParaRPr kumimoji="1" lang="en-US" altLang="zh-CN" sz="1600" dirty="0"/>
          </a:p>
          <a:p>
            <a:pPr marL="0" indent="0">
              <a:buFont typeface="Arial" panose="020B0604020202020204" pitchFamily="34" charset="0"/>
              <a:buNone/>
            </a:pPr>
            <a:r>
              <a:rPr kumimoji="1" lang="en-US" altLang="zh-CN" sz="1600" dirty="0">
                <a:latin typeface="+mj-ea"/>
                <a:ea typeface="+mj-ea"/>
              </a:rPr>
              <a:t>	</a:t>
            </a:r>
            <a:r>
              <a:rPr kumimoji="1" lang="zh-CN" altLang="en-US" sz="1600" dirty="0">
                <a:latin typeface="+mj-ea"/>
                <a:ea typeface="+mj-ea"/>
              </a:rPr>
              <a:t>快速的摇滚音乐下，稳定性最差</a:t>
            </a:r>
            <a:endParaRPr kumimoji="1" lang="en-US" altLang="zh-CN" sz="1600" dirty="0">
              <a:latin typeface="+mj-ea"/>
              <a:ea typeface="+mj-ea"/>
            </a:endParaRPr>
          </a:p>
          <a:p>
            <a:pPr marL="0" indent="0">
              <a:buFont typeface="Arial" panose="020B0604020202020204" pitchFamily="34" charset="0"/>
              <a:buNone/>
            </a:pPr>
            <a:r>
              <a:rPr kumimoji="1" lang="en-US" altLang="zh-CN" sz="1600" dirty="0">
                <a:latin typeface="+mj-ea"/>
                <a:ea typeface="+mj-ea"/>
              </a:rPr>
              <a:t>	</a:t>
            </a:r>
            <a:endParaRPr kumimoji="1" lang="en-US" altLang="zh-CN" dirty="0">
              <a:latin typeface="+mj-ea"/>
              <a:ea typeface="+mj-ea"/>
            </a:endParaRPr>
          </a:p>
        </p:txBody>
      </p:sp>
    </p:spTree>
    <p:extLst>
      <p:ext uri="{BB962C8B-B14F-4D97-AF65-F5344CB8AC3E}">
        <p14:creationId xmlns:p14="http://schemas.microsoft.com/office/powerpoint/2010/main" val="37171305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046F4B-3102-7405-7E5A-E41299B2E975}"/>
              </a:ext>
            </a:extLst>
          </p:cNvPr>
          <p:cNvSpPr>
            <a:spLocks noGrp="1"/>
          </p:cNvSpPr>
          <p:nvPr>
            <p:ph type="title"/>
          </p:nvPr>
        </p:nvSpPr>
        <p:spPr/>
        <p:txBody>
          <a:bodyPr/>
          <a:lstStyle/>
          <a:p>
            <a:r>
              <a:rPr kumimoji="1" lang="zh-CN" altLang="en-US" dirty="0"/>
              <a:t>研究方案 </a:t>
            </a:r>
            <a:r>
              <a:rPr kumimoji="1" lang="zh-CN" altLang="en-US" sz="2400" dirty="0"/>
              <a:t>研究二  </a:t>
            </a:r>
            <a:r>
              <a:rPr kumimoji="1" lang="zh-CN" altLang="en-US" sz="2000" dirty="0"/>
              <a:t>实验</a:t>
            </a:r>
            <a:r>
              <a:rPr kumimoji="1" lang="en-US" altLang="zh-CN" sz="2000" dirty="0"/>
              <a:t>3:</a:t>
            </a:r>
            <a:r>
              <a:rPr kumimoji="1" lang="zh-CN" altLang="en-US" sz="2000" dirty="0"/>
              <a:t>音乐流派和音乐速度对危险规避的影响</a:t>
            </a:r>
            <a:endParaRPr kumimoji="1" lang="zh-CN" altLang="en-US" dirty="0"/>
          </a:p>
        </p:txBody>
      </p:sp>
      <p:sp>
        <p:nvSpPr>
          <p:cNvPr id="3" name="内容占位符 2">
            <a:extLst>
              <a:ext uri="{FF2B5EF4-FFF2-40B4-BE49-F238E27FC236}">
                <a16:creationId xmlns:a16="http://schemas.microsoft.com/office/drawing/2014/main" id="{55B8300D-689B-BF2E-2B68-58D98E0156DB}"/>
              </a:ext>
            </a:extLst>
          </p:cNvPr>
          <p:cNvSpPr>
            <a:spLocks noGrp="1"/>
          </p:cNvSpPr>
          <p:nvPr>
            <p:ph idx="1"/>
          </p:nvPr>
        </p:nvSpPr>
        <p:spPr>
          <a:xfrm>
            <a:off x="339443" y="1123587"/>
            <a:ext cx="11513114" cy="1325563"/>
          </a:xfrm>
        </p:spPr>
        <p:txBody>
          <a:bodyPr>
            <a:normAutofit/>
          </a:bodyPr>
          <a:lstStyle/>
          <a:p>
            <a:pPr>
              <a:buFont typeface="Wingdings" pitchFamily="2" charset="2"/>
              <a:buChar char="n"/>
            </a:pPr>
            <a:r>
              <a:rPr kumimoji="1" lang="zh-CN" altLang="en-US" b="1" dirty="0">
                <a:solidFill>
                  <a:srgbClr val="4472C4"/>
                </a:solidFill>
              </a:rPr>
              <a:t>实验目的：</a:t>
            </a:r>
            <a:endParaRPr kumimoji="1" lang="en-US" altLang="zh-CN" b="1" dirty="0">
              <a:solidFill>
                <a:srgbClr val="4472C4"/>
              </a:solidFill>
            </a:endParaRPr>
          </a:p>
          <a:p>
            <a:pPr marL="457200" lvl="1" indent="0">
              <a:buNone/>
            </a:pPr>
            <a:r>
              <a:rPr kumimoji="1" lang="zh-CN" altLang="en-US" sz="1600" dirty="0"/>
              <a:t>旨在探究</a:t>
            </a:r>
            <a:r>
              <a:rPr kumimoji="1" lang="zh-CN" altLang="en-US" sz="1600" b="1" dirty="0"/>
              <a:t>音乐流派</a:t>
            </a:r>
            <a:r>
              <a:rPr kumimoji="1" lang="zh-CN" altLang="en-US" sz="1600" dirty="0"/>
              <a:t>和</a:t>
            </a:r>
            <a:r>
              <a:rPr kumimoji="1" lang="zh-CN" altLang="en-US" sz="1600" b="1" dirty="0"/>
              <a:t>音乐速度</a:t>
            </a:r>
            <a:r>
              <a:rPr kumimoji="1" lang="zh-CN" altLang="en-US" sz="1600" dirty="0"/>
              <a:t>对</a:t>
            </a:r>
            <a:r>
              <a:rPr kumimoji="1" lang="zh-CN" altLang="en-US" sz="1600" b="1" dirty="0"/>
              <a:t>风险情境</a:t>
            </a:r>
            <a:r>
              <a:rPr kumimoji="1" lang="zh-CN" altLang="en-US" sz="1600" dirty="0"/>
              <a:t>下，</a:t>
            </a:r>
            <a:r>
              <a:rPr kumimoji="1" lang="zh-CN" altLang="en-US" sz="1600" b="1" dirty="0"/>
              <a:t>危险规避</a:t>
            </a:r>
            <a:r>
              <a:rPr kumimoji="1" lang="zh-CN" altLang="en-US" sz="1600" dirty="0"/>
              <a:t>驾驶行为的影响</a:t>
            </a:r>
          </a:p>
        </p:txBody>
      </p:sp>
      <p:sp>
        <p:nvSpPr>
          <p:cNvPr id="4" name="内容占位符 2">
            <a:extLst>
              <a:ext uri="{FF2B5EF4-FFF2-40B4-BE49-F238E27FC236}">
                <a16:creationId xmlns:a16="http://schemas.microsoft.com/office/drawing/2014/main" id="{38116242-4345-29C1-F7BA-71D6769FC9D8}"/>
              </a:ext>
            </a:extLst>
          </p:cNvPr>
          <p:cNvSpPr txBox="1">
            <a:spLocks/>
          </p:cNvSpPr>
          <p:nvPr/>
        </p:nvSpPr>
        <p:spPr>
          <a:xfrm>
            <a:off x="339443" y="2114948"/>
            <a:ext cx="11950093" cy="4940341"/>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n"/>
            </a:pPr>
            <a:r>
              <a:rPr kumimoji="1" lang="zh-CN" altLang="en-US" b="1" dirty="0">
                <a:solidFill>
                  <a:srgbClr val="4472C4"/>
                </a:solidFill>
              </a:rPr>
              <a:t>研究方法：</a:t>
            </a:r>
            <a:endParaRPr kumimoji="1" lang="en-US" altLang="zh-CN" b="1" dirty="0">
              <a:solidFill>
                <a:srgbClr val="4472C4"/>
              </a:solidFill>
            </a:endParaRPr>
          </a:p>
          <a:p>
            <a:pPr marL="457200" lvl="1" indent="0">
              <a:buFont typeface="Arial" panose="020B0604020202020204" pitchFamily="34" charset="0"/>
              <a:buNone/>
            </a:pPr>
            <a:r>
              <a:rPr kumimoji="1" lang="zh-CN" altLang="en-US" sz="1600" b="1" dirty="0"/>
              <a:t>实验设计：</a:t>
            </a:r>
            <a:r>
              <a:rPr lang="en-US" altLang="zh-CN" sz="1600" kern="100" dirty="0">
                <a:effectLst/>
                <a:latin typeface="Microsoft YaHei" panose="020B0503020204020204" pitchFamily="34" charset="-122"/>
              </a:rPr>
              <a:t> 3</a:t>
            </a:r>
            <a:r>
              <a:rPr lang="zh-CN" altLang="en-US" sz="1600" kern="100" dirty="0">
                <a:effectLst/>
                <a:latin typeface="Microsoft YaHei" panose="020B0503020204020204" pitchFamily="34" charset="-122"/>
              </a:rPr>
              <a:t>（组间</a:t>
            </a:r>
            <a:r>
              <a:rPr lang="en-US" altLang="zh-CN" sz="1600" kern="100" dirty="0">
                <a:effectLst/>
                <a:latin typeface="Microsoft YaHei" panose="020B0503020204020204" pitchFamily="34" charset="-122"/>
              </a:rPr>
              <a:t>-</a:t>
            </a:r>
            <a:r>
              <a:rPr lang="zh-CN" altLang="en-US" sz="1600" b="1" kern="100" dirty="0">
                <a:effectLst/>
                <a:latin typeface="Microsoft YaHei" panose="020B0503020204020204" pitchFamily="34" charset="-122"/>
              </a:rPr>
              <a:t>音乐流派</a:t>
            </a:r>
            <a:r>
              <a:rPr lang="zh-CN" altLang="en-US" sz="1600" kern="100" dirty="0">
                <a:effectLst/>
                <a:latin typeface="Microsoft YaHei" panose="020B0503020204020204" pitchFamily="34" charset="-122"/>
              </a:rPr>
              <a:t>：</a:t>
            </a:r>
            <a:r>
              <a:rPr lang="zh-CN" altLang="en-US" sz="1600" kern="100" dirty="0">
                <a:latin typeface="SimSun" panose="02010600030101010101" pitchFamily="2" charset="-122"/>
                <a:ea typeface="SimSun" panose="02010600030101010101" pitchFamily="2" charset="-122"/>
              </a:rPr>
              <a:t>摇滚</a:t>
            </a:r>
            <a:r>
              <a:rPr lang="en-US" altLang="zh-CN" sz="1600" kern="100" dirty="0">
                <a:latin typeface="SimSun" panose="02010600030101010101" pitchFamily="2" charset="-122"/>
                <a:ea typeface="SimSun" panose="02010600030101010101" pitchFamily="2" charset="-122"/>
              </a:rPr>
              <a:t>/</a:t>
            </a:r>
            <a:r>
              <a:rPr lang="zh-CN" altLang="en-US" sz="1600" kern="100" dirty="0">
                <a:latin typeface="SimSun" panose="02010600030101010101" pitchFamily="2" charset="-122"/>
                <a:ea typeface="SimSun" panose="02010600030101010101" pitchFamily="2" charset="-122"/>
              </a:rPr>
              <a:t>古典</a:t>
            </a:r>
            <a:r>
              <a:rPr lang="en-US" altLang="zh-CN" sz="1600" kern="100" dirty="0">
                <a:latin typeface="SimSun" panose="02010600030101010101" pitchFamily="2" charset="-122"/>
                <a:ea typeface="SimSun" panose="02010600030101010101" pitchFamily="2" charset="-122"/>
              </a:rPr>
              <a:t>/</a:t>
            </a:r>
            <a:r>
              <a:rPr lang="zh-CN" altLang="en-US" sz="1600" kern="100" dirty="0">
                <a:latin typeface="SimSun" panose="02010600030101010101" pitchFamily="2" charset="-122"/>
                <a:ea typeface="SimSun" panose="02010600030101010101" pitchFamily="2" charset="-122"/>
              </a:rPr>
              <a:t>流行</a:t>
            </a:r>
            <a:r>
              <a:rPr lang="zh-CN" altLang="en-US" sz="1600" kern="100" dirty="0">
                <a:effectLst/>
                <a:latin typeface="Microsoft YaHei" panose="020B0503020204020204" pitchFamily="34" charset="-122"/>
              </a:rPr>
              <a:t>）</a:t>
            </a:r>
            <a:r>
              <a:rPr lang="en-US" altLang="zh-CN" sz="1600" kern="100" dirty="0">
                <a:effectLst/>
                <a:latin typeface="Microsoft YaHei" panose="020B0503020204020204" pitchFamily="34" charset="-122"/>
              </a:rPr>
              <a:t>*3</a:t>
            </a:r>
            <a:r>
              <a:rPr lang="zh-CN" altLang="en-US" sz="1600" kern="100" dirty="0">
                <a:effectLst/>
                <a:latin typeface="Microsoft YaHei" panose="020B0503020204020204" pitchFamily="34" charset="-122"/>
              </a:rPr>
              <a:t>（组内</a:t>
            </a:r>
            <a:r>
              <a:rPr lang="en-US" altLang="zh-CN" sz="1600" kern="100" dirty="0">
                <a:latin typeface="Microsoft YaHei" panose="020B0503020204020204" pitchFamily="34" charset="-122"/>
              </a:rPr>
              <a:t>-</a:t>
            </a:r>
            <a:r>
              <a:rPr lang="zh-CN" altLang="en-US" sz="1600" b="1" kern="100" dirty="0">
                <a:latin typeface="Microsoft YaHei" panose="020B0503020204020204" pitchFamily="34" charset="-122"/>
              </a:rPr>
              <a:t>速度</a:t>
            </a:r>
            <a:r>
              <a:rPr lang="zh-CN" altLang="en-US" sz="1600" kern="100" dirty="0">
                <a:latin typeface="Microsoft YaHei" panose="020B0503020204020204" pitchFamily="34" charset="-122"/>
              </a:rPr>
              <a:t>：</a:t>
            </a:r>
            <a:r>
              <a:rPr lang="zh-CN" altLang="en-US" sz="1600" kern="100" dirty="0">
                <a:latin typeface="SimSun" panose="02010600030101010101" pitchFamily="2" charset="-122"/>
                <a:ea typeface="SimSun" panose="02010600030101010101" pitchFamily="2" charset="-122"/>
              </a:rPr>
              <a:t>慢</a:t>
            </a:r>
            <a:r>
              <a:rPr lang="en-US" altLang="zh-CN" sz="1600" kern="100" dirty="0">
                <a:latin typeface="SimSun" panose="02010600030101010101" pitchFamily="2" charset="-122"/>
                <a:ea typeface="SimSun" panose="02010600030101010101" pitchFamily="2" charset="-122"/>
              </a:rPr>
              <a:t>/</a:t>
            </a:r>
            <a:r>
              <a:rPr lang="zh-CN" altLang="en-US" sz="1600" kern="100" dirty="0">
                <a:latin typeface="SimSun" panose="02010600030101010101" pitchFamily="2" charset="-122"/>
                <a:ea typeface="SimSun" panose="02010600030101010101" pitchFamily="2" charset="-122"/>
              </a:rPr>
              <a:t>中</a:t>
            </a:r>
            <a:r>
              <a:rPr lang="en-US" altLang="zh-CN" sz="1600" kern="100" dirty="0">
                <a:latin typeface="SimSun" panose="02010600030101010101" pitchFamily="2" charset="-122"/>
                <a:ea typeface="SimSun" panose="02010600030101010101" pitchFamily="2" charset="-122"/>
              </a:rPr>
              <a:t>/</a:t>
            </a:r>
            <a:r>
              <a:rPr lang="zh-CN" altLang="en-US" sz="1600" kern="100" dirty="0">
                <a:latin typeface="SimSun" panose="02010600030101010101" pitchFamily="2" charset="-122"/>
                <a:ea typeface="SimSun" panose="02010600030101010101" pitchFamily="2" charset="-122"/>
              </a:rPr>
              <a:t>快</a:t>
            </a:r>
            <a:r>
              <a:rPr lang="zh-CN" altLang="en-US" sz="1600" kern="100" dirty="0">
                <a:effectLst/>
                <a:latin typeface="Microsoft YaHei" panose="020B0503020204020204" pitchFamily="34" charset="-122"/>
              </a:rPr>
              <a:t>）</a:t>
            </a:r>
            <a:r>
              <a:rPr lang="zh-CN" altLang="zh-CN" sz="1600" kern="100" dirty="0">
                <a:effectLst/>
                <a:latin typeface="Microsoft YaHei" panose="020B0503020204020204" pitchFamily="34" charset="-122"/>
                <a:cs typeface="Times New Roman" panose="02020603050405020304" pitchFamily="18" charset="0"/>
              </a:rPr>
              <a:t>混合实验设计</a:t>
            </a:r>
            <a:r>
              <a:rPr lang="zh-CN" altLang="zh-CN" sz="1600" dirty="0">
                <a:effectLst/>
                <a:latin typeface="Microsoft YaHei" panose="020B0503020204020204" pitchFamily="34" charset="-122"/>
              </a:rPr>
              <a:t> </a:t>
            </a:r>
            <a:endParaRPr kumimoji="1" lang="en-US" altLang="zh-CN" sz="1600" b="1" dirty="0">
              <a:latin typeface="Microsoft YaHei" panose="020B0503020204020204" pitchFamily="34" charset="-122"/>
            </a:endParaRPr>
          </a:p>
          <a:p>
            <a:pPr marL="1440000" lvl="1" indent="0">
              <a:spcBef>
                <a:spcPts val="0"/>
              </a:spcBef>
              <a:buFont typeface="Arial" panose="020B0604020202020204" pitchFamily="34" charset="0"/>
              <a:buNone/>
            </a:pPr>
            <a:r>
              <a:rPr kumimoji="1" lang="zh-CN" altLang="en-US" sz="1600" dirty="0">
                <a:latin typeface="Microsoft YaHei" panose="020B0503020204020204" pitchFamily="34" charset="-122"/>
              </a:rPr>
              <a:t>控制变量：驾驶经验、音乐偏好、性别</a:t>
            </a:r>
            <a:endParaRPr kumimoji="1" lang="en-US" altLang="zh-CN" sz="1600" dirty="0">
              <a:latin typeface="Microsoft YaHei" panose="020B0503020204020204" pitchFamily="34" charset="-122"/>
            </a:endParaRPr>
          </a:p>
          <a:p>
            <a:pPr marL="1440000" lvl="1" indent="0">
              <a:spcBef>
                <a:spcPts val="0"/>
              </a:spcBef>
              <a:buFont typeface="Arial" panose="020B0604020202020204" pitchFamily="34" charset="0"/>
              <a:buNone/>
            </a:pPr>
            <a:r>
              <a:rPr kumimoji="1" lang="zh-CN" altLang="en-US" sz="1600" dirty="0">
                <a:latin typeface="Microsoft YaHei" panose="020B0503020204020204" pitchFamily="34" charset="-122"/>
              </a:rPr>
              <a:t>因变量：驾驶行为（</a:t>
            </a:r>
            <a:r>
              <a:rPr lang="zh-CN" altLang="en-US" sz="1600" kern="100" dirty="0">
                <a:latin typeface="SimSun" panose="02010600030101010101" pitchFamily="2" charset="-122"/>
                <a:ea typeface="SimSun" panose="02010600030101010101" pitchFamily="2" charset="-122"/>
              </a:rPr>
              <a:t>制动踏板位置</a:t>
            </a:r>
            <a:r>
              <a:rPr lang="en-US" altLang="zh-CN" sz="1600" kern="100" dirty="0">
                <a:latin typeface="SimSun" panose="02010600030101010101" pitchFamily="2" charset="-122"/>
                <a:ea typeface="SimSun" panose="02010600030101010101" pitchFamily="2" charset="-122"/>
              </a:rPr>
              <a:t>/</a:t>
            </a:r>
            <a:r>
              <a:rPr lang="zh-CN" altLang="en-US" sz="1600" kern="100" dirty="0">
                <a:latin typeface="SimSun" panose="02010600030101010101" pitchFamily="2" charset="-122"/>
                <a:ea typeface="SimSun" panose="02010600030101010101" pitchFamily="2" charset="-122"/>
              </a:rPr>
              <a:t>制动踏板力、踏板次数、刹车反应时、前车距离、碰撞次数</a:t>
            </a:r>
            <a:r>
              <a:rPr kumimoji="1" lang="zh-CN" altLang="en-US" sz="1600" dirty="0">
                <a:latin typeface="Microsoft YaHei" panose="020B0503020204020204" pitchFamily="34" charset="-122"/>
              </a:rPr>
              <a:t>）、主观变量（</a:t>
            </a:r>
            <a:r>
              <a:rPr lang="zh-CN" altLang="en-US" sz="1600" kern="100" dirty="0">
                <a:latin typeface="+mn-lt"/>
                <a:ea typeface="SimSun" panose="02010600030101010101" pitchFamily="2" charset="-122"/>
              </a:rPr>
              <a:t>情绪效价</a:t>
            </a:r>
            <a:r>
              <a:rPr lang="en-US" altLang="zh-CN" sz="1600" kern="100" dirty="0">
                <a:latin typeface="+mn-lt"/>
                <a:ea typeface="SimSun" panose="02010600030101010101" pitchFamily="2" charset="-122"/>
              </a:rPr>
              <a:t>&amp;</a:t>
            </a:r>
            <a:r>
              <a:rPr lang="zh-CN" altLang="en-US" sz="1600" kern="100" dirty="0">
                <a:latin typeface="+mn-lt"/>
                <a:ea typeface="SimSun" panose="02010600030101010101" pitchFamily="2" charset="-122"/>
              </a:rPr>
              <a:t>唤醒程度</a:t>
            </a:r>
            <a:r>
              <a:rPr lang="en-US" altLang="zh-CN" sz="1600" kern="100" dirty="0">
                <a:latin typeface="+mn-lt"/>
                <a:ea typeface="SimSun" panose="02010600030101010101" pitchFamily="2" charset="-122"/>
              </a:rPr>
              <a:t>-</a:t>
            </a:r>
            <a:r>
              <a:rPr lang="en" altLang="zh-CN" sz="1600" kern="100" dirty="0">
                <a:latin typeface="+mn-lt"/>
                <a:ea typeface="SimSun" panose="02010600030101010101" pitchFamily="2" charset="-122"/>
              </a:rPr>
              <a:t>Affect Grid scale</a:t>
            </a:r>
            <a:r>
              <a:rPr lang="zh-CN" altLang="en" sz="1600" kern="100" dirty="0">
                <a:latin typeface="+mn-lt"/>
                <a:ea typeface="SimSun" panose="02010600030101010101" pitchFamily="2" charset="-122"/>
              </a:rPr>
              <a:t>、</a:t>
            </a:r>
            <a:r>
              <a:rPr lang="zh-CN" altLang="en-US" sz="1600" kern="100" dirty="0">
                <a:latin typeface="+mn-lt"/>
                <a:ea typeface="SimSun" panose="02010600030101010101" pitchFamily="2" charset="-122"/>
              </a:rPr>
              <a:t>主观负荷</a:t>
            </a:r>
            <a:r>
              <a:rPr lang="en-US" altLang="zh-CN" sz="1600" kern="100" dirty="0">
                <a:latin typeface="+mn-lt"/>
                <a:ea typeface="SimSun" panose="02010600030101010101" pitchFamily="2" charset="-122"/>
              </a:rPr>
              <a:t>-</a:t>
            </a:r>
            <a:r>
              <a:rPr lang="en" altLang="zh-CN" sz="1600" kern="100" dirty="0">
                <a:latin typeface="+mn-lt"/>
                <a:ea typeface="SimSun" panose="02010600030101010101" pitchFamily="2" charset="-122"/>
              </a:rPr>
              <a:t>NASA-TLX</a:t>
            </a:r>
            <a:r>
              <a:rPr kumimoji="1" lang="zh-CN" altLang="en" sz="1600" dirty="0">
                <a:latin typeface="Microsoft YaHei" panose="020B0503020204020204" pitchFamily="34" charset="-122"/>
              </a:rPr>
              <a:t>）</a:t>
            </a:r>
          </a:p>
          <a:p>
            <a:pPr marL="1440000" lvl="1" indent="0">
              <a:spcBef>
                <a:spcPts val="0"/>
              </a:spcBef>
              <a:buFont typeface="Arial" panose="020B0604020202020204" pitchFamily="34" charset="0"/>
              <a:buNone/>
            </a:pPr>
            <a:r>
              <a:rPr kumimoji="1" lang="zh-CN" altLang="en-US" sz="1600" dirty="0">
                <a:latin typeface="Microsoft YaHei" panose="020B0503020204020204" pitchFamily="34" charset="-122"/>
              </a:rPr>
              <a:t>以无音乐为控制组，音乐条件顺序平衡</a:t>
            </a:r>
            <a:endParaRPr kumimoji="1" lang="en-US" altLang="zh-CN" sz="1600" dirty="0">
              <a:latin typeface="Microsoft YaHei" panose="020B0503020204020204" pitchFamily="34" charset="-122"/>
            </a:endParaRPr>
          </a:p>
          <a:p>
            <a:pPr marL="457200" lvl="1" indent="0">
              <a:buFont typeface="Arial" panose="020B0604020202020204" pitchFamily="34" charset="0"/>
              <a:buNone/>
            </a:pPr>
            <a:r>
              <a:rPr kumimoji="1" lang="zh-CN" altLang="en-US" sz="1600" b="1" dirty="0">
                <a:latin typeface="Microsoft YaHei" panose="020B0503020204020204" pitchFamily="34" charset="-122"/>
              </a:rPr>
              <a:t>被试：</a:t>
            </a:r>
            <a:endParaRPr kumimoji="1" lang="en-US" altLang="zh-CN" sz="1600" b="1" dirty="0">
              <a:latin typeface="Microsoft YaHei" panose="020B0503020204020204" pitchFamily="34" charset="-122"/>
            </a:endParaRPr>
          </a:p>
          <a:p>
            <a:pPr marL="1440000" lvl="1" indent="0">
              <a:spcBef>
                <a:spcPts val="0"/>
              </a:spcBef>
              <a:buFont typeface="Arial" panose="020B0604020202020204" pitchFamily="34" charset="0"/>
              <a:buNone/>
            </a:pPr>
            <a:r>
              <a:rPr lang="zh-CN" altLang="en-US" sz="1600" dirty="0">
                <a:latin typeface="微软雅黑" panose="020B0503020204020204" pitchFamily="34" charset="-122"/>
                <a:ea typeface="微软雅黑" panose="020B0503020204020204" pitchFamily="34" charset="-122"/>
              </a:rPr>
              <a:t>同实验</a:t>
            </a:r>
            <a:r>
              <a:rPr lang="en-US" altLang="zh-CN" sz="1600" dirty="0">
                <a:latin typeface="微软雅黑" panose="020B0503020204020204" pitchFamily="34" charset="-122"/>
                <a:ea typeface="微软雅黑" panose="020B0503020204020204" pitchFamily="34" charset="-122"/>
              </a:rPr>
              <a:t>2</a:t>
            </a:r>
          </a:p>
          <a:p>
            <a:pPr marL="457200" lvl="1" indent="0">
              <a:spcBef>
                <a:spcPts val="1100"/>
              </a:spcBef>
              <a:buFont typeface="Arial" panose="020B0604020202020204" pitchFamily="34" charset="0"/>
              <a:buNone/>
            </a:pPr>
            <a:r>
              <a:rPr kumimoji="1" lang="zh-CN" altLang="en-US" sz="1600" b="1" dirty="0">
                <a:latin typeface="微软雅黑" panose="020B0503020204020204" pitchFamily="34" charset="-122"/>
                <a:ea typeface="微软雅黑" panose="020B0503020204020204" pitchFamily="34" charset="-122"/>
              </a:rPr>
              <a:t>实验材料及设备：</a:t>
            </a:r>
            <a:endParaRPr kumimoji="1" lang="en-US" altLang="zh-CN" sz="1600" b="1" dirty="0">
              <a:latin typeface="微软雅黑" panose="020B0503020204020204" pitchFamily="34" charset="-122"/>
              <a:ea typeface="微软雅黑" panose="020B0503020204020204" pitchFamily="34" charset="-122"/>
            </a:endParaRPr>
          </a:p>
          <a:p>
            <a:pPr marL="1440000" lvl="1" indent="0">
              <a:buFont typeface="Arial" panose="020B0604020202020204" pitchFamily="34" charset="0"/>
              <a:buNone/>
            </a:pPr>
            <a:r>
              <a:rPr kumimoji="1" lang="zh-CN" altLang="en-US" sz="1600" dirty="0">
                <a:latin typeface="Microsoft YaHei" panose="020B0503020204020204" pitchFamily="34" charset="-122"/>
              </a:rPr>
              <a:t>同实验</a:t>
            </a:r>
            <a:r>
              <a:rPr kumimoji="1" lang="en-US" altLang="zh-CN" sz="1600" dirty="0">
                <a:latin typeface="Microsoft YaHei" panose="020B0503020204020204" pitchFamily="34" charset="-122"/>
              </a:rPr>
              <a:t>2</a:t>
            </a:r>
          </a:p>
        </p:txBody>
      </p:sp>
    </p:spTree>
    <p:extLst>
      <p:ext uri="{BB962C8B-B14F-4D97-AF65-F5344CB8AC3E}">
        <p14:creationId xmlns:p14="http://schemas.microsoft.com/office/powerpoint/2010/main" val="4303420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2D3469C9-EF4D-0331-B0D2-AC6CFE77E404}"/>
              </a:ext>
            </a:extLst>
          </p:cNvPr>
          <p:cNvPicPr>
            <a:picLocks noChangeAspect="1"/>
          </p:cNvPicPr>
          <p:nvPr/>
        </p:nvPicPr>
        <p:blipFill>
          <a:blip r:embed="rId3"/>
          <a:stretch>
            <a:fillRect/>
          </a:stretch>
        </p:blipFill>
        <p:spPr>
          <a:xfrm>
            <a:off x="339443" y="3832567"/>
            <a:ext cx="5851771" cy="2894176"/>
          </a:xfrm>
          <a:prstGeom prst="rect">
            <a:avLst/>
          </a:prstGeom>
        </p:spPr>
      </p:pic>
      <p:sp>
        <p:nvSpPr>
          <p:cNvPr id="10" name="内容占位符 2">
            <a:extLst>
              <a:ext uri="{FF2B5EF4-FFF2-40B4-BE49-F238E27FC236}">
                <a16:creationId xmlns:a16="http://schemas.microsoft.com/office/drawing/2014/main" id="{5442ED14-3986-CDC7-6D63-A0E3952F79F4}"/>
              </a:ext>
            </a:extLst>
          </p:cNvPr>
          <p:cNvSpPr txBox="1">
            <a:spLocks/>
          </p:cNvSpPr>
          <p:nvPr/>
        </p:nvSpPr>
        <p:spPr>
          <a:xfrm>
            <a:off x="339443" y="1194707"/>
            <a:ext cx="5756557" cy="3487021"/>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n"/>
            </a:pPr>
            <a:r>
              <a:rPr kumimoji="1" lang="zh-CN" altLang="en-US" b="1" dirty="0">
                <a:solidFill>
                  <a:srgbClr val="4472C4"/>
                </a:solidFill>
              </a:rPr>
              <a:t>研究方法：</a:t>
            </a:r>
            <a:endParaRPr kumimoji="1" lang="en-US" altLang="zh-CN" b="1" dirty="0">
              <a:solidFill>
                <a:srgbClr val="4472C4"/>
              </a:solidFill>
            </a:endParaRPr>
          </a:p>
          <a:p>
            <a:pPr marL="457200" lvl="1" indent="0">
              <a:buFont typeface="Arial" panose="020B0604020202020204" pitchFamily="34" charset="0"/>
              <a:buNone/>
            </a:pPr>
            <a:r>
              <a:rPr kumimoji="1" lang="zh-CN" altLang="en-US" b="1" dirty="0"/>
              <a:t>模拟驾驶任务</a:t>
            </a:r>
            <a:endParaRPr kumimoji="1" lang="en-US" altLang="zh-CN" b="1" dirty="0"/>
          </a:p>
          <a:p>
            <a:pPr marL="457200" lvl="1" indent="0">
              <a:spcBef>
                <a:spcPts val="0"/>
              </a:spcBef>
              <a:buFont typeface="Arial" panose="020B0604020202020204" pitchFamily="34" charset="0"/>
              <a:buNone/>
            </a:pPr>
            <a:r>
              <a:rPr lang="zh-CN" altLang="zh-CN" sz="1600" kern="100" dirty="0">
                <a:latin typeface="Times New Roman" panose="02020603050405020304" pitchFamily="18" charset="0"/>
                <a:ea typeface="宋体" panose="02010600030101010101" pitchFamily="2" charset="-122"/>
                <a:cs typeface="Times New Roman" panose="02020603050405020304" pitchFamily="18" charset="0"/>
              </a:rPr>
              <a:t>单侧宽度</a:t>
            </a:r>
            <a:r>
              <a:rPr lang="en-US" altLang="zh-CN" sz="1600" kern="100" dirty="0">
                <a:latin typeface="Times New Roman" panose="02020603050405020304" pitchFamily="18" charset="0"/>
                <a:ea typeface="宋体" panose="02010600030101010101" pitchFamily="2" charset="-122"/>
              </a:rPr>
              <a:t> 4.8 </a:t>
            </a:r>
            <a:r>
              <a:rPr lang="zh-CN" altLang="zh-CN" sz="1600" kern="100" dirty="0">
                <a:latin typeface="Times New Roman" panose="02020603050405020304" pitchFamily="18" charset="0"/>
                <a:ea typeface="宋体" panose="02010600030101010101" pitchFamily="2" charset="-122"/>
                <a:cs typeface="Times New Roman" panose="02020603050405020304" pitchFamily="18" charset="0"/>
              </a:rPr>
              <a:t>米的双向车道，中间有双黄线</a:t>
            </a:r>
            <a:r>
              <a:rPr lang="zh-CN" altLang="en-US" sz="1600" kern="100" dirty="0">
                <a:latin typeface="Times New Roman" panose="02020603050405020304" pitchFamily="18" charset="0"/>
                <a:ea typeface="宋体" panose="02010600030101010101" pitchFamily="2" charset="-122"/>
                <a:cs typeface="Times New Roman" panose="02020603050405020304" pitchFamily="18" charset="0"/>
              </a:rPr>
              <a:t>，同实验</a:t>
            </a:r>
            <a:r>
              <a:rPr lang="en-US" altLang="zh-CN" sz="1600" kern="100" dirty="0">
                <a:latin typeface="Times New Roman" panose="02020603050405020304" pitchFamily="18" charset="0"/>
                <a:ea typeface="宋体" panose="02010600030101010101" pitchFamily="2" charset="-122"/>
                <a:cs typeface="Times New Roman" panose="02020603050405020304" pitchFamily="18" charset="0"/>
              </a:rPr>
              <a:t>2</a:t>
            </a:r>
            <a:r>
              <a:rPr lang="zh-CN" altLang="zh-CN" sz="1600" kern="100" dirty="0">
                <a:latin typeface="Times New Roman" panose="02020603050405020304" pitchFamily="18" charset="0"/>
                <a:ea typeface="宋体" panose="02010600030101010101" pitchFamily="2" charset="-122"/>
                <a:cs typeface="Times New Roman" panose="02020603050405020304" pitchFamily="18" charset="0"/>
              </a:rPr>
              <a:t>。全长约</a:t>
            </a:r>
            <a:r>
              <a:rPr lang="en-US" altLang="zh-CN" sz="1600" kern="100" dirty="0">
                <a:latin typeface="Times New Roman" panose="02020603050405020304" pitchFamily="18" charset="0"/>
                <a:ea typeface="宋体" panose="02010600030101010101" pitchFamily="2" charset="-122"/>
              </a:rPr>
              <a:t>15km</a:t>
            </a:r>
            <a:r>
              <a:rPr lang="zh-CN" altLang="zh-CN" sz="1600" kern="100" dirty="0">
                <a:latin typeface="Times New Roman" panose="02020603050405020304" pitchFamily="18" charset="0"/>
                <a:ea typeface="宋体" panose="02010600030101010101" pitchFamily="2" charset="-122"/>
                <a:cs typeface="Times New Roman" panose="02020603050405020304" pitchFamily="18" charset="0"/>
              </a:rPr>
              <a:t>，限速</a:t>
            </a:r>
            <a:r>
              <a:rPr lang="en-US" altLang="zh-CN" sz="1600" kern="100" dirty="0">
                <a:latin typeface="Times New Roman" panose="02020603050405020304" pitchFamily="18" charset="0"/>
                <a:ea typeface="宋体" panose="02010600030101010101" pitchFamily="2" charset="-122"/>
              </a:rPr>
              <a:t>65km/h</a:t>
            </a:r>
            <a:r>
              <a:rPr lang="zh-CN" altLang="zh-CN" sz="1600" kern="100" dirty="0">
                <a:latin typeface="Times New Roman" panose="02020603050405020304" pitchFamily="18" charset="0"/>
                <a:ea typeface="宋体" panose="02010600030101010101" pitchFamily="2" charset="-122"/>
                <a:cs typeface="Times New Roman" panose="02020603050405020304" pitchFamily="18" charset="0"/>
              </a:rPr>
              <a:t>，预计需</a:t>
            </a:r>
            <a:r>
              <a:rPr lang="en-US" altLang="zh-CN" sz="1600" kern="100" dirty="0">
                <a:latin typeface="Times New Roman" panose="02020603050405020304" pitchFamily="18" charset="0"/>
                <a:ea typeface="宋体" panose="02010600030101010101" pitchFamily="2" charset="-122"/>
                <a:cs typeface="Times New Roman" panose="02020603050405020304" pitchFamily="18" charset="0"/>
              </a:rPr>
              <a:t>20</a:t>
            </a:r>
            <a:r>
              <a:rPr lang="zh-CN" altLang="zh-CN" sz="1600" kern="100" dirty="0">
                <a:latin typeface="Times New Roman" panose="02020603050405020304" pitchFamily="18" charset="0"/>
                <a:ea typeface="宋体" panose="02010600030101010101" pitchFamily="2" charset="-122"/>
                <a:cs typeface="Times New Roman" panose="02020603050405020304" pitchFamily="18" charset="0"/>
              </a:rPr>
              <a:t>分钟。</a:t>
            </a:r>
            <a:endParaRPr lang="en-US" altLang="zh-CN" sz="1600" kern="100" dirty="0">
              <a:latin typeface="Times New Roman" panose="02020603050405020304" pitchFamily="18" charset="0"/>
              <a:ea typeface="宋体" panose="02010600030101010101" pitchFamily="2" charset="-122"/>
              <a:cs typeface="Times New Roman" panose="02020603050405020304" pitchFamily="18" charset="0"/>
            </a:endParaRPr>
          </a:p>
          <a:p>
            <a:pPr marL="457200" lvl="1" indent="0">
              <a:spcBef>
                <a:spcPts val="0"/>
              </a:spcBef>
              <a:buFont typeface="Arial" panose="020B0604020202020204" pitchFamily="34" charset="0"/>
              <a:buNone/>
            </a:pPr>
            <a:r>
              <a:rPr lang="en-US" altLang="zh-CN" sz="1600" kern="100" dirty="0">
                <a:latin typeface="Times New Roman" panose="02020603050405020304" pitchFamily="18" charset="0"/>
                <a:ea typeface="宋体" panose="02010600030101010101" pitchFamily="2" charset="-122"/>
                <a:cs typeface="Times New Roman" panose="02020603050405020304" pitchFamily="18" charset="0"/>
              </a:rPr>
              <a:t>11</a:t>
            </a:r>
            <a:r>
              <a:rPr lang="zh-CN" altLang="en-US" sz="1600" kern="100" dirty="0">
                <a:latin typeface="Times New Roman" panose="02020603050405020304" pitchFamily="18" charset="0"/>
                <a:ea typeface="宋体" panose="02010600030101010101" pitchFamily="2" charset="-122"/>
                <a:cs typeface="Times New Roman" panose="02020603050405020304" pitchFamily="18" charset="0"/>
              </a:rPr>
              <a:t>个突发事件（行人横穿、前车急刹、绿灯转红）</a:t>
            </a:r>
            <a:r>
              <a:rPr lang="zh-CN" altLang="zh-CN" sz="1600"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1600" dirty="0"/>
              <a:t> </a:t>
            </a:r>
            <a:r>
              <a:rPr kumimoji="1" lang="zh-CN" altLang="en-US" sz="1600" dirty="0">
                <a:latin typeface="SimSun" panose="02010600030101010101" pitchFamily="2" charset="-122"/>
                <a:ea typeface="SimSun" panose="02010600030101010101" pitchFamily="2" charset="-122"/>
              </a:rPr>
              <a:t>设计</a:t>
            </a:r>
            <a:r>
              <a:rPr kumimoji="1" lang="en-US" altLang="zh-CN" sz="1600" dirty="0">
                <a:latin typeface="SimSun" panose="02010600030101010101" pitchFamily="2" charset="-122"/>
                <a:ea typeface="SimSun" panose="02010600030101010101" pitchFamily="2" charset="-122"/>
              </a:rPr>
              <a:t>4</a:t>
            </a:r>
            <a:r>
              <a:rPr kumimoji="1" lang="zh-CN" altLang="en-US" sz="1600" dirty="0">
                <a:latin typeface="SimSun" panose="02010600030101010101" pitchFamily="2" charset="-122"/>
                <a:ea typeface="SimSun" panose="02010600030101010101" pitchFamily="2" charset="-122"/>
              </a:rPr>
              <a:t>个场景，变化突发事件出现位置和顺序</a:t>
            </a:r>
            <a:endParaRPr kumimoji="1" lang="en-US" altLang="zh-CN" sz="1600" dirty="0">
              <a:latin typeface="SimSun" panose="02010600030101010101" pitchFamily="2" charset="-122"/>
              <a:ea typeface="SimSun" panose="02010600030101010101" pitchFamily="2" charset="-122"/>
            </a:endParaRPr>
          </a:p>
        </p:txBody>
      </p:sp>
      <p:pic>
        <p:nvPicPr>
          <p:cNvPr id="3" name="图片 2">
            <a:extLst>
              <a:ext uri="{FF2B5EF4-FFF2-40B4-BE49-F238E27FC236}">
                <a16:creationId xmlns:a16="http://schemas.microsoft.com/office/drawing/2014/main" id="{9C2BB652-F537-D8FB-D0E5-3639E5944FED}"/>
              </a:ext>
            </a:extLst>
          </p:cNvPr>
          <p:cNvPicPr>
            <a:picLocks noChangeAspect="1"/>
          </p:cNvPicPr>
          <p:nvPr/>
        </p:nvPicPr>
        <p:blipFill>
          <a:blip r:embed="rId4"/>
          <a:stretch>
            <a:fillRect/>
          </a:stretch>
        </p:blipFill>
        <p:spPr>
          <a:xfrm>
            <a:off x="3766048" y="4138796"/>
            <a:ext cx="1203518" cy="1330556"/>
          </a:xfrm>
          <a:prstGeom prst="rect">
            <a:avLst/>
          </a:prstGeom>
        </p:spPr>
      </p:pic>
      <p:sp>
        <p:nvSpPr>
          <p:cNvPr id="4" name="内容占位符 2">
            <a:extLst>
              <a:ext uri="{FF2B5EF4-FFF2-40B4-BE49-F238E27FC236}">
                <a16:creationId xmlns:a16="http://schemas.microsoft.com/office/drawing/2014/main" id="{7CB509F6-30E2-8303-34C2-4DFFBDBC3883}"/>
              </a:ext>
            </a:extLst>
          </p:cNvPr>
          <p:cNvSpPr txBox="1">
            <a:spLocks/>
          </p:cNvSpPr>
          <p:nvPr/>
        </p:nvSpPr>
        <p:spPr>
          <a:xfrm>
            <a:off x="6563492" y="3103986"/>
            <a:ext cx="5189946" cy="4351338"/>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n"/>
            </a:pPr>
            <a:r>
              <a:rPr kumimoji="1" lang="zh-CN" altLang="en-US" b="1" dirty="0">
                <a:solidFill>
                  <a:srgbClr val="4472C4"/>
                </a:solidFill>
              </a:rPr>
              <a:t>数据分析：</a:t>
            </a:r>
            <a:endParaRPr kumimoji="1" lang="en-US" altLang="zh-CN" b="1" dirty="0">
              <a:solidFill>
                <a:srgbClr val="4472C4"/>
              </a:solidFill>
            </a:endParaRPr>
          </a:p>
          <a:p>
            <a:pPr marL="457200" indent="0">
              <a:buFont typeface="Arial" panose="020B0604020202020204" pitchFamily="34" charset="0"/>
              <a:buNone/>
            </a:pPr>
            <a:r>
              <a:rPr kumimoji="1" lang="zh-CN" altLang="en-US" sz="1600" b="1" dirty="0">
                <a:latin typeface="+mj-ea"/>
                <a:ea typeface="+mj-ea"/>
              </a:rPr>
              <a:t>重复测量方差分析：</a:t>
            </a:r>
            <a:r>
              <a:rPr kumimoji="1" lang="zh-CN" altLang="en-US" sz="1600" dirty="0">
                <a:latin typeface="+mj-ea"/>
                <a:ea typeface="+mj-ea"/>
              </a:rPr>
              <a:t>音乐流派、速度对各变量是否有主效应、交互效应、以及对比各组之间的差异</a:t>
            </a:r>
            <a:endParaRPr kumimoji="1" lang="en-US" altLang="zh-CN" sz="1600" dirty="0">
              <a:latin typeface="+mj-ea"/>
              <a:ea typeface="+mj-ea"/>
            </a:endParaRPr>
          </a:p>
          <a:p>
            <a:pPr marL="457200" indent="0">
              <a:buFont typeface="Arial" panose="020B0604020202020204" pitchFamily="34" charset="0"/>
              <a:buNone/>
            </a:pPr>
            <a:r>
              <a:rPr kumimoji="1" lang="en-US" altLang="zh-CN" sz="1600" dirty="0">
                <a:latin typeface="+mj-ea"/>
                <a:ea typeface="+mj-ea"/>
              </a:rPr>
              <a:t>	</a:t>
            </a:r>
          </a:p>
        </p:txBody>
      </p:sp>
      <p:sp>
        <p:nvSpPr>
          <p:cNvPr id="5" name="内容占位符 2">
            <a:extLst>
              <a:ext uri="{FF2B5EF4-FFF2-40B4-BE49-F238E27FC236}">
                <a16:creationId xmlns:a16="http://schemas.microsoft.com/office/drawing/2014/main" id="{A8EFA3A8-E9AA-6727-A2CE-6DB73D980493}"/>
              </a:ext>
            </a:extLst>
          </p:cNvPr>
          <p:cNvSpPr txBox="1">
            <a:spLocks/>
          </p:cNvSpPr>
          <p:nvPr/>
        </p:nvSpPr>
        <p:spPr>
          <a:xfrm>
            <a:off x="6563492" y="4686506"/>
            <a:ext cx="5595366" cy="4351338"/>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n"/>
            </a:pPr>
            <a:r>
              <a:rPr kumimoji="1" lang="zh-CN" altLang="en-US" b="1" dirty="0">
                <a:solidFill>
                  <a:srgbClr val="4472C4"/>
                </a:solidFill>
              </a:rPr>
              <a:t>预期结果：</a:t>
            </a:r>
            <a:endParaRPr kumimoji="1" lang="en-US" altLang="zh-CN" b="1" dirty="0">
              <a:solidFill>
                <a:srgbClr val="4472C4"/>
              </a:solidFill>
            </a:endParaRPr>
          </a:p>
          <a:p>
            <a:pPr marL="457200" indent="0">
              <a:buFont typeface="Arial" panose="020B0604020202020204" pitchFamily="34" charset="0"/>
              <a:buNone/>
            </a:pPr>
            <a:r>
              <a:rPr kumimoji="1" lang="zh-CN" altLang="en-US" sz="1600" dirty="0"/>
              <a:t>音乐流派和速度主效应显著；交互效应显著；</a:t>
            </a:r>
          </a:p>
          <a:p>
            <a:pPr marL="457200" indent="0">
              <a:buFont typeface="Arial" panose="020B0604020202020204" pitchFamily="34" charset="0"/>
              <a:buNone/>
            </a:pPr>
            <a:r>
              <a:rPr kumimoji="1" lang="zh-CN" altLang="en-US" sz="1600" dirty="0"/>
              <a:t>快速的摇滚音乐下，稳定性最差，危险规避反应更慢，危险性更高</a:t>
            </a:r>
          </a:p>
          <a:p>
            <a:pPr marL="0" indent="0">
              <a:buFont typeface="Arial" panose="020B0604020202020204" pitchFamily="34" charset="0"/>
              <a:buNone/>
            </a:pPr>
            <a:endParaRPr kumimoji="1" lang="zh-CN" altLang="en-US" sz="1600" dirty="0"/>
          </a:p>
          <a:p>
            <a:pPr marL="0" indent="0">
              <a:buFont typeface="Arial" panose="020B0604020202020204" pitchFamily="34" charset="0"/>
              <a:buNone/>
            </a:pPr>
            <a:r>
              <a:rPr kumimoji="1" lang="en-US" altLang="zh-CN" sz="1600" dirty="0">
                <a:latin typeface="+mj-ea"/>
                <a:ea typeface="+mj-ea"/>
              </a:rPr>
              <a:t>	</a:t>
            </a:r>
            <a:endParaRPr kumimoji="1" lang="en-US" altLang="zh-CN" dirty="0">
              <a:latin typeface="+mj-ea"/>
              <a:ea typeface="+mj-ea"/>
            </a:endParaRPr>
          </a:p>
        </p:txBody>
      </p:sp>
      <p:sp>
        <p:nvSpPr>
          <p:cNvPr id="6" name="内容占位符 2">
            <a:extLst>
              <a:ext uri="{FF2B5EF4-FFF2-40B4-BE49-F238E27FC236}">
                <a16:creationId xmlns:a16="http://schemas.microsoft.com/office/drawing/2014/main" id="{06A5EFF6-9F28-8E57-F3D1-33744A5AD2AB}"/>
              </a:ext>
            </a:extLst>
          </p:cNvPr>
          <p:cNvSpPr txBox="1">
            <a:spLocks/>
          </p:cNvSpPr>
          <p:nvPr/>
        </p:nvSpPr>
        <p:spPr>
          <a:xfrm>
            <a:off x="6563492" y="1194707"/>
            <a:ext cx="6370305" cy="4351338"/>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n"/>
            </a:pPr>
            <a:r>
              <a:rPr kumimoji="1" lang="zh-CN" altLang="en-US" b="1" dirty="0">
                <a:solidFill>
                  <a:srgbClr val="4472C4"/>
                </a:solidFill>
              </a:rPr>
              <a:t>实验流程</a:t>
            </a:r>
            <a:endParaRPr kumimoji="1" lang="en-US" altLang="zh-CN" b="1" dirty="0">
              <a:solidFill>
                <a:srgbClr val="4472C4"/>
              </a:solidFill>
            </a:endParaRPr>
          </a:p>
        </p:txBody>
      </p:sp>
      <p:pic>
        <p:nvPicPr>
          <p:cNvPr id="7" name="图片 6">
            <a:extLst>
              <a:ext uri="{FF2B5EF4-FFF2-40B4-BE49-F238E27FC236}">
                <a16:creationId xmlns:a16="http://schemas.microsoft.com/office/drawing/2014/main" id="{553B8F6B-94AE-08A7-E323-0D56ABB68C3F}"/>
              </a:ext>
            </a:extLst>
          </p:cNvPr>
          <p:cNvPicPr>
            <a:picLocks noChangeAspect="1"/>
          </p:cNvPicPr>
          <p:nvPr/>
        </p:nvPicPr>
        <p:blipFill>
          <a:blip r:embed="rId5"/>
          <a:stretch>
            <a:fillRect/>
          </a:stretch>
        </p:blipFill>
        <p:spPr>
          <a:xfrm>
            <a:off x="6563492" y="1731434"/>
            <a:ext cx="5578082" cy="1248824"/>
          </a:xfrm>
          <a:prstGeom prst="rect">
            <a:avLst/>
          </a:prstGeom>
        </p:spPr>
      </p:pic>
      <p:sp>
        <p:nvSpPr>
          <p:cNvPr id="9" name="标题 1">
            <a:extLst>
              <a:ext uri="{FF2B5EF4-FFF2-40B4-BE49-F238E27FC236}">
                <a16:creationId xmlns:a16="http://schemas.microsoft.com/office/drawing/2014/main" id="{EB7FD3D3-7C31-DCF2-F47B-88D0EE0C6C04}"/>
              </a:ext>
            </a:extLst>
          </p:cNvPr>
          <p:cNvSpPr>
            <a:spLocks noGrp="1"/>
          </p:cNvSpPr>
          <p:nvPr>
            <p:ph type="title"/>
          </p:nvPr>
        </p:nvSpPr>
        <p:spPr>
          <a:xfrm>
            <a:off x="339443" y="-16370"/>
            <a:ext cx="10515600" cy="1325563"/>
          </a:xfrm>
        </p:spPr>
        <p:txBody>
          <a:bodyPr/>
          <a:lstStyle/>
          <a:p>
            <a:r>
              <a:rPr kumimoji="1" lang="zh-CN" altLang="en-US" dirty="0"/>
              <a:t>研究方案 </a:t>
            </a:r>
            <a:r>
              <a:rPr kumimoji="1" lang="zh-CN" altLang="en-US" sz="2400" dirty="0"/>
              <a:t>研究二  </a:t>
            </a:r>
            <a:r>
              <a:rPr kumimoji="1" lang="zh-CN" altLang="en-US" sz="2000" dirty="0"/>
              <a:t>实验</a:t>
            </a:r>
            <a:r>
              <a:rPr kumimoji="1" lang="en-US" altLang="zh-CN" sz="2000" dirty="0"/>
              <a:t>3:</a:t>
            </a:r>
            <a:r>
              <a:rPr kumimoji="1" lang="zh-CN" altLang="en-US" sz="2000" dirty="0"/>
              <a:t>音乐流派和音乐速度对危险规避的影响</a:t>
            </a:r>
            <a:endParaRPr kumimoji="1" lang="zh-CN" altLang="en-US" dirty="0"/>
          </a:p>
        </p:txBody>
      </p:sp>
    </p:spTree>
    <p:extLst>
      <p:ext uri="{BB962C8B-B14F-4D97-AF65-F5344CB8AC3E}">
        <p14:creationId xmlns:p14="http://schemas.microsoft.com/office/powerpoint/2010/main" val="14386589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2">
            <a:extLst>
              <a:ext uri="{FF2B5EF4-FFF2-40B4-BE49-F238E27FC236}">
                <a16:creationId xmlns:a16="http://schemas.microsoft.com/office/drawing/2014/main" id="{9085770D-BA2F-F228-7C60-DCA306D274D7}"/>
              </a:ext>
            </a:extLst>
          </p:cNvPr>
          <p:cNvSpPr txBox="1">
            <a:spLocks/>
          </p:cNvSpPr>
          <p:nvPr/>
        </p:nvSpPr>
        <p:spPr>
          <a:xfrm>
            <a:off x="339443" y="2114948"/>
            <a:ext cx="11950093" cy="4940341"/>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n"/>
            </a:pPr>
            <a:r>
              <a:rPr kumimoji="1" lang="zh-CN" altLang="en-US" b="1" dirty="0">
                <a:solidFill>
                  <a:srgbClr val="4472C4"/>
                </a:solidFill>
              </a:rPr>
              <a:t>研究方法：</a:t>
            </a:r>
            <a:endParaRPr kumimoji="1" lang="en-US" altLang="zh-CN" b="1" dirty="0">
              <a:solidFill>
                <a:srgbClr val="4472C4"/>
              </a:solidFill>
            </a:endParaRPr>
          </a:p>
          <a:p>
            <a:pPr marL="457200" lvl="1" indent="0">
              <a:buFont typeface="Arial" panose="020B0604020202020204" pitchFamily="34" charset="0"/>
              <a:buNone/>
            </a:pPr>
            <a:r>
              <a:rPr kumimoji="1" lang="zh-CN" altLang="en-US" sz="1600" b="1" dirty="0"/>
              <a:t>实验设计：</a:t>
            </a:r>
            <a:r>
              <a:rPr lang="en-US" altLang="zh-CN" sz="1600" kern="100" dirty="0">
                <a:effectLst/>
                <a:latin typeface="Microsoft YaHei" panose="020B0503020204020204" pitchFamily="34" charset="-122"/>
              </a:rPr>
              <a:t> 3</a:t>
            </a:r>
            <a:r>
              <a:rPr lang="zh-CN" altLang="en-US" sz="1600" kern="100" dirty="0">
                <a:effectLst/>
                <a:latin typeface="Microsoft YaHei" panose="020B0503020204020204" pitchFamily="34" charset="-122"/>
              </a:rPr>
              <a:t>（组间</a:t>
            </a:r>
            <a:r>
              <a:rPr lang="en-US" altLang="zh-CN" sz="1600" kern="100" dirty="0">
                <a:effectLst/>
                <a:latin typeface="Microsoft YaHei" panose="020B0503020204020204" pitchFamily="34" charset="-122"/>
              </a:rPr>
              <a:t>-</a:t>
            </a:r>
            <a:r>
              <a:rPr lang="zh-CN" altLang="en-US" sz="1600" b="1" kern="100" dirty="0">
                <a:effectLst/>
                <a:latin typeface="Microsoft YaHei" panose="020B0503020204020204" pitchFamily="34" charset="-122"/>
              </a:rPr>
              <a:t>音乐流派</a:t>
            </a:r>
            <a:r>
              <a:rPr lang="zh-CN" altLang="en-US" sz="1600" kern="100" dirty="0">
                <a:effectLst/>
                <a:latin typeface="Microsoft YaHei" panose="020B0503020204020204" pitchFamily="34" charset="-122"/>
              </a:rPr>
              <a:t>：</a:t>
            </a:r>
            <a:r>
              <a:rPr lang="zh-CN" altLang="en-US" sz="1600" kern="100" dirty="0">
                <a:effectLst/>
                <a:latin typeface="SimSun" panose="02010600030101010101" pitchFamily="2" charset="-122"/>
                <a:ea typeface="SimSun" panose="02010600030101010101" pitchFamily="2" charset="-122"/>
              </a:rPr>
              <a:t>摇滚</a:t>
            </a:r>
            <a:r>
              <a:rPr lang="en-US" altLang="zh-CN" sz="1600" kern="100" dirty="0">
                <a:effectLst/>
                <a:latin typeface="SimSun" panose="02010600030101010101" pitchFamily="2" charset="-122"/>
                <a:ea typeface="SimSun" panose="02010600030101010101" pitchFamily="2" charset="-122"/>
              </a:rPr>
              <a:t>/</a:t>
            </a:r>
            <a:r>
              <a:rPr lang="zh-CN" altLang="en-US" sz="1600" kern="100" dirty="0">
                <a:effectLst/>
                <a:latin typeface="SimSun" panose="02010600030101010101" pitchFamily="2" charset="-122"/>
                <a:ea typeface="SimSun" panose="02010600030101010101" pitchFamily="2" charset="-122"/>
              </a:rPr>
              <a:t>古典</a:t>
            </a:r>
            <a:r>
              <a:rPr lang="en-US" altLang="zh-CN" sz="1600" kern="100" dirty="0">
                <a:effectLst/>
                <a:latin typeface="SimSun" panose="02010600030101010101" pitchFamily="2" charset="-122"/>
                <a:ea typeface="SimSun" panose="02010600030101010101" pitchFamily="2" charset="-122"/>
              </a:rPr>
              <a:t>/</a:t>
            </a:r>
            <a:r>
              <a:rPr lang="zh-CN" altLang="en-US" sz="1600" kern="100" dirty="0">
                <a:effectLst/>
                <a:latin typeface="SimSun" panose="02010600030101010101" pitchFamily="2" charset="-122"/>
                <a:ea typeface="SimSun" panose="02010600030101010101" pitchFamily="2" charset="-122"/>
              </a:rPr>
              <a:t>流行</a:t>
            </a:r>
            <a:r>
              <a:rPr lang="zh-CN" altLang="en-US" sz="1600" kern="100" dirty="0">
                <a:effectLst/>
                <a:latin typeface="Microsoft YaHei" panose="020B0503020204020204" pitchFamily="34" charset="-122"/>
              </a:rPr>
              <a:t>）</a:t>
            </a:r>
            <a:r>
              <a:rPr lang="en-US" altLang="zh-CN" sz="1600" kern="100" dirty="0">
                <a:effectLst/>
                <a:latin typeface="Microsoft YaHei" panose="020B0503020204020204" pitchFamily="34" charset="-122"/>
              </a:rPr>
              <a:t>*2</a:t>
            </a:r>
            <a:r>
              <a:rPr lang="zh-CN" altLang="en-US" sz="1600" kern="100" dirty="0">
                <a:effectLst/>
                <a:latin typeface="Microsoft YaHei" panose="020B0503020204020204" pitchFamily="34" charset="-122"/>
              </a:rPr>
              <a:t>（组内</a:t>
            </a:r>
            <a:r>
              <a:rPr lang="en-US" altLang="zh-CN" sz="1600" kern="100" dirty="0">
                <a:latin typeface="Microsoft YaHei" panose="020B0503020204020204" pitchFamily="34" charset="-122"/>
              </a:rPr>
              <a:t>-</a:t>
            </a:r>
            <a:r>
              <a:rPr lang="zh-CN" altLang="en-US" sz="1600" b="1" kern="100" dirty="0">
                <a:latin typeface="Microsoft YaHei" panose="020B0503020204020204" pitchFamily="34" charset="-122"/>
              </a:rPr>
              <a:t>音高</a:t>
            </a:r>
            <a:r>
              <a:rPr lang="zh-CN" altLang="en-US" sz="1600" kern="100" dirty="0">
                <a:latin typeface="Microsoft YaHei" panose="020B0503020204020204" pitchFamily="34" charset="-122"/>
              </a:rPr>
              <a:t>：</a:t>
            </a:r>
            <a:r>
              <a:rPr lang="zh-CN" altLang="en-US" sz="1600" kern="100" dirty="0">
                <a:latin typeface="SimSun" panose="02010600030101010101" pitchFamily="2" charset="-122"/>
                <a:ea typeface="SimSun" panose="02010600030101010101" pitchFamily="2" charset="-122"/>
              </a:rPr>
              <a:t>低</a:t>
            </a:r>
            <a:r>
              <a:rPr lang="en-US" altLang="zh-CN" sz="1600" kern="100" dirty="0">
                <a:latin typeface="SimSun" panose="02010600030101010101" pitchFamily="2" charset="-122"/>
                <a:ea typeface="SimSun" panose="02010600030101010101" pitchFamily="2" charset="-122"/>
              </a:rPr>
              <a:t>/</a:t>
            </a:r>
            <a:r>
              <a:rPr lang="zh-CN" altLang="en-US" sz="1600" kern="100" dirty="0">
                <a:latin typeface="SimSun" panose="02010600030101010101" pitchFamily="2" charset="-122"/>
                <a:ea typeface="SimSun" panose="02010600030101010101" pitchFamily="2" charset="-122"/>
              </a:rPr>
              <a:t>高</a:t>
            </a:r>
            <a:r>
              <a:rPr lang="zh-CN" altLang="en-US" sz="1600" kern="100" dirty="0">
                <a:effectLst/>
                <a:latin typeface="Microsoft YaHei" panose="020B0503020204020204" pitchFamily="34" charset="-122"/>
              </a:rPr>
              <a:t>）</a:t>
            </a:r>
            <a:r>
              <a:rPr lang="zh-CN" altLang="zh-CN" sz="1600" kern="100" dirty="0">
                <a:effectLst/>
                <a:latin typeface="Microsoft YaHei" panose="020B0503020204020204" pitchFamily="34" charset="-122"/>
                <a:cs typeface="Times New Roman" panose="02020603050405020304" pitchFamily="18" charset="0"/>
              </a:rPr>
              <a:t>混合实验设计</a:t>
            </a:r>
            <a:r>
              <a:rPr lang="zh-CN" altLang="zh-CN" sz="1600" dirty="0">
                <a:effectLst/>
                <a:latin typeface="Microsoft YaHei" panose="020B0503020204020204" pitchFamily="34" charset="-122"/>
              </a:rPr>
              <a:t> </a:t>
            </a:r>
            <a:endParaRPr kumimoji="1" lang="en-US" altLang="zh-CN" sz="1600" b="1" dirty="0">
              <a:latin typeface="Microsoft YaHei" panose="020B0503020204020204" pitchFamily="34" charset="-122"/>
            </a:endParaRPr>
          </a:p>
          <a:p>
            <a:pPr marL="1440000" lvl="1" indent="0">
              <a:spcBef>
                <a:spcPts val="0"/>
              </a:spcBef>
              <a:buFont typeface="Arial" panose="020B0604020202020204" pitchFamily="34" charset="0"/>
              <a:buNone/>
            </a:pPr>
            <a:r>
              <a:rPr kumimoji="1" lang="zh-CN" altLang="en-US" sz="1600" dirty="0">
                <a:latin typeface="Microsoft YaHei" panose="020B0503020204020204" pitchFamily="34" charset="-122"/>
              </a:rPr>
              <a:t>控制变量：驾驶经验、音乐偏好、性别</a:t>
            </a:r>
            <a:endParaRPr kumimoji="1" lang="en-US" altLang="zh-CN" sz="1600" dirty="0">
              <a:latin typeface="Microsoft YaHei" panose="020B0503020204020204" pitchFamily="34" charset="-122"/>
            </a:endParaRPr>
          </a:p>
          <a:p>
            <a:pPr marL="1440000" lvl="1" indent="0">
              <a:spcBef>
                <a:spcPts val="0"/>
              </a:spcBef>
              <a:buFont typeface="Arial" panose="020B0604020202020204" pitchFamily="34" charset="0"/>
              <a:buNone/>
            </a:pPr>
            <a:r>
              <a:rPr kumimoji="1" lang="zh-CN" altLang="en-US" sz="1600" dirty="0">
                <a:latin typeface="Microsoft YaHei" panose="020B0503020204020204" pitchFamily="34" charset="-122"/>
              </a:rPr>
              <a:t>因变量：驾驶行为（</a:t>
            </a:r>
            <a:r>
              <a:rPr lang="zh-CN" altLang="en-US" sz="1600" kern="100" dirty="0">
                <a:latin typeface="SimSun" panose="02010600030101010101" pitchFamily="2" charset="-122"/>
                <a:ea typeface="SimSun" panose="02010600030101010101" pitchFamily="2" charset="-122"/>
              </a:rPr>
              <a:t>速度、速度标准差、横向位置标准差、制动踏板位置</a:t>
            </a:r>
            <a:r>
              <a:rPr lang="en-US" altLang="zh-CN" sz="1600" kern="100" dirty="0">
                <a:latin typeface="SimSun" panose="02010600030101010101" pitchFamily="2" charset="-122"/>
                <a:ea typeface="SimSun" panose="02010600030101010101" pitchFamily="2" charset="-122"/>
              </a:rPr>
              <a:t>/</a:t>
            </a:r>
            <a:r>
              <a:rPr lang="zh-CN" altLang="en-US" sz="1600" kern="100" dirty="0">
                <a:latin typeface="SimSun" panose="02010600030101010101" pitchFamily="2" charset="-122"/>
                <a:ea typeface="SimSun" panose="02010600030101010101" pitchFamily="2" charset="-122"/>
              </a:rPr>
              <a:t>制动踏板力、碰撞次数</a:t>
            </a:r>
            <a:r>
              <a:rPr kumimoji="1" lang="zh-CN" altLang="en-US" sz="1600" dirty="0">
                <a:latin typeface="Microsoft YaHei" panose="020B0503020204020204" pitchFamily="34" charset="-122"/>
              </a:rPr>
              <a:t>）；</a:t>
            </a:r>
            <a:endParaRPr kumimoji="1" lang="en-US" altLang="zh-CN" sz="1600" dirty="0">
              <a:latin typeface="Microsoft YaHei" panose="020B0503020204020204" pitchFamily="34" charset="-122"/>
            </a:endParaRPr>
          </a:p>
          <a:p>
            <a:pPr marL="1440000" lvl="1" indent="0">
              <a:spcBef>
                <a:spcPts val="0"/>
              </a:spcBef>
              <a:buFont typeface="Arial" panose="020B0604020202020204" pitchFamily="34" charset="0"/>
              <a:buNone/>
            </a:pPr>
            <a:r>
              <a:rPr kumimoji="1" lang="zh-CN" altLang="en-US" sz="1600" dirty="0">
                <a:latin typeface="Microsoft YaHei" panose="020B0503020204020204" pitchFamily="34" charset="-122"/>
              </a:rPr>
              <a:t>以无音乐为控制组，音乐条件顺序平衡</a:t>
            </a:r>
            <a:endParaRPr kumimoji="1" lang="en-US" altLang="zh-CN" sz="1600" dirty="0">
              <a:latin typeface="Microsoft YaHei" panose="020B0503020204020204" pitchFamily="34" charset="-122"/>
            </a:endParaRPr>
          </a:p>
          <a:p>
            <a:pPr marL="457200" lvl="1" indent="0">
              <a:buFont typeface="Arial" panose="020B0604020202020204" pitchFamily="34" charset="0"/>
              <a:buNone/>
            </a:pPr>
            <a:r>
              <a:rPr kumimoji="1" lang="zh-CN" altLang="en-US" sz="1600" b="1" dirty="0">
                <a:latin typeface="Microsoft YaHei" panose="020B0503020204020204" pitchFamily="34" charset="-122"/>
              </a:rPr>
              <a:t>被试：</a:t>
            </a:r>
            <a:endParaRPr kumimoji="1" lang="en-US" altLang="zh-CN" sz="1600" b="1" dirty="0">
              <a:latin typeface="Microsoft YaHei" panose="020B0503020204020204" pitchFamily="34" charset="-122"/>
            </a:endParaRPr>
          </a:p>
          <a:p>
            <a:pPr marL="1440000" lvl="1" indent="0">
              <a:spcBef>
                <a:spcPts val="0"/>
              </a:spcBef>
              <a:buFont typeface="Arial" panose="020B0604020202020204" pitchFamily="34" charset="0"/>
              <a:buNone/>
            </a:pPr>
            <a:r>
              <a:rPr lang="en-US" altLang="zh-CN" sz="1600" dirty="0">
                <a:latin typeface="微软雅黑" panose="020B0503020204020204" pitchFamily="34" charset="-122"/>
                <a:ea typeface="微软雅黑" panose="020B0503020204020204" pitchFamily="34" charset="-122"/>
              </a:rPr>
              <a:t>66</a:t>
            </a:r>
            <a:r>
              <a:rPr lang="zh-CN" altLang="en-US" sz="1600" dirty="0">
                <a:latin typeface="微软雅黑" panose="020B0503020204020204" pitchFamily="34" charset="-122"/>
                <a:ea typeface="微软雅黑" panose="020B0503020204020204" pitchFamily="34" charset="-122"/>
              </a:rPr>
              <a:t>名（</a:t>
            </a:r>
            <a:r>
              <a:rPr lang="en-US" altLang="zh-CN" sz="1600" dirty="0">
                <a:latin typeface="微软雅黑" panose="020B0503020204020204" pitchFamily="34" charset="-122"/>
                <a:ea typeface="微软雅黑" panose="020B0503020204020204" pitchFamily="34" charset="-122"/>
              </a:rPr>
              <a:t>g</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power</a:t>
            </a:r>
            <a:r>
              <a:rPr lang="zh-CN" altLang="en-US" sz="1600" dirty="0">
                <a:latin typeface="微软雅黑" panose="020B0503020204020204" pitchFamily="34" charset="-122"/>
                <a:ea typeface="微软雅黑" panose="020B0503020204020204" pitchFamily="34" charset="-122"/>
              </a:rPr>
              <a:t>计算），</a:t>
            </a:r>
            <a:r>
              <a:rPr lang="en" altLang="zh-CN" sz="1600" dirty="0">
                <a:latin typeface="微软雅黑" panose="020B0503020204020204" pitchFamily="34" charset="-122"/>
                <a:ea typeface="微软雅黑" panose="020B0503020204020204" pitchFamily="34" charset="-122"/>
              </a:rPr>
              <a:t>C1</a:t>
            </a:r>
            <a:r>
              <a:rPr lang="zh-CN" altLang="en-US" sz="1600" dirty="0">
                <a:latin typeface="微软雅黑" panose="020B0503020204020204" pitchFamily="34" charset="-122"/>
                <a:ea typeface="微软雅黑" panose="020B0503020204020204" pitchFamily="34" charset="-122"/>
              </a:rPr>
              <a:t>驾照，驾龄</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年以上，年龄</a:t>
            </a:r>
            <a:r>
              <a:rPr lang="en-US" altLang="zh-CN" sz="1600" dirty="0">
                <a:latin typeface="微软雅黑" panose="020B0503020204020204" pitchFamily="34" charset="-122"/>
                <a:ea typeface="微软雅黑" panose="020B0503020204020204" pitchFamily="34" charset="-122"/>
              </a:rPr>
              <a:t>20-50</a:t>
            </a:r>
          </a:p>
          <a:p>
            <a:pPr marL="457200" lvl="1" indent="0">
              <a:spcBef>
                <a:spcPts val="1100"/>
              </a:spcBef>
              <a:buFont typeface="Arial" panose="020B0604020202020204" pitchFamily="34" charset="0"/>
              <a:buNone/>
            </a:pPr>
            <a:r>
              <a:rPr kumimoji="1" lang="zh-CN" altLang="en-US" sz="1600" b="1" dirty="0">
                <a:latin typeface="微软雅黑" panose="020B0503020204020204" pitchFamily="34" charset="-122"/>
                <a:ea typeface="微软雅黑" panose="020B0503020204020204" pitchFamily="34" charset="-122"/>
              </a:rPr>
              <a:t>实验材料及设备：</a:t>
            </a:r>
            <a:endParaRPr kumimoji="1" lang="en-US" altLang="zh-CN" sz="1600" b="1" dirty="0">
              <a:latin typeface="微软雅黑" panose="020B0503020204020204" pitchFamily="34" charset="-122"/>
              <a:ea typeface="微软雅黑" panose="020B0503020204020204" pitchFamily="34" charset="-122"/>
            </a:endParaRPr>
          </a:p>
          <a:p>
            <a:pPr marL="1440000" lvl="1" indent="0">
              <a:buFont typeface="Arial" panose="020B0604020202020204" pitchFamily="34" charset="0"/>
              <a:buNone/>
            </a:pPr>
            <a:r>
              <a:rPr kumimoji="1" lang="zh-CN" altLang="en-US" sz="1600" dirty="0">
                <a:latin typeface="Microsoft YaHei" panose="020B0503020204020204" pitchFamily="34" charset="-122"/>
              </a:rPr>
              <a:t>音乐刺激材料：使用</a:t>
            </a:r>
            <a:r>
              <a:rPr kumimoji="1" lang="en-US" altLang="zh-CN" sz="1600" dirty="0">
                <a:latin typeface="Microsoft YaHei" panose="020B0503020204020204" pitchFamily="34" charset="-122"/>
              </a:rPr>
              <a:t>audacity</a:t>
            </a:r>
            <a:r>
              <a:rPr kumimoji="1" lang="zh-CN" altLang="en-US" sz="1600" dirty="0">
                <a:latin typeface="Microsoft YaHei" panose="020B0503020204020204" pitchFamily="34" charset="-122"/>
              </a:rPr>
              <a:t>调整（支持不改变节奏，调整音高），使用音响外放，强度控制在</a:t>
            </a:r>
            <a:r>
              <a:rPr kumimoji="1" lang="en-US" altLang="zh-CN" sz="1600" dirty="0">
                <a:latin typeface="Microsoft YaHei" panose="020B0503020204020204" pitchFamily="34" charset="-122"/>
              </a:rPr>
              <a:t>70</a:t>
            </a:r>
            <a:r>
              <a:rPr kumimoji="1" lang="zh-CN" altLang="en-US" sz="1600" dirty="0">
                <a:latin typeface="Microsoft YaHei" panose="020B0503020204020204" pitchFamily="34" charset="-122"/>
              </a:rPr>
              <a:t>分贝左右。</a:t>
            </a:r>
          </a:p>
          <a:p>
            <a:pPr marL="1440000" lvl="1" indent="0">
              <a:spcBef>
                <a:spcPts val="1100"/>
              </a:spcBef>
              <a:buFont typeface="Arial" panose="020B0604020202020204" pitchFamily="34" charset="0"/>
              <a:buNone/>
            </a:pPr>
            <a:r>
              <a:rPr kumimoji="1" lang="zh-CN" altLang="en-US" sz="1600" dirty="0">
                <a:latin typeface="+mj-ea"/>
                <a:ea typeface="+mj-ea"/>
              </a:rPr>
              <a:t>驾驶模拟器采用</a:t>
            </a:r>
            <a:r>
              <a:rPr kumimoji="1" lang="en" altLang="zh-CN" sz="1600" dirty="0">
                <a:latin typeface="+mj-ea"/>
                <a:ea typeface="+mj-ea"/>
              </a:rPr>
              <a:t>STISIM</a:t>
            </a:r>
            <a:r>
              <a:rPr kumimoji="1" lang="zh-CN" altLang="en-US" sz="1600" dirty="0">
                <a:latin typeface="+mj-ea"/>
                <a:ea typeface="+mj-ea"/>
              </a:rPr>
              <a:t>驾驶软件，罗技方向盘和踏板</a:t>
            </a:r>
            <a:endParaRPr kumimoji="1" lang="zh-CN" altLang="en" sz="1600" dirty="0">
              <a:latin typeface="+mj-ea"/>
              <a:ea typeface="+mj-ea"/>
            </a:endParaRPr>
          </a:p>
          <a:p>
            <a:pPr marL="1440000" lvl="1" indent="0">
              <a:spcBef>
                <a:spcPts val="1100"/>
              </a:spcBef>
              <a:buFont typeface="Arial" panose="020B0604020202020204" pitchFamily="34" charset="0"/>
              <a:buNone/>
            </a:pPr>
            <a:endParaRPr kumimoji="1" lang="zh-CN" altLang="en-US" b="1" dirty="0">
              <a:latin typeface="+mj-ea"/>
              <a:ea typeface="+mj-ea"/>
            </a:endParaRPr>
          </a:p>
        </p:txBody>
      </p:sp>
      <p:sp>
        <p:nvSpPr>
          <p:cNvPr id="8" name="标题 1">
            <a:extLst>
              <a:ext uri="{FF2B5EF4-FFF2-40B4-BE49-F238E27FC236}">
                <a16:creationId xmlns:a16="http://schemas.microsoft.com/office/drawing/2014/main" id="{2B4683BE-8799-A331-7050-FE6AD5B39A7B}"/>
              </a:ext>
            </a:extLst>
          </p:cNvPr>
          <p:cNvSpPr txBox="1">
            <a:spLocks/>
          </p:cNvSpPr>
          <p:nvPr/>
        </p:nvSpPr>
        <p:spPr>
          <a:xfrm>
            <a:off x="339443" y="579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tx1"/>
                </a:solidFill>
                <a:latin typeface="Microsoft YaHei" panose="020B0503020204020204" pitchFamily="34" charset="-122"/>
                <a:ea typeface="Microsoft YaHei" panose="020B0503020204020204" pitchFamily="34" charset="-122"/>
                <a:cs typeface="+mj-cs"/>
              </a:defRPr>
            </a:lvl1pPr>
          </a:lstStyle>
          <a:p>
            <a:r>
              <a:rPr kumimoji="1" lang="zh-CN" altLang="en-US" dirty="0"/>
              <a:t>研究方案 </a:t>
            </a:r>
            <a:r>
              <a:rPr kumimoji="1" lang="zh-CN" altLang="en-US" sz="2400" dirty="0"/>
              <a:t>研究三  </a:t>
            </a:r>
            <a:r>
              <a:rPr kumimoji="1" lang="zh-CN" altLang="en-US" sz="2000" dirty="0"/>
              <a:t>实验</a:t>
            </a:r>
            <a:r>
              <a:rPr kumimoji="1" lang="en-US" altLang="zh-CN" sz="2000" dirty="0"/>
              <a:t>4:</a:t>
            </a:r>
            <a:r>
              <a:rPr kumimoji="1" lang="zh-CN" altLang="en-US" sz="2000" dirty="0"/>
              <a:t>音乐流派和音高对车辆控制的影响</a:t>
            </a:r>
            <a:endParaRPr kumimoji="1" lang="zh-CN" altLang="en-US" dirty="0"/>
          </a:p>
        </p:txBody>
      </p:sp>
      <p:sp>
        <p:nvSpPr>
          <p:cNvPr id="9" name="内容占位符 2">
            <a:extLst>
              <a:ext uri="{FF2B5EF4-FFF2-40B4-BE49-F238E27FC236}">
                <a16:creationId xmlns:a16="http://schemas.microsoft.com/office/drawing/2014/main" id="{18190144-6048-D20D-5BD7-5B14D9F85D82}"/>
              </a:ext>
            </a:extLst>
          </p:cNvPr>
          <p:cNvSpPr>
            <a:spLocks noGrp="1"/>
          </p:cNvSpPr>
          <p:nvPr>
            <p:ph idx="1"/>
          </p:nvPr>
        </p:nvSpPr>
        <p:spPr>
          <a:xfrm>
            <a:off x="339443" y="1123587"/>
            <a:ext cx="11513114" cy="1325563"/>
          </a:xfrm>
        </p:spPr>
        <p:txBody>
          <a:bodyPr>
            <a:normAutofit/>
          </a:bodyPr>
          <a:lstStyle/>
          <a:p>
            <a:pPr>
              <a:buFont typeface="Wingdings" pitchFamily="2" charset="2"/>
              <a:buChar char="n"/>
            </a:pPr>
            <a:r>
              <a:rPr kumimoji="1" lang="zh-CN" altLang="en-US" b="1" dirty="0">
                <a:solidFill>
                  <a:srgbClr val="4472C4"/>
                </a:solidFill>
              </a:rPr>
              <a:t>实验目的：</a:t>
            </a:r>
            <a:endParaRPr kumimoji="1" lang="en-US" altLang="zh-CN" b="1" dirty="0">
              <a:solidFill>
                <a:srgbClr val="4472C4"/>
              </a:solidFill>
            </a:endParaRPr>
          </a:p>
          <a:p>
            <a:pPr marL="457200" lvl="1" indent="0">
              <a:buNone/>
            </a:pPr>
            <a:r>
              <a:rPr kumimoji="1" lang="zh-CN" altLang="en-US" sz="1600" dirty="0"/>
              <a:t>旨在探究</a:t>
            </a:r>
            <a:r>
              <a:rPr kumimoji="1" lang="zh-CN" altLang="en-US" sz="1600" b="1" dirty="0"/>
              <a:t>音乐流派</a:t>
            </a:r>
            <a:r>
              <a:rPr kumimoji="1" lang="zh-CN" altLang="en-US" sz="1600" dirty="0"/>
              <a:t>和</a:t>
            </a:r>
            <a:r>
              <a:rPr kumimoji="1" lang="zh-CN" altLang="en-US" sz="1600" b="1" dirty="0"/>
              <a:t>音乐速度</a:t>
            </a:r>
            <a:r>
              <a:rPr kumimoji="1" lang="zh-CN" altLang="en-US" sz="1600" dirty="0"/>
              <a:t>对</a:t>
            </a:r>
            <a:r>
              <a:rPr kumimoji="1" lang="zh-CN" altLang="en-US" sz="1600" b="1" dirty="0"/>
              <a:t>无风险情境</a:t>
            </a:r>
            <a:r>
              <a:rPr kumimoji="1" lang="zh-CN" altLang="en-US" sz="1600" dirty="0"/>
              <a:t>下，对</a:t>
            </a:r>
            <a:r>
              <a:rPr kumimoji="1" lang="zh-CN" altLang="en-US" sz="1600" b="1" dirty="0"/>
              <a:t>车辆控制</a:t>
            </a:r>
            <a:r>
              <a:rPr kumimoji="1" lang="zh-CN" altLang="en-US" sz="1600" dirty="0"/>
              <a:t>驾驶行为的影响</a:t>
            </a:r>
          </a:p>
        </p:txBody>
      </p:sp>
    </p:spTree>
    <p:extLst>
      <p:ext uri="{BB962C8B-B14F-4D97-AF65-F5344CB8AC3E}">
        <p14:creationId xmlns:p14="http://schemas.microsoft.com/office/powerpoint/2010/main" val="8992911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978FB237-E37E-90E6-A8FC-01279D2A2C2F}"/>
              </a:ext>
            </a:extLst>
          </p:cNvPr>
          <p:cNvPicPr>
            <a:picLocks noChangeAspect="1"/>
          </p:cNvPicPr>
          <p:nvPr/>
        </p:nvPicPr>
        <p:blipFill>
          <a:blip r:embed="rId3"/>
          <a:stretch>
            <a:fillRect/>
          </a:stretch>
        </p:blipFill>
        <p:spPr>
          <a:xfrm>
            <a:off x="1127011" y="5973225"/>
            <a:ext cx="1135681" cy="884775"/>
          </a:xfrm>
          <a:prstGeom prst="rect">
            <a:avLst/>
          </a:prstGeom>
        </p:spPr>
      </p:pic>
      <p:sp>
        <p:nvSpPr>
          <p:cNvPr id="10" name="内容占位符 2">
            <a:extLst>
              <a:ext uri="{FF2B5EF4-FFF2-40B4-BE49-F238E27FC236}">
                <a16:creationId xmlns:a16="http://schemas.microsoft.com/office/drawing/2014/main" id="{5442ED14-3986-CDC7-6D63-A0E3952F79F4}"/>
              </a:ext>
            </a:extLst>
          </p:cNvPr>
          <p:cNvSpPr txBox="1">
            <a:spLocks/>
          </p:cNvSpPr>
          <p:nvPr/>
        </p:nvSpPr>
        <p:spPr>
          <a:xfrm>
            <a:off x="263346" y="1194707"/>
            <a:ext cx="5674864" cy="3487021"/>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n"/>
            </a:pPr>
            <a:r>
              <a:rPr kumimoji="1" lang="zh-CN" altLang="en-US" b="1" dirty="0">
                <a:solidFill>
                  <a:srgbClr val="4472C4"/>
                </a:solidFill>
              </a:rPr>
              <a:t>研究方法：</a:t>
            </a:r>
            <a:endParaRPr kumimoji="1" lang="en-US" altLang="zh-CN" b="1" dirty="0">
              <a:solidFill>
                <a:srgbClr val="4472C4"/>
              </a:solidFill>
            </a:endParaRPr>
          </a:p>
          <a:p>
            <a:pPr marL="457200" lvl="1" indent="0">
              <a:buFont typeface="Arial" panose="020B0604020202020204" pitchFamily="34" charset="0"/>
              <a:buNone/>
            </a:pPr>
            <a:r>
              <a:rPr kumimoji="1" lang="zh-CN" altLang="en-US" b="1" dirty="0"/>
              <a:t>模拟驾驶任务</a:t>
            </a:r>
            <a:endParaRPr kumimoji="1" lang="en-US" altLang="zh-CN" b="1" dirty="0"/>
          </a:p>
          <a:p>
            <a:pPr marL="457200" lvl="1" indent="0">
              <a:spcBef>
                <a:spcPts val="0"/>
              </a:spcBef>
              <a:buFont typeface="Arial" panose="020B0604020202020204" pitchFamily="34" charset="0"/>
              <a:buNone/>
            </a:pPr>
            <a:r>
              <a:rPr lang="zh-CN" altLang="en-US" sz="1600" kern="100" dirty="0">
                <a:latin typeface="Times New Roman" panose="02020603050405020304" pitchFamily="18" charset="0"/>
                <a:ea typeface="宋体" panose="02010600030101010101" pitchFamily="2" charset="-122"/>
                <a:cs typeface="Times New Roman" panose="02020603050405020304" pitchFamily="18" charset="0"/>
              </a:rPr>
              <a:t>单侧宽度 </a:t>
            </a:r>
            <a:r>
              <a:rPr lang="en-US" altLang="zh-CN" sz="1600" kern="100" dirty="0">
                <a:latin typeface="Times New Roman" panose="02020603050405020304" pitchFamily="18" charset="0"/>
                <a:ea typeface="宋体" panose="02010600030101010101" pitchFamily="2" charset="-122"/>
                <a:cs typeface="Times New Roman" panose="02020603050405020304" pitchFamily="18" charset="0"/>
              </a:rPr>
              <a:t>4.8 </a:t>
            </a:r>
            <a:r>
              <a:rPr lang="zh-CN" altLang="en-US" sz="1600" kern="100" dirty="0">
                <a:latin typeface="Times New Roman" panose="02020603050405020304" pitchFamily="18" charset="0"/>
                <a:ea typeface="宋体" panose="02010600030101010101" pitchFamily="2" charset="-122"/>
                <a:cs typeface="Times New Roman" panose="02020603050405020304" pitchFamily="18" charset="0"/>
              </a:rPr>
              <a:t>米的双向车道，中间有双黄线。全长约</a:t>
            </a:r>
            <a:r>
              <a:rPr lang="en-US" altLang="zh-CN" sz="1600" kern="100" dirty="0">
                <a:latin typeface="Times New Roman" panose="02020603050405020304" pitchFamily="18" charset="0"/>
                <a:ea typeface="宋体" panose="02010600030101010101" pitchFamily="2" charset="-122"/>
                <a:cs typeface="Times New Roman" panose="02020603050405020304" pitchFamily="18" charset="0"/>
              </a:rPr>
              <a:t>22</a:t>
            </a:r>
            <a:r>
              <a:rPr lang="en" altLang="zh-CN" sz="1600" kern="100" dirty="0">
                <a:latin typeface="Times New Roman" panose="02020603050405020304" pitchFamily="18" charset="0"/>
                <a:ea typeface="宋体" panose="02010600030101010101" pitchFamily="2" charset="-122"/>
                <a:cs typeface="Times New Roman" panose="02020603050405020304" pitchFamily="18" charset="0"/>
              </a:rPr>
              <a:t>km</a:t>
            </a:r>
            <a:r>
              <a:rPr lang="zh-CN" altLang="en-US" sz="1600" kern="100" dirty="0">
                <a:latin typeface="Times New Roman" panose="02020603050405020304" pitchFamily="18" charset="0"/>
                <a:ea typeface="宋体" panose="02010600030101010101" pitchFamily="2" charset="-122"/>
                <a:cs typeface="Times New Roman" panose="02020603050405020304" pitchFamily="18" charset="0"/>
              </a:rPr>
              <a:t>，全程道路无障碍驾驶。完成</a:t>
            </a:r>
            <a:r>
              <a:rPr lang="en-US" altLang="zh-CN" sz="1600" kern="1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1600" kern="100" dirty="0">
                <a:latin typeface="Times New Roman" panose="02020603050405020304" pitchFamily="18" charset="0"/>
                <a:ea typeface="宋体" panose="02010600030101010101" pitchFamily="2" charset="-122"/>
                <a:cs typeface="Times New Roman" panose="02020603050405020304" pitchFamily="18" charset="0"/>
              </a:rPr>
              <a:t>个条件（</a:t>
            </a:r>
            <a:r>
              <a:rPr lang="en-US" altLang="zh-CN" sz="1600" kern="1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1600" kern="100" dirty="0">
                <a:latin typeface="Times New Roman" panose="02020603050405020304" pitchFamily="18" charset="0"/>
                <a:ea typeface="宋体" panose="02010600030101010101" pitchFamily="2" charset="-122"/>
                <a:cs typeface="Times New Roman" panose="02020603050405020304" pitchFamily="18" charset="0"/>
              </a:rPr>
              <a:t>音乐</a:t>
            </a:r>
            <a:r>
              <a:rPr lang="en-US" altLang="zh-CN" sz="1600" kern="1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1600" kern="100" dirty="0">
                <a:latin typeface="Times New Roman" panose="02020603050405020304" pitchFamily="18" charset="0"/>
                <a:ea typeface="宋体" panose="02010600030101010101" pitchFamily="2" charset="-122"/>
                <a:cs typeface="Times New Roman" panose="02020603050405020304" pitchFamily="18" charset="0"/>
              </a:rPr>
              <a:t>无音乐），需要一圈半，预计需</a:t>
            </a:r>
            <a:r>
              <a:rPr lang="en-US" altLang="zh-CN" sz="1600" kern="100" dirty="0">
                <a:latin typeface="Times New Roman" panose="02020603050405020304" pitchFamily="18" charset="0"/>
                <a:ea typeface="宋体" panose="02010600030101010101" pitchFamily="2" charset="-122"/>
                <a:cs typeface="Times New Roman" panose="02020603050405020304" pitchFamily="18" charset="0"/>
              </a:rPr>
              <a:t>20</a:t>
            </a:r>
            <a:r>
              <a:rPr lang="zh-CN" altLang="en-US" sz="1600" kern="100" dirty="0">
                <a:latin typeface="Times New Roman" panose="02020603050405020304" pitchFamily="18" charset="0"/>
                <a:ea typeface="宋体" panose="02010600030101010101" pitchFamily="2" charset="-122"/>
                <a:cs typeface="Times New Roman" panose="02020603050405020304" pitchFamily="18" charset="0"/>
              </a:rPr>
              <a:t>分钟。</a:t>
            </a:r>
          </a:p>
        </p:txBody>
      </p:sp>
      <p:pic>
        <p:nvPicPr>
          <p:cNvPr id="2" name="图片 1">
            <a:extLst>
              <a:ext uri="{FF2B5EF4-FFF2-40B4-BE49-F238E27FC236}">
                <a16:creationId xmlns:a16="http://schemas.microsoft.com/office/drawing/2014/main" id="{02991F20-3B54-D15F-15D1-9F86968D5575}"/>
              </a:ext>
            </a:extLst>
          </p:cNvPr>
          <p:cNvPicPr>
            <a:picLocks noChangeAspect="1"/>
          </p:cNvPicPr>
          <p:nvPr/>
        </p:nvPicPr>
        <p:blipFill>
          <a:blip r:embed="rId4"/>
          <a:stretch>
            <a:fillRect/>
          </a:stretch>
        </p:blipFill>
        <p:spPr>
          <a:xfrm>
            <a:off x="339443" y="3333122"/>
            <a:ext cx="5680460" cy="2484942"/>
          </a:xfrm>
          <a:prstGeom prst="rect">
            <a:avLst/>
          </a:prstGeom>
        </p:spPr>
      </p:pic>
      <p:pic>
        <p:nvPicPr>
          <p:cNvPr id="4" name="图片 3">
            <a:extLst>
              <a:ext uri="{FF2B5EF4-FFF2-40B4-BE49-F238E27FC236}">
                <a16:creationId xmlns:a16="http://schemas.microsoft.com/office/drawing/2014/main" id="{3FBCE933-FADA-4AA5-32E3-356E61F17ADF}"/>
              </a:ext>
            </a:extLst>
          </p:cNvPr>
          <p:cNvPicPr>
            <a:picLocks noChangeAspect="1"/>
          </p:cNvPicPr>
          <p:nvPr/>
        </p:nvPicPr>
        <p:blipFill>
          <a:blip r:embed="rId5"/>
          <a:stretch>
            <a:fillRect/>
          </a:stretch>
        </p:blipFill>
        <p:spPr>
          <a:xfrm>
            <a:off x="2620500" y="6052979"/>
            <a:ext cx="1903177" cy="725265"/>
          </a:xfrm>
          <a:prstGeom prst="rect">
            <a:avLst/>
          </a:prstGeom>
        </p:spPr>
      </p:pic>
      <p:sp>
        <p:nvSpPr>
          <p:cNvPr id="3" name="内容占位符 2">
            <a:extLst>
              <a:ext uri="{FF2B5EF4-FFF2-40B4-BE49-F238E27FC236}">
                <a16:creationId xmlns:a16="http://schemas.microsoft.com/office/drawing/2014/main" id="{7F264885-CE05-70C3-1CFF-3589FB692921}"/>
              </a:ext>
            </a:extLst>
          </p:cNvPr>
          <p:cNvSpPr txBox="1">
            <a:spLocks/>
          </p:cNvSpPr>
          <p:nvPr/>
        </p:nvSpPr>
        <p:spPr>
          <a:xfrm>
            <a:off x="6116265" y="1194707"/>
            <a:ext cx="6370305" cy="4351338"/>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n"/>
            </a:pPr>
            <a:r>
              <a:rPr kumimoji="1" lang="zh-CN" altLang="en-US" b="1" dirty="0">
                <a:solidFill>
                  <a:srgbClr val="4472C4"/>
                </a:solidFill>
              </a:rPr>
              <a:t>实验流程</a:t>
            </a:r>
            <a:endParaRPr kumimoji="1" lang="en-US" altLang="zh-CN" b="1" dirty="0">
              <a:solidFill>
                <a:srgbClr val="4472C4"/>
              </a:solidFill>
            </a:endParaRPr>
          </a:p>
        </p:txBody>
      </p:sp>
      <p:sp>
        <p:nvSpPr>
          <p:cNvPr id="7" name="内容占位符 2">
            <a:extLst>
              <a:ext uri="{FF2B5EF4-FFF2-40B4-BE49-F238E27FC236}">
                <a16:creationId xmlns:a16="http://schemas.microsoft.com/office/drawing/2014/main" id="{C3127703-CD7B-8566-C428-84A90AC0D4B4}"/>
              </a:ext>
            </a:extLst>
          </p:cNvPr>
          <p:cNvSpPr txBox="1">
            <a:spLocks/>
          </p:cNvSpPr>
          <p:nvPr/>
        </p:nvSpPr>
        <p:spPr>
          <a:xfrm>
            <a:off x="6116265" y="3263353"/>
            <a:ext cx="6019902" cy="4351338"/>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n"/>
            </a:pPr>
            <a:r>
              <a:rPr kumimoji="1" lang="zh-CN" altLang="en-US" b="1" dirty="0">
                <a:solidFill>
                  <a:srgbClr val="4472C4"/>
                </a:solidFill>
              </a:rPr>
              <a:t>数据分析：</a:t>
            </a:r>
            <a:endParaRPr kumimoji="1" lang="en-US" altLang="zh-CN" b="1" dirty="0">
              <a:solidFill>
                <a:srgbClr val="4472C4"/>
              </a:solidFill>
            </a:endParaRPr>
          </a:p>
          <a:p>
            <a:pPr marL="457200" indent="0">
              <a:buFont typeface="Arial" panose="020B0604020202020204" pitchFamily="34" charset="0"/>
              <a:buNone/>
            </a:pPr>
            <a:r>
              <a:rPr kumimoji="1" lang="en-US" altLang="zh-CN" b="1" dirty="0">
                <a:solidFill>
                  <a:srgbClr val="4472C4"/>
                </a:solidFill>
              </a:rPr>
              <a:t>	</a:t>
            </a:r>
            <a:r>
              <a:rPr kumimoji="1" lang="zh-CN" altLang="en-US" sz="1600" b="1" dirty="0">
                <a:latin typeface="+mj-ea"/>
                <a:ea typeface="+mj-ea"/>
              </a:rPr>
              <a:t>重复测量方差分析：</a:t>
            </a:r>
            <a:r>
              <a:rPr kumimoji="1" lang="zh-CN" altLang="en-US" sz="1600" dirty="0">
                <a:latin typeface="+mj-ea"/>
                <a:ea typeface="+mj-ea"/>
              </a:rPr>
              <a:t>音乐流派、音高对各变量是有主效应、交互效应、以及对比各组之间的差异</a:t>
            </a:r>
            <a:endParaRPr kumimoji="1" lang="en-US" altLang="zh-CN" sz="1600" dirty="0">
              <a:latin typeface="+mj-ea"/>
              <a:ea typeface="+mj-ea"/>
            </a:endParaRPr>
          </a:p>
          <a:p>
            <a:pPr marL="457200" indent="0">
              <a:buFont typeface="Arial" panose="020B0604020202020204" pitchFamily="34" charset="0"/>
              <a:buNone/>
            </a:pPr>
            <a:r>
              <a:rPr kumimoji="1" lang="en-US" altLang="zh-CN" sz="1600" dirty="0">
                <a:latin typeface="+mj-ea"/>
                <a:ea typeface="+mj-ea"/>
              </a:rPr>
              <a:t>	</a:t>
            </a:r>
          </a:p>
        </p:txBody>
      </p:sp>
      <p:sp>
        <p:nvSpPr>
          <p:cNvPr id="8" name="内容占位符 2">
            <a:extLst>
              <a:ext uri="{FF2B5EF4-FFF2-40B4-BE49-F238E27FC236}">
                <a16:creationId xmlns:a16="http://schemas.microsoft.com/office/drawing/2014/main" id="{B0604AA2-C642-8134-C7AE-9AC0CB0C7F99}"/>
              </a:ext>
            </a:extLst>
          </p:cNvPr>
          <p:cNvSpPr txBox="1">
            <a:spLocks/>
          </p:cNvSpPr>
          <p:nvPr/>
        </p:nvSpPr>
        <p:spPr>
          <a:xfrm>
            <a:off x="6116265" y="5086124"/>
            <a:ext cx="6370305" cy="4351338"/>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n"/>
            </a:pPr>
            <a:r>
              <a:rPr kumimoji="1" lang="zh-CN" altLang="en-US" b="1" dirty="0">
                <a:solidFill>
                  <a:srgbClr val="4472C4"/>
                </a:solidFill>
              </a:rPr>
              <a:t>预期结果：</a:t>
            </a:r>
            <a:endParaRPr kumimoji="1" lang="en-US" altLang="zh-CN" b="1" dirty="0">
              <a:solidFill>
                <a:srgbClr val="4472C4"/>
              </a:solidFill>
            </a:endParaRPr>
          </a:p>
          <a:p>
            <a:pPr marL="0" indent="0">
              <a:buFont typeface="Arial" panose="020B0604020202020204" pitchFamily="34" charset="0"/>
              <a:buNone/>
            </a:pPr>
            <a:r>
              <a:rPr kumimoji="1" lang="en-US" altLang="zh-CN" b="1" dirty="0">
                <a:solidFill>
                  <a:srgbClr val="4472C4"/>
                </a:solidFill>
              </a:rPr>
              <a:t>	</a:t>
            </a:r>
            <a:r>
              <a:rPr kumimoji="1" lang="zh-CN" altLang="en-US" sz="1600" dirty="0"/>
              <a:t>音乐流派和</a:t>
            </a:r>
            <a:r>
              <a:rPr kumimoji="1" lang="zh-CN" altLang="en-US" sz="1600" dirty="0">
                <a:latin typeface="+mj-ea"/>
                <a:ea typeface="+mj-ea"/>
              </a:rPr>
              <a:t>音高</a:t>
            </a:r>
            <a:r>
              <a:rPr kumimoji="1" lang="zh-CN" altLang="en-US" sz="1600" dirty="0"/>
              <a:t>主效应显著；交互效应显著；</a:t>
            </a:r>
            <a:endParaRPr kumimoji="1" lang="en-US" altLang="zh-CN" sz="1600" dirty="0"/>
          </a:p>
          <a:p>
            <a:pPr marL="0" indent="0">
              <a:buFont typeface="Arial" panose="020B0604020202020204" pitchFamily="34" charset="0"/>
              <a:buNone/>
            </a:pPr>
            <a:r>
              <a:rPr kumimoji="1" lang="en-US" altLang="zh-CN" sz="1600" dirty="0">
                <a:latin typeface="+mj-ea"/>
                <a:ea typeface="+mj-ea"/>
              </a:rPr>
              <a:t>	</a:t>
            </a:r>
            <a:r>
              <a:rPr kumimoji="1" lang="zh-CN" altLang="en-US" sz="1600" dirty="0">
                <a:latin typeface="+mj-ea"/>
                <a:ea typeface="+mj-ea"/>
              </a:rPr>
              <a:t>更低的摇滚音乐下，稳定性最差</a:t>
            </a:r>
            <a:endParaRPr kumimoji="1" lang="en-US" altLang="zh-CN" sz="1600" dirty="0">
              <a:latin typeface="+mj-ea"/>
              <a:ea typeface="+mj-ea"/>
            </a:endParaRPr>
          </a:p>
          <a:p>
            <a:pPr marL="0" indent="0">
              <a:buFont typeface="Arial" panose="020B0604020202020204" pitchFamily="34" charset="0"/>
              <a:buNone/>
            </a:pPr>
            <a:r>
              <a:rPr kumimoji="1" lang="en-US" altLang="zh-CN" sz="1600" dirty="0">
                <a:latin typeface="+mj-ea"/>
                <a:ea typeface="+mj-ea"/>
              </a:rPr>
              <a:t>	</a:t>
            </a:r>
            <a:endParaRPr kumimoji="1" lang="en-US" altLang="zh-CN" dirty="0">
              <a:latin typeface="+mj-ea"/>
              <a:ea typeface="+mj-ea"/>
            </a:endParaRPr>
          </a:p>
        </p:txBody>
      </p:sp>
      <p:sp>
        <p:nvSpPr>
          <p:cNvPr id="11" name="标题 1">
            <a:extLst>
              <a:ext uri="{FF2B5EF4-FFF2-40B4-BE49-F238E27FC236}">
                <a16:creationId xmlns:a16="http://schemas.microsoft.com/office/drawing/2014/main" id="{BB42F63B-B38A-35E4-E953-3554249F7BE2}"/>
              </a:ext>
            </a:extLst>
          </p:cNvPr>
          <p:cNvSpPr txBox="1">
            <a:spLocks/>
          </p:cNvSpPr>
          <p:nvPr/>
        </p:nvSpPr>
        <p:spPr>
          <a:xfrm>
            <a:off x="339443" y="579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tx1"/>
                </a:solidFill>
                <a:latin typeface="Microsoft YaHei" panose="020B0503020204020204" pitchFamily="34" charset="-122"/>
                <a:ea typeface="Microsoft YaHei" panose="020B0503020204020204" pitchFamily="34" charset="-122"/>
                <a:cs typeface="+mj-cs"/>
              </a:defRPr>
            </a:lvl1pPr>
          </a:lstStyle>
          <a:p>
            <a:r>
              <a:rPr kumimoji="1" lang="zh-CN" altLang="en-US" dirty="0"/>
              <a:t>研究方案 </a:t>
            </a:r>
            <a:r>
              <a:rPr kumimoji="1" lang="zh-CN" altLang="en-US" sz="2400" dirty="0"/>
              <a:t>研究三  </a:t>
            </a:r>
            <a:r>
              <a:rPr kumimoji="1" lang="zh-CN" altLang="en-US" sz="2000" dirty="0"/>
              <a:t>实验</a:t>
            </a:r>
            <a:r>
              <a:rPr kumimoji="1" lang="en-US" altLang="zh-CN" sz="2000" dirty="0"/>
              <a:t>4:</a:t>
            </a:r>
            <a:r>
              <a:rPr kumimoji="1" lang="zh-CN" altLang="en-US" sz="2000" dirty="0"/>
              <a:t>音乐流派和音高对车辆控制的影响</a:t>
            </a:r>
            <a:endParaRPr kumimoji="1" lang="zh-CN" altLang="en-US" dirty="0"/>
          </a:p>
        </p:txBody>
      </p:sp>
      <p:pic>
        <p:nvPicPr>
          <p:cNvPr id="9" name="图片 8">
            <a:extLst>
              <a:ext uri="{FF2B5EF4-FFF2-40B4-BE49-F238E27FC236}">
                <a16:creationId xmlns:a16="http://schemas.microsoft.com/office/drawing/2014/main" id="{575D4EE2-237D-A541-D674-D9B5FC4D5C99}"/>
              </a:ext>
            </a:extLst>
          </p:cNvPr>
          <p:cNvPicPr>
            <a:picLocks noChangeAspect="1"/>
          </p:cNvPicPr>
          <p:nvPr/>
        </p:nvPicPr>
        <p:blipFill>
          <a:blip r:embed="rId6"/>
          <a:stretch>
            <a:fillRect/>
          </a:stretch>
        </p:blipFill>
        <p:spPr>
          <a:xfrm>
            <a:off x="6253790" y="1540674"/>
            <a:ext cx="5674864" cy="1736388"/>
          </a:xfrm>
          <a:prstGeom prst="rect">
            <a:avLst/>
          </a:prstGeom>
        </p:spPr>
      </p:pic>
    </p:spTree>
    <p:extLst>
      <p:ext uri="{BB962C8B-B14F-4D97-AF65-F5344CB8AC3E}">
        <p14:creationId xmlns:p14="http://schemas.microsoft.com/office/powerpoint/2010/main" val="39298380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2">
            <a:extLst>
              <a:ext uri="{FF2B5EF4-FFF2-40B4-BE49-F238E27FC236}">
                <a16:creationId xmlns:a16="http://schemas.microsoft.com/office/drawing/2014/main" id="{9085770D-BA2F-F228-7C60-DCA306D274D7}"/>
              </a:ext>
            </a:extLst>
          </p:cNvPr>
          <p:cNvSpPr txBox="1">
            <a:spLocks/>
          </p:cNvSpPr>
          <p:nvPr/>
        </p:nvSpPr>
        <p:spPr>
          <a:xfrm>
            <a:off x="339443" y="2114948"/>
            <a:ext cx="11950093" cy="4940341"/>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n"/>
            </a:pPr>
            <a:r>
              <a:rPr kumimoji="1" lang="zh-CN" altLang="en-US" b="1" dirty="0">
                <a:solidFill>
                  <a:srgbClr val="4472C4"/>
                </a:solidFill>
              </a:rPr>
              <a:t>研究方法：</a:t>
            </a:r>
            <a:endParaRPr kumimoji="1" lang="en-US" altLang="zh-CN" b="1" dirty="0">
              <a:solidFill>
                <a:srgbClr val="4472C4"/>
              </a:solidFill>
            </a:endParaRPr>
          </a:p>
          <a:p>
            <a:pPr marL="457200" lvl="1" indent="0">
              <a:buFont typeface="Arial" panose="020B0604020202020204" pitchFamily="34" charset="0"/>
              <a:buNone/>
            </a:pPr>
            <a:r>
              <a:rPr kumimoji="1" lang="zh-CN" altLang="en-US" sz="1600" b="1" dirty="0"/>
              <a:t>实验设计：</a:t>
            </a:r>
            <a:r>
              <a:rPr lang="en-US" altLang="zh-CN" sz="1600" kern="100" dirty="0">
                <a:effectLst/>
                <a:latin typeface="Microsoft YaHei" panose="020B0503020204020204" pitchFamily="34" charset="-122"/>
              </a:rPr>
              <a:t> 3</a:t>
            </a:r>
            <a:r>
              <a:rPr lang="zh-CN" altLang="en-US" sz="1600" kern="100" dirty="0">
                <a:effectLst/>
                <a:latin typeface="Microsoft YaHei" panose="020B0503020204020204" pitchFamily="34" charset="-122"/>
              </a:rPr>
              <a:t>（组间</a:t>
            </a:r>
            <a:r>
              <a:rPr lang="en-US" altLang="zh-CN" sz="1600" kern="100" dirty="0">
                <a:effectLst/>
                <a:latin typeface="Microsoft YaHei" panose="020B0503020204020204" pitchFamily="34" charset="-122"/>
              </a:rPr>
              <a:t>-</a:t>
            </a:r>
            <a:r>
              <a:rPr lang="zh-CN" altLang="en-US" sz="1600" b="1" kern="100" dirty="0">
                <a:effectLst/>
                <a:latin typeface="Microsoft YaHei" panose="020B0503020204020204" pitchFamily="34" charset="-122"/>
              </a:rPr>
              <a:t>音乐流派</a:t>
            </a:r>
            <a:r>
              <a:rPr lang="zh-CN" altLang="en-US" sz="1600" kern="100" dirty="0">
                <a:effectLst/>
                <a:latin typeface="Microsoft YaHei" panose="020B0503020204020204" pitchFamily="34" charset="-122"/>
              </a:rPr>
              <a:t>：</a:t>
            </a:r>
            <a:r>
              <a:rPr lang="zh-CN" altLang="en-US" sz="1600" kern="100" dirty="0">
                <a:effectLst/>
                <a:latin typeface="SimSun" panose="02010600030101010101" pitchFamily="2" charset="-122"/>
                <a:ea typeface="SimSun" panose="02010600030101010101" pitchFamily="2" charset="-122"/>
              </a:rPr>
              <a:t>摇滚</a:t>
            </a:r>
            <a:r>
              <a:rPr lang="en-US" altLang="zh-CN" sz="1600" kern="100" dirty="0">
                <a:effectLst/>
                <a:latin typeface="SimSun" panose="02010600030101010101" pitchFamily="2" charset="-122"/>
                <a:ea typeface="SimSun" panose="02010600030101010101" pitchFamily="2" charset="-122"/>
              </a:rPr>
              <a:t>/</a:t>
            </a:r>
            <a:r>
              <a:rPr lang="zh-CN" altLang="en-US" sz="1600" kern="100" dirty="0">
                <a:effectLst/>
                <a:latin typeface="SimSun" panose="02010600030101010101" pitchFamily="2" charset="-122"/>
                <a:ea typeface="SimSun" panose="02010600030101010101" pitchFamily="2" charset="-122"/>
              </a:rPr>
              <a:t>古典</a:t>
            </a:r>
            <a:r>
              <a:rPr lang="en-US" altLang="zh-CN" sz="1600" kern="100" dirty="0">
                <a:effectLst/>
                <a:latin typeface="SimSun" panose="02010600030101010101" pitchFamily="2" charset="-122"/>
                <a:ea typeface="SimSun" panose="02010600030101010101" pitchFamily="2" charset="-122"/>
              </a:rPr>
              <a:t>/</a:t>
            </a:r>
            <a:r>
              <a:rPr lang="zh-CN" altLang="en-US" sz="1600" kern="100" dirty="0">
                <a:effectLst/>
                <a:latin typeface="SimSun" panose="02010600030101010101" pitchFamily="2" charset="-122"/>
                <a:ea typeface="SimSun" panose="02010600030101010101" pitchFamily="2" charset="-122"/>
              </a:rPr>
              <a:t>流行</a:t>
            </a:r>
            <a:r>
              <a:rPr lang="zh-CN" altLang="en-US" sz="1600" kern="100" dirty="0">
                <a:effectLst/>
                <a:latin typeface="Microsoft YaHei" panose="020B0503020204020204" pitchFamily="34" charset="-122"/>
              </a:rPr>
              <a:t>）</a:t>
            </a:r>
            <a:r>
              <a:rPr lang="en-US" altLang="zh-CN" sz="1600" kern="100" dirty="0">
                <a:effectLst/>
                <a:latin typeface="Microsoft YaHei" panose="020B0503020204020204" pitchFamily="34" charset="-122"/>
              </a:rPr>
              <a:t>*2</a:t>
            </a:r>
            <a:r>
              <a:rPr lang="zh-CN" altLang="en-US" sz="1600" kern="100" dirty="0">
                <a:effectLst/>
                <a:latin typeface="Microsoft YaHei" panose="020B0503020204020204" pitchFamily="34" charset="-122"/>
              </a:rPr>
              <a:t>（组内</a:t>
            </a:r>
            <a:r>
              <a:rPr lang="en-US" altLang="zh-CN" sz="1600" kern="100" dirty="0">
                <a:latin typeface="Microsoft YaHei" panose="020B0503020204020204" pitchFamily="34" charset="-122"/>
              </a:rPr>
              <a:t>-</a:t>
            </a:r>
            <a:r>
              <a:rPr lang="zh-CN" altLang="en-US" sz="1600" b="1" kern="100" dirty="0">
                <a:latin typeface="Microsoft YaHei" panose="020B0503020204020204" pitchFamily="34" charset="-122"/>
              </a:rPr>
              <a:t>音高</a:t>
            </a:r>
            <a:r>
              <a:rPr lang="zh-CN" altLang="en-US" sz="1600" kern="100" dirty="0">
                <a:latin typeface="Microsoft YaHei" panose="020B0503020204020204" pitchFamily="34" charset="-122"/>
              </a:rPr>
              <a:t>：</a:t>
            </a:r>
            <a:r>
              <a:rPr lang="zh-CN" altLang="en-US" sz="1600" kern="100" dirty="0">
                <a:latin typeface="SimSun" panose="02010600030101010101" pitchFamily="2" charset="-122"/>
                <a:ea typeface="SimSun" panose="02010600030101010101" pitchFamily="2" charset="-122"/>
              </a:rPr>
              <a:t>低</a:t>
            </a:r>
            <a:r>
              <a:rPr lang="en-US" altLang="zh-CN" sz="1600" kern="100" dirty="0">
                <a:latin typeface="SimSun" panose="02010600030101010101" pitchFamily="2" charset="-122"/>
                <a:ea typeface="SimSun" panose="02010600030101010101" pitchFamily="2" charset="-122"/>
              </a:rPr>
              <a:t>/</a:t>
            </a:r>
            <a:r>
              <a:rPr lang="zh-CN" altLang="en-US" sz="1600" kern="100" dirty="0">
                <a:latin typeface="SimSun" panose="02010600030101010101" pitchFamily="2" charset="-122"/>
                <a:ea typeface="SimSun" panose="02010600030101010101" pitchFamily="2" charset="-122"/>
              </a:rPr>
              <a:t>高</a:t>
            </a:r>
            <a:r>
              <a:rPr lang="zh-CN" altLang="en-US" sz="1600" kern="100" dirty="0">
                <a:effectLst/>
                <a:latin typeface="Microsoft YaHei" panose="020B0503020204020204" pitchFamily="34" charset="-122"/>
              </a:rPr>
              <a:t>）</a:t>
            </a:r>
            <a:r>
              <a:rPr lang="zh-CN" altLang="zh-CN" sz="1600" kern="100" dirty="0">
                <a:effectLst/>
                <a:latin typeface="Microsoft YaHei" panose="020B0503020204020204" pitchFamily="34" charset="-122"/>
                <a:cs typeface="Times New Roman" panose="02020603050405020304" pitchFamily="18" charset="0"/>
              </a:rPr>
              <a:t>混合实验设计</a:t>
            </a:r>
            <a:r>
              <a:rPr lang="zh-CN" altLang="zh-CN" sz="1600" dirty="0">
                <a:effectLst/>
                <a:latin typeface="Microsoft YaHei" panose="020B0503020204020204" pitchFamily="34" charset="-122"/>
              </a:rPr>
              <a:t> </a:t>
            </a:r>
            <a:endParaRPr kumimoji="1" lang="en-US" altLang="zh-CN" sz="1600" b="1" dirty="0">
              <a:latin typeface="Microsoft YaHei" panose="020B0503020204020204" pitchFamily="34" charset="-122"/>
            </a:endParaRPr>
          </a:p>
          <a:p>
            <a:pPr marL="1440000" lvl="1" indent="0">
              <a:spcBef>
                <a:spcPts val="0"/>
              </a:spcBef>
              <a:buFont typeface="Arial" panose="020B0604020202020204" pitchFamily="34" charset="0"/>
              <a:buNone/>
            </a:pPr>
            <a:r>
              <a:rPr kumimoji="1" lang="zh-CN" altLang="en-US" sz="1600" dirty="0">
                <a:latin typeface="Microsoft YaHei" panose="020B0503020204020204" pitchFamily="34" charset="-122"/>
              </a:rPr>
              <a:t>控制变量：驾驶经验、音乐偏好、性别</a:t>
            </a:r>
            <a:endParaRPr kumimoji="1" lang="en-US" altLang="zh-CN" sz="1600" dirty="0">
              <a:latin typeface="Microsoft YaHei" panose="020B0503020204020204" pitchFamily="34" charset="-122"/>
            </a:endParaRPr>
          </a:p>
          <a:p>
            <a:pPr marL="1440000" lvl="1" indent="0">
              <a:spcBef>
                <a:spcPts val="0"/>
              </a:spcBef>
              <a:buFont typeface="Arial" panose="020B0604020202020204" pitchFamily="34" charset="0"/>
              <a:buNone/>
            </a:pPr>
            <a:r>
              <a:rPr kumimoji="1" lang="zh-CN" altLang="en-US" sz="1600" dirty="0">
                <a:latin typeface="Microsoft YaHei" panose="020B0503020204020204" pitchFamily="34" charset="-122"/>
              </a:rPr>
              <a:t>因变量：驾驶行为（</a:t>
            </a:r>
            <a:r>
              <a:rPr lang="zh-CN" altLang="en-US" sz="1600" kern="100" dirty="0">
                <a:latin typeface="SimSun" panose="02010600030101010101" pitchFamily="2" charset="-122"/>
                <a:ea typeface="SimSun" panose="02010600030101010101" pitchFamily="2" charset="-122"/>
              </a:rPr>
              <a:t>制动踏板位置</a:t>
            </a:r>
            <a:r>
              <a:rPr lang="en-US" altLang="zh-CN" sz="1600" kern="100" dirty="0">
                <a:latin typeface="SimSun" panose="02010600030101010101" pitchFamily="2" charset="-122"/>
                <a:ea typeface="SimSun" panose="02010600030101010101" pitchFamily="2" charset="-122"/>
              </a:rPr>
              <a:t>/</a:t>
            </a:r>
            <a:r>
              <a:rPr lang="zh-CN" altLang="en-US" sz="1600" kern="100" dirty="0">
                <a:latin typeface="SimSun" panose="02010600030101010101" pitchFamily="2" charset="-122"/>
                <a:ea typeface="SimSun" panose="02010600030101010101" pitchFamily="2" charset="-122"/>
              </a:rPr>
              <a:t>制动踏板力、踏板次数、刹车反应时、前车距离、碰撞次数</a:t>
            </a:r>
            <a:r>
              <a:rPr kumimoji="1" lang="zh-CN" altLang="en-US" sz="1600" dirty="0">
                <a:latin typeface="Microsoft YaHei" panose="020B0503020204020204" pitchFamily="34" charset="-122"/>
              </a:rPr>
              <a:t>）、主观变量（</a:t>
            </a:r>
            <a:r>
              <a:rPr lang="zh-CN" altLang="en-US" sz="1600" kern="100" dirty="0">
                <a:latin typeface="+mn-lt"/>
                <a:ea typeface="SimSun" panose="02010600030101010101" pitchFamily="2" charset="-122"/>
              </a:rPr>
              <a:t>情绪效价</a:t>
            </a:r>
            <a:r>
              <a:rPr lang="en-US" altLang="zh-CN" sz="1600" kern="100" dirty="0">
                <a:latin typeface="+mn-lt"/>
                <a:ea typeface="SimSun" panose="02010600030101010101" pitchFamily="2" charset="-122"/>
              </a:rPr>
              <a:t>&amp;</a:t>
            </a:r>
            <a:r>
              <a:rPr lang="zh-CN" altLang="en-US" sz="1600" kern="100" dirty="0">
                <a:latin typeface="+mn-lt"/>
                <a:ea typeface="SimSun" panose="02010600030101010101" pitchFamily="2" charset="-122"/>
              </a:rPr>
              <a:t>唤醒程度</a:t>
            </a:r>
            <a:r>
              <a:rPr lang="en-US" altLang="zh-CN" sz="1600" kern="100" dirty="0">
                <a:latin typeface="+mn-lt"/>
                <a:ea typeface="SimSun" panose="02010600030101010101" pitchFamily="2" charset="-122"/>
              </a:rPr>
              <a:t>-</a:t>
            </a:r>
            <a:r>
              <a:rPr lang="en" altLang="zh-CN" sz="1600" kern="100" dirty="0">
                <a:latin typeface="+mn-lt"/>
                <a:ea typeface="SimSun" panose="02010600030101010101" pitchFamily="2" charset="-122"/>
              </a:rPr>
              <a:t>Affect Grid scale</a:t>
            </a:r>
            <a:r>
              <a:rPr lang="zh-CN" altLang="en" sz="1600" kern="100" dirty="0">
                <a:latin typeface="+mn-lt"/>
                <a:ea typeface="SimSun" panose="02010600030101010101" pitchFamily="2" charset="-122"/>
              </a:rPr>
              <a:t>、</a:t>
            </a:r>
            <a:r>
              <a:rPr lang="zh-CN" altLang="en-US" sz="1600" kern="100" dirty="0">
                <a:latin typeface="+mn-lt"/>
                <a:ea typeface="SimSun" panose="02010600030101010101" pitchFamily="2" charset="-122"/>
              </a:rPr>
              <a:t>主观负荷</a:t>
            </a:r>
            <a:r>
              <a:rPr lang="en-US" altLang="zh-CN" sz="1600" kern="100" dirty="0">
                <a:latin typeface="+mn-lt"/>
                <a:ea typeface="SimSun" panose="02010600030101010101" pitchFamily="2" charset="-122"/>
              </a:rPr>
              <a:t>-</a:t>
            </a:r>
            <a:r>
              <a:rPr lang="en" altLang="zh-CN" sz="1600" kern="100" dirty="0">
                <a:latin typeface="+mn-lt"/>
                <a:ea typeface="SimSun" panose="02010600030101010101" pitchFamily="2" charset="-122"/>
              </a:rPr>
              <a:t>NASA-TLX</a:t>
            </a:r>
            <a:r>
              <a:rPr kumimoji="1" lang="zh-CN" altLang="en" sz="1600" dirty="0">
                <a:latin typeface="Microsoft YaHei" panose="020B0503020204020204" pitchFamily="34" charset="-122"/>
              </a:rPr>
              <a:t>）</a:t>
            </a:r>
          </a:p>
          <a:p>
            <a:pPr marL="1440000" lvl="1" indent="0">
              <a:spcBef>
                <a:spcPts val="0"/>
              </a:spcBef>
              <a:buFont typeface="Arial" panose="020B0604020202020204" pitchFamily="34" charset="0"/>
              <a:buNone/>
            </a:pPr>
            <a:r>
              <a:rPr kumimoji="1" lang="zh-CN" altLang="en-US" sz="1600" dirty="0">
                <a:latin typeface="Microsoft YaHei" panose="020B0503020204020204" pitchFamily="34" charset="-122"/>
              </a:rPr>
              <a:t>以无音乐为控制组，音乐条件顺序平衡</a:t>
            </a:r>
            <a:endParaRPr kumimoji="1" lang="en-US" altLang="zh-CN" sz="1600" dirty="0">
              <a:latin typeface="Microsoft YaHei" panose="020B0503020204020204" pitchFamily="34" charset="-122"/>
            </a:endParaRPr>
          </a:p>
          <a:p>
            <a:pPr marL="457200" lvl="1" indent="0">
              <a:buFont typeface="Arial" panose="020B0604020202020204" pitchFamily="34" charset="0"/>
              <a:buNone/>
            </a:pPr>
            <a:r>
              <a:rPr kumimoji="1" lang="zh-CN" altLang="en-US" sz="1600" b="1" dirty="0">
                <a:latin typeface="Microsoft YaHei" panose="020B0503020204020204" pitchFamily="34" charset="-122"/>
              </a:rPr>
              <a:t>被试：</a:t>
            </a:r>
            <a:endParaRPr kumimoji="1" lang="en-US" altLang="zh-CN" sz="1600" b="1" dirty="0">
              <a:latin typeface="Microsoft YaHei" panose="020B0503020204020204" pitchFamily="34" charset="-122"/>
            </a:endParaRPr>
          </a:p>
          <a:p>
            <a:pPr marL="1440000" lvl="1" indent="0">
              <a:spcBef>
                <a:spcPts val="0"/>
              </a:spcBef>
              <a:buFont typeface="Arial" panose="020B0604020202020204" pitchFamily="34" charset="0"/>
              <a:buNone/>
            </a:pPr>
            <a:r>
              <a:rPr lang="zh-CN" altLang="en-US" sz="1600" dirty="0">
                <a:latin typeface="微软雅黑" panose="020B0503020204020204" pitchFamily="34" charset="-122"/>
                <a:ea typeface="微软雅黑" panose="020B0503020204020204" pitchFamily="34" charset="-122"/>
              </a:rPr>
              <a:t>同实验</a:t>
            </a:r>
            <a:r>
              <a:rPr lang="en-US" altLang="zh-CN" sz="1600" dirty="0">
                <a:latin typeface="微软雅黑" panose="020B0503020204020204" pitchFamily="34" charset="-122"/>
                <a:ea typeface="微软雅黑" panose="020B0503020204020204" pitchFamily="34" charset="-122"/>
              </a:rPr>
              <a:t>4</a:t>
            </a:r>
          </a:p>
          <a:p>
            <a:pPr marL="457200" lvl="1" indent="0">
              <a:spcBef>
                <a:spcPts val="1100"/>
              </a:spcBef>
              <a:buFont typeface="Arial" panose="020B0604020202020204" pitchFamily="34" charset="0"/>
              <a:buNone/>
            </a:pPr>
            <a:r>
              <a:rPr kumimoji="1" lang="zh-CN" altLang="en-US" sz="1600" b="1" dirty="0">
                <a:latin typeface="微软雅黑" panose="020B0503020204020204" pitchFamily="34" charset="-122"/>
                <a:ea typeface="微软雅黑" panose="020B0503020204020204" pitchFamily="34" charset="-122"/>
              </a:rPr>
              <a:t>实验材料及设备：</a:t>
            </a:r>
            <a:endParaRPr kumimoji="1" lang="en-US" altLang="zh-CN" sz="1600" b="1" dirty="0">
              <a:latin typeface="微软雅黑" panose="020B0503020204020204" pitchFamily="34" charset="-122"/>
              <a:ea typeface="微软雅黑" panose="020B0503020204020204" pitchFamily="34" charset="-122"/>
            </a:endParaRPr>
          </a:p>
          <a:p>
            <a:pPr marL="1440000" lvl="1" indent="0">
              <a:spcBef>
                <a:spcPts val="0"/>
              </a:spcBef>
              <a:buFont typeface="Arial" panose="020B0604020202020204" pitchFamily="34" charset="0"/>
              <a:buNone/>
            </a:pPr>
            <a:r>
              <a:rPr lang="zh-CN" altLang="en-US" sz="1600" dirty="0">
                <a:latin typeface="微软雅黑" panose="020B0503020204020204" pitchFamily="34" charset="-122"/>
                <a:ea typeface="微软雅黑" panose="020B0503020204020204" pitchFamily="34" charset="-122"/>
              </a:rPr>
              <a:t>同实验</a:t>
            </a:r>
            <a:r>
              <a:rPr lang="en-US" altLang="zh-CN" sz="1600" dirty="0">
                <a:latin typeface="微软雅黑" panose="020B0503020204020204" pitchFamily="34" charset="-122"/>
                <a:ea typeface="微软雅黑" panose="020B0503020204020204" pitchFamily="34" charset="-122"/>
              </a:rPr>
              <a:t>4</a:t>
            </a:r>
          </a:p>
        </p:txBody>
      </p:sp>
      <p:sp>
        <p:nvSpPr>
          <p:cNvPr id="9" name="内容占位符 2">
            <a:extLst>
              <a:ext uri="{FF2B5EF4-FFF2-40B4-BE49-F238E27FC236}">
                <a16:creationId xmlns:a16="http://schemas.microsoft.com/office/drawing/2014/main" id="{18190144-6048-D20D-5BD7-5B14D9F85D82}"/>
              </a:ext>
            </a:extLst>
          </p:cNvPr>
          <p:cNvSpPr>
            <a:spLocks noGrp="1"/>
          </p:cNvSpPr>
          <p:nvPr>
            <p:ph idx="1"/>
          </p:nvPr>
        </p:nvSpPr>
        <p:spPr>
          <a:xfrm>
            <a:off x="339443" y="1123587"/>
            <a:ext cx="11513114" cy="1325563"/>
          </a:xfrm>
        </p:spPr>
        <p:txBody>
          <a:bodyPr>
            <a:normAutofit/>
          </a:bodyPr>
          <a:lstStyle/>
          <a:p>
            <a:pPr>
              <a:buFont typeface="Wingdings" pitchFamily="2" charset="2"/>
              <a:buChar char="n"/>
            </a:pPr>
            <a:r>
              <a:rPr kumimoji="1" lang="zh-CN" altLang="en-US" b="1" dirty="0">
                <a:solidFill>
                  <a:srgbClr val="4472C4"/>
                </a:solidFill>
              </a:rPr>
              <a:t>实验目的：</a:t>
            </a:r>
            <a:endParaRPr kumimoji="1" lang="en-US" altLang="zh-CN" b="1" dirty="0">
              <a:solidFill>
                <a:srgbClr val="4472C4"/>
              </a:solidFill>
            </a:endParaRPr>
          </a:p>
          <a:p>
            <a:pPr marL="457200" lvl="1" indent="0">
              <a:buNone/>
            </a:pPr>
            <a:r>
              <a:rPr kumimoji="1" lang="zh-CN" altLang="en-US" sz="1600" dirty="0"/>
              <a:t>旨在探究</a:t>
            </a:r>
            <a:r>
              <a:rPr kumimoji="1" lang="zh-CN" altLang="en-US" sz="1600" b="1" dirty="0"/>
              <a:t>音乐流派</a:t>
            </a:r>
            <a:r>
              <a:rPr kumimoji="1" lang="zh-CN" altLang="en-US" sz="1600" dirty="0"/>
              <a:t>和</a:t>
            </a:r>
            <a:r>
              <a:rPr kumimoji="1" lang="zh-CN" altLang="en-US" sz="1600" b="1" dirty="0"/>
              <a:t>音高</a:t>
            </a:r>
            <a:r>
              <a:rPr kumimoji="1" lang="zh-CN" altLang="en-US" sz="1600" dirty="0"/>
              <a:t>对</a:t>
            </a:r>
            <a:r>
              <a:rPr kumimoji="1" lang="zh-CN" altLang="en-US" sz="1600" b="1" dirty="0"/>
              <a:t>有风险情境</a:t>
            </a:r>
            <a:r>
              <a:rPr kumimoji="1" lang="zh-CN" altLang="en-US" sz="1600" dirty="0"/>
              <a:t>下，对</a:t>
            </a:r>
            <a:r>
              <a:rPr kumimoji="1" lang="zh-CN" altLang="en-US" sz="1600" b="1" dirty="0"/>
              <a:t>危险规避</a:t>
            </a:r>
            <a:r>
              <a:rPr kumimoji="1" lang="zh-CN" altLang="en-US" sz="1600" dirty="0"/>
              <a:t>驾驶行为的影响</a:t>
            </a:r>
          </a:p>
        </p:txBody>
      </p:sp>
      <p:sp>
        <p:nvSpPr>
          <p:cNvPr id="2" name="标题 1">
            <a:extLst>
              <a:ext uri="{FF2B5EF4-FFF2-40B4-BE49-F238E27FC236}">
                <a16:creationId xmlns:a16="http://schemas.microsoft.com/office/drawing/2014/main" id="{08D56C4A-1295-C2E3-DCC3-18D321C70828}"/>
              </a:ext>
            </a:extLst>
          </p:cNvPr>
          <p:cNvSpPr txBox="1">
            <a:spLocks/>
          </p:cNvSpPr>
          <p:nvPr/>
        </p:nvSpPr>
        <p:spPr>
          <a:xfrm>
            <a:off x="339443" y="579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tx1"/>
                </a:solidFill>
                <a:latin typeface="Microsoft YaHei" panose="020B0503020204020204" pitchFamily="34" charset="-122"/>
                <a:ea typeface="Microsoft YaHei" panose="020B0503020204020204" pitchFamily="34" charset="-122"/>
                <a:cs typeface="+mj-cs"/>
              </a:defRPr>
            </a:lvl1pPr>
          </a:lstStyle>
          <a:p>
            <a:r>
              <a:rPr kumimoji="1" lang="zh-CN" altLang="en-US" dirty="0"/>
              <a:t>研究方案 </a:t>
            </a:r>
            <a:r>
              <a:rPr kumimoji="1" lang="zh-CN" altLang="en-US" sz="2400" dirty="0"/>
              <a:t>研究三  </a:t>
            </a:r>
            <a:r>
              <a:rPr kumimoji="1" lang="zh-CN" altLang="en-US" sz="2000" dirty="0"/>
              <a:t>实验</a:t>
            </a:r>
            <a:r>
              <a:rPr kumimoji="1" lang="en-US" altLang="zh-CN" sz="2000" dirty="0"/>
              <a:t>5:</a:t>
            </a:r>
            <a:r>
              <a:rPr kumimoji="1" lang="zh-CN" altLang="en-US" sz="2000" dirty="0"/>
              <a:t>音乐流派和音高对危险规避的影响</a:t>
            </a:r>
            <a:endParaRPr kumimoji="1" lang="zh-CN" altLang="en-US" dirty="0"/>
          </a:p>
        </p:txBody>
      </p:sp>
    </p:spTree>
    <p:extLst>
      <p:ext uri="{BB962C8B-B14F-4D97-AF65-F5344CB8AC3E}">
        <p14:creationId xmlns:p14="http://schemas.microsoft.com/office/powerpoint/2010/main" val="39657621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2D3469C9-EF4D-0331-B0D2-AC6CFE77E404}"/>
              </a:ext>
            </a:extLst>
          </p:cNvPr>
          <p:cNvPicPr>
            <a:picLocks noChangeAspect="1"/>
          </p:cNvPicPr>
          <p:nvPr/>
        </p:nvPicPr>
        <p:blipFill>
          <a:blip r:embed="rId3"/>
          <a:stretch>
            <a:fillRect/>
          </a:stretch>
        </p:blipFill>
        <p:spPr>
          <a:xfrm>
            <a:off x="339443" y="3832567"/>
            <a:ext cx="5851771" cy="2894176"/>
          </a:xfrm>
          <a:prstGeom prst="rect">
            <a:avLst/>
          </a:prstGeom>
        </p:spPr>
      </p:pic>
      <p:sp>
        <p:nvSpPr>
          <p:cNvPr id="10" name="内容占位符 2">
            <a:extLst>
              <a:ext uri="{FF2B5EF4-FFF2-40B4-BE49-F238E27FC236}">
                <a16:creationId xmlns:a16="http://schemas.microsoft.com/office/drawing/2014/main" id="{5442ED14-3986-CDC7-6D63-A0E3952F79F4}"/>
              </a:ext>
            </a:extLst>
          </p:cNvPr>
          <p:cNvSpPr txBox="1">
            <a:spLocks/>
          </p:cNvSpPr>
          <p:nvPr/>
        </p:nvSpPr>
        <p:spPr>
          <a:xfrm>
            <a:off x="339443" y="1194707"/>
            <a:ext cx="5756557" cy="3487021"/>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n"/>
            </a:pPr>
            <a:r>
              <a:rPr kumimoji="1" lang="zh-CN" altLang="en-US" b="1" dirty="0">
                <a:solidFill>
                  <a:srgbClr val="4472C4"/>
                </a:solidFill>
              </a:rPr>
              <a:t>研究方法：</a:t>
            </a:r>
            <a:endParaRPr kumimoji="1" lang="en-US" altLang="zh-CN" b="1" dirty="0">
              <a:solidFill>
                <a:srgbClr val="4472C4"/>
              </a:solidFill>
            </a:endParaRPr>
          </a:p>
          <a:p>
            <a:pPr marL="457200" lvl="1" indent="0">
              <a:buFont typeface="Arial" panose="020B0604020202020204" pitchFamily="34" charset="0"/>
              <a:buNone/>
            </a:pPr>
            <a:r>
              <a:rPr kumimoji="1" lang="zh-CN" altLang="en-US" b="1" dirty="0"/>
              <a:t>模拟驾驶任务</a:t>
            </a:r>
            <a:endParaRPr kumimoji="1" lang="en-US" altLang="zh-CN" b="1" dirty="0"/>
          </a:p>
          <a:p>
            <a:pPr marL="457200" lvl="1" indent="0">
              <a:spcBef>
                <a:spcPts val="0"/>
              </a:spcBef>
              <a:buFont typeface="Arial" panose="020B0604020202020204" pitchFamily="34" charset="0"/>
              <a:buNone/>
            </a:pPr>
            <a:r>
              <a:rPr lang="zh-CN" altLang="zh-CN" sz="1600" kern="100" dirty="0">
                <a:latin typeface="Times New Roman" panose="02020603050405020304" pitchFamily="18" charset="0"/>
                <a:ea typeface="宋体" panose="02010600030101010101" pitchFamily="2" charset="-122"/>
                <a:cs typeface="Times New Roman" panose="02020603050405020304" pitchFamily="18" charset="0"/>
              </a:rPr>
              <a:t>单侧宽度</a:t>
            </a:r>
            <a:r>
              <a:rPr lang="en-US" altLang="zh-CN" sz="1600" kern="100" dirty="0">
                <a:latin typeface="Times New Roman" panose="02020603050405020304" pitchFamily="18" charset="0"/>
                <a:ea typeface="宋体" panose="02010600030101010101" pitchFamily="2" charset="-122"/>
              </a:rPr>
              <a:t> 4.8 </a:t>
            </a:r>
            <a:r>
              <a:rPr lang="zh-CN" altLang="zh-CN" sz="1600" kern="100" dirty="0">
                <a:latin typeface="Times New Roman" panose="02020603050405020304" pitchFamily="18" charset="0"/>
                <a:ea typeface="宋体" panose="02010600030101010101" pitchFamily="2" charset="-122"/>
                <a:cs typeface="Times New Roman" panose="02020603050405020304" pitchFamily="18" charset="0"/>
              </a:rPr>
              <a:t>米的双向车道，中间有双黄线</a:t>
            </a:r>
            <a:r>
              <a:rPr lang="zh-CN" altLang="en-US" sz="1600" kern="100" dirty="0">
                <a:latin typeface="Times New Roman" panose="02020603050405020304" pitchFamily="18" charset="0"/>
                <a:ea typeface="宋体" panose="02010600030101010101" pitchFamily="2" charset="-122"/>
                <a:cs typeface="Times New Roman" panose="02020603050405020304" pitchFamily="18" charset="0"/>
              </a:rPr>
              <a:t>，同实验</a:t>
            </a:r>
            <a:r>
              <a:rPr lang="en-US" altLang="zh-CN" sz="1600" kern="100" dirty="0">
                <a:latin typeface="Times New Roman" panose="02020603050405020304" pitchFamily="18" charset="0"/>
                <a:ea typeface="宋体" panose="02010600030101010101" pitchFamily="2" charset="-122"/>
                <a:cs typeface="Times New Roman" panose="02020603050405020304" pitchFamily="18" charset="0"/>
              </a:rPr>
              <a:t>2</a:t>
            </a:r>
            <a:r>
              <a:rPr lang="zh-CN" altLang="zh-CN" sz="1600" kern="100" dirty="0">
                <a:latin typeface="Times New Roman" panose="02020603050405020304" pitchFamily="18" charset="0"/>
                <a:ea typeface="宋体" panose="02010600030101010101" pitchFamily="2" charset="-122"/>
                <a:cs typeface="Times New Roman" panose="02020603050405020304" pitchFamily="18" charset="0"/>
              </a:rPr>
              <a:t>。全长约</a:t>
            </a:r>
            <a:r>
              <a:rPr lang="en-US" altLang="zh-CN" sz="1600" kern="100" dirty="0">
                <a:latin typeface="Times New Roman" panose="02020603050405020304" pitchFamily="18" charset="0"/>
                <a:ea typeface="宋体" panose="02010600030101010101" pitchFamily="2" charset="-122"/>
              </a:rPr>
              <a:t>15km</a:t>
            </a:r>
            <a:r>
              <a:rPr lang="zh-CN" altLang="zh-CN" sz="1600" kern="100" dirty="0">
                <a:latin typeface="Times New Roman" panose="02020603050405020304" pitchFamily="18" charset="0"/>
                <a:ea typeface="宋体" panose="02010600030101010101" pitchFamily="2" charset="-122"/>
                <a:cs typeface="Times New Roman" panose="02020603050405020304" pitchFamily="18" charset="0"/>
              </a:rPr>
              <a:t>，限速</a:t>
            </a:r>
            <a:r>
              <a:rPr lang="en-US" altLang="zh-CN" sz="1600" kern="100" dirty="0">
                <a:latin typeface="Times New Roman" panose="02020603050405020304" pitchFamily="18" charset="0"/>
                <a:ea typeface="宋体" panose="02010600030101010101" pitchFamily="2" charset="-122"/>
              </a:rPr>
              <a:t>65km/h</a:t>
            </a:r>
            <a:r>
              <a:rPr lang="zh-CN" altLang="zh-CN" sz="1600" kern="100" dirty="0">
                <a:latin typeface="Times New Roman" panose="02020603050405020304" pitchFamily="18" charset="0"/>
                <a:ea typeface="宋体" panose="02010600030101010101" pitchFamily="2" charset="-122"/>
                <a:cs typeface="Times New Roman" panose="02020603050405020304" pitchFamily="18" charset="0"/>
              </a:rPr>
              <a:t>，预计需</a:t>
            </a:r>
            <a:r>
              <a:rPr lang="en-US" altLang="zh-CN" sz="1600" kern="100" dirty="0">
                <a:latin typeface="Times New Roman" panose="02020603050405020304" pitchFamily="18" charset="0"/>
                <a:ea typeface="宋体" panose="02010600030101010101" pitchFamily="2" charset="-122"/>
                <a:cs typeface="Times New Roman" panose="02020603050405020304" pitchFamily="18" charset="0"/>
              </a:rPr>
              <a:t>20</a:t>
            </a:r>
            <a:r>
              <a:rPr lang="zh-CN" altLang="zh-CN" sz="1600" kern="100" dirty="0">
                <a:latin typeface="Times New Roman" panose="02020603050405020304" pitchFamily="18" charset="0"/>
                <a:ea typeface="宋体" panose="02010600030101010101" pitchFamily="2" charset="-122"/>
                <a:cs typeface="Times New Roman" panose="02020603050405020304" pitchFamily="18" charset="0"/>
              </a:rPr>
              <a:t>分钟。</a:t>
            </a:r>
            <a:endParaRPr lang="en-US" altLang="zh-CN" sz="1600" kern="100" dirty="0">
              <a:latin typeface="Times New Roman" panose="02020603050405020304" pitchFamily="18" charset="0"/>
              <a:ea typeface="宋体" panose="02010600030101010101" pitchFamily="2" charset="-122"/>
              <a:cs typeface="Times New Roman" panose="02020603050405020304" pitchFamily="18" charset="0"/>
            </a:endParaRPr>
          </a:p>
          <a:p>
            <a:pPr marL="457200" lvl="1" indent="0">
              <a:spcBef>
                <a:spcPts val="0"/>
              </a:spcBef>
              <a:buFont typeface="Arial" panose="020B0604020202020204" pitchFamily="34" charset="0"/>
              <a:buNone/>
            </a:pPr>
            <a:r>
              <a:rPr lang="en-US" altLang="zh-CN" sz="1600" kern="100" dirty="0">
                <a:latin typeface="Times New Roman" panose="02020603050405020304" pitchFamily="18" charset="0"/>
                <a:ea typeface="宋体" panose="02010600030101010101" pitchFamily="2" charset="-122"/>
                <a:cs typeface="Times New Roman" panose="02020603050405020304" pitchFamily="18" charset="0"/>
              </a:rPr>
              <a:t>11</a:t>
            </a:r>
            <a:r>
              <a:rPr lang="zh-CN" altLang="en-US" sz="1600" kern="100" dirty="0">
                <a:latin typeface="Times New Roman" panose="02020603050405020304" pitchFamily="18" charset="0"/>
                <a:ea typeface="宋体" panose="02010600030101010101" pitchFamily="2" charset="-122"/>
                <a:cs typeface="Times New Roman" panose="02020603050405020304" pitchFamily="18" charset="0"/>
              </a:rPr>
              <a:t>个突发事件（行人横穿、前车急刹、绿灯转红）</a:t>
            </a:r>
            <a:r>
              <a:rPr lang="zh-CN" altLang="zh-CN" sz="1600"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1600" dirty="0"/>
              <a:t> </a:t>
            </a:r>
            <a:r>
              <a:rPr kumimoji="1" lang="zh-CN" altLang="en-US" sz="1600" dirty="0">
                <a:latin typeface="SimSun" panose="02010600030101010101" pitchFamily="2" charset="-122"/>
                <a:ea typeface="SimSun" panose="02010600030101010101" pitchFamily="2" charset="-122"/>
              </a:rPr>
              <a:t>设计</a:t>
            </a:r>
            <a:r>
              <a:rPr kumimoji="1" lang="en-US" altLang="zh-CN" sz="1600" dirty="0">
                <a:latin typeface="SimSun" panose="02010600030101010101" pitchFamily="2" charset="-122"/>
                <a:ea typeface="SimSun" panose="02010600030101010101" pitchFamily="2" charset="-122"/>
              </a:rPr>
              <a:t>3</a:t>
            </a:r>
            <a:r>
              <a:rPr kumimoji="1" lang="zh-CN" altLang="en-US" sz="1600" dirty="0">
                <a:latin typeface="SimSun" panose="02010600030101010101" pitchFamily="2" charset="-122"/>
                <a:ea typeface="SimSun" panose="02010600030101010101" pitchFamily="2" charset="-122"/>
              </a:rPr>
              <a:t>个场景，变化突发事件出现位置和顺序</a:t>
            </a:r>
            <a:endParaRPr kumimoji="1" lang="en-US" altLang="zh-CN" sz="1600" dirty="0">
              <a:latin typeface="SimSun" panose="02010600030101010101" pitchFamily="2" charset="-122"/>
              <a:ea typeface="SimSun" panose="02010600030101010101" pitchFamily="2" charset="-122"/>
            </a:endParaRPr>
          </a:p>
        </p:txBody>
      </p:sp>
      <p:pic>
        <p:nvPicPr>
          <p:cNvPr id="3" name="图片 2">
            <a:extLst>
              <a:ext uri="{FF2B5EF4-FFF2-40B4-BE49-F238E27FC236}">
                <a16:creationId xmlns:a16="http://schemas.microsoft.com/office/drawing/2014/main" id="{9C2BB652-F537-D8FB-D0E5-3639E5944FED}"/>
              </a:ext>
            </a:extLst>
          </p:cNvPr>
          <p:cNvPicPr>
            <a:picLocks noChangeAspect="1"/>
          </p:cNvPicPr>
          <p:nvPr/>
        </p:nvPicPr>
        <p:blipFill>
          <a:blip r:embed="rId4"/>
          <a:stretch>
            <a:fillRect/>
          </a:stretch>
        </p:blipFill>
        <p:spPr>
          <a:xfrm>
            <a:off x="3766048" y="4138796"/>
            <a:ext cx="1203518" cy="1330556"/>
          </a:xfrm>
          <a:prstGeom prst="rect">
            <a:avLst/>
          </a:prstGeom>
        </p:spPr>
      </p:pic>
      <p:sp>
        <p:nvSpPr>
          <p:cNvPr id="4" name="内容占位符 2">
            <a:extLst>
              <a:ext uri="{FF2B5EF4-FFF2-40B4-BE49-F238E27FC236}">
                <a16:creationId xmlns:a16="http://schemas.microsoft.com/office/drawing/2014/main" id="{7CB509F6-30E2-8303-34C2-4DFFBDBC3883}"/>
              </a:ext>
            </a:extLst>
          </p:cNvPr>
          <p:cNvSpPr txBox="1">
            <a:spLocks/>
          </p:cNvSpPr>
          <p:nvPr/>
        </p:nvSpPr>
        <p:spPr>
          <a:xfrm>
            <a:off x="6563492" y="3103986"/>
            <a:ext cx="5189946" cy="4351338"/>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n"/>
            </a:pPr>
            <a:r>
              <a:rPr kumimoji="1" lang="zh-CN" altLang="en-US" b="1" dirty="0">
                <a:solidFill>
                  <a:srgbClr val="4472C4"/>
                </a:solidFill>
              </a:rPr>
              <a:t>数据分析：</a:t>
            </a:r>
            <a:endParaRPr kumimoji="1" lang="en-US" altLang="zh-CN" b="1" dirty="0">
              <a:solidFill>
                <a:srgbClr val="4472C4"/>
              </a:solidFill>
            </a:endParaRPr>
          </a:p>
          <a:p>
            <a:pPr marL="457200" indent="0">
              <a:buFont typeface="Arial" panose="020B0604020202020204" pitchFamily="34" charset="0"/>
              <a:buNone/>
            </a:pPr>
            <a:r>
              <a:rPr kumimoji="1" lang="zh-CN" altLang="en-US" sz="1600" b="1" dirty="0">
                <a:latin typeface="+mj-ea"/>
                <a:ea typeface="+mj-ea"/>
              </a:rPr>
              <a:t>重复测量方差分析：</a:t>
            </a:r>
            <a:r>
              <a:rPr kumimoji="1" lang="zh-CN" altLang="en-US" sz="1600" dirty="0">
                <a:latin typeface="+mj-ea"/>
                <a:ea typeface="+mj-ea"/>
              </a:rPr>
              <a:t>音乐流派、音高对各变量是否有主效应、交互效应、以及对比各组之间的差异</a:t>
            </a:r>
            <a:endParaRPr kumimoji="1" lang="en-US" altLang="zh-CN" sz="1600" dirty="0">
              <a:latin typeface="+mj-ea"/>
              <a:ea typeface="+mj-ea"/>
            </a:endParaRPr>
          </a:p>
          <a:p>
            <a:pPr marL="457200" indent="0">
              <a:buFont typeface="Arial" panose="020B0604020202020204" pitchFamily="34" charset="0"/>
              <a:buNone/>
            </a:pPr>
            <a:r>
              <a:rPr kumimoji="1" lang="en-US" altLang="zh-CN" sz="1600" dirty="0">
                <a:latin typeface="+mj-ea"/>
                <a:ea typeface="+mj-ea"/>
              </a:rPr>
              <a:t>	</a:t>
            </a:r>
          </a:p>
        </p:txBody>
      </p:sp>
      <p:sp>
        <p:nvSpPr>
          <p:cNvPr id="5" name="内容占位符 2">
            <a:extLst>
              <a:ext uri="{FF2B5EF4-FFF2-40B4-BE49-F238E27FC236}">
                <a16:creationId xmlns:a16="http://schemas.microsoft.com/office/drawing/2014/main" id="{A8EFA3A8-E9AA-6727-A2CE-6DB73D980493}"/>
              </a:ext>
            </a:extLst>
          </p:cNvPr>
          <p:cNvSpPr txBox="1">
            <a:spLocks/>
          </p:cNvSpPr>
          <p:nvPr/>
        </p:nvSpPr>
        <p:spPr>
          <a:xfrm>
            <a:off x="6563492" y="4686506"/>
            <a:ext cx="5595366" cy="4351338"/>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n"/>
            </a:pPr>
            <a:r>
              <a:rPr kumimoji="1" lang="zh-CN" altLang="en-US" b="1" dirty="0">
                <a:solidFill>
                  <a:srgbClr val="4472C4"/>
                </a:solidFill>
              </a:rPr>
              <a:t>预期结果：</a:t>
            </a:r>
            <a:endParaRPr kumimoji="1" lang="en-US" altLang="zh-CN" b="1" dirty="0">
              <a:solidFill>
                <a:srgbClr val="4472C4"/>
              </a:solidFill>
            </a:endParaRPr>
          </a:p>
          <a:p>
            <a:pPr marL="457200" indent="0">
              <a:buFont typeface="Arial" panose="020B0604020202020204" pitchFamily="34" charset="0"/>
              <a:buNone/>
            </a:pPr>
            <a:r>
              <a:rPr kumimoji="1" lang="zh-CN" altLang="en-US" sz="1600" dirty="0"/>
              <a:t>音乐流派和音高主效应显著；交互效应显著；</a:t>
            </a:r>
          </a:p>
          <a:p>
            <a:pPr marL="457200" indent="0">
              <a:buFont typeface="Arial" panose="020B0604020202020204" pitchFamily="34" charset="0"/>
              <a:buNone/>
            </a:pPr>
            <a:r>
              <a:rPr kumimoji="1" lang="zh-CN" altLang="en-US" sz="1600" dirty="0"/>
              <a:t>更低的摇滚音乐下，稳定性最差，应急反应更慢，危险性更高</a:t>
            </a:r>
          </a:p>
          <a:p>
            <a:pPr marL="0" indent="0">
              <a:buFont typeface="Arial" panose="020B0604020202020204" pitchFamily="34" charset="0"/>
              <a:buNone/>
            </a:pPr>
            <a:endParaRPr kumimoji="1" lang="zh-CN" altLang="en-US" sz="1600" dirty="0"/>
          </a:p>
          <a:p>
            <a:pPr marL="0" indent="0">
              <a:buFont typeface="Arial" panose="020B0604020202020204" pitchFamily="34" charset="0"/>
              <a:buNone/>
            </a:pPr>
            <a:r>
              <a:rPr kumimoji="1" lang="en-US" altLang="zh-CN" sz="1600" dirty="0">
                <a:latin typeface="+mj-ea"/>
                <a:ea typeface="+mj-ea"/>
              </a:rPr>
              <a:t>	</a:t>
            </a:r>
            <a:endParaRPr kumimoji="1" lang="en-US" altLang="zh-CN" dirty="0">
              <a:latin typeface="+mj-ea"/>
              <a:ea typeface="+mj-ea"/>
            </a:endParaRPr>
          </a:p>
        </p:txBody>
      </p:sp>
      <p:sp>
        <p:nvSpPr>
          <p:cNvPr id="6" name="内容占位符 2">
            <a:extLst>
              <a:ext uri="{FF2B5EF4-FFF2-40B4-BE49-F238E27FC236}">
                <a16:creationId xmlns:a16="http://schemas.microsoft.com/office/drawing/2014/main" id="{06A5EFF6-9F28-8E57-F3D1-33744A5AD2AB}"/>
              </a:ext>
            </a:extLst>
          </p:cNvPr>
          <p:cNvSpPr txBox="1">
            <a:spLocks/>
          </p:cNvSpPr>
          <p:nvPr/>
        </p:nvSpPr>
        <p:spPr>
          <a:xfrm>
            <a:off x="6563492" y="1194707"/>
            <a:ext cx="6370305" cy="4351338"/>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n"/>
            </a:pPr>
            <a:r>
              <a:rPr kumimoji="1" lang="zh-CN" altLang="en-US" b="1" dirty="0">
                <a:solidFill>
                  <a:srgbClr val="4472C4"/>
                </a:solidFill>
              </a:rPr>
              <a:t>实验流程</a:t>
            </a:r>
            <a:endParaRPr kumimoji="1" lang="en-US" altLang="zh-CN" b="1" dirty="0">
              <a:solidFill>
                <a:srgbClr val="4472C4"/>
              </a:solidFill>
            </a:endParaRPr>
          </a:p>
        </p:txBody>
      </p:sp>
      <p:sp>
        <p:nvSpPr>
          <p:cNvPr id="12" name="标题 1">
            <a:extLst>
              <a:ext uri="{FF2B5EF4-FFF2-40B4-BE49-F238E27FC236}">
                <a16:creationId xmlns:a16="http://schemas.microsoft.com/office/drawing/2014/main" id="{35D2F682-83A9-657A-30CF-D3D510DF3E0C}"/>
              </a:ext>
            </a:extLst>
          </p:cNvPr>
          <p:cNvSpPr txBox="1">
            <a:spLocks/>
          </p:cNvSpPr>
          <p:nvPr/>
        </p:nvSpPr>
        <p:spPr>
          <a:xfrm>
            <a:off x="339443" y="579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tx1"/>
                </a:solidFill>
                <a:latin typeface="Microsoft YaHei" panose="020B0503020204020204" pitchFamily="34" charset="-122"/>
                <a:ea typeface="Microsoft YaHei" panose="020B0503020204020204" pitchFamily="34" charset="-122"/>
                <a:cs typeface="+mj-cs"/>
              </a:defRPr>
            </a:lvl1pPr>
          </a:lstStyle>
          <a:p>
            <a:r>
              <a:rPr kumimoji="1" lang="zh-CN" altLang="en-US" dirty="0"/>
              <a:t>研究方案 </a:t>
            </a:r>
            <a:r>
              <a:rPr kumimoji="1" lang="zh-CN" altLang="en-US" sz="2400" dirty="0"/>
              <a:t>研究三  </a:t>
            </a:r>
            <a:r>
              <a:rPr kumimoji="1" lang="zh-CN" altLang="en-US" sz="2000" dirty="0"/>
              <a:t>实验</a:t>
            </a:r>
            <a:r>
              <a:rPr kumimoji="1" lang="en-US" altLang="zh-CN" sz="2000" dirty="0"/>
              <a:t>5:</a:t>
            </a:r>
            <a:r>
              <a:rPr kumimoji="1" lang="zh-CN" altLang="en-US" sz="2000" dirty="0"/>
              <a:t>音乐流派和音高对危险规避的影响</a:t>
            </a:r>
            <a:endParaRPr kumimoji="1" lang="zh-CN" altLang="en-US" dirty="0"/>
          </a:p>
        </p:txBody>
      </p:sp>
      <p:pic>
        <p:nvPicPr>
          <p:cNvPr id="8" name="图片 7">
            <a:extLst>
              <a:ext uri="{FF2B5EF4-FFF2-40B4-BE49-F238E27FC236}">
                <a16:creationId xmlns:a16="http://schemas.microsoft.com/office/drawing/2014/main" id="{97F72222-C5EE-4E58-EFDB-EF37B547F930}"/>
              </a:ext>
            </a:extLst>
          </p:cNvPr>
          <p:cNvPicPr>
            <a:picLocks noChangeAspect="1"/>
          </p:cNvPicPr>
          <p:nvPr/>
        </p:nvPicPr>
        <p:blipFill>
          <a:blip r:embed="rId5"/>
          <a:stretch>
            <a:fillRect/>
          </a:stretch>
        </p:blipFill>
        <p:spPr>
          <a:xfrm>
            <a:off x="6280420" y="1674349"/>
            <a:ext cx="5911580" cy="1429637"/>
          </a:xfrm>
          <a:prstGeom prst="rect">
            <a:avLst/>
          </a:prstGeom>
        </p:spPr>
      </p:pic>
    </p:spTree>
    <p:extLst>
      <p:ext uri="{BB962C8B-B14F-4D97-AF65-F5344CB8AC3E}">
        <p14:creationId xmlns:p14="http://schemas.microsoft.com/office/powerpoint/2010/main" val="11114972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11"/>
          <p:cNvSpPr>
            <a:spLocks/>
          </p:cNvSpPr>
          <p:nvPr/>
        </p:nvSpPr>
        <p:spPr bwMode="auto">
          <a:xfrm>
            <a:off x="4792379" y="1094789"/>
            <a:ext cx="891827" cy="112668"/>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39" name="Freeform 10"/>
          <p:cNvSpPr>
            <a:spLocks/>
          </p:cNvSpPr>
          <p:nvPr/>
        </p:nvSpPr>
        <p:spPr bwMode="auto">
          <a:xfrm>
            <a:off x="4628930" y="1183655"/>
            <a:ext cx="6690287" cy="701401"/>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chemeClr val="bg1"/>
          </a:solidFill>
          <a:ln w="10" cap="flat" cmpd="sng">
            <a:solidFill>
              <a:srgbClr val="A8A9AD"/>
            </a:solidFill>
            <a:round/>
            <a:headEnd/>
            <a:tailEnd/>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0" name="Rectangle 12"/>
          <p:cNvSpPr>
            <a:spLocks noChangeArrowheads="1"/>
          </p:cNvSpPr>
          <p:nvPr/>
        </p:nvSpPr>
        <p:spPr bwMode="auto">
          <a:xfrm>
            <a:off x="4878070" y="1094789"/>
            <a:ext cx="720444" cy="737899"/>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1" name="Freeform 11"/>
          <p:cNvSpPr>
            <a:spLocks/>
          </p:cNvSpPr>
          <p:nvPr/>
        </p:nvSpPr>
        <p:spPr bwMode="auto">
          <a:xfrm>
            <a:off x="4792379" y="2115153"/>
            <a:ext cx="891827" cy="112669"/>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2" name="Freeform 10"/>
          <p:cNvSpPr>
            <a:spLocks/>
          </p:cNvSpPr>
          <p:nvPr/>
        </p:nvSpPr>
        <p:spPr bwMode="auto">
          <a:xfrm>
            <a:off x="4628930" y="2204018"/>
            <a:ext cx="6690287" cy="701401"/>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round/>
            <a:headEnd/>
            <a:tailEnd/>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3" name="Rectangle 12"/>
          <p:cNvSpPr>
            <a:spLocks noChangeArrowheads="1"/>
          </p:cNvSpPr>
          <p:nvPr/>
        </p:nvSpPr>
        <p:spPr bwMode="auto">
          <a:xfrm>
            <a:off x="4878070" y="2115152"/>
            <a:ext cx="720444" cy="737900"/>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4" name="Freeform 11"/>
          <p:cNvSpPr>
            <a:spLocks/>
          </p:cNvSpPr>
          <p:nvPr/>
        </p:nvSpPr>
        <p:spPr bwMode="auto">
          <a:xfrm>
            <a:off x="4792379" y="3113301"/>
            <a:ext cx="891827" cy="112668"/>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5" name="Freeform 10"/>
          <p:cNvSpPr>
            <a:spLocks/>
          </p:cNvSpPr>
          <p:nvPr/>
        </p:nvSpPr>
        <p:spPr bwMode="auto">
          <a:xfrm>
            <a:off x="4628930" y="3200579"/>
            <a:ext cx="6690287" cy="701401"/>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round/>
            <a:headEnd/>
            <a:tailEnd/>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6" name="Rectangle 12"/>
          <p:cNvSpPr>
            <a:spLocks noChangeArrowheads="1"/>
          </p:cNvSpPr>
          <p:nvPr/>
        </p:nvSpPr>
        <p:spPr bwMode="auto">
          <a:xfrm>
            <a:off x="4878070" y="3113301"/>
            <a:ext cx="720444" cy="737899"/>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7" name="Freeform 11"/>
          <p:cNvSpPr>
            <a:spLocks/>
          </p:cNvSpPr>
          <p:nvPr/>
        </p:nvSpPr>
        <p:spPr bwMode="auto">
          <a:xfrm>
            <a:off x="4792379" y="4122556"/>
            <a:ext cx="891827" cy="112668"/>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8" name="Freeform 10"/>
          <p:cNvSpPr>
            <a:spLocks/>
          </p:cNvSpPr>
          <p:nvPr/>
        </p:nvSpPr>
        <p:spPr bwMode="auto">
          <a:xfrm>
            <a:off x="4628930" y="4209835"/>
            <a:ext cx="6690287" cy="701401"/>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round/>
            <a:headEnd/>
            <a:tailEnd/>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49" name="Rectangle 12"/>
          <p:cNvSpPr>
            <a:spLocks noChangeArrowheads="1"/>
          </p:cNvSpPr>
          <p:nvPr/>
        </p:nvSpPr>
        <p:spPr bwMode="auto">
          <a:xfrm>
            <a:off x="4878070" y="4122557"/>
            <a:ext cx="720444" cy="737899"/>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50" name="Freeform 11"/>
          <p:cNvSpPr>
            <a:spLocks/>
          </p:cNvSpPr>
          <p:nvPr/>
        </p:nvSpPr>
        <p:spPr bwMode="auto">
          <a:xfrm>
            <a:off x="4792379" y="5166723"/>
            <a:ext cx="891827" cy="112668"/>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rgbClr val="006B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51" name="Freeform 10"/>
          <p:cNvSpPr>
            <a:spLocks/>
          </p:cNvSpPr>
          <p:nvPr/>
        </p:nvSpPr>
        <p:spPr bwMode="auto">
          <a:xfrm>
            <a:off x="4628930" y="5254002"/>
            <a:ext cx="6690287" cy="701401"/>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chemeClr val="bg2">
              <a:lumMod val="90000"/>
            </a:schemeClr>
          </a:solidFill>
          <a:ln w="10" cap="flat" cmpd="sng">
            <a:solidFill>
              <a:srgbClr val="A8A9AD"/>
            </a:solidFill>
            <a:round/>
            <a:headEnd/>
            <a:tailEnd/>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52" name="Rectangle 12"/>
          <p:cNvSpPr>
            <a:spLocks noChangeArrowheads="1"/>
          </p:cNvSpPr>
          <p:nvPr/>
        </p:nvSpPr>
        <p:spPr bwMode="auto">
          <a:xfrm>
            <a:off x="4878070" y="5166724"/>
            <a:ext cx="720444" cy="737899"/>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53" name="TextBox 105"/>
          <p:cNvSpPr txBox="1">
            <a:spLocks noChangeArrowheads="1"/>
          </p:cNvSpPr>
          <p:nvPr/>
        </p:nvSpPr>
        <p:spPr bwMode="auto">
          <a:xfrm>
            <a:off x="5807981" y="1270942"/>
            <a:ext cx="2698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3C3C3C"/>
                </a:solidFill>
                <a:effectLst/>
                <a:uLnTx/>
                <a:uFillTx/>
                <a:latin typeface="微软雅黑" panose="020B0503020204020204" pitchFamily="34" charset="-122"/>
                <a:ea typeface="微软雅黑" panose="020B0503020204020204" pitchFamily="34" charset="-122"/>
                <a:cs typeface="+mn-cs"/>
              </a:rPr>
              <a:t>研究背景及意义</a:t>
            </a:r>
          </a:p>
        </p:txBody>
      </p:sp>
      <p:sp>
        <p:nvSpPr>
          <p:cNvPr id="14354" name="TextBox 106"/>
          <p:cNvSpPr txBox="1">
            <a:spLocks noChangeArrowheads="1"/>
          </p:cNvSpPr>
          <p:nvPr/>
        </p:nvSpPr>
        <p:spPr bwMode="auto">
          <a:xfrm>
            <a:off x="4985978" y="1137635"/>
            <a:ext cx="499868" cy="7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en-US" altLang="zh-CN"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1</a:t>
            </a:r>
            <a:endParaRPr kumimoji="0" lang="zh-CN" altLang="en-US"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4355" name="TextBox 108"/>
          <p:cNvSpPr txBox="1">
            <a:spLocks noChangeArrowheads="1"/>
          </p:cNvSpPr>
          <p:nvPr/>
        </p:nvSpPr>
        <p:spPr bwMode="auto">
          <a:xfrm>
            <a:off x="5807981" y="2321457"/>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3C3C3C"/>
                </a:solidFill>
                <a:effectLst/>
                <a:uLnTx/>
                <a:uFillTx/>
                <a:latin typeface="微软雅黑" panose="020B0503020204020204" pitchFamily="34" charset="-122"/>
                <a:ea typeface="微软雅黑" panose="020B0503020204020204" pitchFamily="34" charset="-122"/>
                <a:cs typeface="+mn-cs"/>
              </a:rPr>
              <a:t>文献综述</a:t>
            </a:r>
          </a:p>
        </p:txBody>
      </p:sp>
      <p:sp>
        <p:nvSpPr>
          <p:cNvPr id="14356" name="TextBox 109"/>
          <p:cNvSpPr txBox="1">
            <a:spLocks noChangeArrowheads="1"/>
          </p:cNvSpPr>
          <p:nvPr/>
        </p:nvSpPr>
        <p:spPr bwMode="auto">
          <a:xfrm>
            <a:off x="4985978" y="2135783"/>
            <a:ext cx="499868" cy="707749"/>
          </a:xfrm>
          <a:prstGeom prst="rect">
            <a:avLst/>
          </a:prstGeom>
          <a:solidFill>
            <a:schemeClr val="accent2"/>
          </a:solidFill>
          <a:ln>
            <a:noFill/>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en-US" altLang="zh-CN"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2</a:t>
            </a:r>
            <a:endParaRPr kumimoji="0" lang="zh-CN" altLang="en-US"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4357" name="TextBox 115"/>
          <p:cNvSpPr txBox="1">
            <a:spLocks noChangeArrowheads="1"/>
          </p:cNvSpPr>
          <p:nvPr/>
        </p:nvSpPr>
        <p:spPr bwMode="auto">
          <a:xfrm>
            <a:off x="5807981" y="3265651"/>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3C3C3C"/>
                </a:solidFill>
                <a:effectLst/>
                <a:uLnTx/>
                <a:uFillTx/>
                <a:latin typeface="微软雅黑" panose="020B0503020204020204" pitchFamily="34" charset="-122"/>
                <a:ea typeface="微软雅黑" panose="020B0503020204020204" pitchFamily="34" charset="-122"/>
                <a:cs typeface="+mn-cs"/>
              </a:rPr>
              <a:t>研究</a:t>
            </a:r>
            <a:r>
              <a:rPr lang="zh-CN" altLang="en-US" sz="2800" b="1" dirty="0">
                <a:solidFill>
                  <a:srgbClr val="3C3C3C"/>
                </a:solidFill>
                <a:latin typeface="微软雅黑" panose="020B0503020204020204" pitchFamily="34" charset="-122"/>
                <a:ea typeface="微软雅黑" panose="020B0503020204020204" pitchFamily="34" charset="-122"/>
              </a:rPr>
              <a:t>问题</a:t>
            </a:r>
            <a:endParaRPr kumimoji="0" lang="zh-CN" altLang="en-US" sz="2800" b="1" i="0" u="none" strike="noStrike" kern="1200" cap="none" spc="0" normalizeH="0" baseline="0" noProof="0" dirty="0">
              <a:ln>
                <a:noFill/>
              </a:ln>
              <a:solidFill>
                <a:srgbClr val="3C3C3C"/>
              </a:solidFill>
              <a:effectLst/>
              <a:uLnTx/>
              <a:uFillTx/>
              <a:latin typeface="微软雅黑" panose="020B0503020204020204" pitchFamily="34" charset="-122"/>
              <a:ea typeface="微软雅黑" panose="020B0503020204020204" pitchFamily="34" charset="-122"/>
              <a:cs typeface="+mn-cs"/>
            </a:endParaRPr>
          </a:p>
        </p:txBody>
      </p:sp>
      <p:sp>
        <p:nvSpPr>
          <p:cNvPr id="14358" name="TextBox 116"/>
          <p:cNvSpPr txBox="1">
            <a:spLocks noChangeArrowheads="1"/>
          </p:cNvSpPr>
          <p:nvPr/>
        </p:nvSpPr>
        <p:spPr bwMode="auto">
          <a:xfrm>
            <a:off x="4985978" y="3132343"/>
            <a:ext cx="499868" cy="7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en-US" altLang="zh-CN"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3</a:t>
            </a:r>
            <a:endParaRPr kumimoji="0" lang="zh-CN" altLang="en-US"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4359" name="TextBox 117"/>
          <p:cNvSpPr txBox="1">
            <a:spLocks noChangeArrowheads="1"/>
          </p:cNvSpPr>
          <p:nvPr/>
        </p:nvSpPr>
        <p:spPr bwMode="auto">
          <a:xfrm>
            <a:off x="5807981" y="4286014"/>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3C3C3C"/>
                </a:solidFill>
                <a:effectLst/>
                <a:uLnTx/>
                <a:uFillTx/>
                <a:latin typeface="微软雅黑" panose="020B0503020204020204" pitchFamily="34" charset="-122"/>
                <a:ea typeface="微软雅黑" panose="020B0503020204020204" pitchFamily="34" charset="-122"/>
                <a:cs typeface="+mn-cs"/>
              </a:rPr>
              <a:t>研究方案</a:t>
            </a:r>
          </a:p>
        </p:txBody>
      </p:sp>
      <p:sp>
        <p:nvSpPr>
          <p:cNvPr id="14360" name="TextBox 118"/>
          <p:cNvSpPr txBox="1">
            <a:spLocks noChangeArrowheads="1"/>
          </p:cNvSpPr>
          <p:nvPr/>
        </p:nvSpPr>
        <p:spPr bwMode="auto">
          <a:xfrm>
            <a:off x="4985978" y="4152707"/>
            <a:ext cx="499868" cy="7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en-US" altLang="zh-CN"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4</a:t>
            </a:r>
            <a:endParaRPr kumimoji="0" lang="zh-CN" altLang="en-US" sz="3998"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4361" name="TextBox 119"/>
          <p:cNvSpPr txBox="1">
            <a:spLocks noChangeArrowheads="1"/>
          </p:cNvSpPr>
          <p:nvPr/>
        </p:nvSpPr>
        <p:spPr bwMode="auto">
          <a:xfrm>
            <a:off x="5807981" y="5360333"/>
            <a:ext cx="413446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3C3C3C"/>
                </a:solidFill>
                <a:effectLst/>
                <a:uLnTx/>
                <a:uFillTx/>
                <a:latin typeface="微软雅黑" panose="020B0503020204020204" pitchFamily="34" charset="-122"/>
                <a:ea typeface="微软雅黑" panose="020B0503020204020204" pitchFamily="34" charset="-122"/>
                <a:cs typeface="+mn-cs"/>
              </a:rPr>
              <a:t>研究工作计划与进度安排</a:t>
            </a:r>
          </a:p>
        </p:txBody>
      </p:sp>
      <p:sp>
        <p:nvSpPr>
          <p:cNvPr id="14362" name="TextBox 120"/>
          <p:cNvSpPr txBox="1">
            <a:spLocks noChangeArrowheads="1"/>
          </p:cNvSpPr>
          <p:nvPr/>
        </p:nvSpPr>
        <p:spPr bwMode="auto">
          <a:xfrm>
            <a:off x="4985978" y="5174658"/>
            <a:ext cx="499868" cy="7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en-US" altLang="zh-CN" sz="3998"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rPr>
              <a:t>5</a:t>
            </a:r>
            <a:endParaRPr kumimoji="0" lang="zh-CN" altLang="en-US" sz="3998"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4363" name="Freeform 5"/>
          <p:cNvSpPr>
            <a:spLocks/>
          </p:cNvSpPr>
          <p:nvPr/>
        </p:nvSpPr>
        <p:spPr bwMode="auto">
          <a:xfrm>
            <a:off x="0" y="1339"/>
            <a:ext cx="4260774" cy="6869605"/>
          </a:xfrm>
          <a:custGeom>
            <a:avLst/>
            <a:gdLst>
              <a:gd name="T0" fmla="*/ 0 w 5566"/>
              <a:gd name="T1" fmla="*/ 0 h 9000"/>
              <a:gd name="T2" fmla="*/ 4324 w 5566"/>
              <a:gd name="T3" fmla="*/ 0 h 9000"/>
              <a:gd name="T4" fmla="*/ 5566 w 5566"/>
              <a:gd name="T5" fmla="*/ 9000 h 9000"/>
              <a:gd name="T6" fmla="*/ 0 w 5566"/>
              <a:gd name="T7" fmla="*/ 9000 h 9000"/>
              <a:gd name="T8" fmla="*/ 0 w 5566"/>
              <a:gd name="T9" fmla="*/ 0 h 9000"/>
            </a:gdLst>
            <a:ahLst/>
            <a:cxnLst>
              <a:cxn ang="0">
                <a:pos x="T0" y="T1"/>
              </a:cxn>
              <a:cxn ang="0">
                <a:pos x="T2" y="T3"/>
              </a:cxn>
              <a:cxn ang="0">
                <a:pos x="T4" y="T5"/>
              </a:cxn>
              <a:cxn ang="0">
                <a:pos x="T6" y="T7"/>
              </a:cxn>
              <a:cxn ang="0">
                <a:pos x="T8" y="T9"/>
              </a:cxn>
            </a:cxnLst>
            <a:rect l="0" t="0" r="r" b="b"/>
            <a:pathLst>
              <a:path w="5566" h="9000">
                <a:moveTo>
                  <a:pt x="0" y="0"/>
                </a:moveTo>
                <a:lnTo>
                  <a:pt x="4324" y="0"/>
                </a:lnTo>
                <a:lnTo>
                  <a:pt x="5566" y="9000"/>
                </a:lnTo>
                <a:lnTo>
                  <a:pt x="0" y="9000"/>
                </a:lnTo>
                <a:lnTo>
                  <a:pt x="0" y="0"/>
                </a:lnTo>
                <a:close/>
              </a:path>
            </a:pathLst>
          </a:custGeom>
          <a:blipFill dpi="0" rotWithShape="1">
            <a:blip r:embed="rId3" cstate="screen">
              <a:extLst>
                <a:ext uri="{BEBA8EAE-BF5A-486C-A8C5-ECC9F3942E4B}">
                  <a14:imgProps xmlns:a14="http://schemas.microsoft.com/office/drawing/2010/main">
                    <a14:imgLayer r:embed="rId4">
                      <a14:imgEffect>
                        <a14:colorTemperature colorTemp="5900"/>
                      </a14:imgEffect>
                      <a14:imgEffect>
                        <a14:saturation sat="120000"/>
                      </a14:imgEffect>
                    </a14:imgLayer>
                  </a14:imgProps>
                </a:ext>
                <a:ext uri="{28A0092B-C50C-407E-A947-70E740481C1C}">
                  <a14:useLocalDpi xmlns:a14="http://schemas.microsoft.com/office/drawing/2010/main"/>
                </a:ext>
              </a:extLst>
            </a:blip>
            <a:srcRect/>
            <a:stretch>
              <a:fillRect l="-14000" r="-35000"/>
            </a:stretch>
          </a:blipFill>
          <a:ln>
            <a:noFill/>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grpSp>
        <p:nvGrpSpPr>
          <p:cNvPr id="2" name="组合 1"/>
          <p:cNvGrpSpPr/>
          <p:nvPr/>
        </p:nvGrpSpPr>
        <p:grpSpPr>
          <a:xfrm>
            <a:off x="2640569" y="1339"/>
            <a:ext cx="1867759" cy="6869605"/>
            <a:chOff x="2640569" y="1339"/>
            <a:chExt cx="1867759" cy="6869605"/>
          </a:xfrm>
        </p:grpSpPr>
        <p:sp>
          <p:nvSpPr>
            <p:cNvPr id="14364" name="Freeform 6"/>
            <p:cNvSpPr>
              <a:spLocks/>
            </p:cNvSpPr>
            <p:nvPr/>
          </p:nvSpPr>
          <p:spPr bwMode="auto">
            <a:xfrm>
              <a:off x="3392751" y="1339"/>
              <a:ext cx="1115577" cy="6869605"/>
            </a:xfrm>
            <a:custGeom>
              <a:avLst/>
              <a:gdLst>
                <a:gd name="T0" fmla="*/ 0 w 1457"/>
                <a:gd name="T1" fmla="*/ 0 h 9000"/>
                <a:gd name="T2" fmla="*/ 224 w 1457"/>
                <a:gd name="T3" fmla="*/ 0 h 9000"/>
                <a:gd name="T4" fmla="*/ 1457 w 1457"/>
                <a:gd name="T5" fmla="*/ 9000 h 9000"/>
                <a:gd name="T6" fmla="*/ 1233 w 1457"/>
                <a:gd name="T7" fmla="*/ 9000 h 9000"/>
                <a:gd name="T8" fmla="*/ 0 w 1457"/>
                <a:gd name="T9" fmla="*/ 0 h 9000"/>
              </a:gdLst>
              <a:ahLst/>
              <a:cxnLst>
                <a:cxn ang="0">
                  <a:pos x="T0" y="T1"/>
                </a:cxn>
                <a:cxn ang="0">
                  <a:pos x="T2" y="T3"/>
                </a:cxn>
                <a:cxn ang="0">
                  <a:pos x="T4" y="T5"/>
                </a:cxn>
                <a:cxn ang="0">
                  <a:pos x="T6" y="T7"/>
                </a:cxn>
                <a:cxn ang="0">
                  <a:pos x="T8" y="T9"/>
                </a:cxn>
              </a:cxnLst>
              <a:rect l="0" t="0" r="r" b="b"/>
              <a:pathLst>
                <a:path w="1457" h="9000">
                  <a:moveTo>
                    <a:pt x="0" y="0"/>
                  </a:moveTo>
                  <a:lnTo>
                    <a:pt x="224" y="0"/>
                  </a:lnTo>
                  <a:lnTo>
                    <a:pt x="1457" y="9000"/>
                  </a:lnTo>
                  <a:lnTo>
                    <a:pt x="1233" y="9000"/>
                  </a:lnTo>
                  <a:lnTo>
                    <a:pt x="0" y="0"/>
                  </a:lnTo>
                  <a:close/>
                </a:path>
              </a:pathLst>
            </a:custGeom>
            <a:solidFill>
              <a:schemeClr val="accent2"/>
            </a:solidFill>
            <a:ln>
              <a:noFill/>
            </a:ln>
          </p:spPr>
          <p:txBody>
            <a:body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sp>
          <p:nvSpPr>
            <p:cNvPr id="14365" name="矩形 12"/>
            <p:cNvSpPr>
              <a:spLocks noChangeArrowheads="1"/>
            </p:cNvSpPr>
            <p:nvPr/>
          </p:nvSpPr>
          <p:spPr bwMode="auto">
            <a:xfrm>
              <a:off x="2640569" y="5937859"/>
              <a:ext cx="1732873" cy="782331"/>
            </a:xfrm>
            <a:prstGeom prst="rect">
              <a:avLst/>
            </a:prstGeom>
            <a:solidFill>
              <a:schemeClr val="accent2"/>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endParaRPr kumimoji="0" lang="zh-CN" altLang="en-US" sz="1799" b="0" i="0" u="none" strike="noStrike" kern="1200" cap="none" spc="0" normalizeH="0" baseline="0" noProof="0">
                <a:ln>
                  <a:noFill/>
                </a:ln>
                <a:solidFill>
                  <a:srgbClr val="006794"/>
                </a:solidFill>
                <a:effectLst/>
                <a:uLnTx/>
                <a:uFillTx/>
                <a:latin typeface="Arial" panose="020B0604020202020204" pitchFamily="34" charset="0"/>
                <a:ea typeface="宋体" panose="02010600030101010101" pitchFamily="2" charset="-122"/>
                <a:cs typeface="+mn-cs"/>
              </a:endParaRPr>
            </a:p>
          </p:txBody>
        </p:sp>
      </p:grpSp>
      <p:sp>
        <p:nvSpPr>
          <p:cNvPr id="14366" name="TextBox 98"/>
          <p:cNvSpPr txBox="1">
            <a:spLocks noChangeArrowheads="1"/>
          </p:cNvSpPr>
          <p:nvPr/>
        </p:nvSpPr>
        <p:spPr bwMode="auto">
          <a:xfrm>
            <a:off x="2800845" y="5977530"/>
            <a:ext cx="902934" cy="523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zh-CN" altLang="en-US" sz="2799"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目录</a:t>
            </a:r>
          </a:p>
        </p:txBody>
      </p:sp>
      <p:sp>
        <p:nvSpPr>
          <p:cNvPr id="14367" name="TextBox 104"/>
          <p:cNvSpPr txBox="1">
            <a:spLocks noChangeArrowheads="1"/>
          </p:cNvSpPr>
          <p:nvPr/>
        </p:nvSpPr>
        <p:spPr bwMode="auto">
          <a:xfrm>
            <a:off x="2854798" y="6359968"/>
            <a:ext cx="1180639" cy="36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034" rtl="0" eaLnBrk="1" fontAlgn="base" latinLnBrk="0" hangingPunct="1">
              <a:lnSpc>
                <a:spcPct val="100000"/>
              </a:lnSpc>
              <a:spcBef>
                <a:spcPct val="0"/>
              </a:spcBef>
              <a:spcAft>
                <a:spcPct val="0"/>
              </a:spcAft>
              <a:buClrTx/>
              <a:buSzTx/>
              <a:buFontTx/>
              <a:buNone/>
              <a:tabLst/>
              <a:defRPr/>
            </a:pPr>
            <a:r>
              <a:rPr kumimoji="0" lang="en-US" altLang="zh-CN" sz="1799"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rPr>
              <a:t>Contents</a:t>
            </a:r>
            <a:endParaRPr kumimoji="0" lang="zh-CN" altLang="en-US" sz="1799"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pic>
        <p:nvPicPr>
          <p:cNvPr id="34" name="图片 33" descr="横版组合——透明.png"/>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8468075" y="127196"/>
            <a:ext cx="3429530" cy="7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灯片编号占位符 3">
            <a:extLst>
              <a:ext uri="{FF2B5EF4-FFF2-40B4-BE49-F238E27FC236}">
                <a16:creationId xmlns:a16="http://schemas.microsoft.com/office/drawing/2014/main" id="{23BC06AA-3BE5-88A5-A2B0-5B0825EABE9B}"/>
              </a:ext>
            </a:extLst>
          </p:cNvPr>
          <p:cNvSpPr>
            <a:spLocks noGrp="1"/>
          </p:cNvSpPr>
          <p:nvPr>
            <p:ph type="sldNum" sz="quarter" idx="4294967295"/>
          </p:nvPr>
        </p:nvSpPr>
        <p:spPr>
          <a:xfrm>
            <a:off x="8610600" y="6356350"/>
            <a:ext cx="2743200" cy="365125"/>
          </a:xfrm>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D0C70D4-B8A7-1C47-A003-56128FA9BF31}" type="slidenum">
              <a:rPr kumimoji="0" lang="zh-CN" altLang="en-US" sz="1200" b="1" i="0" u="none" strike="noStrike" kern="1200" cap="none" spc="0" normalizeH="0" baseline="0" noProof="0" smtClean="0">
                <a:ln>
                  <a:noFill/>
                </a:ln>
                <a:solidFill>
                  <a:prstClr val="black">
                    <a:tint val="75000"/>
                  </a:prstClr>
                </a:solidFill>
                <a:effectLst/>
                <a:uLnTx/>
                <a:uFillTx/>
                <a:latin typeface="Arial" panose="020B0604020202090204" pitchFamily="34" charset="0"/>
                <a:ea typeface="华文中宋" panose="02010600040101010101" charset="-122"/>
                <a:cs typeface="+mn-cs"/>
              </a:rPr>
              <a:t>42</a:t>
            </a:fld>
            <a:endParaRPr kumimoji="0" lang="en-US" altLang="zh-CN" sz="1200" b="1" i="0" u="none" strike="noStrike" kern="1200" cap="none" spc="0" normalizeH="0" baseline="0" noProof="0" dirty="0">
              <a:ln>
                <a:noFill/>
              </a:ln>
              <a:solidFill>
                <a:prstClr val="black">
                  <a:tint val="75000"/>
                </a:prstClr>
              </a:solidFill>
              <a:effectLst/>
              <a:uLnTx/>
              <a:uFillTx/>
              <a:latin typeface="Arial" panose="020B0604020202090204" pitchFamily="34" charset="0"/>
              <a:ea typeface="华文中宋" panose="02010600040101010101" charset="-122"/>
              <a:cs typeface="+mn-cs"/>
            </a:endParaRPr>
          </a:p>
        </p:txBody>
      </p:sp>
    </p:spTree>
    <p:extLst>
      <p:ext uri="{BB962C8B-B14F-4D97-AF65-F5344CB8AC3E}">
        <p14:creationId xmlns:p14="http://schemas.microsoft.com/office/powerpoint/2010/main" val="216820379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A891C1-DBA3-0A74-2F68-448AC82C2FE3}"/>
              </a:ext>
            </a:extLst>
          </p:cNvPr>
          <p:cNvSpPr>
            <a:spLocks noGrp="1"/>
          </p:cNvSpPr>
          <p:nvPr>
            <p:ph type="title"/>
          </p:nvPr>
        </p:nvSpPr>
        <p:spPr/>
        <p:txBody>
          <a:bodyPr/>
          <a:lstStyle/>
          <a:p>
            <a:r>
              <a:rPr kumimoji="1" lang="zh-CN" altLang="en-US" dirty="0"/>
              <a:t>工作计划和进度安排</a:t>
            </a:r>
          </a:p>
        </p:txBody>
      </p:sp>
      <p:graphicFrame>
        <p:nvGraphicFramePr>
          <p:cNvPr id="4" name="内容占位符 5">
            <a:extLst>
              <a:ext uri="{FF2B5EF4-FFF2-40B4-BE49-F238E27FC236}">
                <a16:creationId xmlns:a16="http://schemas.microsoft.com/office/drawing/2014/main" id="{DF09A724-D745-F748-CC81-8006620295BA}"/>
              </a:ext>
            </a:extLst>
          </p:cNvPr>
          <p:cNvGraphicFramePr/>
          <p:nvPr>
            <p:extLst>
              <p:ext uri="{D42A27DB-BD31-4B8C-83A1-F6EECF244321}">
                <p14:modId xmlns:p14="http://schemas.microsoft.com/office/powerpoint/2010/main" val="2348579085"/>
              </p:ext>
            </p:extLst>
          </p:nvPr>
        </p:nvGraphicFramePr>
        <p:xfrm>
          <a:off x="1847528" y="1844824"/>
          <a:ext cx="8445421" cy="4128184"/>
        </p:xfrm>
        <a:graphic>
          <a:graphicData uri="http://schemas.openxmlformats.org/drawingml/2006/table">
            <a:tbl>
              <a:tblPr firstRow="1" firstCol="1" bandRow="1"/>
              <a:tblGrid>
                <a:gridCol w="3011218">
                  <a:extLst>
                    <a:ext uri="{9D8B030D-6E8A-4147-A177-3AD203B41FA5}">
                      <a16:colId xmlns:a16="http://schemas.microsoft.com/office/drawing/2014/main" val="20000"/>
                    </a:ext>
                  </a:extLst>
                </a:gridCol>
                <a:gridCol w="5434203">
                  <a:extLst>
                    <a:ext uri="{9D8B030D-6E8A-4147-A177-3AD203B41FA5}">
                      <a16:colId xmlns:a16="http://schemas.microsoft.com/office/drawing/2014/main" val="20001"/>
                    </a:ext>
                  </a:extLst>
                </a:gridCol>
              </a:tblGrid>
              <a:tr h="516023">
                <a:tc>
                  <a:txBody>
                    <a:bodyPr/>
                    <a:lstStyle/>
                    <a:p>
                      <a:pPr algn="ctr">
                        <a:lnSpc>
                          <a:spcPts val="2200"/>
                        </a:lnSpc>
                        <a:spcAft>
                          <a:spcPts val="0"/>
                        </a:spcAft>
                      </a:pPr>
                      <a:r>
                        <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时间</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200"/>
                        </a:lnSpc>
                        <a:spcAft>
                          <a:spcPts val="0"/>
                        </a:spcAft>
                      </a:pPr>
                      <a:r>
                        <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工作安排</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16023">
                <a:tc>
                  <a:txBody>
                    <a:bodyPr/>
                    <a:lstStyle/>
                    <a:p>
                      <a:pPr marL="0" marR="0" lvl="0" indent="0" algn="ctr" defTabSz="914400" rtl="0" eaLnBrk="1" fontAlgn="auto" latinLnBrk="0" hangingPunct="1">
                        <a:lnSpc>
                          <a:spcPts val="2200"/>
                        </a:lnSpc>
                        <a:spcBef>
                          <a:spcPts val="0"/>
                        </a:spcBef>
                        <a:spcAft>
                          <a:spcPts val="0"/>
                        </a:spcAft>
                        <a:buClrTx/>
                        <a:buSzTx/>
                        <a:buFontTx/>
                        <a:buNone/>
                        <a:defRPr/>
                      </a:pPr>
                      <a:r>
                        <a:rPr lang="en-US" altLang="zh-CN" sz="1800" kern="100" dirty="0">
                          <a:solidFill>
                            <a:schemeClr val="bg1">
                              <a:lumMod val="6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2023.01 — 2023.3</a:t>
                      </a:r>
                      <a:endParaRPr lang="zh-CN" altLang="zh-CN" sz="1800" kern="100" dirty="0">
                        <a:solidFill>
                          <a:schemeClr val="bg1">
                            <a:lumMod val="65000"/>
                          </a:schemeClr>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ts val="2200"/>
                        </a:lnSpc>
                        <a:spcBef>
                          <a:spcPts val="0"/>
                        </a:spcBef>
                        <a:spcAft>
                          <a:spcPts val="0"/>
                        </a:spcAft>
                        <a:buClrTx/>
                        <a:buSzTx/>
                        <a:buFontTx/>
                        <a:buNone/>
                        <a:defRPr/>
                      </a:pPr>
                      <a:r>
                        <a:rPr lang="zh-CN" altLang="en-US" sz="1800" kern="100" dirty="0">
                          <a:solidFill>
                            <a:schemeClr val="bg1">
                              <a:lumMod val="6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文献综述</a:t>
                      </a:r>
                      <a:r>
                        <a:rPr lang="en-US" altLang="zh-CN" sz="1800" kern="100" dirty="0">
                          <a:solidFill>
                            <a:schemeClr val="bg1">
                              <a:lumMod val="6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800" kern="100" dirty="0">
                          <a:solidFill>
                            <a:schemeClr val="bg1">
                              <a:lumMod val="6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研究一设计；</a:t>
                      </a:r>
                      <a:endParaRPr lang="zh-CN" altLang="zh-CN" sz="1800" kern="100" dirty="0">
                        <a:solidFill>
                          <a:schemeClr val="bg1">
                            <a:lumMod val="65000"/>
                          </a:schemeClr>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16023">
                <a:tc>
                  <a:txBody>
                    <a:bodyPr/>
                    <a:lstStyle/>
                    <a:p>
                      <a:pPr marL="0" marR="0" lvl="0" indent="0" algn="ctr" defTabSz="914400" rtl="0" eaLnBrk="1" fontAlgn="auto" latinLnBrk="0" hangingPunct="1">
                        <a:lnSpc>
                          <a:spcPts val="2200"/>
                        </a:lnSpc>
                        <a:spcBef>
                          <a:spcPts val="0"/>
                        </a:spcBef>
                        <a:spcAft>
                          <a:spcPts val="0"/>
                        </a:spcAft>
                        <a:buClrTx/>
                        <a:buSzTx/>
                        <a:buFontTx/>
                        <a:buNone/>
                        <a:defRPr/>
                      </a:pPr>
                      <a:r>
                        <a:rPr lang="en-US" altLang="zh-CN" sz="1800" kern="100" dirty="0">
                          <a:solidFill>
                            <a:schemeClr val="bg1">
                              <a:lumMod val="6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2023.03 — 2023.04</a:t>
                      </a:r>
                      <a:endParaRPr lang="zh-CN" altLang="zh-CN" sz="1800" kern="100" dirty="0">
                        <a:solidFill>
                          <a:schemeClr val="bg1">
                            <a:lumMod val="65000"/>
                          </a:schemeClr>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ts val="2200"/>
                        </a:lnSpc>
                        <a:spcBef>
                          <a:spcPts val="0"/>
                        </a:spcBef>
                        <a:spcAft>
                          <a:spcPts val="0"/>
                        </a:spcAft>
                        <a:buClrTx/>
                        <a:buSzTx/>
                        <a:buFontTx/>
                        <a:buNone/>
                        <a:defRPr/>
                      </a:pPr>
                      <a:r>
                        <a:rPr lang="zh-CN" altLang="zh-CN" sz="1800" kern="100" dirty="0">
                          <a:solidFill>
                            <a:schemeClr val="bg1">
                              <a:lumMod val="6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完成</a:t>
                      </a:r>
                      <a:r>
                        <a:rPr lang="zh-CN" altLang="en-US" sz="1800" kern="100" dirty="0">
                          <a:solidFill>
                            <a:schemeClr val="bg1">
                              <a:lumMod val="6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研究一的数据采集</a:t>
                      </a:r>
                      <a:r>
                        <a:rPr lang="zh-CN" altLang="zh-CN" sz="1800" kern="100" dirty="0">
                          <a:solidFill>
                            <a:schemeClr val="bg1">
                              <a:lumMod val="6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16023">
                <a:tc>
                  <a:txBody>
                    <a:bodyPr/>
                    <a:lstStyle/>
                    <a:p>
                      <a:pPr marL="0" marR="0" lvl="0" indent="0" algn="ctr" defTabSz="914400" rtl="0" eaLnBrk="1" fontAlgn="auto" latinLnBrk="0" hangingPunct="1">
                        <a:lnSpc>
                          <a:spcPts val="2200"/>
                        </a:lnSpc>
                        <a:spcBef>
                          <a:spcPts val="0"/>
                        </a:spcBef>
                        <a:spcAft>
                          <a:spcPts val="0"/>
                        </a:spcAft>
                        <a:buClrTx/>
                        <a:buSzTx/>
                        <a:buFontTx/>
                        <a:buNone/>
                        <a:tabLst/>
                        <a:defRPr/>
                      </a:pPr>
                      <a:r>
                        <a:rPr lang="en-US" altLang="zh-CN" sz="1800" kern="100" dirty="0">
                          <a:solidFill>
                            <a:schemeClr val="bg1">
                              <a:lumMod val="6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2023.04 — 2023.08</a:t>
                      </a:r>
                      <a:endParaRPr lang="zh-CN" altLang="zh-CN" sz="1800" kern="100" dirty="0">
                        <a:solidFill>
                          <a:schemeClr val="bg1">
                            <a:lumMod val="65000"/>
                          </a:schemeClr>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ts val="2200"/>
                        </a:lnSpc>
                        <a:spcBef>
                          <a:spcPts val="0"/>
                        </a:spcBef>
                        <a:spcAft>
                          <a:spcPts val="0"/>
                        </a:spcAft>
                        <a:buClrTx/>
                        <a:buSzTx/>
                        <a:buFontTx/>
                        <a:buNone/>
                        <a:tabLst/>
                        <a:defRPr/>
                      </a:pPr>
                      <a:r>
                        <a:rPr lang="zh-CN" altLang="en-US" sz="1800" kern="100" dirty="0">
                          <a:solidFill>
                            <a:schemeClr val="bg1">
                              <a:lumMod val="6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文献综述</a:t>
                      </a:r>
                      <a:r>
                        <a:rPr lang="en-US" altLang="zh-CN" sz="1800" kern="100" dirty="0">
                          <a:solidFill>
                            <a:schemeClr val="bg1">
                              <a:lumMod val="6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800" kern="100" dirty="0">
                          <a:solidFill>
                            <a:schemeClr val="bg1">
                              <a:lumMod val="65000"/>
                            </a:schemeClr>
                          </a:solidFill>
                          <a:effectLst/>
                          <a:latin typeface="微软雅黑" panose="020B0503020204020204" pitchFamily="34" charset="-122"/>
                          <a:ea typeface="微软雅黑" panose="020B0503020204020204" pitchFamily="34" charset="-122"/>
                          <a:cs typeface="Times New Roman" panose="02020603050405020304" pitchFamily="18" charset="0"/>
                        </a:rPr>
                        <a:t>研究二、三设计；</a:t>
                      </a:r>
                      <a:endParaRPr lang="zh-CN" altLang="zh-CN" sz="1800" kern="100" dirty="0">
                        <a:solidFill>
                          <a:schemeClr val="bg1">
                            <a:lumMod val="65000"/>
                          </a:schemeClr>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69895899"/>
                  </a:ext>
                </a:extLst>
              </a:tr>
              <a:tr h="516023">
                <a:tc>
                  <a:txBody>
                    <a:bodyPr/>
                    <a:lstStyle/>
                    <a:p>
                      <a:pPr algn="ctr">
                        <a:lnSpc>
                          <a:spcPts val="2200"/>
                        </a:lnSpc>
                        <a:spcAft>
                          <a:spcPts val="0"/>
                        </a:spcAft>
                      </a:pPr>
                      <a:r>
                        <a:rPr lang="en-US" sz="1800" kern="100" dirty="0">
                          <a:effectLst/>
                          <a:latin typeface="微软雅黑" panose="020B0503020204020204" pitchFamily="34" charset="-122"/>
                          <a:ea typeface="微软雅黑" panose="020B0503020204020204" pitchFamily="34" charset="-122"/>
                          <a:cs typeface="Times New Roman" panose="02020603050405020304" pitchFamily="18" charset="0"/>
                        </a:rPr>
                        <a:t>2023.09 </a:t>
                      </a:r>
                      <a:r>
                        <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sz="1800" kern="100" dirty="0">
                          <a:effectLst/>
                          <a:latin typeface="微软雅黑" panose="020B0503020204020204" pitchFamily="34" charset="-122"/>
                          <a:ea typeface="微软雅黑" panose="020B0503020204020204" pitchFamily="34" charset="-122"/>
                          <a:cs typeface="Times New Roman" panose="02020603050405020304" pitchFamily="18" charset="0"/>
                        </a:rPr>
                        <a:t> 2023.1</a:t>
                      </a:r>
                      <a:r>
                        <a:rPr lang="en-US"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2</a:t>
                      </a:r>
                      <a:endPar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200"/>
                        </a:lnSpc>
                        <a:spcAft>
                          <a:spcPts val="0"/>
                        </a:spcAft>
                      </a:pPr>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完成</a:t>
                      </a:r>
                      <a:r>
                        <a:rPr lang="zh-CN" altLang="en-US" sz="1800" kern="100" dirty="0">
                          <a:effectLst/>
                          <a:latin typeface="微软雅黑" panose="020B0503020204020204" pitchFamily="34" charset="-122"/>
                          <a:ea typeface="微软雅黑" panose="020B0503020204020204" pitchFamily="34" charset="-122"/>
                          <a:cs typeface="Times New Roman" panose="02020603050405020304" pitchFamily="18" charset="0"/>
                        </a:rPr>
                        <a:t>研究二、三</a:t>
                      </a:r>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数据</a:t>
                      </a:r>
                      <a:r>
                        <a:rPr lang="zh-CN" altLang="en-US" sz="1800" kern="100" dirty="0">
                          <a:effectLst/>
                          <a:latin typeface="微软雅黑" panose="020B0503020204020204" pitchFamily="34" charset="-122"/>
                          <a:ea typeface="微软雅黑" panose="020B0503020204020204" pitchFamily="34" charset="-122"/>
                          <a:cs typeface="Times New Roman" panose="02020603050405020304" pitchFamily="18" charset="0"/>
                        </a:rPr>
                        <a:t>采集；</a:t>
                      </a:r>
                      <a:endParaRPr lang="en-US"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16023">
                <a:tc>
                  <a:txBody>
                    <a:bodyPr/>
                    <a:lstStyle/>
                    <a:p>
                      <a:pPr algn="ctr">
                        <a:lnSpc>
                          <a:spcPts val="2200"/>
                        </a:lnSpc>
                        <a:spcAft>
                          <a:spcPts val="0"/>
                        </a:spcAft>
                      </a:pPr>
                      <a:r>
                        <a:rPr lang="en-US" sz="1800" kern="100" dirty="0">
                          <a:effectLst/>
                          <a:latin typeface="微软雅黑" panose="020B0503020204020204" pitchFamily="34" charset="-122"/>
                          <a:ea typeface="微软雅黑" panose="020B0503020204020204" pitchFamily="34" charset="-122"/>
                          <a:cs typeface="Times New Roman" panose="02020603050405020304" pitchFamily="18" charset="0"/>
                        </a:rPr>
                        <a:t>2023.1</a:t>
                      </a:r>
                      <a:r>
                        <a:rPr lang="en-US"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2</a:t>
                      </a:r>
                      <a:r>
                        <a:rPr lang="en-US" sz="1800" kern="1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sz="1800" kern="100" dirty="0">
                          <a:effectLst/>
                          <a:latin typeface="微软雅黑" panose="020B0503020204020204" pitchFamily="34" charset="-122"/>
                          <a:ea typeface="微软雅黑" panose="020B0503020204020204" pitchFamily="34" charset="-122"/>
                          <a:cs typeface="Times New Roman" panose="02020603050405020304" pitchFamily="18" charset="0"/>
                        </a:rPr>
                        <a:t> 202</a:t>
                      </a:r>
                      <a:r>
                        <a:rPr lang="en-US"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4.01</a:t>
                      </a:r>
                      <a:endPar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lnSpc>
                          <a:spcPts val="2200"/>
                        </a:lnSpc>
                        <a:spcAft>
                          <a:spcPts val="0"/>
                        </a:spcAft>
                      </a:pPr>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完成</a:t>
                      </a:r>
                      <a:r>
                        <a:rPr lang="zh-CN" altLang="en-US" sz="1800" kern="100" dirty="0">
                          <a:effectLst/>
                          <a:latin typeface="微软雅黑" panose="020B0503020204020204" pitchFamily="34" charset="-122"/>
                          <a:ea typeface="微软雅黑" panose="020B0503020204020204" pitchFamily="34" charset="-122"/>
                          <a:cs typeface="Times New Roman" panose="02020603050405020304" pitchFamily="18" charset="0"/>
                        </a:rPr>
                        <a:t>数据分析</a:t>
                      </a:r>
                      <a:r>
                        <a:rPr lang="zh-CN" altLang="en-US" sz="18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16023">
                <a:tc>
                  <a:txBody>
                    <a:bodyPr/>
                    <a:lstStyle/>
                    <a:p>
                      <a:pPr algn="ctr">
                        <a:lnSpc>
                          <a:spcPts val="2200"/>
                        </a:lnSpc>
                        <a:spcAft>
                          <a:spcPts val="0"/>
                        </a:spcAft>
                      </a:pPr>
                      <a:r>
                        <a:rPr lang="en-US"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2024</a:t>
                      </a:r>
                      <a:r>
                        <a:rPr lang="en-US" sz="1800" kern="100" dirty="0">
                          <a:effectLst/>
                          <a:latin typeface="微软雅黑" panose="020B0503020204020204" pitchFamily="34" charset="-122"/>
                          <a:ea typeface="微软雅黑" panose="020B0503020204020204" pitchFamily="34" charset="-122"/>
                          <a:cs typeface="Times New Roman" panose="02020603050405020304" pitchFamily="18" charset="0"/>
                        </a:rPr>
                        <a:t>.0</a:t>
                      </a:r>
                      <a:r>
                        <a:rPr lang="en-US"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1</a:t>
                      </a:r>
                      <a:r>
                        <a:rPr lang="en-US" sz="1800" kern="1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sz="1800" kern="1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2024</a:t>
                      </a:r>
                      <a:r>
                        <a:rPr lang="en-US" sz="1800" kern="100" dirty="0">
                          <a:effectLst/>
                          <a:latin typeface="微软雅黑" panose="020B0503020204020204" pitchFamily="34" charset="-122"/>
                          <a:ea typeface="微软雅黑" panose="020B0503020204020204" pitchFamily="34" charset="-122"/>
                          <a:cs typeface="Times New Roman" panose="02020603050405020304" pitchFamily="18" charset="0"/>
                        </a:rPr>
                        <a:t>.03</a:t>
                      </a:r>
                      <a:endPar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200"/>
                        </a:lnSpc>
                        <a:spcAft>
                          <a:spcPts val="0"/>
                        </a:spcAft>
                      </a:pPr>
                      <a:r>
                        <a:rPr lang="zh-CN" altLang="en-US" sz="1800" kern="100" dirty="0">
                          <a:effectLst/>
                          <a:latin typeface="微软雅黑" panose="020B0503020204020204" pitchFamily="34" charset="-122"/>
                          <a:ea typeface="微软雅黑" panose="020B0503020204020204" pitchFamily="34" charset="-122"/>
                          <a:cs typeface="Times New Roman" panose="02020603050405020304" pitchFamily="18" charset="0"/>
                        </a:rPr>
                        <a:t>完成学位</a:t>
                      </a:r>
                      <a:r>
                        <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论文</a:t>
                      </a:r>
                      <a:r>
                        <a:rPr lang="zh-CN" altLang="en-US" sz="1800" kern="100" dirty="0">
                          <a:effectLst/>
                          <a:latin typeface="微软雅黑" panose="020B0503020204020204" pitchFamily="34" charset="-122"/>
                          <a:ea typeface="微软雅黑" panose="020B0503020204020204" pitchFamily="34" charset="-122"/>
                          <a:cs typeface="Times New Roman" panose="02020603050405020304" pitchFamily="18" charset="0"/>
                        </a:rPr>
                        <a:t>撰写</a:t>
                      </a:r>
                      <a:r>
                        <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516023">
                <a:tc>
                  <a:txBody>
                    <a:bodyPr/>
                    <a:lstStyle/>
                    <a:p>
                      <a:pPr algn="ctr">
                        <a:lnSpc>
                          <a:spcPts val="2200"/>
                        </a:lnSpc>
                        <a:spcAft>
                          <a:spcPts val="0"/>
                        </a:spcAft>
                      </a:pPr>
                      <a:r>
                        <a:rPr lang="en-US"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2024</a:t>
                      </a:r>
                      <a:r>
                        <a:rPr lang="en-US" sz="1800" kern="100" dirty="0">
                          <a:effectLst/>
                          <a:latin typeface="微软雅黑" panose="020B0503020204020204" pitchFamily="34" charset="-122"/>
                          <a:ea typeface="微软雅黑" panose="020B0503020204020204" pitchFamily="34" charset="-122"/>
                          <a:cs typeface="Times New Roman" panose="02020603050405020304" pitchFamily="18" charset="0"/>
                        </a:rPr>
                        <a:t>.04 </a:t>
                      </a:r>
                      <a:r>
                        <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sz="1800" kern="1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2024</a:t>
                      </a:r>
                      <a:r>
                        <a:rPr lang="en-US" sz="1800" kern="100" dirty="0">
                          <a:effectLst/>
                          <a:latin typeface="微软雅黑" panose="020B0503020204020204" pitchFamily="34" charset="-122"/>
                          <a:ea typeface="微软雅黑" panose="020B0503020204020204" pitchFamily="34" charset="-122"/>
                          <a:cs typeface="Times New Roman" panose="02020603050405020304" pitchFamily="18" charset="0"/>
                        </a:rPr>
                        <a:t>.05</a:t>
                      </a:r>
                      <a:endPar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200"/>
                        </a:lnSpc>
                        <a:spcAft>
                          <a:spcPts val="0"/>
                        </a:spcAft>
                      </a:pPr>
                      <a:r>
                        <a:rPr lang="zh-CN" altLang="en-US" sz="1800" kern="100" dirty="0">
                          <a:effectLst/>
                          <a:latin typeface="微软雅黑" panose="020B0503020204020204" pitchFamily="34" charset="-122"/>
                          <a:ea typeface="微软雅黑" panose="020B0503020204020204" pitchFamily="34" charset="-122"/>
                          <a:cs typeface="Times New Roman" panose="02020603050405020304" pitchFamily="18" charset="0"/>
                        </a:rPr>
                        <a:t>完成</a:t>
                      </a:r>
                      <a:r>
                        <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学位论文</a:t>
                      </a:r>
                      <a:r>
                        <a:rPr lang="zh-CN" altLang="en-US" sz="1800" kern="100" dirty="0">
                          <a:effectLst/>
                          <a:latin typeface="微软雅黑" panose="020B0503020204020204" pitchFamily="34" charset="-122"/>
                          <a:ea typeface="微软雅黑" panose="020B0503020204020204" pitchFamily="34" charset="-122"/>
                          <a:cs typeface="Times New Roman" panose="02020603050405020304" pitchFamily="18" charset="0"/>
                        </a:rPr>
                        <a:t>答辩</a:t>
                      </a:r>
                      <a:r>
                        <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1571797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0" y="-24064"/>
            <a:ext cx="12192000" cy="6858000"/>
          </a:xfrm>
          <a:prstGeom prst="rect">
            <a:avLst/>
          </a:pr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dirty="0">
              <a:ln>
                <a:noFill/>
              </a:ln>
              <a:solidFill>
                <a:prstClr val="white">
                  <a:alpha val="50000"/>
                </a:prstClr>
              </a:solidFill>
              <a:effectLst/>
              <a:uLnTx/>
              <a:uFillTx/>
              <a:latin typeface="Arial" panose="020B0604020202090204"/>
              <a:ea typeface="微软雅黑" panose="020B0503020204020204" pitchFamily="34" charset="-122"/>
              <a:cs typeface="+mn-cs"/>
            </a:endParaRPr>
          </a:p>
        </p:txBody>
      </p:sp>
      <p:pic>
        <p:nvPicPr>
          <p:cNvPr id="8" name="图片 7" descr="横版组合——透明.png"/>
          <p:cNvPicPr>
            <a:picLocks noChangeAspect="1"/>
          </p:cNvPicPr>
          <p:nvPr/>
        </p:nvPicPr>
        <p:blipFill>
          <a:blip r:embed="rId3" cstate="screen"/>
          <a:srcRect/>
          <a:stretch>
            <a:fillRect/>
          </a:stretch>
        </p:blipFill>
        <p:spPr bwMode="auto">
          <a:xfrm>
            <a:off x="467860" y="358903"/>
            <a:ext cx="4286913" cy="9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标题 1"/>
          <p:cNvSpPr txBox="1"/>
          <p:nvPr/>
        </p:nvSpPr>
        <p:spPr>
          <a:xfrm>
            <a:off x="4066346" y="2650434"/>
            <a:ext cx="4072007" cy="1075312"/>
          </a:xfrm>
          <a:prstGeom prst="rect">
            <a:avLst/>
          </a:prstGeom>
        </p:spPr>
        <p:txBody>
          <a:bodyPr anchor="b"/>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5400" b="1" dirty="0">
                <a:latin typeface="微软雅黑" panose="020B0503020204020204" pitchFamily="34" charset="-122"/>
                <a:ea typeface="微软雅黑" panose="020B0503020204020204" pitchFamily="34" charset="-122"/>
              </a:rPr>
              <a:t>Thanks</a:t>
            </a:r>
            <a:r>
              <a:rPr lang="zh-CN" altLang="en-US" sz="5400" b="1" dirty="0">
                <a:latin typeface="微软雅黑" panose="020B0503020204020204" pitchFamily="34" charset="-122"/>
                <a:ea typeface="微软雅黑" panose="020B0503020204020204" pitchFamily="34" charset="-122"/>
              </a:rPr>
              <a:t>！</a:t>
            </a:r>
          </a:p>
        </p:txBody>
      </p:sp>
      <p:sp>
        <p:nvSpPr>
          <p:cNvPr id="11" name="文本占位符 2"/>
          <p:cNvSpPr txBox="1"/>
          <p:nvPr/>
        </p:nvSpPr>
        <p:spPr>
          <a:xfrm>
            <a:off x="3120887" y="2975652"/>
            <a:ext cx="5950226" cy="1500187"/>
          </a:xfrm>
          <a:prstGeom prst="rect">
            <a:avLst/>
          </a:prstGeom>
        </p:spPr>
        <p:txBody>
          <a:bodyPr anchor="b"/>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ctr">
              <a:buNone/>
            </a:pPr>
            <a:r>
              <a:rPr lang="zh-CN" altLang="en-US" dirty="0">
                <a:latin typeface="微软雅黑" panose="020B0503020204020204" pitchFamily="34" charset="-122"/>
                <a:ea typeface="微软雅黑" panose="020B0503020204020204" pitchFamily="34" charset="-122"/>
              </a:rPr>
              <a:t>敬请老师们提出宝贵意见</a:t>
            </a:r>
          </a:p>
        </p:txBody>
      </p:sp>
      <p:sp>
        <p:nvSpPr>
          <p:cNvPr id="4" name="灯片编号占位符 3">
            <a:extLst>
              <a:ext uri="{FF2B5EF4-FFF2-40B4-BE49-F238E27FC236}">
                <a16:creationId xmlns:a16="http://schemas.microsoft.com/office/drawing/2014/main" id="{75829C2D-905C-4E12-B177-E27B46A39D38}"/>
              </a:ext>
            </a:extLst>
          </p:cNvPr>
          <p:cNvSpPr>
            <a:spLocks noGrp="1"/>
          </p:cNvSpPr>
          <p:nvPr>
            <p:ph type="sldNum" sz="quarter" idx="12"/>
          </p:nvPr>
        </p:nvSpPr>
        <p:spPr/>
        <p:txBody>
          <a:bodyPr/>
          <a:lstStyle/>
          <a:p>
            <a:fld id="{222D1253-0C84-AF4C-8953-BD0837D879DF}" type="slidenum">
              <a:rPr kumimoji="1" lang="zh-CN" altLang="en-US" smtClean="0"/>
              <a:t>44</a:t>
            </a:fld>
            <a:endParaRPr kumimoji="1" lang="zh-CN" altLang="en-US"/>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2944A998-B21F-FF41-85C6-3D340D00B9D3}" vid="{ADC81652-362E-9145-B020-A949F012C594}"/>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A000120140530A99PPBG">
  <a:themeElements>
    <a:clrScheme name="自定义 1">
      <a:dk1>
        <a:srgbClr val="000000"/>
      </a:dk1>
      <a:lt1>
        <a:srgbClr val="FFFFFF"/>
      </a:lt1>
      <a:dk2>
        <a:srgbClr val="768395"/>
      </a:dk2>
      <a:lt2>
        <a:srgbClr val="F0F0F0"/>
      </a:lt2>
      <a:accent1>
        <a:srgbClr val="0C4994"/>
      </a:accent1>
      <a:accent2>
        <a:srgbClr val="0AA3D4"/>
      </a:accent2>
      <a:accent3>
        <a:srgbClr val="DB1F1F"/>
      </a:accent3>
      <a:accent4>
        <a:srgbClr val="247B95"/>
      </a:accent4>
      <a:accent5>
        <a:srgbClr val="AE1324"/>
      </a:accent5>
      <a:accent6>
        <a:srgbClr val="045A88"/>
      </a:accent6>
      <a:hlink>
        <a:srgbClr val="004986"/>
      </a:hlink>
      <a:folHlink>
        <a:srgbClr val="BFBFBF"/>
      </a:folHlink>
    </a:clrScheme>
    <a:fontScheme name="雅黑">
      <a:majorFont>
        <a:latin typeface="Impact"/>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15308</TotalTime>
  <Words>8067</Words>
  <Application>Microsoft Macintosh PowerPoint</Application>
  <PresentationFormat>宽屏</PresentationFormat>
  <Paragraphs>667</Paragraphs>
  <Slides>44</Slides>
  <Notes>44</Notes>
  <HiddenSlides>0</HiddenSlides>
  <MMClips>0</MMClips>
  <ScaleCrop>false</ScaleCrop>
  <HeadingPairs>
    <vt:vector size="6" baseType="variant">
      <vt:variant>
        <vt:lpstr>已用的字体</vt:lpstr>
      </vt:variant>
      <vt:variant>
        <vt:i4>14</vt:i4>
      </vt:variant>
      <vt:variant>
        <vt:lpstr>主题</vt:lpstr>
      </vt:variant>
      <vt:variant>
        <vt:i4>3</vt:i4>
      </vt:variant>
      <vt:variant>
        <vt:lpstr>幻灯片标题</vt:lpstr>
      </vt:variant>
      <vt:variant>
        <vt:i4>44</vt:i4>
      </vt:variant>
    </vt:vector>
  </HeadingPairs>
  <TitlesOfParts>
    <vt:vector size="61" baseType="lpstr">
      <vt:lpstr>等线</vt:lpstr>
      <vt:lpstr>等线 Light</vt:lpstr>
      <vt:lpstr>KaiTi</vt:lpstr>
      <vt:lpstr>SimSun</vt:lpstr>
      <vt:lpstr>微软雅黑</vt:lpstr>
      <vt:lpstr>微软雅黑</vt:lpstr>
      <vt:lpstr>系统字体常规体</vt:lpstr>
      <vt:lpstr>Söhne</vt:lpstr>
      <vt:lpstr>Times New Roman Regular</vt:lpstr>
      <vt:lpstr>Arial</vt:lpstr>
      <vt:lpstr>Calibri</vt:lpstr>
      <vt:lpstr>Impact</vt:lpstr>
      <vt:lpstr>Times New Roman</vt:lpstr>
      <vt:lpstr>Wingdings</vt:lpstr>
      <vt:lpstr>Office 主题​​</vt:lpstr>
      <vt:lpstr>自定义设计方案</vt:lpstr>
      <vt:lpstr>A000120140530A99PPBG</vt:lpstr>
      <vt:lpstr>音乐流派对驾驶行为影响的多维分析：个人偏好与音乐元素的影响</vt:lpstr>
      <vt:lpstr>PowerPoint 演示文稿</vt:lpstr>
      <vt:lpstr>研究背景</vt:lpstr>
      <vt:lpstr>研究意义</vt:lpstr>
      <vt:lpstr>PowerPoint 演示文稿</vt:lpstr>
      <vt:lpstr>文献综述  音乐流派对驾驶行为的影响</vt:lpstr>
      <vt:lpstr>文献综述  音乐流派对驾驶行为的影响</vt:lpstr>
      <vt:lpstr>文献综述  音乐流派对驾驶行为的影响</vt:lpstr>
      <vt:lpstr>文献综述  音乐流派对驾驶行为的影响</vt:lpstr>
      <vt:lpstr>文献综述  音乐流派对认知的影响</vt:lpstr>
      <vt:lpstr>文献综述  音乐流派对驾驶行为的影响</vt:lpstr>
      <vt:lpstr>文献综述  音乐流派对驾驶行为的影响</vt:lpstr>
      <vt:lpstr>文献综述  音乐和驾驶员差异对驾驶行为影响</vt:lpstr>
      <vt:lpstr>PowerPoint 演示文稿</vt:lpstr>
      <vt:lpstr>文献综述  音乐和驾驶员差异对驾驶行为影响</vt:lpstr>
      <vt:lpstr>文献综述  音乐流派对驾驶行为的影响</vt:lpstr>
      <vt:lpstr>文献综述  音乐感知的基本元素</vt:lpstr>
      <vt:lpstr>PowerPoint 演示文稿</vt:lpstr>
      <vt:lpstr>PowerPoint 演示文稿</vt:lpstr>
      <vt:lpstr>文献综述  音乐感知的基本元素</vt:lpstr>
      <vt:lpstr>文献综述  音乐速度</vt:lpstr>
      <vt:lpstr>文献综述  音乐速度对驾驶行为的影响</vt:lpstr>
      <vt:lpstr>文献综述  音乐速度对驾驶行为的影响</vt:lpstr>
      <vt:lpstr>文献综述  音乐速度对情绪及认知的影响</vt:lpstr>
      <vt:lpstr>文献综述  音乐速度对情绪及认知的影响</vt:lpstr>
      <vt:lpstr>PowerPoint 演示文稿</vt:lpstr>
      <vt:lpstr>文献综述  音乐速度对驾驶行为的影响</vt:lpstr>
      <vt:lpstr>PowerPoint 演示文稿</vt:lpstr>
      <vt:lpstr>研究问题</vt:lpstr>
      <vt:lpstr>研究问题  研究框架</vt:lpstr>
      <vt:lpstr>PowerPoint 演示文稿</vt:lpstr>
      <vt:lpstr>研究方案  研究一  实验1：音乐偏好对驾驶员影响的调查研究 </vt:lpstr>
      <vt:lpstr>研究方案  研究一  实验1：音乐偏好对驾驶员影响的调查研究 </vt:lpstr>
      <vt:lpstr>研究方案 研究二  实验2:音乐流派和音乐速度对车辆控制的影响</vt:lpstr>
      <vt:lpstr>PowerPoint 演示文稿</vt:lpstr>
      <vt:lpstr>研究方案 研究二  实验3:音乐流派和音乐速度对危险规避的影响</vt:lpstr>
      <vt:lpstr>研究方案 研究二  实验3:音乐流派和音乐速度对危险规避的影响</vt:lpstr>
      <vt:lpstr>PowerPoint 演示文稿</vt:lpstr>
      <vt:lpstr>PowerPoint 演示文稿</vt:lpstr>
      <vt:lpstr>PowerPoint 演示文稿</vt:lpstr>
      <vt:lpstr>PowerPoint 演示文稿</vt:lpstr>
      <vt:lpstr>PowerPoint 演示文稿</vt:lpstr>
      <vt:lpstr>工作计划和进度安排</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Sue Ricketts</dc:creator>
  <cp:lastModifiedBy>Sue Ricketts</cp:lastModifiedBy>
  <cp:revision>128</cp:revision>
  <dcterms:created xsi:type="dcterms:W3CDTF">2023-08-01T06:55:32Z</dcterms:created>
  <dcterms:modified xsi:type="dcterms:W3CDTF">2023-08-31T05:56:08Z</dcterms:modified>
</cp:coreProperties>
</file>