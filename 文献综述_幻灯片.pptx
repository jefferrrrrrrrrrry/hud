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924175" y="1694705"/>
            <a:ext cx="6381750" cy="1029295"/>
          </a:xfrm>
          <a:prstGeom prst="rect">
            <a:avLst/>
          </a:prstGeom>
          <a:noFill/>
        </p:spPr>
        <p:txBody>
          <a:bodyPr wrap="square" lIns="0" rIns="0" tIns="0" bIns="0" anchor="t">
            <a:normAutofit/>
          </a:bodyPr>
          <a:lstStyle/>
          <a:p>
            <a:pPr algn="ctr">
              <a:lnSpc>
                <a:spcPct val="142000"/>
              </a:lnSpc>
              <a:spcBef>
                <a:spcPts val="0"/>
              </a:spcBef>
              <a:spcAft>
                <a:spcPts val="0"/>
              </a:spcAft>
            </a:pPr>
            <a:r>
              <a:rPr sz="2780" b="1" i="0">
                <a:solidFill>
                  <a:srgbClr val="2F528F"/>
                </a:solidFill>
                <a:latin typeface="Microsoft YaHei"/>
              </a:rPr>
              <a:t>AR-HUD 行人碰撞预警的时空参数设计</a:t>
            </a:r>
          </a:p>
          <a:p>
            <a:pPr algn="ctr">
              <a:lnSpc>
                <a:spcPct val="142000"/>
              </a:lnSpc>
              <a:spcBef>
                <a:spcPts val="0"/>
              </a:spcBef>
              <a:spcAft>
                <a:spcPts val="0"/>
              </a:spcAft>
            </a:pPr>
            <a:r>
              <a:rPr sz="2780" b="1" i="0">
                <a:solidFill>
                  <a:srgbClr val="2F528F"/>
                </a:solidFill>
                <a:latin typeface="Microsoft YaHei"/>
              </a:rPr>
              <a:t>及其对驾驶员情境意识与避险绩效的影响</a:t>
            </a:r>
          </a:p>
        </p:txBody>
      </p:sp>
      <p:sp>
        <p:nvSpPr>
          <p:cNvPr id="3" name="TextBox 2"/>
          <p:cNvSpPr txBox="1"/>
          <p:nvPr/>
        </p:nvSpPr>
        <p:spPr>
          <a:xfrm>
            <a:off x="5333702" y="2828776"/>
            <a:ext cx="1562695" cy="304800"/>
          </a:xfrm>
          <a:prstGeom prst="rect">
            <a:avLst/>
          </a:prstGeom>
          <a:noFill/>
        </p:spPr>
        <p:txBody>
          <a:bodyPr wrap="square" lIns="0" rIns="0" tIns="0" bIns="0" anchor="t">
            <a:normAutofit/>
          </a:bodyPr>
          <a:lstStyle/>
          <a:p>
            <a:pPr algn="ctr">
              <a:lnSpc>
                <a:spcPct val="125000"/>
              </a:lnSpc>
              <a:spcBef>
                <a:spcPts val="0"/>
              </a:spcBef>
              <a:spcAft>
                <a:spcPts val="0"/>
              </a:spcAft>
            </a:pPr>
            <a:r>
              <a:rPr sz="1500" b="0" i="0">
                <a:solidFill>
                  <a:srgbClr val="4472C4"/>
                </a:solidFill>
                <a:latin typeface="Microsoft YaHei"/>
              </a:rPr>
              <a:t>第 2 章 文献综述</a:t>
            </a:r>
          </a:p>
        </p:txBody>
      </p:sp>
      <p:sp>
        <p:nvSpPr>
          <p:cNvPr id="4" name="Rectangle 3"/>
          <p:cNvSpPr/>
          <p:nvPr/>
        </p:nvSpPr>
        <p:spPr>
          <a:xfrm>
            <a:off x="5476875" y="3428851"/>
            <a:ext cx="1238250" cy="28575"/>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57663" y="3743176"/>
            <a:ext cx="1514623" cy="648592"/>
          </a:xfrm>
          <a:prstGeom prst="rect">
            <a:avLst/>
          </a:prstGeom>
          <a:noFill/>
        </p:spPr>
        <p:txBody>
          <a:bodyPr wrap="square" lIns="0" rIns="0" tIns="0" bIns="0" anchor="t">
            <a:normAutofit/>
          </a:bodyPr>
          <a:lstStyle/>
          <a:p>
            <a:pPr algn="ctr">
              <a:lnSpc>
                <a:spcPct val="210000"/>
              </a:lnSpc>
              <a:spcBef>
                <a:spcPts val="0"/>
              </a:spcBef>
              <a:spcAft>
                <a:spcPts val="0"/>
              </a:spcAft>
            </a:pPr>
            <a:r>
              <a:rPr sz="1160" b="0" i="0">
                <a:solidFill>
                  <a:srgbClr val="555555"/>
                </a:solidFill>
                <a:latin typeface="Microsoft YaHei"/>
              </a:rPr>
              <a:t>硕士学位论文开题报告</a:t>
            </a:r>
          </a:p>
          <a:p>
            <a:pPr algn="ctr">
              <a:lnSpc>
                <a:spcPct val="210000"/>
              </a:lnSpc>
              <a:spcBef>
                <a:spcPts val="0"/>
              </a:spcBef>
              <a:spcAft>
                <a:spcPts val="0"/>
              </a:spcAft>
            </a:pPr>
            <a:r>
              <a:rPr sz="1160" b="0" i="0">
                <a:solidFill>
                  <a:srgbClr val="555555"/>
                </a:solidFill>
                <a:latin typeface="Microsoft YaHei"/>
              </a:rPr>
              <a:t>2026 年</a:t>
            </a:r>
          </a:p>
        </p:txBody>
      </p:sp>
      <p:sp>
        <p:nvSpPr>
          <p:cNvPr id="6" name="TextBox 5"/>
          <p:cNvSpPr txBox="1"/>
          <p:nvPr/>
        </p:nvSpPr>
        <p:spPr>
          <a:xfrm>
            <a:off x="4548931" y="4610844"/>
            <a:ext cx="493365" cy="581025"/>
          </a:xfrm>
          <a:prstGeom prst="rect">
            <a:avLst/>
          </a:prstGeom>
          <a:noFill/>
        </p:spPr>
        <p:txBody>
          <a:bodyPr wrap="square" lIns="0" rIns="0" tIns="0" bIns="0" anchor="t">
            <a:normAutofit/>
          </a:bodyPr>
          <a:lstStyle/>
          <a:p>
            <a:pPr algn="ctr">
              <a:lnSpc>
                <a:spcPct val="125000"/>
              </a:lnSpc>
              <a:spcBef>
                <a:spcPts val="0"/>
              </a:spcBef>
              <a:spcAft>
                <a:spcPts val="0"/>
              </a:spcAft>
            </a:pPr>
            <a:r>
              <a:rPr sz="2020" b="1" i="0">
                <a:solidFill>
                  <a:srgbClr val="4472C4"/>
                </a:solidFill>
                <a:latin typeface="Microsoft YaHei"/>
              </a:rPr>
              <a:t>102</a:t>
            </a:r>
          </a:p>
          <a:p>
            <a:pPr algn="ctr">
              <a:lnSpc>
                <a:spcPct val="125000"/>
              </a:lnSpc>
              <a:spcBef>
                <a:spcPts val="0"/>
              </a:spcBef>
              <a:spcAft>
                <a:spcPts val="0"/>
              </a:spcAft>
            </a:pPr>
            <a:r>
              <a:rPr sz="980" b="0" i="0">
                <a:solidFill>
                  <a:srgbClr val="8C8C8C"/>
                </a:solidFill>
                <a:latin typeface="Microsoft YaHei"/>
              </a:rPr>
              <a:t>篇文献</a:t>
            </a:r>
          </a:p>
        </p:txBody>
      </p:sp>
      <p:sp>
        <p:nvSpPr>
          <p:cNvPr id="7" name="TextBox 6"/>
          <p:cNvSpPr txBox="1"/>
          <p:nvPr/>
        </p:nvSpPr>
        <p:spPr>
          <a:xfrm>
            <a:off x="5347096" y="4610844"/>
            <a:ext cx="657373" cy="581025"/>
          </a:xfrm>
          <a:prstGeom prst="rect">
            <a:avLst/>
          </a:prstGeom>
          <a:noFill/>
        </p:spPr>
        <p:txBody>
          <a:bodyPr wrap="square" lIns="0" rIns="0" tIns="0" bIns="0" anchor="t">
            <a:normAutofit/>
          </a:bodyPr>
          <a:lstStyle/>
          <a:p>
            <a:pPr algn="ctr">
              <a:lnSpc>
                <a:spcPct val="125000"/>
              </a:lnSpc>
              <a:spcBef>
                <a:spcPts val="0"/>
              </a:spcBef>
              <a:spcAft>
                <a:spcPts val="0"/>
              </a:spcAft>
            </a:pPr>
            <a:r>
              <a:rPr sz="2020" b="1" i="0">
                <a:solidFill>
                  <a:srgbClr val="4472C4"/>
                </a:solidFill>
                <a:latin typeface="Microsoft YaHei"/>
              </a:rPr>
              <a:t>7</a:t>
            </a:r>
          </a:p>
          <a:p>
            <a:pPr algn="ctr">
              <a:lnSpc>
                <a:spcPct val="125000"/>
              </a:lnSpc>
              <a:spcBef>
                <a:spcPts val="0"/>
              </a:spcBef>
              <a:spcAft>
                <a:spcPts val="0"/>
              </a:spcAft>
            </a:pPr>
            <a:r>
              <a:rPr sz="980" b="0" i="0">
                <a:solidFill>
                  <a:srgbClr val="8C8C8C"/>
                </a:solidFill>
                <a:latin typeface="Microsoft YaHei"/>
              </a:rPr>
              <a:t>组结论冲突</a:t>
            </a:r>
          </a:p>
        </p:txBody>
      </p:sp>
      <p:sp>
        <p:nvSpPr>
          <p:cNvPr id="8" name="TextBox 7"/>
          <p:cNvSpPr txBox="1"/>
          <p:nvPr/>
        </p:nvSpPr>
        <p:spPr>
          <a:xfrm>
            <a:off x="6309270" y="4610844"/>
            <a:ext cx="657373" cy="581025"/>
          </a:xfrm>
          <a:prstGeom prst="rect">
            <a:avLst/>
          </a:prstGeom>
          <a:noFill/>
        </p:spPr>
        <p:txBody>
          <a:bodyPr wrap="square" lIns="0" rIns="0" tIns="0" bIns="0" anchor="t">
            <a:normAutofit/>
          </a:bodyPr>
          <a:lstStyle/>
          <a:p>
            <a:pPr algn="ctr">
              <a:lnSpc>
                <a:spcPct val="125000"/>
              </a:lnSpc>
              <a:spcBef>
                <a:spcPts val="0"/>
              </a:spcBef>
              <a:spcAft>
                <a:spcPts val="0"/>
              </a:spcAft>
            </a:pPr>
            <a:r>
              <a:rPr sz="2020" b="1" i="0">
                <a:solidFill>
                  <a:srgbClr val="4472C4"/>
                </a:solidFill>
                <a:latin typeface="Microsoft YaHei"/>
              </a:rPr>
              <a:t>9</a:t>
            </a:r>
          </a:p>
          <a:p>
            <a:pPr algn="ctr">
              <a:lnSpc>
                <a:spcPct val="125000"/>
              </a:lnSpc>
              <a:spcBef>
                <a:spcPts val="0"/>
              </a:spcBef>
              <a:spcAft>
                <a:spcPts val="0"/>
              </a:spcAft>
            </a:pPr>
            <a:r>
              <a:rPr sz="980" b="0" i="0">
                <a:solidFill>
                  <a:srgbClr val="8C8C8C"/>
                </a:solidFill>
                <a:latin typeface="Microsoft YaHei"/>
              </a:rPr>
              <a:t>项研究空白</a:t>
            </a:r>
          </a:p>
        </p:txBody>
      </p:sp>
      <p:sp>
        <p:nvSpPr>
          <p:cNvPr id="9" name="TextBox 8"/>
          <p:cNvSpPr txBox="1"/>
          <p:nvPr/>
        </p:nvSpPr>
        <p:spPr>
          <a:xfrm>
            <a:off x="7271444" y="4610844"/>
            <a:ext cx="409723" cy="581025"/>
          </a:xfrm>
          <a:prstGeom prst="rect">
            <a:avLst/>
          </a:prstGeom>
          <a:noFill/>
        </p:spPr>
        <p:txBody>
          <a:bodyPr wrap="square" lIns="0" rIns="0" tIns="0" bIns="0" anchor="t">
            <a:normAutofit/>
          </a:bodyPr>
          <a:lstStyle/>
          <a:p>
            <a:pPr algn="ctr">
              <a:lnSpc>
                <a:spcPct val="125000"/>
              </a:lnSpc>
              <a:spcBef>
                <a:spcPts val="0"/>
              </a:spcBef>
              <a:spcAft>
                <a:spcPts val="0"/>
              </a:spcAft>
            </a:pPr>
            <a:r>
              <a:rPr sz="2020" b="1" i="0">
                <a:solidFill>
                  <a:srgbClr val="4472C4"/>
                </a:solidFill>
                <a:latin typeface="Microsoft YaHei"/>
              </a:rPr>
              <a:t>5</a:t>
            </a:r>
          </a:p>
          <a:p>
            <a:pPr algn="ctr">
              <a:lnSpc>
                <a:spcPct val="125000"/>
              </a:lnSpc>
              <a:spcBef>
                <a:spcPts val="0"/>
              </a:spcBef>
              <a:spcAft>
                <a:spcPts val="0"/>
              </a:spcAft>
            </a:pPr>
            <a:r>
              <a:rPr sz="980" b="0" i="0">
                <a:solidFill>
                  <a:srgbClr val="8C8C8C"/>
                </a:solidFill>
                <a:latin typeface="Microsoft YaHei"/>
              </a:rPr>
              <a:t>个实验</a:t>
            </a:r>
          </a:p>
        </p:txBody>
      </p:sp>
      <p:sp>
        <p:nvSpPr>
          <p:cNvPr id="10" name="TextBox 9"/>
          <p:cNvSpPr txBox="1"/>
          <p:nvPr/>
        </p:nvSpPr>
        <p:spPr>
          <a:xfrm>
            <a:off x="11467504" y="6562725"/>
            <a:ext cx="324445" cy="190500"/>
          </a:xfrm>
          <a:prstGeom prst="rect">
            <a:avLst/>
          </a:prstGeom>
          <a:noFill/>
        </p:spPr>
        <p:txBody>
          <a:bodyPr wrap="square" lIns="0" rIns="0" tIns="0" bIns="0" anchor="t">
            <a:normAutofit/>
          </a:bodyPr>
          <a:lstStyle/>
          <a:p>
            <a:pPr algn="ctr">
              <a:lnSpc>
                <a:spcPct val="125000"/>
              </a:lnSpc>
              <a:spcBef>
                <a:spcPts val="0"/>
              </a:spcBef>
              <a:spcAft>
                <a:spcPts val="0"/>
              </a:spcAft>
            </a:pPr>
            <a:r>
              <a:rPr sz="900" b="0" i="0">
                <a:solidFill>
                  <a:srgbClr val="8C8C8C"/>
                </a:solidFill>
                <a:latin typeface="Microsoft YaHei"/>
              </a:rPr>
              <a:t>1 / 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本章的问题结构</a:t>
            </a:r>
          </a:p>
        </p:txBody>
      </p:sp>
      <p:sp>
        <p:nvSpPr>
          <p:cNvPr id="4" name="Rounded Rectangle 3"/>
          <p:cNvSpPr/>
          <p:nvPr/>
        </p:nvSpPr>
        <p:spPr>
          <a:xfrm>
            <a:off x="11315551" y="209550"/>
            <a:ext cx="43829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20326" y="238125"/>
            <a:ext cx="26684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导览</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 AR-HUD 行人预警的效果</a:t>
            </a:r>
            <a:r>
              <a:rPr sz="1090" b="1" i="0">
                <a:solidFill>
                  <a:srgbClr val="2F528F"/>
                </a:solidFill>
                <a:latin typeface="Microsoft YaHei"/>
              </a:rPr>
              <a:t>不由「有没有 AR」决定，而由时空参数取什么值决定</a:t>
            </a:r>
            <a:r>
              <a:rPr sz="1090" b="0" i="0">
                <a:solidFill>
                  <a:srgbClr val="2F528F"/>
                </a:solidFill>
                <a:latin typeface="Microsoft YaHei"/>
              </a:rPr>
              <a:t>。所以本章不问「哪个值最好」，而先回答</a:t>
            </a:r>
            <a:r>
              <a:rPr sz="1090" b="1" i="0">
                <a:solidFill>
                  <a:srgbClr val="2F528F"/>
                </a:solidFill>
                <a:latin typeface="Microsoft YaHei"/>
              </a:rPr>
              <a:t>三个前置问题</a:t>
            </a:r>
            <a:r>
              <a:rPr sz="1090" b="0" i="0">
                <a:solidFill>
                  <a:srgbClr val="2F528F"/>
                </a:solidFill>
                <a:latin typeface="Microsoft YaHei"/>
              </a:rPr>
              <a:t>——它们决定了后面所有数值能不能用。 </a:t>
            </a:r>
          </a:p>
        </p:txBody>
      </p:sp>
      <p:sp>
        <p:nvSpPr>
          <p:cNvPr id="9" name="Rounded Rectangle 8"/>
          <p:cNvSpPr/>
          <p:nvPr/>
        </p:nvSpPr>
        <p:spPr>
          <a:xfrm>
            <a:off x="438150" y="1313854"/>
            <a:ext cx="3682900" cy="4450556"/>
          </a:xfrm>
          <a:prstGeom prst="roundRect">
            <a:avLst>
              <a:gd name="adj" fmla="val 1810"/>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704379"/>
            <a:ext cx="33781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447204"/>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问题一 参数值从哪里来？</a:t>
            </a:r>
          </a:p>
        </p:txBody>
      </p:sp>
      <p:sp>
        <p:nvSpPr>
          <p:cNvPr id="12" name="TextBox 11"/>
          <p:cNvSpPr txBox="1"/>
          <p:nvPr/>
        </p:nvSpPr>
        <p:spPr>
          <a:xfrm>
            <a:off x="590550" y="1790104"/>
            <a:ext cx="3416200"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C00000"/>
                </a:solidFill>
                <a:latin typeface="Microsoft YaHei"/>
              </a:rPr>
              <a:t>难处：</a:t>
            </a:r>
            <a:r>
              <a:rPr sz="1120" b="0" i="0">
                <a:solidFill>
                  <a:srgbClr val="1A1A1A"/>
                </a:solidFill>
                <a:latin typeface="Microsoft YaHei"/>
              </a:rPr>
              <a:t>文献里出现过 1.8／2.0／2.5／3.0／4.0／5.0／6.0 s，</a:t>
            </a:r>
            <a:r>
              <a:rPr sz="1120" b="1" i="0">
                <a:solidFill>
                  <a:srgbClr val="1A1A1A"/>
                </a:solidFill>
                <a:latin typeface="Microsoft YaHei"/>
              </a:rPr>
              <a:t>没有任何一篇说明自己为什么取这个值</a:t>
            </a:r>
            <a:r>
              <a:rPr sz="1120" b="0" i="0">
                <a:solidFill>
                  <a:srgbClr val="1A1A1A"/>
                </a:solidFill>
                <a:latin typeface="Microsoft YaHei"/>
              </a:rPr>
              <a:t>。逐个试是无穷的。</a:t>
            </a:r>
          </a:p>
        </p:txBody>
      </p:sp>
      <p:sp>
        <p:nvSpPr>
          <p:cNvPr id="13" name="TextBox 12"/>
          <p:cNvSpPr txBox="1"/>
          <p:nvPr/>
        </p:nvSpPr>
        <p:spPr>
          <a:xfrm>
            <a:off x="590550" y="2619375"/>
            <a:ext cx="3416200" cy="1054893"/>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3E7D3E"/>
                </a:solidFill>
                <a:latin typeface="Microsoft YaHei"/>
              </a:rPr>
              <a:t>本章的回答：</a:t>
            </a:r>
            <a:r>
              <a:rPr sz="1120" b="0" i="0">
                <a:solidFill>
                  <a:srgbClr val="1A1A1A"/>
                </a:solidFill>
                <a:latin typeface="Microsoft YaHei"/>
              </a:rPr>
              <a:t>都不取。改为</a:t>
            </a:r>
            <a:r>
              <a:rPr sz="1120" b="1" i="0">
                <a:solidFill>
                  <a:srgbClr val="1A1A1A"/>
                </a:solidFill>
                <a:latin typeface="Microsoft YaHei"/>
              </a:rPr>
              <a:t>先确定参数被什么约束住</a:t>
            </a:r>
            <a:r>
              <a:rPr sz="1120" b="0" i="0">
                <a:solidFill>
                  <a:srgbClr val="1A1A1A"/>
                </a:solidFill>
                <a:latin typeface="Microsoft YaHei"/>
              </a:rPr>
              <a:t>——建立</a:t>
            </a:r>
            <a:r>
              <a:rPr sz="1120" b="1" i="0">
                <a:solidFill>
                  <a:srgbClr val="1A1A1A"/>
                </a:solidFill>
                <a:latin typeface="Microsoft YaHei"/>
              </a:rPr>
              <a:t>三重约束模型</a:t>
            </a:r>
            <a:r>
              <a:rPr sz="1120" b="0" i="0">
                <a:solidFill>
                  <a:srgbClr val="1A1A1A"/>
                </a:solidFill>
                <a:latin typeface="Microsoft YaHei"/>
              </a:rPr>
              <a:t>（上界、下界、认知窗口 + 零点 </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），把「最优 TTC 是多少」换成</a:t>
            </a:r>
            <a:r>
              <a:rPr sz="1120" b="1" i="0">
                <a:solidFill>
                  <a:srgbClr val="1A1A1A"/>
                </a:solidFill>
                <a:latin typeface="Microsoft YaHei"/>
              </a:rPr>
              <a:t>「可行区间在哪里」</a:t>
            </a:r>
            <a:r>
              <a:rPr sz="1120" b="0" i="0">
                <a:solidFill>
                  <a:srgbClr val="1A1A1A"/>
                </a:solidFill>
                <a:latin typeface="Microsoft YaHei"/>
              </a:rPr>
              <a:t>。</a:t>
            </a:r>
          </a:p>
        </p:txBody>
      </p:sp>
      <p:sp>
        <p:nvSpPr>
          <p:cNvPr id="14" name="TextBox 13"/>
          <p:cNvSpPr txBox="1"/>
          <p:nvPr/>
        </p:nvSpPr>
        <p:spPr>
          <a:xfrm>
            <a:off x="590550" y="3702843"/>
            <a:ext cx="3416200" cy="452437"/>
          </a:xfrm>
          <a:prstGeom prst="rect">
            <a:avLst/>
          </a:prstGeom>
          <a:noFill/>
        </p:spPr>
        <p:txBody>
          <a:bodyPr wrap="square" lIns="0" rIns="0" tIns="0" bIns="0" anchor="t">
            <a:normAutofit/>
          </a:bodyPr>
          <a:lstStyle/>
          <a:p>
            <a:pPr algn="l">
              <a:lnSpc>
                <a:spcPct val="178000"/>
              </a:lnSpc>
              <a:spcBef>
                <a:spcPts val="0"/>
              </a:spcBef>
              <a:spcAft>
                <a:spcPts val="0"/>
              </a:spcAft>
            </a:pPr>
            <a:r>
              <a:rPr sz="940" b="0" i="0">
                <a:solidFill>
                  <a:srgbClr val="8C8C8C"/>
                </a:solidFill>
                <a:latin typeface="Microsoft YaHei"/>
              </a:rPr>
              <a:t>→ §2.1 概念 · 六项时间指标 · 六项空间要素 · 五项理论 · </a:t>
            </a:r>
            <a:r>
              <a:rPr sz="940" b="1" i="0">
                <a:solidFill>
                  <a:srgbClr val="8C8C8C"/>
                </a:solidFill>
                <a:latin typeface="Microsoft YaHei"/>
              </a:rPr>
              <a:t>三重约束模型</a:t>
            </a:r>
            <a:r>
              <a:rPr sz="940" b="0" i="0">
                <a:solidFill>
                  <a:srgbClr val="8C8C8C"/>
                </a:solidFill>
                <a:latin typeface="Microsoft YaHei"/>
              </a:rPr>
              <a:t> · 行人侧参数</a:t>
            </a:r>
          </a:p>
        </p:txBody>
      </p:sp>
      <p:sp>
        <p:nvSpPr>
          <p:cNvPr id="15" name="Rectangle 14"/>
          <p:cNvSpPr/>
          <p:nvPr/>
        </p:nvSpPr>
        <p:spPr>
          <a:xfrm>
            <a:off x="590550" y="4221956"/>
            <a:ext cx="3378100" cy="57894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0550" y="4221956"/>
            <a:ext cx="38100" cy="57894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4375" y="4307681"/>
            <a:ext cx="3168550" cy="436066"/>
          </a:xfrm>
          <a:prstGeom prst="rect">
            <a:avLst/>
          </a:prstGeom>
          <a:noFill/>
        </p:spPr>
        <p:txBody>
          <a:bodyPr wrap="square" lIns="0" rIns="0" tIns="0" bIns="0" anchor="t">
            <a:normAutofit/>
          </a:bodyPr>
          <a:lstStyle/>
          <a:p>
            <a:pPr algn="l">
              <a:lnSpc>
                <a:spcPct val="166000"/>
              </a:lnSpc>
              <a:spcBef>
                <a:spcPts val="0"/>
              </a:spcBef>
              <a:spcAft>
                <a:spcPts val="0"/>
              </a:spcAft>
            </a:pPr>
            <a:r>
              <a:rPr sz="940" b="1" i="0">
                <a:solidFill>
                  <a:srgbClr val="1F5A1F"/>
                </a:solidFill>
                <a:latin typeface="Microsoft YaHei"/>
              </a:rPr>
              <a:t>由此产生的实验：</a:t>
            </a:r>
            <a:r>
              <a:rPr sz="940" b="0" i="0">
                <a:solidFill>
                  <a:srgbClr val="1F5A1F"/>
                </a:solidFill>
                <a:latin typeface="Microsoft YaHei"/>
              </a:rPr>
              <a:t>实验 1（把零点 </a:t>
            </a:r>
            <a:r>
              <a:rPr sz="940" b="0" i="1">
                <a:solidFill>
                  <a:srgbClr val="1F5A1F"/>
                </a:solidFill>
                <a:latin typeface="Microsoft YaHei"/>
              </a:rPr>
              <a:t>t</a:t>
            </a:r>
            <a:r>
              <a:rPr sz="660" b="0" i="1" baseline="-25000">
                <a:solidFill>
                  <a:srgbClr val="1F5A1F"/>
                </a:solidFill>
                <a:latin typeface="Microsoft YaHei"/>
              </a:rPr>
              <a:t>0</a:t>
            </a:r>
            <a:r>
              <a:rPr sz="940" b="0" i="0">
                <a:solidFill>
                  <a:srgbClr val="1F5A1F"/>
                </a:solidFill>
                <a:latin typeface="Microsoft YaHei"/>
              </a:rPr>
              <a:t> 与运动学下界实测出来）——</a:t>
            </a:r>
            <a:r>
              <a:rPr sz="940" b="1" i="0">
                <a:solidFill>
                  <a:srgbClr val="1F5A1F"/>
                </a:solidFill>
                <a:latin typeface="Microsoft YaHei"/>
              </a:rPr>
              <a:t>没有它，实验 2 的自变量只能写成绝对 TTC</a:t>
            </a:r>
            <a:r>
              <a:rPr sz="940" b="0" i="0">
                <a:solidFill>
                  <a:srgbClr val="1F5A1F"/>
                </a:solidFill>
                <a:latin typeface="Microsoft YaHei"/>
              </a:rPr>
              <a:t>。</a:t>
            </a:r>
          </a:p>
        </p:txBody>
      </p:sp>
      <p:sp>
        <p:nvSpPr>
          <p:cNvPr id="18" name="Rounded Rectangle 17"/>
          <p:cNvSpPr/>
          <p:nvPr/>
        </p:nvSpPr>
        <p:spPr>
          <a:xfrm>
            <a:off x="4254400" y="1313854"/>
            <a:ext cx="3683049" cy="4450556"/>
          </a:xfrm>
          <a:prstGeom prst="roundRect">
            <a:avLst>
              <a:gd name="adj" fmla="val 1810"/>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06800" y="1704379"/>
            <a:ext cx="3378249"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6800" y="1447204"/>
            <a:ext cx="3416349"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问题二 为什么文献结论互相矛盾？</a:t>
            </a:r>
          </a:p>
        </p:txBody>
      </p:sp>
      <p:sp>
        <p:nvSpPr>
          <p:cNvPr id="21" name="TextBox 20"/>
          <p:cNvSpPr txBox="1"/>
          <p:nvPr/>
        </p:nvSpPr>
        <p:spPr>
          <a:xfrm>
            <a:off x="4406800" y="1790104"/>
            <a:ext cx="3416349" cy="1045368"/>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C00000"/>
                </a:solidFill>
                <a:latin typeface="Microsoft YaHei"/>
              </a:rPr>
              <a:t>难处：</a:t>
            </a:r>
            <a:r>
              <a:rPr sz="1120" b="0" i="0">
                <a:solidFill>
                  <a:srgbClr val="1A1A1A"/>
                </a:solidFill>
                <a:latin typeface="Microsoft YaHei"/>
              </a:rPr>
              <a:t>同一个 </a:t>
            </a:r>
            <a:r>
              <a:rPr sz="1120" b="1" i="0">
                <a:solidFill>
                  <a:srgbClr val="1A1A1A"/>
                </a:solidFill>
                <a:latin typeface="Microsoft YaHei"/>
              </a:rPr>
              <a:t>5.0 s</a:t>
            </a:r>
            <a:r>
              <a:rPr sz="1120" b="0" i="0">
                <a:solidFill>
                  <a:srgbClr val="1A1A1A"/>
                </a:solidFill>
                <a:latin typeface="Microsoft YaHei"/>
              </a:rPr>
              <a:t>，Kang 等（2016）报告</a:t>
            </a:r>
            <a:r>
              <a:rPr sz="1120" b="1" i="0">
                <a:solidFill>
                  <a:srgbClr val="1A1A1A"/>
                </a:solidFill>
                <a:latin typeface="Microsoft YaHei"/>
              </a:rPr>
              <a:t>显著改善避险绩效</a:t>
            </a:r>
            <a:r>
              <a:rPr sz="1120" b="0" i="0">
                <a:solidFill>
                  <a:srgbClr val="1A1A1A"/>
                </a:solidFill>
                <a:latin typeface="Microsoft YaHei"/>
              </a:rPr>
              <a:t>、Kim 等（2018）报告</a:t>
            </a:r>
            <a:r>
              <a:rPr sz="1120" b="1" i="0">
                <a:solidFill>
                  <a:srgbClr val="1A1A1A"/>
                </a:solidFill>
                <a:latin typeface="Microsoft YaHei"/>
              </a:rPr>
              <a:t>峰值减速度上升 34.46%</a:t>
            </a:r>
            <a:r>
              <a:rPr sz="1120" b="0" i="0">
                <a:solidFill>
                  <a:srgbClr val="1A1A1A"/>
                </a:solidFill>
                <a:latin typeface="Microsoft YaHei"/>
              </a:rPr>
              <a:t>、Wang 等（2025）报告</a:t>
            </a:r>
            <a:r>
              <a:rPr sz="1120" b="1" i="0">
                <a:solidFill>
                  <a:srgbClr val="1A1A1A"/>
                </a:solidFill>
                <a:latin typeface="Microsoft YaHei"/>
              </a:rPr>
              <a:t>相对基线无显著增益</a:t>
            </a:r>
            <a:r>
              <a:rPr sz="1120" b="0" i="0">
                <a:solidFill>
                  <a:srgbClr val="1A1A1A"/>
                </a:solidFill>
                <a:latin typeface="Microsoft YaHei"/>
              </a:rPr>
              <a:t>。</a:t>
            </a:r>
            <a:r>
              <a:rPr sz="1120" b="1" i="0">
                <a:solidFill>
                  <a:srgbClr val="1A1A1A"/>
                </a:solidFill>
                <a:latin typeface="Microsoft YaHei"/>
              </a:rPr>
              <a:t>取平均或各引一句都是错的。</a:t>
            </a:r>
          </a:p>
        </p:txBody>
      </p:sp>
      <p:sp>
        <p:nvSpPr>
          <p:cNvPr id="22" name="TextBox 21"/>
          <p:cNvSpPr txBox="1"/>
          <p:nvPr/>
        </p:nvSpPr>
        <p:spPr>
          <a:xfrm>
            <a:off x="4406800" y="2873573"/>
            <a:ext cx="3416349"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3E7D3E"/>
                </a:solidFill>
                <a:latin typeface="Microsoft YaHei"/>
              </a:rPr>
              <a:t>本章的回答：</a:t>
            </a:r>
            <a:r>
              <a:rPr sz="1120" b="0" i="0">
                <a:solidFill>
                  <a:srgbClr val="1A1A1A"/>
                </a:solidFill>
                <a:latin typeface="Microsoft YaHei"/>
              </a:rPr>
              <a:t>把每一组矛盾拆到</a:t>
            </a:r>
            <a:r>
              <a:rPr sz="1120" b="1" i="0">
                <a:solidFill>
                  <a:srgbClr val="1A1A1A"/>
                </a:solidFill>
                <a:latin typeface="Microsoft YaHei"/>
              </a:rPr>
              <a:t>条件差异／记法口径／推论过度</a:t>
            </a:r>
            <a:r>
              <a:rPr sz="1120" b="0" i="0">
                <a:solidFill>
                  <a:srgbClr val="1A1A1A"/>
                </a:solidFill>
                <a:latin typeface="Microsoft YaHei"/>
              </a:rPr>
              <a:t>三类来源上，逐组找出那个</a:t>
            </a:r>
            <a:r>
              <a:rPr sz="1120" b="1" i="0">
                <a:solidFill>
                  <a:srgbClr val="1A1A1A"/>
                </a:solidFill>
                <a:latin typeface="Microsoft YaHei"/>
              </a:rPr>
              <a:t>未被控制的第三变量</a:t>
            </a:r>
            <a:r>
              <a:rPr sz="1120" b="0" i="0">
                <a:solidFill>
                  <a:srgbClr val="1A1A1A"/>
                </a:solidFill>
                <a:latin typeface="Microsoft YaHei"/>
              </a:rPr>
              <a:t>——共</a:t>
            </a:r>
            <a:r>
              <a:rPr sz="1120" b="1" i="0">
                <a:solidFill>
                  <a:srgbClr val="1A1A1A"/>
                </a:solidFill>
                <a:latin typeface="Microsoft YaHei"/>
              </a:rPr>
              <a:t>七组主要 + 四组次级冲突</a:t>
            </a:r>
            <a:r>
              <a:rPr sz="1120" b="0" i="0">
                <a:solidFill>
                  <a:srgbClr val="1A1A1A"/>
                </a:solidFill>
                <a:latin typeface="Microsoft YaHei"/>
              </a:rPr>
              <a:t>。</a:t>
            </a:r>
          </a:p>
        </p:txBody>
      </p:sp>
      <p:sp>
        <p:nvSpPr>
          <p:cNvPr id="23" name="TextBox 22"/>
          <p:cNvSpPr txBox="1"/>
          <p:nvPr/>
        </p:nvSpPr>
        <p:spPr>
          <a:xfrm>
            <a:off x="4406800" y="3693318"/>
            <a:ext cx="3416349" cy="452437"/>
          </a:xfrm>
          <a:prstGeom prst="rect">
            <a:avLst/>
          </a:prstGeom>
          <a:noFill/>
        </p:spPr>
        <p:txBody>
          <a:bodyPr wrap="square" lIns="0" rIns="0" tIns="0" bIns="0" anchor="t">
            <a:normAutofit/>
          </a:bodyPr>
          <a:lstStyle/>
          <a:p>
            <a:pPr algn="l">
              <a:lnSpc>
                <a:spcPct val="178000"/>
              </a:lnSpc>
              <a:spcBef>
                <a:spcPts val="0"/>
              </a:spcBef>
              <a:spcAft>
                <a:spcPts val="0"/>
              </a:spcAft>
            </a:pPr>
            <a:r>
              <a:rPr sz="940" b="0" i="0">
                <a:solidFill>
                  <a:srgbClr val="8C8C8C"/>
                </a:solidFill>
                <a:latin typeface="Microsoft YaHei"/>
              </a:rPr>
              <a:t>→ §2.2 时间侧证据｜§2.3 空间侧证据｜§2.4 冲突辨析与方法学评述</a:t>
            </a:r>
          </a:p>
        </p:txBody>
      </p:sp>
      <p:sp>
        <p:nvSpPr>
          <p:cNvPr id="24" name="Rectangle 23"/>
          <p:cNvSpPr/>
          <p:nvPr/>
        </p:nvSpPr>
        <p:spPr>
          <a:xfrm>
            <a:off x="4406800" y="4212431"/>
            <a:ext cx="3378249" cy="768399"/>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06800" y="4212431"/>
            <a:ext cx="38100" cy="768399"/>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30625" y="4298156"/>
            <a:ext cx="3168699" cy="625524"/>
          </a:xfrm>
          <a:prstGeom prst="rect">
            <a:avLst/>
          </a:prstGeom>
          <a:noFill/>
        </p:spPr>
        <p:txBody>
          <a:bodyPr wrap="square" lIns="0" rIns="0" tIns="0" bIns="0" anchor="t">
            <a:normAutofit/>
          </a:bodyPr>
          <a:lstStyle/>
          <a:p>
            <a:pPr algn="l">
              <a:lnSpc>
                <a:spcPct val="166000"/>
              </a:lnSpc>
              <a:spcBef>
                <a:spcPts val="0"/>
              </a:spcBef>
              <a:spcAft>
                <a:spcPts val="0"/>
              </a:spcAft>
            </a:pPr>
            <a:r>
              <a:rPr sz="940" b="1" i="0">
                <a:solidFill>
                  <a:srgbClr val="1F5A1F"/>
                </a:solidFill>
                <a:latin typeface="Microsoft YaHei"/>
              </a:rPr>
              <a:t>由此产生的实验：</a:t>
            </a:r>
            <a:r>
              <a:rPr sz="940" b="0" i="0">
                <a:solidFill>
                  <a:srgbClr val="1F5A1F"/>
                </a:solidFill>
                <a:latin typeface="Microsoft YaHei"/>
              </a:rPr>
              <a:t>每一个被找出的第三变量成为一个操纵维度——</a:t>
            </a:r>
            <a:r>
              <a:rPr sz="940" b="1" i="0">
                <a:solidFill>
                  <a:srgbClr val="1F5A1F"/>
                </a:solidFill>
                <a:latin typeface="Microsoft YaHei"/>
              </a:rPr>
              <a:t>提前量</a:t>
            </a:r>
            <a:r>
              <a:rPr sz="940" b="0" i="0">
                <a:solidFill>
                  <a:srgbClr val="1F5A1F"/>
                </a:solidFill>
                <a:latin typeface="Microsoft YaHei"/>
              </a:rPr>
              <a:t>（实验 2）、</a:t>
            </a:r>
            <a:r>
              <a:rPr sz="940" b="1" i="0">
                <a:solidFill>
                  <a:srgbClr val="1F5A1F"/>
                </a:solidFill>
                <a:latin typeface="Microsoft YaHei"/>
              </a:rPr>
              <a:t>可靠性</a:t>
            </a:r>
            <a:r>
              <a:rPr sz="940" b="0" i="0">
                <a:solidFill>
                  <a:srgbClr val="1F5A1F"/>
                </a:solidFill>
                <a:latin typeface="Microsoft YaHei"/>
              </a:rPr>
              <a:t>（实验 3）、</a:t>
            </a:r>
            <a:r>
              <a:rPr sz="940" b="1" i="0">
                <a:solidFill>
                  <a:srgbClr val="1F5A1F"/>
                </a:solidFill>
                <a:latin typeface="Microsoft YaHei"/>
              </a:rPr>
              <a:t>锁定策略</a:t>
            </a:r>
            <a:r>
              <a:rPr sz="940" b="0" i="0">
                <a:solidFill>
                  <a:srgbClr val="1F5A1F"/>
                </a:solidFill>
                <a:latin typeface="Microsoft YaHei"/>
              </a:rPr>
              <a:t>（实验 4）、</a:t>
            </a:r>
            <a:r>
              <a:rPr sz="940" b="1" i="0">
                <a:solidFill>
                  <a:srgbClr val="1F5A1F"/>
                </a:solidFill>
                <a:latin typeface="Microsoft YaHei"/>
              </a:rPr>
              <a:t>风险演化</a:t>
            </a:r>
            <a:r>
              <a:rPr sz="940" b="0" i="0">
                <a:solidFill>
                  <a:srgbClr val="1F5A1F"/>
                </a:solidFill>
                <a:latin typeface="Microsoft YaHei"/>
              </a:rPr>
              <a:t>（实验 5）。</a:t>
            </a:r>
          </a:p>
        </p:txBody>
      </p:sp>
      <p:sp>
        <p:nvSpPr>
          <p:cNvPr id="27" name="Rounded Rectangle 26"/>
          <p:cNvSpPr/>
          <p:nvPr/>
        </p:nvSpPr>
        <p:spPr>
          <a:xfrm>
            <a:off x="8070800" y="1313854"/>
            <a:ext cx="3682900" cy="4450556"/>
          </a:xfrm>
          <a:prstGeom prst="roundRect">
            <a:avLst>
              <a:gd name="adj" fmla="val 1810"/>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223200" y="1704379"/>
            <a:ext cx="33781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3200" y="1447204"/>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问题三 哪些还没有人回答？</a:t>
            </a:r>
          </a:p>
        </p:txBody>
      </p:sp>
      <p:sp>
        <p:nvSpPr>
          <p:cNvPr id="30" name="TextBox 29"/>
          <p:cNvSpPr txBox="1"/>
          <p:nvPr/>
        </p:nvSpPr>
        <p:spPr>
          <a:xfrm>
            <a:off x="8223200" y="1790104"/>
            <a:ext cx="3416200"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C00000"/>
                </a:solidFill>
                <a:latin typeface="Microsoft YaHei"/>
              </a:rPr>
              <a:t>难处：</a:t>
            </a:r>
            <a:r>
              <a:rPr sz="1120" b="0" i="0">
                <a:solidFill>
                  <a:srgbClr val="1A1A1A"/>
                </a:solidFill>
                <a:latin typeface="Microsoft YaHei"/>
              </a:rPr>
              <a:t>综述若只汇总已有结论，就无法说明「为什么还要做实验」。必须指出</a:t>
            </a:r>
            <a:r>
              <a:rPr sz="1120" b="1" i="0">
                <a:solidFill>
                  <a:srgbClr val="1A1A1A"/>
                </a:solidFill>
                <a:latin typeface="Microsoft YaHei"/>
              </a:rPr>
              <a:t>零对照的参数</a:t>
            </a:r>
            <a:r>
              <a:rPr sz="1120" b="0" i="0">
                <a:solidFill>
                  <a:srgbClr val="1A1A1A"/>
                </a:solidFill>
                <a:latin typeface="Microsoft YaHei"/>
              </a:rPr>
              <a:t>。</a:t>
            </a:r>
          </a:p>
        </p:txBody>
      </p:sp>
      <p:sp>
        <p:nvSpPr>
          <p:cNvPr id="31" name="TextBox 30"/>
          <p:cNvSpPr txBox="1"/>
          <p:nvPr/>
        </p:nvSpPr>
        <p:spPr>
          <a:xfrm>
            <a:off x="8223200" y="2365176"/>
            <a:ext cx="3416200"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3E7D3E"/>
                </a:solidFill>
                <a:latin typeface="Microsoft YaHei"/>
              </a:rPr>
              <a:t>本章的回答：</a:t>
            </a:r>
            <a:r>
              <a:rPr sz="1120" b="1" i="0">
                <a:solidFill>
                  <a:srgbClr val="1A1A1A"/>
                </a:solidFill>
                <a:latin typeface="Microsoft YaHei"/>
              </a:rPr>
              <a:t>九项研究空白</a:t>
            </a:r>
            <a:r>
              <a:rPr sz="1120" b="0" i="0">
                <a:solidFill>
                  <a:srgbClr val="1A1A1A"/>
                </a:solidFill>
                <a:latin typeface="Microsoft YaHei"/>
              </a:rPr>
              <a:t>（其中 4 项为「零人因对照」）→ 收敛为</a:t>
            </a:r>
            <a:r>
              <a:rPr sz="1120" b="1" i="0">
                <a:solidFill>
                  <a:srgbClr val="1A1A1A"/>
                </a:solidFill>
                <a:latin typeface="Microsoft YaHei"/>
              </a:rPr>
              <a:t>三个层层递进的核心问题</a:t>
            </a:r>
            <a:r>
              <a:rPr sz="1120" b="0" i="0">
                <a:solidFill>
                  <a:srgbClr val="1A1A1A"/>
                </a:solidFill>
                <a:latin typeface="Microsoft YaHei"/>
              </a:rPr>
              <a:t> → </a:t>
            </a:r>
            <a:r>
              <a:rPr sz="1120" b="1" i="0">
                <a:solidFill>
                  <a:srgbClr val="1A1A1A"/>
                </a:solidFill>
                <a:latin typeface="Microsoft YaHei"/>
              </a:rPr>
              <a:t>H1–H4</a:t>
            </a:r>
            <a:r>
              <a:rPr sz="1120" b="0" i="0">
                <a:solidFill>
                  <a:srgbClr val="1A1A1A"/>
                </a:solidFill>
                <a:latin typeface="Microsoft YaHei"/>
              </a:rPr>
              <a:t>（由理论导出、可否证）+ </a:t>
            </a:r>
            <a:r>
              <a:rPr sz="1120" b="1" i="0">
                <a:solidFill>
                  <a:srgbClr val="1A1A1A"/>
                </a:solidFill>
                <a:latin typeface="Microsoft YaHei"/>
              </a:rPr>
              <a:t>H5–H14</a:t>
            </a:r>
            <a:r>
              <a:rPr sz="1120" b="0" i="0">
                <a:solidFill>
                  <a:srgbClr val="1A1A1A"/>
                </a:solidFill>
                <a:latin typeface="Microsoft YaHei"/>
              </a:rPr>
              <a:t>（由文献归纳）。</a:t>
            </a:r>
          </a:p>
        </p:txBody>
      </p:sp>
      <p:sp>
        <p:nvSpPr>
          <p:cNvPr id="32" name="TextBox 31"/>
          <p:cNvSpPr txBox="1"/>
          <p:nvPr/>
        </p:nvSpPr>
        <p:spPr>
          <a:xfrm>
            <a:off x="8223200" y="3184921"/>
            <a:ext cx="3416200" cy="452437"/>
          </a:xfrm>
          <a:prstGeom prst="rect">
            <a:avLst/>
          </a:prstGeom>
          <a:noFill/>
        </p:spPr>
        <p:txBody>
          <a:bodyPr wrap="square" lIns="0" rIns="0" tIns="0" bIns="0" anchor="t">
            <a:normAutofit/>
          </a:bodyPr>
          <a:lstStyle/>
          <a:p>
            <a:pPr algn="l">
              <a:lnSpc>
                <a:spcPct val="178000"/>
              </a:lnSpc>
              <a:spcBef>
                <a:spcPts val="0"/>
              </a:spcBef>
              <a:spcAft>
                <a:spcPts val="0"/>
              </a:spcAft>
            </a:pPr>
            <a:r>
              <a:rPr sz="940" b="0" i="0">
                <a:solidFill>
                  <a:srgbClr val="8C8C8C"/>
                </a:solidFill>
                <a:latin typeface="Microsoft YaHei"/>
              </a:rPr>
              <a:t>→ §2.5 空白与问题提出｜§2.6 本章小结（七处对既有共识的修正）</a:t>
            </a:r>
          </a:p>
        </p:txBody>
      </p:sp>
      <p:sp>
        <p:nvSpPr>
          <p:cNvPr id="33" name="Rectangle 32"/>
          <p:cNvSpPr/>
          <p:nvPr/>
        </p:nvSpPr>
        <p:spPr>
          <a:xfrm>
            <a:off x="8223200" y="3704034"/>
            <a:ext cx="3378100" cy="569416"/>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223200" y="3704034"/>
            <a:ext cx="38100" cy="56941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47025" y="3789759"/>
            <a:ext cx="3168550" cy="426541"/>
          </a:xfrm>
          <a:prstGeom prst="rect">
            <a:avLst/>
          </a:prstGeom>
          <a:noFill/>
        </p:spPr>
        <p:txBody>
          <a:bodyPr wrap="square" lIns="0" rIns="0" tIns="0" bIns="0" anchor="t">
            <a:normAutofit/>
          </a:bodyPr>
          <a:lstStyle/>
          <a:p>
            <a:pPr algn="l">
              <a:lnSpc>
                <a:spcPct val="166000"/>
              </a:lnSpc>
              <a:spcBef>
                <a:spcPts val="0"/>
              </a:spcBef>
              <a:spcAft>
                <a:spcPts val="0"/>
              </a:spcAft>
            </a:pPr>
            <a:r>
              <a:rPr sz="940" b="1" i="0">
                <a:solidFill>
                  <a:srgbClr val="1F5A1F"/>
                </a:solidFill>
                <a:latin typeface="Microsoft YaHei"/>
              </a:rPr>
              <a:t>由此产生的实验：</a:t>
            </a:r>
            <a:r>
              <a:rPr sz="940" b="0" i="0">
                <a:solidFill>
                  <a:srgbClr val="1F5A1F"/>
                </a:solidFill>
                <a:latin typeface="Microsoft YaHei"/>
              </a:rPr>
              <a:t>空白清单本身即五个实验的</a:t>
            </a:r>
            <a:r>
              <a:rPr sz="940" b="1" i="0">
                <a:solidFill>
                  <a:srgbClr val="1F5A1F"/>
                </a:solidFill>
                <a:latin typeface="Microsoft YaHei"/>
              </a:rPr>
              <a:t>必要性论证</a:t>
            </a:r>
            <a:r>
              <a:rPr sz="940" b="0" i="0">
                <a:solidFill>
                  <a:srgbClr val="1F5A1F"/>
                </a:solidFill>
                <a:latin typeface="Microsoft YaHei"/>
              </a:rPr>
              <a:t>——每个实验都指名它填补哪一项空白。</a:t>
            </a:r>
          </a:p>
        </p:txBody>
      </p:sp>
      <p:sp>
        <p:nvSpPr>
          <p:cNvPr id="36" name="Rectangle 35"/>
          <p:cNvSpPr/>
          <p:nvPr/>
        </p:nvSpPr>
        <p:spPr>
          <a:xfrm>
            <a:off x="438150" y="5869185"/>
            <a:ext cx="113157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38150" y="5869185"/>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1975" y="5954910"/>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贯穿三个问题的一条方法论主张：</a:t>
            </a:r>
            <a:r>
              <a:rPr sz="990" b="0" i="0">
                <a:solidFill>
                  <a:srgbClr val="1F5A1F"/>
                </a:solidFill>
                <a:latin typeface="Microsoft YaHei"/>
              </a:rPr>
              <a:t>结论冲突不该被「取平均」或回避，而应当作</a:t>
            </a:r>
            <a:r>
              <a:rPr sz="990" b="1" i="0">
                <a:solidFill>
                  <a:srgbClr val="1F5A1F"/>
                </a:solidFill>
                <a:latin typeface="Microsoft YaHei"/>
              </a:rPr>
              <a:t>调节变量存在的实证信号</a:t>
            </a:r>
            <a:r>
              <a:rPr sz="990" b="0" i="0">
                <a:solidFill>
                  <a:srgbClr val="1F5A1F"/>
                </a:solidFill>
                <a:latin typeface="Microsoft YaHei"/>
              </a:rPr>
              <a:t>——</a:t>
            </a:r>
            <a:r>
              <a:rPr sz="990" b="1" i="0">
                <a:solidFill>
                  <a:srgbClr val="1F5A1F"/>
                </a:solidFill>
                <a:latin typeface="Microsoft YaHei"/>
              </a:rPr>
              <a:t>找出那个未被控制的第三变量，就等于找到了一个应当纳入设计的维度</a:t>
            </a:r>
            <a:r>
              <a:rPr sz="990" b="0" i="0">
                <a:solidFill>
                  <a:srgbClr val="1F5A1F"/>
                </a:solidFill>
                <a:latin typeface="Microsoft YaHei"/>
              </a:rPr>
              <a:t>。本研究的五个实验，每一个都对应一个这样被找出来的维度。</a:t>
            </a:r>
          </a:p>
        </p:txBody>
      </p:sp>
      <p:sp>
        <p:nvSpPr>
          <p:cNvPr id="39" name="TextBox 38"/>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概念界定：HUD 与 AR-HUD</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2.1.1</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AR-HUD</a:t>
            </a:r>
            <a:r>
              <a:rPr sz="1090" b="0" i="0">
                <a:solidFill>
                  <a:srgbClr val="2F528F"/>
                </a:solidFill>
                <a:latin typeface="Microsoft YaHei"/>
              </a:rPr>
              <a:t>（增强现实抬头显示）是把图形与车外真实目标</a:t>
            </a:r>
            <a:r>
              <a:rPr sz="1090" b="1" i="0">
                <a:solidFill>
                  <a:srgbClr val="2F528F"/>
                </a:solidFill>
                <a:latin typeface="Microsoft YaHei"/>
              </a:rPr>
              <a:t>逐帧配准</a:t>
            </a:r>
            <a:r>
              <a:rPr sz="1090" b="0" i="0">
                <a:solidFill>
                  <a:srgbClr val="2F528F"/>
                </a:solidFill>
                <a:latin typeface="Microsoft YaHei"/>
              </a:rPr>
              <a:t>的抬头显示；其图形随目标在视野中的位置、大小、遮挡关系连续变化 </a:t>
            </a:r>
            <a:r>
              <a:rPr sz="940" b="0" i="0">
                <a:solidFill>
                  <a:srgbClr val="8C8C8C"/>
                </a:solidFill>
                <a:latin typeface="Microsoft YaHei"/>
              </a:rPr>
              <a:t>（Yoon 等, 2014；Kim 等, 2018）</a:t>
            </a:r>
            <a:r>
              <a:rPr sz="1090" b="0" i="0">
                <a:solidFill>
                  <a:srgbClr val="2F528F"/>
                </a:solidFill>
                <a:latin typeface="Microsoft YaHei"/>
              </a:rPr>
              <a:t>。汽车 HUD 始于 1988 年通用 Oldsmobile Cutlass Supreme，相对低头显示可缩短约 </a:t>
            </a:r>
            <a:r>
              <a:rPr sz="1090" b="1" i="0">
                <a:solidFill>
                  <a:srgbClr val="2F528F"/>
                </a:solidFill>
                <a:latin typeface="Microsoft YaHei"/>
              </a:rPr>
              <a:t>0.2 s</a:t>
            </a:r>
            <a:r>
              <a:rPr sz="1090" b="0" i="0">
                <a:solidFill>
                  <a:srgbClr val="2F528F"/>
                </a:solidFill>
                <a:latin typeface="Microsoft YaHei"/>
              </a:rPr>
              <a:t> 反应时 </a:t>
            </a:r>
            <a:r>
              <a:rPr sz="940" b="0" i="0">
                <a:solidFill>
                  <a:srgbClr val="8C8C8C"/>
                </a:solidFill>
                <a:latin typeface="Microsoft YaHei"/>
              </a:rPr>
              <a:t>（Yoon 等, 2014 转引 Horrey 等）</a:t>
            </a:r>
            <a:r>
              <a:rPr sz="1090" b="0" i="0">
                <a:solidFill>
                  <a:srgbClr val="2F528F"/>
                </a:solidFill>
                <a:latin typeface="Microsoft YaHei"/>
              </a:rPr>
              <a:t>。 </a:t>
            </a:r>
          </a:p>
        </p:txBody>
      </p:sp>
      <p:graphicFrame>
        <p:nvGraphicFramePr>
          <p:cNvPr id="9" name="Table 8"/>
          <p:cNvGraphicFramePr>
            <a:graphicFrameLocks noGrp="1"/>
          </p:cNvGraphicFramePr>
          <p:nvPr/>
        </p:nvGraphicFramePr>
        <p:xfrm>
          <a:off x="438150" y="1551384"/>
          <a:ext cx="11315698" cy="1132729"/>
        </p:xfrm>
        <a:graphic>
          <a:graphicData uri="http://schemas.openxmlformats.org/drawingml/2006/table">
            <a:tbl>
              <a:tblPr>
                <a:tableStyleId>{5C22544A-7EE6-4342-B048-85BDC9FD1C3A}</a:tableStyleId>
              </a:tblPr>
              <a:tblGrid>
                <a:gridCol w="1697235"/>
                <a:gridCol w="2489448"/>
                <a:gridCol w="4186981"/>
                <a:gridCol w="2942034"/>
              </a:tblGrid>
              <a:tr h="314325">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代际</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显示方式</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信息与场景的关系</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典型内容</a:t>
                      </a:r>
                    </a:p>
                  </a:txBody>
                  <a:tcPr marL="85725" marR="85725" marT="66675" marB="66675" anchor="t">
                    <a:solidFill>
                      <a:srgbClr val="4472C4"/>
                    </a:solidFill>
                  </a:tcPr>
                </a:tc>
              </a:tr>
              <a:tr h="310901">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传统 HUD</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屏幕固定 screen-fixed</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图形位置与车外场景</a:t>
                      </a:r>
                      <a:r>
                        <a:rPr sz="980" b="1" i="0">
                          <a:solidFill>
                            <a:srgbClr val="1A1A1A"/>
                          </a:solidFill>
                          <a:latin typeface="Microsoft YaHei"/>
                        </a:rPr>
                        <a:t>无空间对应</a:t>
                      </a:r>
                      <a:r>
                        <a:rPr sz="980" b="0" i="0">
                          <a:solidFill>
                            <a:srgbClr val="1A1A1A"/>
                          </a:solidFill>
                          <a:latin typeface="Microsoft YaHei"/>
                        </a:rPr>
                        <a:t>，仅占据视野中一块固定区域</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车速、导航箭头、油量</a:t>
                      </a:r>
                    </a:p>
                  </a:txBody>
                  <a:tcPr marL="85725" marR="85725" marT="57150" marB="57150" anchor="t">
                    <a:solidFill>
                      <a:srgbClr val="FAFBFD"/>
                    </a:solidFill>
                  </a:tcPr>
                </a:tc>
              </a:tr>
              <a:tr h="507503">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AR-HUD</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世界锁定 world-locked／共形 contact-analog</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图形位置与车外目标</a:t>
                      </a:r>
                      <a:r>
                        <a:rPr sz="980" b="1" i="0">
                          <a:solidFill>
                            <a:srgbClr val="1A1A1A"/>
                          </a:solidFill>
                          <a:latin typeface="Microsoft YaHei"/>
                        </a:rPr>
                        <a:t>逐帧配准</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行人边界框、路面虚拟阴影、车道增强、冲突区标记</a:t>
                      </a:r>
                    </a:p>
                  </a:txBody>
                  <a:tcPr marL="85725" marR="85725" marT="57150" marB="57150" anchor="t">
                    <a:noFill/>
                  </a:tcPr>
                </a:tc>
              </a:tr>
            </a:tbl>
          </a:graphicData>
        </a:graphic>
      </p:graphicFrame>
      <p:sp>
        <p:nvSpPr>
          <p:cNvPr id="10" name="Rectangle 9"/>
          <p:cNvSpPr/>
          <p:nvPr/>
        </p:nvSpPr>
        <p:spPr>
          <a:xfrm>
            <a:off x="438150" y="2793652"/>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2793652"/>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2879377"/>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必须在一开始澄清的概念混淆：「屏幕固定」与「显示位置」是两个独立维度。</a:t>
            </a:r>
            <a:r>
              <a:rPr sz="990" b="0" i="0">
                <a:solidFill>
                  <a:srgbClr val="7A1F1F"/>
                </a:solidFill>
                <a:latin typeface="Microsoft YaHei"/>
              </a:rPr>
              <a:t>Lind（2007）的四方对照表明，碰撞预警平视显示（CWHUD）</a:t>
            </a:r>
            <a:r>
              <a:rPr sz="990" b="1" i="0">
                <a:solidFill>
                  <a:srgbClr val="7A1F1F"/>
                </a:solidFill>
                <a:latin typeface="Microsoft YaHei"/>
              </a:rPr>
              <a:t>本身即屏幕固定式</a:t>
            </a:r>
            <a:r>
              <a:rPr sz="990" b="0" i="0">
                <a:solidFill>
                  <a:srgbClr val="7A1F1F"/>
                </a:solidFill>
                <a:latin typeface="Microsoft YaHei"/>
              </a:rPr>
              <a:t>，其相对仪表显示已快约 200 ms、漏报少 16 次。因此讨论「屏幕固定的局限」时，比较对象必须是</a:t>
            </a:r>
            <a:r>
              <a:rPr sz="990" b="1" i="0">
                <a:solidFill>
                  <a:srgbClr val="7A1F1F"/>
                </a:solidFill>
                <a:latin typeface="Microsoft YaHei"/>
              </a:rPr>
              <a:t>同在前视野的世界锁定图形</a:t>
            </a:r>
            <a:r>
              <a:rPr sz="990" b="0" i="0">
                <a:solidFill>
                  <a:srgbClr val="7A1F1F"/>
                </a:solidFill>
                <a:latin typeface="Microsoft YaHei"/>
              </a:rPr>
              <a:t>，而非仪表显示。忽略这一点会系统性高估共形性的边际收益。</a:t>
            </a:r>
          </a:p>
        </p:txBody>
      </p:sp>
      <p:sp>
        <p:nvSpPr>
          <p:cNvPr id="13" name="Rectangle 12"/>
          <p:cNvSpPr/>
          <p:nvPr/>
        </p:nvSpPr>
        <p:spPr>
          <a:xfrm>
            <a:off x="438150" y="3487191"/>
            <a:ext cx="11315700" cy="380107"/>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8150" y="3487191"/>
            <a:ext cx="38100" cy="380107"/>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1975" y="3572916"/>
            <a:ext cx="11106150" cy="237232"/>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量产硬约束：</a:t>
            </a:r>
            <a:r>
              <a:rPr sz="990" b="0" i="0">
                <a:solidFill>
                  <a:srgbClr val="6B5200"/>
                </a:solidFill>
                <a:latin typeface="Microsoft YaHei"/>
              </a:rPr>
              <a:t>显示 FOV 当前约 </a:t>
            </a:r>
            <a:r>
              <a:rPr sz="990" b="1" i="0">
                <a:solidFill>
                  <a:srgbClr val="8A6A00"/>
                </a:solidFill>
                <a:latin typeface="Microsoft YaHei"/>
              </a:rPr>
              <a:t>10°–15°</a:t>
            </a:r>
            <a:r>
              <a:rPr sz="990" b="0" i="0">
                <a:solidFill>
                  <a:srgbClr val="6B5200"/>
                </a:solidFill>
                <a:latin typeface="Microsoft YaHei"/>
              </a:rPr>
              <a:t>，而文献提出的车速—FOV 耦合方案要求 </a:t>
            </a:r>
            <a:r>
              <a:rPr sz="990" b="1" i="0">
                <a:solidFill>
                  <a:srgbClr val="8A6A00"/>
                </a:solidFill>
                <a:latin typeface="Microsoft YaHei"/>
              </a:rPr>
              <a:t>40°–85°</a:t>
            </a:r>
            <a:r>
              <a:rPr sz="990" b="0" i="0">
                <a:solidFill>
                  <a:srgbClr val="6B5200"/>
                </a:solidFill>
                <a:latin typeface="Microsoft YaHei"/>
              </a:rPr>
              <a:t>（Ma 等, 2021；Teng 等, 2023）——数倍落差意味着大量实验室有效方案在量产车上</a:t>
            </a:r>
            <a:r>
              <a:rPr sz="990" b="1" i="0">
                <a:solidFill>
                  <a:srgbClr val="8A6A00"/>
                </a:solidFill>
                <a:latin typeface="Microsoft YaHei"/>
              </a:rPr>
              <a:t>根本画不出来</a:t>
            </a:r>
            <a:r>
              <a:rPr sz="990" b="0" i="0">
                <a:solidFill>
                  <a:srgbClr val="6B5200"/>
                </a:solidFill>
                <a:latin typeface="Microsoft YaHei"/>
              </a:rPr>
              <a:t>。</a:t>
            </a:r>
          </a:p>
        </p:txBody>
      </p:sp>
      <p:sp>
        <p:nvSpPr>
          <p:cNvPr id="16" name="TextBox 15"/>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时间维度的关键指标</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2.1.3</a:t>
            </a:r>
          </a:p>
        </p:txBody>
      </p:sp>
      <p:graphicFrame>
        <p:nvGraphicFramePr>
          <p:cNvPr id="6" name="Table 5"/>
          <p:cNvGraphicFramePr>
            <a:graphicFrameLocks noGrp="1"/>
          </p:cNvGraphicFramePr>
          <p:nvPr/>
        </p:nvGraphicFramePr>
        <p:xfrm>
          <a:off x="438150" y="762000"/>
          <a:ext cx="11315699" cy="2185684"/>
        </p:xfrm>
        <a:graphic>
          <a:graphicData uri="http://schemas.openxmlformats.org/drawingml/2006/table">
            <a:tbl>
              <a:tblPr>
                <a:tableStyleId>{5C22544A-7EE6-4342-B048-85BDC9FD1C3A}</a:tableStyleId>
              </a:tblPr>
              <a:tblGrid>
                <a:gridCol w="1471017"/>
                <a:gridCol w="3281511"/>
                <a:gridCol w="6563171"/>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指标</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定义</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关键性质与局限</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TTC</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双方不改变运动状态时距碰撞的剩余时间</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最常用；但行人横穿是</a:t>
                      </a:r>
                      <a:r>
                        <a:rPr sz="890" b="1" i="0">
                          <a:solidFill>
                            <a:srgbClr val="1A1A1A"/>
                          </a:solidFill>
                          <a:latin typeface="Microsoft YaHei"/>
                        </a:rPr>
                        <a:t>二维相交</a:t>
                      </a:r>
                      <a:r>
                        <a:rPr sz="890" b="0" i="0">
                          <a:solidFill>
                            <a:srgbClr val="1A1A1A"/>
                          </a:solidFill>
                          <a:latin typeface="Microsoft YaHei"/>
                        </a:rPr>
                        <a:t>冲突，「碰撞点」本身依赖双方速度，定义不唯一</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TTMD</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两者间距达到最小值的时刻距当前的时间</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本研究固定采用</a:t>
                      </a:r>
                      <a:r>
                        <a:rPr sz="890" b="0" i="0">
                          <a:solidFill>
                            <a:srgbClr val="1A1A1A"/>
                          </a:solidFill>
                          <a:latin typeface="Microsoft YaHei"/>
                        </a:rPr>
                        <a:t>；在轨迹不相交（擦肩而过）时仍有定义，且避免与「最大减速度所需时间」同名缩写混淆</a:t>
                      </a:r>
                    </a:p>
                  </a:txBody>
                  <a:tcPr marL="66675" marR="66675" marT="42862" marB="42862" anchor="t">
                    <a:noFill/>
                  </a:tcPr>
                </a:tc>
              </a:tr>
              <a:tr h="278903">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THW</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d</a:t>
                      </a:r>
                      <a:r>
                        <a:rPr sz="890" b="0" i="1">
                          <a:solidFill>
                            <a:srgbClr val="1A1A1A"/>
                          </a:solidFill>
                          <a:latin typeface="Microsoft YaHei"/>
                        </a:rPr>
                        <a:t>/</a:t>
                      </a:r>
                      <a:r>
                        <a:rPr sz="890" b="0" i="1">
                          <a:solidFill>
                            <a:srgbClr val="1A1A1A"/>
                          </a:solidFill>
                          <a:latin typeface="Microsoft YaHei"/>
                        </a:rPr>
                        <a:t>v</a:t>
                      </a:r>
                      <a:r>
                        <a:rPr sz="620" b="0" i="1" baseline="-25000">
                          <a:solidFill>
                            <a:srgbClr val="1A1A1A"/>
                          </a:solidFill>
                          <a:latin typeface="Microsoft YaHei"/>
                        </a:rPr>
                        <a:t>ego</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只依赖自车速度，对逼近速率不敏感；Chen 等（2024b）以 THW ≤ 3 s 为高亮阈值</a:t>
                      </a:r>
                    </a:p>
                  </a:txBody>
                  <a:tcPr marL="66675" marR="66675" marT="42862" marB="42862" anchor="t">
                    <a:solidFill>
                      <a:srgbClr val="FAFBFD"/>
                    </a:solidFill>
                  </a:tcPr>
                </a:tc>
              </a:tr>
              <a:tr h="278903">
                <a:tc>
                  <a:txBody>
                    <a:bodyPr wrap="square" lIns="0" rIns="0" tIns="0" bIns="0" anchor="t"/>
                    <a:lstStyle/>
                    <a:p>
                      <a:pPr algn="l">
                        <a:lnSpc>
                          <a:spcPct val="155000"/>
                        </a:lnSpc>
                        <a:spcBef>
                          <a:spcPts val="0"/>
                        </a:spcBef>
                        <a:spcAft>
                          <a:spcPts val="0"/>
                        </a:spcAft>
                      </a:pPr>
                      <a:r>
                        <a:rPr sz="890" b="1" i="1">
                          <a:solidFill>
                            <a:srgbClr val="1A1A1A"/>
                          </a:solidFill>
                          <a:latin typeface="Microsoft YaHei"/>
                        </a:rPr>
                        <a:t>a</a:t>
                      </a:r>
                      <a:r>
                        <a:rPr sz="620" b="1" i="1" baseline="-25000">
                          <a:solidFill>
                            <a:srgbClr val="1A1A1A"/>
                          </a:solidFill>
                          <a:latin typeface="Microsoft YaHei"/>
                        </a:rPr>
                        <a:t>req</a:t>
                      </a:r>
                      <a:r>
                        <a:rPr sz="890" b="1" i="0">
                          <a:solidFill>
                            <a:srgbClr val="1A1A1A"/>
                          </a:solidFill>
                          <a:latin typeface="Microsoft YaHei"/>
                        </a:rPr>
                        <a:t> / BTN</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a</a:t>
                      </a:r>
                      <a:r>
                        <a:rPr sz="620" b="0" i="1" baseline="-25000">
                          <a:solidFill>
                            <a:srgbClr val="1A1A1A"/>
                          </a:solidFill>
                          <a:latin typeface="Microsoft YaHei"/>
                        </a:rPr>
                        <a:t>req</a:t>
                      </a:r>
                      <a:r>
                        <a:rPr sz="890" b="0" i="1">
                          <a:solidFill>
                            <a:srgbClr val="1A1A1A"/>
                          </a:solidFill>
                          <a:latin typeface="Microsoft YaHei"/>
                        </a:rPr>
                        <a:t>=</a:t>
                      </a:r>
                      <a:r>
                        <a:rPr sz="890" b="0" i="1">
                          <a:solidFill>
                            <a:srgbClr val="1A1A1A"/>
                          </a:solidFill>
                          <a:latin typeface="Microsoft YaHei"/>
                        </a:rPr>
                        <a:t>v</a:t>
                      </a:r>
                      <a:r>
                        <a:rPr sz="620" b="0" i="1" baseline="30000">
                          <a:solidFill>
                            <a:srgbClr val="1A1A1A"/>
                          </a:solidFill>
                          <a:latin typeface="Microsoft YaHei"/>
                        </a:rPr>
                        <a:t>2</a:t>
                      </a:r>
                      <a:r>
                        <a:rPr sz="890" b="0" i="1">
                          <a:solidFill>
                            <a:srgbClr val="1A1A1A"/>
                          </a:solidFill>
                          <a:latin typeface="Microsoft YaHei"/>
                        </a:rPr>
                        <a:t>/(2</a:t>
                      </a:r>
                      <a:r>
                        <a:rPr sz="890" b="0" i="1">
                          <a:solidFill>
                            <a:srgbClr val="1A1A1A"/>
                          </a:solidFill>
                          <a:latin typeface="Microsoft YaHei"/>
                        </a:rPr>
                        <a:t>d</a:t>
                      </a:r>
                      <a:r>
                        <a:rPr sz="890" b="0" i="1">
                          <a:solidFill>
                            <a:srgbClr val="1A1A1A"/>
                          </a:solidFill>
                          <a:latin typeface="Microsoft YaHei"/>
                        </a:rPr>
                        <a:t>)</a:t>
                      </a:r>
                      <a:r>
                        <a:rPr sz="890" b="0" i="0">
                          <a:solidFill>
                            <a:srgbClr val="1A1A1A"/>
                          </a:solidFill>
                          <a:latin typeface="Microsoft YaHei"/>
                        </a:rPr>
                        <a:t>；</a:t>
                      </a:r>
                      <a:r>
                        <a:rPr sz="890" b="0" i="1">
                          <a:solidFill>
                            <a:srgbClr val="1A1A1A"/>
                          </a:solidFill>
                          <a:latin typeface="Microsoft YaHei"/>
                        </a:rPr>
                        <a:t>BTN</a:t>
                      </a:r>
                      <a:r>
                        <a:rPr sz="890" b="0" i="1">
                          <a:solidFill>
                            <a:srgbClr val="1A1A1A"/>
                          </a:solidFill>
                          <a:latin typeface="Microsoft YaHei"/>
                        </a:rPr>
                        <a:t>=</a:t>
                      </a:r>
                      <a:r>
                        <a:rPr sz="890" b="0" i="1">
                          <a:solidFill>
                            <a:srgbClr val="1A1A1A"/>
                          </a:solidFill>
                          <a:latin typeface="Microsoft YaHei"/>
                        </a:rPr>
                        <a:t>a</a:t>
                      </a:r>
                      <a:r>
                        <a:rPr sz="620" b="0" i="1" baseline="-25000">
                          <a:solidFill>
                            <a:srgbClr val="1A1A1A"/>
                          </a:solidFill>
                          <a:latin typeface="Microsoft YaHei"/>
                        </a:rPr>
                        <a:t>req</a:t>
                      </a:r>
                      <a:r>
                        <a:rPr sz="890" b="0" i="1">
                          <a:solidFill>
                            <a:srgbClr val="1A1A1A"/>
                          </a:solidFill>
                          <a:latin typeface="Microsoft YaHei"/>
                        </a:rPr>
                        <a:t>/</a:t>
                      </a:r>
                      <a:r>
                        <a:rPr sz="890" b="0" i="1">
                          <a:solidFill>
                            <a:srgbClr val="1A1A1A"/>
                          </a:solidFill>
                          <a:latin typeface="Microsoft YaHei"/>
                        </a:rPr>
                        <a:t>a</a:t>
                      </a:r>
                      <a:r>
                        <a:rPr sz="620" b="0" i="1" baseline="-25000">
                          <a:solidFill>
                            <a:srgbClr val="1A1A1A"/>
                          </a:solidFill>
                          <a:latin typeface="Microsoft YaHei"/>
                        </a:rPr>
                        <a:t>max</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把车速内生化</a:t>
                      </a:r>
                      <a:r>
                        <a:rPr sz="890" b="0" i="0">
                          <a:solidFill>
                            <a:srgbClr val="1A1A1A"/>
                          </a:solidFill>
                          <a:latin typeface="Microsoft YaHei"/>
                        </a:rPr>
                        <a:t>；BTN = 1 意味着碰撞物理上已不可避免。同族指标为 Takada 等（2014）的 DCA</a:t>
                      </a:r>
                    </a:p>
                  </a:txBody>
                  <a:tcPr marL="66675" marR="66675" marT="42862" marB="42862" anchor="t">
                    <a:noFill/>
                  </a:tcPr>
                </a:tc>
              </a:tr>
              <a:tr h="27890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τ 与光学膨胀率</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光学膨胀率；</a:t>
                      </a:r>
                      <a:r>
                        <a:rPr sz="890" b="0" i="1">
                          <a:solidFill>
                            <a:srgbClr val="1A1A1A"/>
                          </a:solidFill>
                          <a:latin typeface="Microsoft YaHei"/>
                        </a:rPr>
                        <a:t>τ</a:t>
                      </a:r>
                      <a:r>
                        <a:rPr sz="890" b="0" i="1">
                          <a:solidFill>
                            <a:srgbClr val="1A1A1A"/>
                          </a:solidFill>
                          <a:latin typeface="Microsoft YaHei"/>
                        </a:rPr>
                        <a:t> = </a:t>
                      </a:r>
                      <a:r>
                        <a:rPr sz="890" b="0" i="1">
                          <a:solidFill>
                            <a:srgbClr val="1A1A1A"/>
                          </a:solidFill>
                          <a:latin typeface="Microsoft YaHei"/>
                        </a:rPr>
                        <a:t>θ</a:t>
                      </a:r>
                      <a:r>
                        <a:rPr sz="890" b="0" i="1">
                          <a:solidFill>
                            <a:srgbClr val="1A1A1A"/>
                          </a:solidFill>
                          <a:latin typeface="Microsoft YaHei"/>
                        </a:rPr>
                        <a:t> / (</a:t>
                      </a:r>
                      <a:r>
                        <a:rPr sz="890" b="0" i="1">
                          <a:solidFill>
                            <a:srgbClr val="1A1A1A"/>
                          </a:solidFill>
                          <a:latin typeface="Microsoft YaHei"/>
                        </a:rPr>
                        <a:t>dθ</a:t>
                      </a:r>
                      <a:r>
                        <a:rPr sz="890" b="0" i="1">
                          <a:solidFill>
                            <a:srgbClr val="1A1A1A"/>
                          </a:solidFill>
                          <a:latin typeface="Microsoft YaHei"/>
                        </a:rPr>
                        <a:t>/</a:t>
                      </a:r>
                      <a:r>
                        <a:rPr sz="890" b="0" i="1">
                          <a:solidFill>
                            <a:srgbClr val="1A1A1A"/>
                          </a:solidFill>
                          <a:latin typeface="Microsoft YaHei"/>
                        </a:rPr>
                        <a:t>dt</a:t>
                      </a:r>
                      <a:r>
                        <a:rPr sz="890" b="0" i="1">
                          <a:solidFill>
                            <a:srgbClr val="1A1A1A"/>
                          </a:solidFill>
                          <a:latin typeface="Microsoft YaHei"/>
                        </a:rPr>
                        <a:t>)</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Lee（1976）；觉察阈值约 </a:t>
                      </a:r>
                      <a:r>
                        <a:rPr sz="890" b="1" i="0">
                          <a:solidFill>
                            <a:srgbClr val="1A1A1A"/>
                          </a:solidFill>
                          <a:latin typeface="Microsoft YaHei"/>
                        </a:rPr>
                        <a:t>0.003 rad/s</a:t>
                      </a:r>
                      <a:r>
                        <a:rPr sz="890" b="0" i="0">
                          <a:solidFill>
                            <a:srgbClr val="1A1A1A"/>
                          </a:solidFill>
                          <a:latin typeface="Microsoft YaHei"/>
                        </a:rPr>
                        <a:t>；由 </a:t>
                      </a:r>
                      <a:r>
                        <a:rPr sz="890" b="0" i="1">
                          <a:solidFill>
                            <a:srgbClr val="1A1A1A"/>
                          </a:solidFill>
                          <a:latin typeface="Microsoft YaHei"/>
                        </a:rPr>
                        <a:t>d</a:t>
                      </a:r>
                      <a:r>
                        <a:rPr sz="620" b="0" i="1" baseline="-25000">
                          <a:solidFill>
                            <a:srgbClr val="1A1A1A"/>
                          </a:solidFill>
                          <a:latin typeface="Microsoft YaHei"/>
                        </a:rPr>
                        <a:t>th</a:t>
                      </a:r>
                      <a:r>
                        <a:rPr sz="890" b="0" i="1">
                          <a:solidFill>
                            <a:srgbClr val="1A1A1A"/>
                          </a:solidFill>
                          <a:latin typeface="Microsoft YaHei"/>
                        </a:rPr>
                        <a:t> = √(</a:t>
                      </a:r>
                      <a:r>
                        <a:rPr sz="890" b="0" i="1">
                          <a:solidFill>
                            <a:srgbClr val="1A1A1A"/>
                          </a:solidFill>
                          <a:latin typeface="Microsoft YaHei"/>
                        </a:rPr>
                        <a:t>wv</a:t>
                      </a:r>
                      <a:r>
                        <a:rPr sz="890" b="0" i="1">
                          <a:solidFill>
                            <a:srgbClr val="1A1A1A"/>
                          </a:solidFill>
                          <a:latin typeface="Microsoft YaHei"/>
                        </a:rPr>
                        <a:t> / (</a:t>
                      </a:r>
                      <a:r>
                        <a:rPr sz="890" b="0" i="1">
                          <a:solidFill>
                            <a:srgbClr val="1A1A1A"/>
                          </a:solidFill>
                          <a:latin typeface="Microsoft YaHei"/>
                        </a:rPr>
                        <a:t>dθ</a:t>
                      </a:r>
                      <a:r>
                        <a:rPr sz="890" b="0" i="1">
                          <a:solidFill>
                            <a:srgbClr val="1A1A1A"/>
                          </a:solidFill>
                          <a:latin typeface="Microsoft YaHei"/>
                        </a:rPr>
                        <a:t>/</a:t>
                      </a:r>
                      <a:r>
                        <a:rPr sz="890" b="0" i="1">
                          <a:solidFill>
                            <a:srgbClr val="1A1A1A"/>
                          </a:solidFill>
                          <a:latin typeface="Microsoft YaHei"/>
                        </a:rPr>
                        <a:t>dt</a:t>
                      </a:r>
                      <a:r>
                        <a:rPr sz="890" b="0" i="1">
                          <a:solidFill>
                            <a:srgbClr val="1A1A1A"/>
                          </a:solidFill>
                          <a:latin typeface="Microsoft YaHei"/>
                        </a:rPr>
                        <a:t>)</a:t>
                      </a:r>
                      <a:r>
                        <a:rPr sz="620" b="0" i="1" baseline="-25000">
                          <a:solidFill>
                            <a:srgbClr val="1A1A1A"/>
                          </a:solidFill>
                          <a:latin typeface="Microsoft YaHei"/>
                        </a:rPr>
                        <a:t>th</a:t>
                      </a:r>
                      <a:r>
                        <a:rPr sz="890" b="0" i="1">
                          <a:solidFill>
                            <a:srgbClr val="1A1A1A"/>
                          </a:solidFill>
                          <a:latin typeface="Microsoft YaHei"/>
                        </a:rPr>
                        <a:t>)</a:t>
                      </a:r>
                      <a:r>
                        <a:rPr sz="890" b="0" i="0">
                          <a:solidFill>
                            <a:srgbClr val="1A1A1A"/>
                          </a:solidFill>
                          <a:latin typeface="Microsoft YaHei"/>
                        </a:rPr>
                        <a:t> 得 60 km/h 下 </a:t>
                      </a:r>
                      <a:r>
                        <a:rPr sz="890" b="1" i="0">
                          <a:solidFill>
                            <a:srgbClr val="1A1A1A"/>
                          </a:solidFill>
                          <a:latin typeface="Microsoft YaHei"/>
                        </a:rPr>
                        <a:t>TTC ≈ 3.2 s</a:t>
                      </a:r>
                    </a:p>
                  </a:txBody>
                  <a:tcPr marL="66675" marR="66675" marT="42862" marB="42862" anchor="t">
                    <a:solidFill>
                      <a:srgbClr val="FAFBFD"/>
                    </a:solidFill>
                  </a:tcPr>
                </a:tc>
              </a:tr>
              <a:tr h="278903">
                <a:tc>
                  <a:txBody>
                    <a:bodyPr wrap="square" lIns="0" rIns="0" tIns="0" bIns="0" anchor="t"/>
                    <a:lstStyle/>
                    <a:p>
                      <a:pPr algn="l">
                        <a:lnSpc>
                          <a:spcPct val="155000"/>
                        </a:lnSpc>
                        <a:spcBef>
                          <a:spcPts val="0"/>
                        </a:spcBef>
                        <a:spcAft>
                          <a:spcPts val="0"/>
                        </a:spcAft>
                      </a:pPr>
                      <a:r>
                        <a:rPr sz="890" b="1" i="1">
                          <a:solidFill>
                            <a:srgbClr val="1A1A1A"/>
                          </a:solidFill>
                          <a:latin typeface="Microsoft YaHei"/>
                        </a:rPr>
                        <a:t>t</a:t>
                      </a:r>
                      <a:r>
                        <a:rPr sz="620" b="1" i="1" baseline="-25000">
                          <a:solidFill>
                            <a:srgbClr val="1A1A1A"/>
                          </a:solidFill>
                          <a:latin typeface="Microsoft YaHei"/>
                        </a:rPr>
                        <a:t>0</a:t>
                      </a:r>
                      <a:r>
                        <a:rPr sz="890" b="1" i="0">
                          <a:solidFill>
                            <a:srgbClr val="1A1A1A"/>
                          </a:solidFill>
                          <a:latin typeface="Microsoft YaHei"/>
                        </a:rPr>
                        <a:t> / </a:t>
                      </a:r>
                      <a:r>
                        <a:rPr sz="890" b="1" i="1">
                          <a:solidFill>
                            <a:srgbClr val="1A1A1A"/>
                          </a:solidFill>
                          <a:latin typeface="Microsoft YaHei"/>
                        </a:rPr>
                        <a:t>Δt</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无辅助时的自发察觉时刻；</a:t>
                      </a:r>
                      <a:r>
                        <a:rPr sz="890" b="0" i="1">
                          <a:solidFill>
                            <a:srgbClr val="1A1A1A"/>
                          </a:solidFill>
                          <a:latin typeface="Microsoft YaHei"/>
                        </a:rPr>
                        <a:t>Δt</a:t>
                      </a:r>
                      <a:r>
                        <a:rPr sz="890" b="0" i="1">
                          <a:solidFill>
                            <a:srgbClr val="1A1A1A"/>
                          </a:solidFill>
                          <a:latin typeface="Microsoft YaHei"/>
                        </a:rPr>
                        <a:t>=</a:t>
                      </a:r>
                      <a:r>
                        <a:rPr sz="890" b="0" i="1">
                          <a:solidFill>
                            <a:srgbClr val="1A1A1A"/>
                          </a:solidFill>
                          <a:latin typeface="Microsoft YaHei"/>
                        </a:rPr>
                        <a:t>t</a:t>
                      </a:r>
                      <a:r>
                        <a:rPr sz="620" b="0" i="1" baseline="-25000">
                          <a:solidFill>
                            <a:srgbClr val="1A1A1A"/>
                          </a:solidFill>
                          <a:latin typeface="Microsoft YaHei"/>
                        </a:rPr>
                        <a:t>0</a:t>
                      </a:r>
                      <a:r>
                        <a:rPr sz="890" b="0" i="1">
                          <a:solidFill>
                            <a:srgbClr val="1A1A1A"/>
                          </a:solidFill>
                          <a:latin typeface="Microsoft YaHei"/>
                        </a:rPr>
                        <a:t>-</a:t>
                      </a:r>
                      <a:r>
                        <a:rPr sz="890" b="0" i="1">
                          <a:solidFill>
                            <a:srgbClr val="1A1A1A"/>
                          </a:solidFill>
                          <a:latin typeface="Microsoft YaHei"/>
                        </a:rPr>
                        <a:t>t</a:t>
                      </a:r>
                      <a:r>
                        <a:rPr sz="620" b="0" i="1" baseline="-25000">
                          <a:solidFill>
                            <a:srgbClr val="1A1A1A"/>
                          </a:solidFill>
                          <a:latin typeface="Microsoft YaHei"/>
                        </a:rPr>
                        <a:t>warn</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本研究的核心主张</a:t>
                      </a:r>
                      <a:r>
                        <a:rPr sz="890" b="0" i="0">
                          <a:solidFill>
                            <a:srgbClr val="1A1A1A"/>
                          </a:solidFill>
                          <a:latin typeface="Microsoft YaHei"/>
                        </a:rPr>
                        <a:t>：决定预警有无信息增益的不是绝对 TTC，而是 </a:t>
                      </a:r>
                      <a:r>
                        <a:rPr sz="890" b="0" i="1">
                          <a:solidFill>
                            <a:srgbClr val="1A1A1A"/>
                          </a:solidFill>
                          <a:latin typeface="Microsoft YaHei"/>
                        </a:rPr>
                        <a:t>Δt</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warning lag</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触发条件满足 → 图形上屏</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实车可达 </a:t>
                      </a:r>
                      <a:r>
                        <a:rPr sz="890" b="1" i="0">
                          <a:solidFill>
                            <a:srgbClr val="1A1A1A"/>
                          </a:solidFill>
                          <a:latin typeface="Microsoft YaHei"/>
                        </a:rPr>
                        <a:t>1.47 s</a:t>
                      </a:r>
                      <a:r>
                        <a:rPr sz="890" b="0" i="0">
                          <a:solidFill>
                            <a:srgbClr val="1A1A1A"/>
                          </a:solidFill>
                          <a:latin typeface="Microsoft YaHei"/>
                        </a:rPr>
                        <a:t>（Thammakaroon 与 Tangamchit, 2012）；本库</a:t>
                      </a:r>
                      <a:r>
                        <a:rPr sz="890" b="1" i="0">
                          <a:solidFill>
                            <a:srgbClr val="1A1A1A"/>
                          </a:solidFill>
                          <a:latin typeface="Microsoft YaHei"/>
                        </a:rPr>
                        <a:t>几乎无人报告</a:t>
                      </a:r>
                    </a:p>
                  </a:txBody>
                  <a:tcPr marL="66675" marR="66675" marT="42862" marB="42862" anchor="t">
                    <a:solidFill>
                      <a:srgbClr val="FAFBFD"/>
                    </a:solidFill>
                  </a:tcPr>
                </a:tc>
              </a:tr>
            </a:tbl>
          </a:graphicData>
        </a:graphic>
      </p:graphicFrame>
      <p:sp>
        <p:nvSpPr>
          <p:cNvPr id="7" name="Rectangle 6"/>
          <p:cNvSpPr/>
          <p:nvPr/>
        </p:nvSpPr>
        <p:spPr>
          <a:xfrm>
            <a:off x="438150" y="3057227"/>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057227"/>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3142952"/>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为什么必须引入 BTN：</a:t>
            </a:r>
            <a:r>
              <a:rPr sz="990" b="0" i="0">
                <a:solidFill>
                  <a:srgbClr val="7A1F1F"/>
                </a:solidFill>
                <a:latin typeface="Microsoft YaHei"/>
              </a:rPr>
              <a:t>同一个 TTC = 2.0 s，在 40 km/h 下只需 BTN 0.35 的温和制动，在 80 km/h 下已需 BTN 0.69 的接近全力制动。既有研究车速跨度从 24 km/h 到 60 km/h 不等——</a:t>
            </a:r>
            <a:r>
              <a:rPr sz="990" b="1" i="0">
                <a:solidFill>
                  <a:srgbClr val="7A1F1F"/>
                </a:solidFill>
                <a:latin typeface="Microsoft YaHei"/>
              </a:rPr>
              <a:t>这正是结论互相冲突的一个结构性原因</a:t>
            </a:r>
            <a:r>
              <a:rPr sz="990" b="0" i="0">
                <a:solidFill>
                  <a:srgbClr val="7A1F1F"/>
                </a:solidFill>
                <a:latin typeface="Microsoft YaHei"/>
              </a:rPr>
              <a:t>。</a:t>
            </a:r>
          </a:p>
        </p:txBody>
      </p:sp>
      <p:sp>
        <p:nvSpPr>
          <p:cNvPr id="10" name="TextBox 9"/>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制动威胁数的三重角色与自变量依据</a:t>
            </a:r>
          </a:p>
        </p:txBody>
      </p:sp>
      <p:sp>
        <p:nvSpPr>
          <p:cNvPr id="4" name="Rounded Rectangle 3"/>
          <p:cNvSpPr/>
          <p:nvPr/>
        </p:nvSpPr>
        <p:spPr>
          <a:xfrm>
            <a:off x="11219705" y="209550"/>
            <a:ext cx="53414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24480" y="238125"/>
            <a:ext cx="3626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2.1.3b</a:t>
            </a:r>
          </a:p>
        </p:txBody>
      </p:sp>
      <p:sp>
        <p:nvSpPr>
          <p:cNvPr id="6" name="Rectangle 5"/>
          <p:cNvSpPr/>
          <p:nvPr/>
        </p:nvSpPr>
        <p:spPr>
          <a:xfrm>
            <a:off x="438150" y="762000"/>
            <a:ext cx="11315700" cy="694134"/>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94134"/>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13159"/>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结论先行：</a:t>
            </a:r>
            <a:r>
              <a:rPr sz="1090" b="0" i="0">
                <a:solidFill>
                  <a:srgbClr val="2F528F"/>
                </a:solidFill>
                <a:latin typeface="Microsoft YaHei"/>
              </a:rPr>
              <a:t>制动威胁数（brake threat number, BTN）是</a:t>
            </a:r>
            <a:r>
              <a:rPr sz="1090" b="1" i="0">
                <a:solidFill>
                  <a:srgbClr val="2F528F"/>
                </a:solidFill>
                <a:latin typeface="Microsoft YaHei"/>
              </a:rPr>
              <a:t>无量纲运动学比值</a:t>
            </a:r>
            <a:r>
              <a:rPr sz="1090" b="0" i="0">
                <a:solidFill>
                  <a:srgbClr val="2F528F"/>
                </a:solidFill>
                <a:latin typeface="Microsoft YaHei"/>
              </a:rPr>
              <a:t>（0–1），</a:t>
            </a:r>
            <a:r>
              <a:rPr sz="1090" b="1" i="0">
                <a:solidFill>
                  <a:srgbClr val="2F528F"/>
                </a:solidFill>
                <a:latin typeface="Microsoft YaHei"/>
              </a:rPr>
              <a:t>既非时刻亦非时长</a:t>
            </a:r>
            <a:r>
              <a:rPr sz="1090" b="0" i="0">
                <a:solidFill>
                  <a:srgbClr val="2F528F"/>
                </a:solidFill>
                <a:latin typeface="Microsoft YaHei"/>
              </a:rPr>
              <a:t>。</a:t>
            </a:r>
            <a:r>
              <a:rPr sz="1090" b="0" i="1">
                <a:solidFill>
                  <a:srgbClr val="2F528F"/>
                </a:solidFill>
                <a:latin typeface="Microsoft YaHei"/>
              </a:rPr>
              <a:t>BTN</a:t>
            </a:r>
            <a:r>
              <a:rPr sz="1090" b="0" i="1">
                <a:solidFill>
                  <a:srgbClr val="2F528F"/>
                </a:solidFill>
                <a:latin typeface="Microsoft YaHei"/>
              </a:rPr>
              <a:t> = </a:t>
            </a:r>
            <a:r>
              <a:rPr sz="1090" b="0" i="1">
                <a:solidFill>
                  <a:srgbClr val="2F528F"/>
                </a:solidFill>
                <a:latin typeface="Microsoft YaHei"/>
              </a:rPr>
              <a:t>a</a:t>
            </a:r>
            <a:r>
              <a:rPr sz="760" b="0" i="1" baseline="-25000">
                <a:solidFill>
                  <a:srgbClr val="2F528F"/>
                </a:solidFill>
                <a:latin typeface="Microsoft YaHei"/>
              </a:rPr>
              <a:t>req</a:t>
            </a:r>
            <a:r>
              <a:rPr sz="1090" b="0" i="1">
                <a:solidFill>
                  <a:srgbClr val="2F528F"/>
                </a:solidFill>
                <a:latin typeface="Microsoft YaHei"/>
              </a:rPr>
              <a:t> / </a:t>
            </a:r>
            <a:r>
              <a:rPr sz="1090" b="0" i="1">
                <a:solidFill>
                  <a:srgbClr val="2F528F"/>
                </a:solidFill>
                <a:latin typeface="Microsoft YaHei"/>
              </a:rPr>
              <a:t>a</a:t>
            </a:r>
            <a:r>
              <a:rPr sz="760" b="0" i="1" baseline="-25000">
                <a:solidFill>
                  <a:srgbClr val="2F528F"/>
                </a:solidFill>
                <a:latin typeface="Microsoft YaHei"/>
              </a:rPr>
              <a:t>max</a:t>
            </a:r>
            <a:r>
              <a:rPr sz="1090" b="0" i="0">
                <a:solidFill>
                  <a:srgbClr val="2F528F"/>
                </a:solidFill>
                <a:latin typeface="Microsoft YaHei"/>
              </a:rPr>
              <a:t>，其中 </a:t>
            </a:r>
            <a:r>
              <a:rPr sz="1090" b="0" i="1">
                <a:solidFill>
                  <a:srgbClr val="2F528F"/>
                </a:solidFill>
                <a:latin typeface="Microsoft YaHei"/>
              </a:rPr>
              <a:t>a</a:t>
            </a:r>
            <a:r>
              <a:rPr sz="760" b="0" i="1" baseline="-25000">
                <a:solidFill>
                  <a:srgbClr val="2F528F"/>
                </a:solidFill>
                <a:latin typeface="Microsoft YaHei"/>
              </a:rPr>
              <a:t>req</a:t>
            </a:r>
            <a:r>
              <a:rPr sz="1090" b="0" i="1">
                <a:solidFill>
                  <a:srgbClr val="2F528F"/>
                </a:solidFill>
                <a:latin typeface="Microsoft YaHei"/>
              </a:rPr>
              <a:t> = </a:t>
            </a:r>
            <a:r>
              <a:rPr sz="1090" b="0" i="1">
                <a:solidFill>
                  <a:srgbClr val="2F528F"/>
                </a:solidFill>
                <a:latin typeface="Microsoft YaHei"/>
              </a:rPr>
              <a:t>v</a:t>
            </a:r>
            <a:r>
              <a:rPr sz="760" b="0" i="1" baseline="30000">
                <a:solidFill>
                  <a:srgbClr val="2F528F"/>
                </a:solidFill>
                <a:latin typeface="Microsoft YaHei"/>
              </a:rPr>
              <a:t>2</a:t>
            </a:r>
            <a:r>
              <a:rPr sz="1090" b="0" i="1">
                <a:solidFill>
                  <a:srgbClr val="2F528F"/>
                </a:solidFill>
                <a:latin typeface="Microsoft YaHei"/>
              </a:rPr>
              <a:t> / (2</a:t>
            </a:r>
            <a:r>
              <a:rPr sz="1090" b="0" i="1">
                <a:solidFill>
                  <a:srgbClr val="2F528F"/>
                </a:solidFill>
                <a:latin typeface="Microsoft YaHei"/>
              </a:rPr>
              <a:t>d</a:t>
            </a:r>
            <a:r>
              <a:rPr sz="760" b="0" i="1" baseline="-25000">
                <a:solidFill>
                  <a:srgbClr val="2F528F"/>
                </a:solidFill>
                <a:latin typeface="Microsoft YaHei"/>
              </a:rPr>
              <a:t>conflict</a:t>
            </a:r>
            <a:r>
              <a:rPr sz="1090" b="0" i="1">
                <a:solidFill>
                  <a:srgbClr val="2F528F"/>
                </a:solidFill>
                <a:latin typeface="Microsoft YaHei"/>
              </a:rPr>
              <a:t>)</a:t>
            </a:r>
            <a:r>
              <a:rPr sz="1090" b="0" i="0">
                <a:solidFill>
                  <a:srgbClr val="2F528F"/>
                </a:solidFill>
                <a:latin typeface="Microsoft YaHei"/>
              </a:rPr>
              <a:t>；</a:t>
            </a:r>
            <a:r>
              <a:rPr sz="1090" b="1" i="0">
                <a:solidFill>
                  <a:srgbClr val="2F528F"/>
                </a:solidFill>
                <a:latin typeface="Microsoft YaHei"/>
              </a:rPr>
              <a:t>BTN = 1 即碰撞在物理上已不可避免</a:t>
            </a:r>
            <a:r>
              <a:rPr sz="1090" b="0" i="0">
                <a:solidFill>
                  <a:srgbClr val="2F528F"/>
                </a:solidFill>
                <a:latin typeface="Microsoft YaHei"/>
              </a:rPr>
              <a:t>。本研究在三个层面上使用它，性质各不相同，故须分列。</a:t>
            </a:r>
          </a:p>
        </p:txBody>
      </p:sp>
      <p:graphicFrame>
        <p:nvGraphicFramePr>
          <p:cNvPr id="9" name="Table 8"/>
          <p:cNvGraphicFramePr>
            <a:graphicFrameLocks noGrp="1"/>
          </p:cNvGraphicFramePr>
          <p:nvPr/>
        </p:nvGraphicFramePr>
        <p:xfrm>
          <a:off x="438150" y="1532334"/>
          <a:ext cx="11315698" cy="1793080"/>
        </p:xfrm>
        <a:graphic>
          <a:graphicData uri="http://schemas.openxmlformats.org/drawingml/2006/table">
            <a:tbl>
              <a:tblPr>
                <a:tableStyleId>{5C22544A-7EE6-4342-B048-85BDC9FD1C3A}</a:tableStyleId>
              </a:tblPr>
              <a:tblGrid>
                <a:gridCol w="1697235"/>
                <a:gridCol w="3847207"/>
                <a:gridCol w="2715666"/>
                <a:gridCol w="3055590"/>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层面</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用法</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在设计中的性质</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出处与依据</a:t>
                      </a:r>
                    </a:p>
                  </a:txBody>
                  <a:tcPr marL="66675" marR="66675" marT="52387" marB="52387" anchor="t">
                    <a:solidFill>
                      <a:srgbClr val="4472C4"/>
                    </a:solidFill>
                  </a:tcPr>
                </a:tc>
              </a:tr>
              <a:tr h="62418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① 算法侧</a:t>
                      </a:r>
                    </a:p>
                    <a:p>
                      <a:pPr algn="l">
                        <a:lnSpc>
                          <a:spcPct val="155000"/>
                        </a:lnSpc>
                        <a:spcBef>
                          <a:spcPts val="0"/>
                        </a:spcBef>
                        <a:spcAft>
                          <a:spcPts val="0"/>
                        </a:spcAft>
                      </a:pPr>
                      <a:r>
                        <a:rPr sz="890" b="1" i="0">
                          <a:solidFill>
                            <a:srgbClr val="1A1A1A"/>
                          </a:solidFill>
                          <a:latin typeface="Microsoft YaHei"/>
                        </a:rPr>
                        <a:t>触发量</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预警触发条件写作 </a:t>
                      </a:r>
                      <a:r>
                        <a:rPr sz="890" b="0" i="1">
                          <a:solidFill>
                            <a:srgbClr val="1A1A1A"/>
                          </a:solidFill>
                          <a:latin typeface="Microsoft YaHei"/>
                        </a:rPr>
                        <a:t>BTN ≥ θ</a:t>
                      </a:r>
                      <a:r>
                        <a:rPr sz="890" b="0" i="0">
                          <a:solidFill>
                            <a:srgbClr val="1A1A1A"/>
                          </a:solidFill>
                          <a:latin typeface="Microsoft YaHei"/>
                        </a:rPr>
                        <a:t>，替代 </a:t>
                      </a:r>
                      <a:r>
                        <a:rPr sz="890" b="0" i="1">
                          <a:solidFill>
                            <a:srgbClr val="1A1A1A"/>
                          </a:solidFill>
                          <a:latin typeface="Microsoft YaHei"/>
                        </a:rPr>
                        <a:t>TTC ≤ θ</a:t>
                      </a:r>
                      <a:r>
                        <a:rPr sz="890" b="0" i="0">
                          <a:solidFill>
                            <a:srgbClr val="1A1A1A"/>
                          </a:solidFill>
                          <a:latin typeface="Microsoft YaHei"/>
                        </a:rPr>
                        <a:t>；实验 2 中作为</a:t>
                      </a:r>
                      <a:r>
                        <a:rPr sz="890" b="1" i="0">
                          <a:solidFill>
                            <a:srgbClr val="1A1A1A"/>
                          </a:solidFill>
                          <a:latin typeface="Microsoft YaHei"/>
                        </a:rPr>
                        <a:t>触发准则类型</a:t>
                      </a:r>
                      <a:r>
                        <a:rPr sz="890" b="0" i="0">
                          <a:solidFill>
                            <a:srgbClr val="1A1A1A"/>
                          </a:solidFill>
                          <a:latin typeface="Microsoft YaHei"/>
                        </a:rPr>
                        <a:t>这一自变量的</a:t>
                      </a:r>
                      <a:r>
                        <a:rPr sz="890" b="1" i="0">
                          <a:solidFill>
                            <a:srgbClr val="1A1A1A"/>
                          </a:solidFill>
                          <a:latin typeface="Microsoft YaHei"/>
                        </a:rPr>
                        <a:t>一个水平</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自变量的水平</a:t>
                      </a:r>
                    </a:p>
                    <a:p>
                      <a:pPr algn="l">
                        <a:lnSpc>
                          <a:spcPct val="160000"/>
                        </a:lnSpc>
                        <a:spcBef>
                          <a:spcPts val="0"/>
                        </a:spcBef>
                        <a:spcAft>
                          <a:spcPts val="0"/>
                        </a:spcAft>
                      </a:pPr>
                      <a:r>
                        <a:rPr sz="890" b="0" i="0">
                          <a:solidFill>
                            <a:srgbClr val="1A1A1A"/>
                          </a:solidFill>
                          <a:latin typeface="Microsoft YaHei"/>
                        </a:rPr>
                        <a:t>（准则类型，二分类：固定时间阈值／减速度归一化）</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Takada 等（2014）的避险减速度 DCA；Chen 等（2013）；Coelingh 等（2010）；量产自动紧急制动普遍采用同族量</a:t>
                      </a:r>
                    </a:p>
                  </a:txBody>
                  <a:tcPr marL="66675" marR="66675" marT="42862" marB="42862" anchor="t">
                    <a:solidFill>
                      <a:srgbClr val="FAFBFD"/>
                    </a:solidFill>
                  </a:tcPr>
                </a:tc>
              </a:tr>
              <a:tr h="44916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② 材料侧</a:t>
                      </a:r>
                    </a:p>
                    <a:p>
                      <a:pPr algn="l">
                        <a:lnSpc>
                          <a:spcPct val="155000"/>
                        </a:lnSpc>
                        <a:spcBef>
                          <a:spcPts val="0"/>
                        </a:spcBef>
                        <a:spcAft>
                          <a:spcPts val="0"/>
                        </a:spcAft>
                      </a:pPr>
                      <a:r>
                        <a:rPr sz="890" b="1" i="0">
                          <a:solidFill>
                            <a:srgbClr val="1A1A1A"/>
                          </a:solidFill>
                          <a:latin typeface="Microsoft YaHei"/>
                        </a:rPr>
                        <a:t>难度标度</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事后计算每个试次在预警时刻的 BTN，核验各条件的</a:t>
                      </a:r>
                      <a:r>
                        <a:rPr sz="890" b="1" i="0">
                          <a:solidFill>
                            <a:srgbClr val="1A1A1A"/>
                          </a:solidFill>
                          <a:latin typeface="Microsoft YaHei"/>
                        </a:rPr>
                        <a:t>运动学难度是否等价</a:t>
                      </a:r>
                      <a:r>
                        <a:rPr sz="890" b="0" i="0">
                          <a:solidFill>
                            <a:srgbClr val="1A1A1A"/>
                          </a:solidFill>
                          <a:latin typeface="Microsoft YaHei"/>
                        </a:rPr>
                        <a:t>，并作跨车速比较的共同刻度</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操纵检查量与协变量</a:t>
                      </a:r>
                    </a:p>
                    <a:p>
                      <a:pPr algn="l">
                        <a:lnSpc>
                          <a:spcPct val="160000"/>
                        </a:lnSpc>
                        <a:spcBef>
                          <a:spcPts val="0"/>
                        </a:spcBef>
                        <a:spcAft>
                          <a:spcPts val="0"/>
                        </a:spcAft>
                      </a:pPr>
                      <a:r>
                        <a:rPr sz="890" b="0" i="0">
                          <a:solidFill>
                            <a:srgbClr val="1A1A1A"/>
                          </a:solidFill>
                          <a:latin typeface="Microsoft YaHei"/>
                        </a:rPr>
                        <a:t>（非自变量）</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表 2-3 的换算；本研究方法学要求</a:t>
                      </a:r>
                    </a:p>
                  </a:txBody>
                  <a:tcPr marL="66675" marR="66675" marT="42862" marB="42862" anchor="t">
                    <a:noFill/>
                  </a:tcPr>
                </a:tc>
              </a:tr>
              <a:tr h="453032">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③ 空间侧</a:t>
                      </a:r>
                    </a:p>
                    <a:p>
                      <a:pPr algn="l">
                        <a:lnSpc>
                          <a:spcPct val="155000"/>
                        </a:lnSpc>
                        <a:spcBef>
                          <a:spcPts val="0"/>
                        </a:spcBef>
                        <a:spcAft>
                          <a:spcPts val="0"/>
                        </a:spcAft>
                      </a:pPr>
                      <a:r>
                        <a:rPr sz="890" b="1" i="0">
                          <a:solidFill>
                            <a:srgbClr val="1A1A1A"/>
                          </a:solidFill>
                          <a:latin typeface="Microsoft YaHei"/>
                        </a:rPr>
                        <a:t>映射量</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实验 5 的</a:t>
                      </a:r>
                      <a:r>
                        <a:rPr sz="890" b="1" i="0">
                          <a:solidFill>
                            <a:srgbClr val="1A1A1A"/>
                          </a:solidFill>
                          <a:latin typeface="Microsoft YaHei"/>
                        </a:rPr>
                        <a:t>风险量级空间映射</a:t>
                      </a:r>
                      <a:r>
                        <a:rPr sz="890" b="0" i="0">
                          <a:solidFill>
                            <a:srgbClr val="1A1A1A"/>
                          </a:solidFill>
                          <a:latin typeface="Microsoft YaHei"/>
                        </a:rPr>
                        <a:t>以 BTN 为映射源，即图形几何随 BTN 缩放</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自变量的映射源</a:t>
                      </a:r>
                    </a:p>
                    <a:p>
                      <a:pPr algn="l">
                        <a:lnSpc>
                          <a:spcPct val="160000"/>
                        </a:lnSpc>
                        <a:spcBef>
                          <a:spcPts val="0"/>
                        </a:spcBef>
                        <a:spcAft>
                          <a:spcPts val="0"/>
                        </a:spcAft>
                      </a:pPr>
                      <a:r>
                        <a:rPr sz="890" b="0" i="0">
                          <a:solidFill>
                            <a:srgbClr val="1A1A1A"/>
                          </a:solidFill>
                          <a:latin typeface="Microsoft YaHei"/>
                        </a:rPr>
                        <a:t>（连续量 → 视觉量的转换基准）</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Suzuki 等（2010）的 </a:t>
                      </a:r>
                      <a:r>
                        <a:rPr sz="890" b="0" i="1">
                          <a:solidFill>
                            <a:srgbClr val="1A1A1A"/>
                          </a:solidFill>
                          <a:latin typeface="Microsoft YaHei"/>
                        </a:rPr>
                        <a:t>R</a:t>
                      </a:r>
                      <a:r>
                        <a:rPr sz="620" b="0" i="1" baseline="-25000">
                          <a:solidFill>
                            <a:srgbClr val="1A1A1A"/>
                          </a:solidFill>
                          <a:latin typeface="Microsoft YaHei"/>
                        </a:rPr>
                        <a:t>x</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tc</a:t>
                      </a:r>
                      <a:r>
                        <a:rPr sz="890" b="0" i="1">
                          <a:solidFill>
                            <a:srgbClr val="1A1A1A"/>
                          </a:solidFill>
                          <a:latin typeface="Microsoft YaHei"/>
                        </a:rPr>
                        <a:t>·</a:t>
                      </a:r>
                      <a:r>
                        <a:rPr sz="890" b="0" i="1">
                          <a:solidFill>
                            <a:srgbClr val="1A1A1A"/>
                          </a:solidFill>
                          <a:latin typeface="Microsoft YaHei"/>
                        </a:rPr>
                        <a:t>V</a:t>
                      </a:r>
                      <a:r>
                        <a:rPr sz="620" b="0" i="1" baseline="-25000">
                          <a:solidFill>
                            <a:srgbClr val="1A1A1A"/>
                          </a:solidFill>
                          <a:latin typeface="Microsoft YaHei"/>
                        </a:rPr>
                        <a:t>car</a:t>
                      </a:r>
                      <a:r>
                        <a:rPr sz="890" b="0" i="0">
                          <a:solidFill>
                            <a:srgbClr val="1A1A1A"/>
                          </a:solidFill>
                          <a:latin typeface="Microsoft YaHei"/>
                        </a:rPr>
                        <a:t> 属同源做法（§2.3.7）</a:t>
                      </a:r>
                    </a:p>
                  </a:txBody>
                  <a:tcPr marL="66675" marR="66675" marT="42862" marB="42862" anchor="t">
                    <a:solidFill>
                      <a:srgbClr val="FAFBFD"/>
                    </a:solidFill>
                  </a:tcPr>
                </a:tc>
              </a:tr>
            </a:tbl>
          </a:graphicData>
        </a:graphic>
      </p:graphicFrame>
      <p:sp>
        <p:nvSpPr>
          <p:cNvPr id="10" name="Rounded Rectangle 9"/>
          <p:cNvSpPr/>
          <p:nvPr/>
        </p:nvSpPr>
        <p:spPr>
          <a:xfrm>
            <a:off x="438150" y="3406378"/>
            <a:ext cx="5572125" cy="2667000"/>
          </a:xfrm>
          <a:prstGeom prst="roundRect">
            <a:avLst>
              <a:gd name="adj" fmla="val 2500"/>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71500" y="3768328"/>
            <a:ext cx="53054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 y="3511153"/>
            <a:ext cx="53435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选它作自变量水平（角色①）的三条依据</a:t>
            </a:r>
          </a:p>
        </p:txBody>
      </p:sp>
      <p:sp>
        <p:nvSpPr>
          <p:cNvPr id="13" name="TextBox 12"/>
          <p:cNvSpPr txBox="1"/>
          <p:nvPr/>
        </p:nvSpPr>
        <p:spPr>
          <a:xfrm>
            <a:off x="638175" y="3835003"/>
            <a:ext cx="5276850" cy="800100"/>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A1A1A"/>
                </a:solidFill>
                <a:latin typeface="Microsoft YaHei"/>
              </a:rPr>
              <a:t>物理依据（决定性）。</a:t>
            </a:r>
            <a:r>
              <a:rPr sz="1120" b="0" i="0">
                <a:solidFill>
                  <a:srgbClr val="1A1A1A"/>
                </a:solidFill>
                <a:latin typeface="Microsoft YaHei"/>
              </a:rPr>
              <a:t>TTC 2 s 在 40 km/h 下 BTN 0.35（温和制动）、在 80 km/h 下 BTN 0.69（接近全力）——</a:t>
            </a:r>
            <a:r>
              <a:rPr sz="1120" b="1" i="0">
                <a:solidFill>
                  <a:srgbClr val="1A1A1A"/>
                </a:solidFill>
                <a:latin typeface="Microsoft YaHei"/>
              </a:rPr>
              <a:t>固定秒数在物理上不可跨车速迁移</a:t>
            </a:r>
            <a:r>
              <a:rPr sz="1120" b="0" i="0">
                <a:solidFill>
                  <a:srgbClr val="1A1A1A"/>
                </a:solidFill>
                <a:latin typeface="Microsoft YaHei"/>
              </a:rPr>
              <a:t>，而 BTN 已把车速纳入分母。</a:t>
            </a:r>
          </a:p>
        </p:txBody>
      </p:sp>
      <p:sp>
        <p:nvSpPr>
          <p:cNvPr id="14" name="TextBox 13"/>
          <p:cNvSpPr txBox="1"/>
          <p:nvPr/>
        </p:nvSpPr>
        <p:spPr>
          <a:xfrm>
            <a:off x="638175" y="4625578"/>
            <a:ext cx="5276850" cy="542925"/>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A1A1A"/>
                </a:solidFill>
                <a:latin typeface="Microsoft YaHei"/>
              </a:rPr>
              <a:t>算法侧的一致主张 + 人因侧的零对照。</a:t>
            </a:r>
            <a:r>
              <a:rPr sz="1120" b="0" i="0">
                <a:solidFill>
                  <a:srgbClr val="1A1A1A"/>
                </a:solidFill>
                <a:latin typeface="Microsoft YaHei"/>
              </a:rPr>
              <a:t>四篇算法侧研究一致主张以运动学量触发，但</a:t>
            </a:r>
            <a:r>
              <a:rPr sz="1120" b="1" i="0">
                <a:solidFill>
                  <a:srgbClr val="1A1A1A"/>
                </a:solidFill>
                <a:latin typeface="Microsoft YaHei"/>
              </a:rPr>
              <a:t>无一与固定阈值做人因对照</a:t>
            </a:r>
            <a:r>
              <a:rPr sz="1120" b="0" i="0">
                <a:solidFill>
                  <a:srgbClr val="1A1A1A"/>
                </a:solidFill>
                <a:latin typeface="Microsoft YaHei"/>
              </a:rPr>
              <a:t>——此即空白 G2。</a:t>
            </a:r>
          </a:p>
        </p:txBody>
      </p:sp>
      <p:sp>
        <p:nvSpPr>
          <p:cNvPr id="15" name="TextBox 14"/>
          <p:cNvSpPr txBox="1"/>
          <p:nvPr/>
        </p:nvSpPr>
        <p:spPr>
          <a:xfrm>
            <a:off x="638175" y="5158978"/>
            <a:ext cx="5276850" cy="819150"/>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A1A1A"/>
                </a:solidFill>
                <a:latin typeface="Microsoft YaHei"/>
              </a:rPr>
              <a:t>与因变量量纲一致。</a:t>
            </a:r>
            <a:r>
              <a:rPr sz="1120" b="0" i="0">
                <a:solidFill>
                  <a:srgbClr val="1A1A1A"/>
                </a:solidFill>
                <a:latin typeface="Microsoft YaHei"/>
              </a:rPr>
              <a:t>安全绩效终点（峰值减速度、</a:t>
            </a:r>
            <a:r>
              <a:rPr sz="1120" b="0" i="1">
                <a:solidFill>
                  <a:srgbClr val="1A1A1A"/>
                </a:solidFill>
                <a:latin typeface="Microsoft YaHei"/>
              </a:rPr>
              <a:t>a</a:t>
            </a:r>
            <a:r>
              <a:rPr sz="790" b="0" i="1" baseline="-25000">
                <a:solidFill>
                  <a:srgbClr val="1A1A1A"/>
                </a:solidFill>
                <a:latin typeface="Microsoft YaHei"/>
              </a:rPr>
              <a:t>req</a:t>
            </a:r>
            <a:r>
              <a:rPr sz="1120" b="0" i="0">
                <a:solidFill>
                  <a:srgbClr val="1A1A1A"/>
                </a:solidFill>
                <a:latin typeface="Microsoft YaHei"/>
              </a:rPr>
              <a:t> 可行域）与代价终点（制动平顺性）均为减速度量纲，以 BTN 触发可使自变量与因变量落在同一物理量上。</a:t>
            </a:r>
          </a:p>
        </p:txBody>
      </p:sp>
      <p:sp>
        <p:nvSpPr>
          <p:cNvPr id="16" name="Rounded Rectangle 15"/>
          <p:cNvSpPr/>
          <p:nvPr/>
        </p:nvSpPr>
        <p:spPr>
          <a:xfrm>
            <a:off x="6181725" y="3406378"/>
            <a:ext cx="5572125" cy="2667000"/>
          </a:xfrm>
          <a:prstGeom prst="roundRect">
            <a:avLst>
              <a:gd name="adj" fmla="val 2500"/>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15075" y="3768328"/>
            <a:ext cx="530542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5075" y="3511153"/>
            <a:ext cx="53435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C00000"/>
                </a:solidFill>
                <a:latin typeface="Microsoft YaHei"/>
              </a:rPr>
              <a:t>须显式声明的限制与一处易误读点</a:t>
            </a:r>
          </a:p>
        </p:txBody>
      </p:sp>
      <p:sp>
        <p:nvSpPr>
          <p:cNvPr id="19" name="TextBox 18"/>
          <p:cNvSpPr txBox="1"/>
          <p:nvPr/>
        </p:nvSpPr>
        <p:spPr>
          <a:xfrm>
            <a:off x="6381750" y="3835003"/>
            <a:ext cx="5276850" cy="819150"/>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A1A1A"/>
                </a:solidFill>
                <a:latin typeface="Microsoft YaHei"/>
              </a:rPr>
              <a:t>分母敏感。</a:t>
            </a:r>
            <a:r>
              <a:rPr sz="1120" b="0" i="0">
                <a:solidFill>
                  <a:srgbClr val="1A1A1A"/>
                </a:solidFill>
                <a:latin typeface="Microsoft YaHei"/>
              </a:rPr>
              <a:t>BTN 的绝对值取决于 </a:t>
            </a:r>
            <a:r>
              <a:rPr sz="1120" b="0" i="1">
                <a:solidFill>
                  <a:srgbClr val="1A1A1A"/>
                </a:solidFill>
                <a:latin typeface="Microsoft YaHei"/>
              </a:rPr>
              <a:t>a</a:t>
            </a:r>
            <a:r>
              <a:rPr sz="790" b="0" i="1" baseline="-25000">
                <a:solidFill>
                  <a:srgbClr val="1A1A1A"/>
                </a:solidFill>
                <a:latin typeface="Microsoft YaHei"/>
              </a:rPr>
              <a:t>max</a:t>
            </a:r>
            <a:r>
              <a:rPr sz="1120" b="0" i="0">
                <a:solidFill>
                  <a:srgbClr val="1A1A1A"/>
                </a:solidFill>
                <a:latin typeface="Microsoft YaHei"/>
              </a:rPr>
              <a:t>。本研究统一取 </a:t>
            </a:r>
            <a:r>
              <a:rPr sz="1120" b="1" i="0">
                <a:solidFill>
                  <a:srgbClr val="1A1A1A"/>
                </a:solidFill>
                <a:latin typeface="Microsoft YaHei"/>
              </a:rPr>
              <a:t>8 m/s²</a:t>
            </a:r>
            <a:r>
              <a:rPr sz="1120" b="0" i="0">
                <a:solidFill>
                  <a:srgbClr val="1A1A1A"/>
                </a:solidFill>
                <a:latin typeface="Microsoft YaHei"/>
              </a:rPr>
              <a:t>（干燥沥青的车辆侧上限），并</a:t>
            </a:r>
            <a:r>
              <a:rPr sz="1120" b="1" i="0">
                <a:solidFill>
                  <a:srgbClr val="1A1A1A"/>
                </a:solidFill>
                <a:latin typeface="Microsoft YaHei"/>
              </a:rPr>
              <a:t>另行报告以实验 1 实测舒适减速度为分母</a:t>
            </a:r>
            <a:r>
              <a:rPr sz="1120" b="0" i="0">
                <a:solidFill>
                  <a:srgbClr val="1A1A1A"/>
                </a:solidFill>
                <a:latin typeface="Microsoft YaHei"/>
              </a:rPr>
              <a:t>的归一化值——因驾驶员可接受的减速度显著低于车辆上限。</a:t>
            </a:r>
            <a:r>
              <a:rPr sz="1120" b="1" i="0">
                <a:solidFill>
                  <a:srgbClr val="1A1A1A"/>
                </a:solidFill>
                <a:latin typeface="Microsoft YaHei"/>
              </a:rPr>
              <a:t>两套分母并列报告，不择一而用。</a:t>
            </a:r>
          </a:p>
        </p:txBody>
      </p:sp>
      <p:sp>
        <p:nvSpPr>
          <p:cNvPr id="20" name="TextBox 19"/>
          <p:cNvSpPr txBox="1"/>
          <p:nvPr/>
        </p:nvSpPr>
        <p:spPr>
          <a:xfrm>
            <a:off x="6381750" y="4644628"/>
            <a:ext cx="5276850" cy="819150"/>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C00000"/>
                </a:solidFill>
                <a:latin typeface="Microsoft YaHei"/>
              </a:rPr>
              <a:t>易误读点：</a:t>
            </a:r>
            <a:r>
              <a:rPr sz="1120" b="0" i="0">
                <a:solidFill>
                  <a:srgbClr val="1A1A1A"/>
                </a:solidFill>
                <a:latin typeface="Microsoft YaHei"/>
              </a:rPr>
              <a:t>BTN 不可读作「基准时间节点」一类时间量。本研究的时间量另有专名：</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（自发察觉时刻）、</a:t>
            </a:r>
            <a:r>
              <a:rPr sz="1120" b="0" i="1">
                <a:solidFill>
                  <a:srgbClr val="1A1A1A"/>
                </a:solidFill>
                <a:latin typeface="Microsoft YaHei"/>
              </a:rPr>
              <a:t>t</a:t>
            </a:r>
            <a:r>
              <a:rPr sz="790" b="0" i="1" baseline="-25000">
                <a:solidFill>
                  <a:srgbClr val="1A1A1A"/>
                </a:solidFill>
                <a:latin typeface="Microsoft YaHei"/>
              </a:rPr>
              <a:t>warn</a:t>
            </a:r>
            <a:r>
              <a:rPr sz="1120" b="0" i="0">
                <a:solidFill>
                  <a:srgbClr val="1A1A1A"/>
                </a:solidFill>
                <a:latin typeface="Microsoft YaHei"/>
              </a:rPr>
              <a:t>（预警时刻）、</a:t>
            </a:r>
            <a:r>
              <a:rPr sz="1120" b="0" i="1">
                <a:solidFill>
                  <a:srgbClr val="1A1A1A"/>
                </a:solidFill>
                <a:latin typeface="Microsoft YaHei"/>
              </a:rPr>
              <a:t>t</a:t>
            </a:r>
            <a:r>
              <a:rPr sz="790" b="0" i="1" baseline="-25000">
                <a:solidFill>
                  <a:srgbClr val="1A1A1A"/>
                </a:solidFill>
                <a:latin typeface="Microsoft YaHei"/>
              </a:rPr>
              <a:t>LPB</a:t>
            </a:r>
            <a:r>
              <a:rPr sz="1120" b="0" i="0">
                <a:solidFill>
                  <a:srgbClr val="1A1A1A"/>
                </a:solidFill>
                <a:latin typeface="Microsoft YaHei"/>
              </a:rPr>
              <a:t>（最晚制动点）、</a:t>
            </a:r>
            <a:r>
              <a:rPr sz="1120" b="0" i="1">
                <a:solidFill>
                  <a:srgbClr val="1A1A1A"/>
                </a:solidFill>
                <a:latin typeface="Microsoft YaHei"/>
              </a:rPr>
              <a:t>Δt</a:t>
            </a:r>
            <a:r>
              <a:rPr sz="1120" b="0" i="0">
                <a:solidFill>
                  <a:srgbClr val="1A1A1A"/>
                </a:solidFill>
                <a:latin typeface="Microsoft YaHei"/>
              </a:rPr>
              <a:t>（相对提前量）。</a:t>
            </a:r>
            <a:r>
              <a:rPr sz="1120" b="1" i="0">
                <a:solidFill>
                  <a:srgbClr val="1A1A1A"/>
                </a:solidFill>
                <a:latin typeface="Microsoft YaHei"/>
              </a:rPr>
              <a:t>凡首次出现处一律给出中文全称与公式。</a:t>
            </a:r>
          </a:p>
        </p:txBody>
      </p:sp>
      <p:sp>
        <p:nvSpPr>
          <p:cNvPr id="21" name="TextBox 20"/>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理论基础：SPIDER 五阶段</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2.1.5</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SPIDER</a:t>
            </a:r>
            <a:r>
              <a:rPr sz="1090" b="0" i="0">
                <a:solidFill>
                  <a:srgbClr val="2F528F"/>
                </a:solidFill>
                <a:latin typeface="Microsoft YaHei"/>
              </a:rPr>
              <a:t> = </a:t>
            </a:r>
            <a:r>
              <a:rPr sz="1090" b="1" i="0">
                <a:solidFill>
                  <a:srgbClr val="2F528F"/>
                </a:solidFill>
                <a:latin typeface="Microsoft YaHei"/>
              </a:rPr>
              <a:t>S</a:t>
            </a:r>
            <a:r>
              <a:rPr sz="1090" b="0" i="0">
                <a:solidFill>
                  <a:srgbClr val="2F528F"/>
                </a:solidFill>
                <a:latin typeface="Microsoft YaHei"/>
              </a:rPr>
              <a:t>canning · </a:t>
            </a:r>
            <a:r>
              <a:rPr sz="1090" b="1" i="0">
                <a:solidFill>
                  <a:srgbClr val="2F528F"/>
                </a:solidFill>
                <a:latin typeface="Microsoft YaHei"/>
              </a:rPr>
              <a:t>P</a:t>
            </a:r>
            <a:r>
              <a:rPr sz="1090" b="0" i="0">
                <a:solidFill>
                  <a:srgbClr val="2F528F"/>
                </a:solidFill>
                <a:latin typeface="Microsoft YaHei"/>
              </a:rPr>
              <a:t>redicting · </a:t>
            </a:r>
            <a:r>
              <a:rPr sz="1090" b="1" i="0">
                <a:solidFill>
                  <a:srgbClr val="2F528F"/>
                </a:solidFill>
                <a:latin typeface="Microsoft YaHei"/>
              </a:rPr>
              <a:t>I</a:t>
            </a:r>
            <a:r>
              <a:rPr sz="1090" b="0" i="0">
                <a:solidFill>
                  <a:srgbClr val="2F528F"/>
                </a:solidFill>
                <a:latin typeface="Microsoft YaHei"/>
              </a:rPr>
              <a:t>dentification · </a:t>
            </a:r>
            <a:r>
              <a:rPr sz="1090" b="1" i="0">
                <a:solidFill>
                  <a:srgbClr val="2F528F"/>
                </a:solidFill>
                <a:latin typeface="Microsoft YaHei"/>
              </a:rPr>
              <a:t>D</a:t>
            </a:r>
            <a:r>
              <a:rPr sz="1090" b="0" i="0">
                <a:solidFill>
                  <a:srgbClr val="2F528F"/>
                </a:solidFill>
                <a:latin typeface="Microsoft YaHei"/>
              </a:rPr>
              <a:t>ecision-making · </a:t>
            </a:r>
            <a:r>
              <a:rPr sz="1090" b="1" i="0">
                <a:solidFill>
                  <a:srgbClr val="2F528F"/>
                </a:solidFill>
                <a:latin typeface="Microsoft YaHei"/>
              </a:rPr>
              <a:t>E</a:t>
            </a:r>
            <a:r>
              <a:rPr sz="1090" b="0" i="0">
                <a:solidFill>
                  <a:srgbClr val="2F528F"/>
                </a:solidFill>
                <a:latin typeface="Microsoft YaHei"/>
              </a:rPr>
              <a:t>xecuting a </a:t>
            </a:r>
            <a:r>
              <a:rPr sz="1090" b="1" i="0">
                <a:solidFill>
                  <a:srgbClr val="2F528F"/>
                </a:solidFill>
                <a:latin typeface="Microsoft YaHei"/>
              </a:rPr>
              <a:t>R</a:t>
            </a:r>
            <a:r>
              <a:rPr sz="1090" b="0" i="0">
                <a:solidFill>
                  <a:srgbClr val="2F528F"/>
                </a:solidFill>
                <a:latin typeface="Microsoft YaHei"/>
              </a:rPr>
              <a:t>esponse。Strayer 与 Fisher（2016，*Human Factors*，Q1，IF 3.6）提出，Strayer 与 McDonnell（2025，*Annu. Rev. Vis. Sci.*，CC BY，</a:t>
            </a:r>
            <a:r>
              <a:rPr sz="1090" b="1" i="0">
                <a:solidFill>
                  <a:srgbClr val="2F528F"/>
                </a:solidFill>
                <a:latin typeface="Microsoft YaHei"/>
              </a:rPr>
              <a:t>已取得全文</a:t>
            </a:r>
            <a:r>
              <a:rPr sz="1090" b="0" i="0">
                <a:solidFill>
                  <a:srgbClr val="2F528F"/>
                </a:solidFill>
                <a:latin typeface="Microsoft YaHei"/>
              </a:rPr>
              <a:t>）更新为 2.0。</a:t>
            </a:r>
            <a:r>
              <a:rPr sz="1090" b="1" i="0">
                <a:solidFill>
                  <a:srgbClr val="2F528F"/>
                </a:solidFill>
                <a:latin typeface="Microsoft YaHei"/>
              </a:rPr>
              <a:t>它与本研究框架的分工是：SPIDER 定「结构」，实证文献定「数值」。</a:t>
            </a:r>
            <a:r>
              <a:rPr sz="1090" b="0" i="0">
                <a:solidFill>
                  <a:srgbClr val="2F528F"/>
                </a:solidFill>
                <a:latin typeface="Microsoft YaHei"/>
              </a:rPr>
              <a:t> </a:t>
            </a:r>
          </a:p>
        </p:txBody>
      </p:sp>
      <p:sp>
        <p:nvSpPr>
          <p:cNvPr id="9" name="Rounded Rectangle 8"/>
          <p:cNvSpPr/>
          <p:nvPr/>
        </p:nvSpPr>
        <p:spPr>
          <a:xfrm>
            <a:off x="438150" y="1551384"/>
            <a:ext cx="6479083" cy="4906565"/>
          </a:xfrm>
          <a:prstGeom prst="roundRect">
            <a:avLst>
              <a:gd name="adj" fmla="val 1358"/>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941909"/>
            <a:ext cx="6174283"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684734"/>
            <a:ext cx="6212383"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结构：阶段 → 代理指标 → Endsley 层级</a:t>
            </a:r>
          </a:p>
        </p:txBody>
      </p:sp>
      <p:graphicFrame>
        <p:nvGraphicFramePr>
          <p:cNvPr id="12" name="Table 11"/>
          <p:cNvGraphicFramePr>
            <a:graphicFrameLocks noGrp="1"/>
          </p:cNvGraphicFramePr>
          <p:nvPr/>
        </p:nvGraphicFramePr>
        <p:xfrm>
          <a:off x="590550" y="2027634"/>
          <a:ext cx="6174282" cy="2662234"/>
        </p:xfrm>
        <a:graphic>
          <a:graphicData uri="http://schemas.openxmlformats.org/drawingml/2006/table">
            <a:tbl>
              <a:tblPr>
                <a:tableStyleId>{5C22544A-7EE6-4342-B048-85BDC9FD1C3A}</a:tableStyleId>
              </a:tblPr>
              <a:tblGrid>
                <a:gridCol w="926008"/>
                <a:gridCol w="4075211"/>
                <a:gridCol w="1173063"/>
              </a:tblGrid>
              <a:tr h="428625">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阶段</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本研究的代理指标</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SA 层级</a:t>
                      </a:r>
                    </a:p>
                    <a:p>
                      <a:pPr algn="l">
                        <a:lnSpc>
                          <a:spcPct val="125000"/>
                        </a:lnSpc>
                        <a:spcBef>
                          <a:spcPts val="0"/>
                        </a:spcBef>
                        <a:spcAft>
                          <a:spcPts val="0"/>
                        </a:spcAft>
                      </a:pPr>
                      <a:r>
                        <a:rPr sz="890" b="1" i="0">
                          <a:solidFill>
                            <a:srgbClr val="FFFFFF"/>
                          </a:solidFill>
                          <a:latin typeface="Microsoft YaHei"/>
                        </a:rPr>
                        <a:t>（原文明确）</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S</a:t>
                      </a:r>
                      <a:r>
                        <a:rPr sz="890" b="0" i="0">
                          <a:solidFill>
                            <a:srgbClr val="1A1A1A"/>
                          </a:solidFill>
                          <a:latin typeface="Microsoft YaHei"/>
                        </a:rPr>
                        <a:t>canning</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TTFF（警告／行人）、道路注视比例、注视分散度</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层级 1</a:t>
                      </a:r>
                    </a:p>
                    <a:p>
                      <a:pPr algn="ctr">
                        <a:lnSpc>
                          <a:spcPct val="155000"/>
                        </a:lnSpc>
                        <a:spcBef>
                          <a:spcPts val="0"/>
                        </a:spcBef>
                        <a:spcAft>
                          <a:spcPts val="0"/>
                        </a:spcAft>
                      </a:pPr>
                      <a:r>
                        <a:rPr sz="890" b="0" i="0">
                          <a:solidFill>
                            <a:srgbClr val="1A1A1A"/>
                          </a:solidFill>
                          <a:latin typeface="Microsoft YaHei"/>
                        </a:rPr>
                        <a:t>感知</a:t>
                      </a:r>
                    </a:p>
                  </a:txBody>
                  <a:tcPr marL="66675" marR="66675" marT="42862" marB="42862" anchor="t">
                    <a:solidFill>
                      <a:srgbClr val="FAFBFD"/>
                    </a:solidFill>
                  </a:tcPr>
                </a:tc>
              </a:tr>
              <a:tr h="46434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P</a:t>
                      </a:r>
                      <a:r>
                        <a:rPr sz="890" b="0" i="0">
                          <a:solidFill>
                            <a:srgbClr val="1A1A1A"/>
                          </a:solidFill>
                          <a:latin typeface="Microsoft YaHei"/>
                        </a:rPr>
                        <a:t>redicting</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预期性注视比例</a:t>
                      </a:r>
                      <a:r>
                        <a:rPr sz="890" b="0" i="0">
                          <a:solidFill>
                            <a:srgbClr val="1A1A1A"/>
                          </a:solidFill>
                          <a:latin typeface="Microsoft YaHei"/>
                        </a:rPr>
                        <a:t>、风险区首次注视时刻</a:t>
                      </a:r>
                      <a:r>
                        <a:rPr sz="940" b="0" i="0">
                          <a:solidFill>
                            <a:srgbClr val="8C8C8C"/>
                          </a:solidFill>
                          <a:latin typeface="Microsoft YaHei"/>
                        </a:rPr>
                        <a:t>（原文确认代理量即 anticipatory glances）</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层级 3</a:t>
                      </a:r>
                    </a:p>
                    <a:p>
                      <a:pPr algn="ctr">
                        <a:lnSpc>
                          <a:spcPct val="155000"/>
                        </a:lnSpc>
                        <a:spcBef>
                          <a:spcPts val="0"/>
                        </a:spcBef>
                        <a:spcAft>
                          <a:spcPts val="0"/>
                        </a:spcAft>
                      </a:pPr>
                      <a:r>
                        <a:rPr sz="890" b="0" i="0">
                          <a:solidFill>
                            <a:srgbClr val="1A1A1A"/>
                          </a:solidFill>
                          <a:latin typeface="Microsoft YaHei"/>
                        </a:rPr>
                        <a:t>预测</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I</a:t>
                      </a:r>
                      <a:r>
                        <a:rPr sz="890" b="0" i="0">
                          <a:solidFill>
                            <a:srgbClr val="1A1A1A"/>
                          </a:solidFill>
                          <a:latin typeface="Microsoft YaHei"/>
                        </a:rPr>
                        <a:t>dentification</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目标验证时间 = TTFF(行人) − TTFF(警告)、</a:t>
                      </a:r>
                      <a:r>
                        <a:rPr sz="890" b="1" i="0">
                          <a:solidFill>
                            <a:srgbClr val="1A1A1A"/>
                          </a:solidFill>
                          <a:latin typeface="Microsoft YaHei"/>
                        </a:rPr>
                        <a:t>漏检率／无意视盲率</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层级 2</a:t>
                      </a:r>
                    </a:p>
                    <a:p>
                      <a:pPr algn="ctr">
                        <a:lnSpc>
                          <a:spcPct val="155000"/>
                        </a:lnSpc>
                        <a:spcBef>
                          <a:spcPts val="0"/>
                        </a:spcBef>
                        <a:spcAft>
                          <a:spcPts val="0"/>
                        </a:spcAft>
                      </a:pPr>
                      <a:r>
                        <a:rPr sz="890" b="0" i="0">
                          <a:solidFill>
                            <a:srgbClr val="1A1A1A"/>
                          </a:solidFill>
                          <a:latin typeface="Microsoft YaHei"/>
                        </a:rPr>
                        <a:t>理解</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D</a:t>
                      </a:r>
                      <a:r>
                        <a:rPr sz="890" b="0" i="0">
                          <a:solidFill>
                            <a:srgbClr val="1A1A1A"/>
                          </a:solidFill>
                          <a:latin typeface="Microsoft YaHei"/>
                        </a:rPr>
                        <a:t>ecision</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首次注视行人 → 松油时间、间隙判断、安全边际</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SA 的</a:t>
                      </a:r>
                    </a:p>
                    <a:p>
                      <a:pPr algn="ctr">
                        <a:lnSpc>
                          <a:spcPct val="155000"/>
                        </a:lnSpc>
                        <a:spcBef>
                          <a:spcPts val="0"/>
                        </a:spcBef>
                        <a:spcAft>
                          <a:spcPts val="0"/>
                        </a:spcAft>
                      </a:pPr>
                      <a:r>
                        <a:rPr sz="890" b="1" i="0">
                          <a:solidFill>
                            <a:srgbClr val="1A1A1A"/>
                          </a:solidFill>
                          <a:latin typeface="Microsoft YaHei"/>
                        </a:rPr>
                        <a:t>下游</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E</a:t>
                      </a:r>
                      <a:r>
                        <a:rPr sz="890" b="0" i="0">
                          <a:solidFill>
                            <a:srgbClr val="1A1A1A"/>
                          </a:solidFill>
                          <a:latin typeface="Microsoft YaHei"/>
                        </a:rPr>
                        <a:t>xec. Resp.</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制动启动时间、峰值减速度、jerk、</a:t>
                      </a:r>
                      <a:r>
                        <a:rPr sz="890" b="1" i="0">
                          <a:solidFill>
                            <a:srgbClr val="1A1A1A"/>
                          </a:solidFill>
                          <a:latin typeface="Microsoft YaHei"/>
                        </a:rPr>
                        <a:t>反应时分布尾部</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SA 的</a:t>
                      </a:r>
                    </a:p>
                    <a:p>
                      <a:pPr algn="ctr">
                        <a:lnSpc>
                          <a:spcPct val="155000"/>
                        </a:lnSpc>
                        <a:spcBef>
                          <a:spcPts val="0"/>
                        </a:spcBef>
                        <a:spcAft>
                          <a:spcPts val="0"/>
                        </a:spcAft>
                      </a:pPr>
                      <a:r>
                        <a:rPr sz="890" b="1" i="0">
                          <a:solidFill>
                            <a:srgbClr val="1A1A1A"/>
                          </a:solidFill>
                          <a:latin typeface="Microsoft YaHei"/>
                        </a:rPr>
                        <a:t>下游</a:t>
                      </a:r>
                    </a:p>
                  </a:txBody>
                  <a:tcPr marL="66675" marR="66675" marT="42862" marB="42862" anchor="t">
                    <a:solidFill>
                      <a:srgbClr val="FAFBFD"/>
                    </a:solidFill>
                  </a:tcPr>
                </a:tc>
              </a:tr>
            </a:tbl>
          </a:graphicData>
        </a:graphic>
      </p:graphicFrame>
      <p:sp>
        <p:nvSpPr>
          <p:cNvPr id="13" name="Rectangle 12"/>
          <p:cNvSpPr/>
          <p:nvPr/>
        </p:nvSpPr>
        <p:spPr>
          <a:xfrm>
            <a:off x="590550" y="4761309"/>
            <a:ext cx="6174283"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4761309"/>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 y="4847034"/>
            <a:ext cx="5964733"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原文 Figure 1 的结构事实：</a:t>
            </a:r>
            <a:r>
              <a:rPr sz="990" b="0" i="0">
                <a:solidFill>
                  <a:srgbClr val="6B5200"/>
                </a:solidFill>
                <a:latin typeface="Microsoft YaHei"/>
              </a:rPr>
              <a:t>只有 </a:t>
            </a:r>
            <a:r>
              <a:rPr sz="990" b="1" i="0">
                <a:solidFill>
                  <a:srgbClr val="8A6A00"/>
                </a:solidFill>
                <a:latin typeface="Microsoft YaHei"/>
              </a:rPr>
              <a:t>S、P、I 与情境意识双向连接</a:t>
            </a:r>
            <a:r>
              <a:rPr sz="990" b="0" i="0">
                <a:solidFill>
                  <a:srgbClr val="6B5200"/>
                </a:solidFill>
                <a:latin typeface="Microsoft YaHei"/>
              </a:rPr>
              <a:t>，D 与 ER 是 SA 的下游——</a:t>
            </a:r>
            <a:r>
              <a:rPr sz="990" b="1" i="0">
                <a:solidFill>
                  <a:srgbClr val="8A6A00"/>
                </a:solidFill>
                <a:latin typeface="Microsoft YaHei"/>
              </a:rPr>
              <a:t>把五阶段画成单向串行链是对原图的误读</a:t>
            </a:r>
            <a:r>
              <a:rPr sz="990" b="0" i="0">
                <a:solidFill>
                  <a:srgbClr val="6B5200"/>
                </a:solidFill>
                <a:latin typeface="Microsoft YaHei"/>
              </a:rPr>
              <a:t>，这也解释了阶段耗时为何不可简单相加。</a:t>
            </a:r>
          </a:p>
        </p:txBody>
      </p:sp>
      <p:sp>
        <p:nvSpPr>
          <p:cNvPr id="16" name="Rectangle 15"/>
          <p:cNvSpPr/>
          <p:nvPr/>
        </p:nvSpPr>
        <p:spPr>
          <a:xfrm>
            <a:off x="590550" y="5416748"/>
            <a:ext cx="6174283" cy="81647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0550" y="5416748"/>
            <a:ext cx="38100" cy="81647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4375" y="5502473"/>
            <a:ext cx="5964733" cy="67359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与三重约束模型的接口：</a:t>
            </a:r>
            <a:r>
              <a:rPr sz="990" b="0" i="0">
                <a:solidFill>
                  <a:srgbClr val="7A1F1F"/>
                </a:solidFill>
                <a:latin typeface="Microsoft YaHei"/>
              </a:rPr>
              <a:t>SPIDER 只进入 </a:t>
            </a:r>
            <a:r>
              <a:rPr sz="990" b="1" i="0">
                <a:solidFill>
                  <a:srgbClr val="7A1F1F"/>
                </a:solidFill>
                <a:latin typeface="Microsoft YaHei"/>
              </a:rPr>
              <a:t>③ 认知窗口</a:t>
            </a:r>
            <a:r>
              <a:rPr sz="990" b="0" i="0">
                <a:solidFill>
                  <a:srgbClr val="7A1F1F"/>
                </a:solidFill>
                <a:latin typeface="Microsoft YaHei"/>
              </a:rPr>
              <a:t>（决定 </a:t>
            </a:r>
            <a:r>
              <a:rPr sz="990" b="0" i="1">
                <a:solidFill>
                  <a:srgbClr val="7A1F1F"/>
                </a:solidFill>
                <a:latin typeface="Microsoft YaHei"/>
              </a:rPr>
              <a:t>Δt</a:t>
            </a:r>
            <a:r>
              <a:rPr sz="990" b="0" i="0">
                <a:solidFill>
                  <a:srgbClr val="7A1F1F"/>
                </a:solidFill>
                <a:latin typeface="Microsoft YaHei"/>
              </a:rPr>
              <a:t> 多宽、每段测什么），</a:t>
            </a:r>
            <a:r>
              <a:rPr sz="990" b="1" i="0">
                <a:solidFill>
                  <a:srgbClr val="7A1F1F"/>
                </a:solidFill>
                <a:latin typeface="Microsoft YaHei"/>
              </a:rPr>
              <a:t>不进入</a:t>
            </a:r>
            <a:r>
              <a:rPr sz="990" b="0" i="0">
                <a:solidFill>
                  <a:srgbClr val="7A1F1F"/>
                </a:solidFill>
                <a:latin typeface="Microsoft YaHei"/>
              </a:rPr>
              <a:t> ① 运动学下界与 ② 可靠性上界。</a:t>
            </a:r>
            <a:r>
              <a:rPr sz="990" b="1" i="0">
                <a:solidFill>
                  <a:srgbClr val="7A1F1F"/>
                </a:solidFill>
                <a:latin typeface="Microsoft YaHei"/>
              </a:rPr>
              <a:t>⚠ 记法冲突：</a:t>
            </a:r>
            <a:r>
              <a:rPr sz="990" b="0" i="0">
                <a:solidFill>
                  <a:srgbClr val="7A1F1F"/>
                </a:solidFill>
                <a:latin typeface="Microsoft YaHei"/>
              </a:rPr>
              <a:t>原文 Figure 2 的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 </a:t>
            </a:r>
            <a:r>
              <a:rPr sz="990" b="1" i="0">
                <a:solidFill>
                  <a:srgbClr val="7A1F1F"/>
                </a:solidFill>
                <a:latin typeface="Microsoft YaHei"/>
              </a:rPr>
              <a:t>次任务开始</a:t>
            </a:r>
            <a:r>
              <a:rPr sz="990" b="0" i="0">
                <a:solidFill>
                  <a:srgbClr val="7A1F1F"/>
                </a:solidFill>
                <a:latin typeface="Microsoft YaHei"/>
              </a:rPr>
              <a:t>，本研究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 </a:t>
            </a:r>
            <a:r>
              <a:rPr sz="990" b="1" i="0">
                <a:solidFill>
                  <a:srgbClr val="7A1F1F"/>
                </a:solidFill>
                <a:latin typeface="Microsoft YaHei"/>
              </a:rPr>
              <a:t>自发察觉</a:t>
            </a:r>
            <a:r>
              <a:rPr sz="990" b="0" i="0">
                <a:solidFill>
                  <a:srgbClr val="7A1F1F"/>
                </a:solidFill>
                <a:latin typeface="Microsoft YaHei"/>
              </a:rPr>
              <a:t>，同时引用处须显式声明。</a:t>
            </a:r>
          </a:p>
        </p:txBody>
      </p:sp>
      <p:sp>
        <p:nvSpPr>
          <p:cNvPr id="19" name="Rounded Rectangle 18"/>
          <p:cNvSpPr/>
          <p:nvPr/>
        </p:nvSpPr>
        <p:spPr>
          <a:xfrm>
            <a:off x="7088683" y="1551384"/>
            <a:ext cx="4665166" cy="4906565"/>
          </a:xfrm>
          <a:prstGeom prst="roundRect">
            <a:avLst>
              <a:gd name="adj" fmla="val 1429"/>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241083" y="1941909"/>
            <a:ext cx="4360366"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1083" y="1684734"/>
            <a:ext cx="4398466"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数值：SPIDER 给出的与不给出的</a:t>
            </a:r>
          </a:p>
        </p:txBody>
      </p:sp>
      <p:sp>
        <p:nvSpPr>
          <p:cNvPr id="22" name="Rectangle 21"/>
          <p:cNvSpPr/>
          <p:nvPr/>
        </p:nvSpPr>
        <p:spPr>
          <a:xfrm>
            <a:off x="7241083" y="2027634"/>
            <a:ext cx="4360366" cy="1224260"/>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41083" y="2027634"/>
            <a:ext cx="38100" cy="12242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4908" y="2113359"/>
            <a:ext cx="4150816" cy="1081385"/>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不给出：任何阶段耗时。</a:t>
            </a:r>
            <a:r>
              <a:rPr sz="990" b="0" i="0">
                <a:solidFill>
                  <a:srgbClr val="7A1F1F"/>
                </a:solidFill>
                <a:latin typeface="Microsoft YaHei"/>
              </a:rPr>
              <a:t>两篇原文</a:t>
            </a:r>
            <a:r>
              <a:rPr sz="990" b="1" i="0">
                <a:solidFill>
                  <a:srgbClr val="7A1F1F"/>
                </a:solidFill>
                <a:latin typeface="Microsoft YaHei"/>
              </a:rPr>
              <a:t>均未报告一个毫秒值</a:t>
            </a:r>
            <a:r>
              <a:rPr sz="990" b="0" i="0">
                <a:solidFill>
                  <a:srgbClr val="7A1F1F"/>
                </a:solidFill>
                <a:latin typeface="Microsoft YaHei"/>
              </a:rPr>
              <a:t>，也未声明五阶段严格串行。故「</a:t>
            </a:r>
            <a:r>
              <a:rPr sz="990" b="0" i="1">
                <a:solidFill>
                  <a:srgbClr val="7A1F1F"/>
                </a:solidFill>
                <a:latin typeface="Microsoft YaHei"/>
              </a:rPr>
              <a:t>S</a:t>
            </a:r>
            <a:r>
              <a:rPr sz="990" b="0" i="1">
                <a:solidFill>
                  <a:srgbClr val="7A1F1F"/>
                </a:solidFill>
                <a:latin typeface="Microsoft YaHei"/>
              </a:rPr>
              <a:t>+</a:t>
            </a:r>
            <a:r>
              <a:rPr sz="990" b="0" i="1">
                <a:solidFill>
                  <a:srgbClr val="7A1F1F"/>
                </a:solidFill>
                <a:latin typeface="Microsoft YaHei"/>
              </a:rPr>
              <a:t>I</a:t>
            </a:r>
            <a:r>
              <a:rPr sz="990" b="0" i="1">
                <a:solidFill>
                  <a:srgbClr val="7A1F1F"/>
                </a:solidFill>
                <a:latin typeface="Microsoft YaHei"/>
              </a:rPr>
              <a:t> ≈ 0.9</a:t>
            </a:r>
            <a:r>
              <a:rPr sz="990" b="0" i="0">
                <a:solidFill>
                  <a:srgbClr val="7A1F1F"/>
                </a:solidFill>
                <a:latin typeface="Microsoft YaHei"/>
              </a:rPr>
              <a:t>–1.2 s」只能表述为</a:t>
            </a:r>
            <a:r>
              <a:rPr sz="990" b="1" i="0">
                <a:solidFill>
                  <a:srgbClr val="7A1F1F"/>
                </a:solidFill>
                <a:latin typeface="Microsoft YaHei"/>
              </a:rPr>
              <a:t>本研究基于其阶段划分建立的工作假设</a:t>
            </a:r>
            <a:r>
              <a:rPr sz="990" b="0" i="0">
                <a:solidFill>
                  <a:srgbClr val="7A1F1F"/>
                </a:solidFill>
                <a:latin typeface="Microsoft YaHei"/>
              </a:rPr>
              <a:t>：S 的 617 ms 取自 Wu 等（2024）实测，I 的 300–600 ms 是</a:t>
            </a:r>
            <a:r>
              <a:rPr sz="990" b="1" i="0">
                <a:solidFill>
                  <a:srgbClr val="7A1F1F"/>
                </a:solidFill>
                <a:latin typeface="Microsoft YaHei"/>
              </a:rPr>
              <a:t>本研究由 TTFF 差值自行估计</a:t>
            </a:r>
            <a:r>
              <a:rPr sz="990" b="0" i="0">
                <a:solidFill>
                  <a:srgbClr val="7A1F1F"/>
                </a:solidFill>
                <a:latin typeface="Microsoft YaHei"/>
              </a:rPr>
              <a:t>。1.0 s 的</a:t>
            </a:r>
            <a:r>
              <a:rPr sz="990" b="1" i="0">
                <a:solidFill>
                  <a:srgbClr val="7A1F1F"/>
                </a:solidFill>
                <a:latin typeface="Microsoft YaHei"/>
              </a:rPr>
              <a:t>主要依据是工程证据</a:t>
            </a:r>
            <a:r>
              <a:rPr sz="990" b="0" i="0">
                <a:solidFill>
                  <a:srgbClr val="7A1F1F"/>
                </a:solidFill>
                <a:latin typeface="Microsoft YaHei"/>
              </a:rPr>
              <a:t>（Daimler 级联 1.0 s 级间、Suzuki 等 1.0 s 档距）。</a:t>
            </a:r>
          </a:p>
        </p:txBody>
      </p:sp>
      <p:sp>
        <p:nvSpPr>
          <p:cNvPr id="25" name="Rectangle 24"/>
          <p:cNvSpPr/>
          <p:nvPr/>
        </p:nvSpPr>
        <p:spPr>
          <a:xfrm>
            <a:off x="7241083" y="3337619"/>
            <a:ext cx="4360366" cy="2285107"/>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241083" y="3337619"/>
            <a:ext cx="38100" cy="2285107"/>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3008" y="3432869"/>
            <a:ext cx="2173485" cy="209550"/>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给出：三个可直接约束本研究的数值。</a:t>
            </a:r>
          </a:p>
        </p:txBody>
      </p:sp>
      <p:sp>
        <p:nvSpPr>
          <p:cNvPr id="28" name="TextBox 27"/>
          <p:cNvSpPr txBox="1"/>
          <p:nvPr/>
        </p:nvSpPr>
        <p:spPr>
          <a:xfrm>
            <a:off x="7422058" y="3679626"/>
            <a:ext cx="4093666" cy="800100"/>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F5A1F"/>
                </a:solidFill>
                <a:latin typeface="Microsoft YaHei"/>
              </a:rPr>
              <a:t>任一阶段成功率 −5% → 相对碰撞风险 ×2</a:t>
            </a:r>
          </a:p>
          <a:p>
            <a:pPr algn="l">
              <a:lnSpc>
                <a:spcPct val="180000"/>
              </a:lnSpc>
              <a:spcBef>
                <a:spcPts val="0"/>
              </a:spcBef>
              <a:spcAft>
                <a:spcPts val="0"/>
              </a:spcAft>
            </a:pPr>
            <a:r>
              <a:rPr sz="1120">
                <a:latin typeface="Microsoft YaHei"/>
              </a:rPr>
              <a:t>• </a:t>
            </a:r>
            <a:r>
              <a:rPr sz="940" b="0" i="0">
                <a:solidFill>
                  <a:srgbClr val="8C8C8C"/>
                </a:solidFill>
                <a:latin typeface="Microsoft YaHei"/>
              </a:rPr>
              <a:t>（转述 Fisher 与 Strayer, 2014）→ SPIDER 是</a:t>
            </a:r>
            <a:r>
              <a:rPr sz="940" b="1" i="0">
                <a:solidFill>
                  <a:srgbClr val="8C8C8C"/>
                </a:solidFill>
                <a:latin typeface="Microsoft YaHei"/>
              </a:rPr>
              <a:t>成功概率模型</a:t>
            </a:r>
            <a:r>
              <a:rPr sz="940" b="0" i="0">
                <a:solidFill>
                  <a:srgbClr val="8C8C8C"/>
                </a:solidFill>
                <a:latin typeface="Microsoft YaHei"/>
              </a:rPr>
              <a:t>，故漏检率必须与反应时并列为主要因变量</a:t>
            </a:r>
          </a:p>
        </p:txBody>
      </p:sp>
      <p:sp>
        <p:nvSpPr>
          <p:cNvPr id="29" name="TextBox 28"/>
          <p:cNvSpPr txBox="1"/>
          <p:nvPr/>
        </p:nvSpPr>
        <p:spPr>
          <a:xfrm>
            <a:off x="7422058" y="4470201"/>
            <a:ext cx="4093666" cy="542925"/>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F5A1F"/>
                </a:solidFill>
                <a:latin typeface="Microsoft YaHei"/>
              </a:rPr>
              <a:t>次任务结束后分心仍持续 &gt; 30 s</a:t>
            </a:r>
          </a:p>
          <a:p>
            <a:pPr algn="l">
              <a:lnSpc>
                <a:spcPct val="180000"/>
              </a:lnSpc>
              <a:spcBef>
                <a:spcPts val="0"/>
              </a:spcBef>
              <a:spcAft>
                <a:spcPts val="0"/>
              </a:spcAft>
            </a:pPr>
            <a:r>
              <a:rPr sz="1120">
                <a:latin typeface="Microsoft YaHei"/>
              </a:rPr>
              <a:t>• </a:t>
            </a:r>
            <a:r>
              <a:rPr sz="940" b="0" i="0">
                <a:solidFill>
                  <a:srgbClr val="8C8C8C"/>
                </a:solidFill>
                <a:latin typeface="Microsoft YaHei"/>
              </a:rPr>
              <a:t>（转述 Strayer 等, 2022b）→ 本研究试次间隔取 </a:t>
            </a:r>
            <a:r>
              <a:rPr sz="940" b="1" i="0">
                <a:solidFill>
                  <a:srgbClr val="8C8C8C"/>
                </a:solidFill>
                <a:latin typeface="Microsoft YaHei"/>
              </a:rPr>
              <a:t>≥ 60 s</a:t>
            </a:r>
          </a:p>
        </p:txBody>
      </p:sp>
      <p:sp>
        <p:nvSpPr>
          <p:cNvPr id="30" name="TextBox 29"/>
          <p:cNvSpPr txBox="1"/>
          <p:nvPr/>
        </p:nvSpPr>
        <p:spPr>
          <a:xfrm>
            <a:off x="7422058" y="5003601"/>
            <a:ext cx="4093666" cy="542925"/>
          </a:xfrm>
          <a:prstGeom prst="rect">
            <a:avLst/>
          </a:prstGeom>
          <a:noFill/>
        </p:spPr>
        <p:txBody>
          <a:bodyPr wrap="square" lIns="0" rIns="0" tIns="0" bIns="0" anchor="t">
            <a:normAutofit/>
          </a:bodyPr>
          <a:lstStyle/>
          <a:p>
            <a:pPr algn="l">
              <a:lnSpc>
                <a:spcPct val="180000"/>
              </a:lnSpc>
              <a:spcBef>
                <a:spcPts val="0"/>
              </a:spcBef>
              <a:spcAft>
                <a:spcPts val="0"/>
              </a:spcAft>
            </a:pPr>
            <a:r>
              <a:rPr sz="1120">
                <a:latin typeface="Microsoft YaHei"/>
              </a:rPr>
              <a:t>• </a:t>
            </a:r>
            <a:r>
              <a:rPr sz="1120" b="1" i="0">
                <a:solidFill>
                  <a:srgbClr val="1F5A1F"/>
                </a:solidFill>
                <a:latin typeface="Microsoft YaHei"/>
              </a:rPr>
              <a:t>识别类差错 41% ≫ 决策 33% ≫ 操作 11%</a:t>
            </a:r>
          </a:p>
          <a:p>
            <a:pPr algn="l">
              <a:lnSpc>
                <a:spcPct val="180000"/>
              </a:lnSpc>
              <a:spcBef>
                <a:spcPts val="0"/>
              </a:spcBef>
              <a:spcAft>
                <a:spcPts val="0"/>
              </a:spcAft>
            </a:pPr>
            <a:r>
              <a:rPr sz="1120">
                <a:latin typeface="Microsoft YaHei"/>
              </a:rPr>
              <a:t>• </a:t>
            </a:r>
            <a:r>
              <a:rPr sz="940" b="0" i="0">
                <a:solidFill>
                  <a:srgbClr val="8C8C8C"/>
                </a:solidFill>
                <a:latin typeface="Microsoft YaHei"/>
              </a:rPr>
              <a:t>（NMVCCS，Singh, 2015）→ 干预点应放在 S/I 而非 ER</a:t>
            </a:r>
          </a:p>
        </p:txBody>
      </p:sp>
      <p:sp>
        <p:nvSpPr>
          <p:cNvPr id="31" name="TextBox 30"/>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情境意识与 SPIDER 的分工及 t₀ 的构念定位</a:t>
            </a:r>
          </a:p>
        </p:txBody>
      </p:sp>
      <p:sp>
        <p:nvSpPr>
          <p:cNvPr id="4" name="Rounded Rectangle 3"/>
          <p:cNvSpPr/>
          <p:nvPr/>
        </p:nvSpPr>
        <p:spPr>
          <a:xfrm>
            <a:off x="11219705" y="209550"/>
            <a:ext cx="534144"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24480" y="238125"/>
            <a:ext cx="3626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2.1.5b</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结论先行：</a:t>
            </a:r>
            <a:r>
              <a:rPr sz="1090" b="0" i="0">
                <a:solidFill>
                  <a:srgbClr val="2F528F"/>
                </a:solidFill>
                <a:latin typeface="Microsoft YaHei"/>
              </a:rPr>
              <a:t>两个理论</a:t>
            </a:r>
            <a:r>
              <a:rPr sz="1090" b="1" i="0">
                <a:solidFill>
                  <a:srgbClr val="2F528F"/>
                </a:solidFill>
                <a:latin typeface="Microsoft YaHei"/>
              </a:rPr>
              <a:t>并列而非竞争</a:t>
            </a:r>
            <a:r>
              <a:rPr sz="1090" b="0" i="0">
                <a:solidFill>
                  <a:srgbClr val="2F528F"/>
                </a:solidFill>
                <a:latin typeface="Microsoft YaHei"/>
              </a:rPr>
              <a:t>。</a:t>
            </a:r>
            <a:r>
              <a:rPr sz="1090" b="1" i="0">
                <a:solidFill>
                  <a:srgbClr val="2F528F"/>
                </a:solidFill>
                <a:latin typeface="Microsoft YaHei"/>
              </a:rPr>
              <a:t>情境意识（SA）三级模型</a:t>
            </a:r>
            <a:r>
              <a:rPr sz="1090" b="0" i="0">
                <a:solidFill>
                  <a:srgbClr val="2F528F"/>
                </a:solidFill>
                <a:latin typeface="Microsoft YaHei"/>
              </a:rPr>
              <a:t>（Endsley, 1995）提供</a:t>
            </a:r>
            <a:r>
              <a:rPr sz="1090" b="1" i="0">
                <a:solidFill>
                  <a:srgbClr val="2F528F"/>
                </a:solidFill>
                <a:latin typeface="Microsoft YaHei"/>
              </a:rPr>
              <a:t>构念层级</a:t>
            </a:r>
            <a:r>
              <a:rPr sz="1090" b="0" i="0">
                <a:solidFill>
                  <a:srgbClr val="2F528F"/>
                </a:solidFill>
                <a:latin typeface="Microsoft YaHei"/>
              </a:rPr>
              <a:t>，用以组织</a:t>
            </a:r>
            <a:r>
              <a:rPr sz="1090" b="1" i="0">
                <a:solidFill>
                  <a:srgbClr val="2F528F"/>
                </a:solidFill>
                <a:latin typeface="Microsoft YaHei"/>
              </a:rPr>
              <a:t>因变量</a:t>
            </a:r>
            <a:r>
              <a:rPr sz="1090" b="0" i="0">
                <a:solidFill>
                  <a:srgbClr val="2F528F"/>
                </a:solidFill>
                <a:latin typeface="Microsoft YaHei"/>
              </a:rPr>
              <a:t>；</a:t>
            </a:r>
            <a:r>
              <a:rPr sz="1090" b="1" i="0">
                <a:solidFill>
                  <a:srgbClr val="2F528F"/>
                </a:solidFill>
                <a:latin typeface="Microsoft YaHei"/>
              </a:rPr>
              <a:t>SPIDER 五阶段</a:t>
            </a:r>
            <a:r>
              <a:rPr sz="1090" b="0" i="0">
                <a:solidFill>
                  <a:srgbClr val="2F528F"/>
                </a:solidFill>
                <a:latin typeface="Microsoft YaHei"/>
              </a:rPr>
              <a:t>（Strayer 与 McDonnell, 2025）提供</a:t>
            </a:r>
            <a:r>
              <a:rPr sz="1090" b="1" i="0">
                <a:solidFill>
                  <a:srgbClr val="2F528F"/>
                </a:solidFill>
                <a:latin typeface="Microsoft YaHei"/>
              </a:rPr>
              <a:t>过程细节</a:t>
            </a:r>
            <a:r>
              <a:rPr sz="1090" b="0" i="0">
                <a:solidFill>
                  <a:srgbClr val="2F528F"/>
                </a:solidFill>
                <a:latin typeface="Microsoft YaHei"/>
              </a:rPr>
              <a:t>，用以组织</a:t>
            </a:r>
            <a:r>
              <a:rPr sz="1090" b="1" i="0">
                <a:solidFill>
                  <a:srgbClr val="2F528F"/>
                </a:solidFill>
                <a:latin typeface="Microsoft YaHei"/>
              </a:rPr>
              <a:t>过程指标的阶段归属</a:t>
            </a:r>
            <a:r>
              <a:rPr sz="1090" b="0" i="0">
                <a:solidFill>
                  <a:srgbClr val="2F528F"/>
                </a:solidFill>
                <a:latin typeface="Microsoft YaHei"/>
              </a:rPr>
              <a:t>。SA 回答「驾驶员对情境的掌握达到哪一层级」，SPIDER 回答「该层级通过哪一操作环节达成或失败」。</a:t>
            </a:r>
          </a:p>
        </p:txBody>
      </p:sp>
      <p:graphicFrame>
        <p:nvGraphicFramePr>
          <p:cNvPr id="9" name="Table 8"/>
          <p:cNvGraphicFramePr>
            <a:graphicFrameLocks noGrp="1"/>
          </p:cNvGraphicFramePr>
          <p:nvPr/>
        </p:nvGraphicFramePr>
        <p:xfrm>
          <a:off x="438150" y="1522809"/>
          <a:ext cx="11315698" cy="2236587"/>
        </p:xfrm>
        <a:graphic>
          <a:graphicData uri="http://schemas.openxmlformats.org/drawingml/2006/table">
            <a:tbl>
              <a:tblPr>
                <a:tableStyleId>{5C22544A-7EE6-4342-B048-85BDC9FD1C3A}</a:tableStyleId>
              </a:tblPr>
              <a:tblGrid>
                <a:gridCol w="1923603"/>
                <a:gridCol w="1584126"/>
                <a:gridCol w="4413051"/>
                <a:gridCol w="3394918"/>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SA 层级</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SPIDER 阶段</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本研究的操作化指标</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相关自变量</a:t>
                      </a:r>
                    </a:p>
                  </a:txBody>
                  <a:tcPr marL="66675" marR="66675" marT="52387" marB="52387" anchor="t">
                    <a:solidFill>
                      <a:srgbClr val="4472C4"/>
                    </a:solidFill>
                  </a:tcPr>
                </a:tc>
              </a:tr>
              <a:tr h="448270">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层级 1 感知</a:t>
                      </a:r>
                    </a:p>
                    <a:p>
                      <a:pPr algn="l">
                        <a:lnSpc>
                          <a:spcPct val="160000"/>
                        </a:lnSpc>
                        <a:spcBef>
                          <a:spcPts val="0"/>
                        </a:spcBef>
                        <a:spcAft>
                          <a:spcPts val="0"/>
                        </a:spcAft>
                      </a:pPr>
                      <a:r>
                        <a:rPr sz="890" b="0" i="0">
                          <a:solidFill>
                            <a:srgbClr val="1A1A1A"/>
                          </a:solidFill>
                          <a:latin typeface="Microsoft YaHei"/>
                        </a:rPr>
                        <a:t>perception：觉察到相关要素</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S</a:t>
                      </a:r>
                      <a:r>
                        <a:rPr sz="890" b="0" i="0">
                          <a:solidFill>
                            <a:srgbClr val="1A1A1A"/>
                          </a:solidFill>
                          <a:latin typeface="Microsoft YaHei"/>
                        </a:rPr>
                        <a:t>canning</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自发察觉时刻 </a:t>
                      </a:r>
                      <a:r>
                        <a:rPr sz="890" b="1" i="1">
                          <a:solidFill>
                            <a:srgbClr val="3E7D3E"/>
                          </a:solidFill>
                          <a:latin typeface="Microsoft YaHei"/>
                        </a:rPr>
                        <a:t>t</a:t>
                      </a:r>
                      <a:r>
                        <a:rPr sz="620" b="1" i="1" baseline="-25000">
                          <a:solidFill>
                            <a:srgbClr val="3E7D3E"/>
                          </a:solidFill>
                          <a:latin typeface="Microsoft YaHei"/>
                        </a:rPr>
                        <a:t>0</a:t>
                      </a:r>
                      <a:r>
                        <a:rPr sz="890" b="0" i="0">
                          <a:solidFill>
                            <a:srgbClr val="1A1A1A"/>
                          </a:solidFill>
                          <a:latin typeface="Microsoft YaHei"/>
                        </a:rPr>
                        <a:t>（无预警条件下首次注视行人的时刻）；有预警条件下的首次注视时间 TTFF；</a:t>
                      </a:r>
                      <a:r>
                        <a:rPr sz="890" b="1" i="0">
                          <a:solidFill>
                            <a:srgbClr val="1A1A1A"/>
                          </a:solidFill>
                          <a:latin typeface="Microsoft YaHei"/>
                        </a:rPr>
                        <a:t>危险漏检率</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相对提前量 </a:t>
                      </a:r>
                      <a:r>
                        <a:rPr sz="890" b="0" i="1">
                          <a:solidFill>
                            <a:srgbClr val="1A1A1A"/>
                          </a:solidFill>
                          <a:latin typeface="Microsoft YaHei"/>
                        </a:rPr>
                        <a:t>Δt</a:t>
                      </a:r>
                      <a:r>
                        <a:rPr sz="890" b="0" i="0">
                          <a:solidFill>
                            <a:srgbClr val="1A1A1A"/>
                          </a:solidFill>
                          <a:latin typeface="Microsoft YaHei"/>
                        </a:rPr>
                        <a:t>、空间参照系、图形显著性</a:t>
                      </a:r>
                    </a:p>
                  </a:txBody>
                  <a:tcPr marL="66675" marR="66675" marT="42862" marB="42862" anchor="t">
                    <a:solidFill>
                      <a:srgbClr val="FAFBFD"/>
                    </a:solidFill>
                  </a:tcPr>
                </a:tc>
              </a:tr>
              <a:tr h="62894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层级 2 理解</a:t>
                      </a:r>
                    </a:p>
                    <a:p>
                      <a:pPr algn="l">
                        <a:lnSpc>
                          <a:spcPct val="160000"/>
                        </a:lnSpc>
                        <a:spcBef>
                          <a:spcPts val="0"/>
                        </a:spcBef>
                        <a:spcAft>
                          <a:spcPts val="0"/>
                        </a:spcAft>
                      </a:pPr>
                      <a:r>
                        <a:rPr sz="890" b="0" i="0">
                          <a:solidFill>
                            <a:srgbClr val="1A1A1A"/>
                          </a:solidFill>
                          <a:latin typeface="Microsoft YaHei"/>
                        </a:rPr>
                        <a:t>comprehension：理解要素对当前目标的意义</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I</a:t>
                      </a:r>
                      <a:r>
                        <a:rPr sz="890" b="0" i="0">
                          <a:solidFill>
                            <a:srgbClr val="1A1A1A"/>
                          </a:solidFill>
                          <a:latin typeface="Microsoft YaHei"/>
                        </a:rPr>
                        <a:t>dentifying</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目标验证时间（= TTFF</a:t>
                      </a:r>
                      <a:r>
                        <a:rPr sz="740" b="0" i="0" baseline="-25000">
                          <a:solidFill>
                            <a:srgbClr val="1A1A1A"/>
                          </a:solidFill>
                          <a:latin typeface="Microsoft YaHei"/>
                        </a:rPr>
                        <a:t>行人</a:t>
                      </a:r>
                      <a:r>
                        <a:rPr sz="890" b="0" i="0">
                          <a:solidFill>
                            <a:srgbClr val="1A1A1A"/>
                          </a:solidFill>
                          <a:latin typeface="Microsoft YaHei"/>
                        </a:rPr>
                        <a:t> − TTFF</a:t>
                      </a:r>
                      <a:r>
                        <a:rPr sz="740" b="0" i="0" baseline="-25000">
                          <a:solidFill>
                            <a:srgbClr val="1A1A1A"/>
                          </a:solidFill>
                          <a:latin typeface="Microsoft YaHei"/>
                        </a:rPr>
                        <a:t>警告</a:t>
                      </a:r>
                      <a:r>
                        <a:rPr sz="890" b="0" i="0">
                          <a:solidFill>
                            <a:srgbClr val="1A1A1A"/>
                          </a:solidFill>
                          <a:latin typeface="Microsoft YaHei"/>
                        </a:rPr>
                        <a:t>）、风险等级判断正确率、紧迫度判断</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分层语义、图形形态与颜色编码、信息完整度</a:t>
                      </a:r>
                    </a:p>
                  </a:txBody>
                  <a:tcPr marL="66675" marR="66675" marT="42862" marB="42862" anchor="t">
                    <a:noFill/>
                  </a:tcPr>
                </a:tc>
              </a:tr>
              <a:tr h="44916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层级 3 预测</a:t>
                      </a:r>
                    </a:p>
                    <a:p>
                      <a:pPr algn="l">
                        <a:lnSpc>
                          <a:spcPct val="160000"/>
                        </a:lnSpc>
                        <a:spcBef>
                          <a:spcPts val="0"/>
                        </a:spcBef>
                        <a:spcAft>
                          <a:spcPts val="0"/>
                        </a:spcAft>
                      </a:pPr>
                      <a:r>
                        <a:rPr sz="890" b="0" i="0">
                          <a:solidFill>
                            <a:srgbClr val="1A1A1A"/>
                          </a:solidFill>
                          <a:latin typeface="Microsoft YaHei"/>
                        </a:rPr>
                        <a:t>projection：预测要素的未来状态</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P</a:t>
                      </a:r>
                      <a:r>
                        <a:rPr sz="890" b="0" i="0">
                          <a:solidFill>
                            <a:srgbClr val="1A1A1A"/>
                          </a:solidFill>
                          <a:latin typeface="Microsoft YaHei"/>
                        </a:rPr>
                        <a:t>redicting</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路径侵入预测正确率、冲突点空间误差、过街方向判断、</a:t>
                      </a:r>
                      <a:r>
                        <a:rPr sz="890" b="1" i="0">
                          <a:solidFill>
                            <a:srgbClr val="1A1A1A"/>
                          </a:solidFill>
                          <a:latin typeface="Microsoft YaHei"/>
                        </a:rPr>
                        <a:t>预期性注视比例</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运动趋势空间映射、风险量级空间映射</a:t>
                      </a:r>
                    </a:p>
                  </a:txBody>
                  <a:tcPr marL="66675" marR="66675" marT="42862" marB="42862" anchor="t">
                    <a:solidFill>
                      <a:srgbClr val="FAFBFD"/>
                    </a:solidFill>
                  </a:tcPr>
                </a:tc>
              </a:tr>
              <a:tr h="443507">
                <a:tc>
                  <a:txBody>
                    <a:bodyPr wrap="square" lIns="0" rIns="0" tIns="0" bIns="0" anchor="t"/>
                    <a:lstStyle/>
                    <a:p>
                      <a:pPr algn="l">
                        <a:lnSpc>
                          <a:spcPct val="160000"/>
                        </a:lnSpc>
                        <a:spcBef>
                          <a:spcPts val="0"/>
                        </a:spcBef>
                        <a:spcAft>
                          <a:spcPts val="0"/>
                        </a:spcAft>
                      </a:pPr>
                      <a:r>
                        <a:rPr sz="890" b="0" i="0">
                          <a:solidFill>
                            <a:srgbClr val="1A1A1A"/>
                          </a:solidFill>
                          <a:latin typeface="Microsoft YaHei"/>
                        </a:rPr>
                        <a:t>（SA 之外的执行侧）</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D</a:t>
                      </a:r>
                      <a:r>
                        <a:rPr sz="890" b="0" i="0">
                          <a:solidFill>
                            <a:srgbClr val="1A1A1A"/>
                          </a:solidFill>
                          <a:latin typeface="Microsoft YaHei"/>
                        </a:rPr>
                        <a:t>eciding</a:t>
                      </a:r>
                    </a:p>
                    <a:p>
                      <a:pPr algn="ctr">
                        <a:lnSpc>
                          <a:spcPct val="155000"/>
                        </a:lnSpc>
                        <a:spcBef>
                          <a:spcPts val="0"/>
                        </a:spcBef>
                        <a:spcAft>
                          <a:spcPts val="0"/>
                        </a:spcAft>
                      </a:pPr>
                      <a:r>
                        <a:rPr sz="890" b="1" i="0">
                          <a:solidFill>
                            <a:srgbClr val="1A1A1A"/>
                          </a:solidFill>
                          <a:latin typeface="Microsoft YaHei"/>
                        </a:rPr>
                        <a:t>E</a:t>
                      </a:r>
                      <a:r>
                        <a:rPr sz="890" b="0" i="0">
                          <a:solidFill>
                            <a:srgbClr val="1A1A1A"/>
                          </a:solidFill>
                          <a:latin typeface="Microsoft YaHei"/>
                        </a:rPr>
                        <a:t>xecuting</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松油时刻、制动启动时间、峰值减速度、jerk</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全部时间参数</a:t>
                      </a:r>
                    </a:p>
                  </a:txBody>
                  <a:tcPr marL="66675" marR="66675" marT="42862" marB="42862" anchor="t">
                    <a:noFill/>
                  </a:tcPr>
                </a:tc>
              </a:tr>
            </a:tbl>
          </a:graphicData>
        </a:graphic>
      </p:graphicFrame>
      <p:sp>
        <p:nvSpPr>
          <p:cNvPr id="10" name="Rectangle 9"/>
          <p:cNvSpPr/>
          <p:nvPr/>
        </p:nvSpPr>
        <p:spPr>
          <a:xfrm>
            <a:off x="438150" y="3840360"/>
            <a:ext cx="11315700" cy="1034653"/>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3840360"/>
            <a:ext cx="38100" cy="1034653"/>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3926085"/>
            <a:ext cx="11106150" cy="891778"/>
          </a:xfrm>
          <a:prstGeom prst="rect">
            <a:avLst/>
          </a:prstGeom>
          <a:noFill/>
        </p:spPr>
        <p:txBody>
          <a:bodyPr wrap="square" lIns="0" rIns="0" tIns="0" bIns="0" anchor="t">
            <a:normAutofit/>
          </a:bodyPr>
          <a:lstStyle/>
          <a:p>
            <a:pPr algn="l">
              <a:lnSpc>
                <a:spcPct val="166000"/>
              </a:lnSpc>
              <a:spcBef>
                <a:spcPts val="0"/>
              </a:spcBef>
              <a:spcAft>
                <a:spcPts val="0"/>
              </a:spcAft>
            </a:pP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 的构念定位——一处必须区分的量纲问题：</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是</a:t>
            </a:r>
            <a:r>
              <a:rPr sz="990" b="1" i="0">
                <a:solidFill>
                  <a:srgbClr val="7A1F1F"/>
                </a:solidFill>
                <a:latin typeface="Microsoft YaHei"/>
              </a:rPr>
              <a:t>时刻量</a:t>
            </a:r>
            <a:r>
              <a:rPr sz="990" b="0" i="0">
                <a:solidFill>
                  <a:srgbClr val="7A1F1F"/>
                </a:solidFill>
                <a:latin typeface="Microsoft YaHei"/>
              </a:rPr>
              <a:t>（单位 s，由眼动首次注视与首个避险动作实测），SA 层级 1 是</a:t>
            </a:r>
            <a:r>
              <a:rPr sz="990" b="1" i="0">
                <a:solidFill>
                  <a:srgbClr val="7A1F1F"/>
                </a:solidFill>
                <a:latin typeface="Microsoft YaHei"/>
              </a:rPr>
              <a:t>潜在构念</a:t>
            </a:r>
            <a:r>
              <a:rPr sz="990" b="0" i="0">
                <a:solidFill>
                  <a:srgbClr val="7A1F1F"/>
                </a:solidFill>
                <a:latin typeface="Microsoft YaHei"/>
              </a:rPr>
              <a:t>（无时间单位，以得分计）。二者是</a:t>
            </a:r>
            <a:r>
              <a:rPr sz="990" b="1" i="0">
                <a:solidFill>
                  <a:srgbClr val="7A1F1F"/>
                </a:solidFill>
                <a:latin typeface="Microsoft YaHei"/>
              </a:rPr>
              <a:t>「构念—操作化指标」关系</a:t>
            </a:r>
            <a:r>
              <a:rPr sz="990" b="0" i="0">
                <a:solidFill>
                  <a:srgbClr val="7A1F1F"/>
                </a:solidFill>
                <a:latin typeface="Microsoft YaHei"/>
              </a:rPr>
              <a:t>，不是同一事物的两个名称。故本研究的处理为三条：</a:t>
            </a:r>
            <a:r>
              <a:rPr sz="990" b="1" i="0">
                <a:solidFill>
                  <a:srgbClr val="7A1F1F"/>
                </a:solidFill>
                <a:latin typeface="Microsoft YaHei"/>
              </a:rPr>
              <a:t>①</a:t>
            </a:r>
            <a:r>
              <a:rPr sz="990" b="0" i="0">
                <a:solidFill>
                  <a:srgbClr val="7A1F1F"/>
                </a:solidFill>
                <a:latin typeface="Microsoft YaHei"/>
              </a:rPr>
              <a:t> </a:t>
            </a:r>
            <a:r>
              <a:rPr sz="990" b="1" i="0">
                <a:solidFill>
                  <a:srgbClr val="7A1F1F"/>
                </a:solidFill>
                <a:latin typeface="Microsoft YaHei"/>
              </a:rPr>
              <a:t>保留 </a:t>
            </a: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 作变量名</a:t>
            </a:r>
            <a:r>
              <a:rPr sz="990" b="0" i="0">
                <a:solidFill>
                  <a:srgbClr val="7A1F1F"/>
                </a:solidFill>
                <a:latin typeface="Microsoft YaHei"/>
              </a:rPr>
              <a:t>，不改称构念名——因自变量定义式 </a:t>
            </a:r>
            <a:r>
              <a:rPr sz="990" b="0" i="1">
                <a:solidFill>
                  <a:srgbClr val="7A1F1F"/>
                </a:solidFill>
                <a:latin typeface="Microsoft YaHei"/>
              </a:rPr>
              <a:t>Δt</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0</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warn</a:t>
            </a:r>
            <a:r>
              <a:rPr sz="990" b="0" i="0">
                <a:solidFill>
                  <a:srgbClr val="7A1F1F"/>
                </a:solidFill>
                <a:latin typeface="Microsoft YaHei"/>
              </a:rPr>
              <a:t> 要求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具时间量纲，若以构念替换则该式在量纲上不成立；</a:t>
            </a:r>
            <a:r>
              <a:rPr sz="990" b="1" i="0">
                <a:solidFill>
                  <a:srgbClr val="7A1F1F"/>
                </a:solidFill>
                <a:latin typeface="Microsoft YaHei"/>
              </a:rPr>
              <a:t>②</a:t>
            </a:r>
            <a:r>
              <a:rPr sz="990" b="0" i="0">
                <a:solidFill>
                  <a:srgbClr val="7A1F1F"/>
                </a:solidFill>
                <a:latin typeface="Microsoft YaHei"/>
              </a:rPr>
              <a:t> </a:t>
            </a:r>
            <a:r>
              <a:rPr sz="990" b="1" i="0">
                <a:solidFill>
                  <a:srgbClr val="7A1F1F"/>
                </a:solidFill>
                <a:latin typeface="Microsoft YaHei"/>
              </a:rPr>
              <a:t>明确其理论归属</a:t>
            </a:r>
            <a:r>
              <a:rPr sz="990" b="0" i="0">
                <a:solidFill>
                  <a:srgbClr val="7A1F1F"/>
                </a:solidFill>
                <a:latin typeface="Microsoft YaHei"/>
              </a:rPr>
              <a:t>——</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是 </a:t>
            </a:r>
            <a:r>
              <a:rPr sz="990" b="1" i="0">
                <a:solidFill>
                  <a:srgbClr val="7A1F1F"/>
                </a:solidFill>
                <a:latin typeface="Microsoft YaHei"/>
              </a:rPr>
              <a:t>SA 层级 1 在无辅助条件下达成时刻</a:t>
            </a:r>
            <a:r>
              <a:rPr sz="990" b="0" i="0">
                <a:solidFill>
                  <a:srgbClr val="7A1F1F"/>
                </a:solidFill>
                <a:latin typeface="Microsoft YaHei"/>
              </a:rPr>
              <a:t>的行为指标，亦即 Scanning 阶段自发完成的时刻，由此不再是孤立的工程量；</a:t>
            </a:r>
            <a:r>
              <a:rPr sz="990" b="1" i="0">
                <a:solidFill>
                  <a:srgbClr val="7A1F1F"/>
                </a:solidFill>
                <a:latin typeface="Microsoft YaHei"/>
              </a:rPr>
              <a:t>③</a:t>
            </a:r>
            <a:r>
              <a:rPr sz="990" b="0" i="0">
                <a:solidFill>
                  <a:srgbClr val="7A1F1F"/>
                </a:solidFill>
                <a:latin typeface="Microsoft YaHei"/>
              </a:rPr>
              <a:t> </a:t>
            </a:r>
            <a:r>
              <a:rPr sz="990" b="1" i="0">
                <a:solidFill>
                  <a:srgbClr val="7A1F1F"/>
                </a:solidFill>
                <a:latin typeface="Microsoft YaHei"/>
              </a:rPr>
              <a:t>另设 SA 三级得分为独立因变量</a:t>
            </a:r>
            <a:r>
              <a:rPr sz="990" b="0" i="0">
                <a:solidFill>
                  <a:srgbClr val="7A1F1F"/>
                </a:solidFill>
                <a:latin typeface="Microsoft YaHei"/>
              </a:rPr>
              <a:t>，与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并存——</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测「感知层何时达成」，三级得分测「三层各自达成到何程度」，</a:t>
            </a:r>
            <a:r>
              <a:rPr sz="990" b="1" i="0">
                <a:solidFill>
                  <a:srgbClr val="7A1F1F"/>
                </a:solidFill>
                <a:latin typeface="Microsoft YaHei"/>
              </a:rPr>
              <a:t>二者的相关性本身即一项可检验的效度证据</a:t>
            </a:r>
            <a:r>
              <a:rPr sz="990" b="0" i="0">
                <a:solidFill>
                  <a:srgbClr val="7A1F1F"/>
                </a:solidFill>
                <a:latin typeface="Microsoft YaHei"/>
              </a:rPr>
              <a:t>。</a:t>
            </a:r>
          </a:p>
        </p:txBody>
      </p:sp>
      <p:sp>
        <p:nvSpPr>
          <p:cNvPr id="13" name="TextBox 12"/>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核心理论模型：预警时刻的三重约束</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2.1.6</a:t>
            </a:r>
          </a:p>
        </p:txBody>
      </p:sp>
      <p:sp>
        <p:nvSpPr>
          <p:cNvPr id="6" name="Rectangle 5"/>
          <p:cNvSpPr/>
          <p:nvPr/>
        </p:nvSpPr>
        <p:spPr>
          <a:xfrm>
            <a:off x="438150" y="762000"/>
            <a:ext cx="11315700" cy="694134"/>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94134"/>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13159"/>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预警呈现时刻 </a:t>
            </a:r>
            <a:r>
              <a:rPr sz="1090" b="0" i="1">
                <a:solidFill>
                  <a:srgbClr val="2F528F"/>
                </a:solidFill>
                <a:latin typeface="Microsoft YaHei"/>
              </a:rPr>
              <a:t>t</a:t>
            </a:r>
            <a:r>
              <a:rPr sz="760" b="0" i="1" baseline="-25000">
                <a:solidFill>
                  <a:srgbClr val="2F528F"/>
                </a:solidFill>
                <a:latin typeface="Microsoft YaHei"/>
              </a:rPr>
              <a:t>warn</a:t>
            </a:r>
            <a:r>
              <a:rPr sz="1090" b="0" i="0">
                <a:solidFill>
                  <a:srgbClr val="2F528F"/>
                </a:solidFill>
                <a:latin typeface="Microsoft YaHei"/>
              </a:rPr>
              <a:t> </a:t>
            </a:r>
            <a:r>
              <a:rPr sz="1090" b="1" i="0">
                <a:solidFill>
                  <a:srgbClr val="2F528F"/>
                </a:solidFill>
                <a:latin typeface="Microsoft YaHei"/>
              </a:rPr>
              <a:t>不是待搜索的自由参数</a:t>
            </a:r>
            <a:r>
              <a:rPr sz="1090" b="0" i="0">
                <a:solidFill>
                  <a:srgbClr val="2F528F"/>
                </a:solidFill>
                <a:latin typeface="Microsoft YaHei"/>
              </a:rPr>
              <a:t>。它同时受</a:t>
            </a:r>
            <a:r>
              <a:rPr sz="1090" b="1" i="0">
                <a:solidFill>
                  <a:srgbClr val="2F528F"/>
                </a:solidFill>
                <a:latin typeface="Microsoft YaHei"/>
              </a:rPr>
              <a:t>三个约束</a:t>
            </a:r>
            <a:r>
              <a:rPr sz="1090" b="0" i="0">
                <a:solidFill>
                  <a:srgbClr val="2F528F"/>
                </a:solidFill>
                <a:latin typeface="Microsoft YaHei"/>
              </a:rPr>
              <a:t>，并以自发察觉时刻 </a:t>
            </a:r>
            <a:r>
              <a:rPr sz="1090" b="0" i="1">
                <a:solidFill>
                  <a:srgbClr val="2F528F"/>
                </a:solidFill>
                <a:latin typeface="Microsoft YaHei"/>
              </a:rPr>
              <a:t>t</a:t>
            </a:r>
            <a:r>
              <a:rPr sz="760" b="0" i="1" baseline="-25000">
                <a:solidFill>
                  <a:srgbClr val="2F528F"/>
                </a:solidFill>
                <a:latin typeface="Microsoft YaHei"/>
              </a:rPr>
              <a:t>0</a:t>
            </a:r>
            <a:r>
              <a:rPr sz="1090" b="0" i="0">
                <a:solidFill>
                  <a:srgbClr val="2F528F"/>
                </a:solidFill>
                <a:latin typeface="Microsoft YaHei"/>
              </a:rPr>
              <a:t> 为零点；三者的交集即</a:t>
            </a:r>
            <a:r>
              <a:rPr sz="1090" b="1" i="0">
                <a:solidFill>
                  <a:srgbClr val="2F528F"/>
                </a:solidFill>
                <a:latin typeface="Microsoft YaHei"/>
              </a:rPr>
              <a:t>可行设计区间</a:t>
            </a:r>
            <a:r>
              <a:rPr sz="1090" b="0" i="0">
                <a:solidFill>
                  <a:srgbClr val="2F528F"/>
                </a:solidFill>
                <a:latin typeface="Microsoft YaHei"/>
              </a:rPr>
              <a:t>。</a:t>
            </a:r>
            <a:r>
              <a:rPr sz="1090" b="1" i="0">
                <a:solidFill>
                  <a:srgbClr val="2F528F"/>
                </a:solidFill>
                <a:latin typeface="Microsoft YaHei"/>
              </a:rPr>
              <a:t>本研究的贡献不是「猜一个更好的秒数」，而是把这个区间实测出来。</a:t>
            </a:r>
          </a:p>
        </p:txBody>
      </p:sp>
      <p:pic>
        <p:nvPicPr>
          <p:cNvPr id="9" name="Picture 8" descr="ch2_fig_three_bounds.png"/>
          <p:cNvPicPr>
            <a:picLocks noChangeAspect="1"/>
          </p:cNvPicPr>
          <p:nvPr/>
        </p:nvPicPr>
        <p:blipFill>
          <a:blip r:embed="rId2"/>
          <a:stretch>
            <a:fillRect/>
          </a:stretch>
        </p:blipFill>
        <p:spPr>
          <a:xfrm>
            <a:off x="2713732" y="1560909"/>
            <a:ext cx="6764387" cy="2916138"/>
          </a:xfrm>
          <a:prstGeom prst="rect">
            <a:avLst/>
          </a:prstGeom>
        </p:spPr>
      </p:pic>
      <p:graphicFrame>
        <p:nvGraphicFramePr>
          <p:cNvPr id="10" name="Table 9"/>
          <p:cNvGraphicFramePr>
            <a:graphicFrameLocks noGrp="1"/>
          </p:cNvGraphicFramePr>
          <p:nvPr/>
        </p:nvGraphicFramePr>
        <p:xfrm>
          <a:off x="438150" y="4581822"/>
          <a:ext cx="11315697" cy="1871362"/>
        </p:xfrm>
        <a:graphic>
          <a:graphicData uri="http://schemas.openxmlformats.org/drawingml/2006/table">
            <a:tbl>
              <a:tblPr>
                <a:tableStyleId>{5C22544A-7EE6-4342-B048-85BDC9FD1C3A}</a:tableStyleId>
              </a:tblPr>
              <a:tblGrid>
                <a:gridCol w="1923603"/>
                <a:gridCol w="1697235"/>
                <a:gridCol w="3394620"/>
                <a:gridCol w="4300239"/>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约束</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约束的实质</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数学表述</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由谁测定</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① 运动学下界</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预警</a:t>
                      </a:r>
                      <a:r>
                        <a:rPr sz="890" b="1" i="0">
                          <a:solidFill>
                            <a:srgbClr val="1A1A1A"/>
                          </a:solidFill>
                          <a:latin typeface="Microsoft YaHei"/>
                        </a:rPr>
                        <a:t>必须足够早</a:t>
                      </a:r>
                      <a:r>
                        <a:rPr sz="890" b="0" i="0">
                          <a:solidFill>
                            <a:srgbClr val="1A1A1A"/>
                          </a:solidFill>
                          <a:latin typeface="Microsoft YaHei"/>
                        </a:rPr>
                        <a:t>：来不及刹住就没有意义</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warn</a:t>
                      </a:r>
                      <a:r>
                        <a:rPr sz="890" b="0" i="1">
                          <a:solidFill>
                            <a:srgbClr val="1A1A1A"/>
                          </a:solidFill>
                          <a:latin typeface="Microsoft YaHei"/>
                        </a:rPr>
                        <a:t>≥ </a:t>
                      </a:r>
                      <a:r>
                        <a:rPr sz="890" b="0" i="1">
                          <a:solidFill>
                            <a:srgbClr val="1A1A1A"/>
                          </a:solidFill>
                          <a:latin typeface="Microsoft YaHei"/>
                        </a:rPr>
                        <a:t>PRT</a:t>
                      </a:r>
                      <a:r>
                        <a:rPr sz="620" b="0" i="1" baseline="-25000">
                          <a:solidFill>
                            <a:srgbClr val="1A1A1A"/>
                          </a:solidFill>
                          <a:latin typeface="Microsoft YaHei"/>
                        </a:rPr>
                        <a:t>p95</a:t>
                      </a:r>
                      <a:r>
                        <a:rPr sz="890" b="0" i="1">
                          <a:solidFill>
                            <a:srgbClr val="1A1A1A"/>
                          </a:solidFill>
                          <a:latin typeface="Microsoft YaHei"/>
                        </a:rPr>
                        <a:t>+</a:t>
                      </a:r>
                      <a:r>
                        <a:rPr sz="890" b="0" i="1">
                          <a:solidFill>
                            <a:srgbClr val="1A1A1A"/>
                          </a:solidFill>
                          <a:latin typeface="Microsoft YaHei"/>
                        </a:rPr>
                        <a:t>v</a:t>
                      </a:r>
                      <a:r>
                        <a:rPr sz="620" b="0" i="1" baseline="-25000">
                          <a:solidFill>
                            <a:srgbClr val="1A1A1A"/>
                          </a:solidFill>
                          <a:latin typeface="Microsoft YaHei"/>
                        </a:rPr>
                        <a:t>ego</a:t>
                      </a:r>
                      <a:r>
                        <a:rPr sz="890" b="0" i="1">
                          <a:solidFill>
                            <a:srgbClr val="1A1A1A"/>
                          </a:solidFill>
                          <a:latin typeface="Microsoft YaHei"/>
                        </a:rPr>
                        <a:t>/</a:t>
                      </a:r>
                      <a:r>
                        <a:rPr sz="890" b="0" i="1">
                          <a:solidFill>
                            <a:srgbClr val="1A1A1A"/>
                          </a:solidFill>
                          <a:latin typeface="Microsoft YaHei"/>
                        </a:rPr>
                        <a:t>a</a:t>
                      </a:r>
                      <a:r>
                        <a:rPr sz="620" b="0" i="1" baseline="-25000">
                          <a:solidFill>
                            <a:srgbClr val="1A1A1A"/>
                          </a:solidFill>
                          <a:latin typeface="Microsoft YaHei"/>
                        </a:rPr>
                        <a:t>comf</a:t>
                      </a:r>
                      <a:r>
                        <a:rPr sz="890" b="0" i="1">
                          <a:solidFill>
                            <a:srgbClr val="1A1A1A"/>
                          </a:solidFill>
                          <a:latin typeface="Microsoft YaHei"/>
                        </a:rPr>
                        <a:t>+</a:t>
                      </a:r>
                      <a:r>
                        <a:rPr sz="890" b="0" i="1">
                          <a:solidFill>
                            <a:srgbClr val="1A1A1A"/>
                          </a:solidFill>
                          <a:latin typeface="Microsoft YaHei"/>
                        </a:rPr>
                        <a:t>δ</a:t>
                      </a:r>
                      <a:r>
                        <a:rPr sz="620" b="0" i="1" baseline="-25000">
                          <a:solidFill>
                            <a:srgbClr val="1A1A1A"/>
                          </a:solidFill>
                          <a:latin typeface="Microsoft YaHei"/>
                        </a:rPr>
                        <a:t>brake</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1</a:t>
                      </a:r>
                      <a:r>
                        <a:rPr sz="890" b="0" i="0">
                          <a:solidFill>
                            <a:srgbClr val="1A1A1A"/>
                          </a:solidFill>
                          <a:latin typeface="Microsoft YaHei"/>
                        </a:rPr>
                        <a:t> 测 PRT 分布与 </a:t>
                      </a:r>
                      <a:r>
                        <a:rPr sz="890" b="0" i="1">
                          <a:solidFill>
                            <a:srgbClr val="1A1A1A"/>
                          </a:solidFill>
                          <a:latin typeface="Microsoft YaHei"/>
                        </a:rPr>
                        <a:t>a</a:t>
                      </a:r>
                      <a:r>
                        <a:rPr sz="620" b="0" i="1" baseline="-25000">
                          <a:solidFill>
                            <a:srgbClr val="1A1A1A"/>
                          </a:solidFill>
                          <a:latin typeface="Microsoft YaHei"/>
                        </a:rPr>
                        <a:t>comf</a:t>
                      </a:r>
                      <a:r>
                        <a:rPr sz="890" b="0" i="0">
                          <a:solidFill>
                            <a:srgbClr val="1A1A1A"/>
                          </a:solidFill>
                          <a:latin typeface="Microsoft YaHei"/>
                        </a:rPr>
                        <a:t>，由车速算出</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② 可靠性上界</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预警</a:t>
                      </a:r>
                      <a:r>
                        <a:rPr sz="890" b="1" i="0">
                          <a:solidFill>
                            <a:srgbClr val="1A1A1A"/>
                          </a:solidFill>
                          <a:latin typeface="Microsoft YaHei"/>
                        </a:rPr>
                        <a:t>不能太早</a:t>
                      </a:r>
                      <a:r>
                        <a:rPr sz="890" b="0" i="0">
                          <a:solidFill>
                            <a:srgbClr val="1A1A1A"/>
                          </a:solidFill>
                          <a:latin typeface="Microsoft YaHei"/>
                        </a:rPr>
                        <a:t>：算法判不准，虚警毁掉信任</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warn</a:t>
                      </a:r>
                      <a:r>
                        <a:rPr sz="890" b="0" i="1">
                          <a:solidFill>
                            <a:srgbClr val="1A1A1A"/>
                          </a:solidFill>
                          <a:latin typeface="Microsoft YaHei"/>
                        </a:rPr>
                        <a:t>≤ </a:t>
                      </a:r>
                      <a:r>
                        <a:rPr sz="890" b="0" i="1">
                          <a:solidFill>
                            <a:srgbClr val="1A1A1A"/>
                          </a:solidFill>
                          <a:latin typeface="Microsoft YaHei"/>
                        </a:rPr>
                        <a:t>t</a:t>
                      </a:r>
                      <a:r>
                        <a:rPr sz="620" b="0" i="1" baseline="-25000">
                          <a:solidFill>
                            <a:srgbClr val="1A1A1A"/>
                          </a:solidFill>
                          <a:latin typeface="Microsoft YaHei"/>
                        </a:rPr>
                        <a:t>pred</a:t>
                      </a:r>
                      <a:r>
                        <a:rPr sz="890" b="0" i="1">
                          <a:solidFill>
                            <a:srgbClr val="1A1A1A"/>
                          </a:solidFill>
                          <a:latin typeface="Microsoft YaHei"/>
                        </a:rPr>
                        <a:t>(</a:t>
                      </a:r>
                      <a:r>
                        <a:rPr sz="890" b="0" i="1">
                          <a:solidFill>
                            <a:srgbClr val="1A1A1A"/>
                          </a:solidFill>
                          <a:latin typeface="Microsoft YaHei"/>
                        </a:rPr>
                        <a:t>PPV</a:t>
                      </a:r>
                      <a:r>
                        <a:rPr sz="890" b="0" i="1">
                          <a:solidFill>
                            <a:srgbClr val="1A1A1A"/>
                          </a:solidFill>
                          <a:latin typeface="Microsoft YaHei"/>
                        </a:rPr>
                        <a:t>≥</a:t>
                      </a:r>
                      <a:r>
                        <a:rPr sz="890" b="0" i="1">
                          <a:solidFill>
                            <a:srgbClr val="1A1A1A"/>
                          </a:solidFill>
                          <a:latin typeface="Microsoft YaHei"/>
                        </a:rPr>
                        <a:t>π</a:t>
                      </a:r>
                      <a:r>
                        <a:rPr sz="620" b="0" i="1" baseline="30000">
                          <a:solidFill>
                            <a:srgbClr val="1A1A1A"/>
                          </a:solidFill>
                          <a:latin typeface="Microsoft YaHei"/>
                        </a:rPr>
                        <a:t>*</a:t>
                      </a:r>
                      <a:r>
                        <a:rPr sz="890" b="0" i="1">
                          <a:solidFill>
                            <a:srgbClr val="1A1A1A"/>
                          </a:solidFill>
                          <a:latin typeface="Microsoft YaHei"/>
                        </a:rPr>
                        <a:t>)</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3</a:t>
                      </a:r>
                      <a:r>
                        <a:rPr sz="890" b="0" i="0">
                          <a:solidFill>
                            <a:srgbClr val="1A1A1A"/>
                          </a:solidFill>
                          <a:latin typeface="Microsoft YaHei"/>
                        </a:rPr>
                        <a:t> 操纵系统可靠性直接检验</a:t>
                      </a:r>
                    </a:p>
                  </a:txBody>
                  <a:tcPr marL="66675" marR="66675" marT="42862" marB="42862" anchor="t">
                    <a:noFill/>
                  </a:tcPr>
                </a:tc>
              </a:tr>
              <a:tr h="278903">
                <a:tc>
                  <a:txBody>
                    <a:bodyPr wrap="square" lIns="0" rIns="0" tIns="0" bIns="0" anchor="t"/>
                    <a:lstStyle/>
                    <a:p>
                      <a:pPr algn="l">
                        <a:lnSpc>
                          <a:spcPct val="155000"/>
                        </a:lnSpc>
                        <a:spcBef>
                          <a:spcPts val="0"/>
                        </a:spcBef>
                        <a:spcAft>
                          <a:spcPts val="0"/>
                        </a:spcAft>
                      </a:pPr>
                      <a:r>
                        <a:rPr sz="890" b="1" i="0">
                          <a:solidFill>
                            <a:srgbClr val="E0A100"/>
                          </a:solidFill>
                          <a:latin typeface="Microsoft YaHei"/>
                        </a:rPr>
                        <a:t>③ 认知窗口</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窗口宽度</a:t>
                      </a:r>
                      <a:r>
                        <a:rPr sz="890" b="1" i="0">
                          <a:solidFill>
                            <a:srgbClr val="1A1A1A"/>
                          </a:solidFill>
                          <a:latin typeface="Microsoft YaHei"/>
                        </a:rPr>
                        <a:t>必须容得下注意加工</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Δt</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0</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warn</a:t>
                      </a:r>
                      <a:r>
                        <a:rPr sz="890" b="0" i="1">
                          <a:solidFill>
                            <a:srgbClr val="1A1A1A"/>
                          </a:solidFill>
                          <a:latin typeface="Microsoft YaHei"/>
                        </a:rPr>
                        <a:t> ≥ </a:t>
                      </a:r>
                      <a:r>
                        <a:rPr sz="890" b="0" i="0">
                          <a:solidFill>
                            <a:srgbClr val="1A1A1A"/>
                          </a:solidFill>
                          <a:latin typeface="Microsoft YaHei"/>
                        </a:rPr>
                        <a:t>加工所需（</a:t>
                      </a:r>
                      <a:r>
                        <a:rPr sz="890" b="1" i="0">
                          <a:solidFill>
                            <a:srgbClr val="1A1A1A"/>
                          </a:solidFill>
                          <a:latin typeface="Microsoft YaHei"/>
                        </a:rPr>
                        <a:t>本研究估计</a:t>
                      </a:r>
                      <a:r>
                        <a:rPr sz="890" b="0" i="0">
                          <a:solidFill>
                            <a:srgbClr val="1A1A1A"/>
                          </a:solidFill>
                          <a:latin typeface="Microsoft YaHei"/>
                        </a:rPr>
                        <a:t> 0.9–1.2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2</a:t>
                      </a:r>
                      <a:r>
                        <a:rPr sz="890" b="0" i="0">
                          <a:solidFill>
                            <a:srgbClr val="1A1A1A"/>
                          </a:solidFill>
                          <a:latin typeface="Microsoft YaHei"/>
                        </a:rPr>
                        <a:t> 以 </a:t>
                      </a:r>
                      <a:r>
                        <a:rPr sz="890" b="0" i="1">
                          <a:solidFill>
                            <a:srgbClr val="1A1A1A"/>
                          </a:solidFill>
                          <a:latin typeface="Microsoft YaHei"/>
                        </a:rPr>
                        <a:t>Δt</a:t>
                      </a:r>
                      <a:r>
                        <a:rPr sz="890" b="0" i="0">
                          <a:solidFill>
                            <a:srgbClr val="1A1A1A"/>
                          </a:solidFill>
                          <a:latin typeface="Microsoft YaHei"/>
                        </a:rPr>
                        <a:t> 为自变量直接检验</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4472C4"/>
                          </a:solidFill>
                          <a:latin typeface="Microsoft YaHei"/>
                        </a:rPr>
                        <a:t>零点 </a:t>
                      </a:r>
                      <a:r>
                        <a:rPr sz="890" b="1" i="1">
                          <a:solidFill>
                            <a:srgbClr val="4472C4"/>
                          </a:solidFill>
                          <a:latin typeface="Microsoft YaHei"/>
                        </a:rPr>
                        <a:t>t</a:t>
                      </a:r>
                      <a:r>
                        <a:rPr sz="620" b="1" i="1" baseline="-25000">
                          <a:solidFill>
                            <a:srgbClr val="4472C4"/>
                          </a:solidFill>
                          <a:latin typeface="Microsoft YaHei"/>
                        </a:rPr>
                        <a:t>0</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零点缺失时</a:t>
                      </a:r>
                      <a:r>
                        <a:rPr sz="890" b="1" i="0">
                          <a:solidFill>
                            <a:srgbClr val="1A1A1A"/>
                          </a:solidFill>
                          <a:latin typeface="Microsoft YaHei"/>
                        </a:rPr>
                        <a:t>相对提前量在操作上无从定义</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驾驶员在无辅助条件下的自发察觉时刻</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实验 1</a:t>
                      </a:r>
                      <a:r>
                        <a:rPr sz="890" b="0" i="0">
                          <a:solidFill>
                            <a:srgbClr val="1A1A1A"/>
                          </a:solidFill>
                          <a:latin typeface="Microsoft YaHei"/>
                        </a:rPr>
                        <a:t> 实测；τ 理论给出校验值 TTC ≈ 3.2 s</a:t>
                      </a:r>
                    </a:p>
                  </a:txBody>
                  <a:tcPr marL="66675" marR="66675" marT="42862" marB="42862" anchor="t">
                    <a:noFill/>
                  </a:tcPr>
                </a:tc>
              </a:tr>
            </a:tbl>
          </a:graphicData>
        </a:graphic>
      </p:graphicFrame>
      <p:sp>
        <p:nvSpPr>
          <p:cNvPr id="11" name="TextBox 10"/>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行人侧的行为与运动学参数</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2.1.7</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若实验场景中的行人运动参数不符合真实行为分布，则</a:t>
            </a:r>
            <a:r>
              <a:rPr sz="1090" b="1" i="0">
                <a:solidFill>
                  <a:srgbClr val="2F528F"/>
                </a:solidFill>
                <a:latin typeface="Microsoft YaHei"/>
              </a:rPr>
              <a:t>所有时间阈值都失去外部效度</a:t>
            </a:r>
            <a:r>
              <a:rPr sz="1090" b="0" i="0">
                <a:solidFill>
                  <a:srgbClr val="2F528F"/>
                </a:solidFill>
                <a:latin typeface="Microsoft YaHei"/>
              </a:rPr>
              <a:t>。主要依据：Rasouli 与 Tsotsos（2020）梳理 1950s–2018 年研究与 24 个意图估计模型、识别 38 个影响因素；Ezzati Amini 等（2019）汇总 152 篇文献。</a:t>
            </a:r>
          </a:p>
        </p:txBody>
      </p:sp>
      <p:sp>
        <p:nvSpPr>
          <p:cNvPr id="9" name="Rounded Rectangle 8"/>
          <p:cNvSpPr/>
          <p:nvPr/>
        </p:nvSpPr>
        <p:spPr>
          <a:xfrm>
            <a:off x="438150" y="1551384"/>
            <a:ext cx="5572125" cy="4906565"/>
          </a:xfrm>
          <a:prstGeom prst="roundRect">
            <a:avLst>
              <a:gd name="adj" fmla="val 1358"/>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941909"/>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684734"/>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过街速度</a:t>
            </a:r>
          </a:p>
        </p:txBody>
      </p:sp>
      <p:graphicFrame>
        <p:nvGraphicFramePr>
          <p:cNvPr id="12" name="Table 11"/>
          <p:cNvGraphicFramePr>
            <a:graphicFrameLocks noGrp="1"/>
          </p:cNvGraphicFramePr>
          <p:nvPr/>
        </p:nvGraphicFramePr>
        <p:xfrm>
          <a:off x="590550" y="2027634"/>
          <a:ext cx="5267324" cy="1878206"/>
        </p:xfrm>
        <a:graphic>
          <a:graphicData uri="http://schemas.openxmlformats.org/drawingml/2006/table">
            <a:tbl>
              <a:tblPr>
                <a:tableStyleId>{5C22544A-7EE6-4342-B048-85BDC9FD1C3A}</a:tableStyleId>
              </a:tblPr>
              <a:tblGrid>
                <a:gridCol w="3231505"/>
                <a:gridCol w="1085105"/>
                <a:gridCol w="950714"/>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速度</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用途</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斑马线实测均值（Crompton, 1979）</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1.49</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主设定</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土耳其标准设计速度</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1.4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主设定</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墨尔本实测（Bennett 等）</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1.53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MUTCD 群体平均基准</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1.22</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边界校验</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无按钮配时推荐值</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0.91–0.99</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最慢档</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&lt; 16 岁 / &gt; 64 岁</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1.53 / 1.16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代际边界</a:t>
                      </a:r>
                    </a:p>
                  </a:txBody>
                  <a:tcPr marL="66675" marR="66675" marT="42862" marB="42862" anchor="t">
                    <a:noFill/>
                  </a:tcPr>
                </a:tc>
              </a:tr>
            </a:tbl>
          </a:graphicData>
        </a:graphic>
      </p:graphicFrame>
      <p:sp>
        <p:nvSpPr>
          <p:cNvPr id="13" name="Rectangle 12"/>
          <p:cNvSpPr/>
          <p:nvPr/>
        </p:nvSpPr>
        <p:spPr>
          <a:xfrm>
            <a:off x="590550" y="3996332"/>
            <a:ext cx="5267325"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3996332"/>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 y="4082057"/>
            <a:ext cx="5057775"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 一处文献冲突：</a:t>
            </a:r>
            <a:r>
              <a:rPr sz="990" b="0" i="0">
                <a:solidFill>
                  <a:srgbClr val="6B5200"/>
                </a:solidFill>
                <a:latin typeface="Microsoft YaHei"/>
              </a:rPr>
              <a:t>1.49–1.74 vs 1.22 / 0.91–0.99 相差最多 1.9 倍。本研究判读为</a:t>
            </a:r>
            <a:r>
              <a:rPr sz="990" b="1" i="0">
                <a:solidFill>
                  <a:srgbClr val="8A6A00"/>
                </a:solidFill>
                <a:latin typeface="Microsoft YaHei"/>
              </a:rPr>
              <a:t>测量对象不同而非矛盾</a:t>
            </a:r>
            <a:r>
              <a:rPr sz="990" b="0" i="0">
                <a:solidFill>
                  <a:srgbClr val="6B5200"/>
                </a:solidFill>
                <a:latin typeface="Microsoft YaHei"/>
              </a:rPr>
              <a:t>——前者是</a:t>
            </a:r>
            <a:r>
              <a:rPr sz="990" b="1" i="0">
                <a:solidFill>
                  <a:srgbClr val="8A6A00"/>
                </a:solidFill>
                <a:latin typeface="Microsoft YaHei"/>
              </a:rPr>
              <a:t>实际</a:t>
            </a:r>
            <a:r>
              <a:rPr sz="990" b="0" i="0">
                <a:solidFill>
                  <a:srgbClr val="6B5200"/>
                </a:solidFill>
                <a:latin typeface="Microsoft YaHei"/>
              </a:rPr>
              <a:t>速度实测均值，后者是配时</a:t>
            </a:r>
            <a:r>
              <a:rPr sz="990" b="1" i="0">
                <a:solidFill>
                  <a:srgbClr val="8A6A00"/>
                </a:solidFill>
                <a:latin typeface="Microsoft YaHei"/>
              </a:rPr>
              <a:t>设计下限</a:t>
            </a:r>
            <a:r>
              <a:rPr sz="990" b="0" i="0">
                <a:solidFill>
                  <a:srgbClr val="6B5200"/>
                </a:solidFill>
                <a:latin typeface="Microsoft YaHei"/>
              </a:rPr>
              <a:t>。</a:t>
            </a:r>
            <a:r>
              <a:rPr sz="990" b="1" i="0">
                <a:solidFill>
                  <a:srgbClr val="8A6A00"/>
                </a:solidFill>
                <a:latin typeface="Microsoft YaHei"/>
              </a:rPr>
              <a:t>不取平均</a:t>
            </a:r>
            <a:r>
              <a:rPr sz="990" b="0" i="0">
                <a:solidFill>
                  <a:srgbClr val="6B5200"/>
                </a:solidFill>
                <a:latin typeface="Microsoft YaHei"/>
              </a:rPr>
              <a:t>。</a:t>
            </a:r>
          </a:p>
        </p:txBody>
      </p:sp>
      <p:sp>
        <p:nvSpPr>
          <p:cNvPr id="16" name="Rectangle 15"/>
          <p:cNvSpPr/>
          <p:nvPr/>
        </p:nvSpPr>
        <p:spPr>
          <a:xfrm>
            <a:off x="590550" y="4661296"/>
            <a:ext cx="5267325" cy="79742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0550" y="4661296"/>
            <a:ext cx="38100" cy="79742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4375" y="4747021"/>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行人的判断能力上限（Rasouli 与 Tsotsos, 2020）：</a:t>
            </a:r>
            <a:r>
              <a:rPr sz="990" b="0" i="0">
                <a:solidFill>
                  <a:srgbClr val="6B5200"/>
                </a:solidFill>
                <a:latin typeface="Microsoft YaHei"/>
              </a:rPr>
              <a:t>车速 &lt; 45 km/h 时行人能正确估计</a:t>
            </a:r>
            <a:r>
              <a:rPr sz="990" b="1" i="0">
                <a:solidFill>
                  <a:srgbClr val="8A6A00"/>
                </a:solidFill>
                <a:latin typeface="Microsoft YaHei"/>
              </a:rPr>
              <a:t>车速</a:t>
            </a:r>
            <a:r>
              <a:rPr sz="990" b="0" i="0">
                <a:solidFill>
                  <a:srgbClr val="6B5200"/>
                </a:solidFill>
                <a:latin typeface="Microsoft YaHei"/>
              </a:rPr>
              <a:t>，&lt; 65 km/h 时能正确估计</a:t>
            </a:r>
            <a:r>
              <a:rPr sz="990" b="1" i="0">
                <a:solidFill>
                  <a:srgbClr val="8A6A00"/>
                </a:solidFill>
                <a:latin typeface="Microsoft YaHei"/>
              </a:rPr>
              <a:t>车距</a:t>
            </a:r>
            <a:r>
              <a:rPr sz="990" b="0" i="0">
                <a:solidFill>
                  <a:srgbClr val="6B5200"/>
                </a:solidFill>
                <a:latin typeface="Microsoft YaHei"/>
              </a:rPr>
              <a:t>。反直觉推论：</a:t>
            </a:r>
            <a:r>
              <a:rPr sz="990" b="1" i="0">
                <a:solidFill>
                  <a:srgbClr val="8A6A00"/>
                </a:solidFill>
                <a:latin typeface="Microsoft YaHei"/>
              </a:rPr>
              <a:t>同一 TTC 下来车越快，行人反而更常过街</a:t>
            </a:r>
            <a:r>
              <a:rPr sz="990" b="0" i="0">
                <a:solidFill>
                  <a:srgbClr val="6B5200"/>
                </a:solidFill>
                <a:latin typeface="Microsoft YaHei"/>
              </a:rPr>
              <a:t>（更依赖距离线索）。</a:t>
            </a:r>
          </a:p>
        </p:txBody>
      </p:sp>
      <p:sp>
        <p:nvSpPr>
          <p:cNvPr id="19" name="Rectangle 18"/>
          <p:cNvSpPr/>
          <p:nvPr/>
        </p:nvSpPr>
        <p:spPr>
          <a:xfrm>
            <a:off x="590550" y="5534917"/>
            <a:ext cx="5267325"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90550" y="5534917"/>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4375" y="5620642"/>
            <a:ext cx="5057775"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本研究取值（实验 1–5 共同场景规范）：</a:t>
            </a:r>
            <a:r>
              <a:rPr sz="990" b="0" i="0">
                <a:solidFill>
                  <a:srgbClr val="1F5A1F"/>
                </a:solidFill>
                <a:latin typeface="Microsoft YaHei"/>
              </a:rPr>
              <a:t>过街速度 </a:t>
            </a:r>
            <a:r>
              <a:rPr sz="990" b="1" i="0">
                <a:solidFill>
                  <a:srgbClr val="1F5A1F"/>
                </a:solidFill>
                <a:latin typeface="Microsoft YaHei"/>
              </a:rPr>
              <a:t>1.4–1.5 m/s</a:t>
            </a:r>
            <a:r>
              <a:rPr sz="990" b="0" i="0">
                <a:solidFill>
                  <a:srgbClr val="1F5A1F"/>
                </a:solidFill>
                <a:latin typeface="Microsoft YaHei"/>
              </a:rPr>
              <a:t>，边界校验 </a:t>
            </a:r>
            <a:r>
              <a:rPr sz="990" b="1" i="0">
                <a:solidFill>
                  <a:srgbClr val="1F5A1F"/>
                </a:solidFill>
                <a:latin typeface="Microsoft YaHei"/>
              </a:rPr>
              <a:t>0.9–1.2 m/s</a:t>
            </a:r>
            <a:r>
              <a:rPr sz="990" b="0" i="0">
                <a:solidFill>
                  <a:srgbClr val="1F5A1F"/>
                </a:solidFill>
                <a:latin typeface="Microsoft YaHei"/>
              </a:rPr>
              <a:t>；起步损失 </a:t>
            </a:r>
            <a:r>
              <a:rPr sz="990" b="1" i="0">
                <a:solidFill>
                  <a:srgbClr val="1F5A1F"/>
                </a:solidFill>
                <a:latin typeface="Microsoft YaHei"/>
              </a:rPr>
              <a:t>1.3 s</a:t>
            </a:r>
            <a:r>
              <a:rPr sz="990" b="0" i="0">
                <a:solidFill>
                  <a:srgbClr val="1F5A1F"/>
                </a:solidFill>
                <a:latin typeface="Microsoft YaHei"/>
              </a:rPr>
              <a:t>；车—人间隙 </a:t>
            </a:r>
            <a:r>
              <a:rPr sz="990" b="1" i="0">
                <a:solidFill>
                  <a:srgbClr val="1F5A1F"/>
                </a:solidFill>
                <a:latin typeface="Microsoft YaHei"/>
              </a:rPr>
              <a:t>1.5–7 s</a:t>
            </a:r>
            <a:r>
              <a:rPr sz="990" b="0" i="0">
                <a:solidFill>
                  <a:srgbClr val="1F5A1F"/>
                </a:solidFill>
                <a:latin typeface="Microsoft YaHei"/>
              </a:rPr>
              <a:t>，主条件取 </a:t>
            </a:r>
            <a:r>
              <a:rPr sz="990" b="1" i="0">
                <a:solidFill>
                  <a:srgbClr val="1F5A1F"/>
                </a:solidFill>
                <a:latin typeface="Microsoft YaHei"/>
              </a:rPr>
              <a:t>3–7 s</a:t>
            </a:r>
            <a:r>
              <a:rPr sz="990" b="0" i="0">
                <a:solidFill>
                  <a:srgbClr val="1F5A1F"/>
                </a:solidFill>
                <a:latin typeface="Microsoft YaHei"/>
              </a:rPr>
              <a:t> 模糊带。</a:t>
            </a:r>
          </a:p>
        </p:txBody>
      </p:sp>
      <p:sp>
        <p:nvSpPr>
          <p:cNvPr id="22" name="Rounded Rectangle 21"/>
          <p:cNvSpPr/>
          <p:nvPr/>
        </p:nvSpPr>
        <p:spPr>
          <a:xfrm>
            <a:off x="6181725" y="1551384"/>
            <a:ext cx="5572125" cy="4906565"/>
          </a:xfrm>
          <a:prstGeom prst="roundRect">
            <a:avLst>
              <a:gd name="adj" fmla="val 1358"/>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334125" y="1941909"/>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4125" y="1684734"/>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间隙接受：危险场景在生态上是否成立</a:t>
            </a:r>
          </a:p>
        </p:txBody>
      </p:sp>
      <p:graphicFrame>
        <p:nvGraphicFramePr>
          <p:cNvPr id="25" name="Table 24"/>
          <p:cNvGraphicFramePr>
            <a:graphicFrameLocks noGrp="1"/>
          </p:cNvGraphicFramePr>
          <p:nvPr/>
        </p:nvGraphicFramePr>
        <p:xfrm>
          <a:off x="6334125" y="2027634"/>
          <a:ext cx="5267324" cy="2384224"/>
        </p:xfrm>
        <a:graphic>
          <a:graphicData uri="http://schemas.openxmlformats.org/drawingml/2006/table">
            <a:tbl>
              <a:tblPr>
                <a:tableStyleId>{5C22544A-7EE6-4342-B048-85BDC9FD1C3A}</a:tableStyleId>
              </a:tblPr>
              <a:tblGrid>
                <a:gridCol w="2001738"/>
                <a:gridCol w="789979"/>
                <a:gridCol w="247560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判据</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数值</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一手出处（两篇综述均为转引）</a:t>
                      </a:r>
                    </a:p>
                  </a:txBody>
                  <a:tcPr marL="66675" marR="66675" marT="52387" marB="52387" anchor="t">
                    <a:solidFill>
                      <a:srgbClr val="4472C4"/>
                    </a:solidFill>
                  </a:tcPr>
                </a:tc>
              </a:tr>
              <a:tr h="6128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无人接受的间隙</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&lt; 1.5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英国实测「所有行人接受 10.5 s、</a:t>
                      </a:r>
                      <a:r>
                        <a:rPr sz="890" b="1" i="0">
                          <a:solidFill>
                            <a:srgbClr val="1A1A1A"/>
                          </a:solidFill>
                          <a:latin typeface="Microsoft YaHei"/>
                        </a:rPr>
                        <a:t>无人接受 &lt; 1.5 s</a:t>
                      </a:r>
                      <a:r>
                        <a:rPr sz="890" b="0" i="0">
                          <a:solidFill>
                            <a:srgbClr val="1A1A1A"/>
                          </a:solidFill>
                          <a:latin typeface="Microsoft YaHei"/>
                        </a:rPr>
                        <a:t>」——Ezzati Amini 等（2019）转引，原文献编号 [116]</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通常不过街的 TTC</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&lt; 3 s</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DiPietro 与 King（1970）</a:t>
                      </a:r>
                      <a:r>
                        <a:rPr sz="890" b="0" i="0">
                          <a:solidFill>
                            <a:srgbClr val="1A1A1A"/>
                          </a:solidFill>
                          <a:latin typeface="Microsoft YaHei"/>
                        </a:rPr>
                        <a:t>——Rasouli 与 Tsotsos（2020）转引</a:t>
                      </a:r>
                    </a:p>
                  </a:txBody>
                  <a:tcPr marL="66675" marR="66675" marT="42862" marB="42862" anchor="t">
                    <a:noFill/>
                  </a:tcPr>
                </a:tc>
              </a:tr>
              <a:tr h="61763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非常可能过街的 TTC</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&gt; 7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Schmidt 与 Färber（2009）</a:t>
                      </a:r>
                      <a:r>
                        <a:rPr sz="890" b="0" i="0">
                          <a:solidFill>
                            <a:srgbClr val="1A1A1A"/>
                          </a:solidFill>
                          <a:latin typeface="Microsoft YaHei"/>
                        </a:rPr>
                        <a:t>——同上转引；Ezzati Amini 等经 Schroeder </a:t>
                      </a:r>
                      <a:r>
                        <a:rPr sz="890" b="1" i="0">
                          <a:solidFill>
                            <a:srgbClr val="1A1A1A"/>
                          </a:solidFill>
                          <a:latin typeface="Microsoft YaHei"/>
                        </a:rPr>
                        <a:t>独立得到同一区间</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起步损失时间</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1.3 s</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路段中部受控过街，Bennett 等——Ezzati Amini 等（2019）转引</a:t>
                      </a:r>
                    </a:p>
                  </a:txBody>
                  <a:tcPr marL="66675" marR="66675" marT="42862" marB="42862" anchor="t">
                    <a:noFill/>
                  </a:tcPr>
                </a:tc>
              </a:tr>
            </a:tbl>
          </a:graphicData>
        </a:graphic>
      </p:graphicFrame>
      <p:sp>
        <p:nvSpPr>
          <p:cNvPr id="26" name="Rectangle 25"/>
          <p:cNvSpPr/>
          <p:nvPr/>
        </p:nvSpPr>
        <p:spPr>
          <a:xfrm>
            <a:off x="6334125" y="4492823"/>
            <a:ext cx="5267325" cy="79742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334125" y="4492823"/>
            <a:ext cx="38100" cy="79742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7950" y="4578548"/>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本研究由此得出的场景约束（判读，非原文表述）：</a:t>
            </a:r>
            <a:r>
              <a:rPr sz="990" b="0" i="0">
                <a:solidFill>
                  <a:srgbClr val="1F5A1F"/>
                </a:solidFill>
                <a:latin typeface="Microsoft YaHei"/>
              </a:rPr>
              <a:t>危险场景的车—人间隙应落在 </a:t>
            </a:r>
            <a:r>
              <a:rPr sz="990" b="1" i="0">
                <a:solidFill>
                  <a:srgbClr val="1F5A1F"/>
                </a:solidFill>
                <a:latin typeface="Microsoft YaHei"/>
              </a:rPr>
              <a:t>1.5–7 s</a:t>
            </a:r>
            <a:r>
              <a:rPr sz="990" b="0" i="0">
                <a:solidFill>
                  <a:srgbClr val="1F5A1F"/>
                </a:solidFill>
                <a:latin typeface="Microsoft YaHei"/>
              </a:rPr>
              <a:t>——低于 1.5 s 则行人横穿在生态上不合理，高于 7 s 则冲突不成立；</a:t>
            </a:r>
            <a:r>
              <a:rPr sz="990" b="1" i="0">
                <a:solidFill>
                  <a:srgbClr val="1F5A1F"/>
                </a:solidFill>
                <a:latin typeface="Microsoft YaHei"/>
              </a:rPr>
              <a:t>3–7 s 是行人自身决策最不确定的模糊带，也是 AR 介入价值最高的窗口</a:t>
            </a:r>
            <a:r>
              <a:rPr sz="990" b="0" i="0">
                <a:solidFill>
                  <a:srgbClr val="1F5A1F"/>
                </a:solidFill>
                <a:latin typeface="Microsoft YaHei"/>
              </a:rPr>
              <a:t>。</a:t>
            </a:r>
          </a:p>
        </p:txBody>
      </p:sp>
      <p:sp>
        <p:nvSpPr>
          <p:cNvPr id="29" name="Rectangle 28"/>
          <p:cNvSpPr/>
          <p:nvPr/>
        </p:nvSpPr>
        <p:spPr>
          <a:xfrm>
            <a:off x="6334125" y="5356919"/>
            <a:ext cx="5267325" cy="7974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334125" y="5356919"/>
            <a:ext cx="38100" cy="7974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7950" y="5442644"/>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两点必须声明：</a:t>
            </a:r>
            <a:r>
              <a:rPr sz="990" b="0" i="0">
                <a:solidFill>
                  <a:srgbClr val="7A1F1F"/>
                </a:solidFill>
                <a:latin typeface="Microsoft YaHei"/>
              </a:rPr>
              <a:t>① 两篇原文只报告分布，</a:t>
            </a:r>
            <a:r>
              <a:rPr sz="990" b="1" i="0">
                <a:solidFill>
                  <a:srgbClr val="7A1F1F"/>
                </a:solidFill>
                <a:latin typeface="Microsoft YaHei"/>
              </a:rPr>
              <a:t>「硬约束」一词是本研究的判读</a:t>
            </a:r>
            <a:r>
              <a:rPr sz="990" b="0" i="0">
                <a:solidFill>
                  <a:srgbClr val="7A1F1F"/>
                </a:solidFill>
                <a:latin typeface="Microsoft YaHei"/>
              </a:rPr>
              <a:t>；② 全部端点均为</a:t>
            </a:r>
            <a:r>
              <a:rPr sz="990" b="1" i="0">
                <a:solidFill>
                  <a:srgbClr val="7A1F1F"/>
                </a:solidFill>
                <a:latin typeface="Microsoft YaHei"/>
              </a:rPr>
              <a:t>综述转引</a:t>
            </a:r>
            <a:r>
              <a:rPr sz="990" b="0" i="0">
                <a:solidFill>
                  <a:srgbClr val="7A1F1F"/>
                </a:solidFill>
                <a:latin typeface="Microsoft YaHei"/>
              </a:rPr>
              <a:t>（1970／2009 年的一手文献本课题未取得），故只用于</a:t>
            </a:r>
            <a:r>
              <a:rPr sz="990" b="1" i="0">
                <a:solidFill>
                  <a:srgbClr val="7A1F1F"/>
                </a:solidFill>
                <a:latin typeface="Microsoft YaHei"/>
              </a:rPr>
              <a:t>场景合理性辩护</a:t>
            </a:r>
            <a:r>
              <a:rPr sz="990" b="0" i="0">
                <a:solidFill>
                  <a:srgbClr val="7A1F1F"/>
                </a:solidFill>
                <a:latin typeface="Microsoft YaHei"/>
              </a:rPr>
              <a:t>，不作为效应量依据。两篇独立综述给出同一区间，是本判读的主要支撑。</a:t>
            </a:r>
          </a:p>
        </p:txBody>
      </p:sp>
      <p:sp>
        <p:nvSpPr>
          <p:cNvPr id="32" name="TextBox 31"/>
          <p:cNvSpPr txBox="1"/>
          <p:nvPr/>
        </p:nvSpPr>
        <p:spPr>
          <a:xfrm>
            <a:off x="11467504" y="6562725"/>
            <a:ext cx="324445"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预警出现时机：横向比较证据</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2.2.1</a:t>
            </a:r>
          </a:p>
        </p:txBody>
      </p:sp>
      <p:graphicFrame>
        <p:nvGraphicFramePr>
          <p:cNvPr id="6" name="Table 5"/>
          <p:cNvGraphicFramePr>
            <a:graphicFrameLocks noGrp="1"/>
          </p:cNvGraphicFramePr>
          <p:nvPr/>
        </p:nvGraphicFramePr>
        <p:xfrm>
          <a:off x="438150" y="762000"/>
          <a:ext cx="11315697" cy="3287607"/>
        </p:xfrm>
        <a:graphic>
          <a:graphicData uri="http://schemas.openxmlformats.org/drawingml/2006/table">
            <a:tbl>
              <a:tblPr>
                <a:tableStyleId>{5C22544A-7EE6-4342-B048-85BDC9FD1C3A}</a:tableStyleId>
              </a:tblPr>
              <a:tblGrid>
                <a:gridCol w="2376189"/>
                <a:gridCol w="1584126"/>
                <a:gridCol w="1697235"/>
                <a:gridCol w="565814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研究</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阈值</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场景与车速</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关键结果</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Kim 等（2018）</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2.5 / </a:t>
                      </a:r>
                      <a:r>
                        <a:rPr sz="890" b="1" i="0">
                          <a:solidFill>
                            <a:srgbClr val="1A1A1A"/>
                          </a:solidFill>
                          <a:latin typeface="Microsoft YaHei"/>
                        </a:rPr>
                        <a:t>5.0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户外停车场实车</a:t>
                      </a:r>
                    </a:p>
                    <a:p>
                      <a:pPr algn="l">
                        <a:lnSpc>
                          <a:spcPct val="155000"/>
                        </a:lnSpc>
                        <a:spcBef>
                          <a:spcPts val="0"/>
                        </a:spcBef>
                        <a:spcAft>
                          <a:spcPts val="0"/>
                        </a:spcAft>
                      </a:pPr>
                      <a:r>
                        <a:rPr sz="890" b="0" i="0">
                          <a:solidFill>
                            <a:srgbClr val="1A1A1A"/>
                          </a:solidFill>
                          <a:latin typeface="Microsoft YaHei"/>
                        </a:rPr>
                        <a:t>15 mph（24 km/h）</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体积式 HUD（8 m 至光学无穷远，17° 圆形视场）；</a:t>
                      </a:r>
                      <a:r>
                        <a:rPr sz="890" b="1" i="0">
                          <a:solidFill>
                            <a:srgbClr val="1A1A1A"/>
                          </a:solidFill>
                          <a:latin typeface="Microsoft YaHei"/>
                        </a:rPr>
                        <a:t>5.0 s 条件下 BRAKE 文本使峰值减速度较无预警基线上升 </a:t>
                      </a:r>
                      <a:r>
                        <a:rPr sz="890" b="1" i="0">
                          <a:solidFill>
                            <a:srgbClr val="C00000"/>
                          </a:solidFill>
                          <a:latin typeface="Microsoft YaHei"/>
                        </a:rPr>
                        <a:t>34.46%</a:t>
                      </a:r>
                      <a:r>
                        <a:rPr sz="890" b="0" i="0">
                          <a:solidFill>
                            <a:srgbClr val="1A1A1A"/>
                          </a:solidFill>
                          <a:latin typeface="Microsoft YaHei"/>
                        </a:rPr>
                        <a:t>；虚拟阴影未出现过度反应</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Lubbe（2017）</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1.8 s 临界</a:t>
                      </a:r>
                    </a:p>
                    <a:p>
                      <a:pPr algn="ctr">
                        <a:lnSpc>
                          <a:spcPct val="155000"/>
                        </a:lnSpc>
                        <a:spcBef>
                          <a:spcPts val="0"/>
                        </a:spcBef>
                        <a:spcAft>
                          <a:spcPts val="0"/>
                        </a:spcAft>
                      </a:pPr>
                      <a:r>
                        <a:rPr sz="890" b="0" i="0">
                          <a:solidFill>
                            <a:srgbClr val="1A1A1A"/>
                          </a:solidFill>
                          <a:latin typeface="Microsoft YaHei"/>
                        </a:rPr>
                        <a:t>2.5 s 提示</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运动基座模拟器</a:t>
                      </a:r>
                    </a:p>
                    <a:p>
                      <a:pPr algn="l">
                        <a:lnSpc>
                          <a:spcPct val="155000"/>
                        </a:lnSpc>
                        <a:spcBef>
                          <a:spcPts val="0"/>
                        </a:spcBef>
                        <a:spcAft>
                          <a:spcPts val="0"/>
                        </a:spcAft>
                      </a:pPr>
                      <a:r>
                        <a:rPr sz="890" b="0" i="0">
                          <a:solidFill>
                            <a:srgbClr val="1A1A1A"/>
                          </a:solidFill>
                          <a:latin typeface="Microsoft YaHei"/>
                        </a:rPr>
                        <a:t>7.1 m 穹顶 + 6 DOF</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Setting 4（视听 + 制动脉冲）</a:t>
                      </a:r>
                      <a:r>
                        <a:rPr sz="890" b="1" i="0">
                          <a:solidFill>
                            <a:srgbClr val="1A1A1A"/>
                          </a:solidFill>
                          <a:latin typeface="Microsoft YaHei"/>
                        </a:rPr>
                        <a:t>仅 1 次碰撞</a:t>
                      </a:r>
                      <a:r>
                        <a:rPr sz="890" b="0" i="0">
                          <a:solidFill>
                            <a:srgbClr val="1A1A1A"/>
                          </a:solidFill>
                          <a:latin typeface="Microsoft YaHei"/>
                        </a:rPr>
                        <a:t>（其余 8–10 次），平均反应时 </a:t>
                      </a:r>
                      <a:r>
                        <a:rPr sz="890" b="1" i="0">
                          <a:solidFill>
                            <a:srgbClr val="1A1A1A"/>
                          </a:solidFill>
                          <a:latin typeface="Microsoft YaHei"/>
                        </a:rPr>
                        <a:t>0.8 s</a:t>
                      </a:r>
                      <a:r>
                        <a:rPr sz="890" b="0" i="0">
                          <a:solidFill>
                            <a:srgbClr val="1A1A1A"/>
                          </a:solidFill>
                          <a:latin typeface="Microsoft YaHei"/>
                        </a:rPr>
                        <a:t>（SD 0.29）；无触觉条件</a:t>
                      </a:r>
                      <a:r>
                        <a:rPr sz="890" b="1" i="0">
                          <a:solidFill>
                            <a:srgbClr val="1A1A1A"/>
                          </a:solidFill>
                          <a:latin typeface="Microsoft YaHei"/>
                        </a:rPr>
                        <a:t>最长反应时 2.5 s，已超过 TTC 本身</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Huo 与 Alla（2025）</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2.5 s</a:t>
                      </a:r>
                    </a:p>
                    <a:p>
                      <a:pPr algn="ctr">
                        <a:lnSpc>
                          <a:spcPct val="155000"/>
                        </a:lnSpc>
                        <a:spcBef>
                          <a:spcPts val="0"/>
                        </a:spcBef>
                        <a:spcAft>
                          <a:spcPts val="0"/>
                        </a:spcAft>
                      </a:pPr>
                      <a:r>
                        <a:rPr sz="890" b="0" i="0">
                          <a:solidFill>
                            <a:srgbClr val="1A1A1A"/>
                          </a:solidFill>
                          <a:latin typeface="Microsoft YaHei"/>
                        </a:rPr>
                        <a:t>（50 km/h → 34.72 m）</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城市道路模拟</a:t>
                      </a:r>
                    </a:p>
                    <a:p>
                      <a:pPr algn="l">
                        <a:lnSpc>
                          <a:spcPct val="155000"/>
                        </a:lnSpc>
                        <a:spcBef>
                          <a:spcPts val="0"/>
                        </a:spcBef>
                        <a:spcAft>
                          <a:spcPts val="0"/>
                        </a:spcAft>
                      </a:pPr>
                      <a:r>
                        <a:rPr sz="890" b="0" i="0">
                          <a:solidFill>
                            <a:srgbClr val="1A1A1A"/>
                          </a:solidFill>
                          <a:latin typeface="Microsoft YaHei"/>
                        </a:rPr>
                        <a:t>白天／夜间</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危险感知时间：白天 </a:t>
                      </a:r>
                      <a:r>
                        <a:rPr sz="890" b="1" i="0">
                          <a:solidFill>
                            <a:srgbClr val="1A1A1A"/>
                          </a:solidFill>
                          <a:latin typeface="Microsoft YaHei"/>
                        </a:rPr>
                        <a:t>0.52 vs 1.20 s</a:t>
                      </a:r>
                      <a:r>
                        <a:rPr sz="890" b="0" i="0">
                          <a:solidFill>
                            <a:srgbClr val="1A1A1A"/>
                          </a:solidFill>
                          <a:latin typeface="Microsoft YaHei"/>
                        </a:rPr>
                        <a:t>；夜间 </a:t>
                      </a:r>
                      <a:r>
                        <a:rPr sz="890" b="1" i="0">
                          <a:solidFill>
                            <a:srgbClr val="1A1A1A"/>
                          </a:solidFill>
                          <a:latin typeface="Microsoft YaHei"/>
                        </a:rPr>
                        <a:t>0.58 vs 1.89 s</a:t>
                      </a:r>
                      <a:r>
                        <a:rPr sz="890" b="0" i="0">
                          <a:solidFill>
                            <a:srgbClr val="1A1A1A"/>
                          </a:solidFill>
                          <a:latin typeface="Microsoft YaHei"/>
                        </a:rPr>
                        <a:t>（均 p &lt; .01）；</a:t>
                      </a:r>
                      <a:r>
                        <a:rPr sz="890" b="1" i="0">
                          <a:solidFill>
                            <a:srgbClr val="1A1A1A"/>
                          </a:solidFill>
                          <a:latin typeface="Microsoft YaHei"/>
                        </a:rPr>
                        <a:t>AR 可消除昼夜差异</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Phan 等（2016）</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min(TTC 2 s, d 16.6 m)</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固定基座模拟器</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行人觉察时刻由 TTC 约 </a:t>
                      </a:r>
                      <a:r>
                        <a:rPr sz="890" b="1" i="0">
                          <a:solidFill>
                            <a:srgbClr val="1A1A1A"/>
                          </a:solidFill>
                          <a:latin typeface="Microsoft YaHei"/>
                        </a:rPr>
                        <a:t>3 s 提前至 4.5 s</a:t>
                      </a:r>
                      <a:r>
                        <a:rPr sz="890" b="0" i="0">
                          <a:solidFill>
                            <a:srgbClr val="1A1A1A"/>
                          </a:solidFill>
                          <a:latin typeface="Microsoft YaHei"/>
                        </a:rPr>
                        <a:t>；紧急制动次数由 </a:t>
                      </a:r>
                      <a:r>
                        <a:rPr sz="890" b="1" i="0">
                          <a:solidFill>
                            <a:srgbClr val="1A1A1A"/>
                          </a:solidFill>
                          <a:latin typeface="Microsoft YaHei"/>
                        </a:rPr>
                        <a:t>72 降至 11</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Wu 等（2024）</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&lt; 3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360° 全景视频</a:t>
                      </a:r>
                    </a:p>
                    <a:p>
                      <a:pPr algn="l">
                        <a:lnSpc>
                          <a:spcPct val="155000"/>
                        </a:lnSpc>
                        <a:spcBef>
                          <a:spcPts val="0"/>
                        </a:spcBef>
                        <a:spcAft>
                          <a:spcPts val="0"/>
                        </a:spcAft>
                      </a:pPr>
                      <a:r>
                        <a:rPr sz="890" b="0" i="0">
                          <a:solidFill>
                            <a:srgbClr val="1A1A1A"/>
                          </a:solidFill>
                          <a:latin typeface="Microsoft YaHei"/>
                        </a:rPr>
                        <a:t>60 km/h，行人 1.5 m/s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动态跟随 BW 在所有转向场景的 TTFF、注视次数、注视时长均显著优于 BD／BR</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Chen 等（2024b）</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THW ≤ 3 s</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多目标场景，新手</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分级警告 vs 均等警告：</a:t>
                      </a:r>
                      <a:r>
                        <a:rPr sz="890" b="1" i="0">
                          <a:solidFill>
                            <a:srgbClr val="1A1A1A"/>
                          </a:solidFill>
                          <a:latin typeface="Microsoft YaHei"/>
                        </a:rPr>
                        <a:t>1 083 ms vs 1 707 ms（−36%）</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Wang 等（2025）ARive</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 5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HoloLens 2，让行场景</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未显著降低反应时</a:t>
                      </a:r>
                      <a:r>
                        <a:rPr sz="890" b="0" i="0">
                          <a:solidFill>
                            <a:srgbClr val="1A1A1A"/>
                          </a:solidFill>
                          <a:latin typeface="Microsoft YaHei"/>
                        </a:rPr>
                        <a:t>（疑似习惯化），但显著增大 THW；红地毯让行成功率优于基线（p &lt; .001）</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Zhang 等（2024）</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100 m</a:t>
                      </a:r>
                    </a:p>
                    <a:p>
                      <a:pPr algn="ctr">
                        <a:lnSpc>
                          <a:spcPct val="155000"/>
                        </a:lnSpc>
                        <a:spcBef>
                          <a:spcPts val="0"/>
                        </a:spcBef>
                        <a:spcAft>
                          <a:spcPts val="0"/>
                        </a:spcAft>
                      </a:pPr>
                      <a:r>
                        <a:rPr sz="890" b="0" i="0">
                          <a:solidFill>
                            <a:srgbClr val="1A1A1A"/>
                          </a:solidFill>
                          <a:latin typeface="Microsoft YaHei"/>
                        </a:rPr>
                        <a:t>≈ 6 s @60 km/h</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网联 V2X，中国样本 N = 34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首次制动位置 64.50 → </a:t>
                      </a:r>
                      <a:r>
                        <a:rPr sz="890" b="1" i="0">
                          <a:solidFill>
                            <a:srgbClr val="1A1A1A"/>
                          </a:solidFill>
                          <a:latin typeface="Microsoft YaHei"/>
                        </a:rPr>
                        <a:t>27.33 m</a:t>
                      </a:r>
                      <a:r>
                        <a:rPr sz="890" b="0" i="0">
                          <a:solidFill>
                            <a:srgbClr val="1A1A1A"/>
                          </a:solidFill>
                          <a:latin typeface="Microsoft YaHei"/>
                        </a:rPr>
                        <a:t>（提前约 37 m）；最大减速度 −8.30 → </a:t>
                      </a:r>
                      <a:r>
                        <a:rPr sz="890" b="1" i="0">
                          <a:solidFill>
                            <a:srgbClr val="1A1A1A"/>
                          </a:solidFill>
                          <a:latin typeface="Microsoft YaHei"/>
                        </a:rPr>
                        <a:t>−5.03 m/s²</a:t>
                      </a:r>
                      <a:r>
                        <a:rPr sz="890" b="0" i="0">
                          <a:solidFill>
                            <a:srgbClr val="1A1A1A"/>
                          </a:solidFill>
                          <a:latin typeface="Microsoft YaHei"/>
                        </a:rPr>
                        <a:t>；最小冲突距离 10.75 → </a:t>
                      </a:r>
                      <a:r>
                        <a:rPr sz="890" b="1" i="0">
                          <a:solidFill>
                            <a:srgbClr val="1A1A1A"/>
                          </a:solidFill>
                          <a:latin typeface="Microsoft YaHei"/>
                        </a:rPr>
                        <a:t>20.96 m</a:t>
                      </a:r>
                    </a:p>
                  </a:txBody>
                  <a:tcPr marL="66675" marR="66675" marT="42862" marB="42862" anchor="t">
                    <a:noFill/>
                  </a:tcPr>
                </a:tc>
              </a:tr>
            </a:tbl>
          </a:graphicData>
        </a:graphic>
      </p:graphicFrame>
      <p:sp>
        <p:nvSpPr>
          <p:cNvPr id="7" name="Rectangle 6"/>
          <p:cNvSpPr/>
          <p:nvPr/>
        </p:nvSpPr>
        <p:spPr>
          <a:xfrm>
            <a:off x="438150" y="4159150"/>
            <a:ext cx="11315700" cy="380107"/>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4159150"/>
            <a:ext cx="38100" cy="380107"/>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4244875"/>
            <a:ext cx="11106150" cy="237232"/>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横向比较的共同缺陷：</a:t>
            </a:r>
            <a:r>
              <a:rPr sz="990" b="0" i="0">
                <a:solidFill>
                  <a:srgbClr val="7A1F1F"/>
                </a:solidFill>
                <a:latin typeface="Microsoft YaHei"/>
              </a:rPr>
              <a:t>不同研究采用不同单点阈值，其差异同时包含</a:t>
            </a:r>
            <a:r>
              <a:rPr sz="990" b="1" i="0">
                <a:solidFill>
                  <a:srgbClr val="7A1F1F"/>
                </a:solidFill>
                <a:latin typeface="Microsoft YaHei"/>
              </a:rPr>
              <a:t>阈值差异与研究间差异</a:t>
            </a:r>
            <a:r>
              <a:rPr sz="990" b="0" i="0">
                <a:solidFill>
                  <a:srgbClr val="7A1F1F"/>
                </a:solidFill>
                <a:latin typeface="Microsoft YaHei"/>
              </a:rPr>
              <a:t>（车速、模态、样本、场景），无法分离。</a:t>
            </a:r>
          </a:p>
        </p:txBody>
      </p:sp>
      <p:sp>
        <p:nvSpPr>
          <p:cNvPr id="10" name="TextBox 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出现时机：梯度对照证据（证据等级最高）</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2.2.1</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真正把「出现时机」作为</a:t>
            </a:r>
            <a:r>
              <a:rPr sz="1090" b="1" i="0">
                <a:solidFill>
                  <a:srgbClr val="2F528F"/>
                </a:solidFill>
                <a:latin typeface="Microsoft YaHei"/>
              </a:rPr>
              <a:t>多水平自变量</a:t>
            </a:r>
            <a:r>
              <a:rPr sz="1090" b="0" i="0">
                <a:solidFill>
                  <a:srgbClr val="2F528F"/>
                </a:solidFill>
                <a:latin typeface="Microsoft YaHei"/>
              </a:rPr>
              <a:t>的研究只有两项。它们的证据等级显著高于横向比较——因为只有梯度设计才能给出</a:t>
            </a:r>
            <a:r>
              <a:rPr sz="1090" b="1" i="0">
                <a:solidFill>
                  <a:srgbClr val="2F528F"/>
                </a:solidFill>
                <a:latin typeface="Microsoft YaHei"/>
              </a:rPr>
              <a:t>剂量—反应关系</a:t>
            </a:r>
            <a:r>
              <a:rPr sz="1090" b="0" i="0">
                <a:solidFill>
                  <a:srgbClr val="2F528F"/>
                </a:solidFill>
                <a:latin typeface="Microsoft YaHei"/>
              </a:rPr>
              <a:t>。</a:t>
            </a:r>
          </a:p>
        </p:txBody>
      </p:sp>
      <p:sp>
        <p:nvSpPr>
          <p:cNvPr id="9" name="Rounded Rectangle 8"/>
          <p:cNvSpPr/>
          <p:nvPr/>
        </p:nvSpPr>
        <p:spPr>
          <a:xfrm>
            <a:off x="438150" y="1313854"/>
            <a:ext cx="6479083" cy="3529310"/>
          </a:xfrm>
          <a:prstGeom prst="roundRect">
            <a:avLst>
              <a:gd name="adj" fmla="val 1889"/>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704379"/>
            <a:ext cx="6174283"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447204"/>
            <a:ext cx="6212383"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Zhang 等（2015）：7 档梯度（本库最细）</a:t>
            </a:r>
          </a:p>
        </p:txBody>
      </p:sp>
      <p:sp>
        <p:nvSpPr>
          <p:cNvPr id="12" name="TextBox 11"/>
          <p:cNvSpPr txBox="1"/>
          <p:nvPr/>
        </p:nvSpPr>
        <p:spPr>
          <a:xfrm>
            <a:off x="590550" y="1790104"/>
            <a:ext cx="6212383" cy="282773"/>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交叉口闯红灯冲突，听觉预警，</a:t>
            </a:r>
            <a:r>
              <a:rPr sz="1120" b="1" i="0">
                <a:solidFill>
                  <a:srgbClr val="1A1A1A"/>
                </a:solidFill>
                <a:latin typeface="Microsoft YaHei"/>
              </a:rPr>
              <a:t>2.5 / 3.0 / 3.5 / 4.0 / 4.5 / 5.0 / 5.5 s + 无预警</a:t>
            </a:r>
          </a:p>
        </p:txBody>
      </p:sp>
      <p:graphicFrame>
        <p:nvGraphicFramePr>
          <p:cNvPr id="13" name="Table 12"/>
          <p:cNvGraphicFramePr>
            <a:graphicFrameLocks noGrp="1"/>
          </p:cNvGraphicFramePr>
          <p:nvPr/>
        </p:nvGraphicFramePr>
        <p:xfrm>
          <a:off x="590550" y="2120503"/>
          <a:ext cx="6174283" cy="2147584"/>
        </p:xfrm>
        <a:graphic>
          <a:graphicData uri="http://schemas.openxmlformats.org/drawingml/2006/table">
            <a:tbl>
              <a:tblPr>
                <a:tableStyleId>{5C22544A-7EE6-4342-B048-85BDC9FD1C3A}</a:tableStyleId>
              </a:tblPr>
              <a:tblGrid>
                <a:gridCol w="973931"/>
                <a:gridCol w="5200352"/>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结果项</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数值</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无效阈值</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2.5 s</a:t>
                      </a:r>
                      <a:r>
                        <a:rPr sz="890" b="0" i="0">
                          <a:solidFill>
                            <a:srgbClr val="1A1A1A"/>
                          </a:solidFill>
                          <a:latin typeface="Microsoft YaHei"/>
                        </a:rPr>
                        <a:t>：全部时间切片上与无预警无显著差异，碰撞率 29.4%</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有效性硬下限</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3.0 s</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推荐区间</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3.0–4.0 s</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无预警基线</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直到距冲突点 </a:t>
                      </a:r>
                      <a:r>
                        <a:rPr sz="890" b="1" i="0">
                          <a:solidFill>
                            <a:srgbClr val="1A1A1A"/>
                          </a:solidFill>
                          <a:latin typeface="Microsoft YaHei"/>
                        </a:rPr>
                        <a:t>1.5 s</a:t>
                      </a:r>
                      <a:r>
                        <a:rPr sz="890" b="0" i="0">
                          <a:solidFill>
                            <a:srgbClr val="1A1A1A"/>
                          </a:solidFill>
                          <a:latin typeface="Microsoft YaHei"/>
                        </a:rPr>
                        <a:t> 才猛制动；碰撞率 </a:t>
                      </a:r>
                      <a:r>
                        <a:rPr sz="890" b="1" i="0">
                          <a:solidFill>
                            <a:srgbClr val="1A1A1A"/>
                          </a:solidFill>
                          <a:latin typeface="Microsoft YaHei"/>
                        </a:rPr>
                        <a:t>44.1%</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最大减速距离</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33.24 → 36.57 / 44.44 / 36.92 / 50.07 / 50.52 / 56.26 / 59.49 m（F = 7.464, p &lt; .05）</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行为离散度</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SD </a:t>
                      </a:r>
                      <a:r>
                        <a:rPr sz="890" b="1" i="0">
                          <a:solidFill>
                            <a:srgbClr val="1A1A1A"/>
                          </a:solidFill>
                          <a:latin typeface="Microsoft YaHei"/>
                        </a:rPr>
                        <a:t>40.75 → 15.97 m</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响应潜伏期</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0.5 s</a:t>
                      </a:r>
                      <a:r>
                        <a:rPr sz="890" b="0" i="0">
                          <a:solidFill>
                            <a:srgbClr val="1A1A1A"/>
                          </a:solidFill>
                          <a:latin typeface="Microsoft YaHei"/>
                        </a:rPr>
                        <a:t>（3.0 s 条件）→ </a:t>
                      </a:r>
                      <a:r>
                        <a:rPr sz="890" b="1" i="0">
                          <a:solidFill>
                            <a:srgbClr val="1A1A1A"/>
                          </a:solidFill>
                          <a:latin typeface="Microsoft YaHei"/>
                        </a:rPr>
                        <a:t>2.0 s</a:t>
                      </a:r>
                      <a:r>
                        <a:rPr sz="890" b="0" i="0">
                          <a:solidFill>
                            <a:srgbClr val="1A1A1A"/>
                          </a:solidFill>
                          <a:latin typeface="Microsoft YaHei"/>
                        </a:rPr>
                        <a:t>（5.5 s 条件）</a:t>
                      </a:r>
                    </a:p>
                  </a:txBody>
                  <a:tcPr marL="66675" marR="66675" marT="42862" marB="42862" anchor="t">
                    <a:solidFill>
                      <a:srgbClr val="FAFBFD"/>
                    </a:solidFill>
                  </a:tcPr>
                </a:tc>
              </a:tr>
            </a:tbl>
          </a:graphicData>
        </a:graphic>
      </p:graphicFrame>
      <p:sp>
        <p:nvSpPr>
          <p:cNvPr id="14" name="Rounded Rectangle 13"/>
          <p:cNvSpPr/>
          <p:nvPr/>
        </p:nvSpPr>
        <p:spPr>
          <a:xfrm>
            <a:off x="7088683" y="1313854"/>
            <a:ext cx="4665166" cy="3529310"/>
          </a:xfrm>
          <a:prstGeom prst="roundRect">
            <a:avLst>
              <a:gd name="adj" fmla="val 1889"/>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241083" y="1704379"/>
            <a:ext cx="4360366"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41083" y="1447204"/>
            <a:ext cx="4398466"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Large 等（2019）：4 档梯度</a:t>
            </a:r>
          </a:p>
        </p:txBody>
      </p:sp>
      <p:sp>
        <p:nvSpPr>
          <p:cNvPr id="17" name="TextBox 16"/>
          <p:cNvSpPr txBox="1"/>
          <p:nvPr/>
        </p:nvSpPr>
        <p:spPr>
          <a:xfrm>
            <a:off x="7241083" y="1790104"/>
            <a:ext cx="4398466"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TTC </a:t>
            </a:r>
            <a:r>
              <a:rPr sz="1120" b="1" i="0">
                <a:solidFill>
                  <a:srgbClr val="1A1A1A"/>
                </a:solidFill>
                <a:latin typeface="Microsoft YaHei"/>
              </a:rPr>
              <a:t>2.0 / 3.0 / 4.0 / 5.0 s</a:t>
            </a:r>
            <a:r>
              <a:rPr sz="1120" b="0" i="0">
                <a:solidFill>
                  <a:srgbClr val="1A1A1A"/>
                </a:solidFill>
                <a:latin typeface="Microsoft YaHei"/>
              </a:rPr>
              <a:t>（W1–W4），40 km/h。紧迫度主效应极强（松油门：</a:t>
            </a:r>
            <a:r>
              <a:rPr sz="1120" b="1" i="0">
                <a:solidFill>
                  <a:srgbClr val="1A1A1A"/>
                </a:solidFill>
                <a:latin typeface="Microsoft YaHei"/>
              </a:rPr>
              <a:t>F = 5 037.10</a:t>
            </a:r>
            <a:r>
              <a:rPr sz="1120" b="0" i="0">
                <a:solidFill>
                  <a:srgbClr val="1A1A1A"/>
                </a:solidFill>
                <a:latin typeface="Microsoft YaHei"/>
              </a:rPr>
              <a:t>）；模态主效应仅部分显著（首次注视行人 </a:t>
            </a:r>
            <a:r>
              <a:rPr sz="1120" b="1" i="0">
                <a:solidFill>
                  <a:srgbClr val="1A1A1A"/>
                </a:solidFill>
                <a:latin typeface="Microsoft YaHei"/>
              </a:rPr>
              <a:t>p = .608 不显著</a:t>
            </a:r>
            <a:r>
              <a:rPr sz="1120" b="0" i="0">
                <a:solidFill>
                  <a:srgbClr val="1A1A1A"/>
                </a:solidFill>
                <a:latin typeface="Microsoft YaHei"/>
              </a:rPr>
              <a:t>）。</a:t>
            </a:r>
          </a:p>
        </p:txBody>
      </p:sp>
      <p:sp>
        <p:nvSpPr>
          <p:cNvPr id="18" name="TextBox 17"/>
          <p:cNvSpPr txBox="1"/>
          <p:nvPr/>
        </p:nvSpPr>
        <p:spPr>
          <a:xfrm>
            <a:off x="7241083" y="2619375"/>
            <a:ext cx="4398466"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本研究由其数据推算的阶段耗时：</a:t>
            </a:r>
            <a:r>
              <a:rPr sz="1120" b="0" i="0">
                <a:solidFill>
                  <a:srgbClr val="1A1A1A"/>
                </a:solidFill>
                <a:latin typeface="Microsoft YaHei"/>
              </a:rPr>
              <a:t>警报 → 松油门 </a:t>
            </a:r>
            <a:r>
              <a:rPr sz="1120" b="1" i="0">
                <a:solidFill>
                  <a:srgbClr val="1A1A1A"/>
                </a:solidFill>
                <a:latin typeface="Microsoft YaHei"/>
              </a:rPr>
              <a:t>0.53–0.77 s</a:t>
            </a:r>
            <a:r>
              <a:rPr sz="1120" b="0" i="0">
                <a:solidFill>
                  <a:srgbClr val="1A1A1A"/>
                </a:solidFill>
                <a:latin typeface="Microsoft YaHei"/>
              </a:rPr>
              <a:t>；松油门 → 踩刹车 </a:t>
            </a:r>
            <a:r>
              <a:rPr sz="1120" b="1" i="0">
                <a:solidFill>
                  <a:srgbClr val="1A1A1A"/>
                </a:solidFill>
                <a:latin typeface="Microsoft YaHei"/>
              </a:rPr>
              <a:t>0.35 s（W1）→ 1.38 s（W4）</a:t>
            </a:r>
            <a:r>
              <a:rPr sz="1120" b="0" i="0">
                <a:solidFill>
                  <a:srgbClr val="1A1A1A"/>
                </a:solidFill>
                <a:latin typeface="Microsoft YaHei"/>
              </a:rPr>
              <a:t>。</a:t>
            </a:r>
          </a:p>
        </p:txBody>
      </p:sp>
      <p:sp>
        <p:nvSpPr>
          <p:cNvPr id="19" name="Rectangle 18"/>
          <p:cNvSpPr/>
          <p:nvPr/>
        </p:nvSpPr>
        <p:spPr>
          <a:xfrm>
            <a:off x="7241083" y="3203971"/>
            <a:ext cx="4360366" cy="7974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241083" y="3203971"/>
            <a:ext cx="38100" cy="7974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4908" y="3289696"/>
            <a:ext cx="4150816"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方法学缺陷：</a:t>
            </a:r>
            <a:r>
              <a:rPr sz="990" b="0" i="0">
                <a:solidFill>
                  <a:srgbClr val="7A1F1F"/>
                </a:solidFill>
                <a:latin typeface="Microsoft YaHei"/>
              </a:rPr>
              <a:t>TTC 四水平与误报率 20/40/60/80% </a:t>
            </a:r>
            <a:r>
              <a:rPr sz="990" b="1" i="0">
                <a:solidFill>
                  <a:srgbClr val="7A1F1F"/>
                </a:solidFill>
                <a:latin typeface="Microsoft YaHei"/>
              </a:rPr>
              <a:t>共变</a:t>
            </a:r>
            <a:r>
              <a:rPr sz="990" b="0" i="0">
                <a:solidFill>
                  <a:srgbClr val="7A1F1F"/>
                </a:solidFill>
                <a:latin typeface="Microsoft YaHei"/>
              </a:rPr>
              <a:t>，「紧迫度主效应」实为「紧迫度 + 可靠性」的混合效应。</a:t>
            </a:r>
            <a:r>
              <a:rPr sz="990" b="1" i="0">
                <a:solidFill>
                  <a:srgbClr val="7A1F1F"/>
                </a:solidFill>
                <a:latin typeface="Microsoft YaHei"/>
              </a:rPr>
              <a:t>这正是本研究实验 3 把可靠性单列为自变量的直接理由。</a:t>
            </a:r>
          </a:p>
        </p:txBody>
      </p:sp>
      <p:sp>
        <p:nvSpPr>
          <p:cNvPr id="22" name="Rectangle 21"/>
          <p:cNvSpPr/>
          <p:nvPr/>
        </p:nvSpPr>
        <p:spPr>
          <a:xfrm>
            <a:off x="438150" y="4947939"/>
            <a:ext cx="11315700" cy="1025128"/>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4947939"/>
            <a:ext cx="38100" cy="1025128"/>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975" y="5033664"/>
            <a:ext cx="11106150" cy="88225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Zhang 等（2015）的秒数是以什么为基线算出来的？——四点必须交代，否则不能迁移：</a:t>
            </a:r>
            <a:r>
              <a:rPr sz="990" b="0" i="0">
                <a:solidFill>
                  <a:srgbClr val="6B5200"/>
                </a:solidFill>
                <a:latin typeface="Microsoft YaHei"/>
              </a:rPr>
              <a:t> ① </a:t>
            </a:r>
            <a:r>
              <a:rPr sz="990" b="1" i="0">
                <a:solidFill>
                  <a:srgbClr val="8A6A00"/>
                </a:solidFill>
                <a:latin typeface="Microsoft YaHei"/>
              </a:rPr>
              <a:t>零点＝冲突点</a:t>
            </a:r>
            <a:r>
              <a:rPr sz="990" b="0" i="0">
                <a:solidFill>
                  <a:srgbClr val="6B5200"/>
                </a:solidFill>
                <a:latin typeface="Microsoft YaHei"/>
              </a:rPr>
              <a:t>（交叉口内两车轨迹的交点），</a:t>
            </a:r>
            <a:r>
              <a:rPr sz="990" b="1" i="0">
                <a:solidFill>
                  <a:srgbClr val="8A6A00"/>
                </a:solidFill>
                <a:latin typeface="Microsoft YaHei"/>
              </a:rPr>
              <a:t>不是</a:t>
            </a:r>
            <a:r>
              <a:rPr sz="990" b="0" i="0">
                <a:solidFill>
                  <a:srgbClr val="6B5200"/>
                </a:solidFill>
                <a:latin typeface="Microsoft YaHei"/>
              </a:rPr>
              <a:t>碰撞时刻、也不是行人所在位置； ② </a:t>
            </a:r>
            <a:r>
              <a:rPr sz="990" b="1" i="0">
                <a:solidFill>
                  <a:srgbClr val="8A6A00"/>
                </a:solidFill>
                <a:latin typeface="Microsoft YaHei"/>
              </a:rPr>
              <a:t>时间量＝本车按当前车速到冲突点的接近时间</a:t>
            </a:r>
            <a:r>
              <a:rPr sz="990" b="0" i="0">
                <a:solidFill>
                  <a:srgbClr val="6B5200"/>
                </a:solidFill>
                <a:latin typeface="Microsoft YaHei"/>
              </a:rPr>
              <a:t>，由模拟器的「TTC 传感器」实时外推（</a:t>
            </a:r>
            <a:r>
              <a:rPr sz="990" b="1" i="0">
                <a:solidFill>
                  <a:srgbClr val="8A6A00"/>
                </a:solidFill>
                <a:latin typeface="Microsoft YaHei"/>
              </a:rPr>
              <a:t>恒速假设</a:t>
            </a:r>
            <a:r>
              <a:rPr sz="990" b="0" i="0">
                <a:solidFill>
                  <a:srgbClr val="6B5200"/>
                </a:solidFill>
                <a:latin typeface="Microsoft YaHei"/>
              </a:rPr>
              <a:t>），预警由接近传感器在预设接近时间处触发；场景由闯红灯车在本车距冲突点 </a:t>
            </a:r>
            <a:r>
              <a:rPr sz="990" b="1" i="0">
                <a:solidFill>
                  <a:srgbClr val="8A6A00"/>
                </a:solidFill>
                <a:latin typeface="Microsoft YaHei"/>
              </a:rPr>
              <a:t>7 s</a:t>
            </a:r>
            <a:r>
              <a:rPr sz="990" b="0" i="0">
                <a:solidFill>
                  <a:srgbClr val="6B5200"/>
                </a:solidFill>
                <a:latin typeface="Microsoft YaHei"/>
              </a:rPr>
              <a:t> 时以 </a:t>
            </a:r>
            <a:r>
              <a:rPr sz="990" b="1" i="0">
                <a:solidFill>
                  <a:srgbClr val="8A6A00"/>
                </a:solidFill>
                <a:latin typeface="Microsoft YaHei"/>
              </a:rPr>
              <a:t>20 m/s</a:t>
            </a:r>
            <a:r>
              <a:rPr sz="990" b="0" i="0">
                <a:solidFill>
                  <a:srgbClr val="6B5200"/>
                </a:solidFill>
                <a:latin typeface="Microsoft YaHei"/>
              </a:rPr>
              <a:t> 驶出而生成，限速 </a:t>
            </a:r>
            <a:r>
              <a:rPr sz="990" b="1" i="0">
                <a:solidFill>
                  <a:srgbClr val="8A6A00"/>
                </a:solidFill>
                <a:latin typeface="Microsoft YaHei"/>
              </a:rPr>
              <a:t>80 km/h</a:t>
            </a:r>
            <a:r>
              <a:rPr sz="990" b="0" i="0">
                <a:solidFill>
                  <a:srgbClr val="6B5200"/>
                </a:solidFill>
                <a:latin typeface="Microsoft YaHei"/>
              </a:rPr>
              <a:t> 城市双车道； ③ </a:t>
            </a:r>
            <a:r>
              <a:rPr sz="990" b="1" i="0">
                <a:solidFill>
                  <a:srgbClr val="8A6A00"/>
                </a:solidFill>
                <a:latin typeface="Microsoft YaHei"/>
              </a:rPr>
              <a:t>「有效」的判定基线＝无预警组 NA</a:t>
            </a:r>
            <a:r>
              <a:rPr sz="990" b="0" i="0">
                <a:solidFill>
                  <a:srgbClr val="6B5200"/>
                </a:solidFill>
                <a:latin typeface="Microsoft YaHei"/>
              </a:rPr>
              <a:t>，做逐 0.5 s 切片的配对 </a:t>
            </a:r>
            <a:r>
              <a:rPr sz="990" b="0" i="1">
                <a:solidFill>
                  <a:srgbClr val="6B5200"/>
                </a:solidFill>
                <a:latin typeface="Microsoft YaHei"/>
              </a:rPr>
              <a:t>t</a:t>
            </a:r>
            <a:r>
              <a:rPr sz="990" b="0" i="0">
                <a:solidFill>
                  <a:srgbClr val="6B5200"/>
                </a:solidFill>
                <a:latin typeface="Microsoft YaHei"/>
              </a:rPr>
              <a:t> 检验（NA 组直到 1.5 s 才猛制动、碰撞率 44.1%）——所谓「2.5 s 无效」即</a:t>
            </a:r>
            <a:r>
              <a:rPr sz="990" b="1" i="0">
                <a:solidFill>
                  <a:srgbClr val="8A6A00"/>
                </a:solidFill>
                <a:latin typeface="Microsoft YaHei"/>
              </a:rPr>
              <a:t>全部切片上与 NA 无显著差异</a:t>
            </a:r>
            <a:r>
              <a:rPr sz="990" b="0" i="0">
                <a:solidFill>
                  <a:srgbClr val="6B5200"/>
                </a:solidFill>
                <a:latin typeface="Microsoft YaHei"/>
              </a:rPr>
              <a:t>； ④ 因此它给的是</a:t>
            </a:r>
            <a:r>
              <a:rPr sz="990" b="1" i="0">
                <a:solidFill>
                  <a:srgbClr val="8A6A00"/>
                </a:solidFill>
                <a:latin typeface="Microsoft YaHei"/>
              </a:rPr>
              <a:t>距冲突点的剩余时间</a:t>
            </a:r>
            <a:r>
              <a:rPr sz="990" b="0" i="0">
                <a:solidFill>
                  <a:srgbClr val="6B5200"/>
                </a:solidFill>
                <a:latin typeface="Microsoft YaHei"/>
              </a:rPr>
              <a:t>，</a:t>
            </a:r>
            <a:r>
              <a:rPr sz="990" b="1" i="0">
                <a:solidFill>
                  <a:srgbClr val="8A6A00"/>
                </a:solidFill>
                <a:latin typeface="Microsoft YaHei"/>
              </a:rPr>
              <a:t>不是</a:t>
            </a:r>
            <a:r>
              <a:rPr sz="990" b="0" i="0">
                <a:solidFill>
                  <a:srgbClr val="6B5200"/>
                </a:solidFill>
                <a:latin typeface="Microsoft YaHei"/>
              </a:rPr>
              <a:t>相对驾驶员察觉时刻的提前量。</a:t>
            </a:r>
            <a:r>
              <a:rPr sz="990" b="1" i="0">
                <a:solidFill>
                  <a:srgbClr val="8A6A00"/>
                </a:solidFill>
                <a:latin typeface="Microsoft YaHei"/>
              </a:rPr>
              <a:t>迁移到本课题必须换算：</a:t>
            </a:r>
            <a:r>
              <a:rPr sz="990" b="0" i="1">
                <a:solidFill>
                  <a:srgbClr val="6B5200"/>
                </a:solidFill>
                <a:latin typeface="Microsoft YaHei"/>
              </a:rPr>
              <a:t>Δt</a:t>
            </a:r>
            <a:r>
              <a:rPr sz="990" b="0" i="1">
                <a:solidFill>
                  <a:srgbClr val="6B5200"/>
                </a:solidFill>
                <a:latin typeface="Microsoft YaHei"/>
              </a:rPr>
              <a:t> = </a:t>
            </a:r>
            <a:r>
              <a:rPr sz="990" b="0" i="1">
                <a:solidFill>
                  <a:srgbClr val="6B5200"/>
                </a:solidFill>
                <a:latin typeface="Microsoft YaHei"/>
              </a:rPr>
              <a:t>t</a:t>
            </a:r>
            <a:r>
              <a:rPr sz="690" b="0" i="1" baseline="-25000">
                <a:solidFill>
                  <a:srgbClr val="6B5200"/>
                </a:solidFill>
                <a:latin typeface="Microsoft YaHei"/>
              </a:rPr>
              <a:t>0</a:t>
            </a:r>
            <a:r>
              <a:rPr sz="990" b="0" i="1">
                <a:solidFill>
                  <a:srgbClr val="6B5200"/>
                </a:solidFill>
                <a:latin typeface="Microsoft YaHei"/>
              </a:rPr>
              <a:t> − </a:t>
            </a:r>
            <a:r>
              <a:rPr sz="990" b="0" i="1">
                <a:solidFill>
                  <a:srgbClr val="6B5200"/>
                </a:solidFill>
                <a:latin typeface="Microsoft YaHei"/>
              </a:rPr>
              <a:t>t</a:t>
            </a:r>
            <a:r>
              <a:rPr sz="690" b="0" i="1" baseline="-25000">
                <a:solidFill>
                  <a:srgbClr val="6B5200"/>
                </a:solidFill>
                <a:latin typeface="Microsoft YaHei"/>
              </a:rPr>
              <a:t>warn</a:t>
            </a:r>
            <a:r>
              <a:rPr sz="990" b="0" i="0">
                <a:solidFill>
                  <a:srgbClr val="6B5200"/>
                </a:solidFill>
                <a:latin typeface="Microsoft YaHei"/>
              </a:rPr>
              <a:t>，而 </a:t>
            </a:r>
            <a:r>
              <a:rPr sz="990" b="0" i="1">
                <a:solidFill>
                  <a:srgbClr val="6B5200"/>
                </a:solidFill>
                <a:latin typeface="Microsoft YaHei"/>
              </a:rPr>
              <a:t>t</a:t>
            </a:r>
            <a:r>
              <a:rPr sz="690" b="0" i="1" baseline="-25000">
                <a:solidFill>
                  <a:srgbClr val="6B5200"/>
                </a:solidFill>
                <a:latin typeface="Microsoft YaHei"/>
              </a:rPr>
              <a:t>0</a:t>
            </a:r>
            <a:r>
              <a:rPr sz="990" b="0" i="0">
                <a:solidFill>
                  <a:srgbClr val="6B5200"/>
                </a:solidFill>
                <a:latin typeface="Microsoft YaHei"/>
              </a:rPr>
              <a:t> 在该研究中未被测量。</a:t>
            </a:r>
          </a:p>
        </p:txBody>
      </p:sp>
      <p:sp>
        <p:nvSpPr>
          <p:cNvPr id="25" name="Rectangle 24"/>
          <p:cNvSpPr/>
          <p:nvPr/>
        </p:nvSpPr>
        <p:spPr>
          <a:xfrm>
            <a:off x="438150" y="6077842"/>
            <a:ext cx="11315700" cy="380107"/>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8150" y="6077842"/>
            <a:ext cx="38100" cy="380107"/>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1975" y="6163567"/>
            <a:ext cx="11106150" cy="237232"/>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两项梯度研究的汇合结论：</a:t>
            </a:r>
            <a:r>
              <a:rPr sz="990" b="0" i="0">
                <a:solidFill>
                  <a:srgbClr val="1F5A1F"/>
                </a:solidFill>
                <a:latin typeface="Microsoft YaHei"/>
              </a:rPr>
              <a:t>单层预警有效区间下界在 </a:t>
            </a:r>
            <a:r>
              <a:rPr sz="990" b="1" i="0">
                <a:solidFill>
                  <a:srgbClr val="1F5A1F"/>
                </a:solidFill>
                <a:latin typeface="Microsoft YaHei"/>
              </a:rPr>
              <a:t>3.0 s</a:t>
            </a:r>
            <a:r>
              <a:rPr sz="990" b="0" i="0">
                <a:solidFill>
                  <a:srgbClr val="1F5A1F"/>
                </a:solidFill>
                <a:latin typeface="Microsoft YaHei"/>
              </a:rPr>
              <a:t>，上界在 </a:t>
            </a:r>
            <a:r>
              <a:rPr sz="990" b="1" i="0">
                <a:solidFill>
                  <a:srgbClr val="1F5A1F"/>
                </a:solidFill>
                <a:latin typeface="Microsoft YaHei"/>
              </a:rPr>
              <a:t>4.0–5.0 s</a:t>
            </a:r>
            <a:r>
              <a:rPr sz="990" b="0" i="0">
                <a:solidFill>
                  <a:srgbClr val="1F5A1F"/>
                </a:solidFill>
                <a:latin typeface="Microsoft YaHei"/>
              </a:rPr>
              <a:t> 出现收益递减。</a:t>
            </a:r>
            <a:r>
              <a:rPr sz="990" b="1" i="0">
                <a:solidFill>
                  <a:srgbClr val="1F5A1F"/>
                </a:solidFill>
                <a:latin typeface="Microsoft YaHei"/>
              </a:rPr>
              <a:t>梯度证据把下界从既有共识的 2.5 s 上修到 3.0 s</a:t>
            </a:r>
            <a:r>
              <a:rPr sz="990" b="0" i="0">
                <a:solidFill>
                  <a:srgbClr val="1F5A1F"/>
                </a:solidFill>
                <a:latin typeface="Microsoft YaHei"/>
              </a:rPr>
              <a:t>——这是本课题对原有结论的一处实质性修正。</a:t>
            </a:r>
          </a:p>
        </p:txBody>
      </p:sp>
      <p:sp>
        <p:nvSpPr>
          <p:cNvPr id="28" name="TextBox 27"/>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预警出现时机的证据谱</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2.2.1</a:t>
            </a:r>
          </a:p>
        </p:txBody>
      </p:sp>
      <p:pic>
        <p:nvPicPr>
          <p:cNvPr id="6" name="Picture 5" descr="ch2_fig_onset_spectrum.png"/>
          <p:cNvPicPr>
            <a:picLocks noChangeAspect="1"/>
          </p:cNvPicPr>
          <p:nvPr/>
        </p:nvPicPr>
        <p:blipFill>
          <a:blip r:embed="rId2"/>
          <a:stretch>
            <a:fillRect/>
          </a:stretch>
        </p:blipFill>
        <p:spPr>
          <a:xfrm>
            <a:off x="1651099" y="762000"/>
            <a:ext cx="8889801" cy="4760118"/>
          </a:xfrm>
          <a:prstGeom prst="rect">
            <a:avLst/>
          </a:prstGeom>
        </p:spPr>
      </p:pic>
      <p:sp>
        <p:nvSpPr>
          <p:cNvPr id="7" name="TextBox 6"/>
          <p:cNvSpPr txBox="1"/>
          <p:nvPr/>
        </p:nvSpPr>
        <p:spPr>
          <a:xfrm>
            <a:off x="3345358" y="5588793"/>
            <a:ext cx="5539233" cy="204192"/>
          </a:xfrm>
          <a:prstGeom prst="rect">
            <a:avLst/>
          </a:prstGeom>
          <a:noFill/>
        </p:spPr>
        <p:txBody>
          <a:bodyPr wrap="square" lIns="0" rIns="0" tIns="0" bIns="0" anchor="t">
            <a:normAutofit/>
          </a:bodyPr>
          <a:lstStyle/>
          <a:p>
            <a:pPr algn="ctr">
              <a:lnSpc>
                <a:spcPct val="150000"/>
              </a:lnSpc>
              <a:spcBef>
                <a:spcPts val="0"/>
              </a:spcBef>
              <a:spcAft>
                <a:spcPts val="0"/>
              </a:spcAft>
            </a:pPr>
            <a:r>
              <a:rPr sz="919" b="0" i="0">
                <a:solidFill>
                  <a:srgbClr val="8C8C8C"/>
                </a:solidFill>
                <a:latin typeface="Microsoft YaHei"/>
              </a:rPr>
              <a:t>图 2-2 预警出现时机的证据谱：本库 14 项取值 × 4 类判定结果；三色带由梯度证据界定（图例见图内）。</a:t>
            </a:r>
          </a:p>
        </p:txBody>
      </p:sp>
      <p:sp>
        <p:nvSpPr>
          <p:cNvPr id="8" name="Rectangle 7"/>
          <p:cNvSpPr/>
          <p:nvPr/>
        </p:nvSpPr>
        <p:spPr>
          <a:xfrm>
            <a:off x="438150" y="5869185"/>
            <a:ext cx="11315700"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38150" y="5869185"/>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1975" y="5954910"/>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读图要点：</a:t>
            </a:r>
            <a:r>
              <a:rPr sz="990" b="0" i="0">
                <a:solidFill>
                  <a:srgbClr val="6B5200"/>
                </a:solidFill>
                <a:latin typeface="Microsoft YaHei"/>
              </a:rPr>
              <a:t>① 落在无效区的全部是</a:t>
            </a:r>
            <a:r>
              <a:rPr sz="990" b="1" i="0">
                <a:solidFill>
                  <a:srgbClr val="8A6A00"/>
                </a:solidFill>
                <a:latin typeface="Microsoft YaHei"/>
              </a:rPr>
              <a:t>分层体系中的提示级</a:t>
            </a:r>
            <a:r>
              <a:rPr sz="990" b="0" i="0">
                <a:solidFill>
                  <a:srgbClr val="6B5200"/>
                </a:solidFill>
                <a:latin typeface="Microsoft YaHei"/>
              </a:rPr>
              <a:t>（Lubbe 的 2.5 s、Phan 的 2.0 s），它们并非独立生效——</a:t>
            </a:r>
            <a:r>
              <a:rPr sz="990" b="1" i="0">
                <a:solidFill>
                  <a:srgbClr val="8A6A00"/>
                </a:solidFill>
                <a:latin typeface="Microsoft YaHei"/>
              </a:rPr>
              <a:t>单层与分层的阈值不可互相迁移</a:t>
            </a:r>
            <a:r>
              <a:rPr sz="990" b="0" i="0">
                <a:solidFill>
                  <a:srgbClr val="6B5200"/>
                </a:solidFill>
                <a:latin typeface="Microsoft YaHei"/>
              </a:rPr>
              <a:t>；② 收益递减区的两项（Kim 5.0 s Far、Wang ≤ 5 s）分别表现为</a:t>
            </a:r>
            <a:r>
              <a:rPr sz="990" b="1" i="0">
                <a:solidFill>
                  <a:srgbClr val="8A6A00"/>
                </a:solidFill>
                <a:latin typeface="Microsoft YaHei"/>
              </a:rPr>
              <a:t>过度反应</a:t>
            </a:r>
            <a:r>
              <a:rPr sz="990" b="0" i="0">
                <a:solidFill>
                  <a:srgbClr val="6B5200"/>
                </a:solidFill>
                <a:latin typeface="Microsoft YaHei"/>
              </a:rPr>
              <a:t>与</a:t>
            </a:r>
            <a:r>
              <a:rPr sz="990" b="1" i="0">
                <a:solidFill>
                  <a:srgbClr val="8A6A00"/>
                </a:solidFill>
                <a:latin typeface="Microsoft YaHei"/>
              </a:rPr>
              <a:t>无增益</a:t>
            </a:r>
            <a:r>
              <a:rPr sz="990" b="0" i="0">
                <a:solidFill>
                  <a:srgbClr val="6B5200"/>
                </a:solidFill>
                <a:latin typeface="Microsoft YaHei"/>
              </a:rPr>
              <a:t>，方向不同但都指向同一结论；③ 4.0 s 的绿色虚线是</a:t>
            </a:r>
            <a:r>
              <a:rPr sz="990" b="1" i="0">
                <a:solidFill>
                  <a:srgbClr val="8A6A00"/>
                </a:solidFill>
                <a:latin typeface="Microsoft YaHei"/>
              </a:rPr>
              <a:t>人类意图判别力的峰值</a:t>
            </a:r>
            <a:r>
              <a:rPr sz="990" b="0" i="0">
                <a:solidFill>
                  <a:srgbClr val="6B5200"/>
                </a:solidFill>
                <a:latin typeface="Microsoft YaHei"/>
              </a:rPr>
              <a:t>——即使换成一位熟练驾驶员，在 5 s 时也有 55% 虚警率。</a:t>
            </a:r>
          </a:p>
        </p:txBody>
      </p:sp>
      <p:sp>
        <p:nvSpPr>
          <p:cNvPr id="11" name="TextBox 10"/>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触发准则：从固定秒数到减速度归一化</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2.2.2</a:t>
            </a:r>
          </a:p>
        </p:txBody>
      </p:sp>
      <p:sp>
        <p:nvSpPr>
          <p:cNvPr id="6" name="Rounded Rectangle 5"/>
          <p:cNvSpPr/>
          <p:nvPr/>
        </p:nvSpPr>
        <p:spPr>
          <a:xfrm>
            <a:off x="438150" y="762000"/>
            <a:ext cx="4665017" cy="4793753"/>
          </a:xfrm>
          <a:prstGeom prst="roundRect">
            <a:avLst>
              <a:gd name="adj" fmla="val 1429"/>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4360217"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4398317"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C00000"/>
                </a:solidFill>
                <a:latin typeface="Microsoft YaHei"/>
              </a:rPr>
              <a:t>固定 TTC 的跨车速失效</a:t>
            </a:r>
          </a:p>
        </p:txBody>
      </p:sp>
      <p:graphicFrame>
        <p:nvGraphicFramePr>
          <p:cNvPr id="9" name="Table 8"/>
          <p:cNvGraphicFramePr>
            <a:graphicFrameLocks noGrp="1"/>
          </p:cNvGraphicFramePr>
          <p:nvPr/>
        </p:nvGraphicFramePr>
        <p:xfrm>
          <a:off x="590550" y="1238250"/>
          <a:ext cx="4360216" cy="1592459"/>
        </p:xfrm>
        <a:graphic>
          <a:graphicData uri="http://schemas.openxmlformats.org/drawingml/2006/table">
            <a:tbl>
              <a:tblPr>
                <a:tableStyleId>{5C22544A-7EE6-4342-B048-85BDC9FD1C3A}</a:tableStyleId>
              </a:tblPr>
              <a:tblGrid>
                <a:gridCol w="1334690"/>
                <a:gridCol w="1543050"/>
                <a:gridCol w="1482476"/>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车速</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TTC 2 s</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TTC 4 s</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40 km/h</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2.78 m/s²</a:t>
                      </a:r>
                    </a:p>
                    <a:p>
                      <a:pPr algn="ctr">
                        <a:lnSpc>
                          <a:spcPct val="155000"/>
                        </a:lnSpc>
                        <a:spcBef>
                          <a:spcPts val="0"/>
                        </a:spcBef>
                        <a:spcAft>
                          <a:spcPts val="0"/>
                        </a:spcAft>
                      </a:pPr>
                      <a:r>
                        <a:rPr sz="890" b="0" i="0">
                          <a:solidFill>
                            <a:srgbClr val="1A1A1A"/>
                          </a:solidFill>
                          <a:latin typeface="Microsoft YaHei"/>
                        </a:rPr>
                        <a:t>BTN 0.35</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1.39 m/s²</a:t>
                      </a:r>
                    </a:p>
                    <a:p>
                      <a:pPr algn="ctr">
                        <a:lnSpc>
                          <a:spcPct val="155000"/>
                        </a:lnSpc>
                        <a:spcBef>
                          <a:spcPts val="0"/>
                        </a:spcBef>
                        <a:spcAft>
                          <a:spcPts val="0"/>
                        </a:spcAft>
                      </a:pPr>
                      <a:r>
                        <a:rPr sz="890" b="0" i="0">
                          <a:solidFill>
                            <a:srgbClr val="1A1A1A"/>
                          </a:solidFill>
                          <a:latin typeface="Microsoft YaHei"/>
                        </a:rPr>
                        <a:t>BTN 0.17</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60 km/h</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4.17 m/s²</a:t>
                      </a:r>
                    </a:p>
                    <a:p>
                      <a:pPr algn="ctr">
                        <a:lnSpc>
                          <a:spcPct val="155000"/>
                        </a:lnSpc>
                        <a:spcBef>
                          <a:spcPts val="0"/>
                        </a:spcBef>
                        <a:spcAft>
                          <a:spcPts val="0"/>
                        </a:spcAft>
                      </a:pPr>
                      <a:r>
                        <a:rPr sz="890" b="0" i="0">
                          <a:solidFill>
                            <a:srgbClr val="1A1A1A"/>
                          </a:solidFill>
                          <a:latin typeface="Microsoft YaHei"/>
                        </a:rPr>
                        <a:t>BTN 0.52</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2.08 m/s²</a:t>
                      </a:r>
                    </a:p>
                    <a:p>
                      <a:pPr algn="ctr">
                        <a:lnSpc>
                          <a:spcPct val="155000"/>
                        </a:lnSpc>
                        <a:spcBef>
                          <a:spcPts val="0"/>
                        </a:spcBef>
                        <a:spcAft>
                          <a:spcPts val="0"/>
                        </a:spcAft>
                      </a:pPr>
                      <a:r>
                        <a:rPr sz="890" b="0" i="0">
                          <a:solidFill>
                            <a:srgbClr val="1A1A1A"/>
                          </a:solidFill>
                          <a:latin typeface="Microsoft YaHei"/>
                        </a:rPr>
                        <a:t>BTN 0.26</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80 km/h</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5.56 m/s²</a:t>
                      </a:r>
                    </a:p>
                    <a:p>
                      <a:pPr algn="ctr">
                        <a:lnSpc>
                          <a:spcPct val="155000"/>
                        </a:lnSpc>
                        <a:spcBef>
                          <a:spcPts val="0"/>
                        </a:spcBef>
                        <a:spcAft>
                          <a:spcPts val="0"/>
                        </a:spcAft>
                      </a:pPr>
                      <a:r>
                        <a:rPr sz="890" b="1" i="0">
                          <a:solidFill>
                            <a:srgbClr val="1A1A1A"/>
                          </a:solidFill>
                          <a:latin typeface="Microsoft YaHei"/>
                        </a:rPr>
                        <a:t>BTN 0.69</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2.78 m/s²</a:t>
                      </a:r>
                    </a:p>
                    <a:p>
                      <a:pPr algn="ctr">
                        <a:lnSpc>
                          <a:spcPct val="155000"/>
                        </a:lnSpc>
                        <a:spcBef>
                          <a:spcPts val="0"/>
                        </a:spcBef>
                        <a:spcAft>
                          <a:spcPts val="0"/>
                        </a:spcAft>
                      </a:pPr>
                      <a:r>
                        <a:rPr sz="890" b="0" i="0">
                          <a:solidFill>
                            <a:srgbClr val="1A1A1A"/>
                          </a:solidFill>
                          <a:latin typeface="Microsoft YaHei"/>
                        </a:rPr>
                        <a:t>BTN 0.35</a:t>
                      </a:r>
                    </a:p>
                  </a:txBody>
                  <a:tcPr marL="66675" marR="66675" marT="42862" marB="42862" anchor="t">
                    <a:solidFill>
                      <a:srgbClr val="FAFBFD"/>
                    </a:solidFill>
                  </a:tcPr>
                </a:tc>
              </a:tr>
            </a:tbl>
          </a:graphicData>
        </a:graphic>
      </p:graphicFrame>
      <p:sp>
        <p:nvSpPr>
          <p:cNvPr id="10" name="Rectangle 9"/>
          <p:cNvSpPr/>
          <p:nvPr/>
        </p:nvSpPr>
        <p:spPr>
          <a:xfrm>
            <a:off x="590550" y="2921198"/>
            <a:ext cx="4360217"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90550" y="2921198"/>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4375" y="3006923"/>
            <a:ext cx="4150667"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0" i="0">
                <a:solidFill>
                  <a:srgbClr val="7A1F1F"/>
                </a:solidFill>
                <a:latin typeface="Microsoft YaHei"/>
              </a:rPr>
              <a:t>同一个 TTC = 2 s：40 km/h 下是</a:t>
            </a:r>
            <a:r>
              <a:rPr sz="990" b="1" i="0">
                <a:solidFill>
                  <a:srgbClr val="7A1F1F"/>
                </a:solidFill>
                <a:latin typeface="Microsoft YaHei"/>
              </a:rPr>
              <a:t>温和制动</a:t>
            </a:r>
            <a:r>
              <a:rPr sz="990" b="0" i="0">
                <a:solidFill>
                  <a:srgbClr val="7A1F1F"/>
                </a:solidFill>
                <a:latin typeface="Microsoft YaHei"/>
              </a:rPr>
              <a:t>，80 km/h 下已是</a:t>
            </a:r>
            <a:r>
              <a:rPr sz="990" b="1" i="0">
                <a:solidFill>
                  <a:srgbClr val="7A1F1F"/>
                </a:solidFill>
                <a:latin typeface="Microsoft YaHei"/>
              </a:rPr>
              <a:t>接近全力制动</a:t>
            </a:r>
            <a:r>
              <a:rPr sz="990" b="0" i="0">
                <a:solidFill>
                  <a:srgbClr val="7A1F1F"/>
                </a:solidFill>
                <a:latin typeface="Microsoft YaHei"/>
              </a:rPr>
              <a:t>。以固定秒数为准则的研究，其结论</a:t>
            </a:r>
            <a:r>
              <a:rPr sz="990" b="1" i="0">
                <a:solidFill>
                  <a:srgbClr val="7A1F1F"/>
                </a:solidFill>
                <a:latin typeface="Microsoft YaHei"/>
              </a:rPr>
              <a:t>无法跨车速迁移</a:t>
            </a:r>
            <a:r>
              <a:rPr sz="990" b="0" i="0">
                <a:solidFill>
                  <a:srgbClr val="7A1F1F"/>
                </a:solidFill>
                <a:latin typeface="Microsoft YaHei"/>
              </a:rPr>
              <a:t>。</a:t>
            </a:r>
          </a:p>
        </p:txBody>
      </p:sp>
      <p:sp>
        <p:nvSpPr>
          <p:cNvPr id="13" name="Rounded Rectangle 12"/>
          <p:cNvSpPr/>
          <p:nvPr/>
        </p:nvSpPr>
        <p:spPr>
          <a:xfrm>
            <a:off x="5274617" y="762000"/>
            <a:ext cx="6479232" cy="4793753"/>
          </a:xfrm>
          <a:prstGeom prst="roundRect">
            <a:avLst>
              <a:gd name="adj" fmla="val 1390"/>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27017" y="1152525"/>
            <a:ext cx="6174432"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7017" y="895350"/>
            <a:ext cx="6212532"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减速度归一化触发的四条证据</a:t>
            </a:r>
          </a:p>
        </p:txBody>
      </p:sp>
      <p:graphicFrame>
        <p:nvGraphicFramePr>
          <p:cNvPr id="16" name="Table 15"/>
          <p:cNvGraphicFramePr>
            <a:graphicFrameLocks noGrp="1"/>
          </p:cNvGraphicFramePr>
          <p:nvPr/>
        </p:nvGraphicFramePr>
        <p:xfrm>
          <a:off x="5427017" y="1238250"/>
          <a:ext cx="6174431" cy="2219620"/>
        </p:xfrm>
        <a:graphic>
          <a:graphicData uri="http://schemas.openxmlformats.org/drawingml/2006/table">
            <a:tbl>
              <a:tblPr>
                <a:tableStyleId>{5C22544A-7EE6-4342-B048-85BDC9FD1C3A}</a:tableStyleId>
              </a:tblPr>
              <a:tblGrid>
                <a:gridCol w="1420117"/>
                <a:gridCol w="4754314"/>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准则与关键参数</a:t>
                      </a:r>
                    </a:p>
                  </a:txBody>
                  <a:tcPr marL="66675" marR="66675" marT="52387" marB="52387" anchor="t">
                    <a:solidFill>
                      <a:srgbClr val="4472C4"/>
                    </a:solidFill>
                  </a:tcPr>
                </a:tc>
              </a:tr>
              <a:tr h="612874">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Takada 等（2014）</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DCA</a:t>
                      </a:r>
                      <a:r>
                        <a:rPr sz="890" b="0" i="0">
                          <a:solidFill>
                            <a:srgbClr val="1A1A1A"/>
                          </a:solidFill>
                          <a:latin typeface="Microsoft YaHei"/>
                        </a:rPr>
                        <a:t>；PDCA（预测型，视觉）先于 ODCA（当前型，听觉）；触发 </a:t>
                      </a:r>
                      <a:r>
                        <a:rPr sz="890" b="1" i="0">
                          <a:solidFill>
                            <a:srgbClr val="1A1A1A"/>
                          </a:solidFill>
                          <a:latin typeface="Microsoft YaHei"/>
                        </a:rPr>
                        <a:t>4.0</a:t>
                      </a:r>
                      <a:r>
                        <a:rPr sz="890" b="0" i="0">
                          <a:solidFill>
                            <a:srgbClr val="1A1A1A"/>
                          </a:solidFill>
                          <a:latin typeface="Microsoft YaHei"/>
                        </a:rPr>
                        <a:t> / 解除 </a:t>
                      </a:r>
                      <a:r>
                        <a:rPr sz="890" b="1" i="0">
                          <a:solidFill>
                            <a:srgbClr val="1A1A1A"/>
                          </a:solidFill>
                          <a:latin typeface="Microsoft YaHei"/>
                        </a:rPr>
                        <a:t>2.0 m/s²</a:t>
                      </a:r>
                      <a:r>
                        <a:rPr sz="890" b="0" i="0">
                          <a:solidFill>
                            <a:srgbClr val="1A1A1A"/>
                          </a:solidFill>
                          <a:latin typeface="Microsoft YaHei"/>
                        </a:rPr>
                        <a:t>（</a:t>
                      </a:r>
                      <a:r>
                        <a:rPr sz="890" b="1" i="0">
                          <a:solidFill>
                            <a:srgbClr val="1A1A1A"/>
                          </a:solidFill>
                          <a:latin typeface="Microsoft YaHei"/>
                        </a:rPr>
                        <a:t>2 : 1 滞环</a:t>
                      </a:r>
                      <a:r>
                        <a:rPr sz="890" b="0" i="0">
                          <a:solidFill>
                            <a:srgbClr val="1A1A1A"/>
                          </a:solidFill>
                          <a:latin typeface="Microsoft YaHei"/>
                        </a:rPr>
                        <a:t>，原文目的「避免极短促的报警」）；反应时 T = </a:t>
                      </a:r>
                      <a:r>
                        <a:rPr sz="890" b="1" i="0">
                          <a:solidFill>
                            <a:srgbClr val="1A1A1A"/>
                          </a:solidFill>
                          <a:latin typeface="Microsoft YaHei"/>
                        </a:rPr>
                        <a:t>1.2 s</a:t>
                      </a:r>
                      <a:r>
                        <a:rPr sz="890" b="0" i="0">
                          <a:solidFill>
                            <a:srgbClr val="1A1A1A"/>
                          </a:solidFill>
                          <a:latin typeface="Microsoft YaHei"/>
                        </a:rPr>
                        <a:t>（未踩刹车，为 90 百分位）／0.2 s（已踩刹车）</a:t>
                      </a:r>
                    </a:p>
                  </a:txBody>
                  <a:tcPr marL="66675" marR="66675" marT="42862" marB="42862" anchor="t">
                    <a:solidFill>
                      <a:srgbClr val="FAFBFD"/>
                    </a:solidFill>
                  </a:tcPr>
                </a:tc>
              </a:tr>
              <a:tr h="453032">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Chen 等（2013）</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TTC 与车头时距</a:t>
                      </a:r>
                      <a:r>
                        <a:rPr sz="890" b="1" i="0">
                          <a:solidFill>
                            <a:srgbClr val="1A1A1A"/>
                          </a:solidFill>
                          <a:latin typeface="Microsoft YaHei"/>
                        </a:rPr>
                        <a:t>双条件</a:t>
                      </a:r>
                      <a:r>
                        <a:rPr sz="890" b="0" i="0">
                          <a:solidFill>
                            <a:srgbClr val="1A1A1A"/>
                          </a:solidFill>
                          <a:latin typeface="Microsoft YaHei"/>
                        </a:rPr>
                        <a:t>；临界 </a:t>
                      </a:r>
                      <a:r>
                        <a:rPr sz="890" b="0" i="1">
                          <a:solidFill>
                            <a:srgbClr val="1A1A1A"/>
                          </a:solidFill>
                          <a:latin typeface="Microsoft YaHei"/>
                        </a:rPr>
                        <a:t>T</a:t>
                      </a:r>
                      <a:r>
                        <a:rPr sz="620" b="0" i="1" baseline="-25000">
                          <a:solidFill>
                            <a:srgbClr val="1A1A1A"/>
                          </a:solidFill>
                          <a:latin typeface="Microsoft YaHei"/>
                        </a:rPr>
                        <a:t>c</a:t>
                      </a:r>
                      <a:r>
                        <a:rPr sz="890" b="0" i="0">
                          <a:solidFill>
                            <a:srgbClr val="1A1A1A"/>
                          </a:solidFill>
                          <a:latin typeface="Microsoft YaHei"/>
                        </a:rPr>
                        <a:t> = 1.5 s；反射 0.44–0.52 + 判断 0.15–0.25 + 动作 0.15–0.40 = </a:t>
                      </a:r>
                      <a:r>
                        <a:rPr sz="890" b="1" i="0">
                          <a:solidFill>
                            <a:srgbClr val="1A1A1A"/>
                          </a:solidFill>
                          <a:latin typeface="Microsoft YaHei"/>
                        </a:rPr>
                        <a:t>0.74–1.17 s</a:t>
                      </a:r>
                      <a:r>
                        <a:rPr sz="890" b="0" i="0">
                          <a:solidFill>
                            <a:srgbClr val="1A1A1A"/>
                          </a:solidFill>
                          <a:latin typeface="Microsoft YaHei"/>
                        </a:rPr>
                        <a:t>；制动压力建立 0.3–0.75 s；</a:t>
                      </a:r>
                      <a:r>
                        <a:rPr sz="890" b="1" i="0">
                          <a:solidFill>
                            <a:srgbClr val="1A1A1A"/>
                          </a:solidFill>
                          <a:latin typeface="Microsoft YaHei"/>
                        </a:rPr>
                        <a:t>总时延 1.04–1.92 s</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Coelingh 等（2010）</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量产实现；AEB 介入「未响应</a:t>
                      </a:r>
                      <a:r>
                        <a:rPr sz="890" b="1" i="0">
                          <a:solidFill>
                            <a:srgbClr val="1A1A1A"/>
                          </a:solidFill>
                          <a:latin typeface="Microsoft YaHei"/>
                        </a:rPr>
                        <a:t>且</a:t>
                      </a:r>
                      <a:r>
                        <a:rPr sz="890" b="0" i="0">
                          <a:solidFill>
                            <a:srgbClr val="1A1A1A"/>
                          </a:solidFill>
                          <a:latin typeface="Microsoft YaHei"/>
                        </a:rPr>
                        <a:t>碰撞约在 1 s 之后」；物理最早 </a:t>
                      </a:r>
                      <a:r>
                        <a:rPr sz="890" b="1" i="0">
                          <a:solidFill>
                            <a:srgbClr val="1A1A1A"/>
                          </a:solidFill>
                          <a:latin typeface="Microsoft YaHei"/>
                        </a:rPr>
                        <a:t>1.6 s</a:t>
                      </a:r>
                      <a:r>
                        <a:rPr sz="890" b="0" i="0">
                          <a:solidFill>
                            <a:srgbClr val="1A1A1A"/>
                          </a:solidFill>
                          <a:latin typeface="Microsoft YaHei"/>
                        </a:rPr>
                        <a:t>；纯延迟 </a:t>
                      </a:r>
                      <a:r>
                        <a:rPr sz="890" b="1" i="0">
                          <a:solidFill>
                            <a:srgbClr val="1A1A1A"/>
                          </a:solidFill>
                          <a:latin typeface="Microsoft YaHei"/>
                        </a:rPr>
                        <a:t>180 ms</a:t>
                      </a:r>
                      <a:r>
                        <a:rPr sz="890" b="0" i="0">
                          <a:solidFill>
                            <a:srgbClr val="1A1A1A"/>
                          </a:solidFill>
                          <a:latin typeface="Microsoft YaHei"/>
                        </a:rPr>
                        <a:t> + 斜坡 </a:t>
                      </a:r>
                      <a:r>
                        <a:rPr sz="890" b="1" i="0">
                          <a:solidFill>
                            <a:srgbClr val="1A1A1A"/>
                          </a:solidFill>
                          <a:latin typeface="Microsoft YaHei"/>
                        </a:rPr>
                        <a:t>20 m/s³</a:t>
                      </a:r>
                      <a:r>
                        <a:rPr sz="890" b="0" i="0">
                          <a:solidFill>
                            <a:srgbClr val="1A1A1A"/>
                          </a:solidFill>
                          <a:latin typeface="Microsoft YaHei"/>
                        </a:rPr>
                        <a:t>，建立 10 m/s² 需 </a:t>
                      </a:r>
                      <a:r>
                        <a:rPr sz="890" b="1" i="0">
                          <a:solidFill>
                            <a:srgbClr val="1A1A1A"/>
                          </a:solidFill>
                          <a:latin typeface="Microsoft YaHei"/>
                        </a:rPr>
                        <a:t>0.68 s</a:t>
                      </a:r>
                      <a:r>
                        <a:rPr sz="890" b="0" i="0">
                          <a:solidFill>
                            <a:srgbClr val="1A1A1A"/>
                          </a:solidFill>
                          <a:latin typeface="Microsoft YaHei"/>
                        </a:rPr>
                        <a:t>；相机 48° + 雷达 60°</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Char（2020）</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3 700+ 例事故重建 + 200 人反应时分布；行人 </a:t>
                      </a:r>
                      <a:r>
                        <a:rPr sz="890" b="1" i="0">
                          <a:solidFill>
                            <a:srgbClr val="1A1A1A"/>
                          </a:solidFill>
                          <a:latin typeface="Microsoft YaHei"/>
                        </a:rPr>
                        <a:t>FOV &gt; 30° 时 TTC 2 s 检出 &gt; 90%</a:t>
                      </a:r>
                      <a:r>
                        <a:rPr sz="890" b="0" i="0">
                          <a:solidFill>
                            <a:srgbClr val="1A1A1A"/>
                          </a:solidFill>
                          <a:latin typeface="Microsoft YaHei"/>
                        </a:rPr>
                        <a:t>，</a:t>
                      </a:r>
                      <a:r>
                        <a:rPr sz="890" b="1" i="0">
                          <a:solidFill>
                            <a:srgbClr val="1A1A1A"/>
                          </a:solidFill>
                          <a:latin typeface="Microsoft YaHei"/>
                        </a:rPr>
                        <a:t>≥ 40° 后增益极小</a:t>
                      </a:r>
                    </a:p>
                  </a:txBody>
                  <a:tcPr marL="66675" marR="66675" marT="42862" marB="42862" anchor="t">
                    <a:noFill/>
                  </a:tcPr>
                </a:tc>
              </a:tr>
            </a:tbl>
          </a:graphicData>
        </a:graphic>
      </p:graphicFrame>
      <p:sp>
        <p:nvSpPr>
          <p:cNvPr id="17" name="Rectangle 16"/>
          <p:cNvSpPr/>
          <p:nvPr/>
        </p:nvSpPr>
        <p:spPr>
          <a:xfrm>
            <a:off x="438150" y="5660528"/>
            <a:ext cx="11315700" cy="79742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8150" y="5660528"/>
            <a:ext cx="38100" cy="79742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975" y="5746253"/>
            <a:ext cx="11106150"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Takada 等（2014）的 2 : 1 滞环是本库唯一「用运动学量而非固定秒数定义级间关系」的先例</a:t>
            </a:r>
            <a:r>
              <a:rPr sz="990" b="0" i="0">
                <a:solidFill>
                  <a:srgbClr val="1F5A1F"/>
                </a:solidFill>
                <a:latin typeface="Microsoft YaHei"/>
              </a:rPr>
              <a:t>，其设计目的正是「级间间隔不能太短」的物理版表述。本研究在实验 2 的撤销策略与实验 3 的降级规则中直接沿用（退出阈值取进入阈值的 1/2）。</a:t>
            </a:r>
          </a:p>
          <a:p>
            <a:pPr algn="l">
              <a:lnSpc>
                <a:spcPct val="166000"/>
              </a:lnSpc>
              <a:spcBef>
                <a:spcPts val="0"/>
              </a:spcBef>
              <a:spcAft>
                <a:spcPts val="0"/>
              </a:spcAft>
            </a:pPr>
            <a:r>
              <a:rPr sz="990" b="1" i="0">
                <a:solidFill>
                  <a:srgbClr val="1F5A1F"/>
                </a:solidFill>
                <a:latin typeface="Microsoft YaHei"/>
              </a:rPr>
              <a:t>本研究据此把「触发准则类型」本身设为实验 2 的自变量</a:t>
            </a:r>
            <a:r>
              <a:rPr sz="990" b="0" i="0">
                <a:solidFill>
                  <a:srgbClr val="1F5A1F"/>
                </a:solidFill>
                <a:latin typeface="Microsoft YaHei"/>
              </a:rPr>
              <a:t>——这是时间参数侧最主要的方法学推进。</a:t>
            </a:r>
          </a:p>
        </p:txBody>
      </p:sp>
      <p:sp>
        <p:nvSpPr>
          <p:cNvPr id="20" name="TextBox 1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持续时长、撤销策略与闪烁占空比</a:t>
            </a:r>
          </a:p>
        </p:txBody>
      </p:sp>
      <p:sp>
        <p:nvSpPr>
          <p:cNvPr id="4" name="Rounded Rectangle 3"/>
          <p:cNvSpPr/>
          <p:nvPr/>
        </p:nvSpPr>
        <p:spPr>
          <a:xfrm>
            <a:off x="10975181" y="209550"/>
            <a:ext cx="77866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79956" y="238125"/>
            <a:ext cx="60721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2.2.3–2.2.4</a:t>
            </a:r>
          </a:p>
        </p:txBody>
      </p:sp>
      <p:sp>
        <p:nvSpPr>
          <p:cNvPr id="6" name="Rounded Rectangle 5"/>
          <p:cNvSpPr/>
          <p:nvPr/>
        </p:nvSpPr>
        <p:spPr>
          <a:xfrm>
            <a:off x="438150" y="762000"/>
            <a:ext cx="5572125" cy="5211067"/>
          </a:xfrm>
          <a:prstGeom prst="roundRect">
            <a:avLst>
              <a:gd name="adj" fmla="val 1279"/>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三类持续时长范式（报告率 &lt; 15%）</a:t>
            </a:r>
          </a:p>
        </p:txBody>
      </p:sp>
      <p:sp>
        <p:nvSpPr>
          <p:cNvPr id="9" name="TextBox 8"/>
          <p:cNvSpPr txBox="1"/>
          <p:nvPr/>
        </p:nvSpPr>
        <p:spPr>
          <a:xfrm>
            <a:off x="600075" y="1238250"/>
            <a:ext cx="5295900"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至危险解除型</a:t>
            </a:r>
            <a:r>
              <a:rPr sz="1019" b="0" i="0">
                <a:solidFill>
                  <a:srgbClr val="1A1A1A"/>
                </a:solidFill>
                <a:latin typeface="Microsoft YaHei"/>
              </a:rPr>
              <a:t>：最普遍但最缺量化。Kim 等（2018）虚拟阴影持续更新至危险解除；Ma 等（2024）风险解除后面积与饱和度</a:t>
            </a:r>
            <a:r>
              <a:rPr sz="1019" b="1" i="0">
                <a:solidFill>
                  <a:srgbClr val="1A1A1A"/>
                </a:solidFill>
                <a:latin typeface="Microsoft YaHei"/>
              </a:rPr>
              <a:t>逐渐减小直至消失</a:t>
            </a:r>
          </a:p>
        </p:txBody>
      </p:sp>
      <p:sp>
        <p:nvSpPr>
          <p:cNvPr id="10" name="TextBox 9"/>
          <p:cNvSpPr txBox="1"/>
          <p:nvPr/>
        </p:nvSpPr>
        <p:spPr>
          <a:xfrm>
            <a:off x="600075" y="1715690"/>
            <a:ext cx="5295900"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固定时长型</a:t>
            </a:r>
            <a:r>
              <a:rPr sz="1019" b="0" i="0">
                <a:solidFill>
                  <a:srgbClr val="1A1A1A"/>
                </a:solidFill>
                <a:latin typeface="Microsoft YaHei"/>
              </a:rPr>
              <a:t>：Ma 等（2021）单条消息 </a:t>
            </a:r>
            <a:r>
              <a:rPr sz="1019" b="1" i="0">
                <a:solidFill>
                  <a:srgbClr val="1A1A1A"/>
                </a:solidFill>
                <a:latin typeface="Microsoft YaHei"/>
              </a:rPr>
              <a:t>3 s</a:t>
            </a:r>
            <a:r>
              <a:rPr sz="1019" b="0" i="0">
                <a:solidFill>
                  <a:srgbClr val="1A1A1A"/>
                </a:solidFill>
                <a:latin typeface="Microsoft YaHei"/>
              </a:rPr>
              <a:t>、紧急消息 10–15 s；Ye 与 Yin（2025）取 </a:t>
            </a:r>
            <a:r>
              <a:rPr sz="1019" b="1" i="0">
                <a:solidFill>
                  <a:srgbClr val="1A1A1A"/>
                </a:solidFill>
                <a:latin typeface="Microsoft YaHei"/>
              </a:rPr>
              <a:t>3 s</a:t>
            </a:r>
            <a:r>
              <a:rPr sz="1019" b="0" i="0">
                <a:solidFill>
                  <a:srgbClr val="1A1A1A"/>
                </a:solidFill>
                <a:latin typeface="Microsoft YaHei"/>
              </a:rPr>
              <a:t>；Lind（2007）单次 </a:t>
            </a:r>
            <a:r>
              <a:rPr sz="1019" b="1" i="0">
                <a:solidFill>
                  <a:srgbClr val="1A1A1A"/>
                </a:solidFill>
                <a:latin typeface="Microsoft YaHei"/>
              </a:rPr>
              <a:t>1.2 s</a:t>
            </a:r>
          </a:p>
        </p:txBody>
      </p:sp>
      <p:sp>
        <p:nvSpPr>
          <p:cNvPr id="11" name="TextBox 10"/>
          <p:cNvSpPr txBox="1"/>
          <p:nvPr/>
        </p:nvSpPr>
        <p:spPr>
          <a:xfrm>
            <a:off x="600075" y="2193131"/>
            <a:ext cx="5295900"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动态强度调制型</a:t>
            </a:r>
            <a:r>
              <a:rPr sz="1019" b="0" i="0">
                <a:solidFill>
                  <a:srgbClr val="1A1A1A"/>
                </a:solidFill>
                <a:latin typeface="Microsoft YaHei"/>
              </a:rPr>
              <a:t>：Huo 与 Alla（2025）闪烁持续；Wu 等（2024）动态跟随把「持续显示」转化为「动态行为」</a:t>
            </a:r>
          </a:p>
        </p:txBody>
      </p:sp>
      <p:sp>
        <p:nvSpPr>
          <p:cNvPr id="12" name="Rectangle 11"/>
          <p:cNvSpPr/>
          <p:nvPr/>
        </p:nvSpPr>
        <p:spPr>
          <a:xfrm>
            <a:off x="590550" y="2708671"/>
            <a:ext cx="5267325" cy="1006078"/>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90550" y="2708671"/>
            <a:ext cx="38100" cy="1006078"/>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4375" y="2794396"/>
            <a:ext cx="5057775"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理论上下界（本研究综合）：</a:t>
            </a:r>
          </a:p>
          <a:p>
            <a:pPr algn="l">
              <a:lnSpc>
                <a:spcPct val="166000"/>
              </a:lnSpc>
              <a:spcBef>
                <a:spcPts val="0"/>
              </a:spcBef>
              <a:spcAft>
                <a:spcPts val="0"/>
              </a:spcAft>
            </a:pPr>
            <a:r>
              <a:rPr sz="990" b="0" i="0">
                <a:solidFill>
                  <a:srgbClr val="1F5A1F"/>
                </a:solidFill>
                <a:latin typeface="Microsoft YaHei"/>
              </a:rPr>
              <a:t>下界 </a:t>
            </a:r>
            <a:r>
              <a:rPr sz="990" b="1" i="0">
                <a:solidFill>
                  <a:srgbClr val="1F5A1F"/>
                </a:solidFill>
                <a:latin typeface="Microsoft YaHei"/>
              </a:rPr>
              <a:t>≥ 500 ms</a:t>
            </a:r>
            <a:r>
              <a:rPr sz="990" b="0" i="0">
                <a:solidFill>
                  <a:srgbClr val="1F5A1F"/>
                </a:solidFill>
                <a:latin typeface="Microsoft YaHei"/>
              </a:rPr>
              <a:t>——注意定向 150–300 ms + 信息提取 300–500 ms（Posner, 1980）</a:t>
            </a:r>
          </a:p>
          <a:p>
            <a:pPr algn="l">
              <a:lnSpc>
                <a:spcPct val="166000"/>
              </a:lnSpc>
              <a:spcBef>
                <a:spcPts val="0"/>
              </a:spcBef>
              <a:spcAft>
                <a:spcPts val="0"/>
              </a:spcAft>
            </a:pPr>
            <a:r>
              <a:rPr sz="990" b="0" i="0">
                <a:solidFill>
                  <a:srgbClr val="1F5A1F"/>
                </a:solidFill>
                <a:latin typeface="Microsoft YaHei"/>
              </a:rPr>
              <a:t>上界 </a:t>
            </a:r>
            <a:r>
              <a:rPr sz="990" b="1" i="0">
                <a:solidFill>
                  <a:srgbClr val="1F5A1F"/>
                </a:solidFill>
                <a:latin typeface="Microsoft YaHei"/>
              </a:rPr>
              <a:t>≤ 3 s</a:t>
            </a:r>
            <a:r>
              <a:rPr sz="990" b="0" i="0">
                <a:solidFill>
                  <a:srgbClr val="1F5A1F"/>
                </a:solidFill>
                <a:latin typeface="Microsoft YaHei"/>
              </a:rPr>
              <a:t>——单通道视觉须留出「视线回到道路」的窗口（Wickens, 2002）</a:t>
            </a:r>
          </a:p>
          <a:p>
            <a:pPr algn="l">
              <a:lnSpc>
                <a:spcPct val="166000"/>
              </a:lnSpc>
              <a:spcBef>
                <a:spcPts val="0"/>
              </a:spcBef>
              <a:spcAft>
                <a:spcPts val="0"/>
              </a:spcAft>
            </a:pPr>
            <a:r>
              <a:rPr sz="990" b="0" i="0">
                <a:solidFill>
                  <a:srgbClr val="1F5A1F"/>
                </a:solidFill>
                <a:latin typeface="Microsoft YaHei"/>
              </a:rPr>
              <a:t>上界第二重约束：</a:t>
            </a:r>
            <a:r>
              <a:rPr sz="990" b="1" i="0">
                <a:solidFill>
                  <a:srgbClr val="1F5A1F"/>
                </a:solidFill>
                <a:latin typeface="Microsoft YaHei"/>
              </a:rPr>
              <a:t>神经习惯化</a:t>
            </a:r>
            <a:r>
              <a:rPr sz="990" b="0" i="0">
                <a:solidFill>
                  <a:srgbClr val="1F5A1F"/>
                </a:solidFill>
                <a:latin typeface="Microsoft YaHei"/>
              </a:rPr>
              <a:t>（Sokolov, 1963；Bliss 等, 1995）</a:t>
            </a:r>
          </a:p>
        </p:txBody>
      </p:sp>
      <p:sp>
        <p:nvSpPr>
          <p:cNvPr id="15" name="Rounded Rectangle 14"/>
          <p:cNvSpPr/>
          <p:nvPr/>
        </p:nvSpPr>
        <p:spPr>
          <a:xfrm>
            <a:off x="6181725" y="762000"/>
            <a:ext cx="5572125" cy="5211067"/>
          </a:xfrm>
          <a:prstGeom prst="roundRect">
            <a:avLst>
              <a:gd name="adj" fmla="val 1279"/>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34125" y="1152525"/>
            <a:ext cx="5267325"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4125"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闪烁：频率与占空比的 8 倍冲突</a:t>
            </a:r>
          </a:p>
        </p:txBody>
      </p:sp>
      <p:graphicFrame>
        <p:nvGraphicFramePr>
          <p:cNvPr id="18" name="Table 17"/>
          <p:cNvGraphicFramePr>
            <a:graphicFrameLocks noGrp="1"/>
          </p:cNvGraphicFramePr>
          <p:nvPr/>
        </p:nvGraphicFramePr>
        <p:xfrm>
          <a:off x="6334125" y="1238250"/>
          <a:ext cx="5267322" cy="1592459"/>
        </p:xfrm>
        <a:graphic>
          <a:graphicData uri="http://schemas.openxmlformats.org/drawingml/2006/table">
            <a:tbl>
              <a:tblPr>
                <a:tableStyleId>{5C22544A-7EE6-4342-B048-85BDC9FD1C3A}</a:tableStyleId>
              </a:tblPr>
              <a:tblGrid>
                <a:gridCol w="788193"/>
                <a:gridCol w="748158"/>
                <a:gridCol w="813643"/>
                <a:gridCol w="2917328"/>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频率</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占空比</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效果</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Lind（2007）</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4 Hz</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60%</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CWHUD 快约 200 ms</a:t>
                      </a:r>
                    </a:p>
                  </a:txBody>
                  <a:tcPr marL="66675" marR="66675" marT="42862" marB="42862" anchor="t">
                    <a:solidFill>
                      <a:srgbClr val="FAFBFD"/>
                    </a:solidFill>
                  </a:tcPr>
                </a:tc>
              </a:tr>
              <a:tr h="61763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Shen 等（2026）</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0.5 Hz</a:t>
                      </a:r>
                    </a:p>
                    <a:p>
                      <a:pPr algn="ctr">
                        <a:lnSpc>
                          <a:spcPct val="155000"/>
                        </a:lnSpc>
                        <a:spcBef>
                          <a:spcPts val="0"/>
                        </a:spcBef>
                        <a:spcAft>
                          <a:spcPts val="0"/>
                        </a:spcAft>
                      </a:pPr>
                      <a:r>
                        <a:rPr sz="890" b="0" i="0">
                          <a:solidFill>
                            <a:srgbClr val="1A1A1A"/>
                          </a:solidFill>
                          <a:latin typeface="Microsoft YaHei"/>
                        </a:rPr>
                        <a:t>（周期 2 s）</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0/25/</a:t>
                      </a:r>
                      <a:r>
                        <a:rPr sz="890" b="1" i="0">
                          <a:solidFill>
                            <a:srgbClr val="1A1A1A"/>
                          </a:solidFill>
                          <a:latin typeface="Microsoft YaHei"/>
                        </a:rPr>
                        <a:t>50</a:t>
                      </a:r>
                      <a:r>
                        <a:rPr sz="890" b="0" i="0">
                          <a:solidFill>
                            <a:srgbClr val="1A1A1A"/>
                          </a:solidFill>
                          <a:latin typeface="Microsoft YaHei"/>
                        </a:rPr>
                        <a:t>/75%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50% 最优 </a:t>
                      </a:r>
                      <a:r>
                        <a:rPr sz="890" b="1" i="0">
                          <a:solidFill>
                            <a:srgbClr val="1A1A1A"/>
                          </a:solidFill>
                          <a:latin typeface="Microsoft YaHei"/>
                        </a:rPr>
                        <a:t>1 041.58 ± 380.87 ms</a:t>
                      </a:r>
                      <a:r>
                        <a:rPr sz="890" b="0" i="0">
                          <a:solidFill>
                            <a:srgbClr val="1A1A1A"/>
                          </a:solidFill>
                          <a:latin typeface="Microsoft YaHei"/>
                        </a:rPr>
                        <a:t>；无闪烁最差 </a:t>
                      </a:r>
                      <a:r>
                        <a:rPr sz="890" b="1" i="0">
                          <a:solidFill>
                            <a:srgbClr val="1A1A1A"/>
                          </a:solidFill>
                          <a:latin typeface="Microsoft YaHei"/>
                        </a:rPr>
                        <a:t>1 633.38 ± 1 282.46 ms</a:t>
                      </a:r>
                      <a:r>
                        <a:rPr sz="890" b="0" i="0">
                          <a:solidFill>
                            <a:srgbClr val="1A1A1A"/>
                          </a:solidFill>
                          <a:latin typeface="Microsoft YaHei"/>
                        </a:rPr>
                        <a:t>；高沉浸分心下 2 777.80 → </a:t>
                      </a:r>
                      <a:r>
                        <a:rPr sz="890" b="1" i="0">
                          <a:solidFill>
                            <a:srgbClr val="1A1A1A"/>
                          </a:solidFill>
                          <a:latin typeface="Microsoft YaHei"/>
                        </a:rPr>
                        <a:t>1 389.34 ms</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Hou 等（2024）</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未报告</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未报告</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动效对无意视盲无显著影响，仅闪烁缩短反应时</a:t>
                      </a:r>
                      <a:r>
                        <a:rPr sz="890" b="0" i="0">
                          <a:solidFill>
                            <a:srgbClr val="1A1A1A"/>
                          </a:solidFill>
                          <a:latin typeface="Microsoft YaHei"/>
                        </a:rPr>
                        <a:t>（仅摘要）</a:t>
                      </a:r>
                    </a:p>
                  </a:txBody>
                  <a:tcPr marL="66675" marR="66675" marT="42862" marB="42862" anchor="t">
                    <a:solidFill>
                      <a:srgbClr val="FAFBFD"/>
                    </a:solidFill>
                  </a:tcPr>
                </a:tc>
              </a:tr>
            </a:tbl>
          </a:graphicData>
        </a:graphic>
      </p:graphicFrame>
      <p:sp>
        <p:nvSpPr>
          <p:cNvPr id="19" name="Rectangle 18"/>
          <p:cNvSpPr/>
          <p:nvPr/>
        </p:nvSpPr>
        <p:spPr>
          <a:xfrm>
            <a:off x="6334125" y="2921198"/>
            <a:ext cx="5267325" cy="1214735"/>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34125" y="2921198"/>
            <a:ext cx="38100" cy="1214735"/>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7950" y="3006923"/>
            <a:ext cx="5057775" cy="1071860"/>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频率差 8 倍，占空比却接近（60% vs 50%）</a:t>
            </a:r>
            <a:r>
              <a:rPr sz="990" b="0" i="0">
                <a:solidFill>
                  <a:srgbClr val="6B5200"/>
                </a:solidFill>
                <a:latin typeface="Microsoft YaHei"/>
              </a:rPr>
              <a:t>→ 可检验假设：</a:t>
            </a:r>
            <a:r>
              <a:rPr sz="990" b="1" i="0">
                <a:solidFill>
                  <a:srgbClr val="8A6A00"/>
                </a:solidFill>
                <a:latin typeface="Microsoft YaHei"/>
              </a:rPr>
              <a:t>占空比可能比频率更接近有效变量</a:t>
            </a:r>
            <a:r>
              <a:rPr sz="990" b="0" i="0">
                <a:solidFill>
                  <a:srgbClr val="6B5200"/>
                </a:solidFill>
                <a:latin typeface="Microsoft YaHei"/>
              </a:rPr>
              <a:t>。</a:t>
            </a:r>
          </a:p>
          <a:p>
            <a:pPr algn="l">
              <a:lnSpc>
                <a:spcPct val="166000"/>
              </a:lnSpc>
              <a:spcBef>
                <a:spcPts val="0"/>
              </a:spcBef>
              <a:spcAft>
                <a:spcPts val="0"/>
              </a:spcAft>
            </a:pPr>
            <a:r>
              <a:rPr sz="990" b="1" i="0">
                <a:solidFill>
                  <a:srgbClr val="8A6A00"/>
                </a:solidFill>
                <a:latin typeface="Microsoft YaHei"/>
              </a:rPr>
              <a:t>⚠ 一处转述失真的更正：</a:t>
            </a:r>
            <a:r>
              <a:rPr sz="990" b="0" i="0">
                <a:solidFill>
                  <a:srgbClr val="6B5200"/>
                </a:solidFill>
                <a:latin typeface="Microsoft YaHei"/>
              </a:rPr>
              <a:t>本课题曾把 Hou 等（2024）转述为「闪烁可缓解无意视盲」，原文实为「动效对 IB 无显著影响」。设计含义：</a:t>
            </a:r>
            <a:r>
              <a:rPr sz="990" b="1" i="0">
                <a:solidFill>
                  <a:srgbClr val="8A6A00"/>
                </a:solidFill>
                <a:latin typeface="Microsoft YaHei"/>
              </a:rPr>
              <a:t>若条件间闪烁状态不一致，反应时差异可完全归因于闪烁</a:t>
            </a:r>
            <a:r>
              <a:rPr sz="990" b="0" i="0">
                <a:solidFill>
                  <a:srgbClr val="6B5200"/>
                </a:solidFill>
                <a:latin typeface="Microsoft YaHei"/>
              </a:rPr>
              <a:t>。</a:t>
            </a:r>
          </a:p>
        </p:txBody>
      </p:sp>
      <p:sp>
        <p:nvSpPr>
          <p:cNvPr id="22" name="Rectangle 21"/>
          <p:cNvSpPr/>
          <p:nvPr/>
        </p:nvSpPr>
        <p:spPr>
          <a:xfrm>
            <a:off x="438150" y="6077842"/>
            <a:ext cx="11315700" cy="380107"/>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8150" y="6077842"/>
            <a:ext cx="38100" cy="380107"/>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1975" y="6163567"/>
            <a:ext cx="11106150" cy="237232"/>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撤销策略的证据空白：</a:t>
            </a:r>
            <a:r>
              <a:rPr sz="990" b="0" i="0">
                <a:solidFill>
                  <a:srgbClr val="7A1F1F"/>
                </a:solidFill>
                <a:latin typeface="Microsoft YaHei"/>
              </a:rPr>
              <a:t>「1 s / 2 s / 3 s / 至危险解除」这一对照在 </a:t>
            </a:r>
            <a:r>
              <a:rPr sz="990" b="1" i="0">
                <a:solidFill>
                  <a:srgbClr val="7A1F1F"/>
                </a:solidFill>
                <a:latin typeface="Microsoft YaHei"/>
              </a:rPr>
              <a:t>102 篇中完全缺失</a:t>
            </a:r>
            <a:r>
              <a:rPr sz="990" b="0" i="0">
                <a:solidFill>
                  <a:srgbClr val="7A1F1F"/>
                </a:solidFill>
                <a:latin typeface="Microsoft YaHei"/>
              </a:rPr>
              <a:t>；</a:t>
            </a:r>
            <a:r>
              <a:rPr sz="990" b="1" i="0">
                <a:solidFill>
                  <a:srgbClr val="7A1F1F"/>
                </a:solidFill>
                <a:latin typeface="Microsoft YaHei"/>
              </a:rPr>
              <a:t>渐隐时长无任何文献支撑</a:t>
            </a:r>
            <a:r>
              <a:rPr sz="990" b="0" i="0">
                <a:solidFill>
                  <a:srgbClr val="7A1F1F"/>
                </a:solidFill>
                <a:latin typeface="Microsoft YaHei"/>
              </a:rPr>
              <a:t>；唯一可用规则是 Takada 等（2014）的 2 : 1 滞环。</a:t>
            </a:r>
          </a:p>
        </p:txBody>
      </p:sp>
      <p:sp>
        <p:nvSpPr>
          <p:cNvPr id="25" name="TextBox 24"/>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分层预警与级间间隔</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2.2.5</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分层的核心主张</a:t>
            </a:r>
            <a:r>
              <a:rPr sz="1090" b="1" i="0">
                <a:solidFill>
                  <a:srgbClr val="2F528F"/>
                </a:solidFill>
                <a:latin typeface="Microsoft YaHei"/>
              </a:rPr>
              <a:t>不是增加信息量，而是让预警强度与风险阶段匹配</a:t>
            </a:r>
            <a:r>
              <a:rPr sz="1090" b="0" i="0">
                <a:solidFill>
                  <a:srgbClr val="2F528F"/>
                </a:solidFill>
                <a:latin typeface="Microsoft YaHei"/>
              </a:rPr>
              <a:t>：早期低侵入并帮助定位，临界阶段再强化动作语义。</a:t>
            </a:r>
          </a:p>
        </p:txBody>
      </p:sp>
      <p:sp>
        <p:nvSpPr>
          <p:cNvPr id="9" name="Rounded Rectangle 8"/>
          <p:cNvSpPr/>
          <p:nvPr/>
        </p:nvSpPr>
        <p:spPr>
          <a:xfrm>
            <a:off x="438150" y="1313854"/>
            <a:ext cx="6479083" cy="4441031"/>
          </a:xfrm>
          <a:prstGeom prst="roundRect">
            <a:avLst>
              <a:gd name="adj" fmla="val 150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704379"/>
            <a:ext cx="6174283"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447204"/>
            <a:ext cx="6212383"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四条产业级级联时序 → 共同界定的区间</a:t>
            </a:r>
          </a:p>
        </p:txBody>
      </p:sp>
      <p:graphicFrame>
        <p:nvGraphicFramePr>
          <p:cNvPr id="12" name="Table 11"/>
          <p:cNvGraphicFramePr>
            <a:graphicFrameLocks noGrp="1"/>
          </p:cNvGraphicFramePr>
          <p:nvPr/>
        </p:nvGraphicFramePr>
        <p:xfrm>
          <a:off x="590550" y="1790104"/>
          <a:ext cx="6174282" cy="1513579"/>
        </p:xfrm>
        <a:graphic>
          <a:graphicData uri="http://schemas.openxmlformats.org/drawingml/2006/table">
            <a:tbl>
              <a:tblPr>
                <a:tableStyleId>{5C22544A-7EE6-4342-B048-85BDC9FD1C3A}</a:tableStyleId>
              </a:tblPr>
              <a:tblGrid>
                <a:gridCol w="1605260"/>
                <a:gridCol w="3210817"/>
                <a:gridCol w="1358205"/>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级联结构</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级间间隔</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Lubbe（2017）</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HUD + 57 dBA（2.5 s）→ 视听 + 64 dBA + 制动脉冲（1.8 s）</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0.7 s</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Large 等（2019）</a:t>
                      </a:r>
                    </a:p>
                    <a:p>
                      <a:pPr algn="l">
                        <a:lnSpc>
                          <a:spcPct val="155000"/>
                        </a:lnSpc>
                        <a:spcBef>
                          <a:spcPts val="0"/>
                        </a:spcBef>
                        <a:spcAft>
                          <a:spcPts val="0"/>
                        </a:spcAft>
                      </a:pPr>
                      <a:r>
                        <a:rPr sz="890" b="1" i="0">
                          <a:solidFill>
                            <a:srgbClr val="1A1A1A"/>
                          </a:solidFill>
                          <a:latin typeface="Microsoft YaHei"/>
                        </a:rPr>
                        <a:t>转引 Daimler</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early 4.0 → warning 2.6 → urgent 1.6 → 自动制动 1.1 s</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1.4 / 1.0 / 0.5 s</a:t>
                      </a:r>
                    </a:p>
                    <a:p>
                      <a:pPr algn="ctr">
                        <a:lnSpc>
                          <a:spcPct val="155000"/>
                        </a:lnSpc>
                        <a:spcBef>
                          <a:spcPts val="0"/>
                        </a:spcBef>
                        <a:spcAft>
                          <a:spcPts val="0"/>
                        </a:spcAft>
                      </a:pPr>
                      <a:r>
                        <a:rPr sz="890" b="0" i="0">
                          <a:solidFill>
                            <a:srgbClr val="1A1A1A"/>
                          </a:solidFill>
                          <a:latin typeface="Microsoft YaHei"/>
                        </a:rPr>
                        <a:t>（单调缩短）</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Suzuki 等（2010）</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视觉情境层 4.0 s → 听觉叠加 2.0 s；危险等级每 1.0 s 一档</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2.0 s</a:t>
                      </a:r>
                      <a:r>
                        <a:rPr sz="890" b="0" i="0">
                          <a:solidFill>
                            <a:srgbClr val="1A1A1A"/>
                          </a:solidFill>
                          <a:latin typeface="Microsoft YaHei"/>
                        </a:rPr>
                        <a:t>；档距 </a:t>
                      </a:r>
                      <a:r>
                        <a:rPr sz="890" b="1" i="0">
                          <a:solidFill>
                            <a:srgbClr val="1A1A1A"/>
                          </a:solidFill>
                          <a:latin typeface="Microsoft YaHei"/>
                        </a:rPr>
                        <a:t>1.0 s</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Phan（2016）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检测到即显示贴合框 → TTC 2.0 s 叠加黄色面板</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非固定秒数</a:t>
                      </a:r>
                    </a:p>
                  </a:txBody>
                  <a:tcPr marL="66675" marR="66675" marT="42862" marB="42862" anchor="t">
                    <a:noFill/>
                  </a:tcPr>
                </a:tc>
              </a:tr>
            </a:tbl>
          </a:graphicData>
        </a:graphic>
      </p:graphicFrame>
      <p:sp>
        <p:nvSpPr>
          <p:cNvPr id="13" name="Rectangle 12"/>
          <p:cNvSpPr/>
          <p:nvPr/>
        </p:nvSpPr>
        <p:spPr>
          <a:xfrm>
            <a:off x="590550" y="3394174"/>
            <a:ext cx="6174283"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3394174"/>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 y="3479899"/>
            <a:ext cx="5964733"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区间结论：</a:t>
            </a:r>
            <a:r>
              <a:rPr sz="990" b="0" i="0">
                <a:solidFill>
                  <a:srgbClr val="1F5A1F"/>
                </a:solidFill>
                <a:latin typeface="Microsoft YaHei"/>
              </a:rPr>
              <a:t>产业实现的级间间隔落在 </a:t>
            </a:r>
            <a:r>
              <a:rPr sz="990" b="1" i="0">
                <a:solidFill>
                  <a:srgbClr val="1F5A1F"/>
                </a:solidFill>
                <a:latin typeface="Microsoft YaHei"/>
              </a:rPr>
              <a:t>0.5–2.0 s</a:t>
            </a:r>
            <a:r>
              <a:rPr sz="990" b="0" i="0">
                <a:solidFill>
                  <a:srgbClr val="1F5A1F"/>
                </a:solidFill>
                <a:latin typeface="Microsoft YaHei"/>
              </a:rPr>
              <a:t>，且</a:t>
            </a:r>
            <a:r>
              <a:rPr sz="990" b="1" i="0">
                <a:solidFill>
                  <a:srgbClr val="1F5A1F"/>
                </a:solidFill>
                <a:latin typeface="Microsoft YaHei"/>
              </a:rPr>
              <a:t>越接近碰撞间隔越短</a:t>
            </a:r>
            <a:r>
              <a:rPr sz="990" b="0" i="0">
                <a:solidFill>
                  <a:srgbClr val="1F5A1F"/>
                </a:solidFill>
                <a:latin typeface="Microsoft YaHei"/>
              </a:rPr>
              <a:t>。1.0 s 得到 Daimler 第二级间隔与 Suzuki 档距的</a:t>
            </a:r>
            <a:r>
              <a:rPr sz="990" b="1" i="0">
                <a:solidFill>
                  <a:srgbClr val="1F5A1F"/>
                </a:solidFill>
                <a:latin typeface="Microsoft YaHei"/>
              </a:rPr>
              <a:t>双源支持</a:t>
            </a:r>
            <a:r>
              <a:rPr sz="990" b="0" i="0">
                <a:solidFill>
                  <a:srgbClr val="1F5A1F"/>
                </a:solidFill>
                <a:latin typeface="Microsoft YaHei"/>
              </a:rPr>
              <a:t>。</a:t>
            </a:r>
          </a:p>
        </p:txBody>
      </p:sp>
      <p:sp>
        <p:nvSpPr>
          <p:cNvPr id="16" name="Rounded Rectangle 15"/>
          <p:cNvSpPr/>
          <p:nvPr/>
        </p:nvSpPr>
        <p:spPr>
          <a:xfrm>
            <a:off x="7088683" y="1313854"/>
            <a:ext cx="4665166" cy="4441031"/>
          </a:xfrm>
          <a:prstGeom prst="roundRect">
            <a:avLst>
              <a:gd name="adj" fmla="val 1501"/>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241083" y="1704379"/>
            <a:ext cx="4360366"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41083" y="1447204"/>
            <a:ext cx="4398466"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分层必要性的最强单条证据</a:t>
            </a:r>
          </a:p>
        </p:txBody>
      </p:sp>
      <p:sp>
        <p:nvSpPr>
          <p:cNvPr id="19" name="TextBox 18"/>
          <p:cNvSpPr txBox="1"/>
          <p:nvPr/>
        </p:nvSpPr>
        <p:spPr>
          <a:xfrm>
            <a:off x="7241083" y="1790104"/>
            <a:ext cx="4398466"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Zhang 等（2015）：</a:t>
            </a:r>
            <a:r>
              <a:rPr sz="1120" b="1" i="0">
                <a:solidFill>
                  <a:srgbClr val="1A1A1A"/>
                </a:solidFill>
                <a:latin typeface="Microsoft YaHei"/>
              </a:rPr>
              <a:t>TTC 2.5 s 单层预警与无预警无显著差异</a:t>
            </a:r>
            <a:r>
              <a:rPr sz="1120" b="0" i="0">
                <a:solidFill>
                  <a:srgbClr val="1A1A1A"/>
                </a:solidFill>
                <a:latin typeface="Microsoft YaHei"/>
              </a:rPr>
              <a:t>（29.4% vs 44.1%），有效下限 3.0 s。</a:t>
            </a:r>
          </a:p>
        </p:txBody>
      </p:sp>
      <p:sp>
        <p:nvSpPr>
          <p:cNvPr id="20" name="TextBox 19"/>
          <p:cNvSpPr txBox="1"/>
          <p:nvPr/>
        </p:nvSpPr>
        <p:spPr>
          <a:xfrm>
            <a:off x="7241083" y="2374701"/>
            <a:ext cx="4398466"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反面推论：</a:t>
            </a:r>
            <a:r>
              <a:rPr sz="1120" b="0" i="0">
                <a:solidFill>
                  <a:srgbClr val="1A1A1A"/>
                </a:solidFill>
                <a:latin typeface="Microsoft YaHei"/>
              </a:rPr>
              <a:t>若 L2 设在 2.0 s，它</a:t>
            </a:r>
            <a:r>
              <a:rPr sz="1120" b="1" i="0">
                <a:solidFill>
                  <a:srgbClr val="1A1A1A"/>
                </a:solidFill>
                <a:latin typeface="Microsoft YaHei"/>
              </a:rPr>
              <a:t>单独不可能有效</a:t>
            </a:r>
            <a:r>
              <a:rPr sz="1120" b="0" i="0">
                <a:solidFill>
                  <a:srgbClr val="1A1A1A"/>
                </a:solidFill>
                <a:latin typeface="Microsoft YaHei"/>
              </a:rPr>
              <a:t>——L2 之所以能设在 2.0 s，</a:t>
            </a:r>
            <a:r>
              <a:rPr sz="1120" b="1" i="0">
                <a:solidFill>
                  <a:srgbClr val="1A1A1A"/>
                </a:solidFill>
                <a:latin typeface="Microsoft YaHei"/>
              </a:rPr>
              <a:t>前提是 L1 已完成定位工作</a:t>
            </a:r>
            <a:r>
              <a:rPr sz="1120" b="0" i="0">
                <a:solidFill>
                  <a:srgbClr val="1A1A1A"/>
                </a:solidFill>
                <a:latin typeface="Microsoft YaHei"/>
              </a:rPr>
              <a:t>。</a:t>
            </a:r>
          </a:p>
        </p:txBody>
      </p:sp>
      <p:sp>
        <p:nvSpPr>
          <p:cNvPr id="21" name="TextBox 20"/>
          <p:cNvSpPr txBox="1"/>
          <p:nvPr/>
        </p:nvSpPr>
        <p:spPr>
          <a:xfrm>
            <a:off x="7241083" y="2959298"/>
            <a:ext cx="4398466"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Phan（2016）的</a:t>
            </a:r>
            <a:r>
              <a:rPr sz="1120" b="1" i="0">
                <a:solidFill>
                  <a:srgbClr val="1A1A1A"/>
                </a:solidFill>
                <a:latin typeface="Microsoft YaHei"/>
              </a:rPr>
              <a:t>覆盖人群百分位表</a:t>
            </a:r>
            <a:r>
              <a:rPr sz="1120" b="0" i="0">
                <a:solidFill>
                  <a:srgbClr val="1A1A1A"/>
                </a:solidFill>
                <a:latin typeface="Microsoft YaHei"/>
              </a:rPr>
              <a:t>为 L2 锚点提供量化依据：TTC 1.0 s → </a:t>
            </a:r>
            <a:r>
              <a:rPr sz="1120" b="1" i="0">
                <a:solidFill>
                  <a:srgbClr val="1A1A1A"/>
                </a:solidFill>
                <a:latin typeface="Microsoft YaHei"/>
              </a:rPr>
              <a:t>45%</a:t>
            </a:r>
            <a:r>
              <a:rPr sz="1120" b="0" i="0">
                <a:solidFill>
                  <a:srgbClr val="1A1A1A"/>
                </a:solidFill>
                <a:latin typeface="Microsoft YaHei"/>
              </a:rPr>
              <a:t>、1.6 s → </a:t>
            </a:r>
            <a:r>
              <a:rPr sz="1120" b="1" i="0">
                <a:solidFill>
                  <a:srgbClr val="1A1A1A"/>
                </a:solidFill>
                <a:latin typeface="Microsoft YaHei"/>
              </a:rPr>
              <a:t>80%</a:t>
            </a:r>
            <a:r>
              <a:rPr sz="1120" b="0" i="0">
                <a:solidFill>
                  <a:srgbClr val="1A1A1A"/>
                </a:solidFill>
                <a:latin typeface="Microsoft YaHei"/>
              </a:rPr>
              <a:t>、</a:t>
            </a:r>
            <a:r>
              <a:rPr sz="1120" b="1" i="0">
                <a:solidFill>
                  <a:srgbClr val="1A1A1A"/>
                </a:solidFill>
                <a:latin typeface="Microsoft YaHei"/>
              </a:rPr>
              <a:t>2.0 s → 90%</a:t>
            </a:r>
            <a:r>
              <a:rPr sz="1120" b="0" i="0">
                <a:solidFill>
                  <a:srgbClr val="1A1A1A"/>
                </a:solidFill>
                <a:latin typeface="Microsoft YaHei"/>
              </a:rPr>
              <a:t>。</a:t>
            </a:r>
          </a:p>
        </p:txBody>
      </p:sp>
      <p:sp>
        <p:nvSpPr>
          <p:cNvPr id="22" name="Rectangle 21"/>
          <p:cNvSpPr/>
          <p:nvPr/>
        </p:nvSpPr>
        <p:spPr>
          <a:xfrm>
            <a:off x="7241083" y="3553420"/>
            <a:ext cx="4360366" cy="7974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41083" y="3553420"/>
            <a:ext cx="38100" cy="7974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4908" y="3639145"/>
            <a:ext cx="4150816"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1.8–2.0 s 已是人机交界：</a:t>
            </a:r>
            <a:r>
              <a:rPr sz="990" b="0" i="0">
                <a:solidFill>
                  <a:srgbClr val="7A1F1F"/>
                </a:solidFill>
                <a:latin typeface="Microsoft YaHei"/>
              </a:rPr>
              <a:t>AEB 物理最早 1.6 s 介入，制动系统还需 0.68 s 建立全力减速（Coelingh 等, 2010）；Lubbe（2017）分心条件下最长反应时 2.5 s 已超过 TTC 本身——</a:t>
            </a:r>
            <a:r>
              <a:rPr sz="990" b="1" i="0">
                <a:solidFill>
                  <a:srgbClr val="7A1F1F"/>
                </a:solidFill>
                <a:latin typeface="Microsoft YaHei"/>
              </a:rPr>
              <a:t>视觉单通道在此窗口确实不足</a:t>
            </a:r>
            <a:r>
              <a:rPr sz="990" b="0" i="0">
                <a:solidFill>
                  <a:srgbClr val="7A1F1F"/>
                </a:solidFill>
                <a:latin typeface="Microsoft YaHei"/>
              </a:rPr>
              <a:t>。</a:t>
            </a:r>
          </a:p>
        </p:txBody>
      </p:sp>
      <p:sp>
        <p:nvSpPr>
          <p:cNvPr id="25" name="Rectangle 24"/>
          <p:cNvSpPr/>
          <p:nvPr/>
        </p:nvSpPr>
        <p:spPr>
          <a:xfrm>
            <a:off x="438150" y="5859660"/>
            <a:ext cx="11315700" cy="598289"/>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8150" y="5859660"/>
            <a:ext cx="38100" cy="598289"/>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1975" y="5945385"/>
            <a:ext cx="11106150" cy="45541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升级仲裁：一个被普遍忽视的规则。</a:t>
            </a:r>
            <a:r>
              <a:rPr sz="990" b="0" i="0">
                <a:solidFill>
                  <a:srgbClr val="6B5200"/>
                </a:solidFill>
                <a:latin typeface="Microsoft YaHei"/>
              </a:rPr>
              <a:t>Winkler 等（2018）报告左转侵入场景中 </a:t>
            </a:r>
            <a:r>
              <a:rPr sz="990" b="1" i="0">
                <a:solidFill>
                  <a:srgbClr val="8A6A00"/>
                </a:solidFill>
                <a:latin typeface="Microsoft YaHei"/>
              </a:rPr>
              <a:t>50% 被试在预警呈现前就已开始制动</a:t>
            </a:r>
            <a:r>
              <a:rPr sz="990" b="0" i="0">
                <a:solidFill>
                  <a:srgbClr val="6B5200"/>
                </a:solidFill>
                <a:latin typeface="Microsoft YaHei"/>
              </a:rPr>
              <a:t>。若不设仲裁，则近半数试次中 L2 会对一个</a:t>
            </a:r>
            <a:r>
              <a:rPr sz="990" b="1" i="0">
                <a:solidFill>
                  <a:srgbClr val="8A6A00"/>
                </a:solidFill>
                <a:latin typeface="Microsoft YaHei"/>
              </a:rPr>
              <a:t>已在制动</a:t>
            </a:r>
            <a:r>
              <a:rPr sz="990" b="0" i="0">
                <a:solidFill>
                  <a:srgbClr val="6B5200"/>
                </a:solidFill>
                <a:latin typeface="Microsoft YaHei"/>
              </a:rPr>
              <a:t>的驾驶员喊「立即制动」。本研究据此设「状态条件化升级仲裁」：若 L2 前已检测到有效减速（</a:t>
            </a:r>
            <a:r>
              <a:rPr sz="990" b="0" i="1">
                <a:solidFill>
                  <a:srgbClr val="6B5200"/>
                </a:solidFill>
                <a:latin typeface="Microsoft YaHei"/>
              </a:rPr>
              <a:t>a</a:t>
            </a:r>
            <a:r>
              <a:rPr sz="690" b="0" i="1" baseline="-25000">
                <a:solidFill>
                  <a:srgbClr val="6B5200"/>
                </a:solidFill>
                <a:latin typeface="Microsoft YaHei"/>
              </a:rPr>
              <a:t>ego</a:t>
            </a:r>
            <a:r>
              <a:rPr sz="990" b="0" i="1">
                <a:solidFill>
                  <a:srgbClr val="6B5200"/>
                </a:solidFill>
                <a:latin typeface="Microsoft YaHei"/>
              </a:rPr>
              <a:t> &lt; -0.075</a:t>
            </a:r>
            <a:r>
              <a:rPr sz="990" b="0" i="0">
                <a:solidFill>
                  <a:srgbClr val="6B5200"/>
                </a:solidFill>
                <a:latin typeface="Microsoft YaHei"/>
              </a:rPr>
              <a:t> g，阈值取自 Phan, 2016）则</a:t>
            </a:r>
            <a:r>
              <a:rPr sz="990" b="1" i="0">
                <a:solidFill>
                  <a:srgbClr val="8A6A00"/>
                </a:solidFill>
                <a:latin typeface="Microsoft YaHei"/>
              </a:rPr>
              <a:t>取消升级</a:t>
            </a:r>
            <a:r>
              <a:rPr sz="990" b="0" i="0">
                <a:solidFill>
                  <a:srgbClr val="6B5200"/>
                </a:solidFill>
                <a:latin typeface="Microsoft YaHei"/>
              </a:rPr>
              <a:t>，并记录取消升级率／错误升级率／错误取消率。</a:t>
            </a:r>
          </a:p>
        </p:txBody>
      </p:sp>
      <p:sp>
        <p:nvSpPr>
          <p:cNvPr id="28" name="TextBox 27"/>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可靠性、虚警与信任：提前量的上界</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2.2.6</a:t>
            </a:r>
          </a:p>
        </p:txBody>
      </p:sp>
      <p:sp>
        <p:nvSpPr>
          <p:cNvPr id="6" name="Rounded Rectangle 5"/>
          <p:cNvSpPr/>
          <p:nvPr/>
        </p:nvSpPr>
        <p:spPr>
          <a:xfrm>
            <a:off x="438150" y="762000"/>
            <a:ext cx="5305425" cy="3891557"/>
          </a:xfrm>
          <a:prstGeom prst="roundRect">
            <a:avLst>
              <a:gd name="adj" fmla="val 1958"/>
            </a:avLst>
          </a:prstGeom>
          <a:solidFill>
            <a:srgbClr val="F3F9F3"/>
          </a:solidFill>
          <a:ln w="1905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9125" y="1774477"/>
            <a:ext cx="4981575" cy="266700"/>
          </a:xfrm>
          <a:prstGeom prst="rect">
            <a:avLst/>
          </a:prstGeom>
          <a:noFill/>
        </p:spPr>
        <p:txBody>
          <a:bodyPr wrap="square" lIns="0" rIns="0" tIns="0" bIns="0" anchor="t">
            <a:normAutofit/>
          </a:bodyPr>
          <a:lstStyle/>
          <a:p>
            <a:pPr algn="l">
              <a:lnSpc>
                <a:spcPct val="125000"/>
              </a:lnSpc>
              <a:spcBef>
                <a:spcPts val="0"/>
              </a:spcBef>
              <a:spcAft>
                <a:spcPts val="0"/>
              </a:spcAft>
            </a:pPr>
            <a:r>
              <a:rPr sz="1280" b="1" i="0">
                <a:solidFill>
                  <a:srgbClr val="3E7D3E"/>
                </a:solidFill>
                <a:latin typeface="Microsoft YaHei"/>
              </a:rPr>
              <a:t>Schall 等（2013）：15% 错误 → 零效应</a:t>
            </a:r>
          </a:p>
        </p:txBody>
      </p:sp>
      <p:sp>
        <p:nvSpPr>
          <p:cNvPr id="8" name="TextBox 7"/>
          <p:cNvSpPr txBox="1"/>
          <p:nvPr/>
        </p:nvSpPr>
        <p:spPr>
          <a:xfrm>
            <a:off x="609600" y="2098327"/>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15% 误报 + 15% 漏报（可靠性 85%）</a:t>
            </a:r>
          </a:p>
        </p:txBody>
      </p:sp>
      <p:sp>
        <p:nvSpPr>
          <p:cNvPr id="9" name="TextBox 8"/>
          <p:cNvSpPr txBox="1"/>
          <p:nvPr/>
        </p:nvSpPr>
        <p:spPr>
          <a:xfrm>
            <a:off x="609600" y="2363390"/>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1" i="0">
                <a:solidFill>
                  <a:srgbClr val="1A1A1A"/>
                </a:solidFill>
                <a:latin typeface="Microsoft YaHei"/>
              </a:rPr>
              <a:t>对所有因变量均无显著效应</a:t>
            </a:r>
          </a:p>
        </p:txBody>
      </p:sp>
      <p:sp>
        <p:nvSpPr>
          <p:cNvPr id="10" name="TextBox 9"/>
          <p:cNvSpPr txBox="1"/>
          <p:nvPr/>
        </p:nvSpPr>
        <p:spPr>
          <a:xfrm>
            <a:off x="609600" y="2628453"/>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关键条件：提示</a:t>
            </a:r>
            <a:r>
              <a:rPr sz="1019" b="1" i="0">
                <a:solidFill>
                  <a:srgbClr val="1A1A1A"/>
                </a:solidFill>
                <a:latin typeface="Microsoft YaHei"/>
              </a:rPr>
              <a:t>提前 11–13 s</a:t>
            </a:r>
            <a:r>
              <a:rPr sz="1019" b="0" i="0">
                <a:solidFill>
                  <a:srgbClr val="1A1A1A"/>
                </a:solidFill>
                <a:latin typeface="Microsoft YaHei"/>
              </a:rPr>
              <a:t>、语义为「警示」级、</a:t>
            </a:r>
            <a:r>
              <a:rPr sz="1019" b="1" i="0">
                <a:solidFill>
                  <a:srgbClr val="1A1A1A"/>
                </a:solidFill>
                <a:latin typeface="Microsoft YaHei"/>
              </a:rPr>
              <a:t>不要求立即动作</a:t>
            </a:r>
          </a:p>
        </p:txBody>
      </p:sp>
      <p:sp>
        <p:nvSpPr>
          <p:cNvPr id="11" name="TextBox 10"/>
          <p:cNvSpPr txBox="1"/>
          <p:nvPr/>
        </p:nvSpPr>
        <p:spPr>
          <a:xfrm>
            <a:off x="609600" y="2893516"/>
            <a:ext cx="4991100" cy="463450"/>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参数：不填充黄色菱形，视角 </a:t>
            </a:r>
            <a:r>
              <a:rPr sz="1019" b="1" i="0">
                <a:solidFill>
                  <a:srgbClr val="1A1A1A"/>
                </a:solidFill>
                <a:latin typeface="Microsoft YaHei"/>
              </a:rPr>
              <a:t>0.7° → 16.7°</a:t>
            </a:r>
            <a:r>
              <a:rPr sz="1019" b="0" i="0">
                <a:solidFill>
                  <a:srgbClr val="1A1A1A"/>
                </a:solidFill>
                <a:latin typeface="Microsoft YaHei"/>
              </a:rPr>
              <a:t>，350 m 触发，每 43.75 m 更新共 8 阶段</a:t>
            </a:r>
          </a:p>
        </p:txBody>
      </p:sp>
      <p:sp>
        <p:nvSpPr>
          <p:cNvPr id="12" name="TextBox 11"/>
          <p:cNvSpPr txBox="1"/>
          <p:nvPr/>
        </p:nvSpPr>
        <p:spPr>
          <a:xfrm>
            <a:off x="609600" y="3376017"/>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老年驾驶员行人检出率 </a:t>
            </a:r>
            <a:r>
              <a:rPr sz="1019" b="1" i="0">
                <a:solidFill>
                  <a:srgbClr val="1A1A1A"/>
                </a:solidFill>
                <a:latin typeface="Microsoft YaHei"/>
              </a:rPr>
              <a:t>66.10% → 91.13%</a:t>
            </a:r>
          </a:p>
        </p:txBody>
      </p:sp>
      <p:sp>
        <p:nvSpPr>
          <p:cNvPr id="13" name="TextBox 12"/>
          <p:cNvSpPr txBox="1"/>
          <p:nvPr/>
        </p:nvSpPr>
        <p:spPr>
          <a:xfrm>
            <a:off x="5743575" y="2346424"/>
            <a:ext cx="742950" cy="751284"/>
          </a:xfrm>
          <a:prstGeom prst="rect">
            <a:avLst/>
          </a:prstGeom>
          <a:noFill/>
        </p:spPr>
        <p:txBody>
          <a:bodyPr wrap="square" lIns="0" rIns="0" tIns="0" bIns="0" anchor="t">
            <a:normAutofit/>
          </a:bodyPr>
          <a:lstStyle/>
          <a:p>
            <a:pPr algn="ctr">
              <a:lnSpc>
                <a:spcPct val="125000"/>
              </a:lnSpc>
              <a:spcBef>
                <a:spcPts val="0"/>
              </a:spcBef>
              <a:spcAft>
                <a:spcPts val="0"/>
              </a:spcAft>
            </a:pPr>
            <a:r>
              <a:rPr sz="2250" b="0" i="0">
                <a:solidFill>
                  <a:srgbClr val="8C8C8C"/>
                </a:solidFill>
                <a:latin typeface="Microsoft YaHei"/>
              </a:rPr>
              <a:t>⟷</a:t>
            </a:r>
          </a:p>
          <a:p>
            <a:pPr algn="ctr">
              <a:lnSpc>
                <a:spcPct val="130000"/>
              </a:lnSpc>
              <a:spcBef>
                <a:spcPts val="0"/>
              </a:spcBef>
              <a:spcAft>
                <a:spcPts val="0"/>
              </a:spcAft>
            </a:pPr>
            <a:r>
              <a:rPr sz="860" b="0" i="0">
                <a:solidFill>
                  <a:srgbClr val="8C8C8C"/>
                </a:solidFill>
                <a:latin typeface="Microsoft YaHei"/>
              </a:rPr>
              <a:t>行动要求</a:t>
            </a:r>
          </a:p>
          <a:p>
            <a:pPr algn="ctr">
              <a:lnSpc>
                <a:spcPct val="130000"/>
              </a:lnSpc>
              <a:spcBef>
                <a:spcPts val="0"/>
              </a:spcBef>
              <a:spcAft>
                <a:spcPts val="0"/>
              </a:spcAft>
            </a:pPr>
            <a:r>
              <a:rPr sz="860" b="0" i="0">
                <a:solidFill>
                  <a:srgbClr val="8C8C8C"/>
                </a:solidFill>
                <a:latin typeface="Microsoft YaHei"/>
              </a:rPr>
              <a:t>强度不同</a:t>
            </a:r>
          </a:p>
          <a:p>
            <a:pPr algn="ctr">
              <a:lnSpc>
                <a:spcPct val="125000"/>
              </a:lnSpc>
              <a:spcBef>
                <a:spcPts val="0"/>
              </a:spcBef>
              <a:spcAft>
                <a:spcPts val="0"/>
              </a:spcAft>
            </a:pPr>
          </a:p>
        </p:txBody>
      </p:sp>
      <p:sp>
        <p:nvSpPr>
          <p:cNvPr id="14" name="Rounded Rectangle 13"/>
          <p:cNvSpPr/>
          <p:nvPr/>
        </p:nvSpPr>
        <p:spPr>
          <a:xfrm>
            <a:off x="6448425" y="762000"/>
            <a:ext cx="5305425" cy="3891557"/>
          </a:xfrm>
          <a:prstGeom prst="roundRect">
            <a:avLst>
              <a:gd name="adj" fmla="val 1958"/>
            </a:avLst>
          </a:prstGeom>
          <a:solidFill>
            <a:srgbClr val="FDF4F4"/>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29400" y="1883122"/>
            <a:ext cx="4981575" cy="266700"/>
          </a:xfrm>
          <a:prstGeom prst="rect">
            <a:avLst/>
          </a:prstGeom>
          <a:noFill/>
        </p:spPr>
        <p:txBody>
          <a:bodyPr wrap="square" lIns="0" rIns="0" tIns="0" bIns="0" anchor="t">
            <a:normAutofit/>
          </a:bodyPr>
          <a:lstStyle/>
          <a:p>
            <a:pPr algn="l">
              <a:lnSpc>
                <a:spcPct val="125000"/>
              </a:lnSpc>
              <a:spcBef>
                <a:spcPts val="0"/>
              </a:spcBef>
              <a:spcAft>
                <a:spcPts val="0"/>
              </a:spcAft>
            </a:pPr>
            <a:r>
              <a:rPr sz="1280" b="1" i="0">
                <a:solidFill>
                  <a:srgbClr val="C00000"/>
                </a:solidFill>
                <a:latin typeface="Microsoft YaHei"/>
              </a:rPr>
              <a:t>Abe 与 Richardson（2006）：时机偏差 → 强效应</a:t>
            </a:r>
          </a:p>
        </p:txBody>
      </p:sp>
      <p:sp>
        <p:nvSpPr>
          <p:cNvPr id="16" name="TextBox 15"/>
          <p:cNvSpPr txBox="1"/>
          <p:nvPr/>
        </p:nvSpPr>
        <p:spPr>
          <a:xfrm>
            <a:off x="6619875" y="2206972"/>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信任 </a:t>
            </a:r>
            <a:r>
              <a:rPr sz="1019" b="1" i="0">
                <a:solidFill>
                  <a:srgbClr val="1A1A1A"/>
                </a:solidFill>
                <a:latin typeface="Microsoft YaHei"/>
              </a:rPr>
              <a:t>7.3 → 4.3</a:t>
            </a:r>
            <a:r>
              <a:rPr sz="1019" b="0" i="0">
                <a:solidFill>
                  <a:srgbClr val="1A1A1A"/>
                </a:solidFill>
                <a:latin typeface="Microsoft YaHei"/>
              </a:rPr>
              <a:t>（F(1,115) = 118.32, p &lt; .01）</a:t>
            </a:r>
          </a:p>
        </p:txBody>
      </p:sp>
      <p:sp>
        <p:nvSpPr>
          <p:cNvPr id="17" name="TextBox 16"/>
          <p:cNvSpPr txBox="1"/>
          <p:nvPr/>
        </p:nvSpPr>
        <p:spPr>
          <a:xfrm>
            <a:off x="6619875" y="2472035"/>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报警时刻与信任相关 </a:t>
            </a:r>
            <a:r>
              <a:rPr sz="1019" b="1" i="0">
                <a:solidFill>
                  <a:srgbClr val="1A1A1A"/>
                </a:solidFill>
                <a:latin typeface="Microsoft YaHei"/>
              </a:rPr>
              <a:t>R = −0.46</a:t>
            </a:r>
          </a:p>
        </p:txBody>
      </p:sp>
      <p:sp>
        <p:nvSpPr>
          <p:cNvPr id="18" name="TextBox 17"/>
          <p:cNvSpPr txBox="1"/>
          <p:nvPr/>
        </p:nvSpPr>
        <p:spPr>
          <a:xfrm>
            <a:off x="6619875" y="2737098"/>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无报警时</a:t>
            </a:r>
            <a:r>
              <a:rPr sz="1019" b="1" i="0">
                <a:solidFill>
                  <a:srgbClr val="1A1A1A"/>
                </a:solidFill>
                <a:latin typeface="Microsoft YaHei"/>
              </a:rPr>
              <a:t>自主松油门基线 0.72 s</a:t>
            </a:r>
            <a:r>
              <a:rPr sz="1019" b="0" i="0">
                <a:solidFill>
                  <a:srgbClr val="1A1A1A"/>
                </a:solidFill>
                <a:latin typeface="Microsoft YaHei"/>
              </a:rPr>
              <a:t>——被直接用作判断报警「早／晚」的操作化阈值</a:t>
            </a:r>
          </a:p>
        </p:txBody>
      </p:sp>
      <p:sp>
        <p:nvSpPr>
          <p:cNvPr id="19" name="TextBox 18"/>
          <p:cNvSpPr txBox="1"/>
          <p:nvPr/>
        </p:nvSpPr>
        <p:spPr>
          <a:xfrm>
            <a:off x="6619875" y="3002160"/>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早报警制动反应时 1.20 → </a:t>
            </a:r>
            <a:r>
              <a:rPr sz="1019" b="1" i="0">
                <a:solidFill>
                  <a:srgbClr val="1A1A1A"/>
                </a:solidFill>
                <a:latin typeface="Microsoft YaHei"/>
              </a:rPr>
              <a:t>0.93 s</a:t>
            </a:r>
            <a:r>
              <a:rPr sz="1019" b="0" i="0">
                <a:solidFill>
                  <a:srgbClr val="1A1A1A"/>
                </a:solidFill>
                <a:latin typeface="Microsoft YaHei"/>
              </a:rPr>
              <a:t>；晚报警 0.95 → </a:t>
            </a:r>
            <a:r>
              <a:rPr sz="1019" b="1" i="0">
                <a:solidFill>
                  <a:srgbClr val="1A1A1A"/>
                </a:solidFill>
                <a:latin typeface="Microsoft YaHei"/>
              </a:rPr>
              <a:t>1.07 s</a:t>
            </a:r>
            <a:r>
              <a:rPr sz="1019" b="0" i="0">
                <a:solidFill>
                  <a:srgbClr val="1A1A1A"/>
                </a:solidFill>
                <a:latin typeface="Microsoft YaHei"/>
              </a:rPr>
              <a:t>（反而变长）</a:t>
            </a:r>
          </a:p>
        </p:txBody>
      </p:sp>
      <p:sp>
        <p:nvSpPr>
          <p:cNvPr id="20" name="TextBox 19"/>
          <p:cNvSpPr txBox="1"/>
          <p:nvPr/>
        </p:nvSpPr>
        <p:spPr>
          <a:xfrm>
            <a:off x="6619875" y="3267223"/>
            <a:ext cx="4991100"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a:latin typeface="Microsoft YaHei"/>
              </a:rPr>
              <a:t>• </a:t>
            </a:r>
            <a:r>
              <a:rPr sz="1019" b="0" i="0">
                <a:solidFill>
                  <a:srgbClr val="1A1A1A"/>
                </a:solidFill>
                <a:latin typeface="Microsoft YaHei"/>
              </a:rPr>
              <a:t>关键条件：报警</a:t>
            </a:r>
            <a:r>
              <a:rPr sz="1019" b="1" i="0">
                <a:solidFill>
                  <a:srgbClr val="1A1A1A"/>
                </a:solidFill>
                <a:latin typeface="Microsoft YaHei"/>
              </a:rPr>
              <a:t>要求立即制动</a:t>
            </a:r>
          </a:p>
        </p:txBody>
      </p:sp>
      <p:sp>
        <p:nvSpPr>
          <p:cNvPr id="21" name="Rectangle 20"/>
          <p:cNvSpPr/>
          <p:nvPr/>
        </p:nvSpPr>
        <p:spPr>
          <a:xfrm>
            <a:off x="438150" y="4758332"/>
            <a:ext cx="113157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38150" y="4758332"/>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975" y="4844057"/>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两者共同界定的边界：可靠性的行为后果随预警的「行动要求强度」放大。</a:t>
            </a:r>
            <a:r>
              <a:rPr sz="990" b="0" i="0">
                <a:solidFill>
                  <a:srgbClr val="1F5A1F"/>
                </a:solidFill>
                <a:latin typeface="Microsoft YaHei"/>
              </a:rPr>
              <a:t>→ 可否证预测：</a:t>
            </a:r>
            <a:r>
              <a:rPr sz="990" b="1" i="0">
                <a:solidFill>
                  <a:srgbClr val="1F5A1F"/>
                </a:solidFill>
                <a:latin typeface="Microsoft YaHei"/>
              </a:rPr>
              <a:t>L1（低行动要求）上的虚警代价应显著小于 L2（高行动要求）</a:t>
            </a:r>
            <a:r>
              <a:rPr sz="990" b="0" i="0">
                <a:solidFill>
                  <a:srgbClr val="1F5A1F"/>
                </a:solidFill>
                <a:latin typeface="Microsoft YaHei"/>
              </a:rPr>
              <a:t>。这是实验 3 把虚警</a:t>
            </a:r>
            <a:r>
              <a:rPr sz="990" b="1" i="0">
                <a:solidFill>
                  <a:srgbClr val="1F5A1F"/>
                </a:solidFill>
                <a:latin typeface="Microsoft YaHei"/>
              </a:rPr>
              <a:t>只施加在 L1</a:t>
            </a:r>
            <a:r>
              <a:rPr sz="990" b="0" i="0">
                <a:solidFill>
                  <a:srgbClr val="1F5A1F"/>
                </a:solidFill>
                <a:latin typeface="Microsoft YaHei"/>
              </a:rPr>
              <a:t> 的设计依据。</a:t>
            </a:r>
          </a:p>
        </p:txBody>
      </p:sp>
      <p:sp>
        <p:nvSpPr>
          <p:cNvPr id="24" name="Rectangle 23"/>
          <p:cNvSpPr/>
          <p:nvPr/>
        </p:nvSpPr>
        <p:spPr>
          <a:xfrm>
            <a:off x="438150" y="5451871"/>
            <a:ext cx="11315700" cy="1006078"/>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8150" y="5451871"/>
            <a:ext cx="38100" cy="1006078"/>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1975" y="5537596"/>
            <a:ext cx="11106150"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可靠性水平取值 20% 的三条依据：</a:t>
            </a:r>
            <a:r>
              <a:rPr sz="990" b="0" i="0">
                <a:solidFill>
                  <a:srgbClr val="6B5200"/>
                </a:solidFill>
                <a:latin typeface="Microsoft YaHei"/>
              </a:rPr>
              <a:t>① Large 等（2019）最低操纵档为 20%，可直接对照；② Schall 等（2013）的 15% 已证零效应，若仍取 15% 大概率复现零结果；③ 20% 高于 Wang 等（2026）A-TTC 动态标定后可达的 </a:t>
            </a:r>
            <a:r>
              <a:rPr sz="990" b="1" i="0">
                <a:solidFill>
                  <a:srgbClr val="8A6A00"/>
                </a:solidFill>
                <a:latin typeface="Microsoft YaHei"/>
              </a:rPr>
              <a:t>13.74%</a:t>
            </a:r>
            <a:r>
              <a:rPr sz="990" b="0" i="0">
                <a:solidFill>
                  <a:srgbClr val="6B5200"/>
                </a:solidFill>
                <a:latin typeface="Microsoft YaHei"/>
              </a:rPr>
              <a:t>（569 车／3 519 条视频核验，威胁召回 89.25%，准确率 81.42%）。</a:t>
            </a:r>
          </a:p>
          <a:p>
            <a:pPr algn="l">
              <a:lnSpc>
                <a:spcPct val="166000"/>
              </a:lnSpc>
              <a:spcBef>
                <a:spcPts val="0"/>
              </a:spcBef>
              <a:spcAft>
                <a:spcPts val="0"/>
              </a:spcAft>
            </a:pPr>
            <a:r>
              <a:rPr sz="990" b="1" i="0">
                <a:solidFill>
                  <a:srgbClr val="8A6A00"/>
                </a:solidFill>
                <a:latin typeface="Microsoft YaHei"/>
              </a:rPr>
              <a:t>⚠ 两处已撤回的引用：</a:t>
            </a:r>
            <a:r>
              <a:rPr sz="990" b="0" i="0">
                <a:solidFill>
                  <a:srgbClr val="6B5200"/>
                </a:solidFill>
                <a:latin typeface="Microsoft YaHei"/>
              </a:rPr>
              <a:t>A-TTC 正式版</a:t>
            </a:r>
            <a:r>
              <a:rPr sz="990" b="1" i="0">
                <a:solidFill>
                  <a:srgbClr val="8A6A00"/>
                </a:solidFill>
                <a:latin typeface="Microsoft YaHei"/>
              </a:rPr>
              <a:t>删除了</a:t>
            </a:r>
            <a:r>
              <a:rPr sz="990" b="0" i="0">
                <a:solidFill>
                  <a:srgbClr val="6B5200"/>
                </a:solidFill>
                <a:latin typeface="Microsoft YaHei"/>
              </a:rPr>
              <a:t>「固定阈值误报率 25.16%」基线（出自 SSRN 预印本），故</a:t>
            </a:r>
            <a:r>
              <a:rPr sz="990" b="1" i="0">
                <a:solidFill>
                  <a:srgbClr val="8A6A00"/>
                </a:solidFill>
                <a:latin typeface="Microsoft YaHei"/>
              </a:rPr>
              <a:t>不得</a:t>
            </a:r>
            <a:r>
              <a:rPr sz="990" b="0" i="0">
                <a:solidFill>
                  <a:srgbClr val="6B5200"/>
                </a:solidFill>
                <a:latin typeface="Microsoft YaHei"/>
              </a:rPr>
              <a:t>据此断言真实系统虚警率；「Bliss（2003）元分析的 30% 信任崩塌门限」</a:t>
            </a:r>
            <a:r>
              <a:rPr sz="990" b="1" i="0">
                <a:solidFill>
                  <a:srgbClr val="8A6A00"/>
                </a:solidFill>
                <a:latin typeface="Microsoft YaHei"/>
              </a:rPr>
              <a:t>未能在任何原文中溯源</a:t>
            </a:r>
            <a:r>
              <a:rPr sz="990" b="0" i="0">
                <a:solidFill>
                  <a:srgbClr val="6B5200"/>
                </a:solidFill>
                <a:latin typeface="Microsoft YaHei"/>
              </a:rPr>
              <a:t>（该文实为航空事故档案分析），已改用 Bliss 等（1995）与 Bliss 与 Acton（2003）。</a:t>
            </a:r>
          </a:p>
        </p:txBody>
      </p:sp>
      <p:sp>
        <p:nvSpPr>
          <p:cNvPr id="27" name="TextBox 26"/>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三个时间窗的张力：需求 &gt; 人类 &gt; 算法</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2.2.6</a:t>
            </a:r>
          </a:p>
        </p:txBody>
      </p:sp>
      <p:pic>
        <p:nvPicPr>
          <p:cNvPr id="6" name="Picture 5" descr="ch2_fig_time_window_tension.png"/>
          <p:cNvPicPr>
            <a:picLocks noChangeAspect="1"/>
          </p:cNvPicPr>
          <p:nvPr/>
        </p:nvPicPr>
        <p:blipFill>
          <a:blip r:embed="rId2"/>
          <a:stretch>
            <a:fillRect/>
          </a:stretch>
        </p:blipFill>
        <p:spPr>
          <a:xfrm>
            <a:off x="1313408" y="762000"/>
            <a:ext cx="9565034" cy="4157662"/>
          </a:xfrm>
          <a:prstGeom prst="rect">
            <a:avLst/>
          </a:prstGeom>
        </p:spPr>
      </p:pic>
      <p:sp>
        <p:nvSpPr>
          <p:cNvPr id="7" name="TextBox 6"/>
          <p:cNvSpPr txBox="1"/>
          <p:nvPr/>
        </p:nvSpPr>
        <p:spPr>
          <a:xfrm>
            <a:off x="438150" y="4986337"/>
            <a:ext cx="11353800" cy="379809"/>
          </a:xfrm>
          <a:prstGeom prst="rect">
            <a:avLst/>
          </a:prstGeom>
          <a:noFill/>
        </p:spPr>
        <p:txBody>
          <a:bodyPr wrap="square" lIns="0" rIns="0" tIns="0" bIns="0" anchor="t">
            <a:normAutofit/>
          </a:bodyPr>
          <a:lstStyle/>
          <a:p>
            <a:pPr algn="ctr">
              <a:lnSpc>
                <a:spcPct val="150000"/>
              </a:lnSpc>
              <a:spcBef>
                <a:spcPts val="0"/>
              </a:spcBef>
              <a:spcAft>
                <a:spcPts val="0"/>
              </a:spcAft>
            </a:pPr>
            <a:r>
              <a:rPr sz="919" b="0" i="0">
                <a:solidFill>
                  <a:srgbClr val="8C8C8C"/>
                </a:solidFill>
                <a:latin typeface="Microsoft YaHei"/>
              </a:rPr>
              <a:t>图 2-3 本研究自绘，</a:t>
            </a:r>
            <a:r>
              <a:rPr sz="919" b="1" i="0">
                <a:solidFill>
                  <a:srgbClr val="8C8C8C"/>
                </a:solidFill>
                <a:latin typeface="Microsoft YaHei"/>
              </a:rPr>
              <a:t>不含本研究数据</a:t>
            </a:r>
            <a:r>
              <a:rPr sz="919" b="0" i="0">
                <a:solidFill>
                  <a:srgbClr val="8C8C8C"/>
                </a:solidFill>
                <a:latin typeface="Microsoft YaHei"/>
              </a:rPr>
              <a:t>。左：Chen 等（2019）Table 1 原值（该文的 TTA = 2 s 档因 97.1% 行人未过街被原作者排除，故不入图）。右：三条量级取自 Chang 与 Chang（2009）／Chen 等（2019）／Cangut 与 Alver（2026）；</a:t>
            </a:r>
            <a:r>
              <a:rPr sz="919" b="1" i="0">
                <a:solidFill>
                  <a:srgbClr val="8C8C8C"/>
                </a:solidFill>
                <a:latin typeface="Microsoft YaHei"/>
              </a:rPr>
              <a:t>最下 2–5 s 是本研究对本库 14 项取值的归纳</a:t>
            </a:r>
            <a:r>
              <a:rPr sz="919" b="0" i="0">
                <a:solidFill>
                  <a:srgbClr val="8C8C8C"/>
                </a:solidFill>
                <a:latin typeface="Microsoft YaHei"/>
              </a:rPr>
              <a:t>。</a:t>
            </a:r>
          </a:p>
        </p:txBody>
      </p:sp>
      <p:sp>
        <p:nvSpPr>
          <p:cNvPr id="8" name="Rectangle 7"/>
          <p:cNvSpPr/>
          <p:nvPr/>
        </p:nvSpPr>
        <p:spPr>
          <a:xfrm>
            <a:off x="438150" y="5442346"/>
            <a:ext cx="11315700" cy="1015603"/>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38150" y="5442346"/>
            <a:ext cx="38100" cy="1015603"/>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1975" y="5528071"/>
            <a:ext cx="11106150" cy="872728"/>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本领域一个根本性的张力：需求 6.07–6.28 s ＞ 人类判别上界 TTA 4 s ＞ 算法预测上界 0.5–1.0 s。</a:t>
            </a:r>
            <a:r>
              <a:rPr sz="990" b="0" i="0">
                <a:solidFill>
                  <a:srgbClr val="7A1F1F"/>
                </a:solidFill>
                <a:latin typeface="Microsoft YaHei"/>
              </a:rPr>
              <a:t>本领域实证研究几乎全部把预警设在 </a:t>
            </a:r>
            <a:r>
              <a:rPr sz="990" b="1" i="0">
                <a:solidFill>
                  <a:srgbClr val="7A1F1F"/>
                </a:solidFill>
                <a:latin typeface="Microsoft YaHei"/>
              </a:rPr>
              <a:t>2–5 s</a:t>
            </a:r>
            <a:r>
              <a:rPr sz="990" b="0" i="0">
                <a:solidFill>
                  <a:srgbClr val="7A1F1F"/>
                </a:solidFill>
                <a:latin typeface="Microsoft YaHei"/>
              </a:rPr>
              <a:t>——它不是任何一侧的最优值，而是「算法勉强能判、人还来得及反应、虚警率尚可接受」</a:t>
            </a:r>
            <a:r>
              <a:rPr sz="990" b="1" i="0">
                <a:solidFill>
                  <a:srgbClr val="7A1F1F"/>
                </a:solidFill>
                <a:latin typeface="Microsoft YaHei"/>
              </a:rPr>
              <a:t>三者的交集</a:t>
            </a:r>
            <a:r>
              <a:rPr sz="990" b="0" i="0">
                <a:solidFill>
                  <a:srgbClr val="7A1F1F"/>
                </a:solidFill>
                <a:latin typeface="Microsoft YaHei"/>
              </a:rPr>
              <a:t>。</a:t>
            </a:r>
          </a:p>
          <a:p>
            <a:pPr algn="l">
              <a:lnSpc>
                <a:spcPct val="166000"/>
              </a:lnSpc>
              <a:spcBef>
                <a:spcPts val="0"/>
              </a:spcBef>
              <a:spcAft>
                <a:spcPts val="0"/>
              </a:spcAft>
            </a:pPr>
            <a:r>
              <a:rPr sz="990" b="1" i="0">
                <a:solidFill>
                  <a:srgbClr val="7A1F1F"/>
                </a:solidFill>
                <a:latin typeface="Microsoft YaHei"/>
              </a:rPr>
              <a:t>对本研究的含义：</a:t>
            </a:r>
            <a:r>
              <a:rPr sz="990" b="0" i="0">
                <a:solidFill>
                  <a:srgbClr val="7A1F1F"/>
                </a:solidFill>
                <a:latin typeface="Microsoft YaHei"/>
              </a:rPr>
              <a:t>「把预警设得更早」在工程上并非可自由选择的方向。实验 2 的 </a:t>
            </a:r>
            <a:r>
              <a:rPr sz="990" b="0" i="1">
                <a:solidFill>
                  <a:srgbClr val="7A1F1F"/>
                </a:solidFill>
                <a:latin typeface="Microsoft YaHei"/>
              </a:rPr>
              <a:t>Δt</a:t>
            </a:r>
            <a:r>
              <a:rPr sz="990" b="0" i="1">
                <a:solidFill>
                  <a:srgbClr val="7A1F1F"/>
                </a:solidFill>
                <a:latin typeface="Microsoft YaHei"/>
              </a:rPr>
              <a:t> = +2.5</a:t>
            </a:r>
            <a:r>
              <a:rPr sz="990" b="0" i="0">
                <a:solidFill>
                  <a:srgbClr val="7A1F1F"/>
                </a:solidFill>
                <a:latin typeface="Microsoft YaHei"/>
              </a:rPr>
              <a:t> s（相对 </a:t>
            </a:r>
            <a:r>
              <a:rPr sz="990" b="0" i="1">
                <a:solidFill>
                  <a:srgbClr val="7A1F1F"/>
                </a:solidFill>
                <a:latin typeface="Microsoft YaHei"/>
              </a:rPr>
              <a:t>t</a:t>
            </a:r>
            <a:r>
              <a:rPr sz="690" b="0" i="1" baseline="-25000">
                <a:solidFill>
                  <a:srgbClr val="7A1F1F"/>
                </a:solidFill>
                <a:latin typeface="Microsoft YaHei"/>
              </a:rPr>
              <a:t>0</a:t>
            </a:r>
            <a:r>
              <a:rPr sz="990" b="0" i="1">
                <a:solidFill>
                  <a:srgbClr val="7A1F1F"/>
                </a:solidFill>
                <a:latin typeface="Microsoft YaHei"/>
              </a:rPr>
              <a:t> ≈ 3.2</a:t>
            </a:r>
            <a:r>
              <a:rPr sz="990" b="0" i="0">
                <a:solidFill>
                  <a:srgbClr val="7A1F1F"/>
                </a:solidFill>
                <a:latin typeface="Microsoft YaHei"/>
              </a:rPr>
              <a:t> s 即绝对约 5.7 s）已接近甚至超出人类判别的可靠上界，故 H2（收益递减 + 代价递增）有很强的先验支持。</a:t>
            </a:r>
          </a:p>
        </p:txBody>
      </p:sp>
      <p:sp>
        <p:nvSpPr>
          <p:cNvPr id="11" name="TextBox 10"/>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反应时下界与个体／场景调节</a:t>
            </a:r>
          </a:p>
        </p:txBody>
      </p:sp>
      <p:sp>
        <p:nvSpPr>
          <p:cNvPr id="4" name="Rounded Rectangle 3"/>
          <p:cNvSpPr/>
          <p:nvPr/>
        </p:nvSpPr>
        <p:spPr>
          <a:xfrm>
            <a:off x="10975181" y="209550"/>
            <a:ext cx="77866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79956" y="238125"/>
            <a:ext cx="60721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2.2.7–2.2.8</a:t>
            </a:r>
          </a:p>
        </p:txBody>
      </p:sp>
      <p:sp>
        <p:nvSpPr>
          <p:cNvPr id="6" name="Rounded Rectangle 5"/>
          <p:cNvSpPr/>
          <p:nvPr/>
        </p:nvSpPr>
        <p:spPr>
          <a:xfrm>
            <a:off x="438150" y="762000"/>
            <a:ext cx="5572125" cy="5695950"/>
          </a:xfrm>
          <a:prstGeom prst="roundRect">
            <a:avLst>
              <a:gd name="adj" fmla="val 11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三套独立的反应时分解</a:t>
            </a:r>
          </a:p>
        </p:txBody>
      </p:sp>
      <p:graphicFrame>
        <p:nvGraphicFramePr>
          <p:cNvPr id="9" name="Table 8"/>
          <p:cNvGraphicFramePr>
            <a:graphicFrameLocks noGrp="1"/>
          </p:cNvGraphicFramePr>
          <p:nvPr/>
        </p:nvGraphicFramePr>
        <p:xfrm>
          <a:off x="590550" y="1238250"/>
          <a:ext cx="5267324" cy="1766588"/>
        </p:xfrm>
        <a:graphic>
          <a:graphicData uri="http://schemas.openxmlformats.org/drawingml/2006/table">
            <a:tbl>
              <a:tblPr>
                <a:tableStyleId>{5C22544A-7EE6-4342-B048-85BDC9FD1C3A}</a:tableStyleId>
              </a:tblPr>
              <a:tblGrid>
                <a:gridCol w="952053"/>
                <a:gridCol w="4315271"/>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分解</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Chen 等（2013）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反射 0.44–0.52 + 判断 0.15–0.25 + 动作 0.15–0.40 = </a:t>
                      </a:r>
                      <a:r>
                        <a:rPr sz="890" b="1" i="0">
                          <a:solidFill>
                            <a:srgbClr val="1A1A1A"/>
                          </a:solidFill>
                          <a:latin typeface="Microsoft YaHei"/>
                        </a:rPr>
                        <a:t>驾驶员 0.74–1.17 s</a:t>
                      </a:r>
                      <a:r>
                        <a:rPr sz="890" b="0" i="0">
                          <a:solidFill>
                            <a:srgbClr val="1A1A1A"/>
                          </a:solidFill>
                          <a:latin typeface="Microsoft YaHei"/>
                        </a:rPr>
                        <a:t>；+ 制动压力建立 0.3–0.75 s = </a:t>
                      </a:r>
                      <a:r>
                        <a:rPr sz="890" b="1" i="0">
                          <a:solidFill>
                            <a:srgbClr val="1A1A1A"/>
                          </a:solidFill>
                          <a:latin typeface="Microsoft YaHei"/>
                        </a:rPr>
                        <a:t>总时延 1.04–1.92 s</a:t>
                      </a:r>
                    </a:p>
                  </a:txBody>
                  <a:tcPr marL="66675" marR="66675" marT="42862" marB="42862" anchor="t">
                    <a:solidFill>
                      <a:srgbClr val="FAFBFD"/>
                    </a:solidFill>
                  </a:tcPr>
                </a:tc>
              </a:tr>
              <a:tr h="61763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Large 等（2019）</a:t>
                      </a:r>
                    </a:p>
                    <a:p>
                      <a:pPr algn="l">
                        <a:lnSpc>
                          <a:spcPct val="155000"/>
                        </a:lnSpc>
                        <a:spcBef>
                          <a:spcPts val="0"/>
                        </a:spcBef>
                        <a:spcAft>
                          <a:spcPts val="0"/>
                        </a:spcAft>
                      </a:pPr>
                      <a:r>
                        <a:rPr sz="890" b="0" i="0">
                          <a:solidFill>
                            <a:srgbClr val="1A1A1A"/>
                          </a:solidFill>
                          <a:latin typeface="Microsoft YaHei"/>
                        </a:rPr>
                        <a:t>（本研究推算）</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警报 → 松油门 </a:t>
                      </a:r>
                      <a:r>
                        <a:rPr sz="890" b="1" i="0">
                          <a:solidFill>
                            <a:srgbClr val="1A1A1A"/>
                          </a:solidFill>
                          <a:latin typeface="Microsoft YaHei"/>
                        </a:rPr>
                        <a:t>0.53–0.77 s</a:t>
                      </a:r>
                      <a:r>
                        <a:rPr sz="890" b="0" i="0">
                          <a:solidFill>
                            <a:srgbClr val="1A1A1A"/>
                          </a:solidFill>
                          <a:latin typeface="Microsoft YaHei"/>
                        </a:rPr>
                        <a:t>；松油门 → 踩刹车 </a:t>
                      </a:r>
                      <a:r>
                        <a:rPr sz="890" b="1" i="0">
                          <a:solidFill>
                            <a:srgbClr val="1A1A1A"/>
                          </a:solidFill>
                          <a:latin typeface="Microsoft YaHei"/>
                        </a:rPr>
                        <a:t>0.35 → 1.38 s</a:t>
                      </a:r>
                      <a:r>
                        <a:rPr sz="890" b="0" i="0">
                          <a:solidFill>
                            <a:srgbClr val="1A1A1A"/>
                          </a:solidFill>
                          <a:latin typeface="Microsoft YaHei"/>
                        </a:rPr>
                        <a:t>（随提前量增大而变长）</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Winkler 等（2018）</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制动反应时 </a:t>
                      </a:r>
                      <a:r>
                        <a:rPr sz="890" b="1" i="0">
                          <a:solidFill>
                            <a:srgbClr val="1A1A1A"/>
                          </a:solidFill>
                          <a:latin typeface="Microsoft YaHei"/>
                        </a:rPr>
                        <a:t>1.4 s（无预警）→ 1.03–1.05 s</a:t>
                      </a:r>
                      <a:r>
                        <a:rPr sz="890" b="0" i="0">
                          <a:solidFill>
                            <a:srgbClr val="1A1A1A"/>
                          </a:solidFill>
                          <a:latin typeface="Microsoft YaHei"/>
                        </a:rPr>
                        <a:t>；</a:t>
                      </a:r>
                      <a:r>
                        <a:rPr sz="890" b="1" i="0">
                          <a:solidFill>
                            <a:srgbClr val="1A1A1A"/>
                          </a:solidFill>
                          <a:latin typeface="Microsoft YaHei"/>
                        </a:rPr>
                        <a:t>学习效应</a:t>
                      </a:r>
                      <a:r>
                        <a:rPr sz="890" b="0" i="0">
                          <a:solidFill>
                            <a:srgbClr val="1A1A1A"/>
                          </a:solidFill>
                          <a:latin typeface="Microsoft YaHei"/>
                        </a:rPr>
                        <a:t> T1 → T2：1.20 → 1.04 s；</a:t>
                      </a:r>
                      <a:r>
                        <a:rPr sz="890" b="1" i="0">
                          <a:solidFill>
                            <a:srgbClr val="1A1A1A"/>
                          </a:solidFill>
                          <a:latin typeface="Microsoft YaHei"/>
                        </a:rPr>
                        <a:t>清洗界 0.2–2.9 s</a:t>
                      </a:r>
                      <a:r>
                        <a:rPr sz="890" b="0" i="0">
                          <a:solidFill>
                            <a:srgbClr val="1A1A1A"/>
                          </a:solidFill>
                          <a:latin typeface="Microsoft YaHei"/>
                        </a:rPr>
                        <a:t>（剔除约 16%，纳入 77%）</a:t>
                      </a:r>
                    </a:p>
                  </a:txBody>
                  <a:tcPr marL="66675" marR="66675" marT="42862" marB="42862" anchor="t">
                    <a:solidFill>
                      <a:srgbClr val="FAFBFD"/>
                    </a:solidFill>
                  </a:tcPr>
                </a:tc>
              </a:tr>
            </a:tbl>
          </a:graphicData>
        </a:graphic>
      </p:graphicFrame>
      <p:sp>
        <p:nvSpPr>
          <p:cNvPr id="10" name="Rectangle 9"/>
          <p:cNvSpPr/>
          <p:nvPr/>
        </p:nvSpPr>
        <p:spPr>
          <a:xfrm>
            <a:off x="590550" y="3085802"/>
            <a:ext cx="5267325" cy="1243310"/>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90550" y="3085802"/>
            <a:ext cx="38100" cy="1243310"/>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4375" y="3171527"/>
            <a:ext cx="5057775" cy="1100435"/>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本研究的下界推导（60 km/h，取 </a:t>
            </a:r>
            <a:r>
              <a:rPr sz="990" b="1" i="1">
                <a:solidFill>
                  <a:srgbClr val="1F5A1F"/>
                </a:solidFill>
                <a:latin typeface="Microsoft YaHei"/>
              </a:rPr>
              <a:t>PRT</a:t>
            </a:r>
            <a:r>
              <a:rPr sz="690" b="1" i="1" baseline="-25000">
                <a:solidFill>
                  <a:srgbClr val="1F5A1F"/>
                </a:solidFill>
                <a:latin typeface="Microsoft YaHei"/>
              </a:rPr>
              <a:t>p95</a:t>
            </a:r>
            <a:r>
              <a:rPr sz="990" b="1" i="0">
                <a:solidFill>
                  <a:srgbClr val="1F5A1F"/>
                </a:solidFill>
                <a:latin typeface="Microsoft YaHei"/>
              </a:rPr>
              <a:t> = 1.5 s、</a:t>
            </a:r>
            <a:r>
              <a:rPr sz="990" b="1" i="1">
                <a:solidFill>
                  <a:srgbClr val="1F5A1F"/>
                </a:solidFill>
                <a:latin typeface="Microsoft YaHei"/>
              </a:rPr>
              <a:t>δ</a:t>
            </a:r>
            <a:r>
              <a:rPr sz="690" b="1" i="1" baseline="-25000">
                <a:solidFill>
                  <a:srgbClr val="1F5A1F"/>
                </a:solidFill>
                <a:latin typeface="Microsoft YaHei"/>
              </a:rPr>
              <a:t>brake</a:t>
            </a:r>
            <a:r>
              <a:rPr sz="990" b="1" i="0">
                <a:solidFill>
                  <a:srgbClr val="1F5A1F"/>
                </a:solidFill>
                <a:latin typeface="Microsoft YaHei"/>
              </a:rPr>
              <a:t> = 0.7 s）：</a:t>
            </a:r>
          </a:p>
          <a:p>
            <a:pPr algn="l">
              <a:lnSpc>
                <a:spcPct val="166000"/>
              </a:lnSpc>
              <a:spcBef>
                <a:spcPts val="0"/>
              </a:spcBef>
              <a:spcAft>
                <a:spcPts val="0"/>
              </a:spcAft>
            </a:pPr>
            <a:r>
              <a:rPr sz="990" b="0" i="0">
                <a:solidFill>
                  <a:srgbClr val="1F5A1F"/>
                </a:solidFill>
                <a:latin typeface="Microsoft YaHei"/>
              </a:rPr>
              <a:t> </a:t>
            </a:r>
            <a:r>
              <a:rPr sz="990" b="0" i="1">
                <a:solidFill>
                  <a:srgbClr val="1F5A1F"/>
                </a:solidFill>
                <a:latin typeface="Microsoft YaHei"/>
              </a:rPr>
              <a:t>t</a:t>
            </a:r>
            <a:r>
              <a:rPr sz="690" b="0" i="1" baseline="-25000">
                <a:solidFill>
                  <a:srgbClr val="1F5A1F"/>
                </a:solidFill>
                <a:latin typeface="Microsoft YaHei"/>
              </a:rPr>
              <a:t>warn</a:t>
            </a:r>
            <a:r>
              <a:rPr sz="990" b="0" i="1">
                <a:solidFill>
                  <a:srgbClr val="1F5A1F"/>
                </a:solidFill>
                <a:latin typeface="Microsoft YaHei"/>
              </a:rPr>
              <a:t> ≥ 1.5 + 16.7/</a:t>
            </a:r>
            <a:r>
              <a:rPr sz="990" b="0" i="1">
                <a:solidFill>
                  <a:srgbClr val="1F5A1F"/>
                </a:solidFill>
                <a:latin typeface="Microsoft YaHei"/>
              </a:rPr>
              <a:t>a</a:t>
            </a:r>
            <a:r>
              <a:rPr sz="990" b="0" i="1">
                <a:solidFill>
                  <a:srgbClr val="1F5A1F"/>
                </a:solidFill>
                <a:latin typeface="Microsoft YaHei"/>
              </a:rPr>
              <a:t> + 0.7</a:t>
            </a:r>
            <a:r>
              <a:rPr sz="990" b="0" i="0">
                <a:solidFill>
                  <a:srgbClr val="1F5A1F"/>
                </a:solidFill>
                <a:latin typeface="Microsoft YaHei"/>
              </a:rPr>
              <a:t> → 「舒适停住」（</a:t>
            </a:r>
            <a:r>
              <a:rPr sz="990" b="0" i="1">
                <a:solidFill>
                  <a:srgbClr val="1F5A1F"/>
                </a:solidFill>
                <a:latin typeface="Microsoft YaHei"/>
              </a:rPr>
              <a:t>a</a:t>
            </a:r>
            <a:r>
              <a:rPr sz="690" b="0" i="1" baseline="-25000">
                <a:solidFill>
                  <a:srgbClr val="1F5A1F"/>
                </a:solidFill>
                <a:latin typeface="Microsoft YaHei"/>
              </a:rPr>
              <a:t>comf</a:t>
            </a:r>
            <a:r>
              <a:rPr sz="990" b="0" i="0">
                <a:solidFill>
                  <a:srgbClr val="1F5A1F"/>
                </a:solidFill>
                <a:latin typeface="Microsoft YaHei"/>
              </a:rPr>
              <a:t> = 3.5 m/s²）需 </a:t>
            </a:r>
            <a:r>
              <a:rPr sz="990" b="1" i="0">
                <a:solidFill>
                  <a:srgbClr val="1F5A1F"/>
                </a:solidFill>
                <a:latin typeface="Microsoft YaHei"/>
              </a:rPr>
              <a:t>≈ 6.97 s</a:t>
            </a:r>
            <a:r>
              <a:rPr sz="990" b="0" i="0">
                <a:solidFill>
                  <a:srgbClr val="1F5A1F"/>
                </a:solidFill>
                <a:latin typeface="Microsoft YaHei"/>
              </a:rPr>
              <a:t>；「仅避免碰撞」（</a:t>
            </a:r>
            <a:r>
              <a:rPr sz="990" b="0" i="1">
                <a:solidFill>
                  <a:srgbClr val="1F5A1F"/>
                </a:solidFill>
                <a:latin typeface="Microsoft YaHei"/>
              </a:rPr>
              <a:t>a</a:t>
            </a:r>
            <a:r>
              <a:rPr sz="690" b="0" i="1" baseline="-25000">
                <a:solidFill>
                  <a:srgbClr val="1F5A1F"/>
                </a:solidFill>
                <a:latin typeface="Microsoft YaHei"/>
              </a:rPr>
              <a:t>max</a:t>
            </a:r>
            <a:r>
              <a:rPr sz="990" b="0" i="0">
                <a:solidFill>
                  <a:srgbClr val="1F5A1F"/>
                </a:solidFill>
                <a:latin typeface="Microsoft YaHei"/>
              </a:rPr>
              <a:t> = 8 m/s²）降至 </a:t>
            </a:r>
            <a:r>
              <a:rPr sz="990" b="1" i="0">
                <a:solidFill>
                  <a:srgbClr val="1F5A1F"/>
                </a:solidFill>
                <a:latin typeface="Microsoft YaHei"/>
              </a:rPr>
              <a:t>≈ 4.3 s</a:t>
            </a:r>
            <a:r>
              <a:rPr sz="990" b="0" i="0">
                <a:solidFill>
                  <a:srgbClr val="1F5A1F"/>
                </a:solidFill>
                <a:latin typeface="Microsoft YaHei"/>
              </a:rPr>
              <a:t>。</a:t>
            </a:r>
          </a:p>
          <a:p>
            <a:pPr algn="l">
              <a:lnSpc>
                <a:spcPct val="166000"/>
              </a:lnSpc>
              <a:spcBef>
                <a:spcPts val="0"/>
              </a:spcBef>
              <a:spcAft>
                <a:spcPts val="0"/>
              </a:spcAft>
            </a:pPr>
            <a:r>
              <a:rPr sz="990" b="0" i="0">
                <a:solidFill>
                  <a:srgbClr val="1F5A1F"/>
                </a:solidFill>
                <a:latin typeface="Microsoft YaHei"/>
              </a:rPr>
              <a:t>→ </a:t>
            </a:r>
            <a:r>
              <a:rPr sz="990" b="1" i="0">
                <a:solidFill>
                  <a:srgbClr val="1F5A1F"/>
                </a:solidFill>
                <a:latin typeface="Microsoft YaHei"/>
              </a:rPr>
              <a:t>梯度研究得出的 3.0–4.0 s 恰好位于两者之间</a:t>
            </a:r>
            <a:r>
              <a:rPr sz="990" b="0" i="0">
                <a:solidFill>
                  <a:srgbClr val="1F5A1F"/>
                </a:solidFill>
                <a:latin typeface="Microsoft YaHei"/>
              </a:rPr>
              <a:t>：真实驾驶员不追求舒适停住，而是接受较大减速度换取更晚的预警。</a:t>
            </a:r>
          </a:p>
        </p:txBody>
      </p:sp>
      <p:sp>
        <p:nvSpPr>
          <p:cNvPr id="13" name="Rectangle 12"/>
          <p:cNvSpPr/>
          <p:nvPr/>
        </p:nvSpPr>
        <p:spPr>
          <a:xfrm>
            <a:off x="590550" y="4405312"/>
            <a:ext cx="5267325" cy="79742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4405312"/>
            <a:ext cx="38100" cy="79742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 y="4491037"/>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一条反直觉的设计原则（Huo 与 Alla, 2025）：</a:t>
            </a:r>
            <a:r>
              <a:rPr sz="990" b="0" i="0">
                <a:solidFill>
                  <a:srgbClr val="6B5200"/>
                </a:solidFill>
                <a:latin typeface="Microsoft YaHei"/>
              </a:rPr>
              <a:t>为避免新手过度依赖，应在</a:t>
            </a:r>
            <a:r>
              <a:rPr sz="990" b="1" i="0">
                <a:solidFill>
                  <a:srgbClr val="8A6A00"/>
                </a:solidFill>
                <a:latin typeface="Microsoft YaHei"/>
              </a:rPr>
              <a:t>低负荷场景下降低 AR 视觉显著性，仅在高危场景下用强对比强提醒</a:t>
            </a:r>
            <a:r>
              <a:rPr sz="990" b="0" i="0">
                <a:solidFill>
                  <a:srgbClr val="6B5200"/>
                </a:solidFill>
                <a:latin typeface="Microsoft YaHei"/>
              </a:rPr>
              <a:t>——这与「AR 越显著越好」相反，与实验 2 区块 B 的「风险耦合衰减」方向一致。</a:t>
            </a:r>
          </a:p>
        </p:txBody>
      </p:sp>
      <p:sp>
        <p:nvSpPr>
          <p:cNvPr id="16" name="Rounded Rectangle 15"/>
          <p:cNvSpPr/>
          <p:nvPr/>
        </p:nvSpPr>
        <p:spPr>
          <a:xfrm>
            <a:off x="6181725" y="762000"/>
            <a:ext cx="5572125" cy="5695950"/>
          </a:xfrm>
          <a:prstGeom prst="roundRect">
            <a:avLst>
              <a:gd name="adj" fmla="val 11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34125" y="1152525"/>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七个调节变量与本研究的处理</a:t>
            </a:r>
          </a:p>
        </p:txBody>
      </p:sp>
      <p:graphicFrame>
        <p:nvGraphicFramePr>
          <p:cNvPr id="19" name="Table 18"/>
          <p:cNvGraphicFramePr>
            <a:graphicFrameLocks noGrp="1"/>
          </p:cNvGraphicFramePr>
          <p:nvPr/>
        </p:nvGraphicFramePr>
        <p:xfrm>
          <a:off x="6334125" y="1238250"/>
          <a:ext cx="5267324" cy="2853625"/>
        </p:xfrm>
        <a:graphic>
          <a:graphicData uri="http://schemas.openxmlformats.org/drawingml/2006/table">
            <a:tbl>
              <a:tblPr>
                <a:tableStyleId>{5C22544A-7EE6-4342-B048-85BDC9FD1C3A}</a:tableStyleId>
              </a:tblPr>
              <a:tblGrid>
                <a:gridCol w="1264146"/>
                <a:gridCol w="2897088"/>
                <a:gridCol w="1106090"/>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变量</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已知效应</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处理</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年龄</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老年 PRT 更长；临界场景偏好停车标志（Kazazi 等, 2015：BRT 1.9 → 1.2 s）</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不操纵</a:t>
                      </a:r>
                    </a:p>
                    <a:p>
                      <a:pPr algn="ctr">
                        <a:lnSpc>
                          <a:spcPct val="155000"/>
                        </a:lnSpc>
                        <a:spcBef>
                          <a:spcPts val="0"/>
                        </a:spcBef>
                        <a:spcAft>
                          <a:spcPts val="0"/>
                        </a:spcAft>
                      </a:pPr>
                      <a:r>
                        <a:rPr sz="890" b="0" i="0">
                          <a:solidFill>
                            <a:srgbClr val="1A1A1A"/>
                          </a:solidFill>
                          <a:latin typeface="Microsoft YaHei"/>
                        </a:rPr>
                        <a:t>声明边界</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驾驶经验</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低负荷下新手显著依赖 AR</a:t>
                      </a:r>
                      <a:r>
                        <a:rPr sz="890" b="0" i="0">
                          <a:solidFill>
                            <a:srgbClr val="1A1A1A"/>
                          </a:solidFill>
                          <a:latin typeface="Microsoft YaHei"/>
                        </a:rPr>
                        <a:t>，AR 故障时严重退化（Huo 与 Alla, 2025）</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作为协变量</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4472C4"/>
                          </a:solidFill>
                          <a:latin typeface="Microsoft YaHei"/>
                        </a:rPr>
                        <a:t>分心／次任务负荷</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显著推后时机下限；</a:t>
                      </a:r>
                      <a:r>
                        <a:rPr sz="890" b="1" i="0">
                          <a:solidFill>
                            <a:srgbClr val="1A1A1A"/>
                          </a:solidFill>
                          <a:latin typeface="Microsoft YaHei"/>
                        </a:rPr>
                        <a:t>放大动效收益</a:t>
                      </a:r>
                      <a:r>
                        <a:rPr sz="890" b="0" i="0">
                          <a:solidFill>
                            <a:srgbClr val="1A1A1A"/>
                          </a:solidFill>
                          <a:latin typeface="Microsoft YaHei"/>
                        </a:rPr>
                        <a:t>（Shen 等：2 777.80 → 1 389.34 ms）</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实验 4 区块 F</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能见度</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AR 相对收益放大（Zhang 等 2024 雾天再提前 27.8 m）</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固定晴天日间</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4472C4"/>
                          </a:solidFill>
                          <a:latin typeface="Microsoft YaHei"/>
                        </a:rPr>
                        <a:t>车速</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同一秒数对应不同运动学难度</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检验因素</a:t>
                      </a:r>
                    </a:p>
                    <a:p>
                      <a:pPr algn="ctr">
                        <a:lnSpc>
                          <a:spcPct val="155000"/>
                        </a:lnSpc>
                        <a:spcBef>
                          <a:spcPts val="0"/>
                        </a:spcBef>
                        <a:spcAft>
                          <a:spcPts val="0"/>
                        </a:spcAft>
                      </a:pPr>
                      <a:r>
                        <a:rPr sz="890" b="1" i="0">
                          <a:solidFill>
                            <a:srgbClr val="1A1A1A"/>
                          </a:solidFill>
                          <a:latin typeface="Microsoft YaHei"/>
                        </a:rPr>
                        <a:t>40 / 60 km/h</a:t>
                      </a:r>
                    </a:p>
                  </a:txBody>
                  <a:tcPr marL="66675" marR="66675" marT="42862" marB="42862" anchor="t">
                    <a:solidFill>
                      <a:srgbClr val="FAFBFD"/>
                    </a:solidFill>
                  </a:tcPr>
                </a:tc>
              </a:tr>
              <a:tr h="278903">
                <a:tc>
                  <a:txBody>
                    <a:bodyPr wrap="square" lIns="0" rIns="0" tIns="0" bIns="0" anchor="t"/>
                    <a:lstStyle/>
                    <a:p>
                      <a:pPr algn="l">
                        <a:lnSpc>
                          <a:spcPct val="155000"/>
                        </a:lnSpc>
                        <a:spcBef>
                          <a:spcPts val="0"/>
                        </a:spcBef>
                        <a:spcAft>
                          <a:spcPts val="0"/>
                        </a:spcAft>
                      </a:pPr>
                      <a:r>
                        <a:rPr sz="890" b="1" i="0">
                          <a:solidFill>
                            <a:srgbClr val="4472C4"/>
                          </a:solidFill>
                          <a:latin typeface="Microsoft YaHei"/>
                        </a:rPr>
                        <a:t>遮挡</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直接改变 </a:t>
                      </a:r>
                      <a:r>
                        <a:rPr sz="890" b="0" i="1">
                          <a:solidFill>
                            <a:srgbClr val="1A1A1A"/>
                          </a:solidFill>
                          <a:latin typeface="Microsoft YaHei"/>
                        </a:rPr>
                        <a:t>t</a:t>
                      </a:r>
                      <a:r>
                        <a:rPr sz="620" b="0" i="1" baseline="-25000">
                          <a:solidFill>
                            <a:srgbClr val="1A1A1A"/>
                          </a:solidFill>
                          <a:latin typeface="Microsoft YaHei"/>
                        </a:rPr>
                        <a:t>0</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实验 1 自变量</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1" i="0">
                          <a:solidFill>
                            <a:srgbClr val="4472C4"/>
                          </a:solidFill>
                          <a:latin typeface="Microsoft YaHei"/>
                        </a:rPr>
                        <a:t>背景复杂度</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调节锁定策略的价值</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实验 4 主设计</a:t>
                      </a:r>
                    </a:p>
                  </a:txBody>
                  <a:tcPr marL="66675" marR="66675" marT="42862" marB="42862" anchor="t">
                    <a:solidFill>
                      <a:srgbClr val="FAFBFD"/>
                    </a:solidFill>
                  </a:tcPr>
                </a:tc>
              </a:tr>
            </a:tbl>
          </a:graphicData>
        </a:graphic>
      </p:graphicFrame>
      <p:sp>
        <p:nvSpPr>
          <p:cNvPr id="20" name="Rectangle 19"/>
          <p:cNvSpPr/>
          <p:nvPr/>
        </p:nvSpPr>
        <p:spPr>
          <a:xfrm>
            <a:off x="6334125" y="4163317"/>
            <a:ext cx="5267325" cy="21309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34125" y="4163317"/>
            <a:ext cx="38100" cy="21309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6050" y="4258567"/>
            <a:ext cx="3018532" cy="209550"/>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 框架中出现三种不同的「上界／下界」，不可混用：</a:t>
            </a:r>
          </a:p>
        </p:txBody>
      </p:sp>
      <p:graphicFrame>
        <p:nvGraphicFramePr>
          <p:cNvPr id="23" name="Table 22"/>
          <p:cNvGraphicFramePr>
            <a:graphicFrameLocks noGrp="1"/>
          </p:cNvGraphicFramePr>
          <p:nvPr/>
        </p:nvGraphicFramePr>
        <p:xfrm>
          <a:off x="6496050" y="4505325"/>
          <a:ext cx="4981573" cy="1698424"/>
        </p:xfrm>
        <a:graphic>
          <a:graphicData uri="http://schemas.openxmlformats.org/drawingml/2006/table">
            <a:tbl>
              <a:tblPr>
                <a:tableStyleId>{5C22544A-7EE6-4342-B048-85BDC9FD1C3A}</a:tableStyleId>
              </a:tblPr>
              <a:tblGrid>
                <a:gridCol w="1145678"/>
                <a:gridCol w="1544240"/>
                <a:gridCol w="2291655"/>
              </a:tblGrid>
              <a:tr h="291256">
                <a:tc>
                  <a:txBody>
                    <a:bodyPr wrap="square" lIns="0" rIns="0" tIns="0" bIns="0" anchor="t"/>
                    <a:lstStyle/>
                    <a:p>
                      <a:pPr algn="l">
                        <a:lnSpc>
                          <a:spcPct val="166000"/>
                        </a:lnSpc>
                        <a:spcBef>
                          <a:spcPts val="0"/>
                        </a:spcBef>
                        <a:spcAft>
                          <a:spcPts val="0"/>
                        </a:spcAft>
                      </a:pPr>
                      <a:r>
                        <a:rPr sz="890" b="1" i="0">
                          <a:solidFill>
                            <a:srgbClr val="FFFFFF"/>
                          </a:solidFill>
                          <a:latin typeface="Microsoft YaHei"/>
                        </a:rPr>
                        <a:t>是什么的界</a:t>
                      </a:r>
                    </a:p>
                  </a:txBody>
                  <a:tcPr marL="66675" marR="66675" marT="52387" marB="52387" anchor="t">
                    <a:solidFill>
                      <a:srgbClr val="4472C4"/>
                    </a:solidFill>
                  </a:tcPr>
                </a:tc>
                <a:tc>
                  <a:txBody>
                    <a:bodyPr wrap="square" lIns="0" rIns="0" tIns="0" bIns="0" anchor="t"/>
                    <a:lstStyle/>
                    <a:p>
                      <a:pPr algn="l">
                        <a:lnSpc>
                          <a:spcPct val="166000"/>
                        </a:lnSpc>
                        <a:spcBef>
                          <a:spcPts val="0"/>
                        </a:spcBef>
                        <a:spcAft>
                          <a:spcPts val="0"/>
                        </a:spcAft>
                      </a:pPr>
                      <a:r>
                        <a:rPr sz="890" b="1" i="0">
                          <a:solidFill>
                            <a:srgbClr val="FFFFFF"/>
                          </a:solidFill>
                          <a:latin typeface="Microsoft YaHei"/>
                        </a:rPr>
                        <a:t>取值</a:t>
                      </a:r>
                    </a:p>
                  </a:txBody>
                  <a:tcPr marL="66675" marR="66675" marT="52387" marB="52387" anchor="t">
                    <a:solidFill>
                      <a:srgbClr val="4472C4"/>
                    </a:solidFill>
                  </a:tcPr>
                </a:tc>
                <a:tc>
                  <a:txBody>
                    <a:bodyPr wrap="square" lIns="0" rIns="0" tIns="0" bIns="0" anchor="t"/>
                    <a:lstStyle/>
                    <a:p>
                      <a:pPr algn="l">
                        <a:lnSpc>
                          <a:spcPct val="166000"/>
                        </a:lnSpc>
                        <a:spcBef>
                          <a:spcPts val="0"/>
                        </a:spcBef>
                        <a:spcAft>
                          <a:spcPts val="0"/>
                        </a:spcAft>
                      </a:pPr>
                      <a:r>
                        <a:rPr sz="890" b="1" i="0">
                          <a:solidFill>
                            <a:srgbClr val="FFFFFF"/>
                          </a:solidFill>
                          <a:latin typeface="Microsoft YaHei"/>
                        </a:rPr>
                        <a:t>依据与用途</a:t>
                      </a:r>
                    </a:p>
                  </a:txBody>
                  <a:tcPr marL="66675" marR="66675" marT="52387" marB="52387" anchor="t">
                    <a:solidFill>
                      <a:srgbClr val="4472C4"/>
                    </a:solidFill>
                  </a:tcPr>
                </a:tc>
              </a:tr>
              <a:tr h="412253">
                <a:tc>
                  <a:txBody>
                    <a:bodyPr wrap="square" lIns="0" rIns="0" tIns="0" bIns="0" anchor="t"/>
                    <a:lstStyle/>
                    <a:p>
                      <a:pPr algn="l">
                        <a:lnSpc>
                          <a:spcPct val="155000"/>
                        </a:lnSpc>
                        <a:spcBef>
                          <a:spcPts val="0"/>
                        </a:spcBef>
                        <a:spcAft>
                          <a:spcPts val="0"/>
                        </a:spcAft>
                      </a:pPr>
                      <a:r>
                        <a:rPr sz="819" b="1" i="0">
                          <a:solidFill>
                            <a:srgbClr val="7A1F1F"/>
                          </a:solidFill>
                          <a:latin typeface="Microsoft YaHei"/>
                        </a:rPr>
                        <a:t>①</a:t>
                      </a:r>
                      <a:r>
                        <a:rPr sz="819" b="0" i="0">
                          <a:solidFill>
                            <a:srgbClr val="7A1F1F"/>
                          </a:solidFill>
                          <a:latin typeface="Microsoft YaHei"/>
                        </a:rPr>
                        <a:t> 反应时</a:t>
                      </a:r>
                      <a:r>
                        <a:rPr sz="819" b="1" i="0">
                          <a:solidFill>
                            <a:srgbClr val="7A1F1F"/>
                          </a:solidFill>
                          <a:latin typeface="Microsoft YaHei"/>
                        </a:rPr>
                        <a:t>本身</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19" b="0" i="0">
                          <a:solidFill>
                            <a:srgbClr val="7A1F1F"/>
                          </a:solidFill>
                          <a:latin typeface="Microsoft YaHei"/>
                        </a:rPr>
                        <a:t>驾驶员 0.74–1.17 s；含车辆侧 1.04–1.92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19" b="0" i="0">
                          <a:solidFill>
                            <a:srgbClr val="7A1F1F"/>
                          </a:solidFill>
                          <a:latin typeface="Microsoft YaHei"/>
                        </a:rPr>
                        <a:t>Chen 等（2013）三段分解。</a:t>
                      </a:r>
                      <a:r>
                        <a:rPr sz="819" b="1" i="0">
                          <a:solidFill>
                            <a:srgbClr val="7A1F1F"/>
                          </a:solidFill>
                          <a:latin typeface="Microsoft YaHei"/>
                        </a:rPr>
                        <a:t>是实测分布，非设计界限</a:t>
                      </a:r>
                    </a:p>
                  </a:txBody>
                  <a:tcPr marL="66675" marR="66675" marT="42862" marB="42862" anchor="t">
                    <a:solidFill>
                      <a:srgbClr val="FAFBFD"/>
                    </a:solidFill>
                  </a:tcPr>
                </a:tc>
              </a:tr>
              <a:tr h="417016">
                <a:tc>
                  <a:txBody>
                    <a:bodyPr wrap="square" lIns="0" rIns="0" tIns="0" bIns="0" anchor="t"/>
                    <a:lstStyle/>
                    <a:p>
                      <a:pPr algn="l">
                        <a:lnSpc>
                          <a:spcPct val="155000"/>
                        </a:lnSpc>
                        <a:spcBef>
                          <a:spcPts val="0"/>
                        </a:spcBef>
                        <a:spcAft>
                          <a:spcPts val="0"/>
                        </a:spcAft>
                      </a:pPr>
                      <a:r>
                        <a:rPr sz="819" b="1" i="0">
                          <a:solidFill>
                            <a:srgbClr val="7A1F1F"/>
                          </a:solidFill>
                          <a:latin typeface="Microsoft YaHei"/>
                        </a:rPr>
                        <a:t>②</a:t>
                      </a:r>
                      <a:r>
                        <a:rPr sz="819" b="0" i="0">
                          <a:solidFill>
                            <a:srgbClr val="7A1F1F"/>
                          </a:solidFill>
                          <a:latin typeface="Microsoft YaHei"/>
                        </a:rPr>
                        <a:t> 反应时</a:t>
                      </a:r>
                      <a:r>
                        <a:rPr sz="819" b="1" i="0">
                          <a:solidFill>
                            <a:srgbClr val="7A1F1F"/>
                          </a:solidFill>
                          <a:latin typeface="Microsoft YaHei"/>
                        </a:rPr>
                        <a:t>数据清洗</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19" b="0" i="0">
                          <a:solidFill>
                            <a:srgbClr val="7A1F1F"/>
                          </a:solidFill>
                          <a:latin typeface="Microsoft YaHei"/>
                        </a:rPr>
                        <a:t>下 </a:t>
                      </a:r>
                      <a:r>
                        <a:rPr sz="819" b="1" i="0">
                          <a:solidFill>
                            <a:srgbClr val="7A1F1F"/>
                          </a:solidFill>
                          <a:latin typeface="Microsoft YaHei"/>
                        </a:rPr>
                        <a:t>0.2 s</a:t>
                      </a:r>
                      <a:r>
                        <a:rPr sz="819" b="0" i="0">
                          <a:solidFill>
                            <a:srgbClr val="7A1F1F"/>
                          </a:solidFill>
                          <a:latin typeface="Microsoft YaHei"/>
                        </a:rPr>
                        <a:t>／上 </a:t>
                      </a:r>
                      <a:r>
                        <a:rPr sz="819" b="1" i="0">
                          <a:solidFill>
                            <a:srgbClr val="7A1F1F"/>
                          </a:solidFill>
                          <a:latin typeface="Microsoft YaHei"/>
                        </a:rPr>
                        <a:t>2.9 s</a:t>
                      </a:r>
                      <a:r>
                        <a:rPr sz="819" b="0" i="0">
                          <a:solidFill>
                            <a:srgbClr val="7A1F1F"/>
                          </a:solidFill>
                          <a:latin typeface="Microsoft YaHei"/>
                        </a:rPr>
                        <a:t>（</a:t>
                      </a:r>
                      <a:r>
                        <a:rPr sz="819" b="0" i="1">
                          <a:solidFill>
                            <a:srgbClr val="7A1F1F"/>
                          </a:solidFill>
                          <a:latin typeface="Microsoft YaHei"/>
                        </a:rPr>
                        <a:t>g</a:t>
                      </a:r>
                      <a:r>
                        <a:rPr sz="819" b="0" i="0">
                          <a:solidFill>
                            <a:srgbClr val="7A1F1F"/>
                          </a:solidFill>
                          <a:latin typeface="Microsoft YaHei"/>
                        </a:rPr>
                        <a:t> = 3.0）</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19" b="0" i="0">
                          <a:solidFill>
                            <a:srgbClr val="7A1F1F"/>
                          </a:solidFill>
                          <a:latin typeface="Microsoft YaHei"/>
                        </a:rPr>
                        <a:t>Winkler 等（2018）规则，本研究</a:t>
                      </a:r>
                      <a:r>
                        <a:rPr sz="819" b="1" i="0">
                          <a:solidFill>
                            <a:srgbClr val="7A1F1F"/>
                          </a:solidFill>
                          <a:latin typeface="Microsoft YaHei"/>
                        </a:rPr>
                        <a:t>沿用并预注册</a:t>
                      </a:r>
                    </a:p>
                  </a:txBody>
                  <a:tcPr marL="66675" marR="66675" marT="42862" marB="42862" anchor="t">
                    <a:noFill/>
                  </a:tcPr>
                </a:tc>
              </a:tr>
              <a:tr h="577899">
                <a:tc>
                  <a:txBody>
                    <a:bodyPr wrap="square" lIns="0" rIns="0" tIns="0" bIns="0" anchor="t"/>
                    <a:lstStyle/>
                    <a:p>
                      <a:pPr algn="l">
                        <a:lnSpc>
                          <a:spcPct val="155000"/>
                        </a:lnSpc>
                        <a:spcBef>
                          <a:spcPts val="0"/>
                        </a:spcBef>
                        <a:spcAft>
                          <a:spcPts val="0"/>
                        </a:spcAft>
                      </a:pPr>
                      <a:r>
                        <a:rPr sz="819" b="1" i="0">
                          <a:solidFill>
                            <a:srgbClr val="7A1F1F"/>
                          </a:solidFill>
                          <a:latin typeface="Microsoft YaHei"/>
                        </a:rPr>
                        <a:t>③</a:t>
                      </a:r>
                      <a:r>
                        <a:rPr sz="819" b="0" i="0">
                          <a:solidFill>
                            <a:srgbClr val="7A1F1F"/>
                          </a:solidFill>
                          <a:latin typeface="Microsoft YaHei"/>
                        </a:rPr>
                        <a:t> </a:t>
                      </a:r>
                      <a:r>
                        <a:rPr sz="819" b="1" i="0">
                          <a:solidFill>
                            <a:srgbClr val="7A1F1F"/>
                          </a:solidFill>
                          <a:latin typeface="Microsoft YaHei"/>
                        </a:rPr>
                        <a:t>预警提前量</a:t>
                      </a:r>
                      <a:r>
                        <a:rPr sz="819" b="0" i="0">
                          <a:solidFill>
                            <a:srgbClr val="7A1F1F"/>
                          </a:solidFill>
                          <a:latin typeface="Microsoft YaHei"/>
                        </a:rPr>
                        <a:t>（三重约束）</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19" b="0" i="0">
                          <a:solidFill>
                            <a:srgbClr val="7A1F1F"/>
                          </a:solidFill>
                          <a:latin typeface="Microsoft YaHei"/>
                        </a:rPr>
                        <a:t>下界 </a:t>
                      </a:r>
                      <a:r>
                        <a:rPr sz="819" b="1" i="0">
                          <a:solidFill>
                            <a:srgbClr val="7A1F1F"/>
                          </a:solidFill>
                          <a:latin typeface="Microsoft YaHei"/>
                        </a:rPr>
                        <a:t>4.3–6.97 s</a:t>
                      </a:r>
                      <a:r>
                        <a:rPr sz="819" b="0" i="0">
                          <a:solidFill>
                            <a:srgbClr val="7A1F1F"/>
                          </a:solidFill>
                          <a:latin typeface="Microsoft YaHei"/>
                        </a:rPr>
                        <a:t> @60 km/h；上界 = </a:t>
                      </a:r>
                      <a:r>
                        <a:rPr sz="819" b="0" i="1">
                          <a:solidFill>
                            <a:srgbClr val="7A1F1F"/>
                          </a:solidFill>
                          <a:latin typeface="Microsoft YaHei"/>
                        </a:rPr>
                        <a:t>t</a:t>
                      </a:r>
                      <a:r>
                        <a:rPr sz="570" b="0" i="1" baseline="-25000">
                          <a:solidFill>
                            <a:srgbClr val="7A1F1F"/>
                          </a:solidFill>
                          <a:latin typeface="Microsoft YaHei"/>
                        </a:rPr>
                        <a:t>pred</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19" b="0" i="0">
                          <a:solidFill>
                            <a:srgbClr val="7A1F1F"/>
                          </a:solidFill>
                          <a:latin typeface="Microsoft YaHei"/>
                        </a:rPr>
                        <a:t>下界＝运动学式；上界＝虚警率 0.55@5 s（Chen 等, 2019）+ 信任证据。</a:t>
                      </a:r>
                      <a:r>
                        <a:rPr sz="819" b="1" i="0">
                          <a:solidFill>
                            <a:srgbClr val="7A1F1F"/>
                          </a:solidFill>
                          <a:latin typeface="Microsoft YaHei"/>
                        </a:rPr>
                        <a:t>只有这一条是设计界限</a:t>
                      </a:r>
                    </a:p>
                  </a:txBody>
                  <a:tcPr marL="66675" marR="66675" marT="42862" marB="42862" anchor="t">
                    <a:solidFill>
                      <a:srgbClr val="FAFBFD"/>
                    </a:solidFill>
                  </a:tcPr>
                </a:tc>
              </a:tr>
            </a:tbl>
          </a:graphicData>
        </a:graphic>
      </p:graphicFrame>
      <p:sp>
        <p:nvSpPr>
          <p:cNvPr id="24" name="TextBox 2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空间参数：位置增益与共形增益的分离</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2.3.1</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本领域最容易被忽略的事实：</a:t>
            </a:r>
            <a:r>
              <a:rPr sz="1090" b="1" i="0">
                <a:solidFill>
                  <a:srgbClr val="2F528F"/>
                </a:solidFill>
                <a:latin typeface="Microsoft YaHei"/>
              </a:rPr>
              <a:t>AR-HUD 的收益中有相当一部分来自「把信息放到前视野」这一位置增益，而非「把图形贴到目标上」这一共形增益。</a:t>
            </a:r>
          </a:p>
        </p:txBody>
      </p:sp>
      <p:sp>
        <p:nvSpPr>
          <p:cNvPr id="9" name="Rounded Rectangle 8"/>
          <p:cNvSpPr/>
          <p:nvPr/>
        </p:nvSpPr>
        <p:spPr>
          <a:xfrm>
            <a:off x="438150" y="1313854"/>
            <a:ext cx="4665017" cy="5144095"/>
          </a:xfrm>
          <a:prstGeom prst="roundRect">
            <a:avLst>
              <a:gd name="adj" fmla="val 1429"/>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704379"/>
            <a:ext cx="4360217"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447204"/>
            <a:ext cx="4398317"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Lind（2007）四方对照</a:t>
            </a:r>
          </a:p>
        </p:txBody>
      </p:sp>
      <p:graphicFrame>
        <p:nvGraphicFramePr>
          <p:cNvPr id="12" name="Table 11"/>
          <p:cNvGraphicFramePr>
            <a:graphicFrameLocks noGrp="1"/>
          </p:cNvGraphicFramePr>
          <p:nvPr/>
        </p:nvGraphicFramePr>
        <p:xfrm>
          <a:off x="590550" y="1790104"/>
          <a:ext cx="4360216" cy="1513579"/>
        </p:xfrm>
        <a:graphic>
          <a:graphicData uri="http://schemas.openxmlformats.org/drawingml/2006/table">
            <a:tbl>
              <a:tblPr>
                <a:tableStyleId>{5C22544A-7EE6-4342-B048-85BDC9FD1C3A}</a:tableStyleId>
              </a:tblPr>
              <a:tblGrid>
                <a:gridCol w="2111126"/>
                <a:gridCol w="1419076"/>
                <a:gridCol w="830014"/>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显示位置</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制动反应时</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漏报次数</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碰撞预警平视显示 CWHUD</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最快</a:t>
                      </a:r>
                    </a:p>
                    <a:p>
                      <a:pPr algn="ctr">
                        <a:lnSpc>
                          <a:spcPct val="155000"/>
                        </a:lnSpc>
                        <a:spcBef>
                          <a:spcPts val="0"/>
                        </a:spcBef>
                        <a:spcAft>
                          <a:spcPts val="0"/>
                        </a:spcAft>
                      </a:pPr>
                      <a:r>
                        <a:rPr sz="890" b="0" i="0">
                          <a:solidFill>
                            <a:srgbClr val="1A1A1A"/>
                          </a:solidFill>
                          <a:latin typeface="Microsoft YaHei"/>
                        </a:rPr>
                        <a:t>（快约 </a:t>
                      </a:r>
                      <a:r>
                        <a:rPr sz="890" b="1" i="0">
                          <a:solidFill>
                            <a:srgbClr val="1A1A1A"/>
                          </a:solidFill>
                          <a:latin typeface="Microsoft YaHei"/>
                        </a:rPr>
                        <a:t>200 ms</a:t>
                      </a:r>
                      <a:r>
                        <a:rPr sz="890" b="0" i="0">
                          <a:solidFill>
                            <a:srgbClr val="1A1A1A"/>
                          </a:solidFill>
                          <a:latin typeface="Microsoft YaHei"/>
                        </a:rPr>
                        <a:t>）</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1</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方向盘显示</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6</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仪表显示</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12</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高位下视显示 HHDD</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17</a:t>
                      </a:r>
                    </a:p>
                  </a:txBody>
                  <a:tcPr marL="66675" marR="66675" marT="42862" marB="42862" anchor="t">
                    <a:noFill/>
                  </a:tcPr>
                </a:tc>
              </a:tr>
            </a:tbl>
          </a:graphicData>
        </a:graphic>
      </p:graphicFrame>
      <p:sp>
        <p:nvSpPr>
          <p:cNvPr id="13" name="TextBox 12"/>
          <p:cNvSpPr txBox="1"/>
          <p:nvPr/>
        </p:nvSpPr>
        <p:spPr>
          <a:xfrm>
            <a:off x="590550" y="3375124"/>
            <a:ext cx="4398317" cy="282773"/>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F(3,45) = 10.8, p &lt; .0001, 效应量 0.87</a:t>
            </a:r>
          </a:p>
        </p:txBody>
      </p:sp>
      <p:sp>
        <p:nvSpPr>
          <p:cNvPr id="14" name="Rounded Rectangle 13"/>
          <p:cNvSpPr/>
          <p:nvPr/>
        </p:nvSpPr>
        <p:spPr>
          <a:xfrm>
            <a:off x="5274617" y="1313854"/>
            <a:ext cx="6479232" cy="5144095"/>
          </a:xfrm>
          <a:prstGeom prst="roundRect">
            <a:avLst>
              <a:gd name="adj" fmla="val 12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27017" y="1704379"/>
            <a:ext cx="617443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27017" y="1447204"/>
            <a:ext cx="6212532"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两点实质修正</a:t>
            </a:r>
          </a:p>
        </p:txBody>
      </p:sp>
      <p:sp>
        <p:nvSpPr>
          <p:cNvPr id="17" name="Rectangle 16"/>
          <p:cNvSpPr/>
          <p:nvPr/>
        </p:nvSpPr>
        <p:spPr>
          <a:xfrm>
            <a:off x="5427017" y="1790104"/>
            <a:ext cx="6174432"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27017" y="1790104"/>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50842" y="1875829"/>
            <a:ext cx="5964882"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① 「屏幕固定」不是稻草人基线。</a:t>
            </a:r>
            <a:r>
              <a:rPr sz="990" b="0" i="0">
                <a:solidFill>
                  <a:srgbClr val="7A1F1F"/>
                </a:solidFill>
                <a:latin typeface="Microsoft YaHei"/>
              </a:rPr>
              <a:t>CWHUD 本身就是屏幕固定式前视野显示。→ 实验 4 的 </a:t>
            </a:r>
            <a:r>
              <a:rPr sz="990" b="1" i="0">
                <a:solidFill>
                  <a:srgbClr val="7A1F1F"/>
                </a:solidFill>
                <a:latin typeface="Microsoft YaHei"/>
              </a:rPr>
              <a:t>BD 条件已包含 HUD 位置的大部分收益，BW/BR 相对 BD 的增量必然更小，样本量估计必须按更小的效应量做</a:t>
            </a:r>
            <a:r>
              <a:rPr sz="990" b="0" i="0">
                <a:solidFill>
                  <a:srgbClr val="7A1F1F"/>
                </a:solidFill>
                <a:latin typeface="Microsoft YaHei"/>
              </a:rPr>
              <a:t>。</a:t>
            </a:r>
          </a:p>
        </p:txBody>
      </p:sp>
      <p:sp>
        <p:nvSpPr>
          <p:cNvPr id="20" name="Rectangle 19"/>
          <p:cNvSpPr/>
          <p:nvPr/>
        </p:nvSpPr>
        <p:spPr>
          <a:xfrm>
            <a:off x="5427017" y="2474118"/>
            <a:ext cx="6174432"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27017" y="2474118"/>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50842" y="2559843"/>
            <a:ext cx="5964882"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② 漏报率的效应量级远大于反应时。</a:t>
            </a:r>
            <a:r>
              <a:rPr sz="990" b="0" i="0">
                <a:solidFill>
                  <a:srgbClr val="1F5A1F"/>
                </a:solidFill>
                <a:latin typeface="Microsoft YaHei"/>
              </a:rPr>
              <a:t>漏报 1 → 17（</a:t>
            </a:r>
            <a:r>
              <a:rPr sz="990" b="1" i="0">
                <a:solidFill>
                  <a:srgbClr val="1F5A1F"/>
                </a:solidFill>
                <a:latin typeface="Microsoft YaHei"/>
              </a:rPr>
              <a:t>17 倍</a:t>
            </a:r>
            <a:r>
              <a:rPr sz="990" b="0" i="0">
                <a:solidFill>
                  <a:srgbClr val="1F5A1F"/>
                </a:solidFill>
                <a:latin typeface="Microsoft YaHei"/>
              </a:rPr>
              <a:t>），反应时仅差 200 ms（</a:t>
            </a:r>
            <a:r>
              <a:rPr sz="990" b="1" i="0">
                <a:solidFill>
                  <a:srgbClr val="1F5A1F"/>
                </a:solidFill>
                <a:latin typeface="Microsoft YaHei"/>
              </a:rPr>
              <a:t>约 20%</a:t>
            </a:r>
            <a:r>
              <a:rPr sz="990" b="0" i="0">
                <a:solidFill>
                  <a:srgbClr val="1F5A1F"/>
                </a:solidFill>
                <a:latin typeface="Microsoft YaHei"/>
              </a:rPr>
              <a:t>）。→ </a:t>
            </a:r>
            <a:r>
              <a:rPr sz="990" b="1" i="0">
                <a:solidFill>
                  <a:srgbClr val="1F5A1F"/>
                </a:solidFill>
                <a:latin typeface="Microsoft YaHei"/>
              </a:rPr>
              <a:t>漏检率应提升为并列的主要因变量</a:t>
            </a:r>
            <a:r>
              <a:rPr sz="990" b="0" i="0">
                <a:solidFill>
                  <a:srgbClr val="1F5A1F"/>
                </a:solidFill>
                <a:latin typeface="Microsoft YaHei"/>
              </a:rPr>
              <a:t>，而既有综述普遍只把它列在「感知」项下。</a:t>
            </a:r>
          </a:p>
        </p:txBody>
      </p:sp>
      <p:sp>
        <p:nvSpPr>
          <p:cNvPr id="23" name="TextBox 22"/>
          <p:cNvSpPr txBox="1"/>
          <p:nvPr/>
        </p:nvSpPr>
        <p:spPr>
          <a:xfrm>
            <a:off x="5427017" y="3158132"/>
            <a:ext cx="6212532"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中国样本的印证（Zhang 等, 2024）：</a:t>
            </a:r>
            <a:r>
              <a:rPr sz="1120" b="0" i="0">
                <a:solidFill>
                  <a:srgbClr val="1A1A1A"/>
                </a:solidFill>
                <a:latin typeface="Microsoft YaHei"/>
              </a:rPr>
              <a:t>HUD 相较高位下视显示使油门松开提前约 </a:t>
            </a:r>
            <a:r>
              <a:rPr sz="1120" b="1" i="0">
                <a:solidFill>
                  <a:srgbClr val="1A1A1A"/>
                </a:solidFill>
                <a:latin typeface="Microsoft YaHei"/>
              </a:rPr>
              <a:t>20+ m</a:t>
            </a:r>
            <a:r>
              <a:rPr sz="1120" b="0" i="0">
                <a:solidFill>
                  <a:srgbClr val="1A1A1A"/>
                </a:solidFill>
                <a:latin typeface="Microsoft YaHei"/>
              </a:rPr>
              <a:t>、首次制动提前约 </a:t>
            </a:r>
            <a:r>
              <a:rPr sz="1120" b="1" i="0">
                <a:solidFill>
                  <a:srgbClr val="1A1A1A"/>
                </a:solidFill>
                <a:latin typeface="Microsoft YaHei"/>
              </a:rPr>
              <a:t>25 m</a:t>
            </a:r>
            <a:r>
              <a:rPr sz="1120" b="0" i="0">
                <a:solidFill>
                  <a:srgbClr val="1A1A1A"/>
                </a:solidFill>
                <a:latin typeface="Microsoft YaHei"/>
              </a:rPr>
              <a:t>、最大减速度降低约 </a:t>
            </a:r>
            <a:r>
              <a:rPr sz="1120" b="1" i="0">
                <a:solidFill>
                  <a:srgbClr val="1A1A1A"/>
                </a:solidFill>
                <a:latin typeface="Microsoft YaHei"/>
              </a:rPr>
              <a:t>2 m/s²</a:t>
            </a:r>
            <a:r>
              <a:rPr sz="1120" b="0" i="0">
                <a:solidFill>
                  <a:srgbClr val="1A1A1A"/>
                </a:solidFill>
                <a:latin typeface="Microsoft YaHei"/>
              </a:rPr>
              <a:t>、最小冲突距离增加约 </a:t>
            </a:r>
            <a:r>
              <a:rPr sz="1120" b="1" i="0">
                <a:solidFill>
                  <a:srgbClr val="1A1A1A"/>
                </a:solidFill>
                <a:latin typeface="Microsoft YaHei"/>
              </a:rPr>
              <a:t>6 m</a:t>
            </a:r>
            <a:r>
              <a:rPr sz="1120" b="0" i="0">
                <a:solidFill>
                  <a:srgbClr val="1A1A1A"/>
                </a:solidFill>
                <a:latin typeface="Microsoft YaHei"/>
              </a:rPr>
              <a:t>。</a:t>
            </a:r>
          </a:p>
        </p:txBody>
      </p:sp>
      <p:sp>
        <p:nvSpPr>
          <p:cNvPr id="24" name="TextBox 2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空间参照系与锁定策略</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2.3.2</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BD</a:t>
            </a:r>
            <a:r>
              <a:rPr sz="1090" b="0" i="0">
                <a:solidFill>
                  <a:srgbClr val="2F528F"/>
                </a:solidFill>
                <a:latin typeface="Microsoft YaHei"/>
              </a:rPr>
              <a:t> = based on driver's view（屏幕／视线固定）；</a:t>
            </a:r>
            <a:r>
              <a:rPr sz="1090" b="1" i="0">
                <a:solidFill>
                  <a:srgbClr val="2F528F"/>
                </a:solidFill>
                <a:latin typeface="Microsoft YaHei"/>
              </a:rPr>
              <a:t>BR</a:t>
            </a:r>
            <a:r>
              <a:rPr sz="1090" b="0" i="0">
                <a:solidFill>
                  <a:srgbClr val="2F528F"/>
                </a:solidFill>
                <a:latin typeface="Microsoft YaHei"/>
              </a:rPr>
              <a:t> = based on road information（道路／冲突点锁定）；</a:t>
            </a:r>
            <a:r>
              <a:rPr sz="1090" b="1" i="0">
                <a:solidFill>
                  <a:srgbClr val="2F528F"/>
                </a:solidFill>
                <a:latin typeface="Microsoft YaHei"/>
              </a:rPr>
              <a:t>BW</a:t>
            </a:r>
            <a:r>
              <a:rPr sz="1090" b="0" i="0">
                <a:solidFill>
                  <a:srgbClr val="2F528F"/>
                </a:solidFill>
                <a:latin typeface="Microsoft YaHei"/>
              </a:rPr>
              <a:t> = based on warning information（跟随危险行人的目标锁定）</a:t>
            </a:r>
            <a:r>
              <a:rPr sz="940" b="0" i="0">
                <a:solidFill>
                  <a:srgbClr val="8C8C8C"/>
                </a:solidFill>
                <a:latin typeface="Microsoft YaHei"/>
              </a:rPr>
              <a:t>（记法沿用 Wu 等, 2024）</a:t>
            </a:r>
            <a:r>
              <a:rPr sz="1090" b="0" i="0">
                <a:solidFill>
                  <a:srgbClr val="2F528F"/>
                </a:solidFill>
                <a:latin typeface="Microsoft YaHei"/>
              </a:rPr>
              <a:t>。机制上：</a:t>
            </a:r>
            <a:r>
              <a:rPr sz="1090" b="1" i="0">
                <a:solidFill>
                  <a:srgbClr val="2F528F"/>
                </a:solidFill>
                <a:latin typeface="Microsoft YaHei"/>
              </a:rPr>
              <a:t>BW 回答「哪一个行人危险」，BR 回答「风险将在哪里发生」</a:t>
            </a:r>
            <a:r>
              <a:rPr sz="1090" b="0" i="0">
                <a:solidFill>
                  <a:srgbClr val="2F528F"/>
                </a:solidFill>
                <a:latin typeface="Microsoft YaHei"/>
              </a:rPr>
              <a:t>——两者是功能分工，不是优劣关系。</a:t>
            </a:r>
          </a:p>
        </p:txBody>
      </p:sp>
      <p:sp>
        <p:nvSpPr>
          <p:cNvPr id="9" name="Rounded Rectangle 8"/>
          <p:cNvSpPr/>
          <p:nvPr/>
        </p:nvSpPr>
        <p:spPr>
          <a:xfrm>
            <a:off x="438150" y="1551384"/>
            <a:ext cx="4665017" cy="4421683"/>
          </a:xfrm>
          <a:prstGeom prst="roundRect">
            <a:avLst>
              <a:gd name="adj" fmla="val 1507"/>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941909"/>
            <a:ext cx="4360217"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684734"/>
            <a:ext cx="4398317"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最直接的三方对照（Wu 等, 2024，N = 36）</a:t>
            </a:r>
          </a:p>
        </p:txBody>
      </p:sp>
      <p:graphicFrame>
        <p:nvGraphicFramePr>
          <p:cNvPr id="12" name="Table 11"/>
          <p:cNvGraphicFramePr>
            <a:graphicFrameLocks noGrp="1"/>
          </p:cNvGraphicFramePr>
          <p:nvPr/>
        </p:nvGraphicFramePr>
        <p:xfrm>
          <a:off x="590550" y="2027634"/>
          <a:ext cx="4360217" cy="1070072"/>
        </p:xfrm>
        <a:graphic>
          <a:graphicData uri="http://schemas.openxmlformats.org/drawingml/2006/table">
            <a:tbl>
              <a:tblPr>
                <a:tableStyleId>{5C22544A-7EE6-4342-B048-85BDC9FD1C3A}</a:tableStyleId>
              </a:tblPr>
              <a:tblGrid>
                <a:gridCol w="2491680"/>
                <a:gridCol w="186853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策略</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TTFF</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BW</a:t>
                      </a:r>
                      <a:r>
                        <a:rPr sz="890" b="0" i="0">
                          <a:solidFill>
                            <a:srgbClr val="1A1A1A"/>
                          </a:solidFill>
                          <a:latin typeface="Microsoft YaHei"/>
                        </a:rPr>
                        <a:t> 目标锁定</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617 ms</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BD 屏幕固定</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2 563 ms</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BR 道路锁定</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2 730 ms</a:t>
                      </a:r>
                    </a:p>
                  </a:txBody>
                  <a:tcPr marL="66675" marR="66675" marT="42862" marB="42862" anchor="t">
                    <a:solidFill>
                      <a:srgbClr val="FAFBFD"/>
                    </a:solidFill>
                  </a:tcPr>
                </a:tc>
              </a:tr>
            </a:tbl>
          </a:graphicData>
        </a:graphic>
      </p:graphicFrame>
      <p:sp>
        <p:nvSpPr>
          <p:cNvPr id="13" name="TextBox 12"/>
          <p:cNvSpPr txBox="1"/>
          <p:nvPr/>
        </p:nvSpPr>
        <p:spPr>
          <a:xfrm>
            <a:off x="590550" y="3169146"/>
            <a:ext cx="4398317"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RGB(255,0,0)；TTC &lt; 3 s；60 km/h；行人 1.5 m/s。差异接近 </a:t>
            </a:r>
            <a:r>
              <a:rPr sz="1120" b="1" i="0">
                <a:solidFill>
                  <a:srgbClr val="1A1A1A"/>
                </a:solidFill>
                <a:latin typeface="Microsoft YaHei"/>
              </a:rPr>
              <a:t>4 倍</a:t>
            </a:r>
            <a:r>
              <a:rPr sz="1120" b="0" i="0">
                <a:solidFill>
                  <a:srgbClr val="1A1A1A"/>
                </a:solidFill>
                <a:latin typeface="Microsoft YaHei"/>
              </a:rPr>
              <a:t>。</a:t>
            </a:r>
          </a:p>
        </p:txBody>
      </p:sp>
      <p:sp>
        <p:nvSpPr>
          <p:cNvPr id="14" name="Rectangle 13"/>
          <p:cNvSpPr/>
          <p:nvPr/>
        </p:nvSpPr>
        <p:spPr>
          <a:xfrm>
            <a:off x="590550" y="3753742"/>
            <a:ext cx="4360217" cy="79742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90550" y="3753742"/>
            <a:ext cx="38100" cy="79742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375" y="3839467"/>
            <a:ext cx="4150667"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 一处解读修正：</a:t>
            </a:r>
            <a:r>
              <a:rPr sz="990" b="0" i="0">
                <a:solidFill>
                  <a:srgbClr val="6B5200"/>
                </a:solidFill>
                <a:latin typeface="Microsoft YaHei"/>
              </a:rPr>
              <a:t>617 ms 虽远优于 2 563/2 730 ms，但</a:t>
            </a:r>
            <a:r>
              <a:rPr sz="990" b="1" i="0">
                <a:solidFill>
                  <a:srgbClr val="8A6A00"/>
                </a:solidFill>
                <a:latin typeface="Microsoft YaHei"/>
              </a:rPr>
              <a:t>仍在 Zhu 等（2025）给出的 TTFF 最优区间 100–300 ms 之外</a:t>
            </a:r>
            <a:r>
              <a:rPr sz="990" b="0" i="0">
                <a:solidFill>
                  <a:srgbClr val="6B5200"/>
                </a:solidFill>
                <a:latin typeface="Microsoft YaHei"/>
              </a:rPr>
              <a:t>——应表述为「</a:t>
            </a:r>
            <a:r>
              <a:rPr sz="990" b="1" i="0">
                <a:solidFill>
                  <a:srgbClr val="8A6A00"/>
                </a:solidFill>
                <a:latin typeface="Microsoft YaHei"/>
              </a:rPr>
              <a:t>显著改善但未达最优区间</a:t>
            </a:r>
            <a:r>
              <a:rPr sz="990" b="0" i="0">
                <a:solidFill>
                  <a:srgbClr val="6B5200"/>
                </a:solidFill>
                <a:latin typeface="Microsoft YaHei"/>
              </a:rPr>
              <a:t>」，而非「已达理想水平」。</a:t>
            </a:r>
          </a:p>
        </p:txBody>
      </p:sp>
      <p:sp>
        <p:nvSpPr>
          <p:cNvPr id="17" name="Rounded Rectangle 16"/>
          <p:cNvSpPr/>
          <p:nvPr/>
        </p:nvSpPr>
        <p:spPr>
          <a:xfrm>
            <a:off x="5274617" y="1551384"/>
            <a:ext cx="6479232" cy="4421683"/>
          </a:xfrm>
          <a:prstGeom prst="roundRect">
            <a:avLst>
              <a:gd name="adj" fmla="val 1507"/>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427017" y="1941909"/>
            <a:ext cx="617443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27017" y="1684734"/>
            <a:ext cx="6212532"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复合锁定 BW+BR：支撑与反证</a:t>
            </a:r>
          </a:p>
        </p:txBody>
      </p:sp>
      <p:graphicFrame>
        <p:nvGraphicFramePr>
          <p:cNvPr id="20" name="Table 19"/>
          <p:cNvGraphicFramePr>
            <a:graphicFrameLocks noGrp="1"/>
          </p:cNvGraphicFramePr>
          <p:nvPr/>
        </p:nvGraphicFramePr>
        <p:xfrm>
          <a:off x="5427017" y="2027634"/>
          <a:ext cx="6174432" cy="1418330"/>
        </p:xfrm>
        <a:graphic>
          <a:graphicData uri="http://schemas.openxmlformats.org/drawingml/2006/table">
            <a:tbl>
              <a:tblPr>
                <a:tableStyleId>{5C22544A-7EE6-4342-B048-85BDC9FD1C3A}</a:tableStyleId>
              </a:tblPr>
              <a:tblGrid>
                <a:gridCol w="1605260"/>
                <a:gridCol w="4569172"/>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方向与内容</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Wang 等（2024）</a:t>
                      </a:r>
                    </a:p>
                    <a:p>
                      <a:pPr algn="l">
                        <a:lnSpc>
                          <a:spcPct val="155000"/>
                        </a:lnSpc>
                        <a:spcBef>
                          <a:spcPts val="0"/>
                        </a:spcBef>
                        <a:spcAft>
                          <a:spcPts val="0"/>
                        </a:spcAft>
                      </a:pPr>
                      <a:r>
                        <a:rPr sz="890" b="1" i="0">
                          <a:solidFill>
                            <a:srgbClr val="1A1A1A"/>
                          </a:solidFill>
                          <a:latin typeface="Microsoft YaHei"/>
                        </a:rPr>
                        <a:t>DSID</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支撑</a:t>
                      </a:r>
                      <a:r>
                        <a:rPr sz="890" b="0" i="0">
                          <a:solidFill>
                            <a:srgbClr val="1A1A1A"/>
                          </a:solidFill>
                          <a:latin typeface="Microsoft YaHei"/>
                        </a:rPr>
                        <a:t> 基于 SRK 分类学把知识级／规则级信息</a:t>
                      </a:r>
                      <a:r>
                        <a:rPr sz="890" b="1" i="0">
                          <a:solidFill>
                            <a:srgbClr val="1A1A1A"/>
                          </a:solidFill>
                          <a:latin typeface="Microsoft YaHei"/>
                        </a:rPr>
                        <a:t>转换为技能级信号</a:t>
                      </a:r>
                      <a:r>
                        <a:rPr sz="890" b="0" i="0">
                          <a:solidFill>
                            <a:srgbClr val="1A1A1A"/>
                          </a:solidFill>
                          <a:latin typeface="Microsoft YaHei"/>
                        </a:rPr>
                        <a:t>；四个界面中</a:t>
                      </a:r>
                      <a:r>
                        <a:rPr sz="890" b="1" i="0">
                          <a:solidFill>
                            <a:srgbClr val="1A1A1A"/>
                          </a:solidFill>
                          <a:latin typeface="Microsoft YaHei"/>
                        </a:rPr>
                        <a:t>同时含侧向预警 + 动态驾驶空间 + 速度表者最好</a:t>
                      </a:r>
                      <a:r>
                        <a:rPr sz="890" b="0" i="0">
                          <a:solidFill>
                            <a:srgbClr val="1A1A1A"/>
                          </a:solidFill>
                          <a:latin typeface="Microsoft YaHei"/>
                        </a:rPr>
                        <a:t>；</a:t>
                      </a:r>
                      <a:r>
                        <a:rPr sz="890" b="1" i="0">
                          <a:solidFill>
                            <a:srgbClr val="1A1A1A"/>
                          </a:solidFill>
                          <a:latin typeface="Microsoft YaHei"/>
                        </a:rPr>
                        <a:t>同时</a:t>
                      </a:r>
                      <a:r>
                        <a:rPr sz="890" b="0" i="0">
                          <a:solidFill>
                            <a:srgbClr val="1A1A1A"/>
                          </a:solidFill>
                          <a:latin typeface="Microsoft YaHei"/>
                        </a:rPr>
                        <a:t>提升情境意识与避险能力、</a:t>
                      </a:r>
                      <a:r>
                        <a:rPr sz="890" b="1" i="0">
                          <a:solidFill>
                            <a:srgbClr val="1A1A1A"/>
                          </a:solidFill>
                          <a:latin typeface="Microsoft YaHei"/>
                        </a:rPr>
                        <a:t>降低</a:t>
                      </a:r>
                      <a:r>
                        <a:rPr sz="890" b="0" i="0">
                          <a:solidFill>
                            <a:srgbClr val="1A1A1A"/>
                          </a:solidFill>
                          <a:latin typeface="Microsoft YaHei"/>
                        </a:rPr>
                        <a:t>认知负荷</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Wei 等（2025）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E0A100"/>
                          </a:solidFill>
                          <a:latin typeface="Microsoft YaHei"/>
                        </a:rPr>
                        <a:t>部分反证</a:t>
                      </a:r>
                      <a:r>
                        <a:rPr sz="890" b="0" i="0">
                          <a:solidFill>
                            <a:srgbClr val="1A1A1A"/>
                          </a:solidFill>
                          <a:latin typeface="Microsoft YaHei"/>
                        </a:rPr>
                        <a:t> 自动驾驶无保护交叉口；</a:t>
                      </a:r>
                      <a:r>
                        <a:rPr sz="890" b="1" i="0">
                          <a:solidFill>
                            <a:srgbClr val="1A1A1A"/>
                          </a:solidFill>
                          <a:latin typeface="Microsoft YaHei"/>
                        </a:rPr>
                        <a:t>不同信息组合间信任无显著差异</a:t>
                      </a:r>
                      <a:r>
                        <a:rPr sz="890" b="0" i="0">
                          <a:solidFill>
                            <a:srgbClr val="1A1A1A"/>
                          </a:solidFill>
                          <a:latin typeface="Microsoft YaHei"/>
                        </a:rPr>
                        <a:t>；「周边车轨迹 + 盲区视频」负荷最低（仅摘要）</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Chen 等（2024b）</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反证</a:t>
                      </a:r>
                      <a:r>
                        <a:rPr sz="890" b="0" i="0">
                          <a:solidFill>
                            <a:srgbClr val="1A1A1A"/>
                          </a:solidFill>
                          <a:latin typeface="Microsoft YaHei"/>
                        </a:rPr>
                        <a:t> 多目标同色 Equivalent 模式在新手中</a:t>
                      </a:r>
                      <a:r>
                        <a:rPr sz="890" b="1" i="0">
                          <a:solidFill>
                            <a:srgbClr val="1A1A1A"/>
                          </a:solidFill>
                          <a:latin typeface="Microsoft YaHei"/>
                        </a:rPr>
                        <a:t>可能比无警告更差</a:t>
                      </a:r>
                    </a:p>
                  </a:txBody>
                  <a:tcPr marL="66675" marR="66675" marT="42862" marB="42862" anchor="t">
                    <a:solidFill>
                      <a:srgbClr val="FAFBFD"/>
                    </a:solidFill>
                  </a:tcPr>
                </a:tc>
              </a:tr>
            </a:tbl>
          </a:graphicData>
        </a:graphic>
      </p:graphicFrame>
      <p:sp>
        <p:nvSpPr>
          <p:cNvPr id="21" name="Rectangle 20"/>
          <p:cNvSpPr/>
          <p:nvPr/>
        </p:nvSpPr>
        <p:spPr>
          <a:xfrm>
            <a:off x="5427017" y="3526928"/>
            <a:ext cx="6174432"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427017" y="3526928"/>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842" y="3612653"/>
            <a:ext cx="5964882"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本研究的立场：</a:t>
            </a:r>
            <a:r>
              <a:rPr sz="990" b="0" i="0">
                <a:solidFill>
                  <a:srgbClr val="1F5A1F"/>
                </a:solidFill>
                <a:latin typeface="Microsoft YaHei"/>
              </a:rPr>
              <a:t>BW+BR 属 </a:t>
            </a:r>
            <a:r>
              <a:rPr sz="990" b="1" i="0">
                <a:solidFill>
                  <a:srgbClr val="1F5A1F"/>
                </a:solidFill>
                <a:latin typeface="Microsoft YaHei"/>
              </a:rPr>
              <a:t>Wang 等（2024）型的互补组合</a:t>
            </a:r>
            <a:r>
              <a:rPr sz="990" b="0" i="0">
                <a:solidFill>
                  <a:srgbClr val="1F5A1F"/>
                </a:solidFill>
                <a:latin typeface="Microsoft YaHei"/>
              </a:rPr>
              <a:t>（目标定位 + 冲突位置），而非 Wei 等（2025）型的</a:t>
            </a:r>
            <a:r>
              <a:rPr sz="990" b="1" i="0">
                <a:solidFill>
                  <a:srgbClr val="1F5A1F"/>
                </a:solidFill>
                <a:latin typeface="Microsoft YaHei"/>
              </a:rPr>
              <a:t>同类冗余叠加</a:t>
            </a:r>
            <a:r>
              <a:rPr sz="990" b="0" i="0">
                <a:solidFill>
                  <a:srgbClr val="1F5A1F"/>
                </a:solidFill>
                <a:latin typeface="Microsoft YaHei"/>
              </a:rPr>
              <a:t>，故预期方向与前者一致；但</a:t>
            </a:r>
            <a:r>
              <a:rPr sz="990" b="1" i="0">
                <a:solidFill>
                  <a:srgbClr val="1F5A1F"/>
                </a:solidFill>
                <a:latin typeface="Microsoft YaHei"/>
              </a:rPr>
              <a:t>必须实测负荷代价</a:t>
            </a:r>
            <a:r>
              <a:rPr sz="990" b="0" i="0">
                <a:solidFill>
                  <a:srgbClr val="1F5A1F"/>
                </a:solidFill>
                <a:latin typeface="Microsoft YaHei"/>
              </a:rPr>
              <a:t>并检验 TDT 是否越过 2 000 ms 上界。</a:t>
            </a:r>
          </a:p>
        </p:txBody>
      </p:sp>
      <p:sp>
        <p:nvSpPr>
          <p:cNvPr id="24" name="Rectangle 23"/>
          <p:cNvSpPr/>
          <p:nvPr/>
        </p:nvSpPr>
        <p:spPr>
          <a:xfrm>
            <a:off x="438150" y="6077842"/>
            <a:ext cx="11315700" cy="380107"/>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8150" y="6077842"/>
            <a:ext cx="38100" cy="380107"/>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1975" y="6163567"/>
            <a:ext cx="11106150" cy="237232"/>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不可见危险的锁定问题（You 等, 2023）：</a:t>
            </a:r>
            <a:r>
              <a:rPr sz="990" b="0" i="0">
                <a:solidFill>
                  <a:srgbClr val="6B5200"/>
                </a:solidFill>
                <a:latin typeface="Microsoft YaHei"/>
              </a:rPr>
              <a:t>当行人尚未进入驾驶员视线时，BW 在物理上</a:t>
            </a:r>
            <a:r>
              <a:rPr sz="990" b="1" i="0">
                <a:solidFill>
                  <a:srgbClr val="8A6A00"/>
                </a:solidFill>
                <a:latin typeface="Microsoft YaHei"/>
              </a:rPr>
              <a:t>无对象可锁</a:t>
            </a:r>
            <a:r>
              <a:rPr sz="990" b="0" i="0">
                <a:solidFill>
                  <a:srgbClr val="6B5200"/>
                </a:solidFill>
                <a:latin typeface="Microsoft YaHei"/>
              </a:rPr>
              <a:t>，只能退化为 BR 或方向指示——这构成实验 4 结论适用边界的声明依据。</a:t>
            </a:r>
          </a:p>
        </p:txBody>
      </p:sp>
      <p:sp>
        <p:nvSpPr>
          <p:cNvPr id="27" name="TextBox 26"/>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图形形态与颜色编码</a:t>
            </a:r>
          </a:p>
        </p:txBody>
      </p:sp>
      <p:sp>
        <p:nvSpPr>
          <p:cNvPr id="4" name="Rounded Rectangle 3"/>
          <p:cNvSpPr/>
          <p:nvPr/>
        </p:nvSpPr>
        <p:spPr>
          <a:xfrm>
            <a:off x="10975181" y="209550"/>
            <a:ext cx="77866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79956" y="238125"/>
            <a:ext cx="60721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2.3.3–2.3.4</a:t>
            </a:r>
          </a:p>
        </p:txBody>
      </p:sp>
      <p:sp>
        <p:nvSpPr>
          <p:cNvPr id="6" name="Rounded Rectangle 5"/>
          <p:cNvSpPr/>
          <p:nvPr/>
        </p:nvSpPr>
        <p:spPr>
          <a:xfrm>
            <a:off x="438150" y="762000"/>
            <a:ext cx="5572125" cy="5695950"/>
          </a:xfrm>
          <a:prstGeom prst="roundRect">
            <a:avLst>
              <a:gd name="adj" fmla="val 11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四个形态家族：从几何抽象到生态隐喻</a:t>
            </a:r>
          </a:p>
        </p:txBody>
      </p:sp>
      <p:sp>
        <p:nvSpPr>
          <p:cNvPr id="9" name="TextBox 8"/>
          <p:cNvSpPr txBox="1"/>
          <p:nvPr/>
        </p:nvSpPr>
        <p:spPr>
          <a:xfrm>
            <a:off x="600075" y="1238250"/>
            <a:ext cx="5295900"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边界框</a:t>
            </a:r>
            <a:r>
              <a:rPr sz="1019" b="0" i="0">
                <a:solidFill>
                  <a:srgbClr val="1A1A1A"/>
                </a:solidFill>
                <a:latin typeface="Microsoft YaHei"/>
              </a:rPr>
              <a:t>——实现简单、「框出」自带标记隐喻；但不携带紧急程度信息</a:t>
            </a:r>
          </a:p>
        </p:txBody>
      </p:sp>
      <p:sp>
        <p:nvSpPr>
          <p:cNvPr id="10" name="TextBox 9"/>
          <p:cNvSpPr txBox="1"/>
          <p:nvPr/>
        </p:nvSpPr>
        <p:spPr>
          <a:xfrm>
            <a:off x="600075" y="1500782"/>
            <a:ext cx="5295900" cy="673298"/>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接触类比／虚拟阴影</a:t>
            </a:r>
            <a:r>
              <a:rPr sz="1019" b="0" i="0">
                <a:solidFill>
                  <a:srgbClr val="1A1A1A"/>
                </a:solidFill>
                <a:latin typeface="Microsoft YaHei"/>
              </a:rPr>
              <a:t>（Kim 等, 2016a/2016b/2018）——脚下 dome </a:t>
            </a:r>
            <a:r>
              <a:rPr sz="1019" b="1" i="0">
                <a:solidFill>
                  <a:srgbClr val="1A1A1A"/>
                </a:solidFill>
                <a:latin typeface="Microsoft YaHei"/>
              </a:rPr>
              <a:t>直径 1.0 m，视角 2°–8° 随距离变化</a:t>
            </a:r>
            <a:r>
              <a:rPr sz="1019" b="0" i="0">
                <a:solidFill>
                  <a:srgbClr val="1A1A1A"/>
                </a:solidFill>
                <a:latin typeface="Microsoft YaHei"/>
              </a:rPr>
              <a:t> + tether（长度＝车辆到达交叉点时行人会侵入的距离）；生态界面设计，</a:t>
            </a:r>
            <a:r>
              <a:rPr sz="1019" b="1" i="0">
                <a:solidFill>
                  <a:srgbClr val="1A1A1A"/>
                </a:solidFill>
                <a:latin typeface="Microsoft YaHei"/>
              </a:rPr>
              <a:t>阴影伸展即风险升高</a:t>
            </a:r>
          </a:p>
        </p:txBody>
      </p:sp>
      <p:sp>
        <p:nvSpPr>
          <p:cNvPr id="11" name="TextBox 10"/>
          <p:cNvSpPr txBox="1"/>
          <p:nvPr/>
        </p:nvSpPr>
        <p:spPr>
          <a:xfrm>
            <a:off x="600075" y="2193131"/>
            <a:ext cx="5295900"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交通标志类</a:t>
            </a:r>
            <a:r>
              <a:rPr sz="1019" b="0" i="0">
                <a:solidFill>
                  <a:srgbClr val="1A1A1A"/>
                </a:solidFill>
                <a:latin typeface="Microsoft YaHei"/>
              </a:rPr>
              <a:t>（Winkler 等, 2015）——最大 </a:t>
            </a:r>
            <a:r>
              <a:rPr sz="1019" b="1" i="0">
                <a:solidFill>
                  <a:srgbClr val="1A1A1A"/>
                </a:solidFill>
                <a:latin typeface="Microsoft YaHei"/>
              </a:rPr>
              <a:t>21 × 21 cm，约 6° 视角</a:t>
            </a:r>
            <a:r>
              <a:rPr sz="1019" b="0" i="0">
                <a:solidFill>
                  <a:srgbClr val="1A1A1A"/>
                </a:solidFill>
                <a:latin typeface="Microsoft YaHei"/>
              </a:rPr>
              <a:t>；「</a:t>
            </a:r>
            <a:r>
              <a:rPr sz="1019" b="1" i="0">
                <a:solidFill>
                  <a:srgbClr val="1A1A1A"/>
                </a:solidFill>
                <a:latin typeface="Microsoft YaHei"/>
              </a:rPr>
              <a:t>难理解</a:t>
            </a:r>
            <a:r>
              <a:rPr sz="1019" b="0" i="0">
                <a:solidFill>
                  <a:srgbClr val="1A1A1A"/>
                </a:solidFill>
                <a:latin typeface="Microsoft YaHei"/>
              </a:rPr>
              <a:t>」的转向标志效果最差，「</a:t>
            </a:r>
            <a:r>
              <a:rPr sz="1019" b="1" i="0">
                <a:solidFill>
                  <a:srgbClr val="1A1A1A"/>
                </a:solidFill>
                <a:latin typeface="Microsoft YaHei"/>
              </a:rPr>
              <a:t>不需注视即可被感知</a:t>
            </a:r>
            <a:r>
              <a:rPr sz="1019" b="0" i="0">
                <a:solidFill>
                  <a:srgbClr val="1A1A1A"/>
                </a:solidFill>
                <a:latin typeface="Microsoft YaHei"/>
              </a:rPr>
              <a:t>」者最具潜力</a:t>
            </a:r>
          </a:p>
        </p:txBody>
      </p:sp>
      <p:sp>
        <p:nvSpPr>
          <p:cNvPr id="12" name="TextBox 11"/>
          <p:cNvSpPr txBox="1"/>
          <p:nvPr/>
        </p:nvSpPr>
        <p:spPr>
          <a:xfrm>
            <a:off x="600075" y="2670571"/>
            <a:ext cx="5295900" cy="673298"/>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风险区／地毯／虚拟墙</a:t>
            </a:r>
            <a:r>
              <a:rPr sz="1019" b="0" i="0">
                <a:solidFill>
                  <a:srgbClr val="1A1A1A"/>
                </a:solidFill>
                <a:latin typeface="Microsoft YaHei"/>
              </a:rPr>
              <a:t>（Ma 等, 2024；Wang 等, 2025）——信息密度最高；ARive 急刹场景两者均显著增大 THW（p &lt; .005／.009），让行成功率虚拟墙优于基线（p &lt; .001），</a:t>
            </a:r>
            <a:r>
              <a:rPr sz="1019" b="1" i="0">
                <a:solidFill>
                  <a:srgbClr val="1A1A1A"/>
                </a:solidFill>
                <a:latin typeface="Microsoft YaHei"/>
              </a:rPr>
              <a:t>而用户偏好红地毯 16/21</a:t>
            </a:r>
          </a:p>
        </p:txBody>
      </p:sp>
      <p:sp>
        <p:nvSpPr>
          <p:cNvPr id="13" name="Rectangle 12"/>
          <p:cNvSpPr/>
          <p:nvPr/>
        </p:nvSpPr>
        <p:spPr>
          <a:xfrm>
            <a:off x="590550" y="3391495"/>
            <a:ext cx="5267325" cy="7974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3391495"/>
            <a:ext cx="38100" cy="7974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 y="3477220"/>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与直觉相反的直接对照（Chen 等, 2024a，N = 48 中国新手）：</a:t>
            </a:r>
            <a:r>
              <a:rPr sz="990" b="1" i="0">
                <a:solidFill>
                  <a:srgbClr val="7A1F1F"/>
                </a:solidFill>
                <a:latin typeface="Microsoft YaHei"/>
              </a:rPr>
              <a:t>追尾场景接触类比更优，而</a:t>
            </a:r>
            <a:r>
              <a:rPr sz="990" b="1" i="0">
                <a:solidFill>
                  <a:srgbClr val="7A1F1F"/>
                </a:solidFill>
                <a:latin typeface="Microsoft YaHei"/>
              </a:rPr>
              <a:t>行人场景边界框反应时反而更短</a:t>
            </a:r>
            <a:r>
              <a:rPr sz="990" b="1" i="0">
                <a:solidFill>
                  <a:srgbClr val="7A1F1F"/>
                </a:solidFill>
                <a:latin typeface="Microsoft YaHei"/>
              </a:rPr>
              <a:t>。</a:t>
            </a:r>
            <a:r>
              <a:rPr sz="990" b="0" i="0">
                <a:solidFill>
                  <a:srgbClr val="7A1F1F"/>
                </a:solidFill>
                <a:latin typeface="Microsoft YaHei"/>
              </a:rPr>
              <a:t>→ 形状选择</a:t>
            </a:r>
            <a:r>
              <a:rPr sz="990" b="1" i="0">
                <a:solidFill>
                  <a:srgbClr val="7A1F1F"/>
                </a:solidFill>
                <a:latin typeface="Microsoft YaHei"/>
              </a:rPr>
              <a:t>必须结合场景类型</a:t>
            </a:r>
            <a:r>
              <a:rPr sz="990" b="0" i="0">
                <a:solidFill>
                  <a:srgbClr val="7A1F1F"/>
                </a:solidFill>
                <a:latin typeface="Microsoft YaHei"/>
              </a:rPr>
              <a:t>：横向、外周视野的行人更需要低复杂度快速识别。</a:t>
            </a:r>
          </a:p>
        </p:txBody>
      </p:sp>
      <p:sp>
        <p:nvSpPr>
          <p:cNvPr id="16" name="Rounded Rectangle 15"/>
          <p:cNvSpPr/>
          <p:nvPr/>
        </p:nvSpPr>
        <p:spPr>
          <a:xfrm>
            <a:off x="6181725" y="762000"/>
            <a:ext cx="5572125" cy="5695950"/>
          </a:xfrm>
          <a:prstGeom prst="roundRect">
            <a:avLst>
              <a:gd name="adj" fmla="val 11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34125" y="1152525"/>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颜色：红为主流，蓝紫不可用</a:t>
            </a:r>
          </a:p>
        </p:txBody>
      </p:sp>
      <p:sp>
        <p:nvSpPr>
          <p:cNvPr id="19" name="TextBox 18"/>
          <p:cNvSpPr txBox="1"/>
          <p:nvPr/>
        </p:nvSpPr>
        <p:spPr>
          <a:xfrm>
            <a:off x="6334125" y="1238250"/>
            <a:ext cx="5305425"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Zhong 等（2022）</a:t>
            </a:r>
            <a:r>
              <a:rPr sz="1120" b="0" i="0">
                <a:solidFill>
                  <a:srgbClr val="1A1A1A"/>
                </a:solidFill>
                <a:latin typeface="Microsoft YaHei"/>
              </a:rPr>
              <a:t>：实车 AR-HUD（FOV </a:t>
            </a:r>
            <a:r>
              <a:rPr sz="1120" b="1" i="0">
                <a:solidFill>
                  <a:srgbClr val="1A1A1A"/>
                </a:solidFill>
                <a:latin typeface="Microsoft YaHei"/>
              </a:rPr>
              <a:t>12° × 5°</a:t>
            </a:r>
            <a:r>
              <a:rPr sz="1120" b="0" i="0">
                <a:solidFill>
                  <a:srgbClr val="1A1A1A"/>
                </a:solidFill>
                <a:latin typeface="Microsoft YaHei"/>
              </a:rPr>
              <a:t>），7 色 × 3 描边 × 2 照度 = </a:t>
            </a:r>
            <a:r>
              <a:rPr sz="1120" b="1" i="0">
                <a:solidFill>
                  <a:srgbClr val="1A1A1A"/>
                </a:solidFill>
                <a:latin typeface="Microsoft YaHei"/>
              </a:rPr>
              <a:t>42 组合</a:t>
            </a:r>
            <a:r>
              <a:rPr sz="1120" b="0" i="0">
                <a:solidFill>
                  <a:srgbClr val="1A1A1A"/>
                </a:solidFill>
                <a:latin typeface="Microsoft YaHei"/>
              </a:rPr>
              <a:t>，N = 25（均龄 28.4，驾龄 ≥ 2 年）</a:t>
            </a:r>
          </a:p>
        </p:txBody>
      </p:sp>
      <p:graphicFrame>
        <p:nvGraphicFramePr>
          <p:cNvPr id="20" name="Table 19"/>
          <p:cNvGraphicFramePr>
            <a:graphicFrameLocks noGrp="1"/>
          </p:cNvGraphicFramePr>
          <p:nvPr/>
        </p:nvGraphicFramePr>
        <p:xfrm>
          <a:off x="6334125" y="1803796"/>
          <a:ext cx="5267324" cy="1148952"/>
        </p:xfrm>
        <a:graphic>
          <a:graphicData uri="http://schemas.openxmlformats.org/drawingml/2006/table">
            <a:tbl>
              <a:tblPr>
                <a:tableStyleId>{5C22544A-7EE6-4342-B048-85BDC9FD1C3A}</a:tableStyleId>
              </a:tblPr>
              <a:tblGrid>
                <a:gridCol w="968424"/>
                <a:gridCol w="4298900"/>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照度</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可见性排序（评分）</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日间</a:t>
                      </a:r>
                    </a:p>
                    <a:p>
                      <a:pPr algn="l">
                        <a:lnSpc>
                          <a:spcPct val="155000"/>
                        </a:lnSpc>
                        <a:spcBef>
                          <a:spcPts val="0"/>
                        </a:spcBef>
                        <a:spcAft>
                          <a:spcPts val="0"/>
                        </a:spcAft>
                      </a:pPr>
                      <a:r>
                        <a:rPr sz="890" b="0" i="0">
                          <a:solidFill>
                            <a:srgbClr val="1A1A1A"/>
                          </a:solidFill>
                          <a:latin typeface="Microsoft YaHei"/>
                        </a:rPr>
                        <a:t>100 000 lx</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黄 </a:t>
                      </a:r>
                      <a:r>
                        <a:rPr sz="890" b="1" i="0">
                          <a:solidFill>
                            <a:srgbClr val="1A1A1A"/>
                          </a:solidFill>
                          <a:latin typeface="Microsoft YaHei"/>
                        </a:rPr>
                        <a:t>4.12</a:t>
                      </a:r>
                      <a:r>
                        <a:rPr sz="890" b="0" i="0">
                          <a:solidFill>
                            <a:srgbClr val="1A1A1A"/>
                          </a:solidFill>
                          <a:latin typeface="Microsoft YaHei"/>
                        </a:rPr>
                        <a:t> &gt; 绿 3.92 &gt; 红 3.08 &gt; 橙 2.84 &gt; 蓝＝紫 </a:t>
                      </a:r>
                      <a:r>
                        <a:rPr sz="890" b="1" i="0">
                          <a:solidFill>
                            <a:srgbClr val="1A1A1A"/>
                          </a:solidFill>
                          <a:latin typeface="Microsoft YaHei"/>
                        </a:rPr>
                        <a:t>1.16</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夜间</a:t>
                      </a:r>
                    </a:p>
                    <a:p>
                      <a:pPr algn="l">
                        <a:lnSpc>
                          <a:spcPct val="155000"/>
                        </a:lnSpc>
                        <a:spcBef>
                          <a:spcPts val="0"/>
                        </a:spcBef>
                        <a:spcAft>
                          <a:spcPts val="0"/>
                        </a:spcAft>
                      </a:pPr>
                      <a:r>
                        <a:rPr sz="890" b="0" i="0">
                          <a:solidFill>
                            <a:srgbClr val="1A1A1A"/>
                          </a:solidFill>
                          <a:latin typeface="Microsoft YaHei"/>
                        </a:rPr>
                        <a:t>30 lx</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红 </a:t>
                      </a:r>
                      <a:r>
                        <a:rPr sz="890" b="1" i="0">
                          <a:solidFill>
                            <a:srgbClr val="1A1A1A"/>
                          </a:solidFill>
                          <a:latin typeface="Microsoft YaHei"/>
                        </a:rPr>
                        <a:t>3.88</a:t>
                      </a:r>
                      <a:r>
                        <a:rPr sz="890" b="0" i="0">
                          <a:solidFill>
                            <a:srgbClr val="1A1A1A"/>
                          </a:solidFill>
                          <a:latin typeface="Microsoft YaHei"/>
                        </a:rPr>
                        <a:t> &gt; 黄 3.80 &gt; 绿 3.56 &gt; 橙 2.84 &gt; 蓝 1.68 &gt; 紫 </a:t>
                      </a:r>
                      <a:r>
                        <a:rPr sz="890" b="1" i="0">
                          <a:solidFill>
                            <a:srgbClr val="1A1A1A"/>
                          </a:solidFill>
                          <a:latin typeface="Microsoft YaHei"/>
                        </a:rPr>
                        <a:t>1.40</a:t>
                      </a:r>
                    </a:p>
                  </a:txBody>
                  <a:tcPr marL="66675" marR="66675" marT="42862" marB="42862" anchor="t">
                    <a:noFill/>
                  </a:tcPr>
                </a:tc>
              </a:tr>
            </a:tbl>
          </a:graphicData>
        </a:graphic>
      </p:graphicFrame>
      <p:sp>
        <p:nvSpPr>
          <p:cNvPr id="21" name="Rectangle 20"/>
          <p:cNvSpPr/>
          <p:nvPr/>
        </p:nvSpPr>
        <p:spPr>
          <a:xfrm>
            <a:off x="6334125" y="3024187"/>
            <a:ext cx="5267325"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334125" y="3024187"/>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7950" y="3109912"/>
            <a:ext cx="5057775"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0" i="0">
                <a:solidFill>
                  <a:srgbClr val="1F5A1F"/>
                </a:solidFill>
                <a:latin typeface="Microsoft YaHei"/>
              </a:rPr>
              <a:t>① </a:t>
            </a:r>
            <a:r>
              <a:rPr sz="990" b="1" i="0">
                <a:solidFill>
                  <a:srgbClr val="1F5A1F"/>
                </a:solidFill>
                <a:latin typeface="Microsoft YaHei"/>
              </a:rPr>
              <a:t>蓝、紫两照度下均最差，应避免</a:t>
            </a:r>
            <a:r>
              <a:rPr sz="990" b="0" i="0">
                <a:solidFill>
                  <a:srgbClr val="1F5A1F"/>
                </a:solidFill>
                <a:latin typeface="Microsoft YaHei"/>
              </a:rPr>
              <a:t>；② </a:t>
            </a:r>
            <a:r>
              <a:rPr sz="990" b="1" i="0">
                <a:solidFill>
                  <a:srgbClr val="1F5A1F"/>
                </a:solidFill>
                <a:latin typeface="Microsoft YaHei"/>
              </a:rPr>
              <a:t>红—黄构成日夜「鲁棒色对」</a:t>
            </a:r>
            <a:r>
              <a:rPr sz="990" b="0" i="0">
                <a:solidFill>
                  <a:srgbClr val="1F5A1F"/>
                </a:solidFill>
                <a:latin typeface="Microsoft YaHei"/>
              </a:rPr>
              <a:t>，可作分级核心色；③ </a:t>
            </a:r>
            <a:r>
              <a:rPr sz="990" b="1" i="0">
                <a:solidFill>
                  <a:srgbClr val="1F5A1F"/>
                </a:solidFill>
                <a:latin typeface="Microsoft YaHei"/>
              </a:rPr>
              <a:t>白色描边</a:t>
            </a:r>
            <a:r>
              <a:rPr sz="990" b="0" i="0">
                <a:solidFill>
                  <a:srgbClr val="1F5A1F"/>
                </a:solidFill>
                <a:latin typeface="Microsoft YaHei"/>
              </a:rPr>
              <a:t>多数情况显著优于灰色或无描边（例外：日间黄色）。</a:t>
            </a:r>
          </a:p>
        </p:txBody>
      </p:sp>
      <p:sp>
        <p:nvSpPr>
          <p:cNvPr id="24" name="TextBox 23"/>
          <p:cNvSpPr txBox="1"/>
          <p:nvPr/>
        </p:nvSpPr>
        <p:spPr>
          <a:xfrm>
            <a:off x="6334125" y="3689151"/>
            <a:ext cx="5305425"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分级配色的最强收益</a:t>
            </a:r>
            <a:r>
              <a:rPr sz="1120" b="0" i="0">
                <a:solidFill>
                  <a:srgbClr val="1A1A1A"/>
                </a:solidFill>
                <a:latin typeface="Microsoft YaHei"/>
              </a:rPr>
              <a:t>（Ma 等, 2024 三色地毯 + 饱和度渐变）：风险感知时间缩短 </a:t>
            </a:r>
            <a:r>
              <a:rPr sz="1120" b="1" i="0">
                <a:solidFill>
                  <a:srgbClr val="1A1A1A"/>
                </a:solidFill>
                <a:latin typeface="Microsoft YaHei"/>
              </a:rPr>
              <a:t>62.96%</a:t>
            </a:r>
            <a:r>
              <a:rPr sz="1120" b="0" i="0">
                <a:solidFill>
                  <a:srgbClr val="1A1A1A"/>
                </a:solidFill>
                <a:latin typeface="Microsoft YaHei"/>
              </a:rPr>
              <a:t>（p &lt; .001）、风险决策时间缩短 </a:t>
            </a:r>
            <a:r>
              <a:rPr sz="1120" b="1" i="0">
                <a:solidFill>
                  <a:srgbClr val="1A1A1A"/>
                </a:solidFill>
                <a:latin typeface="Microsoft YaHei"/>
              </a:rPr>
              <a:t>34.57%</a:t>
            </a:r>
            <a:r>
              <a:rPr sz="1120" b="0" i="0">
                <a:solidFill>
                  <a:srgbClr val="1A1A1A"/>
                </a:solidFill>
                <a:latin typeface="Microsoft YaHei"/>
              </a:rPr>
              <a:t>（p = .003），同时降低 DALI 负荷与瞳孔变化。</a:t>
            </a:r>
          </a:p>
        </p:txBody>
      </p:sp>
      <p:sp>
        <p:nvSpPr>
          <p:cNvPr id="25" name="Rectangle 24"/>
          <p:cNvSpPr/>
          <p:nvPr/>
        </p:nvSpPr>
        <p:spPr>
          <a:xfrm>
            <a:off x="6334125" y="4518421"/>
            <a:ext cx="5267325" cy="797421"/>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334125" y="4518421"/>
            <a:ext cx="38100" cy="797421"/>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57950" y="4604146"/>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一条零效应证据须并列：</a:t>
            </a:r>
            <a:r>
              <a:rPr sz="990" b="0" i="0">
                <a:solidFill>
                  <a:srgbClr val="6B5200"/>
                </a:solidFill>
                <a:latin typeface="Microsoft YaHei"/>
              </a:rPr>
              <a:t>Yu 等（2024）测颜色渐变 + emoji 对</a:t>
            </a:r>
            <a:r>
              <a:rPr sz="990" b="1" i="0">
                <a:solidFill>
                  <a:srgbClr val="8A6A00"/>
                </a:solidFill>
                <a:latin typeface="Microsoft YaHei"/>
              </a:rPr>
              <a:t>情绪</a:t>
            </a:r>
            <a:r>
              <a:rPr sz="990" b="0" i="0">
                <a:solidFill>
                  <a:srgbClr val="6B5200"/>
                </a:solidFill>
                <a:latin typeface="Microsoft YaHei"/>
              </a:rPr>
              <a:t>的影响，</a:t>
            </a:r>
            <a:r>
              <a:rPr sz="990" b="1" i="0">
                <a:solidFill>
                  <a:srgbClr val="8A6A00"/>
                </a:solidFill>
                <a:latin typeface="Microsoft YaHei"/>
              </a:rPr>
              <a:t>接管效率与任务负荷均无显著差异</a:t>
            </a:r>
            <a:r>
              <a:rPr sz="990" b="0" i="0">
                <a:solidFill>
                  <a:srgbClr val="6B5200"/>
                </a:solidFill>
                <a:latin typeface="Microsoft YaHei"/>
              </a:rPr>
              <a:t>→ 分级配色的收益可能局限于「风险量级传达」，不能外推为普遍改善。</a:t>
            </a:r>
          </a:p>
        </p:txBody>
      </p:sp>
      <p:sp>
        <p:nvSpPr>
          <p:cNvPr id="28" name="TextBox 27"/>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不透明度、视场角与风险区几何</a:t>
            </a:r>
          </a:p>
        </p:txBody>
      </p:sp>
      <p:sp>
        <p:nvSpPr>
          <p:cNvPr id="4" name="Rounded Rectangle 3"/>
          <p:cNvSpPr/>
          <p:nvPr/>
        </p:nvSpPr>
        <p:spPr>
          <a:xfrm>
            <a:off x="10975181" y="209550"/>
            <a:ext cx="77866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79956" y="238125"/>
            <a:ext cx="60721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2.3.5–2.3.7</a:t>
            </a:r>
          </a:p>
        </p:txBody>
      </p:sp>
      <p:sp>
        <p:nvSpPr>
          <p:cNvPr id="6" name="Rounded Rectangle 5"/>
          <p:cNvSpPr/>
          <p:nvPr/>
        </p:nvSpPr>
        <p:spPr>
          <a:xfrm>
            <a:off x="438150" y="762000"/>
            <a:ext cx="3682900" cy="5695950"/>
          </a:xfrm>
          <a:prstGeom prst="roundRect">
            <a:avLst>
              <a:gd name="adj" fmla="val 1810"/>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3378100"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不透明度：3 倍冲突</a:t>
            </a:r>
            <a:r>
              <a:rPr sz="1160" b="1" i="0">
                <a:solidFill>
                  <a:srgbClr val="3E7D3E"/>
                </a:solidFill>
                <a:latin typeface="Microsoft YaHei"/>
              </a:rPr>
              <a:t> 已裁定</a:t>
            </a:r>
          </a:p>
        </p:txBody>
      </p:sp>
      <p:graphicFrame>
        <p:nvGraphicFramePr>
          <p:cNvPr id="9" name="Table 8"/>
          <p:cNvGraphicFramePr>
            <a:graphicFrameLocks noGrp="1"/>
          </p:cNvGraphicFramePr>
          <p:nvPr/>
        </p:nvGraphicFramePr>
        <p:xfrm>
          <a:off x="590550" y="1238250"/>
          <a:ext cx="3378099" cy="1687708"/>
        </p:xfrm>
        <a:graphic>
          <a:graphicData uri="http://schemas.openxmlformats.org/drawingml/2006/table">
            <a:tbl>
              <a:tblPr>
                <a:tableStyleId>{5C22544A-7EE6-4342-B048-85BDC9FD1C3A}</a:tableStyleId>
              </a:tblPr>
              <a:tblGrid>
                <a:gridCol w="1681013"/>
                <a:gridCol w="798760"/>
                <a:gridCol w="898326"/>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原文值</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换算不透明度</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Ye 与 Yin（2025）</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0.75</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0.75</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Hou 等（2024）</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T1/T0.75</a:t>
                      </a:r>
                    </a:p>
                    <a:p>
                      <a:pPr algn="ctr">
                        <a:lnSpc>
                          <a:spcPct val="155000"/>
                        </a:lnSpc>
                        <a:spcBef>
                          <a:spcPts val="0"/>
                        </a:spcBef>
                        <a:spcAft>
                          <a:spcPts val="0"/>
                        </a:spcAft>
                      </a:pPr>
                      <a:r>
                        <a:rPr sz="890" b="0" i="0">
                          <a:solidFill>
                            <a:srgbClr val="1A1A1A"/>
                          </a:solidFill>
                          <a:latin typeface="Microsoft YaHei"/>
                        </a:rPr>
                        <a:t>T0.5/T0.35</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最优 0.5–0.75</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Li 等（2025a）</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0.1–1.0 十档</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 0.6</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Lopez 与 Moacdieh（2025）</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20% 与 60%</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0.6</a:t>
                      </a:r>
                      <a:r>
                        <a:rPr sz="890" b="0" i="0">
                          <a:solidFill>
                            <a:srgbClr val="1A1A1A"/>
                          </a:solidFill>
                          <a:latin typeface="Microsoft YaHei"/>
                        </a:rPr>
                        <a:t> 一致</a:t>
                      </a:r>
                    </a:p>
                    <a:p>
                      <a:pPr algn="ctr">
                        <a:lnSpc>
                          <a:spcPct val="155000"/>
                        </a:lnSpc>
                        <a:spcBef>
                          <a:spcPts val="0"/>
                        </a:spcBef>
                        <a:spcAft>
                          <a:spcPts val="0"/>
                        </a:spcAft>
                      </a:pPr>
                      <a:r>
                        <a:rPr sz="890" b="0" i="0">
                          <a:solidFill>
                            <a:srgbClr val="1A1A1A"/>
                          </a:solidFill>
                          <a:latin typeface="Microsoft YaHei"/>
                        </a:rPr>
                        <a:t>0.2 见下</a:t>
                      </a:r>
                    </a:p>
                  </a:txBody>
                  <a:tcPr marL="66675" marR="66675" marT="42862" marB="42862" anchor="t">
                    <a:noFill/>
                  </a:tcPr>
                </a:tc>
              </a:tr>
            </a:tbl>
          </a:graphicData>
        </a:graphic>
      </p:graphicFrame>
      <p:sp>
        <p:nvSpPr>
          <p:cNvPr id="10" name="Rectangle 9"/>
          <p:cNvSpPr/>
          <p:nvPr/>
        </p:nvSpPr>
        <p:spPr>
          <a:xfrm>
            <a:off x="590550" y="2997398"/>
            <a:ext cx="3378100" cy="1006078"/>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90550" y="2997398"/>
            <a:ext cx="38100" cy="1006078"/>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4375" y="3083123"/>
            <a:ext cx="3168550"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裁定依据：</a:t>
            </a:r>
            <a:r>
              <a:rPr sz="990" b="0" i="0">
                <a:solidFill>
                  <a:srgbClr val="1F5A1F"/>
                </a:solidFill>
                <a:latin typeface="Microsoft YaHei"/>
              </a:rPr>
              <a:t>Ye 与 Yin（2025）引 Hou 等时写「不透明度设为 </a:t>
            </a:r>
            <a:r>
              <a:rPr sz="990" b="1" i="0">
                <a:solidFill>
                  <a:srgbClr val="1F5A1F"/>
                </a:solidFill>
                <a:latin typeface="Microsoft YaHei"/>
              </a:rPr>
              <a:t>0.75</a:t>
            </a:r>
            <a:r>
              <a:rPr sz="990" b="0" i="0">
                <a:solidFill>
                  <a:srgbClr val="1F5A1F"/>
                </a:solidFill>
                <a:latin typeface="Microsoft YaHei"/>
              </a:rPr>
              <a:t>，该值在</a:t>
            </a:r>
            <a:r>
              <a:rPr sz="990" b="1" i="0">
                <a:solidFill>
                  <a:srgbClr val="1F5A1F"/>
                </a:solidFill>
                <a:latin typeface="Microsoft YaHei"/>
              </a:rPr>
              <a:t>可见性</a:t>
            </a:r>
            <a:r>
              <a:rPr sz="990" b="0" i="0">
                <a:solidFill>
                  <a:srgbClr val="1F5A1F"/>
                </a:solidFill>
                <a:latin typeface="Microsoft YaHei"/>
              </a:rPr>
              <a:t>上有优势」——</a:t>
            </a:r>
            <a:r>
              <a:rPr sz="990" b="1" i="0">
                <a:solidFill>
                  <a:srgbClr val="1F5A1F"/>
                </a:solidFill>
                <a:latin typeface="Microsoft YaHei"/>
              </a:rPr>
              <a:t>一个提升可见性的 0.75 只能是 alpha</a:t>
            </a:r>
            <a:r>
              <a:rPr sz="990" b="0" i="0">
                <a:solidFill>
                  <a:srgbClr val="1F5A1F"/>
                </a:solidFill>
                <a:latin typeface="Microsoft YaHei"/>
              </a:rPr>
              <a:t>，不可能是「75% 透明」。→ 四源收敛 </a:t>
            </a:r>
            <a:r>
              <a:rPr sz="990" b="1" i="0">
                <a:solidFill>
                  <a:srgbClr val="1F5A1F"/>
                </a:solidFill>
                <a:latin typeface="Microsoft YaHei"/>
              </a:rPr>
              <a:t>0.6–0.75</a:t>
            </a:r>
            <a:r>
              <a:rPr sz="990" b="0" i="0">
                <a:solidFill>
                  <a:srgbClr val="1F5A1F"/>
                </a:solidFill>
                <a:latin typeface="Microsoft YaHei"/>
              </a:rPr>
              <a:t>。</a:t>
            </a:r>
          </a:p>
        </p:txBody>
      </p:sp>
      <p:sp>
        <p:nvSpPr>
          <p:cNvPr id="13" name="Rectangle 12"/>
          <p:cNvSpPr/>
          <p:nvPr/>
        </p:nvSpPr>
        <p:spPr>
          <a:xfrm>
            <a:off x="590550" y="4060626"/>
            <a:ext cx="3378100" cy="1006078"/>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4060626"/>
            <a:ext cx="38100" cy="100607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4375" y="4146351"/>
            <a:ext cx="3168550"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20% 不是推荐值：</a:t>
            </a:r>
            <a:r>
              <a:rPr sz="990" b="0" i="0">
                <a:solidFill>
                  <a:srgbClr val="7A1F1F"/>
                </a:solidFill>
                <a:latin typeface="Microsoft YaHei"/>
              </a:rPr>
              <a:t>原文为「20% 与 60% </a:t>
            </a:r>
            <a:r>
              <a:rPr sz="990" b="1" i="0">
                <a:solidFill>
                  <a:srgbClr val="7A1F1F"/>
                </a:solidFill>
                <a:latin typeface="Microsoft YaHei"/>
              </a:rPr>
              <a:t>均</a:t>
            </a:r>
            <a:r>
              <a:rPr sz="990" b="0" i="0">
                <a:solidFill>
                  <a:srgbClr val="7A1F1F"/>
                </a:solidFill>
                <a:latin typeface="Microsoft YaHei"/>
              </a:rPr>
              <a:t>支持情境意识」且自陈「仍需研究」。差异在</a:t>
            </a:r>
            <a:r>
              <a:rPr sz="990" b="1" i="0">
                <a:solidFill>
                  <a:srgbClr val="7A1F1F"/>
                </a:solidFill>
                <a:latin typeface="Microsoft YaHei"/>
              </a:rPr>
              <a:t>构念</a:t>
            </a:r>
            <a:r>
              <a:rPr sz="990" b="0" i="0">
                <a:solidFill>
                  <a:srgbClr val="7A1F1F"/>
                </a:solidFill>
                <a:latin typeface="Microsoft YaHei"/>
              </a:rPr>
              <a:t>：Li 测</a:t>
            </a:r>
            <a:r>
              <a:rPr sz="990" b="1" i="0">
                <a:solidFill>
                  <a:srgbClr val="7A1F1F"/>
                </a:solidFill>
                <a:latin typeface="Microsoft YaHei"/>
              </a:rPr>
              <a:t>读 AR 的速度</a:t>
            </a:r>
            <a:r>
              <a:rPr sz="990" b="0" i="0">
                <a:solidFill>
                  <a:srgbClr val="7A1F1F"/>
                </a:solidFill>
                <a:latin typeface="Microsoft YaHei"/>
              </a:rPr>
              <a:t>（越不透明越快），Lopez 测</a:t>
            </a:r>
            <a:r>
              <a:rPr sz="990" b="1" i="0">
                <a:solidFill>
                  <a:srgbClr val="7A1F1F"/>
                </a:solidFill>
                <a:latin typeface="Microsoft YaHei"/>
              </a:rPr>
              <a:t>路侧情境意识</a:t>
            </a:r>
            <a:r>
              <a:rPr sz="990" b="0" i="0">
                <a:solidFill>
                  <a:srgbClr val="7A1F1F"/>
                </a:solidFill>
                <a:latin typeface="Microsoft YaHei"/>
              </a:rPr>
              <a:t>（越不透明遮挡越多）。</a:t>
            </a:r>
            <a:r>
              <a:rPr sz="990" b="1" i="0">
                <a:solidFill>
                  <a:srgbClr val="7A1F1F"/>
                </a:solidFill>
                <a:latin typeface="Microsoft YaHei"/>
              </a:rPr>
              <a:t>0.6 同时满足两侧</a:t>
            </a:r>
            <a:r>
              <a:rPr sz="990" b="0" i="0">
                <a:solidFill>
                  <a:srgbClr val="7A1F1F"/>
                </a:solidFill>
                <a:latin typeface="Microsoft YaHei"/>
              </a:rPr>
              <a:t>。</a:t>
            </a:r>
          </a:p>
        </p:txBody>
      </p:sp>
      <p:sp>
        <p:nvSpPr>
          <p:cNvPr id="16" name="Rounded Rectangle 15"/>
          <p:cNvSpPr/>
          <p:nvPr/>
        </p:nvSpPr>
        <p:spPr>
          <a:xfrm>
            <a:off x="4254400" y="762000"/>
            <a:ext cx="3683049" cy="5695950"/>
          </a:xfrm>
          <a:prstGeom prst="roundRect">
            <a:avLst>
              <a:gd name="adj" fmla="val 1810"/>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406800" y="1152525"/>
            <a:ext cx="3378249"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6800" y="895350"/>
            <a:ext cx="3416349"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FOV：必须区分显示与传感</a:t>
            </a:r>
          </a:p>
        </p:txBody>
      </p:sp>
      <p:graphicFrame>
        <p:nvGraphicFramePr>
          <p:cNvPr id="19" name="Table 18"/>
          <p:cNvGraphicFramePr>
            <a:graphicFrameLocks noGrp="1"/>
          </p:cNvGraphicFramePr>
          <p:nvPr/>
        </p:nvGraphicFramePr>
        <p:xfrm>
          <a:off x="4406800" y="1238250"/>
          <a:ext cx="3378249" cy="1845468"/>
        </p:xfrm>
        <a:graphic>
          <a:graphicData uri="http://schemas.openxmlformats.org/drawingml/2006/table">
            <a:tbl>
              <a:tblPr>
                <a:tableStyleId>{5C22544A-7EE6-4342-B048-85BDC9FD1C3A}</a:tableStyleId>
              </a:tblPr>
              <a:tblGrid>
                <a:gridCol w="516582"/>
                <a:gridCol w="286166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类别</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数值</a:t>
                      </a:r>
                    </a:p>
                  </a:txBody>
                  <a:tcPr marL="66675" marR="66675" marT="52387" marB="52387" anchor="t">
                    <a:solidFill>
                      <a:srgbClr val="4472C4"/>
                    </a:solidFill>
                  </a:tcPr>
                </a:tc>
              </a:tr>
              <a:tr h="78700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显示 FOV</a:t>
                      </a:r>
                    </a:p>
                    <a:p>
                      <a:pPr algn="l">
                        <a:lnSpc>
                          <a:spcPct val="155000"/>
                        </a:lnSpc>
                        <a:spcBef>
                          <a:spcPts val="0"/>
                        </a:spcBef>
                        <a:spcAft>
                          <a:spcPts val="0"/>
                        </a:spcAft>
                      </a:pPr>
                      <a:r>
                        <a:rPr sz="890" b="0" i="0">
                          <a:solidFill>
                            <a:srgbClr val="1A1A1A"/>
                          </a:solidFill>
                          <a:latin typeface="Microsoft YaHei"/>
                        </a:rPr>
                        <a:t>（能画多宽）</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量产 </a:t>
                      </a:r>
                      <a:r>
                        <a:rPr sz="890" b="1" i="0">
                          <a:solidFill>
                            <a:srgbClr val="1A1A1A"/>
                          </a:solidFill>
                          <a:latin typeface="Microsoft YaHei"/>
                        </a:rPr>
                        <a:t>10°–15°</a:t>
                      </a:r>
                      <a:r>
                        <a:rPr sz="890" b="0" i="0">
                          <a:solidFill>
                            <a:srgbClr val="1A1A1A"/>
                          </a:solidFill>
                          <a:latin typeface="Microsoft YaHei"/>
                        </a:rPr>
                        <a:t>；文献方案 85°/65°/40°（Ma 等 2021、Teng 等 2023）；实测 12°×5°（Zhong 等 2022）</a:t>
                      </a:r>
                    </a:p>
                  </a:txBody>
                  <a:tcPr marL="66675" marR="66675" marT="42862" marB="42862" anchor="t">
                    <a:solidFill>
                      <a:srgbClr val="FAFBFD"/>
                    </a:solidFill>
                  </a:tcPr>
                </a:tc>
              </a:tr>
              <a:tr h="79176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传感 FOV</a:t>
                      </a:r>
                    </a:p>
                    <a:p>
                      <a:pPr algn="l">
                        <a:lnSpc>
                          <a:spcPct val="155000"/>
                        </a:lnSpc>
                        <a:spcBef>
                          <a:spcPts val="0"/>
                        </a:spcBef>
                        <a:spcAft>
                          <a:spcPts val="0"/>
                        </a:spcAft>
                      </a:pPr>
                      <a:r>
                        <a:rPr sz="890" b="0" i="0">
                          <a:solidFill>
                            <a:srgbClr val="1A1A1A"/>
                          </a:solidFill>
                          <a:latin typeface="Microsoft YaHei"/>
                        </a:rPr>
                        <a:t>（能看多宽）</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行人 </a:t>
                      </a:r>
                      <a:r>
                        <a:rPr sz="890" b="1" i="0">
                          <a:solidFill>
                            <a:srgbClr val="1A1A1A"/>
                          </a:solidFill>
                          <a:latin typeface="Microsoft YaHei"/>
                        </a:rPr>
                        <a:t>&gt; 30° 时 TTC 2 s 检出 &gt; 90%</a:t>
                      </a:r>
                      <a:r>
                        <a:rPr sz="890" b="0" i="0">
                          <a:solidFill>
                            <a:srgbClr val="1A1A1A"/>
                          </a:solidFill>
                          <a:latin typeface="Microsoft YaHei"/>
                        </a:rPr>
                        <a:t>，</a:t>
                      </a:r>
                      <a:r>
                        <a:rPr sz="890" b="1" i="0">
                          <a:solidFill>
                            <a:srgbClr val="1A1A1A"/>
                          </a:solidFill>
                          <a:latin typeface="Microsoft YaHei"/>
                        </a:rPr>
                        <a:t>≥ 40° 后增益极小</a:t>
                      </a:r>
                      <a:r>
                        <a:rPr sz="890" b="0" i="0">
                          <a:solidFill>
                            <a:srgbClr val="1A1A1A"/>
                          </a:solidFill>
                          <a:latin typeface="Microsoft YaHei"/>
                        </a:rPr>
                        <a:t>，骑行者需 60°+（Char, 2020）；量产相机 </a:t>
                      </a:r>
                      <a:r>
                        <a:rPr sz="890" b="1" i="0">
                          <a:solidFill>
                            <a:srgbClr val="1A1A1A"/>
                          </a:solidFill>
                          <a:latin typeface="Microsoft YaHei"/>
                        </a:rPr>
                        <a:t>48°</a:t>
                      </a:r>
                      <a:r>
                        <a:rPr sz="890" b="0" i="0">
                          <a:solidFill>
                            <a:srgbClr val="1A1A1A"/>
                          </a:solidFill>
                          <a:latin typeface="Microsoft YaHei"/>
                        </a:rPr>
                        <a:t> + 雷达 </a:t>
                      </a:r>
                      <a:r>
                        <a:rPr sz="890" b="1" i="0">
                          <a:solidFill>
                            <a:srgbClr val="1A1A1A"/>
                          </a:solidFill>
                          <a:latin typeface="Microsoft YaHei"/>
                        </a:rPr>
                        <a:t>60°</a:t>
                      </a:r>
                      <a:r>
                        <a:rPr sz="890" b="0" i="0">
                          <a:solidFill>
                            <a:srgbClr val="1A1A1A"/>
                          </a:solidFill>
                          <a:latin typeface="Microsoft YaHei"/>
                        </a:rPr>
                        <a:t>（Coelingh 等, 2010）</a:t>
                      </a:r>
                    </a:p>
                  </a:txBody>
                  <a:tcPr marL="66675" marR="66675" marT="42862" marB="42862" anchor="t">
                    <a:noFill/>
                  </a:tcPr>
                </a:tc>
              </a:tr>
            </a:tbl>
          </a:graphicData>
        </a:graphic>
      </p:graphicFrame>
      <p:sp>
        <p:nvSpPr>
          <p:cNvPr id="20" name="Rectangle 19"/>
          <p:cNvSpPr/>
          <p:nvPr/>
        </p:nvSpPr>
        <p:spPr>
          <a:xfrm>
            <a:off x="4406800" y="3164681"/>
            <a:ext cx="3378249" cy="1006078"/>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06800" y="3164681"/>
            <a:ext cx="38100" cy="1006078"/>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0625" y="3250406"/>
            <a:ext cx="3168699" cy="86320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后果完全不同：</a:t>
            </a:r>
            <a:r>
              <a:rPr sz="990" b="0" i="0">
                <a:solidFill>
                  <a:srgbClr val="6B5200"/>
                </a:solidFill>
                <a:latin typeface="Microsoft YaHei"/>
              </a:rPr>
              <a:t>传感不足 → 系统</a:t>
            </a:r>
            <a:r>
              <a:rPr sz="990" b="1" i="0">
                <a:solidFill>
                  <a:srgbClr val="8A6A00"/>
                </a:solidFill>
                <a:latin typeface="Microsoft YaHei"/>
              </a:rPr>
              <a:t>根本不知道</a:t>
            </a:r>
            <a:r>
              <a:rPr sz="990" b="0" i="0">
                <a:solidFill>
                  <a:srgbClr val="6B5200"/>
                </a:solidFill>
                <a:latin typeface="Microsoft YaHei"/>
              </a:rPr>
              <a:t>有行人（Char 报告 &lt; 10% 案例晚检出 1 s，此时最好只能减轻）；显示不足 → 系统</a:t>
            </a:r>
            <a:r>
              <a:rPr sz="990" b="1" i="0">
                <a:solidFill>
                  <a:srgbClr val="8A6A00"/>
                </a:solidFill>
                <a:latin typeface="Microsoft YaHei"/>
              </a:rPr>
              <a:t>知道但画不出</a:t>
            </a:r>
            <a:r>
              <a:rPr sz="990" b="0" i="0">
                <a:solidFill>
                  <a:srgbClr val="6B5200"/>
                </a:solidFill>
                <a:latin typeface="Microsoft YaHei"/>
              </a:rPr>
              <a:t>，须退化为边界箭头。</a:t>
            </a:r>
            <a:r>
              <a:rPr sz="990" b="1" i="0">
                <a:solidFill>
                  <a:srgbClr val="8A6A00"/>
                </a:solidFill>
                <a:latin typeface="Microsoft YaHei"/>
              </a:rPr>
              <a:t>既有综述在这一点上混用了两个物理量。</a:t>
            </a:r>
          </a:p>
        </p:txBody>
      </p:sp>
      <p:sp>
        <p:nvSpPr>
          <p:cNvPr id="23" name="Rounded Rectangle 22"/>
          <p:cNvSpPr/>
          <p:nvPr/>
        </p:nvSpPr>
        <p:spPr>
          <a:xfrm>
            <a:off x="8070800" y="762000"/>
            <a:ext cx="3682900" cy="5695950"/>
          </a:xfrm>
          <a:prstGeom prst="roundRect">
            <a:avLst>
              <a:gd name="adj" fmla="val 1810"/>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223200" y="1152525"/>
            <a:ext cx="3378100"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3200" y="895350"/>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风险区几何：运动学缩放</a:t>
            </a:r>
          </a:p>
        </p:txBody>
      </p:sp>
      <p:graphicFrame>
        <p:nvGraphicFramePr>
          <p:cNvPr id="26" name="Table 25"/>
          <p:cNvGraphicFramePr>
            <a:graphicFrameLocks noGrp="1"/>
          </p:cNvGraphicFramePr>
          <p:nvPr/>
        </p:nvGraphicFramePr>
        <p:xfrm>
          <a:off x="8223200" y="1238250"/>
          <a:ext cx="3378100" cy="1959767"/>
        </p:xfrm>
        <a:graphic>
          <a:graphicData uri="http://schemas.openxmlformats.org/drawingml/2006/table">
            <a:tbl>
              <a:tblPr>
                <a:tableStyleId>{5C22544A-7EE6-4342-B048-85BDC9FD1C3A}</a:tableStyleId>
              </a:tblPr>
              <a:tblGrid>
                <a:gridCol w="864393"/>
                <a:gridCol w="251370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规则</a:t>
                      </a:r>
                    </a:p>
                  </a:txBody>
                  <a:tcPr marL="66675" marR="66675" marT="52387" marB="52387" anchor="t">
                    <a:solidFill>
                      <a:srgbClr val="4472C4"/>
                    </a:solidFill>
                  </a:tcPr>
                </a:tc>
              </a:tr>
              <a:tr h="806053">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Suzuki 等（2010）</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纵向深度</a:t>
                      </a:r>
                      <a:r>
                        <a:rPr sz="890" b="1" i="0">
                          <a:solidFill>
                            <a:srgbClr val="1A1A1A"/>
                          </a:solidFill>
                          <a:latin typeface="Microsoft YaHei"/>
                        </a:rPr>
                        <a:t>随车速伸缩</a:t>
                      </a:r>
                      <a:r>
                        <a:rPr sz="890" b="0" i="0">
                          <a:solidFill>
                            <a:srgbClr val="1A1A1A"/>
                          </a:solidFill>
                          <a:latin typeface="Microsoft YaHei"/>
                        </a:rPr>
                        <a:t>：</a:t>
                      </a:r>
                    </a:p>
                    <a:p>
                      <a:pPr algn="l">
                        <a:lnSpc>
                          <a:spcPct val="155000"/>
                        </a:lnSpc>
                        <a:spcBef>
                          <a:spcPts val="0"/>
                        </a:spcBef>
                        <a:spcAft>
                          <a:spcPts val="0"/>
                        </a:spcAft>
                      </a:pPr>
                      <a:r>
                        <a:rPr sz="890" b="0" i="1">
                          <a:solidFill>
                            <a:srgbClr val="1A1A1A"/>
                          </a:solidFill>
                          <a:latin typeface="Microsoft YaHei"/>
                        </a:rPr>
                        <a:t>R</a:t>
                      </a:r>
                      <a:r>
                        <a:rPr sz="620" b="0" i="1" baseline="-25000">
                          <a:solidFill>
                            <a:srgbClr val="1A1A1A"/>
                          </a:solidFill>
                          <a:latin typeface="Microsoft YaHei"/>
                        </a:rPr>
                        <a:t>x</a:t>
                      </a:r>
                      <a:r>
                        <a:rPr sz="890" b="0" i="1">
                          <a:solidFill>
                            <a:srgbClr val="1A1A1A"/>
                          </a:solidFill>
                          <a:latin typeface="Microsoft YaHei"/>
                        </a:rPr>
                        <a:t> = </a:t>
                      </a:r>
                      <a:r>
                        <a:rPr sz="890" b="0" i="1">
                          <a:solidFill>
                            <a:srgbClr val="1A1A1A"/>
                          </a:solidFill>
                          <a:latin typeface="Microsoft YaHei"/>
                        </a:rPr>
                        <a:t>T</a:t>
                      </a:r>
                      <a:r>
                        <a:rPr sz="620" b="0" i="1" baseline="-25000">
                          <a:solidFill>
                            <a:srgbClr val="1A1A1A"/>
                          </a:solidFill>
                          <a:latin typeface="Microsoft YaHei"/>
                        </a:rPr>
                        <a:t>tc</a:t>
                      </a:r>
                      <a:r>
                        <a:rPr sz="890" b="0" i="1">
                          <a:solidFill>
                            <a:srgbClr val="1A1A1A"/>
                          </a:solidFill>
                          <a:latin typeface="Microsoft YaHei"/>
                        </a:rPr>
                        <a:t>· </a:t>
                      </a:r>
                      <a:r>
                        <a:rPr sz="890" b="0" i="1">
                          <a:solidFill>
                            <a:srgbClr val="1A1A1A"/>
                          </a:solidFill>
                          <a:latin typeface="Microsoft YaHei"/>
                        </a:rPr>
                        <a:t>V</a:t>
                      </a:r>
                      <a:r>
                        <a:rPr sz="620" b="0" i="1" baseline="-25000">
                          <a:solidFill>
                            <a:srgbClr val="1A1A1A"/>
                          </a:solidFill>
                          <a:latin typeface="Microsoft YaHei"/>
                        </a:rPr>
                        <a:t>car</a:t>
                      </a:r>
                    </a:p>
                    <a:p>
                      <a:pPr algn="l">
                        <a:lnSpc>
                          <a:spcPct val="155000"/>
                        </a:lnSpc>
                        <a:spcBef>
                          <a:spcPts val="0"/>
                        </a:spcBef>
                        <a:spcAft>
                          <a:spcPts val="0"/>
                        </a:spcAft>
                      </a:pPr>
                      <a:r>
                        <a:rPr sz="890" b="0" i="1">
                          <a:solidFill>
                            <a:srgbClr val="1A1A1A"/>
                          </a:solidFill>
                          <a:latin typeface="Microsoft YaHei"/>
                        </a:rPr>
                        <a:t>T</a:t>
                      </a:r>
                      <a:r>
                        <a:rPr sz="620" b="0" i="1" baseline="-25000">
                          <a:solidFill>
                            <a:srgbClr val="1A1A1A"/>
                          </a:solidFill>
                          <a:latin typeface="Microsoft YaHei"/>
                        </a:rPr>
                        <a:t>tc,max</a:t>
                      </a:r>
                      <a:r>
                        <a:rPr sz="890" b="0" i="0">
                          <a:solidFill>
                            <a:srgbClr val="1A1A1A"/>
                          </a:solidFill>
                          <a:latin typeface="Microsoft YaHei"/>
                        </a:rPr>
                        <a:t> = 4.0 s；20 → </a:t>
                      </a:r>
                      <a:r>
                        <a:rPr sz="890" b="1" i="0">
                          <a:solidFill>
                            <a:srgbClr val="1A1A1A"/>
                          </a:solidFill>
                          <a:latin typeface="Microsoft YaHei"/>
                        </a:rPr>
                        <a:t>22.2 m</a:t>
                      </a:r>
                      <a:r>
                        <a:rPr sz="890" b="0" i="0">
                          <a:solidFill>
                            <a:srgbClr val="1A1A1A"/>
                          </a:solidFill>
                          <a:latin typeface="Microsoft YaHei"/>
                        </a:rPr>
                        <a:t>、40 → </a:t>
                      </a:r>
                      <a:r>
                        <a:rPr sz="890" b="1" i="0">
                          <a:solidFill>
                            <a:srgbClr val="1A1A1A"/>
                          </a:solidFill>
                          <a:latin typeface="Microsoft YaHei"/>
                        </a:rPr>
                        <a:t>44.4 m</a:t>
                      </a:r>
                      <a:r>
                        <a:rPr sz="890" b="0" i="0">
                          <a:solidFill>
                            <a:srgbClr val="1A1A1A"/>
                          </a:solidFill>
                          <a:latin typeface="Microsoft YaHei"/>
                        </a:rPr>
                        <a:t>、50 km/h → </a:t>
                      </a:r>
                      <a:r>
                        <a:rPr sz="890" b="1" i="0">
                          <a:solidFill>
                            <a:srgbClr val="1A1A1A"/>
                          </a:solidFill>
                          <a:latin typeface="Microsoft YaHei"/>
                        </a:rPr>
                        <a:t>55.6 m</a:t>
                      </a:r>
                      <a:r>
                        <a:rPr sz="890" b="0" i="0">
                          <a:solidFill>
                            <a:srgbClr val="1A1A1A"/>
                          </a:solidFill>
                          <a:latin typeface="Microsoft YaHei"/>
                        </a:rPr>
                        <a:t>；斑马线区</a:t>
                      </a:r>
                      <a:r>
                        <a:rPr sz="890" b="1" i="0">
                          <a:solidFill>
                            <a:srgbClr val="1A1A1A"/>
                          </a:solidFill>
                          <a:latin typeface="Microsoft YaHei"/>
                        </a:rPr>
                        <a:t>两侧各外扩 1 m</a:t>
                      </a:r>
                    </a:p>
                  </a:txBody>
                  <a:tcPr marL="66675" marR="66675" marT="42862" marB="42862" anchor="t">
                    <a:solidFill>
                      <a:srgbClr val="FAFBFD"/>
                    </a:solid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Kuo 等（2016）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危险区以 </a:t>
                      </a:r>
                      <a:r>
                        <a:rPr sz="890" b="1" i="0">
                          <a:solidFill>
                            <a:srgbClr val="1A1A1A"/>
                          </a:solidFill>
                          <a:latin typeface="Microsoft YaHei"/>
                        </a:rPr>
                        <a:t>1.5 m</a:t>
                      </a:r>
                      <a:r>
                        <a:rPr sz="890" b="0" i="0">
                          <a:solidFill>
                            <a:srgbClr val="1A1A1A"/>
                          </a:solidFill>
                          <a:latin typeface="Microsoft YaHei"/>
                        </a:rPr>
                        <a:t> 线划分左右子区；位置误差 0.12–0.15 m</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Zhang 等（2023）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按</a:t>
                      </a:r>
                      <a:r>
                        <a:rPr sz="890" b="1" i="0">
                          <a:solidFill>
                            <a:srgbClr val="1A1A1A"/>
                          </a:solidFill>
                          <a:latin typeface="Microsoft YaHei"/>
                        </a:rPr>
                        <a:t>行人心理安全距离</a:t>
                      </a:r>
                      <a:r>
                        <a:rPr sz="890" b="0" i="0">
                          <a:solidFill>
                            <a:srgbClr val="1A1A1A"/>
                          </a:solidFill>
                          <a:latin typeface="Microsoft YaHei"/>
                        </a:rPr>
                        <a:t>划分车辆坐标区（仅摘要，无数值）</a:t>
                      </a:r>
                    </a:p>
                  </a:txBody>
                  <a:tcPr marL="66675" marR="66675" marT="42862" marB="42862" anchor="t">
                    <a:solidFill>
                      <a:srgbClr val="FAFBFD"/>
                    </a:solidFill>
                  </a:tcPr>
                </a:tc>
              </a:tr>
            </a:tbl>
          </a:graphicData>
        </a:graphic>
      </p:graphicFrame>
      <p:sp>
        <p:nvSpPr>
          <p:cNvPr id="27" name="Rectangle 26"/>
          <p:cNvSpPr/>
          <p:nvPr/>
        </p:nvSpPr>
        <p:spPr>
          <a:xfrm>
            <a:off x="8223200" y="3278981"/>
            <a:ext cx="3378100" cy="1025128"/>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223200" y="3278981"/>
            <a:ext cx="38100" cy="1025128"/>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7025" y="3364706"/>
            <a:ext cx="3168550" cy="882253"/>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时空两侧最重要的收敛点：</a:t>
            </a:r>
            <a:r>
              <a:rPr sz="990" b="0" i="1">
                <a:solidFill>
                  <a:srgbClr val="1F5A1F"/>
                </a:solidFill>
                <a:latin typeface="Microsoft YaHei"/>
              </a:rPr>
              <a:t>R</a:t>
            </a:r>
            <a:r>
              <a:rPr sz="690" b="0" i="1" baseline="-25000">
                <a:solidFill>
                  <a:srgbClr val="1F5A1F"/>
                </a:solidFill>
                <a:latin typeface="Microsoft YaHei"/>
              </a:rPr>
              <a:t>x</a:t>
            </a:r>
            <a:r>
              <a:rPr sz="990" b="0" i="1">
                <a:solidFill>
                  <a:srgbClr val="1F5A1F"/>
                </a:solidFill>
                <a:latin typeface="Microsoft YaHei"/>
              </a:rPr>
              <a:t> = </a:t>
            </a:r>
            <a:r>
              <a:rPr sz="990" b="0" i="1">
                <a:solidFill>
                  <a:srgbClr val="1F5A1F"/>
                </a:solidFill>
                <a:latin typeface="Microsoft YaHei"/>
              </a:rPr>
              <a:t>T</a:t>
            </a:r>
            <a:r>
              <a:rPr sz="690" b="0" i="1" baseline="-25000">
                <a:solidFill>
                  <a:srgbClr val="1F5A1F"/>
                </a:solidFill>
                <a:latin typeface="Microsoft YaHei"/>
              </a:rPr>
              <a:t>tc</a:t>
            </a:r>
            <a:r>
              <a:rPr sz="990" b="0" i="1">
                <a:solidFill>
                  <a:srgbClr val="1F5A1F"/>
                </a:solidFill>
                <a:latin typeface="Microsoft YaHei"/>
              </a:rPr>
              <a:t>· </a:t>
            </a:r>
            <a:r>
              <a:rPr sz="990" b="0" i="1">
                <a:solidFill>
                  <a:srgbClr val="1F5A1F"/>
                </a:solidFill>
                <a:latin typeface="Microsoft YaHei"/>
              </a:rPr>
              <a:t>V</a:t>
            </a:r>
            <a:r>
              <a:rPr sz="690" b="0" i="1" baseline="-25000">
                <a:solidFill>
                  <a:srgbClr val="1F5A1F"/>
                </a:solidFill>
                <a:latin typeface="Microsoft YaHei"/>
              </a:rPr>
              <a:t>car</a:t>
            </a:r>
            <a:r>
              <a:rPr sz="990" b="0" i="0">
                <a:solidFill>
                  <a:srgbClr val="1F5A1F"/>
                </a:solidFill>
                <a:latin typeface="Microsoft YaHei"/>
              </a:rPr>
              <a:t> 与本研究把触发准则改为 BTN </a:t>
            </a:r>
            <a:r>
              <a:rPr sz="990" b="1" i="0">
                <a:solidFill>
                  <a:srgbClr val="1F5A1F"/>
                </a:solidFill>
                <a:latin typeface="Microsoft YaHei"/>
              </a:rPr>
              <a:t>同源</a:t>
            </a:r>
            <a:r>
              <a:rPr sz="990" b="0" i="0">
                <a:solidFill>
                  <a:srgbClr val="1F5A1F"/>
                </a:solidFill>
                <a:latin typeface="Microsoft YaHei"/>
              </a:rPr>
              <a:t>——都是把参数从「固定数值」改为「随运动学状态缩放」。→ 实验 4 的 BR 路面标记</a:t>
            </a:r>
            <a:r>
              <a:rPr sz="990" b="1" i="0">
                <a:solidFill>
                  <a:srgbClr val="1F5A1F"/>
                </a:solidFill>
                <a:latin typeface="Microsoft YaHei"/>
              </a:rPr>
              <a:t>按 </a:t>
            </a:r>
            <a:r>
              <a:rPr sz="990" b="1" i="1">
                <a:solidFill>
                  <a:srgbClr val="1F5A1F"/>
                </a:solidFill>
                <a:latin typeface="Microsoft YaHei"/>
              </a:rPr>
              <a:t>R</a:t>
            </a:r>
            <a:r>
              <a:rPr sz="690" b="1" i="1" baseline="-25000">
                <a:solidFill>
                  <a:srgbClr val="1F5A1F"/>
                </a:solidFill>
                <a:latin typeface="Microsoft YaHei"/>
              </a:rPr>
              <a:t>x</a:t>
            </a:r>
            <a:r>
              <a:rPr sz="990" b="1" i="0">
                <a:solidFill>
                  <a:srgbClr val="1F5A1F"/>
                </a:solidFill>
                <a:latin typeface="Microsoft YaHei"/>
              </a:rPr>
              <a:t> 而非固定米数绘制</a:t>
            </a:r>
            <a:r>
              <a:rPr sz="990" b="0" i="0">
                <a:solidFill>
                  <a:srgbClr val="1F5A1F"/>
                </a:solidFill>
                <a:latin typeface="Microsoft YaHei"/>
              </a:rPr>
              <a:t>。</a:t>
            </a:r>
          </a:p>
        </p:txBody>
      </p:sp>
      <p:sp>
        <p:nvSpPr>
          <p:cNvPr id="30" name="TextBox 2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AR-HUD 的副作用：无意视盲与注意隧道</a:t>
            </a:r>
          </a:p>
        </p:txBody>
      </p:sp>
      <p:sp>
        <p:nvSpPr>
          <p:cNvPr id="4" name="Rounded Rectangle 3"/>
          <p:cNvSpPr/>
          <p:nvPr/>
        </p:nvSpPr>
        <p:spPr>
          <a:xfrm>
            <a:off x="11226998" y="209550"/>
            <a:ext cx="526851"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31773" y="238125"/>
            <a:ext cx="355401"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2.3.10</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若图形越显著、对目标的引导越强，则对</a:t>
            </a:r>
            <a:r>
              <a:rPr sz="1090" b="1" i="0">
                <a:solidFill>
                  <a:srgbClr val="2F528F"/>
                </a:solidFill>
                <a:latin typeface="Microsoft YaHei"/>
              </a:rPr>
              <a:t>非增强危险</a:t>
            </a:r>
            <a:r>
              <a:rPr sz="1090" b="0" i="0">
                <a:solidFill>
                  <a:srgbClr val="2F528F"/>
                </a:solidFill>
                <a:latin typeface="Microsoft YaHei"/>
              </a:rPr>
              <a:t>的漏检也可能越严重。这是 AR-HUD 研究不可回避的一面，也是「越动越好」不成立的根据。</a:t>
            </a:r>
          </a:p>
        </p:txBody>
      </p:sp>
      <p:graphicFrame>
        <p:nvGraphicFramePr>
          <p:cNvPr id="9" name="Table 8"/>
          <p:cNvGraphicFramePr>
            <a:graphicFrameLocks noGrp="1"/>
          </p:cNvGraphicFramePr>
          <p:nvPr/>
        </p:nvGraphicFramePr>
        <p:xfrm>
          <a:off x="438150" y="1313854"/>
          <a:ext cx="11315699" cy="2416962"/>
        </p:xfrm>
        <a:graphic>
          <a:graphicData uri="http://schemas.openxmlformats.org/drawingml/2006/table">
            <a:tbl>
              <a:tblPr>
                <a:tableStyleId>{5C22544A-7EE6-4342-B048-85BDC9FD1C3A}</a:tableStyleId>
              </a:tblPr>
              <a:tblGrid>
                <a:gridCol w="2489448"/>
                <a:gridCol w="7581602"/>
                <a:gridCol w="1244649"/>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关键发现</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证据强度</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Wang 等（2021）</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AR-HUD 辅助驾驶中的无意视盲；本库该方向</a:t>
                      </a:r>
                      <a:r>
                        <a:rPr sz="890" b="1" i="0">
                          <a:solidFill>
                            <a:srgbClr val="1A1A1A"/>
                          </a:solidFill>
                          <a:latin typeface="Microsoft YaHei"/>
                        </a:rPr>
                        <a:t>被引最多的实证锚点之一</a:t>
                      </a:r>
                      <a:r>
                        <a:rPr sz="890" b="0" i="0">
                          <a:solidFill>
                            <a:srgbClr val="1A1A1A"/>
                          </a:solidFill>
                          <a:latin typeface="Microsoft YaHei"/>
                        </a:rPr>
                        <a:t>（约 56 次引用）</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Chen 等（2023）</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AR 环境下对</a:t>
                      </a:r>
                      <a:r>
                        <a:rPr sz="890" b="1" i="0">
                          <a:solidFill>
                            <a:srgbClr val="1A1A1A"/>
                          </a:solidFill>
                          <a:latin typeface="Microsoft YaHei"/>
                        </a:rPr>
                        <a:t>未增强危险</a:t>
                      </a:r>
                      <a:r>
                        <a:rPr sz="890" b="0" i="0">
                          <a:solidFill>
                            <a:srgbClr val="1A1A1A"/>
                          </a:solidFill>
                          <a:latin typeface="Microsoft YaHei"/>
                        </a:rPr>
                        <a:t>的无意视盲；</a:t>
                      </a:r>
                      <a:r>
                        <a:rPr sz="890" b="1" i="0">
                          <a:solidFill>
                            <a:srgbClr val="1A1A1A"/>
                          </a:solidFill>
                          <a:latin typeface="Microsoft YaHei"/>
                        </a:rPr>
                        <a:t>本库唯一操纵「AR 图形与未增强危险的相对位置」的研究</a:t>
                      </a:r>
                      <a:r>
                        <a:rPr sz="890" b="0" i="0">
                          <a:solidFill>
                            <a:srgbClr val="1A1A1A"/>
                          </a:solidFill>
                          <a:latin typeface="Microsoft YaHei"/>
                        </a:rPr>
                        <a:t>——是本研究动态 AOI 方案的必要输入</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Hou 等（2024）</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动效对无意视盲无显著影响，仅闪烁缩短反应时</a:t>
                      </a:r>
                      <a:r>
                        <a:rPr sz="890" b="0" i="0">
                          <a:solidFill>
                            <a:srgbClr val="1A1A1A"/>
                          </a:solidFill>
                          <a:latin typeface="Microsoft YaHei"/>
                        </a:rPr>
                        <a:t>（透明度 T1/T0.75/T0.5/T0.35）</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仅摘要</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Ye 与 Yin（2025）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水平／垂直／混合空间面定位与无意视盲；</a:t>
                      </a:r>
                      <a:r>
                        <a:rPr sz="890" b="1" i="0">
                          <a:solidFill>
                            <a:srgbClr val="1A1A1A"/>
                          </a:solidFill>
                          <a:latin typeface="Microsoft YaHei"/>
                        </a:rPr>
                        <a:t>垂直面在工作负荷与实用性上最佳</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Pammer 与 Blink（2013）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乡村与城市场景驾驶判断的注意差异；无意视盲中的</a:t>
                      </a:r>
                      <a:r>
                        <a:rPr sz="890" b="1" i="0">
                          <a:solidFill>
                            <a:srgbClr val="1A1A1A"/>
                          </a:solidFill>
                          <a:latin typeface="Microsoft YaHei"/>
                        </a:rPr>
                        <a:t>语义一致性</a:t>
                      </a:r>
                      <a:r>
                        <a:rPr sz="890" b="0" i="0">
                          <a:solidFill>
                            <a:srgbClr val="1A1A1A"/>
                          </a:solidFill>
                          <a:latin typeface="Microsoft YaHei"/>
                        </a:rPr>
                        <a:t>机制</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Gabbard 等（2019）</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贴地共形箭头使</a:t>
                      </a:r>
                      <a:r>
                        <a:rPr sz="890" b="1" i="0">
                          <a:solidFill>
                            <a:srgbClr val="1A1A1A"/>
                          </a:solidFill>
                          <a:latin typeface="Microsoft YaHei"/>
                        </a:rPr>
                        <a:t>心理需求由 11.7% 升至 23.7%</a:t>
                      </a:r>
                      <a:r>
                        <a:rPr sz="890" b="0" i="0">
                          <a:solidFill>
                            <a:srgbClr val="1A1A1A"/>
                          </a:solidFill>
                          <a:latin typeface="Microsoft YaHei"/>
                        </a:rPr>
                        <a:t>，HUD 图形注视时长</a:t>
                      </a:r>
                      <a:r>
                        <a:rPr sz="890" b="1" i="0">
                          <a:solidFill>
                            <a:srgbClr val="1A1A1A"/>
                          </a:solidFill>
                          <a:latin typeface="Microsoft YaHei"/>
                        </a:rPr>
                        <a:t>最长达 3.33 s</a:t>
                      </a:r>
                      <a:r>
                        <a:rPr sz="890" b="0" i="0">
                          <a:solidFill>
                            <a:srgbClr val="1A1A1A"/>
                          </a:solidFill>
                          <a:latin typeface="Microsoft YaHei"/>
                        </a:rPr>
                        <a:t>（屏幕箭头 1.17 s）——</a:t>
                      </a:r>
                      <a:r>
                        <a:rPr sz="890" b="1" i="0">
                          <a:solidFill>
                            <a:srgbClr val="1A1A1A"/>
                          </a:solidFill>
                          <a:latin typeface="Microsoft YaHei"/>
                        </a:rPr>
                        <a:t>已越过分心上界</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Kim 与 Gabbard（2019）</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提出 AR-HUD 分心潜势评估方法：</a:t>
                      </a:r>
                      <a:r>
                        <a:rPr sz="890" b="1" i="0">
                          <a:solidFill>
                            <a:srgbClr val="1A1A1A"/>
                          </a:solidFill>
                          <a:latin typeface="Microsoft YaHei"/>
                        </a:rPr>
                        <a:t>中央检测任务 CDT + 周边检测任务 PDT</a:t>
                      </a:r>
                      <a:r>
                        <a:rPr sz="890" b="0" i="0">
                          <a:solidFill>
                            <a:srgbClr val="1A1A1A"/>
                          </a:solidFill>
                          <a:latin typeface="Microsoft YaHei"/>
                        </a:rPr>
                        <a:t> 双指标框架</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Huo 与 Alla（2025）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新手在 AR 系统随机故障时</a:t>
                      </a:r>
                      <a:r>
                        <a:rPr sz="890" b="1" i="0">
                          <a:solidFill>
                            <a:srgbClr val="1A1A1A"/>
                          </a:solidFill>
                          <a:latin typeface="Microsoft YaHei"/>
                        </a:rPr>
                        <a:t>严重反应退化</a:t>
                      </a:r>
                      <a:r>
                        <a:rPr sz="890" b="0" i="0">
                          <a:solidFill>
                            <a:srgbClr val="1A1A1A"/>
                          </a:solidFill>
                          <a:latin typeface="Microsoft YaHei"/>
                        </a:rPr>
                        <a:t>——「AR 依赖性」问题：AR 的收益</a:t>
                      </a:r>
                      <a:r>
                        <a:rPr sz="890" b="1" i="0">
                          <a:solidFill>
                            <a:srgbClr val="1A1A1A"/>
                          </a:solidFill>
                          <a:latin typeface="Microsoft YaHei"/>
                        </a:rPr>
                        <a:t>以系统可靠性为前提</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全文</a:t>
                      </a:r>
                    </a:p>
                  </a:txBody>
                  <a:tcPr marL="66675" marR="66675" marT="42862" marB="42862" anchor="t">
                    <a:noFill/>
                  </a:tcPr>
                </a:tc>
              </a:tr>
            </a:tbl>
          </a:graphicData>
        </a:graphic>
      </p:graphicFrame>
      <p:sp>
        <p:nvSpPr>
          <p:cNvPr id="10" name="Rectangle 9"/>
          <p:cNvSpPr/>
          <p:nvPr/>
        </p:nvSpPr>
        <p:spPr>
          <a:xfrm>
            <a:off x="438150" y="3840360"/>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3840360"/>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3926085"/>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「AR 依赖性」的独立理论意义：</a:t>
            </a:r>
            <a:r>
              <a:rPr sz="990" b="0" i="0">
                <a:solidFill>
                  <a:srgbClr val="7A1F1F"/>
                </a:solidFill>
                <a:latin typeface="Microsoft YaHei"/>
              </a:rPr>
              <a:t>AR-HUD 的收益不是无条件的——</a:t>
            </a:r>
            <a:r>
              <a:rPr sz="990" b="1" i="0">
                <a:solidFill>
                  <a:srgbClr val="7A1F1F"/>
                </a:solidFill>
                <a:latin typeface="Microsoft YaHei"/>
              </a:rPr>
              <a:t>一旦系统失效，依赖 AR 的驾驶员可能比从未使用 AR 者更差</a:t>
            </a:r>
            <a:r>
              <a:rPr sz="990" b="0" i="0">
                <a:solidFill>
                  <a:srgbClr val="7A1F1F"/>
                </a:solidFill>
                <a:latin typeface="Microsoft YaHei"/>
              </a:rPr>
              <a:t>。这与可靠性上界论证相互印证，共同支撑本研究把系统可靠性设为实验 3 自变量的决定。</a:t>
            </a:r>
          </a:p>
        </p:txBody>
      </p:sp>
      <p:sp>
        <p:nvSpPr>
          <p:cNvPr id="13" name="TextBox 1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眼动指标：从单调假设到区间判定</a:t>
            </a:r>
          </a:p>
        </p:txBody>
      </p:sp>
      <p:sp>
        <p:nvSpPr>
          <p:cNvPr id="4" name="Rounded Rectangle 3"/>
          <p:cNvSpPr/>
          <p:nvPr/>
        </p:nvSpPr>
        <p:spPr>
          <a:xfrm>
            <a:off x="11226998" y="209550"/>
            <a:ext cx="526851"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31773" y="238125"/>
            <a:ext cx="355401"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2.3.11</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既有研究几乎全部按</a:t>
            </a:r>
            <a:r>
              <a:rPr sz="1090" b="1" i="0">
                <a:solidFill>
                  <a:srgbClr val="2F528F"/>
                </a:solidFill>
                <a:latin typeface="Microsoft YaHei"/>
              </a:rPr>
              <a:t>单调方向</a:t>
            </a:r>
            <a:r>
              <a:rPr sz="1090" b="0" i="0">
                <a:solidFill>
                  <a:srgbClr val="2F528F"/>
                </a:solidFill>
                <a:latin typeface="Microsoft YaHei"/>
              </a:rPr>
              <a:t>解释眼动指标——TTFF 越短越好、道路注视比例越高越好。</a:t>
            </a:r>
            <a:r>
              <a:rPr sz="1090" b="1" i="0">
                <a:solidFill>
                  <a:srgbClr val="2F528F"/>
                </a:solidFill>
                <a:latin typeface="Microsoft YaHei"/>
              </a:rPr>
              <a:t>这一解释在两端都会失效</a:t>
            </a:r>
            <a:r>
              <a:rPr sz="1090" b="0" i="0">
                <a:solidFill>
                  <a:srgbClr val="2F528F"/>
                </a:solidFill>
                <a:latin typeface="Microsoft YaHei"/>
              </a:rPr>
              <a:t>：TTFF 过短可能是「预期性注视」；总注视时长过短可能是「注意不足」而非「高效」。</a:t>
            </a:r>
          </a:p>
        </p:txBody>
      </p:sp>
      <p:pic>
        <p:nvPicPr>
          <p:cNvPr id="9" name="Picture 8" descr="ch2_fig_eye_metric_bands.png"/>
          <p:cNvPicPr>
            <a:picLocks noChangeAspect="1"/>
          </p:cNvPicPr>
          <p:nvPr/>
        </p:nvPicPr>
        <p:blipFill>
          <a:blip r:embed="rId2"/>
          <a:stretch>
            <a:fillRect/>
          </a:stretch>
        </p:blipFill>
        <p:spPr>
          <a:xfrm>
            <a:off x="826144" y="1551384"/>
            <a:ext cx="10539710" cy="3970734"/>
          </a:xfrm>
          <a:prstGeom prst="rect">
            <a:avLst/>
          </a:prstGeom>
        </p:spPr>
      </p:pic>
      <p:sp>
        <p:nvSpPr>
          <p:cNvPr id="10" name="TextBox 9"/>
          <p:cNvSpPr txBox="1"/>
          <p:nvPr/>
        </p:nvSpPr>
        <p:spPr>
          <a:xfrm>
            <a:off x="2128688" y="5588793"/>
            <a:ext cx="7972573" cy="204192"/>
          </a:xfrm>
          <a:prstGeom prst="rect">
            <a:avLst/>
          </a:prstGeom>
          <a:noFill/>
        </p:spPr>
        <p:txBody>
          <a:bodyPr wrap="square" lIns="0" rIns="0" tIns="0" bIns="0" anchor="t">
            <a:normAutofit/>
          </a:bodyPr>
          <a:lstStyle/>
          <a:p>
            <a:pPr algn="ctr">
              <a:lnSpc>
                <a:spcPct val="150000"/>
              </a:lnSpc>
              <a:spcBef>
                <a:spcPts val="0"/>
              </a:spcBef>
              <a:spcAft>
                <a:spcPts val="0"/>
              </a:spcAft>
            </a:pPr>
            <a:r>
              <a:rPr sz="919" b="0" i="0">
                <a:solidFill>
                  <a:srgbClr val="8C8C8C"/>
                </a:solidFill>
                <a:latin typeface="Microsoft YaHei"/>
              </a:rPr>
              <a:t>图 2-4 门槛值取自 Zhu 等（2025）：TTFF 最优区间 </a:t>
            </a:r>
            <a:r>
              <a:rPr sz="919" b="1" i="0">
                <a:solidFill>
                  <a:srgbClr val="8C8C8C"/>
                </a:solidFill>
                <a:latin typeface="Microsoft YaHei"/>
              </a:rPr>
              <a:t>100–300 ms</a:t>
            </a:r>
            <a:r>
              <a:rPr sz="919" b="0" i="0">
                <a:solidFill>
                  <a:srgbClr val="8C8C8C"/>
                </a:solidFill>
                <a:latin typeface="Microsoft YaHei"/>
              </a:rPr>
              <a:t>；总注视时长最优区间 </a:t>
            </a:r>
            <a:r>
              <a:rPr sz="919" b="1" i="0">
                <a:solidFill>
                  <a:srgbClr val="8C8C8C"/>
                </a:solidFill>
                <a:latin typeface="Microsoft YaHei"/>
              </a:rPr>
              <a:t>500–2 000 ms</a:t>
            </a:r>
            <a:r>
              <a:rPr sz="919" b="0" i="0">
                <a:solidFill>
                  <a:srgbClr val="8C8C8C"/>
                </a:solidFill>
                <a:latin typeface="Microsoft YaHei"/>
              </a:rPr>
              <a:t>（≤ 500 ms 判注意不足，≥ 2 000 ms 判分心）。</a:t>
            </a:r>
          </a:p>
        </p:txBody>
      </p:sp>
      <p:sp>
        <p:nvSpPr>
          <p:cNvPr id="11" name="Rectangle 10"/>
          <p:cNvSpPr/>
          <p:nvPr/>
        </p:nvSpPr>
        <p:spPr>
          <a:xfrm>
            <a:off x="438150" y="5869185"/>
            <a:ext cx="113157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8150" y="5869185"/>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1975" y="5954910"/>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两条须重新表述的既有结论：</a:t>
            </a:r>
            <a:r>
              <a:rPr sz="990" b="0" i="0">
                <a:solidFill>
                  <a:srgbClr val="1F5A1F"/>
                </a:solidFill>
                <a:latin typeface="Microsoft YaHei"/>
              </a:rPr>
              <a:t>① Wu 等（2024）的 BW 条件 617 ms → 「</a:t>
            </a:r>
            <a:r>
              <a:rPr sz="990" b="1" i="0">
                <a:solidFill>
                  <a:srgbClr val="1F5A1F"/>
                </a:solidFill>
                <a:latin typeface="Microsoft YaHei"/>
              </a:rPr>
              <a:t>显著改善但未达最优区间</a:t>
            </a:r>
            <a:r>
              <a:rPr sz="990" b="0" i="0">
                <a:solidFill>
                  <a:srgbClr val="1F5A1F"/>
                </a:solidFill>
                <a:latin typeface="Microsoft YaHei"/>
              </a:rPr>
              <a:t>」；② Gabbard 等（2019）的 3.33 s 注视时长 → 「</a:t>
            </a:r>
            <a:r>
              <a:rPr sz="990" b="1" i="0">
                <a:solidFill>
                  <a:srgbClr val="1F5A1F"/>
                </a:solidFill>
                <a:latin typeface="Microsoft YaHei"/>
              </a:rPr>
              <a:t>已越过 2 000 ms 的分心上界</a:t>
            </a:r>
            <a:r>
              <a:rPr sz="990" b="0" i="0">
                <a:solidFill>
                  <a:srgbClr val="1F5A1F"/>
                </a:solidFill>
                <a:latin typeface="Microsoft YaHei"/>
              </a:rPr>
              <a:t>」。本研究把这一区间判定</a:t>
            </a:r>
            <a:r>
              <a:rPr sz="990" b="1" i="0">
                <a:solidFill>
                  <a:srgbClr val="1F5A1F"/>
                </a:solidFill>
                <a:latin typeface="Microsoft YaHei"/>
              </a:rPr>
              <a:t>写入预注册的判定规则</a:t>
            </a:r>
            <a:r>
              <a:rPr sz="990" b="0" i="0">
                <a:solidFill>
                  <a:srgbClr val="1F5A1F"/>
                </a:solidFill>
                <a:latin typeface="Microsoft YaHei"/>
              </a:rPr>
              <a:t>。</a:t>
            </a:r>
          </a:p>
        </p:txBody>
      </p:sp>
      <p:sp>
        <p:nvSpPr>
          <p:cNvPr id="14" name="TextBox 1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结论不一致的辨析：三类冲突来源</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2.4.1</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0" i="0">
                <a:solidFill>
                  <a:srgbClr val="2F528F"/>
                </a:solidFill>
                <a:latin typeface="Microsoft YaHei"/>
              </a:rPr>
              <a:t>既有综述遇到冲突通常有两种处理：</a:t>
            </a:r>
            <a:r>
              <a:rPr sz="1090" b="1" i="0">
                <a:solidFill>
                  <a:srgbClr val="2F528F"/>
                </a:solidFill>
                <a:latin typeface="Microsoft YaHei"/>
              </a:rPr>
              <a:t>取平均</a:t>
            </a:r>
            <a:r>
              <a:rPr sz="1090" b="0" i="0">
                <a:solidFill>
                  <a:srgbClr val="2F528F"/>
                </a:solidFill>
                <a:latin typeface="Microsoft YaHei"/>
              </a:rPr>
              <a:t>（「综合来看约 3 s」）或</a:t>
            </a:r>
            <a:r>
              <a:rPr sz="1090" b="1" i="0">
                <a:solidFill>
                  <a:srgbClr val="2F528F"/>
                </a:solidFill>
                <a:latin typeface="Microsoft YaHei"/>
              </a:rPr>
              <a:t>回避</a:t>
            </a:r>
            <a:r>
              <a:rPr sz="1090" b="0" i="0">
                <a:solidFill>
                  <a:srgbClr val="2F528F"/>
                </a:solidFill>
                <a:latin typeface="Microsoft YaHei"/>
              </a:rPr>
              <a:t>（只引支持自己设计的一方）。本研究主张第三条路径：</a:t>
            </a:r>
            <a:r>
              <a:rPr sz="1090" b="1" i="0">
                <a:solidFill>
                  <a:srgbClr val="2F528F"/>
                </a:solidFill>
                <a:latin typeface="Microsoft YaHei"/>
              </a:rPr>
              <a:t>把冲突当作调节变量存在的实证信号</a:t>
            </a:r>
            <a:r>
              <a:rPr sz="1090" b="0" i="0">
                <a:solidFill>
                  <a:srgbClr val="2F528F"/>
                </a:solidFill>
                <a:latin typeface="Microsoft YaHei"/>
              </a:rPr>
              <a:t>——若两项研究在同一参数上得出相反结论，则必然存在至少一个未被控制的第三变量；</a:t>
            </a:r>
            <a:r>
              <a:rPr sz="1090" b="1" i="0">
                <a:solidFill>
                  <a:srgbClr val="2F528F"/>
                </a:solidFill>
                <a:latin typeface="Microsoft YaHei"/>
              </a:rPr>
              <a:t>识别这个变量，就等于识别了一个应当纳入设计的维度</a:t>
            </a:r>
            <a:r>
              <a:rPr sz="1090" b="0" i="0">
                <a:solidFill>
                  <a:srgbClr val="2F528F"/>
                </a:solidFill>
                <a:latin typeface="Microsoft YaHei"/>
              </a:rPr>
              <a:t>。</a:t>
            </a:r>
          </a:p>
        </p:txBody>
      </p:sp>
      <p:sp>
        <p:nvSpPr>
          <p:cNvPr id="9" name="Rounded Rectangle 8"/>
          <p:cNvSpPr/>
          <p:nvPr/>
        </p:nvSpPr>
        <p:spPr>
          <a:xfrm>
            <a:off x="438150" y="1551384"/>
            <a:ext cx="3682900" cy="4213026"/>
          </a:xfrm>
          <a:prstGeom prst="roundRect">
            <a:avLst>
              <a:gd name="adj" fmla="val 1810"/>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941909"/>
            <a:ext cx="3378100"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684734"/>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C00000"/>
                </a:solidFill>
                <a:latin typeface="Microsoft YaHei"/>
              </a:rPr>
              <a:t>A 类：条件差异型</a:t>
            </a:r>
          </a:p>
        </p:txBody>
      </p:sp>
      <p:sp>
        <p:nvSpPr>
          <p:cNvPr id="12" name="TextBox 11"/>
          <p:cNvSpPr txBox="1"/>
          <p:nvPr/>
        </p:nvSpPr>
        <p:spPr>
          <a:xfrm>
            <a:off x="590550" y="2027634"/>
            <a:ext cx="3416200"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结论相反，但实验条件（模态、车速、场景、样本）</a:t>
            </a:r>
            <a:r>
              <a:rPr sz="1120" b="1" i="0">
                <a:solidFill>
                  <a:srgbClr val="1A1A1A"/>
                </a:solidFill>
                <a:latin typeface="Microsoft YaHei"/>
              </a:rPr>
              <a:t>系统不同</a:t>
            </a:r>
            <a:r>
              <a:rPr sz="1120" b="0" i="0">
                <a:solidFill>
                  <a:srgbClr val="1A1A1A"/>
                </a:solidFill>
                <a:latin typeface="Microsoft YaHei"/>
              </a:rPr>
              <a:t>。</a:t>
            </a:r>
          </a:p>
        </p:txBody>
      </p:sp>
      <p:sp>
        <p:nvSpPr>
          <p:cNvPr id="13" name="TextBox 12"/>
          <p:cNvSpPr txBox="1"/>
          <p:nvPr/>
        </p:nvSpPr>
        <p:spPr>
          <a:xfrm>
            <a:off x="590550" y="2612231"/>
            <a:ext cx="3416200"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处理：</a:t>
            </a:r>
            <a:r>
              <a:rPr sz="1120" b="0" i="0">
                <a:solidFill>
                  <a:srgbClr val="1A1A1A"/>
                </a:solidFill>
                <a:latin typeface="Microsoft YaHei"/>
              </a:rPr>
              <a:t>把差异条件</a:t>
            </a:r>
            <a:r>
              <a:rPr sz="1120" b="1" i="0">
                <a:solidFill>
                  <a:srgbClr val="1A1A1A"/>
                </a:solidFill>
                <a:latin typeface="Microsoft YaHei"/>
              </a:rPr>
              <a:t>升级为自变量</a:t>
            </a:r>
            <a:r>
              <a:rPr sz="1120" b="0" i="0">
                <a:solidFill>
                  <a:srgbClr val="1A1A1A"/>
                </a:solidFill>
                <a:latin typeface="Microsoft YaHei"/>
              </a:rPr>
              <a:t>，冲突转化为交互效应假设。</a:t>
            </a:r>
          </a:p>
        </p:txBody>
      </p:sp>
      <p:sp>
        <p:nvSpPr>
          <p:cNvPr id="14" name="TextBox 13"/>
          <p:cNvSpPr txBox="1"/>
          <p:nvPr/>
        </p:nvSpPr>
        <p:spPr>
          <a:xfrm>
            <a:off x="590550" y="3196828"/>
            <a:ext cx="3416200"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本领域冲突的主体。</a:t>
            </a:r>
            <a:r>
              <a:rPr sz="1120" b="0" i="0">
                <a:solidFill>
                  <a:srgbClr val="1A1A1A"/>
                </a:solidFill>
                <a:latin typeface="Microsoft YaHei"/>
              </a:rPr>
              <a:t>共同根源是</a:t>
            </a:r>
            <a:r>
              <a:rPr sz="1120" b="1" i="0">
                <a:solidFill>
                  <a:srgbClr val="1A1A1A"/>
                </a:solidFill>
                <a:latin typeface="Microsoft YaHei"/>
              </a:rPr>
              <a:t>未控制的第三变量</a:t>
            </a:r>
            <a:r>
              <a:rPr sz="1120" b="0" i="0">
                <a:solidFill>
                  <a:srgbClr val="1A1A1A"/>
                </a:solidFill>
                <a:latin typeface="Microsoft YaHei"/>
              </a:rPr>
              <a:t>，出现频率最高的两个是「未测量自发察觉时刻」与「未区分信息的互补／冗余关系」。</a:t>
            </a:r>
          </a:p>
        </p:txBody>
      </p:sp>
      <p:sp>
        <p:nvSpPr>
          <p:cNvPr id="15" name="Rounded Rectangle 14"/>
          <p:cNvSpPr/>
          <p:nvPr/>
        </p:nvSpPr>
        <p:spPr>
          <a:xfrm>
            <a:off x="4254400" y="1551384"/>
            <a:ext cx="3683049" cy="4213026"/>
          </a:xfrm>
          <a:prstGeom prst="roundRect">
            <a:avLst>
              <a:gd name="adj" fmla="val 1810"/>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06800" y="1941909"/>
            <a:ext cx="3378249"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06800" y="1684734"/>
            <a:ext cx="3416349"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B 类：记法／口径型</a:t>
            </a:r>
          </a:p>
        </p:txBody>
      </p:sp>
      <p:sp>
        <p:nvSpPr>
          <p:cNvPr id="18" name="TextBox 17"/>
          <p:cNvSpPr txBox="1"/>
          <p:nvPr/>
        </p:nvSpPr>
        <p:spPr>
          <a:xfrm>
            <a:off x="4406800" y="2027634"/>
            <a:ext cx="3416349"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数值相差数倍，但可能只是</a:t>
            </a:r>
            <a:r>
              <a:rPr sz="1120" b="1" i="0">
                <a:solidFill>
                  <a:srgbClr val="1A1A1A"/>
                </a:solidFill>
                <a:latin typeface="Microsoft YaHei"/>
              </a:rPr>
              <a:t>单位、方向、测量对象不同</a:t>
            </a:r>
            <a:r>
              <a:rPr sz="1120" b="0" i="0">
                <a:solidFill>
                  <a:srgbClr val="1A1A1A"/>
                </a:solidFill>
                <a:latin typeface="Microsoft YaHei"/>
              </a:rPr>
              <a:t>。</a:t>
            </a:r>
          </a:p>
        </p:txBody>
      </p:sp>
      <p:sp>
        <p:nvSpPr>
          <p:cNvPr id="19" name="TextBox 18"/>
          <p:cNvSpPr txBox="1"/>
          <p:nvPr/>
        </p:nvSpPr>
        <p:spPr>
          <a:xfrm>
            <a:off x="4406800" y="2612231"/>
            <a:ext cx="3416349"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处理：</a:t>
            </a:r>
            <a:r>
              <a:rPr sz="1120" b="0" i="0">
                <a:solidFill>
                  <a:srgbClr val="1A1A1A"/>
                </a:solidFill>
                <a:latin typeface="Microsoft YaHei"/>
              </a:rPr>
              <a:t>取得全文</a:t>
            </a:r>
            <a:r>
              <a:rPr sz="1120" b="1" i="0">
                <a:solidFill>
                  <a:srgbClr val="1A1A1A"/>
                </a:solidFill>
                <a:latin typeface="Microsoft YaHei"/>
              </a:rPr>
              <a:t>统一口径</a:t>
            </a:r>
            <a:r>
              <a:rPr sz="1120" b="0" i="0">
                <a:solidFill>
                  <a:srgbClr val="1A1A1A"/>
                </a:solidFill>
                <a:latin typeface="Microsoft YaHei"/>
              </a:rPr>
              <a:t>；未统一前</a:t>
            </a:r>
            <a:r>
              <a:rPr sz="1120" b="1" i="0">
                <a:solidFill>
                  <a:srgbClr val="1A1A1A"/>
                </a:solidFill>
                <a:latin typeface="Microsoft YaHei"/>
              </a:rPr>
              <a:t>不得混合引用</a:t>
            </a:r>
            <a:r>
              <a:rPr sz="1120" b="0" i="0">
                <a:solidFill>
                  <a:srgbClr val="1A1A1A"/>
                </a:solidFill>
                <a:latin typeface="Microsoft YaHei"/>
              </a:rPr>
              <a:t>，把不确定性转化为</a:t>
            </a:r>
            <a:r>
              <a:rPr sz="1120" b="1" i="0">
                <a:solidFill>
                  <a:srgbClr val="1A1A1A"/>
                </a:solidFill>
                <a:latin typeface="Microsoft YaHei"/>
              </a:rPr>
              <a:t>敏感性检验</a:t>
            </a:r>
            <a:r>
              <a:rPr sz="1120" b="0" i="0">
                <a:solidFill>
                  <a:srgbClr val="1A1A1A"/>
                </a:solidFill>
                <a:latin typeface="Microsoft YaHei"/>
              </a:rPr>
              <a:t>。</a:t>
            </a:r>
          </a:p>
        </p:txBody>
      </p:sp>
      <p:sp>
        <p:nvSpPr>
          <p:cNvPr id="20" name="TextBox 19"/>
          <p:cNvSpPr txBox="1"/>
          <p:nvPr/>
        </p:nvSpPr>
        <p:spPr>
          <a:xfrm>
            <a:off x="4406800" y="3196828"/>
            <a:ext cx="3416349"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危害被严重低估。</a:t>
            </a:r>
            <a:r>
              <a:rPr sz="1120" b="0" i="0">
                <a:solidFill>
                  <a:srgbClr val="1A1A1A"/>
                </a:solidFill>
                <a:latin typeface="Microsoft YaHei"/>
              </a:rPr>
              <a:t>不透明度的 3 倍冲突与闪烁频率的 8 倍冲突</a:t>
            </a:r>
            <a:r>
              <a:rPr sz="1120" b="1" i="0">
                <a:solidFill>
                  <a:srgbClr val="1A1A1A"/>
                </a:solidFill>
                <a:latin typeface="Microsoft YaHei"/>
              </a:rPr>
              <a:t>都不是科学分歧，而是报告规范缺失的后果</a:t>
            </a:r>
            <a:r>
              <a:rPr sz="1120" b="0" i="0">
                <a:solidFill>
                  <a:srgbClr val="1A1A1A"/>
                </a:solidFill>
                <a:latin typeface="Microsoft YaHei"/>
              </a:rPr>
              <a:t>。</a:t>
            </a:r>
          </a:p>
        </p:txBody>
      </p:sp>
      <p:sp>
        <p:nvSpPr>
          <p:cNvPr id="21" name="Rounded Rectangle 20"/>
          <p:cNvSpPr/>
          <p:nvPr/>
        </p:nvSpPr>
        <p:spPr>
          <a:xfrm>
            <a:off x="8070800" y="1551384"/>
            <a:ext cx="3682900" cy="4213026"/>
          </a:xfrm>
          <a:prstGeom prst="roundRect">
            <a:avLst>
              <a:gd name="adj" fmla="val 1810"/>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223200" y="1941909"/>
            <a:ext cx="33781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3200" y="1684734"/>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C 类：推论过度型</a:t>
            </a:r>
          </a:p>
        </p:txBody>
      </p:sp>
      <p:sp>
        <p:nvSpPr>
          <p:cNvPr id="24" name="TextBox 23"/>
          <p:cNvSpPr txBox="1"/>
          <p:nvPr/>
        </p:nvSpPr>
        <p:spPr>
          <a:xfrm>
            <a:off x="8223200" y="2027634"/>
            <a:ext cx="3416200"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一方的结论</a:t>
            </a:r>
            <a:r>
              <a:rPr sz="1120" b="1" i="0">
                <a:solidFill>
                  <a:srgbClr val="1A1A1A"/>
                </a:solidFill>
                <a:latin typeface="Microsoft YaHei"/>
              </a:rPr>
              <a:t>超出其数据支持范围</a:t>
            </a:r>
            <a:r>
              <a:rPr sz="1120" b="0" i="0">
                <a:solidFill>
                  <a:srgbClr val="1A1A1A"/>
                </a:solidFill>
                <a:latin typeface="Microsoft YaHei"/>
              </a:rPr>
              <a:t>（如由零结果推论显著提升）。</a:t>
            </a:r>
          </a:p>
        </p:txBody>
      </p:sp>
      <p:sp>
        <p:nvSpPr>
          <p:cNvPr id="25" name="TextBox 24"/>
          <p:cNvSpPr txBox="1"/>
          <p:nvPr/>
        </p:nvSpPr>
        <p:spPr>
          <a:xfrm>
            <a:off x="8223200" y="2612231"/>
            <a:ext cx="3416200" cy="282773"/>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处理：</a:t>
            </a:r>
            <a:r>
              <a:rPr sz="1120" b="0" i="0">
                <a:solidFill>
                  <a:srgbClr val="1A1A1A"/>
                </a:solidFill>
                <a:latin typeface="Microsoft YaHei"/>
              </a:rPr>
              <a:t>回到原始数据，</a:t>
            </a:r>
            <a:r>
              <a:rPr sz="1120" b="1" i="0">
                <a:solidFill>
                  <a:srgbClr val="1A1A1A"/>
                </a:solidFill>
                <a:latin typeface="Microsoft YaHei"/>
              </a:rPr>
              <a:t>降级引用</a:t>
            </a:r>
            <a:r>
              <a:rPr sz="1120" b="0" i="0">
                <a:solidFill>
                  <a:srgbClr val="1A1A1A"/>
                </a:solidFill>
                <a:latin typeface="Microsoft YaHei"/>
              </a:rPr>
              <a:t>。</a:t>
            </a:r>
          </a:p>
        </p:txBody>
      </p:sp>
      <p:sp>
        <p:nvSpPr>
          <p:cNvPr id="26" name="TextBox 25"/>
          <p:cNvSpPr txBox="1"/>
          <p:nvPr/>
        </p:nvSpPr>
        <p:spPr>
          <a:xfrm>
            <a:off x="8223200" y="2942629"/>
            <a:ext cx="3416200"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本章已执行三处降级：</a:t>
            </a:r>
            <a:r>
              <a:rPr sz="1120" b="0" i="0">
                <a:solidFill>
                  <a:srgbClr val="1A1A1A"/>
                </a:solidFill>
                <a:latin typeface="Microsoft YaHei"/>
              </a:rPr>
              <a:t>① Wei 等（2025）的信任零结果；② Wang 等（2026）删除的 25.16% 基线；③ 未能溯源的「Bliss 30% 门限」。</a:t>
            </a:r>
          </a:p>
        </p:txBody>
      </p:sp>
      <p:sp>
        <p:nvSpPr>
          <p:cNvPr id="27" name="Rectangle 26"/>
          <p:cNvSpPr/>
          <p:nvPr/>
        </p:nvSpPr>
        <p:spPr>
          <a:xfrm>
            <a:off x="438150" y="5869185"/>
            <a:ext cx="11315700"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38150" y="5869185"/>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1975" y="5954910"/>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本章共辨析 </a:t>
            </a:r>
            <a:r>
              <a:rPr sz="990" b="1" i="0">
                <a:solidFill>
                  <a:srgbClr val="8A6A00"/>
                </a:solidFill>
                <a:latin typeface="Microsoft YaHei"/>
              </a:rPr>
              <a:t>七组主要冲突</a:t>
            </a:r>
            <a:r>
              <a:rPr sz="990" b="1" i="0">
                <a:solidFill>
                  <a:srgbClr val="8A6A00"/>
                </a:solidFill>
                <a:latin typeface="Microsoft YaHei"/>
              </a:rPr>
              <a:t>（§2.4.2–2.4.8）与 </a:t>
            </a:r>
            <a:r>
              <a:rPr sz="990" b="1" i="0">
                <a:solidFill>
                  <a:srgbClr val="8A6A00"/>
                </a:solidFill>
                <a:latin typeface="Microsoft YaHei"/>
              </a:rPr>
              <a:t>四组次级冲突</a:t>
            </a:r>
            <a:r>
              <a:rPr sz="990" b="1" i="0">
                <a:solidFill>
                  <a:srgbClr val="8A6A00"/>
                </a:solidFill>
                <a:latin typeface="Microsoft YaHei"/>
              </a:rPr>
              <a:t>（§2.4.9）</a:t>
            </a:r>
            <a:r>
              <a:rPr sz="990" b="0" i="0">
                <a:solidFill>
                  <a:srgbClr val="6B5200"/>
                </a:solidFill>
                <a:latin typeface="Microsoft YaHei"/>
              </a:rPr>
              <a:t>：提前量效应方向 · TTC 2.5 s 的效应存否 · 级间间隔 0.7 s 的最优性 · 信息完整度 · 图形指向侧 · 不透明度记法 · 频率与占空比的归因｜次级：固定阈值 vs 自适应 · 接触类比 vs 边界框 · 单目 vs 体三维 · 水平面 vs 垂直面</a:t>
            </a:r>
          </a:p>
        </p:txBody>
      </p:sp>
      <p:sp>
        <p:nvSpPr>
          <p:cNvPr id="30" name="TextBox 2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冲突一：提前量效应的方向何以不一致</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2.4.2</a:t>
            </a:r>
          </a:p>
        </p:txBody>
      </p:sp>
      <p:sp>
        <p:nvSpPr>
          <p:cNvPr id="6" name="Rounded Rectangle 5"/>
          <p:cNvSpPr/>
          <p:nvPr/>
        </p:nvSpPr>
        <p:spPr>
          <a:xfrm>
            <a:off x="438150" y="762000"/>
            <a:ext cx="5305425" cy="2969418"/>
          </a:xfrm>
          <a:prstGeom prst="roundRect">
            <a:avLst>
              <a:gd name="adj" fmla="val 2566"/>
            </a:avLst>
          </a:prstGeom>
          <a:solidFill>
            <a:srgbClr val="F3F9F3"/>
          </a:solidFill>
          <a:ln w="1905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9125" y="1715690"/>
            <a:ext cx="4981575" cy="266700"/>
          </a:xfrm>
          <a:prstGeom prst="rect">
            <a:avLst/>
          </a:prstGeom>
          <a:noFill/>
        </p:spPr>
        <p:txBody>
          <a:bodyPr wrap="square" lIns="0" rIns="0" tIns="0" bIns="0" anchor="t">
            <a:normAutofit/>
          </a:bodyPr>
          <a:lstStyle/>
          <a:p>
            <a:pPr algn="l">
              <a:lnSpc>
                <a:spcPct val="125000"/>
              </a:lnSpc>
              <a:spcBef>
                <a:spcPts val="0"/>
              </a:spcBef>
              <a:spcAft>
                <a:spcPts val="0"/>
              </a:spcAft>
            </a:pPr>
            <a:r>
              <a:rPr sz="1280" b="1" i="0">
                <a:solidFill>
                  <a:srgbClr val="3E7D3E"/>
                </a:solidFill>
                <a:latin typeface="Microsoft YaHei"/>
              </a:rPr>
              <a:t>更早更好</a:t>
            </a:r>
          </a:p>
        </p:txBody>
      </p:sp>
      <p:sp>
        <p:nvSpPr>
          <p:cNvPr id="8" name="TextBox 7"/>
          <p:cNvSpPr txBox="1"/>
          <p:nvPr/>
        </p:nvSpPr>
        <p:spPr>
          <a:xfrm>
            <a:off x="619125" y="2039540"/>
            <a:ext cx="4981575" cy="463450"/>
          </a:xfrm>
          <a:prstGeom prst="rect">
            <a:avLst/>
          </a:prstGeom>
          <a:noFill/>
        </p:spPr>
        <p:txBody>
          <a:bodyPr wrap="square" lIns="0" rIns="0" tIns="0" bIns="0" anchor="t">
            <a:normAutofit/>
          </a:bodyPr>
          <a:lstStyle/>
          <a:p>
            <a:pPr algn="l">
              <a:lnSpc>
                <a:spcPct val="168000"/>
              </a:lnSpc>
              <a:spcBef>
                <a:spcPts val="0"/>
              </a:spcBef>
              <a:spcAft>
                <a:spcPts val="0"/>
              </a:spcAft>
            </a:pPr>
            <a:r>
              <a:rPr sz="1019" b="1" i="0">
                <a:solidFill>
                  <a:srgbClr val="1A1A1A"/>
                </a:solidFill>
                <a:latin typeface="Microsoft YaHei"/>
              </a:rPr>
              <a:t>Kang 等（2016）</a:t>
            </a:r>
            <a:r>
              <a:rPr sz="1019" b="0" i="0">
                <a:solidFill>
                  <a:srgbClr val="1A1A1A"/>
                </a:solidFill>
                <a:latin typeface="Microsoft YaHei"/>
              </a:rPr>
              <a:t>：TTC </a:t>
            </a:r>
            <a:r>
              <a:rPr sz="1019" b="1" i="0">
                <a:solidFill>
                  <a:srgbClr val="1A1A1A"/>
                </a:solidFill>
                <a:latin typeface="Microsoft YaHei"/>
              </a:rPr>
              <a:t>4.0 s 优于 2.0 s</a:t>
            </a:r>
            <a:r>
              <a:rPr sz="1019" b="0" i="0">
                <a:solidFill>
                  <a:srgbClr val="1A1A1A"/>
                </a:solidFill>
                <a:latin typeface="Microsoft YaHei"/>
              </a:rPr>
              <a:t>，4.0 s 条件下规避反应更可靠、「更可信、更有用」</a:t>
            </a:r>
            <a:r>
              <a:rPr sz="940" b="0" i="0">
                <a:solidFill>
                  <a:srgbClr val="8C8C8C"/>
                </a:solidFill>
                <a:latin typeface="Microsoft YaHei"/>
              </a:rPr>
              <a:t>（仅摘要）</a:t>
            </a:r>
          </a:p>
        </p:txBody>
      </p:sp>
      <p:sp>
        <p:nvSpPr>
          <p:cNvPr id="9" name="TextBox 8"/>
          <p:cNvSpPr txBox="1"/>
          <p:nvPr/>
        </p:nvSpPr>
        <p:spPr>
          <a:xfrm>
            <a:off x="619125" y="2560141"/>
            <a:ext cx="4981575"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b="1" i="0">
                <a:solidFill>
                  <a:srgbClr val="1A1A1A"/>
                </a:solidFill>
                <a:latin typeface="Microsoft YaHei"/>
              </a:rPr>
              <a:t>关键条件：听觉</a:t>
            </a:r>
            <a:r>
              <a:rPr sz="1019" b="0" i="0">
                <a:solidFill>
                  <a:srgbClr val="1A1A1A"/>
                </a:solidFill>
                <a:latin typeface="Microsoft YaHei"/>
              </a:rPr>
              <a:t>预警；有视觉分心操纵；韩国样本</a:t>
            </a:r>
          </a:p>
        </p:txBody>
      </p:sp>
      <p:sp>
        <p:nvSpPr>
          <p:cNvPr id="10" name="TextBox 9"/>
          <p:cNvSpPr txBox="1"/>
          <p:nvPr/>
        </p:nvSpPr>
        <p:spPr>
          <a:xfrm>
            <a:off x="5743575" y="1809452"/>
            <a:ext cx="742950" cy="903089"/>
          </a:xfrm>
          <a:prstGeom prst="rect">
            <a:avLst/>
          </a:prstGeom>
          <a:noFill/>
        </p:spPr>
        <p:txBody>
          <a:bodyPr wrap="square" lIns="0" rIns="0" tIns="0" bIns="0" anchor="t">
            <a:normAutofit/>
          </a:bodyPr>
          <a:lstStyle/>
          <a:p>
            <a:pPr algn="ctr">
              <a:lnSpc>
                <a:spcPct val="125000"/>
              </a:lnSpc>
              <a:spcBef>
                <a:spcPts val="0"/>
              </a:spcBef>
              <a:spcAft>
                <a:spcPts val="0"/>
              </a:spcAft>
            </a:pPr>
            <a:r>
              <a:rPr sz="2250" b="0" i="0">
                <a:solidFill>
                  <a:srgbClr val="8C8C8C"/>
                </a:solidFill>
                <a:latin typeface="Microsoft YaHei"/>
              </a:rPr>
              <a:t>⟷</a:t>
            </a:r>
          </a:p>
          <a:p>
            <a:pPr algn="ctr">
              <a:lnSpc>
                <a:spcPct val="130000"/>
              </a:lnSpc>
              <a:spcBef>
                <a:spcPts val="0"/>
              </a:spcBef>
              <a:spcAft>
                <a:spcPts val="0"/>
              </a:spcAft>
            </a:pPr>
            <a:r>
              <a:rPr sz="860" b="0" i="0">
                <a:solidFill>
                  <a:srgbClr val="8C8C8C"/>
                </a:solidFill>
                <a:latin typeface="Microsoft YaHei"/>
              </a:rPr>
              <a:t>模态？</a:t>
            </a:r>
          </a:p>
          <a:p>
            <a:pPr algn="ctr">
              <a:lnSpc>
                <a:spcPct val="130000"/>
              </a:lnSpc>
              <a:spcBef>
                <a:spcPts val="0"/>
              </a:spcBef>
              <a:spcAft>
                <a:spcPts val="0"/>
              </a:spcAft>
            </a:pPr>
            <a:r>
              <a:rPr sz="860" b="0" i="0">
                <a:solidFill>
                  <a:srgbClr val="8C8C8C"/>
                </a:solidFill>
                <a:latin typeface="Microsoft YaHei"/>
              </a:rPr>
              <a:t>共形性？</a:t>
            </a:r>
          </a:p>
          <a:p>
            <a:pPr algn="ctr">
              <a:lnSpc>
                <a:spcPct val="130000"/>
              </a:lnSpc>
              <a:spcBef>
                <a:spcPts val="0"/>
              </a:spcBef>
              <a:spcAft>
                <a:spcPts val="0"/>
              </a:spcAft>
            </a:pPr>
            <a:r>
              <a:rPr sz="860" b="0" i="1">
                <a:solidFill>
                  <a:srgbClr val="8C8C8C"/>
                </a:solidFill>
                <a:latin typeface="Microsoft YaHei"/>
              </a:rPr>
              <a:t>Δt</a:t>
            </a:r>
            <a:r>
              <a:rPr sz="860" b="0" i="0">
                <a:solidFill>
                  <a:srgbClr val="8C8C8C"/>
                </a:solidFill>
                <a:latin typeface="Microsoft YaHei"/>
              </a:rPr>
              <a:t>？</a:t>
            </a:r>
          </a:p>
          <a:p>
            <a:pPr algn="ctr">
              <a:lnSpc>
                <a:spcPct val="125000"/>
              </a:lnSpc>
              <a:spcBef>
                <a:spcPts val="0"/>
              </a:spcBef>
              <a:spcAft>
                <a:spcPts val="0"/>
              </a:spcAft>
            </a:pPr>
          </a:p>
        </p:txBody>
      </p:sp>
      <p:sp>
        <p:nvSpPr>
          <p:cNvPr id="11" name="Rounded Rectangle 10"/>
          <p:cNvSpPr/>
          <p:nvPr/>
        </p:nvSpPr>
        <p:spPr>
          <a:xfrm>
            <a:off x="6448425" y="762000"/>
            <a:ext cx="5305425" cy="2969418"/>
          </a:xfrm>
          <a:prstGeom prst="roundRect">
            <a:avLst>
              <a:gd name="adj" fmla="val 2566"/>
            </a:avLst>
          </a:prstGeom>
          <a:solidFill>
            <a:srgbClr val="FDF4F4"/>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29400" y="1583233"/>
            <a:ext cx="4981575" cy="266700"/>
          </a:xfrm>
          <a:prstGeom prst="rect">
            <a:avLst/>
          </a:prstGeom>
          <a:noFill/>
        </p:spPr>
        <p:txBody>
          <a:bodyPr wrap="square" lIns="0" rIns="0" tIns="0" bIns="0" anchor="t">
            <a:normAutofit/>
          </a:bodyPr>
          <a:lstStyle/>
          <a:p>
            <a:pPr algn="l">
              <a:lnSpc>
                <a:spcPct val="125000"/>
              </a:lnSpc>
              <a:spcBef>
                <a:spcPts val="0"/>
              </a:spcBef>
              <a:spcAft>
                <a:spcPts val="0"/>
              </a:spcAft>
            </a:pPr>
            <a:r>
              <a:rPr sz="1280" b="1" i="0">
                <a:solidFill>
                  <a:srgbClr val="C00000"/>
                </a:solidFill>
                <a:latin typeface="Microsoft YaHei"/>
              </a:rPr>
              <a:t>更早更差 / 无增益 / 收益递减</a:t>
            </a:r>
          </a:p>
        </p:txBody>
      </p:sp>
      <p:sp>
        <p:nvSpPr>
          <p:cNvPr id="13" name="TextBox 12"/>
          <p:cNvSpPr txBox="1"/>
          <p:nvPr/>
        </p:nvSpPr>
        <p:spPr>
          <a:xfrm>
            <a:off x="6629400" y="1907083"/>
            <a:ext cx="4981575" cy="463450"/>
          </a:xfrm>
          <a:prstGeom prst="rect">
            <a:avLst/>
          </a:prstGeom>
          <a:noFill/>
        </p:spPr>
        <p:txBody>
          <a:bodyPr wrap="square" lIns="0" rIns="0" tIns="0" bIns="0" anchor="t">
            <a:normAutofit/>
          </a:bodyPr>
          <a:lstStyle/>
          <a:p>
            <a:pPr algn="l">
              <a:lnSpc>
                <a:spcPct val="168000"/>
              </a:lnSpc>
              <a:spcBef>
                <a:spcPts val="0"/>
              </a:spcBef>
              <a:spcAft>
                <a:spcPts val="0"/>
              </a:spcAft>
            </a:pPr>
            <a:r>
              <a:rPr sz="1019" b="1" i="0">
                <a:solidFill>
                  <a:srgbClr val="1A1A1A"/>
                </a:solidFill>
                <a:latin typeface="Microsoft YaHei"/>
              </a:rPr>
              <a:t>Kim 等（2018）</a:t>
            </a:r>
            <a:r>
              <a:rPr sz="1019" b="0" i="0">
                <a:solidFill>
                  <a:srgbClr val="1A1A1A"/>
                </a:solidFill>
                <a:latin typeface="Microsoft YaHei"/>
              </a:rPr>
              <a:t>：TTC </a:t>
            </a:r>
            <a:r>
              <a:rPr sz="1019" b="1" i="0">
                <a:solidFill>
                  <a:srgbClr val="1A1A1A"/>
                </a:solidFill>
                <a:latin typeface="Microsoft YaHei"/>
              </a:rPr>
              <a:t>5.0 s</a:t>
            </a:r>
            <a:r>
              <a:rPr sz="1019" b="0" i="0">
                <a:solidFill>
                  <a:srgbClr val="1A1A1A"/>
                </a:solidFill>
                <a:latin typeface="Microsoft YaHei"/>
              </a:rPr>
              <a:t> 下 BRAKE 文本使峰值减速度较无预警基线</a:t>
            </a:r>
            <a:r>
              <a:rPr sz="1019" b="1" i="0">
                <a:solidFill>
                  <a:srgbClr val="1A1A1A"/>
                </a:solidFill>
                <a:latin typeface="Microsoft YaHei"/>
              </a:rPr>
              <a:t>上升 34.46%</a:t>
            </a:r>
            <a:r>
              <a:rPr sz="1019" b="0" i="0">
                <a:solidFill>
                  <a:srgbClr val="1A1A1A"/>
                </a:solidFill>
                <a:latin typeface="Microsoft YaHei"/>
              </a:rPr>
              <a:t>——</a:t>
            </a:r>
            <a:r>
              <a:rPr sz="1019" b="1" i="0">
                <a:solidFill>
                  <a:srgbClr val="1A1A1A"/>
                </a:solidFill>
                <a:latin typeface="Microsoft YaHei"/>
              </a:rPr>
              <a:t>视觉符号</a:t>
            </a:r>
            <a:r>
              <a:rPr sz="1019" b="0" i="0">
                <a:solidFill>
                  <a:srgbClr val="1A1A1A"/>
                </a:solidFill>
                <a:latin typeface="Microsoft YaHei"/>
              </a:rPr>
              <a:t>预警；24 km/h；实车</a:t>
            </a:r>
          </a:p>
        </p:txBody>
      </p:sp>
      <p:sp>
        <p:nvSpPr>
          <p:cNvPr id="14" name="TextBox 13"/>
          <p:cNvSpPr txBox="1"/>
          <p:nvPr/>
        </p:nvSpPr>
        <p:spPr>
          <a:xfrm>
            <a:off x="6629400" y="2408634"/>
            <a:ext cx="4981575"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b="1" i="0">
                <a:solidFill>
                  <a:srgbClr val="1A1A1A"/>
                </a:solidFill>
                <a:latin typeface="Microsoft YaHei"/>
              </a:rPr>
              <a:t>Wang 等（2025）</a:t>
            </a:r>
            <a:r>
              <a:rPr sz="1019" b="0" i="0">
                <a:solidFill>
                  <a:srgbClr val="1A1A1A"/>
                </a:solidFill>
                <a:latin typeface="Microsoft YaHei"/>
              </a:rPr>
              <a:t>：≤ 5 s </a:t>
            </a:r>
            <a:r>
              <a:rPr sz="1019" b="1" i="0">
                <a:solidFill>
                  <a:srgbClr val="1A1A1A"/>
                </a:solidFill>
                <a:latin typeface="Microsoft YaHei"/>
              </a:rPr>
              <a:t>未显著降低反应时</a:t>
            </a:r>
            <a:r>
              <a:rPr sz="1019" b="0" i="0">
                <a:solidFill>
                  <a:srgbClr val="1A1A1A"/>
                </a:solidFill>
                <a:latin typeface="Microsoft YaHei"/>
              </a:rPr>
              <a:t>（疑似习惯化）——AR-HMD；让行场景</a:t>
            </a:r>
          </a:p>
        </p:txBody>
      </p:sp>
      <p:sp>
        <p:nvSpPr>
          <p:cNvPr id="15" name="TextBox 14"/>
          <p:cNvSpPr txBox="1"/>
          <p:nvPr/>
        </p:nvSpPr>
        <p:spPr>
          <a:xfrm>
            <a:off x="6629400" y="2692747"/>
            <a:ext cx="4981575" cy="246012"/>
          </a:xfrm>
          <a:prstGeom prst="rect">
            <a:avLst/>
          </a:prstGeom>
          <a:noFill/>
        </p:spPr>
        <p:txBody>
          <a:bodyPr wrap="square" lIns="0" rIns="0" tIns="0" bIns="0" anchor="t">
            <a:normAutofit/>
          </a:bodyPr>
          <a:lstStyle/>
          <a:p>
            <a:pPr algn="l">
              <a:lnSpc>
                <a:spcPct val="168000"/>
              </a:lnSpc>
              <a:spcBef>
                <a:spcPts val="0"/>
              </a:spcBef>
              <a:spcAft>
                <a:spcPts val="0"/>
              </a:spcAft>
            </a:pPr>
            <a:r>
              <a:rPr sz="1019" b="1" i="0">
                <a:solidFill>
                  <a:srgbClr val="1A1A1A"/>
                </a:solidFill>
                <a:latin typeface="Microsoft YaHei"/>
              </a:rPr>
              <a:t>Zhang 等（2015）</a:t>
            </a:r>
            <a:r>
              <a:rPr sz="1019" b="0" i="0">
                <a:solidFill>
                  <a:srgbClr val="1A1A1A"/>
                </a:solidFill>
                <a:latin typeface="Microsoft YaHei"/>
              </a:rPr>
              <a:t>：响应潜伏期由 3.0 s 条件的 </a:t>
            </a:r>
            <a:r>
              <a:rPr sz="1019" b="1" i="0">
                <a:solidFill>
                  <a:srgbClr val="1A1A1A"/>
                </a:solidFill>
                <a:latin typeface="Microsoft YaHei"/>
              </a:rPr>
              <a:t>0.5 s</a:t>
            </a:r>
            <a:r>
              <a:rPr sz="1019" b="0" i="0">
                <a:solidFill>
                  <a:srgbClr val="1A1A1A"/>
                </a:solidFill>
                <a:latin typeface="Microsoft YaHei"/>
              </a:rPr>
              <a:t> 增至 5.5 s 条件的 </a:t>
            </a:r>
            <a:r>
              <a:rPr sz="1019" b="1" i="0">
                <a:solidFill>
                  <a:srgbClr val="1A1A1A"/>
                </a:solidFill>
                <a:latin typeface="Microsoft YaHei"/>
              </a:rPr>
              <a:t>2.0 s</a:t>
            </a:r>
          </a:p>
        </p:txBody>
      </p:sp>
      <p:sp>
        <p:nvSpPr>
          <p:cNvPr id="16" name="Rounded Rectangle 15"/>
          <p:cNvSpPr/>
          <p:nvPr/>
        </p:nvSpPr>
        <p:spPr>
          <a:xfrm>
            <a:off x="438150" y="3836193"/>
            <a:ext cx="3682900" cy="1918692"/>
          </a:xfrm>
          <a:prstGeom prst="roundRect">
            <a:avLst>
              <a:gd name="adj" fmla="val 3475"/>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0550" y="4226718"/>
            <a:ext cx="33781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0550" y="3969543"/>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来源 a：模态差异</a:t>
            </a:r>
          </a:p>
        </p:txBody>
      </p:sp>
      <p:sp>
        <p:nvSpPr>
          <p:cNvPr id="19" name="TextBox 18"/>
          <p:cNvSpPr txBox="1"/>
          <p:nvPr/>
        </p:nvSpPr>
        <p:spPr>
          <a:xfrm>
            <a:off x="590550" y="4312443"/>
            <a:ext cx="3416200" cy="1309092"/>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听觉不占用视觉资源，提前呈现代价低。</a:t>
            </a:r>
            <a:r>
              <a:rPr sz="1120" b="1" i="0">
                <a:solidFill>
                  <a:srgbClr val="1A1A1A"/>
                </a:solidFill>
                <a:latin typeface="Microsoft YaHei"/>
              </a:rPr>
              <a:t>视觉符号在缺乏知觉支撑时</a:t>
            </a:r>
            <a:r>
              <a:rPr sz="1120" b="0" i="0">
                <a:solidFill>
                  <a:srgbClr val="1A1A1A"/>
                </a:solidFill>
                <a:latin typeface="Microsoft YaHei"/>
              </a:rPr>
              <a:t>（</a:t>
            </a:r>
            <a:r>
              <a:rPr sz="1120" b="0" i="1">
                <a:solidFill>
                  <a:srgbClr val="1A1A1A"/>
                </a:solidFill>
                <a:latin typeface="Microsoft YaHei"/>
              </a:rPr>
              <a:t>dθ</a:t>
            </a:r>
            <a:r>
              <a:rPr sz="1120" b="0" i="1">
                <a:solidFill>
                  <a:srgbClr val="1A1A1A"/>
                </a:solidFill>
                <a:latin typeface="Microsoft YaHei"/>
              </a:rPr>
              <a:t>/</a:t>
            </a:r>
            <a:r>
              <a:rPr sz="1120" b="0" i="1">
                <a:solidFill>
                  <a:srgbClr val="1A1A1A"/>
                </a:solidFill>
                <a:latin typeface="Microsoft YaHei"/>
              </a:rPr>
              <a:t>dt</a:t>
            </a:r>
            <a:r>
              <a:rPr sz="1120" b="0" i="0">
                <a:solidFill>
                  <a:srgbClr val="1A1A1A"/>
                </a:solidFill>
                <a:latin typeface="Microsoft YaHei"/>
              </a:rPr>
              <a:t> 尚低于 0.003 rad/s）需额外认知转换——驾驶员可辨识指令内容却无法据以判断危险的方位与紧迫度，遂采取</a:t>
            </a:r>
            <a:r>
              <a:rPr sz="1120" b="1" i="0">
                <a:solidFill>
                  <a:srgbClr val="1A1A1A"/>
                </a:solidFill>
                <a:latin typeface="Microsoft YaHei"/>
              </a:rPr>
              <a:t>最保守的最大响应策略</a:t>
            </a:r>
            <a:r>
              <a:rPr sz="1120" b="0" i="0">
                <a:solidFill>
                  <a:srgbClr val="1A1A1A"/>
                </a:solidFill>
                <a:latin typeface="Microsoft YaHei"/>
              </a:rPr>
              <a:t>。</a:t>
            </a:r>
          </a:p>
        </p:txBody>
      </p:sp>
      <p:sp>
        <p:nvSpPr>
          <p:cNvPr id="20" name="Rounded Rectangle 19"/>
          <p:cNvSpPr/>
          <p:nvPr/>
        </p:nvSpPr>
        <p:spPr>
          <a:xfrm>
            <a:off x="4254400" y="3836193"/>
            <a:ext cx="3683049" cy="1918692"/>
          </a:xfrm>
          <a:prstGeom prst="roundRect">
            <a:avLst>
              <a:gd name="adj" fmla="val 3475"/>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406800" y="4226718"/>
            <a:ext cx="3378249"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6800" y="3969543"/>
            <a:ext cx="3416349"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来源 b：共形性差异</a:t>
            </a:r>
          </a:p>
        </p:txBody>
      </p:sp>
      <p:sp>
        <p:nvSpPr>
          <p:cNvPr id="23" name="TextBox 22"/>
          <p:cNvSpPr txBox="1"/>
          <p:nvPr/>
        </p:nvSpPr>
        <p:spPr>
          <a:xfrm>
            <a:off x="4406800" y="4312443"/>
            <a:ext cx="3416349" cy="1045368"/>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在同一研究内部得到验证</a:t>
            </a:r>
            <a:r>
              <a:rPr sz="1120" b="0" i="0">
                <a:solidFill>
                  <a:srgbClr val="1A1A1A"/>
                </a:solidFill>
                <a:latin typeface="Microsoft YaHei"/>
              </a:rPr>
              <a:t>：Kim 等（2018）中</a:t>
            </a:r>
            <a:r>
              <a:rPr sz="1120" b="1" i="0">
                <a:solidFill>
                  <a:srgbClr val="1A1A1A"/>
                </a:solidFill>
                <a:latin typeface="Microsoft YaHei"/>
              </a:rPr>
              <a:t>虚拟阴影在 Far 条件未出现过度反应</a:t>
            </a:r>
            <a:r>
              <a:rPr sz="1120" b="0" i="0">
                <a:solidFill>
                  <a:srgbClr val="1A1A1A"/>
                </a:solidFill>
                <a:latin typeface="Microsoft YaHei"/>
              </a:rPr>
              <a:t>，而 BRAKE 文本出现了。→ 「过早」的代价</a:t>
            </a:r>
            <a:r>
              <a:rPr sz="1120" b="1" i="0">
                <a:solidFill>
                  <a:srgbClr val="1A1A1A"/>
                </a:solidFill>
                <a:latin typeface="Microsoft YaHei"/>
              </a:rPr>
              <a:t>可以被共形性抵消</a:t>
            </a:r>
            <a:r>
              <a:rPr sz="1120" b="0" i="0">
                <a:solidFill>
                  <a:srgbClr val="1A1A1A"/>
                </a:solidFill>
                <a:latin typeface="Microsoft YaHei"/>
              </a:rPr>
              <a:t>（共形图形自带距离与量级线索）。</a:t>
            </a:r>
          </a:p>
        </p:txBody>
      </p:sp>
      <p:sp>
        <p:nvSpPr>
          <p:cNvPr id="24" name="Rounded Rectangle 23"/>
          <p:cNvSpPr/>
          <p:nvPr/>
        </p:nvSpPr>
        <p:spPr>
          <a:xfrm>
            <a:off x="8070800" y="3836193"/>
            <a:ext cx="3682900" cy="1918692"/>
          </a:xfrm>
          <a:prstGeom prst="roundRect">
            <a:avLst>
              <a:gd name="adj" fmla="val 3475"/>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223200" y="4226718"/>
            <a:ext cx="3378100"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3200" y="3969543"/>
            <a:ext cx="34162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来源 c：未控制 </a:t>
            </a:r>
            <a:r>
              <a:rPr sz="1160" b="1" i="1">
                <a:solidFill>
                  <a:srgbClr val="3E7D3E"/>
                </a:solidFill>
                <a:latin typeface="Microsoft YaHei"/>
              </a:rPr>
              <a:t>t</a:t>
            </a:r>
            <a:r>
              <a:rPr sz="810" b="1" i="1" baseline="-25000">
                <a:solidFill>
                  <a:srgbClr val="3E7D3E"/>
                </a:solidFill>
                <a:latin typeface="Microsoft YaHei"/>
              </a:rPr>
              <a:t>0</a:t>
            </a:r>
            <a:r>
              <a:rPr sz="1160" b="1" i="0">
                <a:solidFill>
                  <a:srgbClr val="3E7D3E"/>
                </a:solidFill>
                <a:latin typeface="Microsoft YaHei"/>
              </a:rPr>
              <a:t>（最根本）</a:t>
            </a:r>
          </a:p>
        </p:txBody>
      </p:sp>
      <p:sp>
        <p:nvSpPr>
          <p:cNvPr id="27" name="TextBox 26"/>
          <p:cNvSpPr txBox="1"/>
          <p:nvPr/>
        </p:nvSpPr>
        <p:spPr>
          <a:xfrm>
            <a:off x="8223200" y="4312443"/>
            <a:ext cx="3416200" cy="1337667"/>
          </a:xfrm>
          <a:prstGeom prst="rect">
            <a:avLst/>
          </a:prstGeom>
          <a:noFill/>
        </p:spPr>
        <p:txBody>
          <a:bodyPr wrap="square" lIns="0" rIns="0" tIns="0" bIns="0" anchor="t">
            <a:normAutofit/>
          </a:bodyPr>
          <a:lstStyle/>
          <a:p>
            <a:pPr algn="l">
              <a:lnSpc>
                <a:spcPct val="178000"/>
              </a:lnSpc>
              <a:spcBef>
                <a:spcPts val="0"/>
              </a:spcBef>
              <a:spcAft>
                <a:spcPts val="0"/>
              </a:spcAft>
            </a:pPr>
            <a:r>
              <a:rPr sz="1120" b="0" i="0">
                <a:solidFill>
                  <a:srgbClr val="1A1A1A"/>
                </a:solidFill>
                <a:latin typeface="Microsoft YaHei"/>
              </a:rPr>
              <a:t>三项研究都未测 </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。由 τ 理论：24 km/h 下 </a:t>
            </a:r>
            <a:r>
              <a:rPr sz="1120" b="0" i="1">
                <a:solidFill>
                  <a:srgbClr val="1A1A1A"/>
                </a:solidFill>
                <a:latin typeface="Microsoft YaHei"/>
              </a:rPr>
              <a:t>t</a:t>
            </a:r>
            <a:r>
              <a:rPr sz="790" b="0" i="1" baseline="-25000">
                <a:solidFill>
                  <a:srgbClr val="1A1A1A"/>
                </a:solidFill>
                <a:latin typeface="Microsoft YaHei"/>
              </a:rPr>
              <a:t>0</a:t>
            </a:r>
            <a:r>
              <a:rPr sz="1120" b="0" i="1">
                <a:solidFill>
                  <a:srgbClr val="1A1A1A"/>
                </a:solidFill>
                <a:latin typeface="Microsoft YaHei"/>
              </a:rPr>
              <a:t> ≈ 5.0</a:t>
            </a:r>
            <a:r>
              <a:rPr sz="1120" b="0" i="0">
                <a:solidFill>
                  <a:srgbClr val="1A1A1A"/>
                </a:solidFill>
                <a:latin typeface="Microsoft YaHei"/>
              </a:rPr>
              <a:t> s，60 km/h 下 </a:t>
            </a:r>
            <a:r>
              <a:rPr sz="1120" b="0" i="1">
                <a:solidFill>
                  <a:srgbClr val="1A1A1A"/>
                </a:solidFill>
                <a:latin typeface="Microsoft YaHei"/>
              </a:rPr>
              <a:t>t</a:t>
            </a:r>
            <a:r>
              <a:rPr sz="790" b="0" i="1" baseline="-25000">
                <a:solidFill>
                  <a:srgbClr val="1A1A1A"/>
                </a:solidFill>
                <a:latin typeface="Microsoft YaHei"/>
              </a:rPr>
              <a:t>0</a:t>
            </a:r>
            <a:r>
              <a:rPr sz="1120" b="0" i="1">
                <a:solidFill>
                  <a:srgbClr val="1A1A1A"/>
                </a:solidFill>
                <a:latin typeface="Microsoft YaHei"/>
              </a:rPr>
              <a:t> ≈ 3.2</a:t>
            </a:r>
            <a:r>
              <a:rPr sz="1120" b="0" i="0">
                <a:solidFill>
                  <a:srgbClr val="1A1A1A"/>
                </a:solidFill>
                <a:latin typeface="Microsoft YaHei"/>
              </a:rPr>
              <a:t> s。→ </a:t>
            </a:r>
            <a:r>
              <a:rPr sz="1120" b="1" i="0">
                <a:solidFill>
                  <a:srgbClr val="1A1A1A"/>
                </a:solidFill>
                <a:latin typeface="Microsoft YaHei"/>
              </a:rPr>
              <a:t>Kim 等（2018）的 5.0 s 条件下 </a:t>
            </a:r>
            <a:r>
              <a:rPr sz="1120" b="1" i="1">
                <a:solidFill>
                  <a:srgbClr val="1A1A1A"/>
                </a:solidFill>
                <a:latin typeface="Microsoft YaHei"/>
              </a:rPr>
              <a:t>Δt</a:t>
            </a:r>
            <a:r>
              <a:rPr sz="1120" b="1" i="1">
                <a:solidFill>
                  <a:srgbClr val="1A1A1A"/>
                </a:solidFill>
                <a:latin typeface="Microsoft YaHei"/>
              </a:rPr>
              <a:t> ≈ 0</a:t>
            </a:r>
            <a:r>
              <a:rPr sz="1120" b="1" i="0">
                <a:solidFill>
                  <a:srgbClr val="1A1A1A"/>
                </a:solidFill>
                <a:latin typeface="Microsoft YaHei"/>
              </a:rPr>
              <a:t>（预警与自发察觉几乎同时），而 60 km/h 下同一个 5.0 s 意味着 </a:t>
            </a:r>
            <a:r>
              <a:rPr sz="1120" b="1" i="1">
                <a:solidFill>
                  <a:srgbClr val="1A1A1A"/>
                </a:solidFill>
                <a:latin typeface="Microsoft YaHei"/>
              </a:rPr>
              <a:t>Δt</a:t>
            </a:r>
            <a:r>
              <a:rPr sz="1120" b="1" i="1">
                <a:solidFill>
                  <a:srgbClr val="1A1A1A"/>
                </a:solidFill>
                <a:latin typeface="Microsoft YaHei"/>
              </a:rPr>
              <a:t> ≈ 1.8</a:t>
            </a:r>
            <a:r>
              <a:rPr sz="1120" b="1" i="0">
                <a:solidFill>
                  <a:srgbClr val="1A1A1A"/>
                </a:solidFill>
                <a:latin typeface="Microsoft YaHei"/>
              </a:rPr>
              <a:t> s</a:t>
            </a:r>
            <a:r>
              <a:rPr sz="1120" b="0" i="0">
                <a:solidFill>
                  <a:srgbClr val="1A1A1A"/>
                </a:solidFill>
                <a:latin typeface="Microsoft YaHei"/>
              </a:rPr>
              <a:t>。同一秒数，两种信息增益。</a:t>
            </a:r>
          </a:p>
        </p:txBody>
      </p:sp>
      <p:sp>
        <p:nvSpPr>
          <p:cNvPr id="28" name="Rectangle 27"/>
          <p:cNvSpPr/>
          <p:nvPr/>
        </p:nvSpPr>
        <p:spPr>
          <a:xfrm>
            <a:off x="438150" y="5859660"/>
            <a:ext cx="11315700" cy="598289"/>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8150" y="5859660"/>
            <a:ext cx="38100" cy="598289"/>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1975" y="5945385"/>
            <a:ext cx="11106150" cy="45541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冲突的转化：</a:t>
            </a:r>
            <a:r>
              <a:rPr sz="990" b="0" i="0">
                <a:solidFill>
                  <a:srgbClr val="1F5A1F"/>
                </a:solidFill>
                <a:latin typeface="Microsoft YaHei"/>
              </a:rPr>
              <a:t>把</a:t>
            </a:r>
            <a:r>
              <a:rPr sz="990" b="1" i="0">
                <a:solidFill>
                  <a:srgbClr val="1F5A1F"/>
                </a:solidFill>
                <a:latin typeface="Microsoft YaHei"/>
              </a:rPr>
              <a:t>模态、共形性、相对提前量 </a:t>
            </a:r>
            <a:r>
              <a:rPr sz="990" b="1" i="1">
                <a:solidFill>
                  <a:srgbClr val="1F5A1F"/>
                </a:solidFill>
                <a:latin typeface="Microsoft YaHei"/>
              </a:rPr>
              <a:t>Δt</a:t>
            </a:r>
            <a:r>
              <a:rPr sz="990" b="0" i="0">
                <a:solidFill>
                  <a:srgbClr val="1F5A1F"/>
                </a:solidFill>
                <a:latin typeface="Microsoft YaHei"/>
              </a:rPr>
              <a:t> 三者显式纳入设计。「提前量效应的方向为何」这一在原始形式下不可判定的问题，据此改写为可检验的形式——</a:t>
            </a:r>
            <a:r>
              <a:rPr sz="990" b="1" i="0">
                <a:solidFill>
                  <a:srgbClr val="1F5A1F"/>
                </a:solidFill>
                <a:latin typeface="Microsoft YaHei"/>
              </a:rPr>
              <a:t>在给定的自发察觉基线上，相对提前量取何区间方能产生信息增益而不诱发过度反应？</a:t>
            </a:r>
          </a:p>
        </p:txBody>
      </p:sp>
      <p:sp>
        <p:nvSpPr>
          <p:cNvPr id="31" name="TextBox 30"/>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冲突二与三：TTC 2.5 s 的效应存否与级间间隔 0.7 s 的最优性</a:t>
            </a:r>
          </a:p>
        </p:txBody>
      </p:sp>
      <p:sp>
        <p:nvSpPr>
          <p:cNvPr id="4" name="Rounded Rectangle 3"/>
          <p:cNvSpPr/>
          <p:nvPr/>
        </p:nvSpPr>
        <p:spPr>
          <a:xfrm>
            <a:off x="10975181" y="209550"/>
            <a:ext cx="77866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79956" y="238125"/>
            <a:ext cx="60721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2.4.3–2.4.4</a:t>
            </a:r>
          </a:p>
        </p:txBody>
      </p:sp>
      <p:sp>
        <p:nvSpPr>
          <p:cNvPr id="6" name="Rounded Rectangle 5"/>
          <p:cNvSpPr/>
          <p:nvPr/>
        </p:nvSpPr>
        <p:spPr>
          <a:xfrm>
            <a:off x="438150" y="762000"/>
            <a:ext cx="11315700" cy="2526952"/>
          </a:xfrm>
          <a:prstGeom prst="roundRect">
            <a:avLst>
              <a:gd name="adj" fmla="val 2638"/>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110109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110490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冲突二：TTC 2.5 s 的效应在不同研究间存否不一致</a:t>
            </a:r>
          </a:p>
        </p:txBody>
      </p:sp>
      <p:sp>
        <p:nvSpPr>
          <p:cNvPr id="9" name="Rounded Rectangle 8"/>
          <p:cNvSpPr/>
          <p:nvPr/>
        </p:nvSpPr>
        <p:spPr>
          <a:xfrm>
            <a:off x="590550" y="1238250"/>
            <a:ext cx="5153025" cy="1242863"/>
          </a:xfrm>
          <a:prstGeom prst="roundRect">
            <a:avLst>
              <a:gd name="adj" fmla="val 6131"/>
            </a:avLst>
          </a:prstGeom>
          <a:solidFill>
            <a:srgbClr val="F3F9F3"/>
          </a:solidFill>
          <a:ln w="1905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42950" y="1609725"/>
            <a:ext cx="48482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950" y="1362075"/>
            <a:ext cx="48863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3E7D3E"/>
                </a:solidFill>
                <a:latin typeface="Microsoft YaHei"/>
              </a:rPr>
              <a:t>有效</a:t>
            </a:r>
          </a:p>
        </p:txBody>
      </p:sp>
      <p:sp>
        <p:nvSpPr>
          <p:cNvPr id="12" name="TextBox 11"/>
          <p:cNvSpPr txBox="1"/>
          <p:nvPr/>
        </p:nvSpPr>
        <p:spPr>
          <a:xfrm>
            <a:off x="742950" y="1704975"/>
            <a:ext cx="4886325" cy="680888"/>
          </a:xfrm>
          <a:prstGeom prst="rect">
            <a:avLst/>
          </a:prstGeom>
          <a:noFill/>
        </p:spPr>
        <p:txBody>
          <a:bodyPr wrap="square" lIns="0" rIns="0" tIns="0" bIns="0" anchor="t">
            <a:normAutofit/>
          </a:bodyPr>
          <a:lstStyle/>
          <a:p>
            <a:pPr algn="l">
              <a:lnSpc>
                <a:spcPct val="168000"/>
              </a:lnSpc>
              <a:spcBef>
                <a:spcPts val="0"/>
              </a:spcBef>
              <a:spcAft>
                <a:spcPts val="0"/>
              </a:spcAft>
            </a:pPr>
            <a:r>
              <a:rPr sz="1019" b="0" i="0">
                <a:solidFill>
                  <a:srgbClr val="1A1A1A"/>
                </a:solidFill>
                <a:latin typeface="Microsoft YaHei"/>
              </a:rPr>
              <a:t>Lubbe（2017）Setting 3/4 在 2.5 s 加 HUD 提示，Setting 4 仅 </a:t>
            </a:r>
            <a:r>
              <a:rPr sz="1019" b="1" i="0">
                <a:solidFill>
                  <a:srgbClr val="1A1A1A"/>
                </a:solidFill>
                <a:latin typeface="Microsoft YaHei"/>
              </a:rPr>
              <a:t>1 次</a:t>
            </a:r>
            <a:r>
              <a:rPr sz="1019" b="0" i="0">
                <a:solidFill>
                  <a:srgbClr val="1A1A1A"/>
                </a:solidFill>
                <a:latin typeface="Microsoft YaHei"/>
              </a:rPr>
              <a:t>碰撞；Huo 与 Alla（2025）2.5 s 使危险感知时间 1.20 → </a:t>
            </a:r>
            <a:r>
              <a:rPr sz="1019" b="1" i="0">
                <a:solidFill>
                  <a:srgbClr val="1A1A1A"/>
                </a:solidFill>
                <a:latin typeface="Microsoft YaHei"/>
              </a:rPr>
              <a:t>0.52 s</a:t>
            </a:r>
            <a:r>
              <a:rPr sz="1019" b="0" i="0">
                <a:solidFill>
                  <a:srgbClr val="1A1A1A"/>
                </a:solidFill>
                <a:latin typeface="Microsoft YaHei"/>
              </a:rPr>
              <a:t>（p &lt; .01）</a:t>
            </a:r>
          </a:p>
          <a:p>
            <a:pPr algn="l">
              <a:lnSpc>
                <a:spcPct val="168000"/>
              </a:lnSpc>
              <a:spcBef>
                <a:spcPts val="0"/>
              </a:spcBef>
              <a:spcAft>
                <a:spcPts val="0"/>
              </a:spcAft>
            </a:pPr>
            <a:r>
              <a:rPr sz="1019" b="1" i="0">
                <a:solidFill>
                  <a:srgbClr val="1A1A1A"/>
                </a:solidFill>
                <a:latin typeface="Microsoft YaHei"/>
              </a:rPr>
              <a:t>位置：分级体系的提示级</a:t>
            </a:r>
            <a:r>
              <a:rPr sz="1019" b="0" i="0">
                <a:solidFill>
                  <a:srgbClr val="1A1A1A"/>
                </a:solidFill>
                <a:latin typeface="Microsoft YaHei"/>
              </a:rPr>
              <a:t>，其后还有 1.8 s 临界级 + 触觉脉冲</a:t>
            </a:r>
          </a:p>
        </p:txBody>
      </p:sp>
      <p:sp>
        <p:nvSpPr>
          <p:cNvPr id="13" name="TextBox 12"/>
          <p:cNvSpPr txBox="1"/>
          <p:nvPr/>
        </p:nvSpPr>
        <p:spPr>
          <a:xfrm>
            <a:off x="5743575" y="1541115"/>
            <a:ext cx="742950" cy="665559"/>
          </a:xfrm>
          <a:prstGeom prst="rect">
            <a:avLst/>
          </a:prstGeom>
          <a:noFill/>
        </p:spPr>
        <p:txBody>
          <a:bodyPr wrap="square" lIns="0" rIns="0" tIns="0" bIns="0" anchor="t">
            <a:normAutofit/>
          </a:bodyPr>
          <a:lstStyle/>
          <a:p>
            <a:pPr algn="ctr">
              <a:lnSpc>
                <a:spcPct val="125000"/>
              </a:lnSpc>
              <a:spcBef>
                <a:spcPts val="0"/>
              </a:spcBef>
              <a:spcAft>
                <a:spcPts val="0"/>
              </a:spcAft>
            </a:pPr>
            <a:r>
              <a:rPr sz="1800" b="0" i="0">
                <a:solidFill>
                  <a:srgbClr val="8C8C8C"/>
                </a:solidFill>
                <a:latin typeface="Microsoft YaHei"/>
              </a:rPr>
              <a:t>⟷</a:t>
            </a:r>
          </a:p>
          <a:p>
            <a:pPr algn="ctr">
              <a:lnSpc>
                <a:spcPct val="130000"/>
              </a:lnSpc>
              <a:spcBef>
                <a:spcPts val="0"/>
              </a:spcBef>
              <a:spcAft>
                <a:spcPts val="0"/>
              </a:spcAft>
            </a:pPr>
            <a:r>
              <a:rPr sz="860" b="0" i="0">
                <a:solidFill>
                  <a:srgbClr val="8C8C8C"/>
                </a:solidFill>
                <a:latin typeface="Microsoft YaHei"/>
              </a:rPr>
              <a:t>在体系中的</a:t>
            </a:r>
          </a:p>
          <a:p>
            <a:pPr algn="ctr">
              <a:lnSpc>
                <a:spcPct val="130000"/>
              </a:lnSpc>
              <a:spcBef>
                <a:spcPts val="0"/>
              </a:spcBef>
              <a:spcAft>
                <a:spcPts val="0"/>
              </a:spcAft>
            </a:pPr>
            <a:r>
              <a:rPr sz="860" b="0" i="0">
                <a:solidFill>
                  <a:srgbClr val="8C8C8C"/>
                </a:solidFill>
                <a:latin typeface="Microsoft YaHei"/>
              </a:rPr>
              <a:t>位置不同</a:t>
            </a:r>
          </a:p>
          <a:p>
            <a:pPr algn="ctr">
              <a:lnSpc>
                <a:spcPct val="125000"/>
              </a:lnSpc>
              <a:spcBef>
                <a:spcPts val="0"/>
              </a:spcBef>
              <a:spcAft>
                <a:spcPts val="0"/>
              </a:spcAft>
            </a:pPr>
          </a:p>
        </p:txBody>
      </p:sp>
      <p:sp>
        <p:nvSpPr>
          <p:cNvPr id="14" name="Rounded Rectangle 13"/>
          <p:cNvSpPr/>
          <p:nvPr/>
        </p:nvSpPr>
        <p:spPr>
          <a:xfrm>
            <a:off x="6448425" y="1238250"/>
            <a:ext cx="5153025" cy="1242863"/>
          </a:xfrm>
          <a:prstGeom prst="roundRect">
            <a:avLst>
              <a:gd name="adj" fmla="val 6131"/>
            </a:avLst>
          </a:prstGeom>
          <a:solidFill>
            <a:srgbClr val="FDF4F4"/>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600825" y="1718369"/>
            <a:ext cx="48482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0825" y="1470719"/>
            <a:ext cx="4886325" cy="238125"/>
          </a:xfrm>
          <a:prstGeom prst="rect">
            <a:avLst/>
          </a:prstGeom>
          <a:noFill/>
        </p:spPr>
        <p:txBody>
          <a:bodyPr wrap="square" lIns="0" rIns="0" tIns="0" bIns="0" anchor="t">
            <a:normAutofit/>
          </a:bodyPr>
          <a:lstStyle/>
          <a:p>
            <a:pPr algn="l">
              <a:lnSpc>
                <a:spcPct val="125000"/>
              </a:lnSpc>
              <a:spcBef>
                <a:spcPts val="0"/>
              </a:spcBef>
              <a:spcAft>
                <a:spcPts val="0"/>
              </a:spcAft>
            </a:pPr>
            <a:r>
              <a:rPr sz="1120" b="1" i="0">
                <a:solidFill>
                  <a:srgbClr val="C00000"/>
                </a:solidFill>
                <a:latin typeface="Microsoft YaHei"/>
              </a:rPr>
              <a:t>无效</a:t>
            </a:r>
          </a:p>
        </p:txBody>
      </p:sp>
      <p:sp>
        <p:nvSpPr>
          <p:cNvPr id="17" name="TextBox 16"/>
          <p:cNvSpPr txBox="1"/>
          <p:nvPr/>
        </p:nvSpPr>
        <p:spPr>
          <a:xfrm>
            <a:off x="6600825" y="1813619"/>
            <a:ext cx="4886325" cy="463450"/>
          </a:xfrm>
          <a:prstGeom prst="rect">
            <a:avLst/>
          </a:prstGeom>
          <a:noFill/>
        </p:spPr>
        <p:txBody>
          <a:bodyPr wrap="square" lIns="0" rIns="0" tIns="0" bIns="0" anchor="t">
            <a:normAutofit/>
          </a:bodyPr>
          <a:lstStyle/>
          <a:p>
            <a:pPr algn="l">
              <a:lnSpc>
                <a:spcPct val="168000"/>
              </a:lnSpc>
              <a:spcBef>
                <a:spcPts val="0"/>
              </a:spcBef>
              <a:spcAft>
                <a:spcPts val="0"/>
              </a:spcAft>
            </a:pPr>
            <a:r>
              <a:rPr sz="1019" b="0" i="0">
                <a:solidFill>
                  <a:srgbClr val="1A1A1A"/>
                </a:solidFill>
                <a:latin typeface="Microsoft YaHei"/>
              </a:rPr>
              <a:t>Zhang 等（2015）：2.5 s 在</a:t>
            </a:r>
            <a:r>
              <a:rPr sz="1019" b="1" i="0">
                <a:solidFill>
                  <a:srgbClr val="1A1A1A"/>
                </a:solidFill>
                <a:latin typeface="Microsoft YaHei"/>
              </a:rPr>
              <a:t>全部时间切片上与无预警无显著差异</a:t>
            </a:r>
            <a:r>
              <a:rPr sz="1019" b="0" i="0">
                <a:solidFill>
                  <a:srgbClr val="1A1A1A"/>
                </a:solidFill>
                <a:latin typeface="Microsoft YaHei"/>
              </a:rPr>
              <a:t>，碰撞率 29.4%</a:t>
            </a:r>
          </a:p>
          <a:p>
            <a:pPr algn="l">
              <a:lnSpc>
                <a:spcPct val="168000"/>
              </a:lnSpc>
              <a:spcBef>
                <a:spcPts val="0"/>
              </a:spcBef>
              <a:spcAft>
                <a:spcPts val="0"/>
              </a:spcAft>
            </a:pPr>
            <a:r>
              <a:rPr sz="1019" b="1" i="0">
                <a:solidFill>
                  <a:srgbClr val="1A1A1A"/>
                </a:solidFill>
                <a:latin typeface="Microsoft YaHei"/>
              </a:rPr>
              <a:t>位置：唯一一次预警</a:t>
            </a:r>
            <a:r>
              <a:rPr sz="1019" b="0" i="0">
                <a:solidFill>
                  <a:srgbClr val="1A1A1A"/>
                </a:solidFill>
                <a:latin typeface="Microsoft YaHei"/>
              </a:rPr>
              <a:t>，无后续升级</a:t>
            </a:r>
          </a:p>
        </p:txBody>
      </p:sp>
      <p:sp>
        <p:nvSpPr>
          <p:cNvPr id="18" name="Rectangle 17"/>
          <p:cNvSpPr/>
          <p:nvPr/>
        </p:nvSpPr>
        <p:spPr>
          <a:xfrm>
            <a:off x="590550" y="2566838"/>
            <a:ext cx="110109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90550" y="2566838"/>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4375" y="2652563"/>
            <a:ext cx="108013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提炼出的关键推论：单层预警的有效阈值高于分层预警中任一级的阈值。</a:t>
            </a:r>
            <a:r>
              <a:rPr sz="990" b="0" i="0">
                <a:solidFill>
                  <a:srgbClr val="1F5A1F"/>
                </a:solidFill>
                <a:latin typeface="Microsoft YaHei"/>
              </a:rPr>
              <a:t>分层之所以能把临界级设在 1.8–2.0 s，是因为提示级已完成 Scanning 与 Identifying；单层必须在一次呈现中完成全部五个阶段。</a:t>
            </a:r>
            <a:r>
              <a:rPr sz="990" b="1" i="0">
                <a:solidFill>
                  <a:srgbClr val="1F5A1F"/>
                </a:solidFill>
                <a:latin typeface="Microsoft YaHei"/>
              </a:rPr>
              <a:t>→ 这条推论直接构成实验 3 的立论基础，也解释了为什么实验 3 必须保留「实验 2 入选的最优单层方案」作为对照，而不是与一个刻意削弱的基线对比。</a:t>
            </a:r>
          </a:p>
        </p:txBody>
      </p:sp>
      <p:sp>
        <p:nvSpPr>
          <p:cNvPr id="21" name="Rounded Rectangle 20"/>
          <p:cNvSpPr/>
          <p:nvPr/>
        </p:nvSpPr>
        <p:spPr>
          <a:xfrm>
            <a:off x="438150" y="3412777"/>
            <a:ext cx="11315700" cy="2716410"/>
          </a:xfrm>
          <a:prstGeom prst="roundRect">
            <a:avLst>
              <a:gd name="adj" fmla="val 2454"/>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90550" y="3803302"/>
            <a:ext cx="11010900"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0550" y="3546127"/>
            <a:ext cx="110490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冲突三：级间间隔 0.7 s 的最优性存在分歧</a:t>
            </a:r>
          </a:p>
        </p:txBody>
      </p:sp>
      <p:sp>
        <p:nvSpPr>
          <p:cNvPr id="24" name="TextBox 23"/>
          <p:cNvSpPr txBox="1"/>
          <p:nvPr/>
        </p:nvSpPr>
        <p:spPr>
          <a:xfrm>
            <a:off x="600075" y="3889027"/>
            <a:ext cx="11039475"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0.7 s 是孤证而非最优值</a:t>
            </a:r>
            <a:r>
              <a:rPr sz="1019" b="0" i="0">
                <a:solidFill>
                  <a:srgbClr val="1A1A1A"/>
                </a:solidFill>
                <a:latin typeface="Microsoft YaHei"/>
              </a:rPr>
              <a:t>：Lubbe（2017）的 0.7 s </a:t>
            </a:r>
            <a:r>
              <a:rPr sz="1019" b="1" i="0">
                <a:solidFill>
                  <a:srgbClr val="1A1A1A"/>
                </a:solidFill>
                <a:latin typeface="Microsoft YaHei"/>
              </a:rPr>
              <a:t>从未与其他间隔对照</a:t>
            </a:r>
            <a:r>
              <a:rPr sz="1019" b="0" i="0">
                <a:solidFill>
                  <a:srgbClr val="1A1A1A"/>
                </a:solidFill>
                <a:latin typeface="Microsoft YaHei"/>
              </a:rPr>
              <a:t>——它是该研究采用的</a:t>
            </a:r>
            <a:r>
              <a:rPr sz="1019" b="1" i="0">
                <a:solidFill>
                  <a:srgbClr val="1A1A1A"/>
                </a:solidFill>
                <a:latin typeface="Microsoft YaHei"/>
              </a:rPr>
              <a:t>唯一一个</a:t>
            </a:r>
            <a:r>
              <a:rPr sz="1019" b="0" i="0">
                <a:solidFill>
                  <a:srgbClr val="1A1A1A"/>
                </a:solidFill>
                <a:latin typeface="Microsoft YaHei"/>
              </a:rPr>
              <a:t>级间间隔。「0.7 s 有效」只能读作「不至于失效」，</a:t>
            </a:r>
            <a:r>
              <a:rPr sz="1019" b="1" i="0">
                <a:solidFill>
                  <a:srgbClr val="1A1A1A"/>
                </a:solidFill>
                <a:latin typeface="Microsoft YaHei"/>
              </a:rPr>
              <a:t>不能读作「最优」</a:t>
            </a:r>
            <a:r>
              <a:rPr sz="1019" b="0" i="0">
                <a:solidFill>
                  <a:srgbClr val="1A1A1A"/>
                </a:solidFill>
                <a:latin typeface="Microsoft YaHei"/>
              </a:rPr>
              <a:t>。既有综述把它当最优值引用，属于把单点证据外推为最优点。</a:t>
            </a:r>
          </a:p>
        </p:txBody>
      </p:sp>
      <p:sp>
        <p:nvSpPr>
          <p:cNvPr id="25" name="TextBox 24"/>
          <p:cNvSpPr txBox="1"/>
          <p:nvPr/>
        </p:nvSpPr>
        <p:spPr>
          <a:xfrm>
            <a:off x="600075" y="4366468"/>
            <a:ext cx="11039475" cy="253007"/>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本研究的工作假设指向 1.0 s</a:t>
            </a:r>
            <a:r>
              <a:rPr sz="1019" b="0" i="0">
                <a:solidFill>
                  <a:srgbClr val="1A1A1A"/>
                </a:solidFill>
                <a:latin typeface="Microsoft YaHei"/>
              </a:rPr>
              <a:t>：L1 需承担 Scanning + Identifying，</a:t>
            </a:r>
            <a:r>
              <a:rPr sz="1019" b="0" i="1">
                <a:solidFill>
                  <a:srgbClr val="1A1A1A"/>
                </a:solidFill>
                <a:latin typeface="Microsoft YaHei"/>
              </a:rPr>
              <a:t>S</a:t>
            </a:r>
            <a:r>
              <a:rPr sz="1019" b="0" i="1">
                <a:solidFill>
                  <a:srgbClr val="1A1A1A"/>
                </a:solidFill>
                <a:latin typeface="Microsoft YaHei"/>
              </a:rPr>
              <a:t> + </a:t>
            </a:r>
            <a:r>
              <a:rPr sz="1019" b="0" i="1">
                <a:solidFill>
                  <a:srgbClr val="1A1A1A"/>
                </a:solidFill>
                <a:latin typeface="Microsoft YaHei"/>
              </a:rPr>
              <a:t>I</a:t>
            </a:r>
            <a:r>
              <a:rPr sz="1019" b="0" i="1">
                <a:solidFill>
                  <a:srgbClr val="1A1A1A"/>
                </a:solidFill>
                <a:latin typeface="Microsoft YaHei"/>
              </a:rPr>
              <a:t> ≈ 0.9</a:t>
            </a:r>
            <a:r>
              <a:rPr sz="1019" b="0" i="0">
                <a:solidFill>
                  <a:srgbClr val="1A1A1A"/>
                </a:solidFill>
                <a:latin typeface="Microsoft YaHei"/>
              </a:rPr>
              <a:t>–1.2 s；短于此则两级警告可能在知觉上</a:t>
            </a:r>
            <a:r>
              <a:rPr sz="1019" b="1" i="0">
                <a:solidFill>
                  <a:srgbClr val="1A1A1A"/>
                </a:solidFill>
                <a:latin typeface="Microsoft YaHei"/>
              </a:rPr>
              <a:t>融合为单一刺激</a:t>
            </a:r>
            <a:r>
              <a:rPr sz="1019" b="0" i="0">
                <a:solidFill>
                  <a:srgbClr val="1A1A1A"/>
                </a:solidFill>
                <a:latin typeface="Microsoft YaHei"/>
              </a:rPr>
              <a:t>，分层的语义结构失效。</a:t>
            </a:r>
          </a:p>
        </p:txBody>
      </p:sp>
      <p:sp>
        <p:nvSpPr>
          <p:cNvPr id="26" name="TextBox 25"/>
          <p:cNvSpPr txBox="1"/>
          <p:nvPr/>
        </p:nvSpPr>
        <p:spPr>
          <a:xfrm>
            <a:off x="600075" y="4638526"/>
            <a:ext cx="11039475"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 必须声明的降级</a:t>
            </a:r>
            <a:r>
              <a:rPr sz="1019" b="0" i="0">
                <a:solidFill>
                  <a:srgbClr val="1A1A1A"/>
                </a:solidFill>
                <a:latin typeface="Microsoft YaHei"/>
              </a:rPr>
              <a:t>：该推导</a:t>
            </a:r>
            <a:r>
              <a:rPr sz="1019" b="1" i="0">
                <a:solidFill>
                  <a:srgbClr val="1A1A1A"/>
                </a:solidFill>
                <a:latin typeface="Microsoft YaHei"/>
              </a:rPr>
              <a:t>不是 SPIDER 原文参数</a:t>
            </a:r>
            <a:r>
              <a:rPr sz="1019" b="0" i="0">
                <a:solidFill>
                  <a:srgbClr val="1A1A1A"/>
                </a:solidFill>
                <a:latin typeface="Microsoft YaHei"/>
              </a:rPr>
              <a:t>。1.0 s 的</a:t>
            </a:r>
            <a:r>
              <a:rPr sz="1019" b="1" i="0">
                <a:solidFill>
                  <a:srgbClr val="1A1A1A"/>
                </a:solidFill>
                <a:latin typeface="Microsoft YaHei"/>
              </a:rPr>
              <a:t>主要依据应是工程证据</a:t>
            </a:r>
            <a:r>
              <a:rPr sz="1019" b="0" i="0">
                <a:solidFill>
                  <a:srgbClr val="1A1A1A"/>
                </a:solidFill>
                <a:latin typeface="Microsoft YaHei"/>
              </a:rPr>
              <a:t>——Daimler 级联第二级间隔恰为 1.0 s、Suzuki 等档距恰为 1.0 s，</a:t>
            </a:r>
            <a:r>
              <a:rPr sz="1019" b="1" i="0">
                <a:solidFill>
                  <a:srgbClr val="1A1A1A"/>
                </a:solidFill>
                <a:latin typeface="Microsoft YaHei"/>
              </a:rPr>
              <a:t>两个独立来源在同一数值上汇合</a:t>
            </a:r>
            <a:r>
              <a:rPr sz="1019" b="0" i="0">
                <a:solidFill>
                  <a:srgbClr val="1A1A1A"/>
                </a:solidFill>
                <a:latin typeface="Microsoft YaHei"/>
              </a:rPr>
              <a:t>；SPIDER 推导只作事后的机制解释。</a:t>
            </a:r>
          </a:p>
        </p:txBody>
      </p:sp>
      <p:sp>
        <p:nvSpPr>
          <p:cNvPr id="27" name="TextBox 26"/>
          <p:cNvSpPr txBox="1"/>
          <p:nvPr/>
        </p:nvSpPr>
        <p:spPr>
          <a:xfrm>
            <a:off x="600075" y="5115966"/>
            <a:ext cx="1103947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新提炼的规律</a:t>
            </a:r>
            <a:r>
              <a:rPr sz="1019" b="0" i="0">
                <a:solidFill>
                  <a:srgbClr val="1A1A1A"/>
                </a:solidFill>
                <a:latin typeface="Microsoft YaHei"/>
              </a:rPr>
              <a:t>：级间间隔</a:t>
            </a:r>
            <a:r>
              <a:rPr sz="1019" b="1" i="0">
                <a:solidFill>
                  <a:srgbClr val="1A1A1A"/>
                </a:solidFill>
                <a:latin typeface="Microsoft YaHei"/>
              </a:rPr>
              <a:t>随紧迫度单调缩短</a:t>
            </a:r>
            <a:r>
              <a:rPr sz="1019" b="0" i="0">
                <a:solidFill>
                  <a:srgbClr val="1A1A1A"/>
                </a:solidFill>
                <a:latin typeface="Microsoft YaHei"/>
              </a:rPr>
              <a:t>（Daimler 1.4 → 1.0 → 0.5 s）；与 Takada 等（2014）2 : 1 滞环「避免极短促报警」从两个方向界定同一约束。</a:t>
            </a:r>
          </a:p>
        </p:txBody>
      </p:sp>
      <p:sp>
        <p:nvSpPr>
          <p:cNvPr id="28" name="Rectangle 27"/>
          <p:cNvSpPr/>
          <p:nvPr/>
        </p:nvSpPr>
        <p:spPr>
          <a:xfrm>
            <a:off x="590550" y="5407074"/>
            <a:ext cx="110109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90550" y="5407074"/>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4375" y="5492799"/>
            <a:ext cx="108013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转化：</a:t>
            </a:r>
            <a:r>
              <a:rPr sz="990" b="0" i="0">
                <a:solidFill>
                  <a:srgbClr val="1F5A1F"/>
                </a:solidFill>
                <a:latin typeface="Microsoft YaHei"/>
              </a:rPr>
              <a:t>三水平取值保留（0.7 / 1.0 / 1.5 s），但论证方式从「取自 Lubbe + 两侧插值」改为「</a:t>
            </a:r>
            <a:r>
              <a:rPr sz="990" b="1" i="0">
                <a:solidFill>
                  <a:srgbClr val="1F5A1F"/>
                </a:solidFill>
                <a:latin typeface="Microsoft YaHei"/>
              </a:rPr>
              <a:t>四源共同界定的区间 0.5–2.0 s 的中段 + 双源支持的 1.0 s 中心值 + 单调缩短规律</a:t>
            </a:r>
            <a:r>
              <a:rPr sz="990" b="0" i="0">
                <a:solidFill>
                  <a:srgbClr val="1F5A1F"/>
                </a:solidFill>
                <a:latin typeface="Microsoft YaHei"/>
              </a:rPr>
              <a:t>」。理论定位：0.7 s 短于加工窗口（检验融合下界）· 1.0 s 恰好覆盖（理论中心）· 1.5 s 长于窗口（检验收益递减）。</a:t>
            </a:r>
          </a:p>
        </p:txBody>
      </p:sp>
      <p:sp>
        <p:nvSpPr>
          <p:cNvPr id="31" name="TextBox 30"/>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冲突四与五：信息完整度与图形指向侧</a:t>
            </a:r>
          </a:p>
        </p:txBody>
      </p:sp>
      <p:sp>
        <p:nvSpPr>
          <p:cNvPr id="4" name="Rounded Rectangle 3"/>
          <p:cNvSpPr/>
          <p:nvPr/>
        </p:nvSpPr>
        <p:spPr>
          <a:xfrm>
            <a:off x="10975181" y="209550"/>
            <a:ext cx="778668"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79956" y="238125"/>
            <a:ext cx="607218"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2.4.5–2.4.6</a:t>
            </a:r>
          </a:p>
        </p:txBody>
      </p:sp>
      <p:sp>
        <p:nvSpPr>
          <p:cNvPr id="6" name="Rounded Rectangle 5"/>
          <p:cNvSpPr/>
          <p:nvPr/>
        </p:nvSpPr>
        <p:spPr>
          <a:xfrm>
            <a:off x="438150" y="762000"/>
            <a:ext cx="11315700" cy="3001565"/>
          </a:xfrm>
          <a:prstGeom prst="roundRect">
            <a:avLst>
              <a:gd name="adj" fmla="val 2221"/>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110109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110490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冲突四：信息越完整越好还是越少越好？</a:t>
            </a:r>
          </a:p>
        </p:txBody>
      </p:sp>
      <p:graphicFrame>
        <p:nvGraphicFramePr>
          <p:cNvPr id="9" name="Table 8"/>
          <p:cNvGraphicFramePr>
            <a:graphicFrameLocks noGrp="1"/>
          </p:cNvGraphicFramePr>
          <p:nvPr/>
        </p:nvGraphicFramePr>
        <p:xfrm>
          <a:off x="590550" y="1238250"/>
          <a:ext cx="11010897" cy="1513579"/>
        </p:xfrm>
        <a:graphic>
          <a:graphicData uri="http://schemas.openxmlformats.org/drawingml/2006/table">
            <a:tbl>
              <a:tblPr>
                <a:tableStyleId>{5C22544A-7EE6-4342-B048-85BDC9FD1C3A}</a:tableStyleId>
              </a:tblPr>
              <a:tblGrid>
                <a:gridCol w="2202060"/>
                <a:gridCol w="3303240"/>
                <a:gridCol w="1541412"/>
                <a:gridCol w="3964185"/>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来源</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结论</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驾驶模式</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信息关系</a:t>
                      </a:r>
                    </a:p>
                  </a:txBody>
                  <a:tcPr marL="66675" marR="66675" marT="52387" marB="52387" anchor="t">
                    <a:solidFill>
                      <a:srgbClr val="4472C4"/>
                    </a:solidFill>
                  </a:tcPr>
                </a:tc>
              </a:tr>
              <a:tr h="438745">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Wang 等（2024）DSID</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信息越完整越好</a:t>
                      </a:r>
                      <a:r>
                        <a:rPr sz="890" b="0" i="0">
                          <a:solidFill>
                            <a:srgbClr val="1A1A1A"/>
                          </a:solidFill>
                          <a:latin typeface="Microsoft YaHei"/>
                        </a:rPr>
                        <a:t>：三元素俱全者最好；同时提升 SA 与避险能力、</a:t>
                      </a:r>
                      <a:r>
                        <a:rPr sz="890" b="1" i="0">
                          <a:solidFill>
                            <a:srgbClr val="1A1A1A"/>
                          </a:solidFill>
                          <a:latin typeface="Microsoft YaHei"/>
                        </a:rPr>
                        <a:t>降低</a:t>
                      </a:r>
                      <a:r>
                        <a:rPr sz="890" b="0" i="0">
                          <a:solidFill>
                            <a:srgbClr val="1A1A1A"/>
                          </a:solidFill>
                          <a:latin typeface="Microsoft YaHei"/>
                        </a:rPr>
                        <a:t>负荷</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手动驾驶</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互补功能</a:t>
                      </a:r>
                      <a:r>
                        <a:rPr sz="890" b="0" i="0">
                          <a:solidFill>
                            <a:srgbClr val="1A1A1A"/>
                          </a:solidFill>
                          <a:latin typeface="Microsoft YaHei"/>
                        </a:rPr>
                        <a:t>（预警 + 空间 + 速度，各回答不同问题）</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Wei 等（2025）</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E0A100"/>
                          </a:solidFill>
                          <a:latin typeface="Microsoft YaHei"/>
                        </a:rPr>
                        <a:t>信息越少负荷越低</a:t>
                      </a:r>
                      <a:r>
                        <a:rPr sz="890" b="0" i="0">
                          <a:solidFill>
                            <a:srgbClr val="1A1A1A"/>
                          </a:solidFill>
                          <a:latin typeface="Microsoft YaHei"/>
                        </a:rPr>
                        <a:t>：组合间信任</a:t>
                      </a:r>
                      <a:r>
                        <a:rPr sz="890" b="1" i="0">
                          <a:solidFill>
                            <a:srgbClr val="1A1A1A"/>
                          </a:solidFill>
                          <a:latin typeface="Microsoft YaHei"/>
                        </a:rPr>
                        <a:t>无显著差异</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自动驾驶</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同类冗余</a:t>
                      </a:r>
                      <a:r>
                        <a:rPr sz="890" b="0" i="0">
                          <a:solidFill>
                            <a:srgbClr val="1A1A1A"/>
                          </a:solidFill>
                          <a:latin typeface="Microsoft YaHei"/>
                        </a:rPr>
                        <a:t>（三种轨迹／视野信息回答同一问题）</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Chen 等（2024b）</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同色 Equivalent 在新手中可能比无警告更差</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手动驾驶</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同类冗余（多个等价高亮）</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Li 等（2025b）</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冗余界面在</a:t>
                      </a:r>
                      <a:r>
                        <a:rPr sz="890" b="1" i="0">
                          <a:solidFill>
                            <a:srgbClr val="1A1A1A"/>
                          </a:solidFill>
                          <a:latin typeface="Microsoft YaHei"/>
                        </a:rPr>
                        <a:t>主观可用性</a:t>
                      </a:r>
                      <a:r>
                        <a:rPr sz="890" b="0" i="0">
                          <a:solidFill>
                            <a:srgbClr val="1A1A1A"/>
                          </a:solidFill>
                          <a:latin typeface="Microsoft YaHei"/>
                        </a:rPr>
                        <a:t>上获最高评分（雾天，中国样本）</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手动驾驶</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冗余（同一信息多通道）</a:t>
                      </a:r>
                    </a:p>
                  </a:txBody>
                  <a:tcPr marL="66675" marR="66675" marT="42862" marB="42862" anchor="t">
                    <a:noFill/>
                  </a:tcPr>
                </a:tc>
              </a:tr>
            </a:tbl>
          </a:graphicData>
        </a:graphic>
      </p:graphicFrame>
      <p:sp>
        <p:nvSpPr>
          <p:cNvPr id="10" name="Rectangle 9"/>
          <p:cNvSpPr/>
          <p:nvPr/>
        </p:nvSpPr>
        <p:spPr>
          <a:xfrm>
            <a:off x="590550" y="2832794"/>
            <a:ext cx="11010900" cy="79742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90550" y="2832794"/>
            <a:ext cx="38100" cy="79742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4375" y="2918519"/>
            <a:ext cx="10801350"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关键边界条件：信息是「互补」还是「冗余」。</a:t>
            </a:r>
            <a:r>
              <a:rPr sz="990" b="0" i="0">
                <a:solidFill>
                  <a:srgbClr val="1F5A1F"/>
                </a:solidFill>
                <a:latin typeface="Microsoft YaHei"/>
              </a:rPr>
              <a:t>→ </a:t>
            </a:r>
            <a:r>
              <a:rPr sz="990" b="1" i="0">
                <a:solidFill>
                  <a:srgbClr val="1F5A1F"/>
                </a:solidFill>
                <a:latin typeface="Microsoft YaHei"/>
              </a:rPr>
              <a:t>互补组合有净收益，冗余组合只有负荷代价</a:t>
            </a:r>
            <a:r>
              <a:rPr sz="990" b="0" i="0">
                <a:solidFill>
                  <a:srgbClr val="1F5A1F"/>
                </a:solidFill>
                <a:latin typeface="Microsoft YaHei"/>
              </a:rPr>
              <a:t>，两者并不矛盾。另两条边界：驾驶模式不同（须执行动作 vs 只需监督）；Wei 等（2025）由</a:t>
            </a:r>
            <a:r>
              <a:rPr sz="990" b="1" i="0">
                <a:solidFill>
                  <a:srgbClr val="1F5A1F"/>
                </a:solidFill>
                <a:latin typeface="Microsoft YaHei"/>
              </a:rPr>
              <a:t>零结果</a:t>
            </a:r>
            <a:r>
              <a:rPr sz="990" b="0" i="0">
                <a:solidFill>
                  <a:srgbClr val="1F5A1F"/>
                </a:solidFill>
                <a:latin typeface="Microsoft YaHei"/>
              </a:rPr>
              <a:t>推论「信任显著提升」属</a:t>
            </a:r>
            <a:r>
              <a:rPr sz="990" b="1" i="0">
                <a:solidFill>
                  <a:srgbClr val="1F5A1F"/>
                </a:solidFill>
                <a:latin typeface="Microsoft YaHei"/>
              </a:rPr>
              <a:t>C 类推论过度</a:t>
            </a:r>
            <a:r>
              <a:rPr sz="990" b="0" i="0">
                <a:solidFill>
                  <a:srgbClr val="1F5A1F"/>
                </a:solidFill>
                <a:latin typeface="Microsoft YaHei"/>
              </a:rPr>
              <a:t>。</a:t>
            </a:r>
          </a:p>
          <a:p>
            <a:pPr algn="l">
              <a:lnSpc>
                <a:spcPct val="166000"/>
              </a:lnSpc>
              <a:spcBef>
                <a:spcPts val="0"/>
              </a:spcBef>
              <a:spcAft>
                <a:spcPts val="0"/>
              </a:spcAft>
            </a:pPr>
            <a:r>
              <a:rPr sz="990" b="1" i="0">
                <a:solidFill>
                  <a:srgbClr val="1F5A1F"/>
                </a:solidFill>
                <a:latin typeface="Microsoft YaHei"/>
              </a:rPr>
              <a:t>典型的偏好—绩效解离：驾驶员喜欢更多信息，但更多同类信息损害绩效</a:t>
            </a:r>
            <a:r>
              <a:rPr sz="990" b="0" i="0">
                <a:solidFill>
                  <a:srgbClr val="1F5A1F"/>
                </a:solidFill>
                <a:latin typeface="Microsoft YaHei"/>
              </a:rPr>
              <a:t>——这是设计决策不能只依据主观评分的直接证据。</a:t>
            </a:r>
          </a:p>
        </p:txBody>
      </p:sp>
      <p:sp>
        <p:nvSpPr>
          <p:cNvPr id="13" name="Rounded Rectangle 12"/>
          <p:cNvSpPr/>
          <p:nvPr/>
        </p:nvSpPr>
        <p:spPr>
          <a:xfrm>
            <a:off x="438150" y="3887390"/>
            <a:ext cx="11315700" cy="2280642"/>
          </a:xfrm>
          <a:prstGeom prst="roundRect">
            <a:avLst>
              <a:gd name="adj" fmla="val 2923"/>
            </a:avLst>
          </a:prstGeom>
          <a:solidFill>
            <a:srgbClr val="FFFBF0"/>
          </a:solidFill>
          <a:ln w="9525">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90550" y="4277915"/>
            <a:ext cx="11010900" cy="9525"/>
          </a:xfrm>
          <a:prstGeom prst="rect">
            <a:avLst/>
          </a:prstGeom>
          <a:solidFill>
            <a:srgbClr val="F0E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0550" y="4020740"/>
            <a:ext cx="110490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9A6E00"/>
                </a:solidFill>
                <a:latin typeface="Microsoft YaHei"/>
              </a:rPr>
              <a:t>冲突五：图形应指向危险侧还是逃逸侧？（本轮新识别的维度）</a:t>
            </a:r>
          </a:p>
        </p:txBody>
      </p:sp>
      <p:sp>
        <p:nvSpPr>
          <p:cNvPr id="16" name="TextBox 15"/>
          <p:cNvSpPr txBox="1"/>
          <p:nvPr/>
        </p:nvSpPr>
        <p:spPr>
          <a:xfrm>
            <a:off x="590550" y="4363640"/>
            <a:ext cx="5476875" cy="536971"/>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Kang 等（2016）</a:t>
            </a:r>
            <a:r>
              <a:rPr sz="1120" b="0" i="0">
                <a:solidFill>
                  <a:srgbClr val="1A1A1A"/>
                </a:solidFill>
                <a:latin typeface="Microsoft YaHei"/>
              </a:rPr>
              <a:t>：听觉行人预警中</a:t>
            </a:r>
            <a:r>
              <a:rPr sz="1120" b="1" i="0">
                <a:solidFill>
                  <a:srgbClr val="1A1A1A"/>
                </a:solidFill>
                <a:latin typeface="Microsoft YaHei"/>
              </a:rPr>
              <a:t>刺激—反应不兼容（提示回避方向而非危险方向）优于兼容</a:t>
            </a:r>
            <a:r>
              <a:rPr sz="1120" b="0" i="0">
                <a:solidFill>
                  <a:srgbClr val="1A1A1A"/>
                </a:solidFill>
                <a:latin typeface="Microsoft YaHei"/>
              </a:rPr>
              <a:t>；配合 TTC 4.0 s 时「更可靠、更有用」</a:t>
            </a:r>
            <a:r>
              <a:rPr sz="940" b="0" i="0">
                <a:solidFill>
                  <a:srgbClr val="8C8C8C"/>
                </a:solidFill>
                <a:latin typeface="Microsoft YaHei"/>
              </a:rPr>
              <a:t>（仅摘要）</a:t>
            </a:r>
          </a:p>
        </p:txBody>
      </p:sp>
      <p:sp>
        <p:nvSpPr>
          <p:cNvPr id="17" name="TextBox 16"/>
          <p:cNvSpPr txBox="1"/>
          <p:nvPr/>
        </p:nvSpPr>
        <p:spPr>
          <a:xfrm>
            <a:off x="590550" y="4929187"/>
            <a:ext cx="5476875" cy="791170"/>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Straughn、Gray 与 Tan（2009，</a:t>
            </a:r>
            <a:r>
              <a:rPr sz="1120" b="1" i="1">
                <a:solidFill>
                  <a:srgbClr val="1A1A1A"/>
                </a:solidFill>
                <a:latin typeface="Microsoft YaHei"/>
              </a:rPr>
              <a:t>IEEE Trans. Haptics</a:t>
            </a:r>
            <a:r>
              <a:rPr sz="1120" b="1" i="0">
                <a:solidFill>
                  <a:srgbClr val="1A1A1A"/>
                </a:solidFill>
                <a:latin typeface="Microsoft YaHei"/>
              </a:rPr>
              <a:t>）</a:t>
            </a:r>
            <a:r>
              <a:rPr sz="1120" b="0" i="0">
                <a:solidFill>
                  <a:srgbClr val="1A1A1A"/>
                </a:solidFill>
                <a:latin typeface="Microsoft YaHei"/>
              </a:rPr>
              <a:t>：</a:t>
            </a:r>
            <a:r>
              <a:rPr sz="1120" b="1" i="0">
                <a:solidFill>
                  <a:srgbClr val="1A1A1A"/>
                </a:solidFill>
                <a:latin typeface="Microsoft YaHei"/>
              </a:rPr>
              <a:t>长 TTC 用危险侧方向、短 TTC 用逃逸方向</a:t>
            </a:r>
            <a:r>
              <a:rPr sz="1120" b="0" i="0">
                <a:solidFill>
                  <a:srgbClr val="1A1A1A"/>
                </a:solidFill>
                <a:latin typeface="Microsoft YaHei"/>
              </a:rPr>
              <a:t>——经核验该文</a:t>
            </a:r>
            <a:r>
              <a:rPr sz="1120" b="1" i="0">
                <a:solidFill>
                  <a:srgbClr val="1A1A1A"/>
                </a:solidFill>
                <a:latin typeface="Microsoft YaHei"/>
              </a:rPr>
              <a:t>本身即行人碰撞预警的 S-R 兼容性研究，属一手来源</a:t>
            </a:r>
            <a:r>
              <a:rPr sz="1120" b="0" i="0">
                <a:solidFill>
                  <a:srgbClr val="1A1A1A"/>
                </a:solidFill>
                <a:latin typeface="Microsoft YaHei"/>
              </a:rPr>
              <a:t>（本课题此前误标为「经 Gray 等 2014 转引」）</a:t>
            </a:r>
          </a:p>
        </p:txBody>
      </p:sp>
      <p:sp>
        <p:nvSpPr>
          <p:cNvPr id="18" name="Rectangle 17"/>
          <p:cNvSpPr/>
          <p:nvPr/>
        </p:nvSpPr>
        <p:spPr>
          <a:xfrm>
            <a:off x="6162675" y="4363640"/>
            <a:ext cx="5438775" cy="79742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62675" y="4363640"/>
            <a:ext cx="38100" cy="79742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6500" y="4449365"/>
            <a:ext cx="522922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外部效度边界：</a:t>
            </a:r>
            <a:r>
              <a:rPr sz="990" b="0" i="0">
                <a:solidFill>
                  <a:srgbClr val="7A1F1F"/>
                </a:solidFill>
                <a:latin typeface="Microsoft YaHei"/>
              </a:rPr>
              <a:t>两项证据均为</a:t>
            </a:r>
            <a:r>
              <a:rPr sz="990" b="1" i="0">
                <a:solidFill>
                  <a:srgbClr val="7A1F1F"/>
                </a:solidFill>
                <a:latin typeface="Microsoft YaHei"/>
              </a:rPr>
              <a:t>听觉／触觉</a:t>
            </a:r>
            <a:r>
              <a:rPr sz="990" b="0" i="0">
                <a:solidFill>
                  <a:srgbClr val="7A1F1F"/>
                </a:solidFill>
                <a:latin typeface="Microsoft YaHei"/>
              </a:rPr>
              <a:t>预警。视觉 AR-HUD 的图形若指向「逃逸方向」而非行人所在，</a:t>
            </a:r>
            <a:r>
              <a:rPr sz="990" b="1" i="0">
                <a:solidFill>
                  <a:srgbClr val="7A1F1F"/>
                </a:solidFill>
                <a:latin typeface="Microsoft YaHei"/>
              </a:rPr>
              <a:t>可能与共形配准的基本逻辑冲突</a:t>
            </a:r>
            <a:r>
              <a:rPr sz="990" b="0" i="0">
                <a:solidFill>
                  <a:srgbClr val="7A1F1F"/>
                </a:solidFill>
                <a:latin typeface="Microsoft YaHei"/>
              </a:rPr>
              <a:t>——AR 的价值正在于把图形贴到危险对象上。</a:t>
            </a:r>
          </a:p>
          <a:p>
            <a:pPr algn="l">
              <a:lnSpc>
                <a:spcPct val="166000"/>
              </a:lnSpc>
              <a:spcBef>
                <a:spcPts val="0"/>
              </a:spcBef>
              <a:spcAft>
                <a:spcPts val="0"/>
              </a:spcAft>
            </a:pPr>
            <a:r>
              <a:rPr sz="990" b="1" i="0">
                <a:solidFill>
                  <a:srgbClr val="7A1F1F"/>
                </a:solidFill>
                <a:latin typeface="Microsoft YaHei"/>
              </a:rPr>
              <a:t>→ 本研究定位为探索性区块（实验 4 区块 D），不作主设计。</a:t>
            </a:r>
          </a:p>
        </p:txBody>
      </p:sp>
      <p:sp>
        <p:nvSpPr>
          <p:cNvPr id="21" name="Rectangle 20"/>
          <p:cNvSpPr/>
          <p:nvPr/>
        </p:nvSpPr>
        <p:spPr>
          <a:xfrm>
            <a:off x="6162675" y="5237261"/>
            <a:ext cx="5438775" cy="79742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62675" y="5237261"/>
            <a:ext cx="38100" cy="79742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6500" y="5322986"/>
            <a:ext cx="522922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预注册的条件化推断规则（不预设方向）：</a:t>
            </a:r>
            <a:r>
              <a:rPr sz="990" b="0" i="0">
                <a:solidFill>
                  <a:srgbClr val="1F5A1F"/>
                </a:solidFill>
                <a:latin typeface="Microsoft YaHei"/>
              </a:rPr>
              <a:t>若「映射方向 × 提前量」</a:t>
            </a:r>
            <a:r>
              <a:rPr sz="990" b="1" i="0">
                <a:solidFill>
                  <a:srgbClr val="1F5A1F"/>
                </a:solidFill>
                <a:latin typeface="Microsoft YaHei"/>
              </a:rPr>
              <a:t>交互</a:t>
            </a:r>
            <a:r>
              <a:rPr sz="990" b="0" i="0">
                <a:solidFill>
                  <a:srgbClr val="1F5A1F"/>
                </a:solidFill>
                <a:latin typeface="Microsoft YaHei"/>
              </a:rPr>
              <a:t>显著 → 支持 Straughn 的时间依赖假设；若仅</a:t>
            </a:r>
            <a:r>
              <a:rPr sz="990" b="1" i="0">
                <a:solidFill>
                  <a:srgbClr val="1F5A1F"/>
                </a:solidFill>
                <a:latin typeface="Microsoft YaHei"/>
              </a:rPr>
              <a:t>主效应</a:t>
            </a:r>
            <a:r>
              <a:rPr sz="990" b="0" i="0">
                <a:solidFill>
                  <a:srgbClr val="1F5A1F"/>
                </a:solidFill>
                <a:latin typeface="Microsoft YaHei"/>
              </a:rPr>
              <a:t>显著 → 支持 Kang 的单向假设。</a:t>
            </a:r>
            <a:r>
              <a:rPr sz="990" b="1" i="0">
                <a:solidFill>
                  <a:srgbClr val="1F5A1F"/>
                </a:solidFill>
                <a:latin typeface="Microsoft YaHei"/>
              </a:rPr>
              <a:t>必须在数据采集前写入预注册文件，以避免事后解释。</a:t>
            </a:r>
          </a:p>
        </p:txBody>
      </p:sp>
      <p:sp>
        <p:nvSpPr>
          <p:cNvPr id="24" name="TextBox 2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冲突六、七与方法学评述</a:t>
            </a:r>
          </a:p>
        </p:txBody>
      </p:sp>
      <p:sp>
        <p:nvSpPr>
          <p:cNvPr id="4" name="Rounded Rectangle 3"/>
          <p:cNvSpPr/>
          <p:nvPr/>
        </p:nvSpPr>
        <p:spPr>
          <a:xfrm>
            <a:off x="10911780" y="209550"/>
            <a:ext cx="842069"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016555" y="238125"/>
            <a:ext cx="670619"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2.4.7–2.4.10</a:t>
            </a:r>
          </a:p>
        </p:txBody>
      </p:sp>
      <p:sp>
        <p:nvSpPr>
          <p:cNvPr id="6" name="Rounded Rectangle 5"/>
          <p:cNvSpPr/>
          <p:nvPr/>
        </p:nvSpPr>
        <p:spPr>
          <a:xfrm>
            <a:off x="438150" y="762000"/>
            <a:ext cx="5572125" cy="5695950"/>
          </a:xfrm>
          <a:prstGeom prst="roundRect">
            <a:avLst>
              <a:gd name="adj" fmla="val 1196"/>
            </a:avLst>
          </a:prstGeom>
          <a:solidFill>
            <a:srgbClr val="FEF6F6"/>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90550" y="1152525"/>
            <a:ext cx="5267325" cy="9525"/>
          </a:xfrm>
          <a:prstGeom prst="rect">
            <a:avLst/>
          </a:prstGeom>
          <a:solidFill>
            <a:srgbClr val="F0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0550"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C00000"/>
                </a:solidFill>
                <a:latin typeface="Microsoft YaHei"/>
              </a:rPr>
              <a:t>冲突六、七：两组 B 类（记法／口径）冲突</a:t>
            </a:r>
          </a:p>
        </p:txBody>
      </p:sp>
      <p:sp>
        <p:nvSpPr>
          <p:cNvPr id="9" name="TextBox 8"/>
          <p:cNvSpPr txBox="1"/>
          <p:nvPr/>
        </p:nvSpPr>
        <p:spPr>
          <a:xfrm>
            <a:off x="590550" y="1238250"/>
            <a:ext cx="5305425" cy="1553765"/>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3E7D3E"/>
                </a:solidFill>
                <a:latin typeface="Microsoft YaHei"/>
              </a:rPr>
              <a:t>冲突六 不透明度 3 倍（本轮已裁定）</a:t>
            </a:r>
            <a:r>
              <a:rPr sz="1120" b="0" i="0">
                <a:solidFill>
                  <a:srgbClr val="1A1A1A"/>
                </a:solidFill>
                <a:latin typeface="Microsoft YaHei"/>
              </a:rPr>
              <a:t>：① </a:t>
            </a:r>
            <a:r>
              <a:rPr sz="1120" b="1" i="0">
                <a:solidFill>
                  <a:srgbClr val="1A1A1A"/>
                </a:solidFill>
                <a:latin typeface="Microsoft YaHei"/>
              </a:rPr>
              <a:t>记法已定</a:t>
            </a:r>
            <a:r>
              <a:rPr sz="1120" b="0" i="0">
                <a:solidFill>
                  <a:srgbClr val="1A1A1A"/>
                </a:solidFill>
                <a:latin typeface="Microsoft YaHei"/>
              </a:rPr>
              <a:t>——Ye 与 Yin（2025）把 Hou 等的 T 标尺当作「提升</a:t>
            </a:r>
            <a:r>
              <a:rPr sz="1120" b="1" i="0">
                <a:solidFill>
                  <a:srgbClr val="1A1A1A"/>
                </a:solidFill>
                <a:latin typeface="Microsoft YaHei"/>
              </a:rPr>
              <a:t>可见性</a:t>
            </a:r>
            <a:r>
              <a:rPr sz="1120" b="0" i="0">
                <a:solidFill>
                  <a:srgbClr val="1A1A1A"/>
                </a:solidFill>
                <a:latin typeface="Microsoft YaHei"/>
              </a:rPr>
              <a:t>的 0.75」使用，故 T 功能上是 alpha，最优换算为 </a:t>
            </a:r>
            <a:r>
              <a:rPr sz="1120" b="1" i="0">
                <a:solidFill>
                  <a:srgbClr val="1A1A1A"/>
                </a:solidFill>
                <a:latin typeface="Microsoft YaHei"/>
              </a:rPr>
              <a:t>0.5–0.75</a:t>
            </a:r>
            <a:r>
              <a:rPr sz="1120" b="0" i="0">
                <a:solidFill>
                  <a:srgbClr val="1A1A1A"/>
                </a:solidFill>
                <a:latin typeface="Microsoft YaHei"/>
              </a:rPr>
              <a:t>；② </a:t>
            </a:r>
            <a:r>
              <a:rPr sz="1120" b="1" i="0">
                <a:solidFill>
                  <a:srgbClr val="1A1A1A"/>
                </a:solidFill>
                <a:latin typeface="Microsoft YaHei"/>
              </a:rPr>
              <a:t>剩余差异是构念而非矛盾</a:t>
            </a:r>
            <a:r>
              <a:rPr sz="1120" b="0" i="0">
                <a:solidFill>
                  <a:srgbClr val="1A1A1A"/>
                </a:solidFill>
                <a:latin typeface="Microsoft YaHei"/>
              </a:rPr>
              <a:t>——Lopez 原文为「20% 与 60% </a:t>
            </a:r>
            <a:r>
              <a:rPr sz="1120" b="1" i="0">
                <a:solidFill>
                  <a:srgbClr val="1A1A1A"/>
                </a:solidFill>
                <a:latin typeface="Microsoft YaHei"/>
              </a:rPr>
              <a:t>均</a:t>
            </a:r>
            <a:r>
              <a:rPr sz="1120" b="0" i="0">
                <a:solidFill>
                  <a:srgbClr val="1A1A1A"/>
                </a:solidFill>
                <a:latin typeface="Microsoft YaHei"/>
              </a:rPr>
              <a:t>支持情境意识」，</a:t>
            </a:r>
            <a:r>
              <a:rPr sz="1120" b="1" i="0">
                <a:solidFill>
                  <a:srgbClr val="1A1A1A"/>
                </a:solidFill>
                <a:latin typeface="Microsoft YaHei"/>
              </a:rPr>
              <a:t>未推荐 20%</a:t>
            </a:r>
            <a:r>
              <a:rPr sz="1120" b="0" i="0">
                <a:solidFill>
                  <a:srgbClr val="1A1A1A"/>
                </a:solidFill>
                <a:latin typeface="Microsoft YaHei"/>
              </a:rPr>
              <a:t>，与 Li 等在 </a:t>
            </a:r>
            <a:r>
              <a:rPr sz="1120" b="1" i="0">
                <a:solidFill>
                  <a:srgbClr val="1A1A1A"/>
                </a:solidFill>
                <a:latin typeface="Microsoft YaHei"/>
              </a:rPr>
              <a:t>0.6</a:t>
            </a:r>
            <a:r>
              <a:rPr sz="1120" b="0" i="0">
                <a:solidFill>
                  <a:srgbClr val="1A1A1A"/>
                </a:solidFill>
                <a:latin typeface="Microsoft YaHei"/>
              </a:rPr>
              <a:t> 上一致。</a:t>
            </a:r>
            <a:r>
              <a:rPr sz="1120" b="1" i="0">
                <a:solidFill>
                  <a:srgbClr val="1A1A1A"/>
                </a:solidFill>
                <a:latin typeface="Microsoft YaHei"/>
              </a:rPr>
              <a:t>四源收敛 0.6–0.75。</a:t>
            </a:r>
          </a:p>
          <a:p>
            <a:pPr algn="l">
              <a:lnSpc>
                <a:spcPct val="178000"/>
              </a:lnSpc>
              <a:spcBef>
                <a:spcPts val="0"/>
              </a:spcBef>
              <a:spcAft>
                <a:spcPts val="0"/>
              </a:spcAft>
            </a:pPr>
            <a:r>
              <a:rPr sz="1120" b="1" i="0">
                <a:solidFill>
                  <a:srgbClr val="1A1A1A"/>
                </a:solidFill>
                <a:latin typeface="Microsoft YaHei"/>
              </a:rPr>
              <a:t>处理更新：</a:t>
            </a:r>
            <a:r>
              <a:rPr sz="1120" b="0" i="0">
                <a:solidFill>
                  <a:srgbClr val="1A1A1A"/>
                </a:solidFill>
                <a:latin typeface="Microsoft YaHei"/>
              </a:rPr>
              <a:t>主条件仍取 </a:t>
            </a:r>
            <a:r>
              <a:rPr sz="1120" b="1" i="0">
                <a:solidFill>
                  <a:srgbClr val="1A1A1A"/>
                </a:solidFill>
                <a:latin typeface="Microsoft YaHei"/>
              </a:rPr>
              <a:t>0.6</a:t>
            </a:r>
            <a:r>
              <a:rPr sz="1120" b="0" i="0">
                <a:solidFill>
                  <a:srgbClr val="1A1A1A"/>
                </a:solidFill>
                <a:latin typeface="Microsoft YaHei"/>
              </a:rPr>
              <a:t>（交集的保守下界），0.2 档的检验目的从「消解记法不确定」改为「</a:t>
            </a:r>
            <a:r>
              <a:rPr sz="1120" b="1" i="0">
                <a:solidFill>
                  <a:srgbClr val="1A1A1A"/>
                </a:solidFill>
                <a:latin typeface="Microsoft YaHei"/>
              </a:rPr>
              <a:t>检验遮挡收益是否超过可读性代价</a:t>
            </a:r>
            <a:r>
              <a:rPr sz="1120" b="0" i="0">
                <a:solidFill>
                  <a:srgbClr val="1A1A1A"/>
                </a:solidFill>
                <a:latin typeface="Microsoft YaHei"/>
              </a:rPr>
              <a:t>」。</a:t>
            </a:r>
          </a:p>
        </p:txBody>
      </p:sp>
      <p:sp>
        <p:nvSpPr>
          <p:cNvPr id="10" name="TextBox 9"/>
          <p:cNvSpPr txBox="1"/>
          <p:nvPr/>
        </p:nvSpPr>
        <p:spPr>
          <a:xfrm>
            <a:off x="590550" y="2839640"/>
            <a:ext cx="5305425" cy="1553765"/>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冲突七 频率 8 倍 vs 占空比接近</a:t>
            </a:r>
            <a:r>
              <a:rPr sz="1120" b="0" i="0">
                <a:solidFill>
                  <a:srgbClr val="1A1A1A"/>
                </a:solidFill>
                <a:latin typeface="Microsoft YaHei"/>
              </a:rPr>
              <a:t>：4 Hz/60% 与 0.5 Hz/50%。</a:t>
            </a:r>
          </a:p>
          <a:p>
            <a:pPr algn="l">
              <a:lnSpc>
                <a:spcPct val="178000"/>
              </a:lnSpc>
              <a:spcBef>
                <a:spcPts val="0"/>
              </a:spcBef>
              <a:spcAft>
                <a:spcPts val="0"/>
              </a:spcAft>
            </a:pPr>
            <a:r>
              <a:rPr sz="1120" b="1" i="0">
                <a:solidFill>
                  <a:srgbClr val="1A1A1A"/>
                </a:solidFill>
                <a:latin typeface="Microsoft YaHei"/>
              </a:rPr>
              <a:t>机制假设：</a:t>
            </a:r>
            <a:r>
              <a:rPr sz="1120" b="0" i="0">
                <a:solidFill>
                  <a:srgbClr val="1A1A1A"/>
                </a:solidFill>
                <a:latin typeface="Microsoft YaHei"/>
              </a:rPr>
              <a:t>占空比决定单位时间总光通量与亮灭时长比，频率只决定重复速率。Shen 等「无闪烁最差」说明至少需有 onset 事件，「50% 优于 75%」说明 onset 事件密度与绩效</a:t>
            </a:r>
            <a:r>
              <a:rPr sz="1120" b="1" i="0">
                <a:solidFill>
                  <a:srgbClr val="1A1A1A"/>
                </a:solidFill>
                <a:latin typeface="Microsoft YaHei"/>
              </a:rPr>
              <a:t>并非单调正相关</a:t>
            </a:r>
            <a:r>
              <a:rPr sz="1120" b="0" i="0">
                <a:solidFill>
                  <a:srgbClr val="1A1A1A"/>
                </a:solidFill>
                <a:latin typeface="Microsoft YaHei"/>
              </a:rPr>
              <a:t>。</a:t>
            </a:r>
          </a:p>
          <a:p>
            <a:pPr algn="l">
              <a:lnSpc>
                <a:spcPct val="178000"/>
              </a:lnSpc>
              <a:spcBef>
                <a:spcPts val="0"/>
              </a:spcBef>
              <a:spcAft>
                <a:spcPts val="0"/>
              </a:spcAft>
            </a:pPr>
            <a:r>
              <a:rPr sz="1120" b="1" i="0">
                <a:solidFill>
                  <a:srgbClr val="1A1A1A"/>
                </a:solidFill>
                <a:latin typeface="Microsoft YaHei"/>
              </a:rPr>
              <a:t>处理：</a:t>
            </a:r>
            <a:r>
              <a:rPr sz="1120" b="0" i="0">
                <a:solidFill>
                  <a:srgbClr val="1A1A1A"/>
                </a:solidFill>
                <a:latin typeface="Microsoft YaHei"/>
              </a:rPr>
              <a:t>全条件</a:t>
            </a:r>
            <a:r>
              <a:rPr sz="1120" b="1" i="0">
                <a:solidFill>
                  <a:srgbClr val="1A1A1A"/>
                </a:solidFill>
                <a:latin typeface="Microsoft YaHei"/>
              </a:rPr>
              <a:t>统一动效参数</a:t>
            </a:r>
            <a:r>
              <a:rPr sz="1120" b="0" i="0">
                <a:solidFill>
                  <a:srgbClr val="1A1A1A"/>
                </a:solidFill>
                <a:latin typeface="Microsoft YaHei"/>
              </a:rPr>
              <a:t>（周期 2 s、占空比 50%）或全不闪烁，</a:t>
            </a:r>
            <a:r>
              <a:rPr sz="1120" b="1" i="0">
                <a:solidFill>
                  <a:srgbClr val="1A1A1A"/>
                </a:solidFill>
                <a:latin typeface="Microsoft YaHei"/>
              </a:rPr>
              <a:t>不得让锁定策略与闪烁状态共变</a:t>
            </a:r>
            <a:r>
              <a:rPr sz="1120" b="0" i="0">
                <a:solidFill>
                  <a:srgbClr val="1A1A1A"/>
                </a:solidFill>
                <a:latin typeface="Microsoft YaHei"/>
              </a:rPr>
              <a:t>。</a:t>
            </a:r>
          </a:p>
        </p:txBody>
      </p:sp>
      <p:sp>
        <p:nvSpPr>
          <p:cNvPr id="11" name="Rectangle 10"/>
          <p:cNvSpPr/>
          <p:nvPr/>
        </p:nvSpPr>
        <p:spPr>
          <a:xfrm>
            <a:off x="590550" y="4441031"/>
            <a:ext cx="5267325" cy="1632049"/>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90550" y="4441031"/>
            <a:ext cx="38100" cy="1632049"/>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375" y="4526756"/>
            <a:ext cx="5057775" cy="1489174"/>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方法学意义（两层）：</a:t>
            </a:r>
            <a:r>
              <a:rPr sz="990" b="0" i="0">
                <a:solidFill>
                  <a:srgbClr val="1F5A1F"/>
                </a:solidFill>
                <a:latin typeface="Microsoft YaHei"/>
              </a:rPr>
              <a:t>① 记法不统一而无法取得全文时，应把不确定性</a:t>
            </a:r>
            <a:r>
              <a:rPr sz="990" b="1" i="0">
                <a:solidFill>
                  <a:srgbClr val="1F5A1F"/>
                </a:solidFill>
                <a:latin typeface="Microsoft YaHei"/>
              </a:rPr>
              <a:t>显式转化为敏感性检验</a:t>
            </a:r>
            <a:r>
              <a:rPr sz="990" b="0" i="0">
                <a:solidFill>
                  <a:srgbClr val="1F5A1F"/>
                </a:solidFill>
                <a:latin typeface="Microsoft YaHei"/>
              </a:rPr>
              <a:t>，而不是挑一个数值当定论。</a:t>
            </a:r>
          </a:p>
          <a:p>
            <a:pPr algn="l">
              <a:lnSpc>
                <a:spcPct val="166000"/>
              </a:lnSpc>
              <a:spcBef>
                <a:spcPts val="0"/>
              </a:spcBef>
              <a:spcAft>
                <a:spcPts val="0"/>
              </a:spcAft>
            </a:pPr>
            <a:r>
              <a:rPr sz="990" b="0" i="0">
                <a:solidFill>
                  <a:srgbClr val="1F5A1F"/>
                </a:solidFill>
                <a:latin typeface="Microsoft YaHei"/>
              </a:rPr>
              <a:t>② </a:t>
            </a:r>
            <a:r>
              <a:rPr sz="990" b="1" i="0">
                <a:solidFill>
                  <a:srgbClr val="1F5A1F"/>
                </a:solidFill>
                <a:latin typeface="Microsoft YaHei"/>
              </a:rPr>
              <a:t>本轮新得</a:t>
            </a:r>
            <a:r>
              <a:rPr sz="990" b="0" i="0">
                <a:solidFill>
                  <a:srgbClr val="1F5A1F"/>
                </a:solidFill>
                <a:latin typeface="Microsoft YaHei"/>
              </a:rPr>
              <a:t>：B 类冲突有时可由「</a:t>
            </a:r>
            <a:r>
              <a:rPr sz="990" b="1" i="0">
                <a:solidFill>
                  <a:srgbClr val="1F5A1F"/>
                </a:solidFill>
                <a:latin typeface="Microsoft YaHei"/>
              </a:rPr>
              <a:t>引用者如何使用该参数</a:t>
            </a:r>
            <a:r>
              <a:rPr sz="990" b="0" i="0">
                <a:solidFill>
                  <a:srgbClr val="1F5A1F"/>
                </a:solidFill>
                <a:latin typeface="Microsoft YaHei"/>
              </a:rPr>
              <a:t>」间接裁定——原文不可得时，一篇</a:t>
            </a:r>
            <a:r>
              <a:rPr sz="990" b="1" i="0">
                <a:solidFill>
                  <a:srgbClr val="1F5A1F"/>
                </a:solidFill>
                <a:latin typeface="Microsoft YaHei"/>
              </a:rPr>
              <a:t>引用并复现其设置</a:t>
            </a:r>
            <a:r>
              <a:rPr sz="990" b="0" i="0">
                <a:solidFill>
                  <a:srgbClr val="1F5A1F"/>
                </a:solidFill>
                <a:latin typeface="Microsoft YaHei"/>
              </a:rPr>
              <a:t>的开放获取文献，往往在方法节保留了记法方向的判据。代价是证据等级降为间接。</a:t>
            </a:r>
          </a:p>
          <a:p>
            <a:pPr algn="l">
              <a:lnSpc>
                <a:spcPct val="166000"/>
              </a:lnSpc>
              <a:spcBef>
                <a:spcPts val="0"/>
              </a:spcBef>
              <a:spcAft>
                <a:spcPts val="0"/>
              </a:spcAft>
            </a:pPr>
            <a:r>
              <a:rPr sz="990" b="1" i="0">
                <a:solidFill>
                  <a:srgbClr val="C00000"/>
                </a:solidFill>
                <a:latin typeface="Microsoft YaHei"/>
              </a:rPr>
              <a:t>须记录的漏检：</a:t>
            </a:r>
            <a:r>
              <a:rPr sz="990" b="0" i="0">
                <a:solidFill>
                  <a:srgbClr val="1F5A1F"/>
                </a:solidFill>
                <a:latin typeface="Microsoft YaHei"/>
              </a:rPr>
              <a:t>Hussain 与 Park（2023, IJHCI）专题研究「透明度水平 × 真实背景」，与本参数直接相关却</a:t>
            </a:r>
            <a:r>
              <a:rPr sz="990" b="1" i="0">
                <a:solidFill>
                  <a:srgbClr val="1F5A1F"/>
                </a:solidFill>
                <a:latin typeface="Microsoft YaHei"/>
              </a:rPr>
              <a:t>不在本库 102 篇内</a:t>
            </a:r>
            <a:r>
              <a:rPr sz="990" b="0" i="0">
                <a:solidFill>
                  <a:srgbClr val="1F5A1F"/>
                </a:solidFill>
                <a:latin typeface="Microsoft YaHei"/>
              </a:rPr>
              <a:t>。</a:t>
            </a:r>
          </a:p>
        </p:txBody>
      </p:sp>
      <p:sp>
        <p:nvSpPr>
          <p:cNvPr id="14" name="Rounded Rectangle 13"/>
          <p:cNvSpPr/>
          <p:nvPr/>
        </p:nvSpPr>
        <p:spPr>
          <a:xfrm>
            <a:off x="6181725" y="762000"/>
            <a:ext cx="5572125" cy="5695950"/>
          </a:xfrm>
          <a:prstGeom prst="roundRect">
            <a:avLst>
              <a:gd name="adj" fmla="val 11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334125" y="1152525"/>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4125" y="895350"/>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方法学评述：四项系统性报告缺失</a:t>
            </a:r>
          </a:p>
        </p:txBody>
      </p:sp>
      <p:graphicFrame>
        <p:nvGraphicFramePr>
          <p:cNvPr id="17" name="Table 16"/>
          <p:cNvGraphicFramePr>
            <a:graphicFrameLocks noGrp="1"/>
          </p:cNvGraphicFramePr>
          <p:nvPr/>
        </p:nvGraphicFramePr>
        <p:xfrm>
          <a:off x="6334125" y="1238250"/>
          <a:ext cx="5267323" cy="1339450"/>
        </p:xfrm>
        <a:graphic>
          <a:graphicData uri="http://schemas.openxmlformats.org/drawingml/2006/table">
            <a:tbl>
              <a:tblPr>
                <a:tableStyleId>{5C22544A-7EE6-4342-B048-85BDC9FD1C3A}</a:tableStyleId>
              </a:tblPr>
              <a:tblGrid>
                <a:gridCol w="1353442"/>
                <a:gridCol w="900707"/>
                <a:gridCol w="3013174"/>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缺失项</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报告率</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后果</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颜色 RGB／HEX／CIE</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约 </a:t>
                      </a:r>
                      <a:r>
                        <a:rPr sz="890" b="1" i="0">
                          <a:solidFill>
                            <a:srgbClr val="1A1A1A"/>
                          </a:solidFill>
                          <a:latin typeface="Microsoft YaHei"/>
                        </a:rPr>
                        <a:t>25%</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制约跨研究比较与工程复现</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不透明度记法方向</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四篇</a:t>
                      </a:r>
                      <a:r>
                        <a:rPr sz="890" b="1" i="0">
                          <a:solidFill>
                            <a:srgbClr val="1A1A1A"/>
                          </a:solidFill>
                          <a:latin typeface="Microsoft YaHei"/>
                        </a:rPr>
                        <a:t>均未明确</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 冲突六</a:t>
                      </a:r>
                    </a:p>
                  </a:txBody>
                  <a:tcPr marL="66675" marR="66675" marT="42862" marB="42862" anchor="t">
                    <a:noFill/>
                  </a:tcPr>
                </a:tc>
              </a:tr>
              <a:tr h="269378">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闪烁频率与占空比</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极少同时报告</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 冲突七；无法判断哪个是有效变量</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系统侧延迟</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接近 </a:t>
                      </a:r>
                      <a:r>
                        <a:rPr sz="890" b="1" i="0">
                          <a:solidFill>
                            <a:srgbClr val="1A1A1A"/>
                          </a:solidFill>
                          <a:latin typeface="Microsoft YaHei"/>
                        </a:rPr>
                        <a:t>0</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全部时间参数都无法迁移到实车</a:t>
                      </a:r>
                      <a:r>
                        <a:rPr sz="890" b="0" i="0">
                          <a:solidFill>
                            <a:srgbClr val="1A1A1A"/>
                          </a:solidFill>
                          <a:latin typeface="Microsoft YaHei"/>
                        </a:rPr>
                        <a:t>（实车可达 1.47 s）</a:t>
                      </a:r>
                    </a:p>
                  </a:txBody>
                  <a:tcPr marL="66675" marR="66675" marT="42862" marB="42862" anchor="t">
                    <a:noFill/>
                  </a:tcPr>
                </a:tc>
              </a:tr>
            </a:tbl>
          </a:graphicData>
        </a:graphic>
      </p:graphicFrame>
      <p:sp>
        <p:nvSpPr>
          <p:cNvPr id="18" name="TextBox 17"/>
          <p:cNvSpPr txBox="1"/>
          <p:nvPr/>
        </p:nvSpPr>
        <p:spPr>
          <a:xfrm>
            <a:off x="6334125" y="2658665"/>
            <a:ext cx="5305425" cy="800695"/>
          </a:xfrm>
          <a:prstGeom prst="rect">
            <a:avLst/>
          </a:prstGeom>
          <a:noFill/>
        </p:spPr>
        <p:txBody>
          <a:bodyPr wrap="square" lIns="0" rIns="0" tIns="0" bIns="0" anchor="t">
            <a:normAutofit/>
          </a:bodyPr>
          <a:lstStyle/>
          <a:p>
            <a:pPr algn="l">
              <a:lnSpc>
                <a:spcPct val="178000"/>
              </a:lnSpc>
              <a:spcBef>
                <a:spcPts val="0"/>
              </a:spcBef>
              <a:spcAft>
                <a:spcPts val="0"/>
              </a:spcAft>
            </a:pPr>
            <a:r>
              <a:rPr sz="1120" b="1" i="0">
                <a:solidFill>
                  <a:srgbClr val="1A1A1A"/>
                </a:solidFill>
                <a:latin typeface="Microsoft YaHei"/>
              </a:rPr>
              <a:t>其他方法学局限：</a:t>
            </a:r>
            <a:r>
              <a:rPr sz="1120" b="0" i="0">
                <a:solidFill>
                  <a:srgbClr val="1A1A1A"/>
                </a:solidFill>
                <a:latin typeface="Microsoft YaHei"/>
              </a:rPr>
              <a:t>实车研究仅约 </a:t>
            </a:r>
            <a:r>
              <a:rPr sz="1120" b="1" i="0">
                <a:solidFill>
                  <a:srgbClr val="1A1A1A"/>
                </a:solidFill>
                <a:latin typeface="Microsoft YaHei"/>
              </a:rPr>
              <a:t>8%</a:t>
            </a:r>
            <a:r>
              <a:rPr sz="1120" b="0" i="0">
                <a:solidFill>
                  <a:srgbClr val="1A1A1A"/>
                </a:solidFill>
                <a:latin typeface="Microsoft YaHei"/>
              </a:rPr>
              <a:t> 且多在低速可控场景；</a:t>
            </a:r>
            <a:r>
              <a:rPr sz="1120" b="0" i="1">
                <a:solidFill>
                  <a:srgbClr val="1A1A1A"/>
                </a:solidFill>
                <a:latin typeface="Microsoft YaHei"/>
              </a:rPr>
              <a:t>N</a:t>
            </a:r>
            <a:r>
              <a:rPr sz="1120" b="0" i="1">
                <a:solidFill>
                  <a:srgbClr val="1A1A1A"/>
                </a:solidFill>
                <a:latin typeface="Microsoft YaHei"/>
              </a:rPr>
              <a:t> &lt; 20</a:t>
            </a:r>
            <a:r>
              <a:rPr sz="1120" b="0" i="0">
                <a:solidFill>
                  <a:srgbClr val="1A1A1A"/>
                </a:solidFill>
                <a:latin typeface="Microsoft YaHei"/>
              </a:rPr>
              <a:t> 的研究约占 </a:t>
            </a:r>
            <a:r>
              <a:rPr sz="1120" b="1" i="0">
                <a:solidFill>
                  <a:srgbClr val="1A1A1A"/>
                </a:solidFill>
                <a:latin typeface="Microsoft YaHei"/>
              </a:rPr>
              <a:t>25%</a:t>
            </a:r>
            <a:r>
              <a:rPr sz="1120" b="0" i="0">
                <a:solidFill>
                  <a:srgbClr val="1A1A1A"/>
                </a:solidFill>
                <a:latin typeface="Microsoft YaHei"/>
              </a:rPr>
              <a:t>（零结果须区分「效力不足」与「真无差异」）；覆盖 65 岁以上者</a:t>
            </a:r>
            <a:r>
              <a:rPr sz="1120" b="1" i="0">
                <a:solidFill>
                  <a:srgbClr val="1A1A1A"/>
                </a:solidFill>
                <a:latin typeface="Microsoft YaHei"/>
              </a:rPr>
              <a:t>仅 2 项</a:t>
            </a:r>
            <a:r>
              <a:rPr sz="1120" b="0" i="0">
                <a:solidFill>
                  <a:srgbClr val="1A1A1A"/>
                </a:solidFill>
                <a:latin typeface="Microsoft YaHei"/>
              </a:rPr>
              <a:t>；</a:t>
            </a:r>
            <a:r>
              <a:rPr sz="1120" b="1" i="0">
                <a:solidFill>
                  <a:srgbClr val="1A1A1A"/>
                </a:solidFill>
                <a:latin typeface="Microsoft YaHei"/>
              </a:rPr>
              <a:t>真正做梯度对照的只有 2 项</a:t>
            </a:r>
            <a:r>
              <a:rPr sz="1120" b="0" i="0">
                <a:solidFill>
                  <a:srgbClr val="1A1A1A"/>
                </a:solidFill>
                <a:latin typeface="Microsoft YaHei"/>
              </a:rPr>
              <a:t>，且其中一项两自变量共变。</a:t>
            </a:r>
          </a:p>
        </p:txBody>
      </p:sp>
      <p:sp>
        <p:nvSpPr>
          <p:cNvPr id="19" name="Rectangle 18"/>
          <p:cNvSpPr/>
          <p:nvPr/>
        </p:nvSpPr>
        <p:spPr>
          <a:xfrm>
            <a:off x="6334125" y="3506985"/>
            <a:ext cx="5267325" cy="797421"/>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34125" y="3506985"/>
            <a:ext cx="38100" cy="797421"/>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7950" y="3592710"/>
            <a:ext cx="5057775" cy="65454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本研究的六项报告承诺：</a:t>
            </a:r>
            <a:r>
              <a:rPr sz="990" b="0" i="0">
                <a:solidFill>
                  <a:srgbClr val="1F5A1F"/>
                </a:solidFill>
                <a:latin typeface="Microsoft YaHei"/>
              </a:rPr>
              <a:t>RGB/HEX 值 · 不透明度记法方向 · 闪烁周期与占空比 · 以</a:t>
            </a:r>
            <a:r>
              <a:rPr sz="990" b="1" i="0">
                <a:solidFill>
                  <a:srgbClr val="1F5A1F"/>
                </a:solidFill>
                <a:latin typeface="Microsoft YaHei"/>
              </a:rPr>
              <a:t>角分</a:t>
            </a:r>
            <a:r>
              <a:rPr sz="990" b="0" i="0">
                <a:solidFill>
                  <a:srgbClr val="1F5A1F"/>
                </a:solidFill>
                <a:latin typeface="Microsoft YaHei"/>
              </a:rPr>
              <a:t>为单位的线宽 · Michelson 对比度 · </a:t>
            </a:r>
            <a:r>
              <a:rPr sz="990" b="1" i="0">
                <a:solidFill>
                  <a:srgbClr val="1F5A1F"/>
                </a:solidFill>
                <a:latin typeface="Microsoft YaHei"/>
              </a:rPr>
              <a:t>实测系统渲染延迟</a:t>
            </a:r>
            <a:r>
              <a:rPr sz="990" b="0" i="0">
                <a:solidFill>
                  <a:srgbClr val="1F5A1F"/>
                </a:solidFill>
                <a:latin typeface="Microsoft YaHei"/>
              </a:rPr>
              <a:t>。这不是形式要求，而是让参数能被后续研究复现与比较的必要条件。</a:t>
            </a:r>
          </a:p>
        </p:txBody>
      </p:sp>
      <p:sp>
        <p:nvSpPr>
          <p:cNvPr id="22" name="TextBox 21"/>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研究空白：九项</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2.5.1</a:t>
            </a:r>
          </a:p>
        </p:txBody>
      </p:sp>
      <p:graphicFrame>
        <p:nvGraphicFramePr>
          <p:cNvPr id="6" name="Table 5"/>
          <p:cNvGraphicFramePr>
            <a:graphicFrameLocks noGrp="1"/>
          </p:cNvGraphicFramePr>
          <p:nvPr/>
        </p:nvGraphicFramePr>
        <p:xfrm>
          <a:off x="438150" y="762000"/>
          <a:ext cx="11315698" cy="3053648"/>
        </p:xfrm>
        <a:graphic>
          <a:graphicData uri="http://schemas.openxmlformats.org/drawingml/2006/table">
            <a:tbl>
              <a:tblPr>
                <a:tableStyleId>{5C22544A-7EE6-4342-B048-85BDC9FD1C3A}</a:tableStyleId>
              </a:tblPr>
              <a:tblGrid>
                <a:gridCol w="565695"/>
                <a:gridCol w="8024961"/>
                <a:gridCol w="1706760"/>
                <a:gridCol w="1018282"/>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编号</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研究空白</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现有证据状态</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优先级</a:t>
                      </a:r>
                    </a:p>
                  </a:txBody>
                  <a:tcPr marL="66675" marR="66675" marT="52387" marB="52387" anchor="t">
                    <a:solidFill>
                      <a:srgbClr val="4472C4"/>
                    </a:solidFill>
                  </a:tcPr>
                </a:tc>
              </a:tr>
              <a:tr h="457795">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G1</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自发察觉时刻 </a:t>
                      </a:r>
                      <a:r>
                        <a:rPr sz="890" b="1" i="1">
                          <a:solidFill>
                            <a:srgbClr val="1A1A1A"/>
                          </a:solidFill>
                          <a:latin typeface="Microsoft YaHei"/>
                        </a:rPr>
                        <a:t>t</a:t>
                      </a:r>
                      <a:r>
                        <a:rPr sz="620" b="1" i="1" baseline="-25000">
                          <a:solidFill>
                            <a:srgbClr val="1A1A1A"/>
                          </a:solidFill>
                          <a:latin typeface="Microsoft YaHei"/>
                        </a:rPr>
                        <a:t>0</a:t>
                      </a:r>
                      <a:r>
                        <a:rPr sz="890" b="1" i="0">
                          <a:solidFill>
                            <a:srgbClr val="1A1A1A"/>
                          </a:solidFill>
                          <a:latin typeface="Microsoft YaHei"/>
                        </a:rPr>
                        <a:t> 从未被作为基准量测量</a:t>
                      </a:r>
                      <a:r>
                        <a:rPr sz="890" b="0" i="0">
                          <a:solidFill>
                            <a:srgbClr val="1A1A1A"/>
                          </a:solidFill>
                          <a:latin typeface="Microsoft YaHei"/>
                        </a:rPr>
                        <a:t>。全部研究把预警设在绝对 TTC 上，隐含假设驾驶员在预警前对行人一无所知；但 Winkler 等（2018）观测到 50% 被试预警前已制动、Phan 等（2016）观测到 </a:t>
                      </a:r>
                      <a:r>
                        <a:rPr sz="890" b="0" i="1">
                          <a:solidFill>
                            <a:srgbClr val="1A1A1A"/>
                          </a:solidFill>
                          <a:latin typeface="Microsoft YaHei"/>
                        </a:rPr>
                        <a:t>t</a:t>
                      </a:r>
                      <a:r>
                        <a:rPr sz="620" b="0" i="1" baseline="-25000">
                          <a:solidFill>
                            <a:srgbClr val="1A1A1A"/>
                          </a:solidFill>
                          <a:latin typeface="Microsoft YaHei"/>
                        </a:rPr>
                        <a:t>0</a:t>
                      </a:r>
                      <a:r>
                        <a:rPr sz="890" b="0" i="1">
                          <a:solidFill>
                            <a:srgbClr val="1A1A1A"/>
                          </a:solidFill>
                          <a:latin typeface="Microsoft YaHei"/>
                        </a:rPr>
                        <a:t> ≈ 3</a:t>
                      </a:r>
                      <a:r>
                        <a:rPr sz="890" b="0" i="0">
                          <a:solidFill>
                            <a:srgbClr val="1A1A1A"/>
                          </a:solidFill>
                          <a:latin typeface="Microsoft YaHei"/>
                        </a:rPr>
                        <a:t> s、Abe 与 Richardson（2006）测得自主松油门基线 0.72 s——</a:t>
                      </a:r>
                      <a:r>
                        <a:rPr sz="890" b="1" i="0">
                          <a:solidFill>
                            <a:srgbClr val="1A1A1A"/>
                          </a:solidFill>
                          <a:latin typeface="Microsoft YaHei"/>
                        </a:rPr>
                        <a:t>三者共同否证了这一假设</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零篇</a:t>
                      </a:r>
                      <a:r>
                        <a:rPr sz="890" b="0" i="0">
                          <a:solidFill>
                            <a:srgbClr val="1A1A1A"/>
                          </a:solidFill>
                          <a:latin typeface="Microsoft YaHei"/>
                        </a:rPr>
                        <a:t> AR-HUD 研究测量该量</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最高</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G2</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触发准则类型从未被作为自变量</a:t>
                      </a:r>
                      <a:r>
                        <a:rPr sz="890" b="0" i="0">
                          <a:solidFill>
                            <a:srgbClr val="1A1A1A"/>
                          </a:solidFill>
                          <a:latin typeface="Microsoft YaHei"/>
                        </a:rPr>
                        <a:t>。Takada 等（2014）等虽提出减速度归一化，但从未与固定阈值做人因对照</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算法侧四篇一致，人因侧</a:t>
                      </a:r>
                      <a:r>
                        <a:rPr sz="890" b="1" i="0">
                          <a:solidFill>
                            <a:srgbClr val="1A1A1A"/>
                          </a:solidFill>
                          <a:latin typeface="Microsoft YaHei"/>
                        </a:rPr>
                        <a:t>零对照</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最高</a:t>
                      </a:r>
                    </a:p>
                  </a:txBody>
                  <a:tcPr marL="66675" marR="66675" marT="42862" marB="42862" anchor="t">
                    <a:no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持续时长的对照实验完全缺失</a:t>
                      </a:r>
                      <a:r>
                        <a:rPr sz="890" b="0" i="0">
                          <a:solidFill>
                            <a:srgbClr val="1A1A1A"/>
                          </a:solidFill>
                          <a:latin typeface="Microsoft YaHei"/>
                        </a:rPr>
                        <a:t>；撤销策略仅 2 : 1 滞环一条规则；</a:t>
                      </a:r>
                      <a:r>
                        <a:rPr sz="890" b="1" i="0">
                          <a:solidFill>
                            <a:srgbClr val="1A1A1A"/>
                          </a:solidFill>
                          <a:latin typeface="Microsoft YaHei"/>
                        </a:rPr>
                        <a:t>渐隐时长无任何文献支撑</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报告率 &lt; 15%，零对照</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高</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级间间隔无任何直接对照实验</a:t>
                      </a:r>
                      <a:r>
                        <a:rPr sz="890" b="0" i="0">
                          <a:solidFill>
                            <a:srgbClr val="1A1A1A"/>
                          </a:solidFill>
                          <a:latin typeface="Microsoft YaHei"/>
                        </a:rPr>
                        <a:t>。0.5–2.0 s 区间来自产业时序共同界定，非人因研究</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四条产业时序，零人因对照</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高</a:t>
                      </a:r>
                    </a:p>
                  </a:txBody>
                  <a:tcPr marL="66675" marR="66675" marT="42862" marB="42862" anchor="t">
                    <a:no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G5</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系统可靠性与预警时机的交互从未被分离</a:t>
                      </a:r>
                      <a:r>
                        <a:rPr sz="890" b="0" i="0">
                          <a:solidFill>
                            <a:srgbClr val="1A1A1A"/>
                          </a:solidFill>
                          <a:latin typeface="Microsoft YaHei"/>
                        </a:rPr>
                        <a:t>。Large 等（2019）两者共变，Schall 等与 Abe 与 Richardson 各测一侧</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两侧各有证据，交互零证据</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高</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BD/BR/BW/BW+BR 的正交对照至今无一实现</a:t>
                      </a:r>
                      <a:r>
                        <a:rPr sz="890" b="0" i="0">
                          <a:solidFill>
                            <a:srgbClr val="1A1A1A"/>
                          </a:solidFill>
                          <a:latin typeface="Microsoft YaHei"/>
                        </a:rPr>
                        <a:t>。Wu 等（2024）做了三方对照但未含复合条件，也未操纵背景复杂度</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三方对照一项</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高</a:t>
                      </a:r>
                    </a:p>
                  </a:txBody>
                  <a:tcPr marL="66675" marR="66675" marT="42862" marB="42862" anchor="t">
                    <a:noFill/>
                  </a:tcPr>
                </a:tc>
              </a:tr>
              <a:tr h="443507">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G7</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风险演化动态未被分解为量级映射与趋势映射两个正交维度</a:t>
                      </a:r>
                      <a:r>
                        <a:rPr sz="890" b="0" i="0">
                          <a:solidFill>
                            <a:srgbClr val="1A1A1A"/>
                          </a:solidFill>
                          <a:latin typeface="Microsoft YaHei"/>
                        </a:rPr>
                        <a:t>。既有研究把「动态」作整体处理（动 vs 不动），无法分辨是「随风险缩放」还是「显示运动趋势」起作用</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零篇</a:t>
                      </a:r>
                      <a:r>
                        <a:rPr sz="890" b="0" i="0">
                          <a:solidFill>
                            <a:srgbClr val="1A1A1A"/>
                          </a:solidFill>
                          <a:latin typeface="Microsoft YaHei"/>
                        </a:rPr>
                        <a:t>做过 2 × 2 分解</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高</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G8</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不透明度记法冲突未裁定</a:t>
                      </a:r>
                      <a:r>
                        <a:rPr sz="890" b="0" i="0">
                          <a:solidFill>
                            <a:srgbClr val="1A1A1A"/>
                          </a:solidFill>
                          <a:latin typeface="Microsoft YaHei"/>
                        </a:rPr>
                        <a:t>，直接影响实验条件的视觉参数取值</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四篇相差 3 倍且方向未知</a:t>
                      </a:r>
                    </a:p>
                  </a:txBody>
                  <a:tcPr marL="66675" marR="66675" marT="42862" marB="42862" anchor="t">
                    <a:no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中</a:t>
                      </a:r>
                    </a:p>
                  </a:txBody>
                  <a:tcPr marL="66675" marR="66675" marT="42862" marB="42862" anchor="t">
                    <a:no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G9</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系统侧延迟几乎无人报告</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报告率 ≈ 0</a:t>
                      </a:r>
                    </a:p>
                  </a:txBody>
                  <a:tcPr marL="66675" marR="66675" marT="42862" marB="42862" anchor="t">
                    <a:solidFill>
                      <a:srgbClr val="FAFBFD"/>
                    </a:solidFill>
                  </a:tcPr>
                </a:tc>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中</a:t>
                      </a:r>
                    </a:p>
                  </a:txBody>
                  <a:tcPr marL="66675" marR="66675" marT="42862" marB="42862" anchor="t">
                    <a:solidFill>
                      <a:srgbClr val="FAFBFD"/>
                    </a:solidFill>
                  </a:tcPr>
                </a:tc>
              </a:tr>
            </a:tbl>
          </a:graphicData>
        </a:graphic>
      </p:graphicFrame>
      <p:sp>
        <p:nvSpPr>
          <p:cNvPr id="7" name="Rectangle 6"/>
          <p:cNvSpPr/>
          <p:nvPr/>
        </p:nvSpPr>
        <p:spPr>
          <a:xfrm>
            <a:off x="438150" y="3925192"/>
            <a:ext cx="11315700" cy="588764"/>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925192"/>
            <a:ext cx="38100" cy="588764"/>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4010917"/>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另有三项本研究不打算填补但须声明的空白：</a:t>
            </a:r>
            <a:r>
              <a:rPr sz="990" b="0" i="0">
                <a:solidFill>
                  <a:srgbClr val="6B5200"/>
                </a:solidFill>
                <a:latin typeface="Microsoft YaHei"/>
              </a:rPr>
              <a:t>① </a:t>
            </a:r>
            <a:r>
              <a:rPr sz="990" b="1" i="0">
                <a:solidFill>
                  <a:srgbClr val="8A6A00"/>
                </a:solidFill>
                <a:latin typeface="Microsoft YaHei"/>
              </a:rPr>
              <a:t>长期使用与习惯化</a:t>
            </a:r>
            <a:r>
              <a:rPr sz="990" b="0" i="0">
                <a:solidFill>
                  <a:srgbClr val="6B5200"/>
                </a:solidFill>
                <a:latin typeface="Microsoft YaHei"/>
              </a:rPr>
              <a:t>——全部 102 篇均为短期单次实验（典型 &lt; 1 小时）；② </a:t>
            </a:r>
            <a:r>
              <a:rPr sz="990" b="1" i="0">
                <a:solidFill>
                  <a:srgbClr val="8A6A00"/>
                </a:solidFill>
                <a:latin typeface="Microsoft YaHei"/>
              </a:rPr>
              <a:t>动效频率的二维网格</a:t>
            </a:r>
            <a:r>
              <a:rPr sz="990" b="0" i="0">
                <a:solidFill>
                  <a:srgbClr val="6B5200"/>
                </a:solidFill>
                <a:latin typeface="Microsoft YaHei"/>
              </a:rPr>
              <a:t>——建议后续做频率（0.5/2/4 Hz）× 占空比（25/50/75%），优先检验占空比主效应是否强于频率；③ </a:t>
            </a:r>
            <a:r>
              <a:rPr sz="990" b="1" i="0">
                <a:solidFill>
                  <a:srgbClr val="8A6A00"/>
                </a:solidFill>
                <a:latin typeface="Microsoft YaHei"/>
              </a:rPr>
              <a:t>传感 FOV 下界与显示策略的耦合</a:t>
            </a:r>
            <a:r>
              <a:rPr sz="990" b="0" i="0">
                <a:solidFill>
                  <a:srgbClr val="6B5200"/>
                </a:solidFill>
                <a:latin typeface="Microsoft YaHei"/>
              </a:rPr>
              <a:t>——两者从未联合考虑。</a:t>
            </a:r>
          </a:p>
        </p:txBody>
      </p:sp>
      <p:sp>
        <p:nvSpPr>
          <p:cNvPr id="10" name="TextBox 9"/>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问题提出：三个递进的研究问题及其变量结构</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2.5.2</a:t>
            </a:r>
          </a:p>
        </p:txBody>
      </p:sp>
      <p:sp>
        <p:nvSpPr>
          <p:cNvPr id="6" name="Rounded Rectangle 5"/>
          <p:cNvSpPr/>
          <p:nvPr/>
        </p:nvSpPr>
        <p:spPr>
          <a:xfrm>
            <a:off x="438150" y="762000"/>
            <a:ext cx="11315700" cy="2000250"/>
          </a:xfrm>
          <a:prstGeom prst="roundRect">
            <a:avLst>
              <a:gd name="adj" fmla="val 3333"/>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71500" y="1123950"/>
            <a:ext cx="11049000"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1500" y="866775"/>
            <a:ext cx="110871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RQ1 参数化基准：无预警辅助条件下驾驶员自发风险察觉的时间特征</a:t>
            </a:r>
          </a:p>
        </p:txBody>
      </p:sp>
      <p:sp>
        <p:nvSpPr>
          <p:cNvPr id="9" name="TextBox 8"/>
          <p:cNvSpPr txBox="1"/>
          <p:nvPr/>
        </p:nvSpPr>
        <p:spPr>
          <a:xfrm>
            <a:off x="571500" y="1190625"/>
            <a:ext cx="11087100" cy="733425"/>
          </a:xfrm>
          <a:prstGeom prst="rect">
            <a:avLst/>
          </a:prstGeom>
          <a:noFill/>
        </p:spPr>
        <p:txBody>
          <a:bodyPr wrap="square" lIns="0" rIns="0" tIns="0" bIns="0" anchor="t">
            <a:normAutofit/>
          </a:bodyPr>
          <a:lstStyle/>
          <a:p>
            <a:pPr algn="l">
              <a:lnSpc>
                <a:spcPct val="160000"/>
              </a:lnSpc>
              <a:spcBef>
                <a:spcPts val="0"/>
              </a:spcBef>
              <a:spcAft>
                <a:spcPts val="0"/>
              </a:spcAft>
            </a:pPr>
            <a:r>
              <a:rPr sz="1120" b="0" i="0">
                <a:solidFill>
                  <a:srgbClr val="1A1A1A"/>
                </a:solidFill>
                <a:latin typeface="Microsoft YaHei"/>
              </a:rPr>
              <a:t>在无预警辅助的基线条件下，驾驶员对横穿行人的</a:t>
            </a:r>
            <a:r>
              <a:rPr sz="1120" b="1" i="0">
                <a:solidFill>
                  <a:srgbClr val="1A1A1A"/>
                </a:solidFill>
                <a:latin typeface="Microsoft YaHei"/>
              </a:rPr>
              <a:t>自发察觉时刻</a:t>
            </a:r>
            <a:r>
              <a:rPr sz="1120" b="0" i="0">
                <a:solidFill>
                  <a:srgbClr val="1A1A1A"/>
                </a:solidFill>
                <a:latin typeface="Microsoft YaHei"/>
              </a:rPr>
              <a:t>（</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）与</a:t>
            </a:r>
            <a:r>
              <a:rPr sz="1120" b="1" i="0">
                <a:solidFill>
                  <a:srgbClr val="1A1A1A"/>
                </a:solidFill>
                <a:latin typeface="Microsoft YaHei"/>
              </a:rPr>
              <a:t>感知反应时</a:t>
            </a:r>
            <a:r>
              <a:rPr sz="1120" b="0" i="0">
                <a:solidFill>
                  <a:srgbClr val="1A1A1A"/>
                </a:solidFill>
                <a:latin typeface="Microsoft YaHei"/>
              </a:rPr>
              <a:t>（PRT）的分布特征如何？二者如何受</a:t>
            </a:r>
            <a:r>
              <a:rPr sz="1120" b="1" i="0">
                <a:solidFill>
                  <a:srgbClr val="1A1A1A"/>
                </a:solidFill>
                <a:latin typeface="Microsoft YaHei"/>
              </a:rPr>
              <a:t>行车速度</a:t>
            </a:r>
            <a:r>
              <a:rPr sz="1120" b="0" i="0">
                <a:solidFill>
                  <a:srgbClr val="1A1A1A"/>
                </a:solidFill>
                <a:latin typeface="Microsoft YaHei"/>
              </a:rPr>
              <a:t>与</a:t>
            </a:r>
            <a:r>
              <a:rPr sz="1120" b="1" i="0">
                <a:solidFill>
                  <a:srgbClr val="1A1A1A"/>
                </a:solidFill>
                <a:latin typeface="Microsoft YaHei"/>
              </a:rPr>
              <a:t>视线遮挡</a:t>
            </a:r>
            <a:r>
              <a:rPr sz="1120" b="0" i="0">
                <a:solidFill>
                  <a:srgbClr val="1A1A1A"/>
                </a:solidFill>
                <a:latin typeface="Microsoft YaHei"/>
              </a:rPr>
              <a:t>两项情境因素的调节？</a:t>
            </a:r>
            <a:r>
              <a:rPr sz="1120" b="1" i="0">
                <a:solidFill>
                  <a:srgbClr val="1A1A1A"/>
                </a:solidFill>
                <a:latin typeface="Microsoft YaHei"/>
              </a:rPr>
              <a:t>该问题构成后续全部参数标定的前提</a:t>
            </a:r>
            <a:r>
              <a:rPr sz="1120" b="0" i="0">
                <a:solidFill>
                  <a:srgbClr val="1A1A1A"/>
                </a:solidFill>
                <a:latin typeface="Microsoft YaHei"/>
              </a:rPr>
              <a:t>——若 </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 未经实测，实验 2 的自变量只能表达为绝对碰撞时间，而后者在不同行车速度下对应不同的信息增益，此即既有文献结论方向不一致的方法学根源。</a:t>
            </a:r>
          </a:p>
        </p:txBody>
      </p:sp>
      <p:sp>
        <p:nvSpPr>
          <p:cNvPr id="10" name="TextBox 9"/>
          <p:cNvSpPr txBox="1"/>
          <p:nvPr/>
        </p:nvSpPr>
        <p:spPr>
          <a:xfrm>
            <a:off x="571500" y="1952625"/>
            <a:ext cx="11087100" cy="733425"/>
          </a:xfrm>
          <a:prstGeom prst="rect">
            <a:avLst/>
          </a:prstGeom>
          <a:noFill/>
        </p:spPr>
        <p:txBody>
          <a:bodyPr wrap="square" lIns="0" rIns="0" tIns="0" bIns="0" anchor="t">
            <a:normAutofit/>
          </a:bodyPr>
          <a:lstStyle/>
          <a:p>
            <a:pPr algn="l">
              <a:lnSpc>
                <a:spcPct val="160000"/>
              </a:lnSpc>
              <a:spcBef>
                <a:spcPts val="0"/>
              </a:spcBef>
              <a:spcAft>
                <a:spcPts val="0"/>
              </a:spcAft>
            </a:pPr>
            <a:r>
              <a:rPr sz="1120" b="1" i="0">
                <a:solidFill>
                  <a:srgbClr val="1A1A1A"/>
                </a:solidFill>
                <a:latin typeface="Microsoft YaHei"/>
              </a:rPr>
              <a:t>操作化指标：</a:t>
            </a:r>
            <a:r>
              <a:rPr sz="1120" b="0" i="0">
                <a:solidFill>
                  <a:srgbClr val="1A1A1A"/>
                </a:solidFill>
                <a:latin typeface="Microsoft YaHei"/>
              </a:rPr>
              <a:t>(a) </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 的中位数、第 5 与第 95 百分位、被试内标准差；(b) </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 对速度与遮挡的主效应与交互；(c) PRT 的分位数分布及其成分分解；(d) 实际采用的减速度范围与制动威胁数可用阈值区间。</a:t>
            </a:r>
            <a:r>
              <a:rPr sz="1120" b="1" i="0">
                <a:solidFill>
                  <a:srgbClr val="1A1A1A"/>
                </a:solidFill>
                <a:latin typeface="Microsoft YaHei"/>
              </a:rPr>
              <a:t> 理论校验值：</a:t>
            </a:r>
            <a:r>
              <a:rPr sz="1120" b="0" i="0">
                <a:solidFill>
                  <a:srgbClr val="1A1A1A"/>
                </a:solidFill>
                <a:latin typeface="Microsoft YaHei"/>
              </a:rPr>
              <a:t>60 km/h 无遮挡条件下 </a:t>
            </a:r>
            <a:r>
              <a:rPr sz="1120" b="0" i="1">
                <a:solidFill>
                  <a:srgbClr val="1A1A1A"/>
                </a:solidFill>
                <a:latin typeface="Microsoft YaHei"/>
              </a:rPr>
              <a:t>t</a:t>
            </a:r>
            <a:r>
              <a:rPr sz="790" b="0" i="1" baseline="-25000">
                <a:solidFill>
                  <a:srgbClr val="1A1A1A"/>
                </a:solidFill>
                <a:latin typeface="Microsoft YaHei"/>
              </a:rPr>
              <a:t>0</a:t>
            </a:r>
            <a:r>
              <a:rPr sz="1120" b="0" i="0">
                <a:solidFill>
                  <a:srgbClr val="1A1A1A"/>
                </a:solidFill>
                <a:latin typeface="Microsoft YaHei"/>
              </a:rPr>
              <a:t> 中位数的预期区间为 </a:t>
            </a:r>
            <a:r>
              <a:rPr sz="1120" b="1" i="0">
                <a:solidFill>
                  <a:srgbClr val="1A1A1A"/>
                </a:solidFill>
                <a:latin typeface="Microsoft YaHei"/>
              </a:rPr>
              <a:t>3.0–3.5 s</a:t>
            </a:r>
            <a:r>
              <a:rPr sz="1120" b="0" i="0">
                <a:solidFill>
                  <a:srgbClr val="1A1A1A"/>
                </a:solidFill>
                <a:latin typeface="Microsoft YaHei"/>
              </a:rPr>
              <a:t>（光学膨胀率理论推算 3.2 s，与 Phan 等实测约 3 s 收敛）；</a:t>
            </a:r>
            <a:r>
              <a:rPr sz="1120" b="1" i="0">
                <a:solidFill>
                  <a:srgbClr val="1A1A1A"/>
                </a:solidFill>
                <a:latin typeface="Microsoft YaHei"/>
              </a:rPr>
              <a:t>若实测值大幅偏离，应先检验模拟器视觉保真度而非直接采信。</a:t>
            </a:r>
          </a:p>
        </p:txBody>
      </p:sp>
      <p:sp>
        <p:nvSpPr>
          <p:cNvPr id="11" name="Rounded Rectangle 10"/>
          <p:cNvSpPr/>
          <p:nvPr/>
        </p:nvSpPr>
        <p:spPr>
          <a:xfrm>
            <a:off x="438150" y="2857500"/>
            <a:ext cx="11315700" cy="1457325"/>
          </a:xfrm>
          <a:prstGeom prst="roundRect">
            <a:avLst>
              <a:gd name="adj" fmla="val 4575"/>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71500" y="3219450"/>
            <a:ext cx="110490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 y="2962275"/>
            <a:ext cx="110871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RQ2 时间参数：预警时序变量对四类因变量的影响机制与适宜区间</a:t>
            </a:r>
          </a:p>
        </p:txBody>
      </p:sp>
      <p:sp>
        <p:nvSpPr>
          <p:cNvPr id="14" name="TextBox 13"/>
          <p:cNvSpPr txBox="1"/>
          <p:nvPr/>
        </p:nvSpPr>
        <p:spPr>
          <a:xfrm>
            <a:off x="571500" y="3286125"/>
            <a:ext cx="11087100" cy="952500"/>
          </a:xfrm>
          <a:prstGeom prst="rect">
            <a:avLst/>
          </a:prstGeom>
          <a:noFill/>
        </p:spPr>
        <p:txBody>
          <a:bodyPr wrap="square" lIns="0" rIns="0" tIns="0" bIns="0" anchor="t">
            <a:normAutofit/>
          </a:bodyPr>
          <a:lstStyle/>
          <a:p>
            <a:pPr algn="l">
              <a:lnSpc>
                <a:spcPct val="160000"/>
              </a:lnSpc>
              <a:spcBef>
                <a:spcPts val="0"/>
              </a:spcBef>
              <a:spcAft>
                <a:spcPts val="0"/>
              </a:spcAft>
            </a:pPr>
            <a:r>
              <a:rPr sz="1120" b="0" i="0">
                <a:solidFill>
                  <a:srgbClr val="1A1A1A"/>
                </a:solidFill>
                <a:latin typeface="Microsoft YaHei"/>
              </a:rPr>
              <a:t>时间参数如何影响驾驶员的</a:t>
            </a:r>
            <a:r>
              <a:rPr sz="1120" b="1" i="0">
                <a:solidFill>
                  <a:srgbClr val="1A1A1A"/>
                </a:solidFill>
                <a:latin typeface="Microsoft YaHei"/>
              </a:rPr>
              <a:t>安全绩效、认知负荷、情境意识与用户体验</a:t>
            </a:r>
            <a:r>
              <a:rPr sz="1120" b="0" i="0">
                <a:solidFill>
                  <a:srgbClr val="1A1A1A"/>
                </a:solidFill>
                <a:latin typeface="Microsoft YaHei"/>
              </a:rPr>
              <a:t>？各参数的适宜取值区间为何？</a:t>
            </a:r>
          </a:p>
          <a:p>
            <a:pPr algn="l">
              <a:lnSpc>
                <a:spcPct val="160000"/>
              </a:lnSpc>
              <a:spcBef>
                <a:spcPts val="0"/>
              </a:spcBef>
              <a:spcAft>
                <a:spcPts val="0"/>
              </a:spcAft>
            </a:pPr>
            <a:r>
              <a:rPr sz="1120" b="0" i="0">
                <a:solidFill>
                  <a:srgbClr val="1A1A1A"/>
                </a:solidFill>
                <a:latin typeface="Microsoft YaHei"/>
              </a:rPr>
              <a:t>(a) </a:t>
            </a:r>
            <a:r>
              <a:rPr sz="1120" b="1" i="0">
                <a:solidFill>
                  <a:srgbClr val="1A1A1A"/>
                </a:solidFill>
                <a:latin typeface="Microsoft YaHei"/>
              </a:rPr>
              <a:t>相对提前量 </a:t>
            </a:r>
            <a:r>
              <a:rPr sz="1120" b="1" i="1">
                <a:solidFill>
                  <a:srgbClr val="1A1A1A"/>
                </a:solidFill>
                <a:latin typeface="Microsoft YaHei"/>
              </a:rPr>
              <a:t>Δt</a:t>
            </a:r>
            <a:r>
              <a:rPr sz="1120" b="1" i="0">
                <a:solidFill>
                  <a:srgbClr val="1A1A1A"/>
                </a:solidFill>
                <a:latin typeface="Microsoft YaHei"/>
              </a:rPr>
              <a:t> 与触发准则类型</a:t>
            </a:r>
            <a:r>
              <a:rPr sz="1120" b="0" i="0">
                <a:solidFill>
                  <a:srgbClr val="1A1A1A"/>
                </a:solidFill>
                <a:latin typeface="Microsoft YaHei"/>
              </a:rPr>
              <a:t>——</a:t>
            </a:r>
            <a:r>
              <a:rPr sz="1120" b="0" i="1">
                <a:solidFill>
                  <a:srgbClr val="1A1A1A"/>
                </a:solidFill>
                <a:latin typeface="Microsoft YaHei"/>
              </a:rPr>
              <a:t>Δt</a:t>
            </a:r>
            <a:r>
              <a:rPr sz="1120" b="0" i="0">
                <a:solidFill>
                  <a:srgbClr val="1A1A1A"/>
                </a:solidFill>
                <a:latin typeface="Microsoft YaHei"/>
              </a:rPr>
              <a:t> 的适宜区间为何？准则采用固定时间阈值抑或减速度归一化量？是否与行车速度交互？</a:t>
            </a:r>
            <a:r>
              <a:rPr sz="940" b="0" i="0">
                <a:solidFill>
                  <a:srgbClr val="8C8C8C"/>
                </a:solidFill>
                <a:latin typeface="Microsoft YaHei"/>
              </a:rPr>
              <a:t>→ 对应空白 G1、G2</a:t>
            </a:r>
          </a:p>
          <a:p>
            <a:pPr algn="l">
              <a:lnSpc>
                <a:spcPct val="160000"/>
              </a:lnSpc>
              <a:spcBef>
                <a:spcPts val="0"/>
              </a:spcBef>
              <a:spcAft>
                <a:spcPts val="0"/>
              </a:spcAft>
            </a:pPr>
            <a:r>
              <a:rPr sz="1120" b="0" i="0">
                <a:solidFill>
                  <a:srgbClr val="1A1A1A"/>
                </a:solidFill>
                <a:latin typeface="Microsoft YaHei"/>
              </a:rPr>
              <a:t>(b) </a:t>
            </a:r>
            <a:r>
              <a:rPr sz="1120" b="1" i="0">
                <a:solidFill>
                  <a:srgbClr val="1A1A1A"/>
                </a:solidFill>
                <a:latin typeface="Microsoft YaHei"/>
              </a:rPr>
              <a:t>持续与撤销策略</a:t>
            </a:r>
            <a:r>
              <a:rPr sz="1120" b="0" i="0">
                <a:solidFill>
                  <a:srgbClr val="1A1A1A"/>
                </a:solidFill>
                <a:latin typeface="Microsoft YaHei"/>
              </a:rPr>
              <a:t>——固定时长、状态维持与风险耦合衰减三者的优劣序为何？撤销规则是否需引入滞环？</a:t>
            </a:r>
            <a:r>
              <a:rPr sz="940" b="0" i="0">
                <a:solidFill>
                  <a:srgbClr val="8C8C8C"/>
                </a:solidFill>
                <a:latin typeface="Microsoft YaHei"/>
              </a:rPr>
              <a:t>→ G3</a:t>
            </a:r>
          </a:p>
          <a:p>
            <a:pPr algn="l">
              <a:lnSpc>
                <a:spcPct val="160000"/>
              </a:lnSpc>
              <a:spcBef>
                <a:spcPts val="0"/>
              </a:spcBef>
              <a:spcAft>
                <a:spcPts val="0"/>
              </a:spcAft>
            </a:pPr>
            <a:r>
              <a:rPr sz="1120" b="0" i="0">
                <a:solidFill>
                  <a:srgbClr val="1A1A1A"/>
                </a:solidFill>
                <a:latin typeface="Microsoft YaHei"/>
              </a:rPr>
              <a:t>(c) </a:t>
            </a:r>
            <a:r>
              <a:rPr sz="1120" b="1" i="0">
                <a:solidFill>
                  <a:srgbClr val="1A1A1A"/>
                </a:solidFill>
                <a:latin typeface="Microsoft YaHei"/>
              </a:rPr>
              <a:t>分层升级规则与系统可靠性</a:t>
            </a:r>
            <a:r>
              <a:rPr sz="1120" b="0" i="0">
                <a:solidFill>
                  <a:srgbClr val="1A1A1A"/>
                </a:solidFill>
                <a:latin typeface="Microsoft YaHei"/>
              </a:rPr>
              <a:t>——级间间隔的适宜取值为何？可靠性下降时分层结构的优势是否衰减？虚警发生于预告级与确认级时代价是否等同？</a:t>
            </a:r>
            <a:r>
              <a:rPr sz="940" b="0" i="0">
                <a:solidFill>
                  <a:srgbClr val="8C8C8C"/>
                </a:solidFill>
                <a:latin typeface="Microsoft YaHei"/>
              </a:rPr>
              <a:t>→ G4、G5</a:t>
            </a:r>
          </a:p>
        </p:txBody>
      </p:sp>
      <p:sp>
        <p:nvSpPr>
          <p:cNvPr id="15" name="Rounded Rectangle 14"/>
          <p:cNvSpPr/>
          <p:nvPr/>
        </p:nvSpPr>
        <p:spPr>
          <a:xfrm>
            <a:off x="438150" y="4410075"/>
            <a:ext cx="11315700" cy="1676400"/>
          </a:xfrm>
          <a:prstGeom prst="roundRect">
            <a:avLst>
              <a:gd name="adj" fmla="val 3977"/>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71500" y="4772025"/>
            <a:ext cx="11049000"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500" y="4514850"/>
            <a:ext cx="11087100"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RQ3 空间参数：空间参照系与风险动态映射的作用路径</a:t>
            </a:r>
          </a:p>
        </p:txBody>
      </p:sp>
      <p:sp>
        <p:nvSpPr>
          <p:cNvPr id="18" name="TextBox 17"/>
          <p:cNvSpPr txBox="1"/>
          <p:nvPr/>
        </p:nvSpPr>
        <p:spPr>
          <a:xfrm>
            <a:off x="571500" y="4838700"/>
            <a:ext cx="11087100" cy="1171575"/>
          </a:xfrm>
          <a:prstGeom prst="rect">
            <a:avLst/>
          </a:prstGeom>
          <a:noFill/>
        </p:spPr>
        <p:txBody>
          <a:bodyPr wrap="square" lIns="0" rIns="0" tIns="0" bIns="0" anchor="t">
            <a:normAutofit/>
          </a:bodyPr>
          <a:lstStyle/>
          <a:p>
            <a:pPr algn="l">
              <a:lnSpc>
                <a:spcPct val="160000"/>
              </a:lnSpc>
              <a:spcBef>
                <a:spcPts val="0"/>
              </a:spcBef>
              <a:spcAft>
                <a:spcPts val="0"/>
              </a:spcAft>
            </a:pPr>
            <a:r>
              <a:rPr sz="1120" b="0" i="0">
                <a:solidFill>
                  <a:srgbClr val="1A1A1A"/>
                </a:solidFill>
                <a:latin typeface="Microsoft YaHei"/>
              </a:rPr>
              <a:t>空间参照系与风险动态映射如何影响</a:t>
            </a:r>
            <a:r>
              <a:rPr sz="1120" b="1" i="0">
                <a:solidFill>
                  <a:srgbClr val="1A1A1A"/>
                </a:solidFill>
                <a:latin typeface="Microsoft YaHei"/>
              </a:rPr>
              <a:t>危险定位效率、注意资源分配与情境意识各阶段的达成</a:t>
            </a:r>
            <a:r>
              <a:rPr sz="1120" b="0" i="0">
                <a:solidFill>
                  <a:srgbClr val="1A1A1A"/>
                </a:solidFill>
                <a:latin typeface="Microsoft YaHei"/>
              </a:rPr>
              <a:t>？</a:t>
            </a:r>
          </a:p>
          <a:p>
            <a:pPr algn="l">
              <a:lnSpc>
                <a:spcPct val="160000"/>
              </a:lnSpc>
              <a:spcBef>
                <a:spcPts val="0"/>
              </a:spcBef>
              <a:spcAft>
                <a:spcPts val="0"/>
              </a:spcAft>
            </a:pPr>
            <a:r>
              <a:rPr sz="1120" b="0" i="0">
                <a:solidFill>
                  <a:srgbClr val="1A1A1A"/>
                </a:solidFill>
                <a:latin typeface="Microsoft YaHei"/>
              </a:rPr>
              <a:t>(a) </a:t>
            </a:r>
            <a:r>
              <a:rPr sz="1120" b="1" i="0">
                <a:solidFill>
                  <a:srgbClr val="1A1A1A"/>
                </a:solidFill>
                <a:latin typeface="Microsoft YaHei"/>
              </a:rPr>
              <a:t>空间参照系与锁定策略</a:t>
            </a:r>
            <a:r>
              <a:rPr sz="1120" b="0" i="0">
                <a:solidFill>
                  <a:srgbClr val="1A1A1A"/>
                </a:solidFill>
                <a:latin typeface="Microsoft YaHei"/>
              </a:rPr>
              <a:t>——屏幕固定、道路锁定、跟随目标锁定与复合四水平的优劣序为何？该序是否随</a:t>
            </a:r>
            <a:r>
              <a:rPr sz="1120" b="1" i="0">
                <a:solidFill>
                  <a:srgbClr val="1A1A1A"/>
                </a:solidFill>
                <a:latin typeface="Microsoft YaHei"/>
              </a:rPr>
              <a:t>背景视觉复杂度</a:t>
            </a:r>
            <a:r>
              <a:rPr sz="1120" b="0" i="0">
                <a:solidFill>
                  <a:srgbClr val="1A1A1A"/>
                </a:solidFill>
                <a:latin typeface="Microsoft YaHei"/>
              </a:rPr>
              <a:t>与</a:t>
            </a:r>
            <a:r>
              <a:rPr sz="1120" b="1" i="0">
                <a:solidFill>
                  <a:srgbClr val="1A1A1A"/>
                </a:solidFill>
                <a:latin typeface="Microsoft YaHei"/>
              </a:rPr>
              <a:t>次任务负荷</a:t>
            </a:r>
            <a:r>
              <a:rPr sz="1120" b="0" i="0">
                <a:solidFill>
                  <a:srgbClr val="1A1A1A"/>
                </a:solidFill>
                <a:latin typeface="Microsoft YaHei"/>
              </a:rPr>
              <a:t>改变？图形指向危险侧抑或逃逸侧？</a:t>
            </a:r>
            <a:r>
              <a:rPr sz="940" b="0" i="0">
                <a:solidFill>
                  <a:srgbClr val="8C8C8C"/>
                </a:solidFill>
                <a:latin typeface="Microsoft YaHei"/>
              </a:rPr>
              <a:t>→ 对应空白 G6</a:t>
            </a:r>
          </a:p>
          <a:p>
            <a:pPr algn="l">
              <a:lnSpc>
                <a:spcPct val="160000"/>
              </a:lnSpc>
              <a:spcBef>
                <a:spcPts val="0"/>
              </a:spcBef>
              <a:spcAft>
                <a:spcPts val="0"/>
              </a:spcAft>
            </a:pPr>
            <a:r>
              <a:rPr sz="1120" b="0" i="0">
                <a:solidFill>
                  <a:srgbClr val="1A1A1A"/>
                </a:solidFill>
                <a:latin typeface="Microsoft YaHei"/>
              </a:rPr>
              <a:t>(b) </a:t>
            </a:r>
            <a:r>
              <a:rPr sz="1120" b="1" i="0">
                <a:solidFill>
                  <a:srgbClr val="1A1A1A"/>
                </a:solidFill>
                <a:latin typeface="Microsoft YaHei"/>
              </a:rPr>
              <a:t>风险演化的空间编码</a:t>
            </a:r>
            <a:r>
              <a:rPr sz="1120" b="0" i="0">
                <a:solidFill>
                  <a:srgbClr val="1A1A1A"/>
                </a:solidFill>
                <a:latin typeface="Microsoft YaHei"/>
              </a:rPr>
              <a:t>——将「动态」分解为</a:t>
            </a:r>
            <a:r>
              <a:rPr sz="1120" b="1" i="0">
                <a:solidFill>
                  <a:srgbClr val="1A1A1A"/>
                </a:solidFill>
                <a:latin typeface="Microsoft YaHei"/>
              </a:rPr>
              <a:t>风险量级空间映射</a:t>
            </a:r>
            <a:r>
              <a:rPr sz="1120" b="0" i="0">
                <a:solidFill>
                  <a:srgbClr val="1A1A1A"/>
                </a:solidFill>
                <a:latin typeface="Microsoft YaHei"/>
              </a:rPr>
              <a:t>（几何是否随制动威胁数缩放）与</a:t>
            </a:r>
            <a:r>
              <a:rPr sz="1120" b="1" i="0">
                <a:solidFill>
                  <a:srgbClr val="1A1A1A"/>
                </a:solidFill>
                <a:latin typeface="Microsoft YaHei"/>
              </a:rPr>
              <a:t>运动趋势空间映射</a:t>
            </a:r>
            <a:r>
              <a:rPr sz="1120" b="0" i="0">
                <a:solidFill>
                  <a:srgbClr val="1A1A1A"/>
                </a:solidFill>
                <a:latin typeface="Microsoft YaHei"/>
              </a:rPr>
              <a:t>（是否呈现预测轨迹与冲突点）两个正交维度后，各维度的作用路径为何？二者是否存在协同效应？</a:t>
            </a:r>
            <a:r>
              <a:rPr sz="940" b="0" i="0">
                <a:solidFill>
                  <a:srgbClr val="8C8C8C"/>
                </a:solidFill>
                <a:latin typeface="Microsoft YaHei"/>
              </a:rPr>
              <a:t>→ G7</a:t>
            </a:r>
          </a:p>
        </p:txBody>
      </p:sp>
      <p:sp>
        <p:nvSpPr>
          <p:cNvPr id="19" name="TextBox 18"/>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研究目标：总目标、四项分目标与四类因变量构念</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2.5.2</a:t>
            </a:r>
          </a:p>
        </p:txBody>
      </p:sp>
      <p:sp>
        <p:nvSpPr>
          <p:cNvPr id="6" name="Rectangle 5"/>
          <p:cNvSpPr/>
          <p:nvPr/>
        </p:nvSpPr>
        <p:spPr>
          <a:xfrm>
            <a:off x="438150" y="762000"/>
            <a:ext cx="11315700" cy="68460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68460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50363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总目标：</a:t>
            </a:r>
            <a:r>
              <a:rPr sz="1090" b="0" i="0">
                <a:solidFill>
                  <a:srgbClr val="2F528F"/>
                </a:solidFill>
                <a:latin typeface="Microsoft YaHei"/>
              </a:rPr>
              <a:t>以驾驶员</a:t>
            </a:r>
            <a:r>
              <a:rPr sz="1090" b="1" i="0">
                <a:solidFill>
                  <a:srgbClr val="2F528F"/>
                </a:solidFill>
                <a:latin typeface="Microsoft YaHei"/>
              </a:rPr>
              <a:t>情境意识模型</a:t>
            </a:r>
            <a:r>
              <a:rPr sz="1090" b="0" i="0">
                <a:solidFill>
                  <a:srgbClr val="2F528F"/>
                </a:solidFill>
                <a:latin typeface="Microsoft YaHei"/>
              </a:rPr>
              <a:t>与</a:t>
            </a:r>
            <a:r>
              <a:rPr sz="1090" b="1" i="0">
                <a:solidFill>
                  <a:srgbClr val="2F528F"/>
                </a:solidFill>
                <a:latin typeface="Microsoft YaHei"/>
              </a:rPr>
              <a:t>注意加工阶段理论</a:t>
            </a:r>
            <a:r>
              <a:rPr sz="1090" b="0" i="0">
                <a:solidFill>
                  <a:srgbClr val="2F528F"/>
                </a:solidFill>
                <a:latin typeface="Microsoft YaHei"/>
              </a:rPr>
              <a:t>为理论基础，探索情境特异的 AR-HUD 行人碰撞预警</a:t>
            </a:r>
            <a:r>
              <a:rPr sz="1090" b="1" i="0">
                <a:solidFill>
                  <a:srgbClr val="2F528F"/>
                </a:solidFill>
                <a:latin typeface="Microsoft YaHei"/>
              </a:rPr>
              <a:t>时空参数</a:t>
            </a:r>
            <a:r>
              <a:rPr sz="1090" b="0" i="0">
                <a:solidFill>
                  <a:srgbClr val="2F528F"/>
                </a:solidFill>
                <a:latin typeface="Microsoft YaHei"/>
              </a:rPr>
              <a:t>与驾驶员</a:t>
            </a:r>
            <a:r>
              <a:rPr sz="1090" b="1" i="0">
                <a:solidFill>
                  <a:srgbClr val="2F528F"/>
                </a:solidFill>
                <a:latin typeface="Microsoft YaHei"/>
              </a:rPr>
              <a:t>安全绩效、认知负荷、情境意识及用户体验</a:t>
            </a:r>
            <a:r>
              <a:rPr sz="1090" b="0" i="0">
                <a:solidFill>
                  <a:srgbClr val="2F528F"/>
                </a:solidFill>
                <a:latin typeface="Microsoft YaHei"/>
              </a:rPr>
              <a:t>之间的关系，建立以自发察觉时刻为零点的参数化基准，</a:t>
            </a:r>
            <a:r>
              <a:rPr sz="1090" b="1" i="0">
                <a:solidFill>
                  <a:srgbClr val="2F528F"/>
                </a:solidFill>
                <a:latin typeface="Microsoft YaHei"/>
              </a:rPr>
              <a:t>输出兼顾安全阈限与用户心理需求的 AR-HUD 行人预警时空参数设计标准</a:t>
            </a:r>
            <a:r>
              <a:rPr sz="1090" b="0" i="0">
                <a:solidFill>
                  <a:srgbClr val="2F528F"/>
                </a:solidFill>
                <a:latin typeface="Microsoft YaHei"/>
              </a:rPr>
              <a:t>。</a:t>
            </a:r>
          </a:p>
        </p:txBody>
      </p:sp>
      <p:sp>
        <p:nvSpPr>
          <p:cNvPr id="9" name="Rounded Rectangle 8"/>
          <p:cNvSpPr/>
          <p:nvPr/>
        </p:nvSpPr>
        <p:spPr>
          <a:xfrm>
            <a:off x="438150" y="1522809"/>
            <a:ext cx="5572125" cy="4051994"/>
          </a:xfrm>
          <a:prstGeom prst="roundRect">
            <a:avLst>
              <a:gd name="adj" fmla="val 1645"/>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71500" y="1884759"/>
            <a:ext cx="53054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1500" y="1627584"/>
            <a:ext cx="53435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四项分目标（与 RQ 一一对应，逐层收敛）</a:t>
            </a:r>
          </a:p>
        </p:txBody>
      </p:sp>
      <p:sp>
        <p:nvSpPr>
          <p:cNvPr id="12" name="TextBox 11"/>
          <p:cNvSpPr txBox="1"/>
          <p:nvPr/>
        </p:nvSpPr>
        <p:spPr>
          <a:xfrm>
            <a:off x="571500" y="1951434"/>
            <a:ext cx="5343525" cy="67687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O1 基准标定。</a:t>
            </a:r>
            <a:r>
              <a:rPr sz="1019" b="0" i="0">
                <a:solidFill>
                  <a:srgbClr val="1A1A1A"/>
                </a:solidFill>
                <a:latin typeface="Microsoft YaHei"/>
              </a:rPr>
              <a:t>探索无预警辅助条件下驾驶员自发风险察觉的时间特征及其情境调节，</a:t>
            </a:r>
            <a:r>
              <a:rPr sz="1019" b="1" i="0">
                <a:solidFill>
                  <a:srgbClr val="1A1A1A"/>
                </a:solidFill>
                <a:latin typeface="Microsoft YaHei"/>
              </a:rPr>
              <a:t>输出</a:t>
            </a:r>
            <a:r>
              <a:rPr sz="1019" b="0" i="0">
                <a:solidFill>
                  <a:srgbClr val="1A1A1A"/>
                </a:solidFill>
                <a:latin typeface="Microsoft YaHei"/>
              </a:rPr>
              <a:t>以自发察觉时刻为零点的参数化基准、感知反应时分位数分布与运动学下界。</a:t>
            </a:r>
            <a:r>
              <a:rPr sz="940" b="0" i="0">
                <a:solidFill>
                  <a:srgbClr val="8C8C8C"/>
                </a:solidFill>
                <a:latin typeface="Microsoft YaHei"/>
              </a:rPr>
              <a:t>→ RQ1｜§2.1.6 三重约束模型的零点</a:t>
            </a:r>
          </a:p>
        </p:txBody>
      </p:sp>
      <p:sp>
        <p:nvSpPr>
          <p:cNvPr id="13" name="TextBox 12"/>
          <p:cNvSpPr txBox="1"/>
          <p:nvPr/>
        </p:nvSpPr>
        <p:spPr>
          <a:xfrm>
            <a:off x="571500" y="2618779"/>
            <a:ext cx="5343525" cy="675084"/>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O2 时间参数标定。</a:t>
            </a:r>
            <a:r>
              <a:rPr sz="1019" b="0" i="0">
                <a:solidFill>
                  <a:srgbClr val="1A1A1A"/>
                </a:solidFill>
                <a:latin typeface="Microsoft YaHei"/>
              </a:rPr>
              <a:t>探索相对提前量、触发准则类型、持续与撤销策略、分层级间间隔与系统可靠性对四类因变量的影响机制与作用边界，</a:t>
            </a:r>
            <a:r>
              <a:rPr sz="1019" b="1" i="0">
                <a:solidFill>
                  <a:srgbClr val="1A1A1A"/>
                </a:solidFill>
                <a:latin typeface="Microsoft YaHei"/>
              </a:rPr>
              <a:t>输出</a:t>
            </a:r>
            <a:r>
              <a:rPr sz="1019" b="0" i="0">
                <a:solidFill>
                  <a:srgbClr val="1A1A1A"/>
                </a:solidFill>
                <a:latin typeface="Microsoft YaHei"/>
              </a:rPr>
              <a:t>各时间参数的适宜取值区间及其运动学表达式。</a:t>
            </a:r>
            <a:r>
              <a:rPr sz="940" b="0" i="0">
                <a:solidFill>
                  <a:srgbClr val="8C8C8C"/>
                </a:solidFill>
                <a:latin typeface="Microsoft YaHei"/>
              </a:rPr>
              <a:t>→ RQ2｜填补 G1–G5</a:t>
            </a:r>
          </a:p>
        </p:txBody>
      </p:sp>
      <p:sp>
        <p:nvSpPr>
          <p:cNvPr id="14" name="TextBox 13"/>
          <p:cNvSpPr txBox="1"/>
          <p:nvPr/>
        </p:nvSpPr>
        <p:spPr>
          <a:xfrm>
            <a:off x="571500" y="3284339"/>
            <a:ext cx="5343525" cy="675084"/>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O3 空间参数标定。</a:t>
            </a:r>
            <a:r>
              <a:rPr sz="1019" b="0" i="0">
                <a:solidFill>
                  <a:srgbClr val="1A1A1A"/>
                </a:solidFill>
                <a:latin typeface="Microsoft YaHei"/>
              </a:rPr>
              <a:t>探索空间参照系与风险动态映射对危险定位效率、注意资源分配及情境意识三阶段的作用路径，</a:t>
            </a:r>
            <a:r>
              <a:rPr sz="1019" b="1" i="0">
                <a:solidFill>
                  <a:srgbClr val="1A1A1A"/>
                </a:solidFill>
                <a:latin typeface="Microsoft YaHei"/>
              </a:rPr>
              <a:t>输出</a:t>
            </a:r>
            <a:r>
              <a:rPr sz="1019" b="0" i="0">
                <a:solidFill>
                  <a:srgbClr val="1A1A1A"/>
                </a:solidFill>
                <a:latin typeface="Microsoft YaHei"/>
              </a:rPr>
              <a:t>锁定策略推荐序与动态编码规则，</a:t>
            </a:r>
            <a:r>
              <a:rPr sz="1019" b="1" i="0">
                <a:solidFill>
                  <a:srgbClr val="1A1A1A"/>
                </a:solidFill>
                <a:latin typeface="Microsoft YaHei"/>
              </a:rPr>
              <a:t>分离位置增益与共形增益</a:t>
            </a:r>
            <a:r>
              <a:rPr sz="1019" b="0" i="0">
                <a:solidFill>
                  <a:srgbClr val="1A1A1A"/>
                </a:solidFill>
                <a:latin typeface="Microsoft YaHei"/>
              </a:rPr>
              <a:t>，并判定推荐序</a:t>
            </a:r>
            <a:r>
              <a:rPr sz="1019" b="1" i="0">
                <a:solidFill>
                  <a:srgbClr val="1A1A1A"/>
                </a:solidFill>
                <a:latin typeface="Microsoft YaHei"/>
              </a:rPr>
              <a:t>可否跨负荷迁移</a:t>
            </a:r>
            <a:r>
              <a:rPr sz="1019" b="0" i="0">
                <a:solidFill>
                  <a:srgbClr val="1A1A1A"/>
                </a:solidFill>
                <a:latin typeface="Microsoft YaHei"/>
              </a:rPr>
              <a:t>。</a:t>
            </a:r>
            <a:r>
              <a:rPr sz="940" b="0" i="0">
                <a:solidFill>
                  <a:srgbClr val="8C8C8C"/>
                </a:solidFill>
                <a:latin typeface="Microsoft YaHei"/>
              </a:rPr>
              <a:t>→ RQ3｜填补 G6–G7</a:t>
            </a:r>
          </a:p>
        </p:txBody>
      </p:sp>
      <p:sp>
        <p:nvSpPr>
          <p:cNvPr id="15" name="TextBox 14"/>
          <p:cNvSpPr txBox="1"/>
          <p:nvPr/>
        </p:nvSpPr>
        <p:spPr>
          <a:xfrm>
            <a:off x="571500" y="3949898"/>
            <a:ext cx="5343525" cy="675084"/>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O4 关系模型与标准整合。</a:t>
            </a:r>
            <a:r>
              <a:rPr sz="1019" b="0" i="0">
                <a:solidFill>
                  <a:srgbClr val="1A1A1A"/>
                </a:solidFill>
                <a:latin typeface="Microsoft YaHei"/>
              </a:rPr>
              <a:t>建立「时空参数 → 情境意识 → 安全绩效与用户体验」的关系模型，</a:t>
            </a:r>
            <a:r>
              <a:rPr sz="1019" b="1" i="0">
                <a:solidFill>
                  <a:srgbClr val="1A1A1A"/>
                </a:solidFill>
                <a:latin typeface="Microsoft YaHei"/>
              </a:rPr>
              <a:t>输出</a:t>
            </a:r>
            <a:r>
              <a:rPr sz="1019" b="0" i="0">
                <a:solidFill>
                  <a:srgbClr val="1A1A1A"/>
                </a:solidFill>
                <a:latin typeface="Microsoft YaHei"/>
              </a:rPr>
              <a:t>可跨行车速度迁移、与量产显示视场及自动紧急制动时序对齐的设计标准，并明确适用边界。</a:t>
            </a:r>
            <a:r>
              <a:rPr sz="940" b="0" i="0">
                <a:solidFill>
                  <a:srgbClr val="8C8C8C"/>
                </a:solidFill>
                <a:latin typeface="Microsoft YaHei"/>
              </a:rPr>
              <a:t>→ §2.4 七组冲突的处置结果并入本目标</a:t>
            </a:r>
          </a:p>
        </p:txBody>
      </p:sp>
      <p:sp>
        <p:nvSpPr>
          <p:cNvPr id="16" name="Rounded Rectangle 15"/>
          <p:cNvSpPr/>
          <p:nvPr/>
        </p:nvSpPr>
        <p:spPr>
          <a:xfrm>
            <a:off x="6181725" y="1522809"/>
            <a:ext cx="5572125" cy="4051994"/>
          </a:xfrm>
          <a:prstGeom prst="roundRect">
            <a:avLst>
              <a:gd name="adj" fmla="val 1645"/>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15075" y="1884759"/>
            <a:ext cx="53054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5075" y="1627584"/>
            <a:ext cx="53435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四类因变量构念及其操作化</a:t>
            </a:r>
          </a:p>
        </p:txBody>
      </p:sp>
      <p:graphicFrame>
        <p:nvGraphicFramePr>
          <p:cNvPr id="19" name="Table 18"/>
          <p:cNvGraphicFramePr>
            <a:graphicFrameLocks noGrp="1"/>
          </p:cNvGraphicFramePr>
          <p:nvPr/>
        </p:nvGraphicFramePr>
        <p:xfrm>
          <a:off x="6315075" y="1951434"/>
          <a:ext cx="5305424" cy="1513579"/>
        </p:xfrm>
        <a:graphic>
          <a:graphicData uri="http://schemas.openxmlformats.org/drawingml/2006/table">
            <a:tbl>
              <a:tblPr>
                <a:tableStyleId>{5C22544A-7EE6-4342-B048-85BDC9FD1C3A}</a:tableStyleId>
              </a:tblPr>
              <a:tblGrid>
                <a:gridCol w="1114127"/>
                <a:gridCol w="419129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构念</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测量指标</a:t>
                      </a:r>
                    </a:p>
                  </a:txBody>
                  <a:tcPr marL="66675" marR="66675" marT="52387" marB="52387" anchor="t">
                    <a:solidFill>
                      <a:srgbClr val="4472C4"/>
                    </a:solidFill>
                  </a:tcPr>
                </a:tc>
              </a:tr>
              <a:tr h="264616">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安全绩效</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最小碰撞余量距离、碰撞发生率、峰值减速度、制动反应时、方向盘抖动率</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认知负荷</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NASA-TLX 加权总分、瞳孔直径变化率、注视转移熵、次任务绩效衰减</a:t>
                      </a:r>
                    </a:p>
                  </a:txBody>
                  <a:tcPr marL="66675" marR="66675" marT="42862" marB="42862" anchor="t">
                    <a:noFill/>
                  </a:tcPr>
                </a:tc>
              </a:tr>
              <a:tr h="443507">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情境意识</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冻结探测法按</a:t>
                      </a:r>
                      <a:r>
                        <a:rPr sz="890" b="1" i="0">
                          <a:solidFill>
                            <a:srgbClr val="1A1A1A"/>
                          </a:solidFill>
                          <a:latin typeface="Microsoft YaHei"/>
                        </a:rPr>
                        <a:t>感知／理解／预测</a:t>
                      </a:r>
                      <a:r>
                        <a:rPr sz="890" b="0" i="0">
                          <a:solidFill>
                            <a:srgbClr val="1A1A1A"/>
                          </a:solidFill>
                          <a:latin typeface="Microsoft YaHei"/>
                        </a:rPr>
                        <a:t>三阶段分别计分；</a:t>
                      </a:r>
                      <a:r>
                        <a:rPr sz="890" b="1" i="0">
                          <a:solidFill>
                            <a:srgbClr val="1A1A1A"/>
                          </a:solidFill>
                          <a:latin typeface="Microsoft YaHei"/>
                        </a:rPr>
                        <a:t>危险漏检率</a:t>
                      </a:r>
                      <a:r>
                        <a:rPr sz="890" b="0" i="0">
                          <a:solidFill>
                            <a:srgbClr val="1A1A1A"/>
                          </a:solidFill>
                          <a:latin typeface="Microsoft YaHei"/>
                        </a:rPr>
                        <a:t>（并列主要因变量）、首次注视时间、预期性注视比例</a:t>
                      </a:r>
                    </a:p>
                  </a:txBody>
                  <a:tcPr marL="66675" marR="66675" marT="42862" marB="42862" anchor="t">
                    <a:solidFill>
                      <a:srgbClr val="FAFBFD"/>
                    </a:solidFill>
                  </a:tcPr>
                </a:tc>
              </a:tr>
              <a:tr h="269378">
                <a:tc>
                  <a:txBody>
                    <a:bodyPr wrap="square" lIns="0" rIns="0" tIns="0" bIns="0" anchor="t"/>
                    <a:lstStyle/>
                    <a:p>
                      <a:pPr algn="l">
                        <a:lnSpc>
                          <a:spcPct val="155000"/>
                        </a:lnSpc>
                        <a:spcBef>
                          <a:spcPts val="0"/>
                        </a:spcBef>
                        <a:spcAft>
                          <a:spcPts val="0"/>
                        </a:spcAft>
                      </a:pPr>
                      <a:r>
                        <a:rPr sz="890" b="1" i="0">
                          <a:solidFill>
                            <a:srgbClr val="1A1A1A"/>
                          </a:solidFill>
                          <a:latin typeface="Microsoft YaHei"/>
                        </a:rPr>
                        <a:t>用户体验</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信任量表、可接受度、扰烦度评分、主观偏好序、晕动与不适自评</a:t>
                      </a:r>
                    </a:p>
                  </a:txBody>
                  <a:tcPr marL="66675" marR="66675" marT="42862" marB="42862" anchor="t">
                    <a:noFill/>
                  </a:tcPr>
                </a:tc>
              </a:tr>
            </a:tbl>
          </a:graphicData>
        </a:graphic>
      </p:graphicFrame>
      <p:sp>
        <p:nvSpPr>
          <p:cNvPr id="20" name="TextBox 19"/>
          <p:cNvSpPr txBox="1"/>
          <p:nvPr/>
        </p:nvSpPr>
        <p:spPr>
          <a:xfrm>
            <a:off x="6315075" y="3526928"/>
            <a:ext cx="5343525" cy="942975"/>
          </a:xfrm>
          <a:prstGeom prst="rect">
            <a:avLst/>
          </a:prstGeom>
          <a:noFill/>
        </p:spPr>
        <p:txBody>
          <a:bodyPr wrap="square" lIns="0" rIns="0" tIns="0" bIns="0" anchor="t">
            <a:normAutofit/>
          </a:bodyPr>
          <a:lstStyle/>
          <a:p>
            <a:pPr algn="l">
              <a:lnSpc>
                <a:spcPct val="160000"/>
              </a:lnSpc>
              <a:spcBef>
                <a:spcPts val="0"/>
              </a:spcBef>
              <a:spcAft>
                <a:spcPts val="0"/>
              </a:spcAft>
            </a:pPr>
            <a:r>
              <a:rPr sz="1120" b="1" i="0">
                <a:solidFill>
                  <a:srgbClr val="1A1A1A"/>
                </a:solidFill>
                <a:latin typeface="Microsoft YaHei"/>
              </a:rPr>
              <a:t>情境意识不并入认知负荷的理由：</a:t>
            </a:r>
            <a:r>
              <a:rPr sz="1120" b="0" i="0">
                <a:solidFill>
                  <a:srgbClr val="1A1A1A"/>
                </a:solidFill>
                <a:latin typeface="Microsoft YaHei"/>
              </a:rPr>
              <a:t>§2.3.10 与 §2.3.11 的证据显示二者</a:t>
            </a:r>
            <a:r>
              <a:rPr sz="1120" b="1" i="0">
                <a:solidFill>
                  <a:srgbClr val="1A1A1A"/>
                </a:solidFill>
                <a:latin typeface="Microsoft YaHei"/>
              </a:rPr>
              <a:t>可解离</a:t>
            </a:r>
            <a:r>
              <a:rPr sz="1120" b="0" i="0">
                <a:solidFill>
                  <a:srgbClr val="1A1A1A"/>
                </a:solidFill>
                <a:latin typeface="Microsoft YaHei"/>
              </a:rPr>
              <a:t>——存在主观负荷下降而危险漏检率上升的条件（注意隧道与无意视盲）。合并计量将掩盖该权衡，</a:t>
            </a:r>
            <a:r>
              <a:rPr sz="1120" b="1" i="0">
                <a:solidFill>
                  <a:srgbClr val="1A1A1A"/>
                </a:solidFill>
                <a:latin typeface="Microsoft YaHei"/>
              </a:rPr>
              <a:t>故漏检率提升为与安全绩效并列的主要因变量</a:t>
            </a:r>
            <a:r>
              <a:rPr sz="1120" b="0" i="0">
                <a:solidFill>
                  <a:srgbClr val="1A1A1A"/>
                </a:solidFill>
                <a:latin typeface="Microsoft YaHei"/>
              </a:rPr>
              <a:t>，且眼动指标一律按</a:t>
            </a:r>
            <a:r>
              <a:rPr sz="1120" b="1" i="0">
                <a:solidFill>
                  <a:srgbClr val="1A1A1A"/>
                </a:solidFill>
                <a:latin typeface="Microsoft YaHei"/>
              </a:rPr>
              <a:t>区间判定</a:t>
            </a:r>
            <a:r>
              <a:rPr sz="1120" b="0" i="0">
                <a:solidFill>
                  <a:srgbClr val="1A1A1A"/>
                </a:solidFill>
                <a:latin typeface="Microsoft YaHei"/>
              </a:rPr>
              <a:t>而非单调假设解释。</a:t>
            </a:r>
          </a:p>
        </p:txBody>
      </p:sp>
      <p:sp>
        <p:nvSpPr>
          <p:cNvPr id="21" name="Rectangle 20"/>
          <p:cNvSpPr/>
          <p:nvPr/>
        </p:nvSpPr>
        <p:spPr>
          <a:xfrm>
            <a:off x="438150" y="5651003"/>
            <a:ext cx="11315700" cy="806946"/>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38150" y="5651003"/>
            <a:ext cx="38100" cy="80694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975" y="5736728"/>
            <a:ext cx="11106150" cy="664071"/>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目标间的依赖关系：</a:t>
            </a:r>
            <a:r>
              <a:rPr sz="990" b="0" i="0">
                <a:solidFill>
                  <a:srgbClr val="6B5200"/>
                </a:solidFill>
                <a:latin typeface="Microsoft YaHei"/>
              </a:rPr>
              <a:t>O1 的产出（</a:t>
            </a:r>
            <a:r>
              <a:rPr sz="990" b="0" i="1">
                <a:solidFill>
                  <a:srgbClr val="6B5200"/>
                </a:solidFill>
                <a:latin typeface="Microsoft YaHei"/>
              </a:rPr>
              <a:t>t</a:t>
            </a:r>
            <a:r>
              <a:rPr sz="690" b="0" i="1" baseline="-25000">
                <a:solidFill>
                  <a:srgbClr val="6B5200"/>
                </a:solidFill>
                <a:latin typeface="Microsoft YaHei"/>
              </a:rPr>
              <a:t>0</a:t>
            </a:r>
            <a:r>
              <a:rPr sz="990" b="0" i="0">
                <a:solidFill>
                  <a:srgbClr val="6B5200"/>
                </a:solidFill>
                <a:latin typeface="Microsoft YaHei"/>
              </a:rPr>
              <a:t> 分布、感知反应时分位数、实测舒适减速度、方差成分）构成 O2 的自变量换算基准与样本量估计输入；O2 的入选时间参数组合构成 O3 的固定条件；O4 以 O1–O3 的实测参数为输入，</a:t>
            </a:r>
            <a:r>
              <a:rPr sz="990" b="1" i="0">
                <a:solidFill>
                  <a:srgbClr val="8A6A00"/>
                </a:solidFill>
                <a:latin typeface="Microsoft YaHei"/>
              </a:rPr>
              <a:t>不引入新的实验操纵</a:t>
            </a:r>
            <a:r>
              <a:rPr sz="990" b="0" i="0">
                <a:solidFill>
                  <a:srgbClr val="6B5200"/>
                </a:solidFill>
                <a:latin typeface="Microsoft YaHei"/>
              </a:rPr>
              <a:t>。四项目标的输出物均以</a:t>
            </a:r>
            <a:r>
              <a:rPr sz="990" b="1" i="0">
                <a:solidFill>
                  <a:srgbClr val="8A6A00"/>
                </a:solidFill>
                <a:latin typeface="Microsoft YaHei"/>
              </a:rPr>
              <a:t>运动学量</a:t>
            </a:r>
            <a:r>
              <a:rPr sz="990" b="0" i="0">
                <a:solidFill>
                  <a:srgbClr val="6B5200"/>
                </a:solidFill>
                <a:latin typeface="Microsoft YaHei"/>
              </a:rPr>
              <a:t>而非固定秒数表达，以保证跨行车速度与跨车型的可迁移性——此即 §2.4.10 方法学评述所指出的、既有研究结论不可累积的直接对策。</a:t>
            </a:r>
          </a:p>
        </p:txBody>
      </p:sp>
      <p:sp>
        <p:nvSpPr>
          <p:cNvPr id="24" name="TextBox 23"/>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研究假设：理论导出 vs 文献归纳</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2.5.3</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两组假设分列的目的：</a:t>
            </a:r>
            <a:r>
              <a:rPr sz="1090" b="0" i="0">
                <a:solidFill>
                  <a:srgbClr val="2F528F"/>
                </a:solidFill>
                <a:latin typeface="Microsoft YaHei"/>
              </a:rPr>
              <a:t>使讨论章能够区分「</a:t>
            </a:r>
            <a:r>
              <a:rPr sz="1090" b="1" i="0">
                <a:solidFill>
                  <a:srgbClr val="2F528F"/>
                </a:solidFill>
                <a:latin typeface="Microsoft YaHei"/>
              </a:rPr>
              <a:t>理论被证伪</a:t>
            </a:r>
            <a:r>
              <a:rPr sz="1090" b="0" i="0">
                <a:solidFill>
                  <a:srgbClr val="2F528F"/>
                </a:solidFill>
                <a:latin typeface="Microsoft YaHei"/>
              </a:rPr>
              <a:t>」与「</a:t>
            </a:r>
            <a:r>
              <a:rPr sz="1090" b="1" i="0">
                <a:solidFill>
                  <a:srgbClr val="2F528F"/>
                </a:solidFill>
                <a:latin typeface="Microsoft YaHei"/>
              </a:rPr>
              <a:t>参数未达显著</a:t>
            </a:r>
            <a:r>
              <a:rPr sz="1090" b="0" i="0">
                <a:solidFill>
                  <a:srgbClr val="2F528F"/>
                </a:solidFill>
                <a:latin typeface="Microsoft YaHei"/>
              </a:rPr>
              <a:t>」两种不同情形。</a:t>
            </a:r>
          </a:p>
        </p:txBody>
      </p:sp>
      <p:sp>
        <p:nvSpPr>
          <p:cNvPr id="9" name="Rounded Rectangle 8"/>
          <p:cNvSpPr/>
          <p:nvPr/>
        </p:nvSpPr>
        <p:spPr>
          <a:xfrm>
            <a:off x="438150" y="1313854"/>
            <a:ext cx="5572125" cy="5144095"/>
          </a:xfrm>
          <a:prstGeom prst="roundRect">
            <a:avLst>
              <a:gd name="adj" fmla="val 1296"/>
            </a:avLst>
          </a:prstGeom>
          <a:solidFill>
            <a:srgbClr val="F6FBF6"/>
          </a:solidFill>
          <a:ln w="9525">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0550" y="1704379"/>
            <a:ext cx="5267325" cy="9525"/>
          </a:xfrm>
          <a:prstGeom prst="rect">
            <a:avLst/>
          </a:prstGeom>
          <a:solidFill>
            <a:srgbClr val="CFE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0550" y="1447204"/>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3E7D3E"/>
                </a:solidFill>
                <a:latin typeface="Microsoft YaHei"/>
              </a:rPr>
              <a:t>H1–H4：由理论导出的可否证预测</a:t>
            </a:r>
          </a:p>
        </p:txBody>
      </p:sp>
      <p:graphicFrame>
        <p:nvGraphicFramePr>
          <p:cNvPr id="12" name="Table 11"/>
          <p:cNvGraphicFramePr>
            <a:graphicFrameLocks noGrp="1"/>
          </p:cNvGraphicFramePr>
          <p:nvPr/>
        </p:nvGraphicFramePr>
        <p:xfrm>
          <a:off x="590550" y="1790104"/>
          <a:ext cx="5267324" cy="2619075"/>
        </p:xfrm>
        <a:graphic>
          <a:graphicData uri="http://schemas.openxmlformats.org/drawingml/2006/table">
            <a:tbl>
              <a:tblPr>
                <a:tableStyleId>{5C22544A-7EE6-4342-B048-85BDC9FD1C3A}</a:tableStyleId>
              </a:tblPr>
              <a:tblGrid>
                <a:gridCol w="474017"/>
                <a:gridCol w="479330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编号</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内容与「若被推翻意味着」</a:t>
                      </a:r>
                    </a:p>
                  </a:txBody>
                  <a:tcPr marL="66675" marR="66675" marT="52387" marB="52387" anchor="t">
                    <a:solidFill>
                      <a:srgbClr val="4472C4"/>
                    </a:solidFill>
                  </a:tcPr>
                </a:tc>
              </a:tr>
              <a:tr h="632817">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H1</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存在最小有效提前量 </a:t>
                      </a:r>
                      <a:r>
                        <a:rPr sz="890" b="0" i="1">
                          <a:solidFill>
                            <a:srgbClr val="1A1A1A"/>
                          </a:solidFill>
                          <a:latin typeface="Microsoft YaHei"/>
                        </a:rPr>
                        <a:t>Δt</a:t>
                      </a:r>
                      <a:r>
                        <a:rPr sz="620" b="0" i="1" baseline="-25000">
                          <a:solidFill>
                            <a:srgbClr val="1A1A1A"/>
                          </a:solidFill>
                          <a:latin typeface="Microsoft YaHei"/>
                        </a:rPr>
                        <a:t>min</a:t>
                      </a:r>
                      <a:r>
                        <a:rPr sz="890" b="0" i="1">
                          <a:solidFill>
                            <a:srgbClr val="1A1A1A"/>
                          </a:solidFill>
                          <a:latin typeface="Microsoft YaHei"/>
                        </a:rPr>
                        <a:t> ≈ 0.9</a:t>
                      </a:r>
                      <a:r>
                        <a:rPr sz="890" b="0" i="0">
                          <a:solidFill>
                            <a:srgbClr val="1A1A1A"/>
                          </a:solidFill>
                          <a:latin typeface="Microsoft YaHei"/>
                        </a:rPr>
                        <a:t>–1.2 s；</a:t>
                      </a:r>
                      <a:r>
                        <a:rPr sz="890" b="0" i="1">
                          <a:solidFill>
                            <a:srgbClr val="1A1A1A"/>
                          </a:solidFill>
                          <a:latin typeface="Microsoft YaHei"/>
                        </a:rPr>
                        <a:t>Δt</a:t>
                      </a:r>
                      <a:r>
                        <a:rPr sz="890" b="0" i="1">
                          <a:solidFill>
                            <a:srgbClr val="1A1A1A"/>
                          </a:solidFill>
                          <a:latin typeface="Microsoft YaHei"/>
                        </a:rPr>
                        <a:t> &lt; 0.9</a:t>
                      </a:r>
                      <a:r>
                        <a:rPr sz="890" b="0" i="0">
                          <a:solidFill>
                            <a:srgbClr val="1A1A1A"/>
                          </a:solidFill>
                          <a:latin typeface="Microsoft YaHei"/>
                        </a:rPr>
                        <a:t> s 时峰值减速度与 jerk 显著上升但碰撞率不降。</a:t>
                      </a:r>
                    </a:p>
                    <a:p>
                      <a:pPr algn="l">
                        <a:lnSpc>
                          <a:spcPct val="155000"/>
                        </a:lnSpc>
                        <a:spcBef>
                          <a:spcPts val="0"/>
                        </a:spcBef>
                        <a:spcAft>
                          <a:spcPts val="0"/>
                        </a:spcAft>
                      </a:pPr>
                      <a:r>
                        <a:rPr sz="940" b="0" i="0">
                          <a:solidFill>
                            <a:srgbClr val="8C8C8C"/>
                          </a:solidFill>
                          <a:latin typeface="Microsoft YaHei"/>
                        </a:rPr>
                        <a:t>→ 被推翻意味着</a:t>
                      </a:r>
                      <a:r>
                        <a:rPr sz="940" b="1" i="0">
                          <a:solidFill>
                            <a:srgbClr val="8C8C8C"/>
                          </a:solidFill>
                          <a:latin typeface="Microsoft YaHei"/>
                        </a:rPr>
                        <a:t>本研究对阶段耗时的估计方式</a:t>
                      </a:r>
                      <a:r>
                        <a:rPr sz="940" b="0" i="0">
                          <a:solidFill>
                            <a:srgbClr val="8C8C8C"/>
                          </a:solidFill>
                          <a:latin typeface="Microsoft YaHei"/>
                        </a:rPr>
                        <a:t>被推翻（而非 SPIDER 框架本身）</a:t>
                      </a:r>
                    </a:p>
                  </a:txBody>
                  <a:tcPr marL="66675" marR="66675" marT="42862" marB="42862" anchor="t">
                    <a:solidFill>
                      <a:srgbClr val="FAFBFD"/>
                    </a:solidFill>
                  </a:tcPr>
                </a:tc>
              </a:tr>
              <a:tr h="637579">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H2</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1">
                          <a:solidFill>
                            <a:srgbClr val="1A1A1A"/>
                          </a:solidFill>
                          <a:latin typeface="Microsoft YaHei"/>
                        </a:rPr>
                        <a:t>Δt</a:t>
                      </a:r>
                      <a:r>
                        <a:rPr sz="890" b="0" i="1">
                          <a:solidFill>
                            <a:srgbClr val="1A1A1A"/>
                          </a:solidFill>
                          <a:latin typeface="Microsoft YaHei"/>
                        </a:rPr>
                        <a:t> = +2.5</a:t>
                      </a:r>
                      <a:r>
                        <a:rPr sz="890" b="0" i="0">
                          <a:solidFill>
                            <a:srgbClr val="1A1A1A"/>
                          </a:solidFill>
                          <a:latin typeface="Microsoft YaHei"/>
                        </a:rPr>
                        <a:t> s 相比 +1.0 s </a:t>
                      </a:r>
                      <a:r>
                        <a:rPr sz="890" b="1" i="0">
                          <a:solidFill>
                            <a:srgbClr val="1A1A1A"/>
                          </a:solidFill>
                          <a:latin typeface="Microsoft YaHei"/>
                        </a:rPr>
                        <a:t>反应时无显著增益，但主观负荷与侵入性更差</a:t>
                      </a:r>
                      <a:r>
                        <a:rPr sz="890" b="0" i="0">
                          <a:solidFill>
                            <a:srgbClr val="1A1A1A"/>
                          </a:solidFill>
                          <a:latin typeface="Microsoft YaHei"/>
                        </a:rPr>
                        <a:t>（收益递减 + 代价递增）。</a:t>
                      </a:r>
                    </a:p>
                    <a:p>
                      <a:pPr algn="l">
                        <a:lnSpc>
                          <a:spcPct val="155000"/>
                        </a:lnSpc>
                        <a:spcBef>
                          <a:spcPts val="0"/>
                        </a:spcBef>
                        <a:spcAft>
                          <a:spcPts val="0"/>
                        </a:spcAft>
                      </a:pPr>
                      <a:r>
                        <a:rPr sz="940" b="0" i="0">
                          <a:solidFill>
                            <a:srgbClr val="8C8C8C"/>
                          </a:solidFill>
                          <a:latin typeface="Microsoft YaHei"/>
                        </a:rPr>
                        <a:t>→ 若被推翻，则「提前量与绩效单调正相关」成立，上界须重估</a:t>
                      </a:r>
                    </a:p>
                  </a:txBody>
                  <a:tcPr marL="66675" marR="66675" marT="42862" marB="42862" anchor="t">
                    <a:noFill/>
                  </a:tcPr>
                </a:tc>
              </a:tr>
              <a:tr h="453925">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H3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BTN 归一化触发的</a:t>
                      </a:r>
                      <a:r>
                        <a:rPr sz="890" b="1" i="0">
                          <a:solidFill>
                            <a:srgbClr val="1A1A1A"/>
                          </a:solidFill>
                          <a:latin typeface="Microsoft YaHei"/>
                        </a:rPr>
                        <a:t>跨车速效应一致性显著优于</a:t>
                      </a:r>
                      <a:r>
                        <a:rPr sz="890" b="0" i="0">
                          <a:solidFill>
                            <a:srgbClr val="1A1A1A"/>
                          </a:solidFill>
                          <a:latin typeface="Microsoft YaHei"/>
                        </a:rPr>
                        <a:t>固定时间阈值（即「准则 × 车速」交互显著）。</a:t>
                      </a:r>
                    </a:p>
                    <a:p>
                      <a:pPr algn="l">
                        <a:lnSpc>
                          <a:spcPct val="155000"/>
                        </a:lnSpc>
                        <a:spcBef>
                          <a:spcPts val="0"/>
                        </a:spcBef>
                        <a:spcAft>
                          <a:spcPts val="0"/>
                        </a:spcAft>
                      </a:pPr>
                      <a:r>
                        <a:rPr sz="940" b="0" i="0">
                          <a:solidFill>
                            <a:srgbClr val="8C8C8C"/>
                          </a:solidFill>
                          <a:latin typeface="Microsoft YaHei"/>
                        </a:rPr>
                        <a:t>→ 被推翻意味着固定 TTC 阈值已足够，无需引入 BTN</a:t>
                      </a:r>
                    </a:p>
                  </a:txBody>
                  <a:tcPr marL="66675" marR="66675" marT="42862" marB="42862" anchor="t">
                    <a:solidFill>
                      <a:srgbClr val="FAFBFD"/>
                    </a:solidFill>
                  </a:tcPr>
                </a:tc>
              </a:tr>
              <a:tr h="628054">
                <a:tc>
                  <a:txBody>
                    <a:bodyPr wrap="square" lIns="0" rIns="0" tIns="0" bIns="0" anchor="t"/>
                    <a:lstStyle/>
                    <a:p>
                      <a:pPr algn="ctr">
                        <a:lnSpc>
                          <a:spcPct val="155000"/>
                        </a:lnSpc>
                        <a:spcBef>
                          <a:spcPts val="0"/>
                        </a:spcBef>
                        <a:spcAft>
                          <a:spcPts val="0"/>
                        </a:spcAft>
                      </a:pPr>
                      <a:r>
                        <a:rPr sz="890" b="1" i="0">
                          <a:solidFill>
                            <a:srgbClr val="1A1A1A"/>
                          </a:solidFill>
                          <a:latin typeface="Microsoft YaHei"/>
                        </a:rPr>
                        <a:t>H4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级间间隔存在</a:t>
                      </a:r>
                      <a:r>
                        <a:rPr sz="890" b="1" i="0">
                          <a:solidFill>
                            <a:srgbClr val="1A1A1A"/>
                          </a:solidFill>
                          <a:latin typeface="Microsoft YaHei"/>
                        </a:rPr>
                        <a:t>倒 U 型峰值且峰值位于 1.0 s</a:t>
                      </a:r>
                      <a:r>
                        <a:rPr sz="890" b="0" i="0">
                          <a:solidFill>
                            <a:srgbClr val="1A1A1A"/>
                          </a:solidFill>
                          <a:latin typeface="Microsoft YaHei"/>
                        </a:rPr>
                        <a:t>；分层增益主要位于 Identifying 与 Deciding 而非 Scanning。</a:t>
                      </a:r>
                    </a:p>
                    <a:p>
                      <a:pPr algn="l">
                        <a:lnSpc>
                          <a:spcPct val="155000"/>
                        </a:lnSpc>
                        <a:spcBef>
                          <a:spcPts val="0"/>
                        </a:spcBef>
                        <a:spcAft>
                          <a:spcPts val="0"/>
                        </a:spcAft>
                      </a:pPr>
                      <a:r>
                        <a:rPr sz="940" b="0" i="0">
                          <a:solidFill>
                            <a:srgbClr val="8C8C8C"/>
                          </a:solidFill>
                          <a:latin typeface="Microsoft YaHei"/>
                        </a:rPr>
                        <a:t>→ 被推翻时 1.0 s 的</a:t>
                      </a:r>
                      <a:r>
                        <a:rPr sz="940" b="1" i="0">
                          <a:solidFill>
                            <a:srgbClr val="8C8C8C"/>
                          </a:solidFill>
                          <a:latin typeface="Microsoft YaHei"/>
                        </a:rPr>
                        <a:t>工程依据仍成立</a:t>
                      </a:r>
                      <a:r>
                        <a:rPr sz="940" b="0" i="0">
                          <a:solidFill>
                            <a:srgbClr val="8C8C8C"/>
                          </a:solidFill>
                          <a:latin typeface="Microsoft YaHei"/>
                        </a:rPr>
                        <a:t>，只是失去理论解释</a:t>
                      </a:r>
                    </a:p>
                  </a:txBody>
                  <a:tcPr marL="66675" marR="66675" marT="42862" marB="42862" anchor="t">
                    <a:noFill/>
                  </a:tcPr>
                </a:tc>
              </a:tr>
            </a:tbl>
          </a:graphicData>
        </a:graphic>
      </p:graphicFrame>
      <p:sp>
        <p:nvSpPr>
          <p:cNvPr id="13" name="Rounded Rectangle 12"/>
          <p:cNvSpPr/>
          <p:nvPr/>
        </p:nvSpPr>
        <p:spPr>
          <a:xfrm>
            <a:off x="6181725" y="1313854"/>
            <a:ext cx="5572125" cy="5144095"/>
          </a:xfrm>
          <a:prstGeom prst="roundRect">
            <a:avLst>
              <a:gd name="adj" fmla="val 1296"/>
            </a:avLst>
          </a:prstGeom>
          <a:solidFill>
            <a:srgbClr val="FFFFFF"/>
          </a:solidFill>
          <a:ln w="9525">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334125" y="1704379"/>
            <a:ext cx="5267325"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4125" y="1447204"/>
            <a:ext cx="5305425" cy="247650"/>
          </a:xfrm>
          <a:prstGeom prst="rect">
            <a:avLst/>
          </a:prstGeom>
          <a:noFill/>
        </p:spPr>
        <p:txBody>
          <a:bodyPr wrap="square" lIns="0" rIns="0" tIns="0" bIns="0" anchor="t">
            <a:normAutofit/>
          </a:bodyPr>
          <a:lstStyle/>
          <a:p>
            <a:pPr algn="l">
              <a:lnSpc>
                <a:spcPct val="125000"/>
              </a:lnSpc>
              <a:spcBef>
                <a:spcPts val="0"/>
              </a:spcBef>
              <a:spcAft>
                <a:spcPts val="0"/>
              </a:spcAft>
            </a:pPr>
            <a:r>
              <a:rPr sz="1160" b="1" i="0">
                <a:solidFill>
                  <a:srgbClr val="2F528F"/>
                </a:solidFill>
                <a:latin typeface="Microsoft YaHei"/>
              </a:rPr>
              <a:t>H5–H14：由文献归纳的方向性假设（摘要）</a:t>
            </a:r>
          </a:p>
        </p:txBody>
      </p:sp>
      <p:sp>
        <p:nvSpPr>
          <p:cNvPr id="16" name="TextBox 15"/>
          <p:cNvSpPr txBox="1"/>
          <p:nvPr/>
        </p:nvSpPr>
        <p:spPr>
          <a:xfrm>
            <a:off x="6334125" y="1790104"/>
            <a:ext cx="5305425" cy="253007"/>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H5</a:t>
            </a:r>
            <a:r>
              <a:rPr sz="1019" b="0" i="0">
                <a:solidFill>
                  <a:srgbClr val="1A1A1A"/>
                </a:solidFill>
                <a:latin typeface="Microsoft YaHei"/>
              </a:rPr>
              <a:t> 折中窗口存在，其位置</a:t>
            </a:r>
            <a:r>
              <a:rPr sz="1019" b="1" i="0">
                <a:solidFill>
                  <a:srgbClr val="1A1A1A"/>
                </a:solidFill>
                <a:latin typeface="Microsoft YaHei"/>
              </a:rPr>
              <a:t>由 </a:t>
            </a:r>
            <a:r>
              <a:rPr sz="1019" b="1" i="1">
                <a:solidFill>
                  <a:srgbClr val="1A1A1A"/>
                </a:solidFill>
                <a:latin typeface="Microsoft YaHei"/>
              </a:rPr>
              <a:t>Δt</a:t>
            </a:r>
            <a:r>
              <a:rPr sz="1019" b="1" i="0">
                <a:solidFill>
                  <a:srgbClr val="1A1A1A"/>
                </a:solidFill>
                <a:latin typeface="Microsoft YaHei"/>
              </a:rPr>
              <a:t> 而非绝对 TTC 决定</a:t>
            </a:r>
          </a:p>
        </p:txBody>
      </p:sp>
      <p:sp>
        <p:nvSpPr>
          <p:cNvPr id="17" name="TextBox 16"/>
          <p:cNvSpPr txBox="1"/>
          <p:nvPr/>
        </p:nvSpPr>
        <p:spPr>
          <a:xfrm>
            <a:off x="6334125" y="2033587"/>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H6</a:t>
            </a:r>
            <a:r>
              <a:rPr sz="1019" b="0" i="0">
                <a:solidFill>
                  <a:srgbClr val="1A1A1A"/>
                </a:solidFill>
                <a:latin typeface="Microsoft YaHei"/>
              </a:rPr>
              <a:t> 状态维持或适中时长降低漏检，过长增加注视吸附</a:t>
            </a:r>
          </a:p>
        </p:txBody>
      </p:sp>
      <p:sp>
        <p:nvSpPr>
          <p:cNvPr id="18" name="TextBox 17"/>
          <p:cNvSpPr txBox="1"/>
          <p:nvPr/>
        </p:nvSpPr>
        <p:spPr>
          <a:xfrm>
            <a:off x="6334125" y="2267545"/>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H7</a:t>
            </a:r>
            <a:r>
              <a:rPr sz="1019" b="0" i="0">
                <a:solidFill>
                  <a:srgbClr val="1A1A1A"/>
                </a:solidFill>
                <a:latin typeface="Microsoft YaHei"/>
              </a:rPr>
              <a:t> </a:t>
            </a:r>
            <a:r>
              <a:rPr sz="1019" b="1" i="0">
                <a:solidFill>
                  <a:srgbClr val="1A1A1A"/>
                </a:solidFill>
                <a:latin typeface="Microsoft YaHei"/>
              </a:rPr>
              <a:t>风险耦合衰减</a:t>
            </a:r>
            <a:r>
              <a:rPr sz="1019" b="0" i="0">
                <a:solidFill>
                  <a:srgbClr val="1A1A1A"/>
                </a:solidFill>
                <a:latin typeface="Microsoft YaHei"/>
              </a:rPr>
              <a:t>在漏检率与视觉占用上同时优于固定时长与纯状态维持</a:t>
            </a:r>
          </a:p>
        </p:txBody>
      </p:sp>
      <p:sp>
        <p:nvSpPr>
          <p:cNvPr id="19" name="TextBox 18"/>
          <p:cNvSpPr txBox="1"/>
          <p:nvPr/>
        </p:nvSpPr>
        <p:spPr>
          <a:xfrm>
            <a:off x="6334125" y="2501503"/>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H8</a:t>
            </a:r>
            <a:r>
              <a:rPr sz="1019" b="0" i="0">
                <a:solidFill>
                  <a:srgbClr val="1A1A1A"/>
                </a:solidFill>
                <a:latin typeface="Microsoft YaHei"/>
              </a:rPr>
              <a:t> 分层相较</a:t>
            </a:r>
            <a:r>
              <a:rPr sz="1019" b="1" i="0">
                <a:solidFill>
                  <a:srgbClr val="1A1A1A"/>
                </a:solidFill>
                <a:latin typeface="Microsoft YaHei"/>
              </a:rPr>
              <a:t>最佳</a:t>
            </a:r>
            <a:r>
              <a:rPr sz="1019" b="0" i="0">
                <a:solidFill>
                  <a:srgbClr val="1A1A1A"/>
                </a:solidFill>
                <a:latin typeface="Microsoft YaHei"/>
              </a:rPr>
              <a:t>单层方案降低急刹与负荷，同时保持安全余量</a:t>
            </a:r>
          </a:p>
        </p:txBody>
      </p:sp>
      <p:sp>
        <p:nvSpPr>
          <p:cNvPr id="20" name="TextBox 19"/>
          <p:cNvSpPr txBox="1"/>
          <p:nvPr/>
        </p:nvSpPr>
        <p:spPr>
          <a:xfrm>
            <a:off x="6334125" y="2735460"/>
            <a:ext cx="5305425" cy="458390"/>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H9</a:t>
            </a:r>
            <a:r>
              <a:rPr sz="1019" b="0" i="0">
                <a:solidFill>
                  <a:srgbClr val="1A1A1A"/>
                </a:solidFill>
                <a:latin typeface="Microsoft YaHei"/>
              </a:rPr>
              <a:t> 80% 可靠性下分层优势显著衰减、L1 依从率下降；低可靠性时 </a:t>
            </a:r>
            <a:r>
              <a:rPr sz="1019" b="1" i="0">
                <a:solidFill>
                  <a:srgbClr val="1A1A1A"/>
                </a:solidFill>
                <a:latin typeface="Microsoft YaHei"/>
              </a:rPr>
              <a:t>1.5 s 级间反而更稳健</a:t>
            </a:r>
          </a:p>
        </p:txBody>
      </p:sp>
      <p:sp>
        <p:nvSpPr>
          <p:cNvPr id="21" name="TextBox 20"/>
          <p:cNvSpPr txBox="1"/>
          <p:nvPr/>
        </p:nvSpPr>
        <p:spPr>
          <a:xfrm>
            <a:off x="6334125" y="3184326"/>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H10</a:t>
            </a:r>
            <a:r>
              <a:rPr sz="1019" b="0" i="0">
                <a:solidFill>
                  <a:srgbClr val="1A1A1A"/>
                </a:solidFill>
                <a:latin typeface="Microsoft YaHei"/>
              </a:rPr>
              <a:t> 级间间隔存在最优区间，过短来不及理解，过长造成重复</a:t>
            </a:r>
          </a:p>
        </p:txBody>
      </p:sp>
      <p:sp>
        <p:nvSpPr>
          <p:cNvPr id="22" name="TextBox 21"/>
          <p:cNvSpPr txBox="1"/>
          <p:nvPr/>
        </p:nvSpPr>
        <p:spPr>
          <a:xfrm>
            <a:off x="6334125" y="3418284"/>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H11</a:t>
            </a:r>
            <a:r>
              <a:rPr sz="1019" b="0" i="0">
                <a:solidFill>
                  <a:srgbClr val="1A1A1A"/>
                </a:solidFill>
                <a:latin typeface="Microsoft YaHei"/>
              </a:rPr>
              <a:t> BW 定位效率优于 BD/BR；BW+BR 改善情境理解</a:t>
            </a:r>
            <a:r>
              <a:rPr sz="1019" b="1" i="0">
                <a:solidFill>
                  <a:srgbClr val="1A1A1A"/>
                </a:solidFill>
                <a:latin typeface="Microsoft YaHei"/>
              </a:rPr>
              <a:t>但增加负荷</a:t>
            </a:r>
          </a:p>
        </p:txBody>
      </p:sp>
      <p:sp>
        <p:nvSpPr>
          <p:cNvPr id="23" name="TextBox 22"/>
          <p:cNvSpPr txBox="1"/>
          <p:nvPr/>
        </p:nvSpPr>
        <p:spPr>
          <a:xfrm>
            <a:off x="6334125" y="3652242"/>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H12</a:t>
            </a:r>
            <a:r>
              <a:rPr sz="1019" b="0" i="0">
                <a:solidFill>
                  <a:srgbClr val="1A1A1A"/>
                </a:solidFill>
                <a:latin typeface="Microsoft YaHei"/>
              </a:rPr>
              <a:t> </a:t>
            </a:r>
            <a:r>
              <a:rPr sz="1019" b="1" i="0">
                <a:solidFill>
                  <a:srgbClr val="1A1A1A"/>
                </a:solidFill>
                <a:latin typeface="Microsoft YaHei"/>
              </a:rPr>
              <a:t>风险量级动态促进紧迫度判断，轨迹动态促进路径预测</a:t>
            </a:r>
          </a:p>
        </p:txBody>
      </p:sp>
      <p:sp>
        <p:nvSpPr>
          <p:cNvPr id="24" name="TextBox 23"/>
          <p:cNvSpPr txBox="1"/>
          <p:nvPr/>
        </p:nvSpPr>
        <p:spPr>
          <a:xfrm>
            <a:off x="6334125" y="3886200"/>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H13</a:t>
            </a:r>
            <a:r>
              <a:rPr sz="1019" b="0" i="0">
                <a:solidFill>
                  <a:srgbClr val="1A1A1A"/>
                </a:solidFill>
                <a:latin typeface="Microsoft YaHei"/>
              </a:rPr>
              <a:t> 组合动态只在未显著增加负荷时优于单一动态</a:t>
            </a:r>
          </a:p>
        </p:txBody>
      </p:sp>
      <p:sp>
        <p:nvSpPr>
          <p:cNvPr id="25" name="TextBox 24"/>
          <p:cNvSpPr txBox="1"/>
          <p:nvPr/>
        </p:nvSpPr>
        <p:spPr>
          <a:xfrm>
            <a:off x="6334125" y="4120157"/>
            <a:ext cx="5305425" cy="243482"/>
          </a:xfrm>
          <a:prstGeom prst="rect">
            <a:avLst/>
          </a:prstGeom>
          <a:noFill/>
        </p:spPr>
        <p:txBody>
          <a:bodyPr wrap="square" lIns="0" rIns="0" tIns="0" bIns="0" anchor="t">
            <a:normAutofit/>
          </a:bodyPr>
          <a:lstStyle/>
          <a:p>
            <a:pPr algn="l">
              <a:lnSpc>
                <a:spcPct val="166000"/>
              </a:lnSpc>
              <a:spcBef>
                <a:spcPts val="0"/>
              </a:spcBef>
              <a:spcAft>
                <a:spcPts val="0"/>
              </a:spcAft>
            </a:pPr>
            <a:r>
              <a:rPr sz="1019">
                <a:latin typeface="Microsoft YaHei"/>
              </a:rPr>
              <a:t>• </a:t>
            </a:r>
            <a:r>
              <a:rPr sz="1019" b="1" i="0">
                <a:solidFill>
                  <a:srgbClr val="1A1A1A"/>
                </a:solidFill>
                <a:latin typeface="Microsoft YaHei"/>
              </a:rPr>
              <a:t>H14</a:t>
            </a:r>
            <a:r>
              <a:rPr sz="1019" b="0" i="0">
                <a:solidFill>
                  <a:srgbClr val="1A1A1A"/>
                </a:solidFill>
                <a:latin typeface="Microsoft YaHei"/>
              </a:rPr>
              <a:t> 时间分层与空间动态共同通过</a:t>
            </a:r>
            <a:r>
              <a:rPr sz="1019" b="1" i="0">
                <a:solidFill>
                  <a:srgbClr val="1A1A1A"/>
                </a:solidFill>
                <a:latin typeface="Microsoft YaHei"/>
              </a:rPr>
              <a:t>缩短目标验证时间（SPIDER 的 I 阶段）</a:t>
            </a:r>
            <a:r>
              <a:rPr sz="1019" b="0" i="0">
                <a:solidFill>
                  <a:srgbClr val="1A1A1A"/>
                </a:solidFill>
                <a:latin typeface="Microsoft YaHei"/>
              </a:rPr>
              <a:t>改善绩效</a:t>
            </a:r>
          </a:p>
        </p:txBody>
      </p:sp>
      <p:sp>
        <p:nvSpPr>
          <p:cNvPr id="26" name="Rectangle 25"/>
          <p:cNvSpPr/>
          <p:nvPr/>
        </p:nvSpPr>
        <p:spPr>
          <a:xfrm>
            <a:off x="6334125" y="4411265"/>
            <a:ext cx="5267325"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334125" y="4411265"/>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7950" y="4496990"/>
            <a:ext cx="5057775"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全部为待检验假设。</a:t>
            </a:r>
            <a:r>
              <a:rPr sz="990" b="0" i="0">
                <a:solidFill>
                  <a:srgbClr val="7A1F1F"/>
                </a:solidFill>
                <a:latin typeface="Microsoft YaHei"/>
              </a:rPr>
              <a:t>H14 属跨实验整合推断，</a:t>
            </a:r>
            <a:r>
              <a:rPr sz="990" b="1" i="0">
                <a:solidFill>
                  <a:srgbClr val="7A1F1F"/>
                </a:solidFill>
                <a:latin typeface="Microsoft YaHei"/>
              </a:rPr>
              <a:t>只有在实验 3 与实验 5 的中介阶段指标均提供一致证据时</a:t>
            </a:r>
            <a:r>
              <a:rPr sz="990" b="0" i="0">
                <a:solidFill>
                  <a:srgbClr val="7A1F1F"/>
                </a:solidFill>
                <a:latin typeface="Microsoft YaHei"/>
              </a:rPr>
              <a:t>，才可作为机制性结论。</a:t>
            </a:r>
          </a:p>
        </p:txBody>
      </p:sp>
      <p:sp>
        <p:nvSpPr>
          <p:cNvPr id="29" name="TextBox 28"/>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研究问题</a:t>
            </a:r>
            <a:r>
              <a:rPr sz="1580" b="1" i="0">
                <a:solidFill>
                  <a:srgbClr val="4472C4"/>
                </a:solidFill>
                <a:latin typeface="Microsoft YaHei"/>
              </a:rPr>
              <a:t>研究框架</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2.5.4</a:t>
            </a:r>
          </a:p>
        </p:txBody>
      </p:sp>
      <p:pic>
        <p:nvPicPr>
          <p:cNvPr id="6" name="Picture 5" descr="research_framework_3col.png"/>
          <p:cNvPicPr>
            <a:picLocks noChangeAspect="1"/>
          </p:cNvPicPr>
          <p:nvPr/>
        </p:nvPicPr>
        <p:blipFill>
          <a:blip r:embed="rId2"/>
          <a:stretch>
            <a:fillRect/>
          </a:stretch>
        </p:blipFill>
        <p:spPr>
          <a:xfrm>
            <a:off x="3008709" y="762000"/>
            <a:ext cx="6174432" cy="3796307"/>
          </a:xfrm>
          <a:prstGeom prst="rect">
            <a:avLst/>
          </a:prstGeom>
        </p:spPr>
      </p:pic>
      <p:sp>
        <p:nvSpPr>
          <p:cNvPr id="7" name="Rectangle 6"/>
          <p:cNvSpPr/>
          <p:nvPr/>
        </p:nvSpPr>
        <p:spPr>
          <a:xfrm>
            <a:off x="438150" y="4663082"/>
            <a:ext cx="11315700" cy="806946"/>
          </a:xfrm>
          <a:prstGeom prst="rect">
            <a:avLst/>
          </a:prstGeom>
          <a:solidFill>
            <a:srgbClr val="FFF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4663082"/>
            <a:ext cx="38100" cy="80694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4748807"/>
            <a:ext cx="11106150" cy="664071"/>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8A6A00"/>
                </a:solidFill>
                <a:latin typeface="Microsoft YaHei"/>
              </a:rPr>
              <a:t>五个实验的递进逻辑（这也是本研究不是「五个并列小实验」的理由）：</a:t>
            </a:r>
            <a:r>
              <a:rPr sz="990" b="0" i="0">
                <a:solidFill>
                  <a:srgbClr val="6B5200"/>
                </a:solidFill>
                <a:latin typeface="Microsoft YaHei"/>
              </a:rPr>
              <a:t>实验 1 提供</a:t>
            </a:r>
            <a:r>
              <a:rPr sz="990" b="1" i="0">
                <a:solidFill>
                  <a:srgbClr val="8A6A00"/>
                </a:solidFill>
                <a:latin typeface="Microsoft YaHei"/>
              </a:rPr>
              <a:t>零点与下界</a:t>
            </a:r>
            <a:r>
              <a:rPr sz="990" b="0" i="0">
                <a:solidFill>
                  <a:srgbClr val="6B5200"/>
                </a:solidFill>
                <a:latin typeface="Microsoft YaHei"/>
              </a:rPr>
              <a:t>（</a:t>
            </a:r>
            <a:r>
              <a:rPr sz="990" b="0" i="1">
                <a:solidFill>
                  <a:srgbClr val="6B5200"/>
                </a:solidFill>
                <a:latin typeface="Microsoft YaHei"/>
              </a:rPr>
              <a:t>t</a:t>
            </a:r>
            <a:r>
              <a:rPr sz="690" b="0" i="1" baseline="-25000">
                <a:solidFill>
                  <a:srgbClr val="6B5200"/>
                </a:solidFill>
                <a:latin typeface="Microsoft YaHei"/>
              </a:rPr>
              <a:t>0</a:t>
            </a:r>
            <a:r>
              <a:rPr sz="990" b="0" i="0">
                <a:solidFill>
                  <a:srgbClr val="6B5200"/>
                </a:solidFill>
                <a:latin typeface="Microsoft YaHei"/>
              </a:rPr>
              <a:t> 分布 → 实验 2 自变量换算基准；</a:t>
            </a:r>
            <a:r>
              <a:rPr sz="990" b="0" i="1">
                <a:solidFill>
                  <a:srgbClr val="6B5200"/>
                </a:solidFill>
                <a:latin typeface="Microsoft YaHei"/>
              </a:rPr>
              <a:t>PRT</a:t>
            </a:r>
            <a:r>
              <a:rPr sz="690" b="0" i="1" baseline="-25000">
                <a:solidFill>
                  <a:srgbClr val="6B5200"/>
                </a:solidFill>
                <a:latin typeface="Microsoft YaHei"/>
              </a:rPr>
              <a:t>p95</a:t>
            </a:r>
            <a:r>
              <a:rPr sz="990" b="0" i="0">
                <a:solidFill>
                  <a:srgbClr val="6B5200"/>
                </a:solidFill>
                <a:latin typeface="Microsoft YaHei"/>
              </a:rPr>
              <a:t> → 可避险区校验；</a:t>
            </a:r>
            <a:r>
              <a:rPr sz="990" b="0" i="1">
                <a:solidFill>
                  <a:srgbClr val="6B5200"/>
                </a:solidFill>
                <a:latin typeface="Microsoft YaHei"/>
              </a:rPr>
              <a:t>t</a:t>
            </a:r>
            <a:r>
              <a:rPr sz="690" b="0" i="1" baseline="-25000">
                <a:solidFill>
                  <a:srgbClr val="6B5200"/>
                </a:solidFill>
                <a:latin typeface="Microsoft YaHei"/>
              </a:rPr>
              <a:t>0</a:t>
            </a:r>
            <a:r>
              <a:rPr sz="990" b="0" i="0">
                <a:solidFill>
                  <a:srgbClr val="6B5200"/>
                </a:solidFill>
                <a:latin typeface="Microsoft YaHei"/>
              </a:rPr>
              <a:t> 时刻 BTN → 触发阈值校准；</a:t>
            </a:r>
            <a:r>
              <a:rPr sz="990" b="0" i="1">
                <a:solidFill>
                  <a:srgbClr val="6B5200"/>
                </a:solidFill>
                <a:latin typeface="Microsoft YaHei"/>
              </a:rPr>
              <a:t>a</a:t>
            </a:r>
            <a:r>
              <a:rPr sz="690" b="0" i="1" baseline="-25000">
                <a:solidFill>
                  <a:srgbClr val="6B5200"/>
                </a:solidFill>
                <a:latin typeface="Microsoft YaHei"/>
              </a:rPr>
              <a:t>comf</a:t>
            </a:r>
            <a:r>
              <a:rPr sz="990" b="0" i="0">
                <a:solidFill>
                  <a:srgbClr val="6B5200"/>
                </a:solidFill>
                <a:latin typeface="Microsoft YaHei"/>
              </a:rPr>
              <a:t> 实测 → 全部实验的归一化分母；方差成分 → 样本量估计）→ 实验 2 建立</a:t>
            </a:r>
            <a:r>
              <a:rPr sz="990" b="1" i="0">
                <a:solidFill>
                  <a:srgbClr val="8A6A00"/>
                </a:solidFill>
                <a:latin typeface="Microsoft YaHei"/>
              </a:rPr>
              <a:t>单层时间基线</a:t>
            </a:r>
            <a:r>
              <a:rPr sz="990" b="0" i="0">
                <a:solidFill>
                  <a:srgbClr val="6B5200"/>
                </a:solidFill>
                <a:latin typeface="Microsoft YaHei"/>
              </a:rPr>
              <a:t> → 实验 3 升级为</a:t>
            </a:r>
            <a:r>
              <a:rPr sz="990" b="1" i="0">
                <a:solidFill>
                  <a:srgbClr val="8A6A00"/>
                </a:solidFill>
                <a:latin typeface="Microsoft YaHei"/>
              </a:rPr>
              <a:t>分层规则</a:t>
            </a:r>
            <a:r>
              <a:rPr sz="990" b="0" i="0">
                <a:solidFill>
                  <a:srgbClr val="6B5200"/>
                </a:solidFill>
                <a:latin typeface="Microsoft YaHei"/>
              </a:rPr>
              <a:t>并检验低可靠性稳健性 → 实验 4 </a:t>
            </a:r>
            <a:r>
              <a:rPr sz="990" b="1" i="0">
                <a:solidFill>
                  <a:srgbClr val="8A6A00"/>
                </a:solidFill>
                <a:latin typeface="Microsoft YaHei"/>
              </a:rPr>
              <a:t>固定全部时间参数</a:t>
            </a:r>
            <a:r>
              <a:rPr sz="990" b="0" i="0">
                <a:solidFill>
                  <a:srgbClr val="6B5200"/>
                </a:solidFill>
                <a:latin typeface="Microsoft YaHei"/>
              </a:rPr>
              <a:t>只比较「锁定在哪里」 → 实验 5 </a:t>
            </a:r>
            <a:r>
              <a:rPr sz="990" b="1" i="0">
                <a:solidFill>
                  <a:srgbClr val="8A6A00"/>
                </a:solidFill>
                <a:latin typeface="Microsoft YaHei"/>
              </a:rPr>
              <a:t>固定时间与空间载体</a:t>
            </a:r>
            <a:r>
              <a:rPr sz="990" b="0" i="0">
                <a:solidFill>
                  <a:srgbClr val="6B5200"/>
                </a:solidFill>
                <a:latin typeface="Microsoft YaHei"/>
              </a:rPr>
              <a:t>只比较「如何随风险变化」。</a:t>
            </a:r>
          </a:p>
        </p:txBody>
      </p:sp>
      <p:sp>
        <p:nvSpPr>
          <p:cNvPr id="10" name="Rectangle 9"/>
          <p:cNvSpPr/>
          <p:nvPr/>
        </p:nvSpPr>
        <p:spPr>
          <a:xfrm>
            <a:off x="438150" y="5641478"/>
            <a:ext cx="11315700" cy="816471"/>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5641478"/>
            <a:ext cx="38100" cy="816471"/>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5727203"/>
            <a:ext cx="11106150" cy="673596"/>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由核心理论模型强制导出的一条设计约束：实验 1／2／3 必须共用同一场景族。</a:t>
            </a:r>
            <a:r>
              <a:rPr sz="990" b="0" i="0">
                <a:solidFill>
                  <a:srgbClr val="7A1F1F"/>
                </a:solidFill>
                <a:latin typeface="Microsoft YaHei"/>
              </a:rPr>
              <a:t>因为自变量是 </a:t>
            </a:r>
            <a:r>
              <a:rPr sz="990" b="0" i="1">
                <a:solidFill>
                  <a:srgbClr val="7A1F1F"/>
                </a:solidFill>
                <a:latin typeface="Microsoft YaHei"/>
              </a:rPr>
              <a:t>Δt</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0</a:t>
            </a:r>
            <a:r>
              <a:rPr sz="990" b="0" i="1">
                <a:solidFill>
                  <a:srgbClr val="7A1F1F"/>
                </a:solidFill>
                <a:latin typeface="Microsoft YaHei"/>
              </a:rPr>
              <a:t> − </a:t>
            </a:r>
            <a:r>
              <a:rPr sz="990" b="0" i="1">
                <a:solidFill>
                  <a:srgbClr val="7A1F1F"/>
                </a:solidFill>
                <a:latin typeface="Microsoft YaHei"/>
              </a:rPr>
              <a:t>t</a:t>
            </a:r>
            <a:r>
              <a:rPr sz="690" b="0" i="1" baseline="-25000">
                <a:solidFill>
                  <a:srgbClr val="7A1F1F"/>
                </a:solidFill>
                <a:latin typeface="Microsoft YaHei"/>
              </a:rPr>
              <a:t>warn</a:t>
            </a:r>
            <a:r>
              <a:rPr sz="990" b="0" i="0">
                <a:solidFill>
                  <a:srgbClr val="7A1F1F"/>
                </a:solidFill>
                <a:latin typeface="Microsoft YaHei"/>
              </a:rPr>
              <a:t>，而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a:t>
            </a:r>
            <a:r>
              <a:rPr sz="990" b="1" i="0">
                <a:solidFill>
                  <a:srgbClr val="7A1F1F"/>
                </a:solidFill>
                <a:latin typeface="Microsoft YaHei"/>
              </a:rPr>
              <a:t>不是常数</a:t>
            </a:r>
            <a:r>
              <a:rPr sz="990" b="0" i="0">
                <a:solidFill>
                  <a:srgbClr val="7A1F1F"/>
                </a:solidFill>
                <a:latin typeface="Microsoft YaHei"/>
              </a:rPr>
              <a:t>——它随</a:t>
            </a:r>
            <a:r>
              <a:rPr sz="990" b="1" i="0">
                <a:solidFill>
                  <a:srgbClr val="7A1F1F"/>
                </a:solidFill>
                <a:latin typeface="Microsoft YaHei"/>
              </a:rPr>
              <a:t>车速</a:t>
            </a:r>
            <a:r>
              <a:rPr sz="990" b="0" i="0">
                <a:solidFill>
                  <a:srgbClr val="7A1F1F"/>
                </a:solidFill>
                <a:latin typeface="Microsoft YaHei"/>
              </a:rPr>
              <a:t>与</a:t>
            </a:r>
            <a:r>
              <a:rPr sz="990" b="1" i="0">
                <a:solidFill>
                  <a:srgbClr val="7A1F1F"/>
                </a:solidFill>
                <a:latin typeface="Microsoft YaHei"/>
              </a:rPr>
              <a:t>遮挡</a:t>
            </a:r>
            <a:r>
              <a:rPr sz="990" b="0" i="0">
                <a:solidFill>
                  <a:srgbClr val="7A1F1F"/>
                </a:solidFill>
                <a:latin typeface="Microsoft YaHei"/>
              </a:rPr>
              <a:t>系统变化（遮挡直接改变光学膨胀率越过知觉阈值的时刻）。因此：</a:t>
            </a:r>
            <a:r>
              <a:rPr sz="990" b="1" i="0">
                <a:solidFill>
                  <a:srgbClr val="7A1F1F"/>
                </a:solidFill>
                <a:latin typeface="Microsoft YaHei"/>
              </a:rPr>
              <a:t>实验 1 按「车速 40／60 × 遮挡 无／有」四个单元分别标定 </a:t>
            </a:r>
            <a:r>
              <a:rPr sz="990" b="1" i="1">
                <a:solidFill>
                  <a:srgbClr val="7A1F1F"/>
                </a:solidFill>
                <a:latin typeface="Microsoft YaHei"/>
              </a:rPr>
              <a:t>t</a:t>
            </a:r>
            <a:r>
              <a:rPr sz="690" b="1" i="1" baseline="-25000">
                <a:solidFill>
                  <a:srgbClr val="7A1F1F"/>
                </a:solidFill>
                <a:latin typeface="Microsoft YaHei"/>
              </a:rPr>
              <a:t>0</a:t>
            </a:r>
            <a:r>
              <a:rPr sz="990" b="1" i="0">
                <a:solidFill>
                  <a:srgbClr val="7A1F1F"/>
                </a:solidFill>
                <a:latin typeface="Microsoft YaHei"/>
              </a:rPr>
              <a:t>；实验 2 只能在已标定的单元内换算 </a:t>
            </a:r>
            <a:r>
              <a:rPr sz="990" b="1" i="1">
                <a:solidFill>
                  <a:srgbClr val="7A1F1F"/>
                </a:solidFill>
                <a:latin typeface="Microsoft YaHei"/>
              </a:rPr>
              <a:t>Δt</a:t>
            </a:r>
            <a:r>
              <a:rPr sz="990" b="1" i="0">
                <a:solidFill>
                  <a:srgbClr val="7A1F1F"/>
                </a:solidFill>
                <a:latin typeface="Microsoft YaHei"/>
              </a:rPr>
              <a:t>；实验 3 把车速与遮挡固定在实验 2 入选的水平上</a:t>
            </a:r>
            <a:r>
              <a:rPr sz="990" b="0" i="0">
                <a:solidFill>
                  <a:srgbClr val="7A1F1F"/>
                </a:solidFill>
                <a:latin typeface="Microsoft YaHei"/>
              </a:rPr>
              <a:t>，使 </a:t>
            </a:r>
            <a:r>
              <a:rPr sz="990" b="0" i="1">
                <a:solidFill>
                  <a:srgbClr val="7A1F1F"/>
                </a:solidFill>
                <a:latin typeface="Microsoft YaHei"/>
              </a:rPr>
              <a:t>t</a:t>
            </a:r>
            <a:r>
              <a:rPr sz="690" b="0" i="1" baseline="-25000">
                <a:solidFill>
                  <a:srgbClr val="7A1F1F"/>
                </a:solidFill>
                <a:latin typeface="Microsoft YaHei"/>
              </a:rPr>
              <a:t>0</a:t>
            </a:r>
            <a:r>
              <a:rPr sz="990" b="0" i="0">
                <a:solidFill>
                  <a:srgbClr val="7A1F1F"/>
                </a:solidFill>
                <a:latin typeface="Microsoft YaHei"/>
              </a:rPr>
              <a:t> 成为常量，只让级间间隔与可靠性变化。</a:t>
            </a:r>
            <a:r>
              <a:rPr sz="990" b="1" i="0">
                <a:solidFill>
                  <a:srgbClr val="7A1F1F"/>
                </a:solidFill>
                <a:latin typeface="Microsoft YaHei"/>
              </a:rPr>
              <a:t>实验 4／5 已固定全部时间参数，故可另设场景操纵</a:t>
            </a:r>
            <a:r>
              <a:rPr sz="990" b="0" i="0">
                <a:solidFill>
                  <a:srgbClr val="7A1F1F"/>
                </a:solidFill>
                <a:latin typeface="Microsoft YaHei"/>
              </a:rPr>
              <a:t>（背景复杂度、风险演化），不受此约束。</a:t>
            </a:r>
          </a:p>
        </p:txBody>
      </p:sp>
      <p:sp>
        <p:nvSpPr>
          <p:cNvPr id="13" name="TextBox 1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「最优设计」的判定原则</a:t>
            </a:r>
          </a:p>
        </p:txBody>
      </p:sp>
      <p:sp>
        <p:nvSpPr>
          <p:cNvPr id="4" name="Rounded Rectangle 3"/>
          <p:cNvSpPr/>
          <p:nvPr/>
        </p:nvSpPr>
        <p:spPr>
          <a:xfrm>
            <a:off x="11290399" y="209550"/>
            <a:ext cx="46345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95174" y="238125"/>
            <a:ext cx="29200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2.5.4</a:t>
            </a:r>
          </a:p>
        </p:txBody>
      </p:sp>
      <p:sp>
        <p:nvSpPr>
          <p:cNvPr id="6" name="Rectangle 5"/>
          <p:cNvSpPr/>
          <p:nvPr/>
        </p:nvSpPr>
        <p:spPr>
          <a:xfrm>
            <a:off x="438150" y="762000"/>
            <a:ext cx="11315700" cy="447079"/>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38150" y="762000"/>
            <a:ext cx="38100" cy="447079"/>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1025" y="866775"/>
            <a:ext cx="11068050" cy="266104"/>
          </a:xfrm>
          <a:prstGeom prst="rect">
            <a:avLst/>
          </a:prstGeom>
          <a:noFill/>
        </p:spPr>
        <p:txBody>
          <a:bodyPr wrap="square" lIns="0" rIns="0" tIns="0" bIns="0" anchor="t">
            <a:normAutofit/>
          </a:bodyPr>
          <a:lstStyle/>
          <a:p>
            <a:pPr algn="l">
              <a:lnSpc>
                <a:spcPct val="172000"/>
              </a:lnSpc>
              <a:spcBef>
                <a:spcPts val="0"/>
              </a:spcBef>
              <a:spcAft>
                <a:spcPts val="0"/>
              </a:spcAft>
            </a:pPr>
            <a:r>
              <a:rPr sz="1090" b="1" i="0">
                <a:solidFill>
                  <a:srgbClr val="2F528F"/>
                </a:solidFill>
                <a:latin typeface="Microsoft YaHei"/>
              </a:rPr>
              <a:t>本研究不评选单一「冠军条件」</a:t>
            </a:r>
            <a:r>
              <a:rPr sz="1090" b="0" i="0">
                <a:solidFill>
                  <a:srgbClr val="2F528F"/>
                </a:solidFill>
                <a:latin typeface="Microsoft YaHei"/>
              </a:rPr>
              <a:t>，而采用</a:t>
            </a:r>
            <a:r>
              <a:rPr sz="1090" b="1" i="0">
                <a:solidFill>
                  <a:srgbClr val="2F528F"/>
                </a:solidFill>
                <a:latin typeface="Microsoft YaHei"/>
              </a:rPr>
              <a:t>约束优先的多指标判定顺序</a:t>
            </a:r>
            <a:r>
              <a:rPr sz="1090" b="0" i="0">
                <a:solidFill>
                  <a:srgbClr val="2F528F"/>
                </a:solidFill>
                <a:latin typeface="Microsoft YaHei"/>
              </a:rPr>
              <a:t>。报告形式为在（安全收益，虚警代价）与（安全收益，认知代价）两个平面上给出各条件的 </a:t>
            </a:r>
            <a:r>
              <a:rPr sz="1090" b="1" i="0">
                <a:solidFill>
                  <a:srgbClr val="2F528F"/>
                </a:solidFill>
                <a:latin typeface="Microsoft YaHei"/>
              </a:rPr>
              <a:t>Pareto 前沿位置</a:t>
            </a:r>
            <a:r>
              <a:rPr sz="1090" b="0" i="0">
                <a:solidFill>
                  <a:srgbClr val="2F528F"/>
                </a:solidFill>
                <a:latin typeface="Microsoft YaHei"/>
              </a:rPr>
              <a:t>。</a:t>
            </a:r>
          </a:p>
        </p:txBody>
      </p:sp>
      <p:graphicFrame>
        <p:nvGraphicFramePr>
          <p:cNvPr id="9" name="Table 8"/>
          <p:cNvGraphicFramePr>
            <a:graphicFrameLocks noGrp="1"/>
          </p:cNvGraphicFramePr>
          <p:nvPr/>
        </p:nvGraphicFramePr>
        <p:xfrm>
          <a:off x="438150" y="1313854"/>
          <a:ext cx="11315699" cy="1887882"/>
        </p:xfrm>
        <a:graphic>
          <a:graphicData uri="http://schemas.openxmlformats.org/drawingml/2006/table">
            <a:tbl>
              <a:tblPr>
                <a:tableStyleId>{5C22544A-7EE6-4342-B048-85BDC9FD1C3A}</a:tableStyleId>
              </a:tblPr>
              <a:tblGrid>
                <a:gridCol w="678805"/>
                <a:gridCol w="3847207"/>
                <a:gridCol w="6789687"/>
              </a:tblGrid>
              <a:tr h="314325">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顺序</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判定</a:t>
                      </a:r>
                    </a:p>
                  </a:txBody>
                  <a:tcPr marL="85725" marR="85725" marT="66675" marB="66675" anchor="t">
                    <a:solidFill>
                      <a:srgbClr val="4472C4"/>
                    </a:solidFill>
                  </a:tcPr>
                </a:tc>
                <a:tc>
                  <a:txBody>
                    <a:bodyPr wrap="square" lIns="0" rIns="0" tIns="0" bIns="0" anchor="t"/>
                    <a:lstStyle/>
                    <a:p>
                      <a:pPr algn="l">
                        <a:lnSpc>
                          <a:spcPct val="125000"/>
                        </a:lnSpc>
                        <a:spcBef>
                          <a:spcPts val="0"/>
                        </a:spcBef>
                        <a:spcAft>
                          <a:spcPts val="0"/>
                        </a:spcAft>
                      </a:pPr>
                      <a:r>
                        <a:rPr sz="980" b="1" i="0">
                          <a:solidFill>
                            <a:srgbClr val="FFFFFF"/>
                          </a:solidFill>
                          <a:latin typeface="Microsoft YaHei"/>
                        </a:rPr>
                        <a:t>理由</a:t>
                      </a:r>
                    </a:p>
                  </a:txBody>
                  <a:tcPr marL="85725" marR="85725" marT="66675" marB="66675" anchor="t">
                    <a:solidFill>
                      <a:srgbClr val="4472C4"/>
                    </a:solidFill>
                  </a:tcPr>
                </a:tc>
              </a:tr>
              <a:tr h="310901">
                <a:tc>
                  <a:txBody>
                    <a:bodyPr wrap="square" lIns="0" rIns="0" tIns="0" bIns="0" anchor="t"/>
                    <a:lstStyle/>
                    <a:p>
                      <a:pPr algn="ctr">
                        <a:lnSpc>
                          <a:spcPct val="155000"/>
                        </a:lnSpc>
                        <a:spcBef>
                          <a:spcPts val="0"/>
                        </a:spcBef>
                        <a:spcAft>
                          <a:spcPts val="0"/>
                        </a:spcAft>
                      </a:pPr>
                      <a:r>
                        <a:rPr sz="980" b="0" i="0">
                          <a:solidFill>
                            <a:srgbClr val="1A1A1A"/>
                          </a:solidFill>
                          <a:latin typeface="Microsoft YaHei"/>
                        </a:rPr>
                        <a:t>1</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1" i="0">
                          <a:solidFill>
                            <a:srgbClr val="1A1A1A"/>
                          </a:solidFill>
                          <a:latin typeface="Microsoft YaHei"/>
                        </a:rPr>
                        <a:t>首先满足安全约束</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碰撞率不升高、最小 TTMD 不劣于对照（预注册非劣界：组间差值下限 &gt; −0.2 s）</a:t>
                      </a:r>
                    </a:p>
                  </a:txBody>
                  <a:tcPr marL="85725" marR="85725" marT="57150" marB="57150" anchor="t">
                    <a:solidFill>
                      <a:srgbClr val="FAFBFD"/>
                    </a:solidFill>
                  </a:tcPr>
                </a:tc>
              </a:tr>
              <a:tr h="315664">
                <a:tc>
                  <a:txBody>
                    <a:bodyPr wrap="square" lIns="0" rIns="0" tIns="0" bIns="0" anchor="t"/>
                    <a:lstStyle/>
                    <a:p>
                      <a:pPr algn="ctr">
                        <a:lnSpc>
                          <a:spcPct val="155000"/>
                        </a:lnSpc>
                        <a:spcBef>
                          <a:spcPts val="0"/>
                        </a:spcBef>
                        <a:spcAft>
                          <a:spcPts val="0"/>
                        </a:spcAft>
                      </a:pPr>
                      <a:r>
                        <a:rPr sz="980" b="0" i="0">
                          <a:solidFill>
                            <a:srgbClr val="1A1A1A"/>
                          </a:solidFill>
                          <a:latin typeface="Microsoft YaHei"/>
                        </a:rPr>
                        <a:t>2</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在安全条件中选</a:t>
                      </a:r>
                      <a:r>
                        <a:rPr sz="980" b="1" i="0">
                          <a:solidFill>
                            <a:srgbClr val="1A1A1A"/>
                          </a:solidFill>
                          <a:latin typeface="Microsoft YaHei"/>
                        </a:rPr>
                        <a:t>制动更平顺者</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峰值减速度与 jerk 较低——避免把「更快但更急刹」误读为更安全</a:t>
                      </a:r>
                    </a:p>
                  </a:txBody>
                  <a:tcPr marL="85725" marR="85725" marT="57150" marB="57150" anchor="t">
                    <a:noFill/>
                  </a:tcPr>
                </a:tc>
              </a:tr>
              <a:tr h="315664">
                <a:tc>
                  <a:txBody>
                    <a:bodyPr wrap="square" lIns="0" rIns="0" tIns="0" bIns="0" anchor="t"/>
                    <a:lstStyle/>
                    <a:p>
                      <a:pPr algn="ctr">
                        <a:lnSpc>
                          <a:spcPct val="155000"/>
                        </a:lnSpc>
                        <a:spcBef>
                          <a:spcPts val="0"/>
                        </a:spcBef>
                        <a:spcAft>
                          <a:spcPts val="0"/>
                        </a:spcAft>
                      </a:pPr>
                      <a:r>
                        <a:rPr sz="980" b="0" i="0">
                          <a:solidFill>
                            <a:srgbClr val="1A1A1A"/>
                          </a:solidFill>
                          <a:latin typeface="Microsoft YaHei"/>
                        </a:rPr>
                        <a:t>3</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再选</a:t>
                      </a:r>
                      <a:r>
                        <a:rPr sz="980" b="1" i="0">
                          <a:solidFill>
                            <a:srgbClr val="1A1A1A"/>
                          </a:solidFill>
                          <a:latin typeface="Microsoft YaHei"/>
                        </a:rPr>
                        <a:t>认知代价更低者</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注视熵、道路离视比例、主观负荷——避免把「注视更久」误读为「更关注」</a:t>
                      </a:r>
                    </a:p>
                  </a:txBody>
                  <a:tcPr marL="85725" marR="85725" marT="57150" marB="57150" anchor="t">
                    <a:solidFill>
                      <a:srgbClr val="FAFBFD"/>
                    </a:solidFill>
                  </a:tcPr>
                </a:tc>
              </a:tr>
              <a:tr h="315664">
                <a:tc>
                  <a:txBody>
                    <a:bodyPr wrap="square" lIns="0" rIns="0" tIns="0" bIns="0" anchor="t"/>
                    <a:lstStyle/>
                    <a:p>
                      <a:pPr algn="ctr">
                        <a:lnSpc>
                          <a:spcPct val="155000"/>
                        </a:lnSpc>
                        <a:spcBef>
                          <a:spcPts val="0"/>
                        </a:spcBef>
                        <a:spcAft>
                          <a:spcPts val="0"/>
                        </a:spcAft>
                      </a:pPr>
                      <a:r>
                        <a:rPr sz="980" b="0" i="0">
                          <a:solidFill>
                            <a:srgbClr val="1A1A1A"/>
                          </a:solidFill>
                          <a:latin typeface="Microsoft YaHei"/>
                        </a:rPr>
                        <a:t>4</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再选</a:t>
                      </a:r>
                      <a:r>
                        <a:rPr sz="980" b="1" i="0">
                          <a:solidFill>
                            <a:srgbClr val="1A1A1A"/>
                          </a:solidFill>
                          <a:latin typeface="Microsoft YaHei"/>
                        </a:rPr>
                        <a:t>在 80% 可靠性下退化更小者</a:t>
                      </a:r>
                    </a:p>
                  </a:txBody>
                  <a:tcPr marL="85725" marR="85725" marT="57150" marB="57150" anchor="t">
                    <a:no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避免选出一个</a:t>
                      </a:r>
                      <a:r>
                        <a:rPr sz="980" b="1" i="0">
                          <a:solidFill>
                            <a:srgbClr val="1A1A1A"/>
                          </a:solidFill>
                          <a:latin typeface="Microsoft YaHei"/>
                        </a:rPr>
                        <a:t>只在完美系统下成立</a:t>
                      </a:r>
                      <a:r>
                        <a:rPr sz="980" b="0" i="0">
                          <a:solidFill>
                            <a:srgbClr val="1A1A1A"/>
                          </a:solidFill>
                          <a:latin typeface="Microsoft YaHei"/>
                        </a:rPr>
                        <a:t>的方案</a:t>
                      </a:r>
                    </a:p>
                  </a:txBody>
                  <a:tcPr marL="85725" marR="85725" marT="57150" marB="57150" anchor="t">
                    <a:noFill/>
                  </a:tcPr>
                </a:tc>
              </a:tr>
              <a:tr h="315664">
                <a:tc>
                  <a:txBody>
                    <a:bodyPr wrap="square" lIns="0" rIns="0" tIns="0" bIns="0" anchor="t"/>
                    <a:lstStyle/>
                    <a:p>
                      <a:pPr algn="ctr">
                        <a:lnSpc>
                          <a:spcPct val="155000"/>
                        </a:lnSpc>
                        <a:spcBef>
                          <a:spcPts val="0"/>
                        </a:spcBef>
                        <a:spcAft>
                          <a:spcPts val="0"/>
                        </a:spcAft>
                      </a:pPr>
                      <a:r>
                        <a:rPr sz="980" b="0" i="0">
                          <a:solidFill>
                            <a:srgbClr val="1A1A1A"/>
                          </a:solidFill>
                          <a:latin typeface="Microsoft YaHei"/>
                        </a:rPr>
                        <a:t>5</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仅在上述条件相当时，以</a:t>
                      </a:r>
                      <a:r>
                        <a:rPr sz="980" b="1" i="0">
                          <a:solidFill>
                            <a:srgbClr val="1A1A1A"/>
                          </a:solidFill>
                          <a:latin typeface="Microsoft YaHei"/>
                        </a:rPr>
                        <a:t>反应时与主观偏好</a:t>
                      </a:r>
                      <a:r>
                        <a:rPr sz="980" b="0" i="0">
                          <a:solidFill>
                            <a:srgbClr val="1A1A1A"/>
                          </a:solidFill>
                          <a:latin typeface="Microsoft YaHei"/>
                        </a:rPr>
                        <a:t>作最终依据</a:t>
                      </a:r>
                    </a:p>
                  </a:txBody>
                  <a:tcPr marL="85725" marR="85725" marT="57150" marB="57150" anchor="t">
                    <a:solidFill>
                      <a:srgbClr val="FAFBFD"/>
                    </a:solidFill>
                  </a:tcPr>
                </a:tc>
                <a:tc>
                  <a:txBody>
                    <a:bodyPr wrap="square" lIns="0" rIns="0" tIns="0" bIns="0" anchor="t"/>
                    <a:lstStyle/>
                    <a:p>
                      <a:pPr algn="l">
                        <a:lnSpc>
                          <a:spcPct val="155000"/>
                        </a:lnSpc>
                        <a:spcBef>
                          <a:spcPts val="0"/>
                        </a:spcBef>
                        <a:spcAft>
                          <a:spcPts val="0"/>
                        </a:spcAft>
                      </a:pPr>
                      <a:r>
                        <a:rPr sz="980" b="0" i="0">
                          <a:solidFill>
                            <a:srgbClr val="1A1A1A"/>
                          </a:solidFill>
                          <a:latin typeface="Microsoft YaHei"/>
                        </a:rPr>
                        <a:t>并列时选择更简单、侵入性更低的方案</a:t>
                      </a:r>
                    </a:p>
                  </a:txBody>
                  <a:tcPr marL="85725" marR="85725" marT="57150" marB="57150" anchor="t">
                    <a:solidFill>
                      <a:srgbClr val="FAFBFD"/>
                    </a:solidFill>
                  </a:tcPr>
                </a:tc>
              </a:tr>
            </a:tbl>
          </a:graphicData>
        </a:graphic>
      </p:graphicFrame>
      <p:sp>
        <p:nvSpPr>
          <p:cNvPr id="10" name="Rectangle 9"/>
          <p:cNvSpPr/>
          <p:nvPr/>
        </p:nvSpPr>
        <p:spPr>
          <a:xfrm>
            <a:off x="438150" y="3311276"/>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3311276"/>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3397001"/>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这一顺序的必要性由本章的辨析直接支持：</a:t>
            </a:r>
            <a:r>
              <a:rPr sz="990" b="0" i="0">
                <a:solidFill>
                  <a:srgbClr val="7A1F1F"/>
                </a:solidFill>
                <a:latin typeface="Microsoft YaHei"/>
              </a:rPr>
              <a:t>若只看反应时，则 Kim 等（2018）的 BRAKE 文本在 Far 条件下会被判为「有效」（驾驶员确实更早制动），</a:t>
            </a:r>
            <a:r>
              <a:rPr sz="990" b="1" i="0">
                <a:solidFill>
                  <a:srgbClr val="7A1F1F"/>
                </a:solidFill>
                <a:latin typeface="Microsoft YaHei"/>
              </a:rPr>
              <a:t>而其 +34.46% 的峰值减速度上升会被忽略</a:t>
            </a:r>
            <a:r>
              <a:rPr sz="990" b="0" i="0">
                <a:solidFill>
                  <a:srgbClr val="7A1F1F"/>
                </a:solidFill>
                <a:latin typeface="Microsoft YaHei"/>
              </a:rPr>
              <a:t>。同理，若只看主观偏好，则 Wang 等（2025）的红地毯（16/21 偏好）会胜过虚拟墙，</a:t>
            </a:r>
            <a:r>
              <a:rPr sz="990" b="1" i="0">
                <a:solidFill>
                  <a:srgbClr val="7A1F1F"/>
                </a:solidFill>
                <a:latin typeface="Microsoft YaHei"/>
              </a:rPr>
              <a:t>而后者的让行成功率才是显著更优的</a:t>
            </a:r>
            <a:r>
              <a:rPr sz="990" b="0" i="0">
                <a:solidFill>
                  <a:srgbClr val="7A1F1F"/>
                </a:solidFill>
                <a:latin typeface="Microsoft YaHei"/>
              </a:rPr>
              <a:t>。</a:t>
            </a:r>
          </a:p>
        </p:txBody>
      </p:sp>
      <p:sp>
        <p:nvSpPr>
          <p:cNvPr id="13" name="Rectangle 12"/>
          <p:cNvSpPr/>
          <p:nvPr/>
        </p:nvSpPr>
        <p:spPr>
          <a:xfrm>
            <a:off x="438150" y="4004816"/>
            <a:ext cx="113157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8150" y="4004816"/>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1975" y="4090541"/>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五条由方法学质量导出的设计约束：</a:t>
            </a:r>
            <a:r>
              <a:rPr sz="990" b="0" i="0">
                <a:solidFill>
                  <a:srgbClr val="1F5A1F"/>
                </a:solidFill>
                <a:latin typeface="Microsoft YaHei"/>
              </a:rPr>
              <a:t>① 不得沿用文献典型样本量，须由实验 1 的方差成分反推；② 不得把零结果读作无效应，须报告效应量置信区间；③ 必须实测并报告系统渲染延迟；④ 必须完整报告六项视觉参数；⑤ 必须预注册反应时清洗规则（0.2–2.9 s）与注视定义（最小 80 ms、最大离散 100 像素）。</a:t>
            </a:r>
          </a:p>
        </p:txBody>
      </p:sp>
      <p:sp>
        <p:nvSpPr>
          <p:cNvPr id="16" name="TextBox 15"/>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本章小结：七处对既有共识的修正</a:t>
            </a:r>
          </a:p>
        </p:txBody>
      </p:sp>
      <p:sp>
        <p:nvSpPr>
          <p:cNvPr id="4" name="Rounded Rectangle 3"/>
          <p:cNvSpPr/>
          <p:nvPr/>
        </p:nvSpPr>
        <p:spPr>
          <a:xfrm>
            <a:off x="11385649" y="209550"/>
            <a:ext cx="36820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90424" y="238125"/>
            <a:ext cx="19675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2.6</a:t>
            </a:r>
          </a:p>
        </p:txBody>
      </p:sp>
      <p:graphicFrame>
        <p:nvGraphicFramePr>
          <p:cNvPr id="6" name="Table 5"/>
          <p:cNvGraphicFramePr>
            <a:graphicFrameLocks noGrp="1"/>
          </p:cNvGraphicFramePr>
          <p:nvPr/>
        </p:nvGraphicFramePr>
        <p:xfrm>
          <a:off x="438150" y="762000"/>
          <a:ext cx="11315699" cy="2331238"/>
        </p:xfrm>
        <a:graphic>
          <a:graphicData uri="http://schemas.openxmlformats.org/drawingml/2006/table">
            <a:tbl>
              <a:tblPr>
                <a:tableStyleId>{5C22544A-7EE6-4342-B048-85BDC9FD1C3A}</a:tableStyleId>
              </a:tblPr>
              <a:tblGrid>
                <a:gridCol w="565695"/>
                <a:gridCol w="3847207"/>
                <a:gridCol w="6902797"/>
              </a:tblGrid>
              <a:tr h="266700">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原表述</a:t>
                      </a:r>
                    </a:p>
                  </a:txBody>
                  <a:tcPr marL="66675" marR="66675" marT="52387" marB="52387" anchor="t">
                    <a:solidFill>
                      <a:srgbClr val="4472C4"/>
                    </a:solidFill>
                  </a:tcPr>
                </a:tc>
                <a:tc>
                  <a:txBody>
                    <a:bodyPr wrap="square" lIns="0" rIns="0" tIns="0" bIns="0" anchor="t"/>
                    <a:lstStyle/>
                    <a:p>
                      <a:pPr algn="l">
                        <a:lnSpc>
                          <a:spcPct val="125000"/>
                        </a:lnSpc>
                        <a:spcBef>
                          <a:spcPts val="0"/>
                        </a:spcBef>
                        <a:spcAft>
                          <a:spcPts val="0"/>
                        </a:spcAft>
                      </a:pPr>
                      <a:r>
                        <a:rPr sz="890" b="1" i="0">
                          <a:solidFill>
                            <a:srgbClr val="FFFFFF"/>
                          </a:solidFill>
                          <a:latin typeface="Microsoft YaHei"/>
                        </a:rPr>
                        <a:t>修正后</a:t>
                      </a:r>
                    </a:p>
                  </a:txBody>
                  <a:tcPr marL="66675" marR="66675" marT="52387" marB="52387" anchor="t">
                    <a:solidFill>
                      <a:srgbClr val="4472C4"/>
                    </a:solidFill>
                  </a:tcPr>
                </a:tc>
              </a:tr>
              <a:tr h="264616">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1</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单层预警有效下限 </a:t>
                      </a:r>
                      <a:r>
                        <a:rPr sz="890" b="1" i="0">
                          <a:solidFill>
                            <a:srgbClr val="1A1A1A"/>
                          </a:solidFill>
                          <a:latin typeface="Microsoft YaHei"/>
                        </a:rPr>
                        <a:t>2.5 s</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3.0 s</a:t>
                      </a:r>
                      <a:r>
                        <a:rPr sz="890" b="0" i="0">
                          <a:solidFill>
                            <a:srgbClr val="1A1A1A"/>
                          </a:solidFill>
                          <a:latin typeface="Microsoft YaHei"/>
                        </a:rPr>
                        <a:t>——Zhang 等（2015）的 7 档梯度证据；既有共识中的 2.5 s 均出现在</a:t>
                      </a:r>
                      <a:r>
                        <a:rPr sz="890" b="1" i="0">
                          <a:solidFill>
                            <a:srgbClr val="1A1A1A"/>
                          </a:solidFill>
                          <a:latin typeface="Microsoft YaHei"/>
                        </a:rPr>
                        <a:t>分层体系的提示级</a:t>
                      </a:r>
                      <a:r>
                        <a:rPr sz="890" b="0" i="0">
                          <a:solidFill>
                            <a:srgbClr val="1A1A1A"/>
                          </a:solidFill>
                          <a:latin typeface="Microsoft YaHei"/>
                        </a:rPr>
                        <a:t>位置，不能迁移为单层阈值</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2</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级间间隔取 Lubbe（2017）的 </a:t>
                      </a:r>
                      <a:r>
                        <a:rPr sz="890" b="1" i="0">
                          <a:solidFill>
                            <a:srgbClr val="1A1A1A"/>
                          </a:solidFill>
                          <a:latin typeface="Microsoft YaHei"/>
                        </a:rPr>
                        <a:t>0.7 s</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四源共同界定的区间 0.5–2.0 s</a:t>
                      </a:r>
                      <a:r>
                        <a:rPr sz="890" b="0" i="0">
                          <a:solidFill>
                            <a:srgbClr val="1A1A1A"/>
                          </a:solidFill>
                          <a:latin typeface="Microsoft YaHei"/>
                        </a:rPr>
                        <a:t>，1.0 s 为双源支持的中心值，且级间间隔</a:t>
                      </a:r>
                      <a:r>
                        <a:rPr sz="890" b="1" i="0">
                          <a:solidFill>
                            <a:srgbClr val="1A1A1A"/>
                          </a:solidFill>
                          <a:latin typeface="Microsoft YaHei"/>
                        </a:rPr>
                        <a:t>随紧迫度单调缩短</a:t>
                      </a:r>
                    </a:p>
                  </a:txBody>
                  <a:tcPr marL="66675" marR="66675" marT="42862" marB="42862" anchor="t">
                    <a:no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3</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屏幕固定是空间设计的</a:t>
                      </a:r>
                      <a:r>
                        <a:rPr sz="890" b="1" i="0">
                          <a:solidFill>
                            <a:srgbClr val="1A1A1A"/>
                          </a:solidFill>
                          <a:latin typeface="Microsoft YaHei"/>
                        </a:rPr>
                        <a:t>低效基线</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「位置增益」与「共形增益」必须分离</a:t>
                      </a:r>
                      <a:r>
                        <a:rPr sz="890" b="0" i="0">
                          <a:solidFill>
                            <a:srgbClr val="1A1A1A"/>
                          </a:solidFill>
                          <a:latin typeface="Microsoft YaHei"/>
                        </a:rPr>
                        <a:t>——Lind（2007）的 200 ms 与 1 vs 17 次漏报</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4</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以 TTFF 与反应时为</a:t>
                      </a:r>
                      <a:r>
                        <a:rPr sz="890" b="1" i="0">
                          <a:solidFill>
                            <a:srgbClr val="1A1A1A"/>
                          </a:solidFill>
                          <a:latin typeface="Microsoft YaHei"/>
                        </a:rPr>
                        <a:t>主要指标</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漏检率应提升为并列主要指标</a:t>
                      </a:r>
                      <a:r>
                        <a:rPr sz="890" b="0" i="0">
                          <a:solidFill>
                            <a:srgbClr val="1A1A1A"/>
                          </a:solidFill>
                          <a:latin typeface="Microsoft YaHei"/>
                        </a:rPr>
                        <a:t>——效应量级 17 倍 vs 20%</a:t>
                      </a:r>
                    </a:p>
                  </a:txBody>
                  <a:tcPr marL="66675" marR="66675" marT="42862" marB="42862" anchor="t">
                    <a:noFill/>
                  </a:tcPr>
                </a:tc>
              </a:tr>
              <a:tr h="278903">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5</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风险区按</a:t>
                      </a:r>
                      <a:r>
                        <a:rPr sz="890" b="1" i="0">
                          <a:solidFill>
                            <a:srgbClr val="1A1A1A"/>
                          </a:solidFill>
                          <a:latin typeface="Microsoft YaHei"/>
                        </a:rPr>
                        <a:t>固定米数</a:t>
                      </a:r>
                      <a:r>
                        <a:rPr sz="890" b="0" i="0">
                          <a:solidFill>
                            <a:srgbClr val="1A1A1A"/>
                          </a:solidFill>
                          <a:latin typeface="Microsoft YaHei"/>
                        </a:rPr>
                        <a:t>绘制</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按 </a:t>
                      </a:r>
                      <a:r>
                        <a:rPr sz="890" b="1" i="1">
                          <a:solidFill>
                            <a:srgbClr val="3E7D3E"/>
                          </a:solidFill>
                          <a:latin typeface="Microsoft YaHei"/>
                        </a:rPr>
                        <a:t>R</a:t>
                      </a:r>
                      <a:r>
                        <a:rPr sz="620" b="1" i="1" baseline="-25000">
                          <a:solidFill>
                            <a:srgbClr val="3E7D3E"/>
                          </a:solidFill>
                          <a:latin typeface="Microsoft YaHei"/>
                        </a:rPr>
                        <a:t>x</a:t>
                      </a:r>
                      <a:r>
                        <a:rPr sz="890" b="1" i="1">
                          <a:solidFill>
                            <a:srgbClr val="3E7D3E"/>
                          </a:solidFill>
                          <a:latin typeface="Microsoft YaHei"/>
                        </a:rPr>
                        <a:t> = </a:t>
                      </a:r>
                      <a:r>
                        <a:rPr sz="890" b="1" i="1">
                          <a:solidFill>
                            <a:srgbClr val="3E7D3E"/>
                          </a:solidFill>
                          <a:latin typeface="Microsoft YaHei"/>
                        </a:rPr>
                        <a:t>T</a:t>
                      </a:r>
                      <a:r>
                        <a:rPr sz="620" b="1" i="1" baseline="-25000">
                          <a:solidFill>
                            <a:srgbClr val="3E7D3E"/>
                          </a:solidFill>
                          <a:latin typeface="Microsoft YaHei"/>
                        </a:rPr>
                        <a:t>tc</a:t>
                      </a:r>
                      <a:r>
                        <a:rPr sz="890" b="1" i="1">
                          <a:solidFill>
                            <a:srgbClr val="3E7D3E"/>
                          </a:solidFill>
                          <a:latin typeface="Microsoft YaHei"/>
                        </a:rPr>
                        <a:t>· </a:t>
                      </a:r>
                      <a:r>
                        <a:rPr sz="890" b="1" i="1">
                          <a:solidFill>
                            <a:srgbClr val="3E7D3E"/>
                          </a:solidFill>
                          <a:latin typeface="Microsoft YaHei"/>
                        </a:rPr>
                        <a:t>V</a:t>
                      </a:r>
                      <a:r>
                        <a:rPr sz="620" b="1" i="1" baseline="-25000">
                          <a:solidFill>
                            <a:srgbClr val="3E7D3E"/>
                          </a:solidFill>
                          <a:latin typeface="Microsoft YaHei"/>
                        </a:rPr>
                        <a:t>car</a:t>
                      </a:r>
                      <a:r>
                        <a:rPr sz="890" b="1" i="0">
                          <a:solidFill>
                            <a:srgbClr val="3E7D3E"/>
                          </a:solidFill>
                          <a:latin typeface="Microsoft YaHei"/>
                        </a:rPr>
                        <a:t> 随运动学状态缩放</a:t>
                      </a:r>
                      <a:r>
                        <a:rPr sz="890" b="0" i="0">
                          <a:solidFill>
                            <a:srgbClr val="1A1A1A"/>
                          </a:solidFill>
                          <a:latin typeface="Microsoft YaHei"/>
                        </a:rPr>
                        <a:t>（Suzuki 等, 2010）——与时间侧改用 BTN </a:t>
                      </a:r>
                      <a:r>
                        <a:rPr sz="890" b="1" i="0">
                          <a:solidFill>
                            <a:srgbClr val="1A1A1A"/>
                          </a:solidFill>
                          <a:latin typeface="Microsoft YaHei"/>
                        </a:rPr>
                        <a:t>同源</a:t>
                      </a:r>
                    </a:p>
                  </a:txBody>
                  <a:tcPr marL="66675" marR="66675" marT="42862" marB="42862" anchor="t">
                    <a:solidFill>
                      <a:srgbClr val="FAFBFD"/>
                    </a:solidFill>
                  </a:tcPr>
                </a:tc>
              </a:tr>
              <a:tr h="269378">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6</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眼动指标按</a:t>
                      </a:r>
                      <a:r>
                        <a:rPr sz="890" b="1" i="0">
                          <a:solidFill>
                            <a:srgbClr val="1A1A1A"/>
                          </a:solidFill>
                          <a:latin typeface="Microsoft YaHei"/>
                        </a:rPr>
                        <a:t>单调方向</a:t>
                      </a:r>
                      <a:r>
                        <a:rPr sz="890" b="0" i="0">
                          <a:solidFill>
                            <a:srgbClr val="1A1A1A"/>
                          </a:solidFill>
                          <a:latin typeface="Microsoft YaHei"/>
                        </a:rPr>
                        <a:t>解释</a:t>
                      </a:r>
                    </a:p>
                  </a:txBody>
                  <a:tcPr marL="66675" marR="66675" marT="42862" marB="42862" anchor="t">
                    <a:noFill/>
                  </a:tcPr>
                </a:tc>
                <a:tc>
                  <a:txBody>
                    <a:bodyPr wrap="square" lIns="0" rIns="0" tIns="0" bIns="0" anchor="t"/>
                    <a:lstStyle/>
                    <a:p>
                      <a:pPr algn="l">
                        <a:lnSpc>
                          <a:spcPct val="155000"/>
                        </a:lnSpc>
                        <a:spcBef>
                          <a:spcPts val="0"/>
                        </a:spcBef>
                        <a:spcAft>
                          <a:spcPts val="0"/>
                        </a:spcAft>
                      </a:pPr>
                      <a:r>
                        <a:rPr sz="890" b="1" i="0">
                          <a:solidFill>
                            <a:srgbClr val="3E7D3E"/>
                          </a:solidFill>
                          <a:latin typeface="Microsoft YaHei"/>
                        </a:rPr>
                        <a:t>改为区间判定</a:t>
                      </a:r>
                      <a:r>
                        <a:rPr sz="890" b="0" i="0">
                          <a:solidFill>
                            <a:srgbClr val="1A1A1A"/>
                          </a:solidFill>
                          <a:latin typeface="Microsoft YaHei"/>
                        </a:rPr>
                        <a:t>：TDT 500–2 000 ms、TTFF 100–300 ms（Zhu 等, 2025）</a:t>
                      </a:r>
                    </a:p>
                  </a:txBody>
                  <a:tcPr marL="66675" marR="66675" marT="42862" marB="42862" anchor="t">
                    <a:noFill/>
                  </a:tcPr>
                </a:tc>
              </a:tr>
              <a:tr h="443507">
                <a:tc>
                  <a:txBody>
                    <a:bodyPr wrap="square" lIns="0" rIns="0" tIns="0" bIns="0" anchor="t"/>
                    <a:lstStyle/>
                    <a:p>
                      <a:pPr algn="ctr">
                        <a:lnSpc>
                          <a:spcPct val="155000"/>
                        </a:lnSpc>
                        <a:spcBef>
                          <a:spcPts val="0"/>
                        </a:spcBef>
                        <a:spcAft>
                          <a:spcPts val="0"/>
                        </a:spcAft>
                      </a:pPr>
                      <a:r>
                        <a:rPr sz="890" b="0" i="0">
                          <a:solidFill>
                            <a:srgbClr val="1A1A1A"/>
                          </a:solidFill>
                          <a:latin typeface="Microsoft YaHei"/>
                        </a:rPr>
                        <a:t>7</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0" i="0">
                          <a:solidFill>
                            <a:srgbClr val="1A1A1A"/>
                          </a:solidFill>
                          <a:latin typeface="Microsoft YaHei"/>
                        </a:rPr>
                        <a:t>Bliss（2003）</a:t>
                      </a:r>
                      <a:r>
                        <a:rPr sz="890" b="1" i="0">
                          <a:solidFill>
                            <a:srgbClr val="1A1A1A"/>
                          </a:solidFill>
                          <a:latin typeface="Microsoft YaHei"/>
                        </a:rPr>
                        <a:t>元分析</a:t>
                      </a:r>
                      <a:r>
                        <a:rPr sz="890" b="0" i="0">
                          <a:solidFill>
                            <a:srgbClr val="1A1A1A"/>
                          </a:solidFill>
                          <a:latin typeface="Microsoft YaHei"/>
                        </a:rPr>
                        <a:t>给出 30% 信任崩塌门限</a:t>
                      </a:r>
                    </a:p>
                  </a:txBody>
                  <a:tcPr marL="66675" marR="66675" marT="42862" marB="42862" anchor="t">
                    <a:solidFill>
                      <a:srgbClr val="FAFBFD"/>
                    </a:solidFill>
                  </a:tcPr>
                </a:tc>
                <a:tc>
                  <a:txBody>
                    <a:bodyPr wrap="square" lIns="0" rIns="0" tIns="0" bIns="0" anchor="t"/>
                    <a:lstStyle/>
                    <a:p>
                      <a:pPr algn="l">
                        <a:lnSpc>
                          <a:spcPct val="155000"/>
                        </a:lnSpc>
                        <a:spcBef>
                          <a:spcPts val="0"/>
                        </a:spcBef>
                        <a:spcAft>
                          <a:spcPts val="0"/>
                        </a:spcAft>
                      </a:pPr>
                      <a:r>
                        <a:rPr sz="890" b="1" i="0">
                          <a:solidFill>
                            <a:srgbClr val="C00000"/>
                          </a:solidFill>
                          <a:latin typeface="Microsoft YaHei"/>
                        </a:rPr>
                        <a:t>已撤回</a:t>
                      </a:r>
                      <a:r>
                        <a:rPr sz="890" b="0" i="0">
                          <a:solidFill>
                            <a:srgbClr val="1A1A1A"/>
                          </a:solidFill>
                          <a:latin typeface="Microsoft YaHei"/>
                        </a:rPr>
                        <a:t>——该文为</a:t>
                      </a:r>
                      <a:r>
                        <a:rPr sz="890" b="1" i="0">
                          <a:solidFill>
                            <a:srgbClr val="1A1A1A"/>
                          </a:solidFill>
                          <a:latin typeface="Microsoft YaHei"/>
                        </a:rPr>
                        <a:t>航空事故档案分析</a:t>
                      </a:r>
                      <a:r>
                        <a:rPr sz="890" b="0" i="0">
                          <a:solidFill>
                            <a:srgbClr val="1A1A1A"/>
                          </a:solidFill>
                          <a:latin typeface="Microsoft YaHei"/>
                        </a:rPr>
                        <a:t>，非元分析非驾驶研究，且门限</a:t>
                      </a:r>
                      <a:r>
                        <a:rPr sz="890" b="1" i="0">
                          <a:solidFill>
                            <a:srgbClr val="1A1A1A"/>
                          </a:solidFill>
                          <a:latin typeface="Microsoft YaHei"/>
                        </a:rPr>
                        <a:t>在任何原文中均未核实到</a:t>
                      </a:r>
                      <a:r>
                        <a:rPr sz="890" b="0" i="0">
                          <a:solidFill>
                            <a:srgbClr val="1A1A1A"/>
                          </a:solidFill>
                          <a:latin typeface="Microsoft YaHei"/>
                        </a:rPr>
                        <a:t>；改用 Bliss 等（1995）与 Bliss 与 Acton（2003）</a:t>
                      </a:r>
                    </a:p>
                  </a:txBody>
                  <a:tcPr marL="66675" marR="66675" marT="42862" marB="42862" anchor="t">
                    <a:solidFill>
                      <a:srgbClr val="FAFBFD"/>
                    </a:solidFill>
                  </a:tcPr>
                </a:tc>
              </a:tr>
            </a:tbl>
          </a:graphicData>
        </a:graphic>
      </p:graphicFrame>
      <p:sp>
        <p:nvSpPr>
          <p:cNvPr id="7" name="Rectangle 6"/>
          <p:cNvSpPr/>
          <p:nvPr/>
        </p:nvSpPr>
        <p:spPr>
          <a:xfrm>
            <a:off x="438150" y="3202781"/>
            <a:ext cx="11315700" cy="588764"/>
          </a:xfrm>
          <a:prstGeom prst="rect">
            <a:avLst/>
          </a:prstGeom>
          <a:solidFill>
            <a:srgbClr val="F2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38150" y="3202781"/>
            <a:ext cx="38100" cy="588764"/>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1975" y="3288506"/>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1F5A1F"/>
                </a:solidFill>
                <a:latin typeface="Microsoft YaHei"/>
              </a:rPr>
              <a:t>本章四点核心工作：</a:t>
            </a:r>
            <a:r>
              <a:rPr sz="990" b="0" i="0">
                <a:solidFill>
                  <a:srgbClr val="1F5A1F"/>
                </a:solidFill>
                <a:latin typeface="Microsoft YaHei"/>
              </a:rPr>
              <a:t>① 建立</a:t>
            </a:r>
            <a:r>
              <a:rPr sz="990" b="1" i="0">
                <a:solidFill>
                  <a:srgbClr val="1F5A1F"/>
                </a:solidFill>
                <a:latin typeface="Microsoft YaHei"/>
              </a:rPr>
              <a:t>可导出参数而非枚举参数</a:t>
            </a:r>
            <a:r>
              <a:rPr sz="990" b="0" i="0">
                <a:solidFill>
                  <a:srgbClr val="1F5A1F"/>
                </a:solidFill>
                <a:latin typeface="Microsoft YaHei"/>
              </a:rPr>
              <a:t>的三重约束框架，并明确 SPIDER 的使用边界（只组织阶段与指标，不推导耗时）；② 系统辨析</a:t>
            </a:r>
            <a:r>
              <a:rPr sz="990" b="1" i="0">
                <a:solidFill>
                  <a:srgbClr val="1F5A1F"/>
                </a:solidFill>
                <a:latin typeface="Microsoft YaHei"/>
              </a:rPr>
              <a:t>七组主要 + 四组次级冲突</a:t>
            </a:r>
            <a:r>
              <a:rPr sz="990" b="0" i="0">
                <a:solidFill>
                  <a:srgbClr val="1F5A1F"/>
                </a:solidFill>
                <a:latin typeface="Microsoft YaHei"/>
              </a:rPr>
              <a:t>，把每一组转化为一个设计维度；③ 对既有共识做出</a:t>
            </a:r>
            <a:r>
              <a:rPr sz="990" b="1" i="0">
                <a:solidFill>
                  <a:srgbClr val="1F5A1F"/>
                </a:solidFill>
                <a:latin typeface="Microsoft YaHei"/>
              </a:rPr>
              <a:t>七处实质修正</a:t>
            </a:r>
            <a:r>
              <a:rPr sz="990" b="0" i="0">
                <a:solidFill>
                  <a:srgbClr val="1F5A1F"/>
                </a:solidFill>
                <a:latin typeface="Microsoft YaHei"/>
              </a:rPr>
              <a:t>；④ 识别</a:t>
            </a:r>
            <a:r>
              <a:rPr sz="990" b="1" i="0">
                <a:solidFill>
                  <a:srgbClr val="1F5A1F"/>
                </a:solidFill>
                <a:latin typeface="Microsoft YaHei"/>
              </a:rPr>
              <a:t>九项研究空白</a:t>
            </a:r>
            <a:r>
              <a:rPr sz="990" b="0" i="0">
                <a:solidFill>
                  <a:srgbClr val="1F5A1F"/>
                </a:solidFill>
                <a:latin typeface="Microsoft YaHei"/>
              </a:rPr>
              <a:t>，其中三项此前完全未被识别（G2 触发准则、G7 动态二维分解、映射方向）。</a:t>
            </a:r>
          </a:p>
        </p:txBody>
      </p:sp>
      <p:sp>
        <p:nvSpPr>
          <p:cNvPr id="10" name="Rectangle 9"/>
          <p:cNvSpPr/>
          <p:nvPr/>
        </p:nvSpPr>
        <p:spPr>
          <a:xfrm>
            <a:off x="438150" y="3896320"/>
            <a:ext cx="11315700" cy="588764"/>
          </a:xfrm>
          <a:prstGeom prst="rect">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8150" y="3896320"/>
            <a:ext cx="38100" cy="5887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1975" y="3982045"/>
            <a:ext cx="11106150" cy="445889"/>
          </a:xfrm>
          <a:prstGeom prst="rect">
            <a:avLst/>
          </a:prstGeom>
          <a:noFill/>
        </p:spPr>
        <p:txBody>
          <a:bodyPr wrap="square" lIns="0" rIns="0" tIns="0" bIns="0" anchor="t">
            <a:normAutofit/>
          </a:bodyPr>
          <a:lstStyle/>
          <a:p>
            <a:pPr algn="l">
              <a:lnSpc>
                <a:spcPct val="166000"/>
              </a:lnSpc>
              <a:spcBef>
                <a:spcPts val="0"/>
              </a:spcBef>
              <a:spcAft>
                <a:spcPts val="0"/>
              </a:spcAft>
            </a:pPr>
            <a:r>
              <a:rPr sz="990" b="1" i="0">
                <a:solidFill>
                  <a:srgbClr val="7A1F1F"/>
                </a:solidFill>
                <a:latin typeface="Microsoft YaHei"/>
              </a:rPr>
              <a:t>须声明的五项证据局限：</a:t>
            </a:r>
            <a:r>
              <a:rPr sz="990" b="0" i="0">
                <a:solidFill>
                  <a:srgbClr val="7A1F1F"/>
                </a:solidFill>
                <a:latin typeface="Microsoft YaHei"/>
              </a:rPr>
              <a:t>① </a:t>
            </a:r>
            <a:r>
              <a:rPr sz="990" b="1" i="0">
                <a:solidFill>
                  <a:srgbClr val="7A1F1F"/>
                </a:solidFill>
                <a:latin typeface="Microsoft YaHei"/>
              </a:rPr>
              <a:t>25 篇仅有摘要</a:t>
            </a:r>
            <a:r>
              <a:rPr sz="990" b="0" i="0">
                <a:solidFill>
                  <a:srgbClr val="7A1F1F"/>
                </a:solidFill>
                <a:latin typeface="Microsoft YaHei"/>
              </a:rPr>
              <a:t>，其数值不作参数锚点；② </a:t>
            </a:r>
            <a:r>
              <a:rPr sz="990" b="1" i="0">
                <a:solidFill>
                  <a:srgbClr val="7A1F1F"/>
                </a:solidFill>
                <a:latin typeface="Microsoft YaHei"/>
              </a:rPr>
              <a:t>危险解除方向零篇人因对照</a:t>
            </a:r>
            <a:r>
              <a:rPr sz="990" b="0" i="0">
                <a:solidFill>
                  <a:srgbClr val="7A1F1F"/>
                </a:solidFill>
                <a:latin typeface="Microsoft YaHei"/>
              </a:rPr>
              <a:t>，撤销侧三参数全为推导值，渐隐时长无任何文献支撑；③ </a:t>
            </a:r>
            <a:r>
              <a:rPr sz="990" b="1" i="0">
                <a:solidFill>
                  <a:srgbClr val="7A1F1F"/>
                </a:solidFill>
                <a:latin typeface="Microsoft YaHei"/>
              </a:rPr>
              <a:t>本库无一篇报告系统侧延迟</a:t>
            </a:r>
            <a:r>
              <a:rPr sz="990" b="0" i="0">
                <a:solidFill>
                  <a:srgbClr val="7A1F1F"/>
                </a:solidFill>
                <a:latin typeface="Microsoft YaHei"/>
              </a:rPr>
              <a:t>；④ 样本代表性局限（覆盖 65 岁以上者仅 2 项）；⑤ 模拟器外推效度（实车研究仅约 8% 且多在低速可控场景）。</a:t>
            </a:r>
          </a:p>
        </p:txBody>
      </p:sp>
      <p:sp>
        <p:nvSpPr>
          <p:cNvPr id="13" name="TextBox 12"/>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38150" y="590550"/>
            <a:ext cx="11315700" cy="190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150" y="190500"/>
            <a:ext cx="11353800" cy="333375"/>
          </a:xfrm>
          <a:prstGeom prst="rect">
            <a:avLst/>
          </a:prstGeom>
          <a:noFill/>
        </p:spPr>
        <p:txBody>
          <a:bodyPr wrap="square" lIns="0" rIns="0" tIns="0" bIns="0" anchor="t">
            <a:normAutofit/>
          </a:bodyPr>
          <a:lstStyle/>
          <a:p>
            <a:pPr algn="l">
              <a:lnSpc>
                <a:spcPct val="125000"/>
              </a:lnSpc>
              <a:spcBef>
                <a:spcPts val="0"/>
              </a:spcBef>
              <a:spcAft>
                <a:spcPts val="0"/>
              </a:spcAft>
            </a:pPr>
            <a:r>
              <a:rPr sz="1580" b="1" i="0">
                <a:solidFill>
                  <a:srgbClr val="1A1A1A"/>
                </a:solidFill>
                <a:latin typeface="Microsoft YaHei"/>
              </a:rPr>
              <a:t>文献综述</a:t>
            </a:r>
            <a:r>
              <a:rPr sz="1580" b="1" i="0">
                <a:solidFill>
                  <a:srgbClr val="4472C4"/>
                </a:solidFill>
                <a:latin typeface="Microsoft YaHei"/>
              </a:rPr>
              <a:t>参考文献：本讲稿主引 24 篇</a:t>
            </a:r>
          </a:p>
        </p:txBody>
      </p:sp>
      <p:sp>
        <p:nvSpPr>
          <p:cNvPr id="4" name="Rounded Rectangle 3"/>
          <p:cNvSpPr/>
          <p:nvPr/>
        </p:nvSpPr>
        <p:spPr>
          <a:xfrm>
            <a:off x="11385649" y="209550"/>
            <a:ext cx="368200" cy="219075"/>
          </a:xfrm>
          <a:prstGeom prst="roundRect">
            <a:avLst>
              <a:gd name="adj" fmla="val 47826"/>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90424" y="238125"/>
            <a:ext cx="196750"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FFFFFF"/>
                </a:solidFill>
                <a:latin typeface="Microsoft YaHei"/>
              </a:rPr>
              <a:t>2.6</a:t>
            </a:r>
          </a:p>
        </p:txBody>
      </p:sp>
      <p:sp>
        <p:nvSpPr>
          <p:cNvPr id="6" name="TextBox 5"/>
          <p:cNvSpPr txBox="1"/>
          <p:nvPr/>
        </p:nvSpPr>
        <p:spPr>
          <a:xfrm>
            <a:off x="438150" y="762000"/>
            <a:ext cx="11353800" cy="240506"/>
          </a:xfrm>
          <a:prstGeom prst="rect">
            <a:avLst/>
          </a:prstGeom>
          <a:noFill/>
        </p:spPr>
        <p:txBody>
          <a:bodyPr wrap="square" lIns="0" rIns="0" tIns="0" bIns="0" anchor="t">
            <a:normAutofit/>
          </a:bodyPr>
          <a:lstStyle/>
          <a:p>
            <a:pPr algn="l">
              <a:lnSpc>
                <a:spcPct val="178000"/>
              </a:lnSpc>
              <a:spcBef>
                <a:spcPts val="0"/>
              </a:spcBef>
              <a:spcAft>
                <a:spcPts val="0"/>
              </a:spcAft>
            </a:pPr>
            <a:r>
              <a:rPr sz="940" b="0" i="0">
                <a:solidFill>
                  <a:srgbClr val="8C8C8C"/>
                </a:solidFill>
                <a:latin typeface="Microsoft YaHei"/>
              </a:rPr>
              <a:t>APA 第 7 版。完整 102 条见《第2章_文献综述_v2.md》文末参考文献表与 《HUD_AR-HUD_行人预警_文献综合表.csv》的「★APA条目」列。</a:t>
            </a:r>
          </a:p>
        </p:txBody>
      </p:sp>
      <p:sp>
        <p:nvSpPr>
          <p:cNvPr id="7" name="TextBox 6"/>
          <p:cNvSpPr txBox="1"/>
          <p:nvPr/>
        </p:nvSpPr>
        <p:spPr>
          <a:xfrm>
            <a:off x="466725" y="1078706"/>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Cangut, S. H., &amp; Alver, Y. (2026). Machine Learning-Based Pedestrian Intention Prediction Models for Collision Warning at Unsignalized Crosswalks. In International Conference on Road and Rail Infrastructure (pp. 791–798). University of Zagreb Faculty of Civil Engineering. https://doi.org/10.5592/co/cetra.2026.1849</a:t>
            </a:r>
          </a:p>
        </p:txBody>
      </p:sp>
      <p:sp>
        <p:nvSpPr>
          <p:cNvPr id="8" name="TextBox 7"/>
          <p:cNvSpPr txBox="1"/>
          <p:nvPr/>
        </p:nvSpPr>
        <p:spPr>
          <a:xfrm>
            <a:off x="466725" y="1498996"/>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Chang, C. Y., &amp; Chang, T. W. (2009). Parameters analysis for an intersection bus-pedestrian collision warning system. In 2009 IEEE Asia-Pacific Services Computing Conference (APSCC) (pp. 239–245). IEEE. https://doi.org/10.1109/apscc.2009.5394118</a:t>
            </a:r>
          </a:p>
        </p:txBody>
      </p:sp>
      <p:sp>
        <p:nvSpPr>
          <p:cNvPr id="9" name="TextBox 8"/>
          <p:cNvSpPr txBox="1"/>
          <p:nvPr/>
        </p:nvSpPr>
        <p:spPr>
          <a:xfrm>
            <a:off x="466725" y="1791890"/>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Char, F. (2020). Pedestrian and cyclist forward collision warning system effectiveness estimation based on simulation of kinematic reconstructions [Doctoral dissertation, Aix-Marseille Université]. https://doi.org/10.70675/3b5791f1z1884z4ee3z8ff1z001f38f0b61c</a:t>
            </a:r>
          </a:p>
        </p:txBody>
      </p:sp>
      <p:sp>
        <p:nvSpPr>
          <p:cNvPr id="10" name="TextBox 9"/>
          <p:cNvSpPr txBox="1"/>
          <p:nvPr/>
        </p:nvSpPr>
        <p:spPr>
          <a:xfrm>
            <a:off x="466725" y="2084784"/>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Chen, W., Zhuang, X., Cui, Z., &amp; Ma, G. (2019). Drivers’ recognition of pedestrian road-crossing intentions: Performance and process. Transportation Research Part F: Traffic Psychology and Behaviour, 64, 552–564. https://doi.org/10.1016/j.trf.2019.07.004</a:t>
            </a:r>
          </a:p>
        </p:txBody>
      </p:sp>
      <p:sp>
        <p:nvSpPr>
          <p:cNvPr id="11" name="TextBox 10"/>
          <p:cNvSpPr txBox="1"/>
          <p:nvPr/>
        </p:nvSpPr>
        <p:spPr>
          <a:xfrm>
            <a:off x="466725" y="2377678"/>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Chen, W., Song, J., Wang, Y., Wu, C., Ma, S., Wang, D., Yang, Z., &amp; Li, H. (2023). Inattentional blindness to unexpected hazard in augmented reality head-up display assisted driving: The impact of the relative position between stimulus and augmented graph. Traffic Injury Prevention, 24(4), 344–351. https://doi.org/10.1080/15389588.2023.2186735</a:t>
            </a:r>
          </a:p>
        </p:txBody>
      </p:sp>
      <p:sp>
        <p:nvSpPr>
          <p:cNvPr id="12" name="TextBox 11"/>
          <p:cNvSpPr txBox="1"/>
          <p:nvPr/>
        </p:nvSpPr>
        <p:spPr>
          <a:xfrm>
            <a:off x="466725" y="2797968"/>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Coelingh, E., Eidehall, A., &amp; Bengtsson, M. (2010). Collision Warning with Full Auto Brake and Pedestrian Detection - a practical example of Automatic Emergency Braking. In 13th International IEEE Conference on Intelligent Transportation Systems (pp. 155–160). IEEE. https://doi.org/10.1109/itsc.2010.5625077</a:t>
            </a:r>
          </a:p>
        </p:txBody>
      </p:sp>
      <p:sp>
        <p:nvSpPr>
          <p:cNvPr id="13" name="TextBox 12"/>
          <p:cNvSpPr txBox="1"/>
          <p:nvPr/>
        </p:nvSpPr>
        <p:spPr>
          <a:xfrm>
            <a:off x="466725" y="3218259"/>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Gray, R., Ho, C., &amp; Spence, C. (2014). A Comparison of Different Informative Vibrotactile Forward Collision Warnings: Does the Warning Need to Be Linked to the Collision Event?. PLoS ONE, 9(1), e87070. https://doi.org/10.1371/journal.pone.0087070</a:t>
            </a:r>
          </a:p>
        </p:txBody>
      </p:sp>
      <p:sp>
        <p:nvSpPr>
          <p:cNvPr id="14" name="TextBox 13"/>
          <p:cNvSpPr txBox="1"/>
          <p:nvPr/>
        </p:nvSpPr>
        <p:spPr>
          <a:xfrm>
            <a:off x="466725" y="3511153"/>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Hou, G., Dong, Q., &amp; Wang, H. (2024). The Effect of Dynamic Effects and Color Transparency of AR-HUD Navigation Graphics on Driving Behavior Regarding Inattentional Blindness. International Journal of Human–Computer Interaction, 41(12), 7581–7592. https://doi.org/10.1080/10447318.2024.2400376</a:t>
            </a:r>
          </a:p>
        </p:txBody>
      </p:sp>
      <p:sp>
        <p:nvSpPr>
          <p:cNvPr id="15" name="TextBox 14"/>
          <p:cNvSpPr txBox="1"/>
          <p:nvPr/>
        </p:nvSpPr>
        <p:spPr>
          <a:xfrm>
            <a:off x="466725" y="3931443"/>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Kim, H., Gabbard, J. L., Anon, A. M., &amp; Misu, T. (2018). Driver Behavior and Performance with Augmented Reality Pedestrian Collision Warning: An Outdoor User Study. IEEE Transactions on Visualization and Computer Graphics, 24(4), 1515–1524. https://doi.org/10.1109/tvcg.2018.2793680</a:t>
            </a:r>
          </a:p>
        </p:txBody>
      </p:sp>
      <p:sp>
        <p:nvSpPr>
          <p:cNvPr id="16" name="TextBox 15"/>
          <p:cNvSpPr txBox="1"/>
          <p:nvPr/>
        </p:nvSpPr>
        <p:spPr>
          <a:xfrm>
            <a:off x="466725" y="4351734"/>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Large, D. R., Kim, H., Merenda, C., Leong, S., Harvey, C., Burnett, G., &amp; Gabbard, J. (2019). Investigating the effect of urgency and modality of pedestrian alert warnings on driver acceptance and performance. Transportation Research Part F: Traffic Psychology and Behaviour, 60, 11–24. https://doi.org/10.1016/j.trf.2018.09.028</a:t>
            </a:r>
          </a:p>
        </p:txBody>
      </p:sp>
      <p:sp>
        <p:nvSpPr>
          <p:cNvPr id="17" name="TextBox 16"/>
          <p:cNvSpPr txBox="1"/>
          <p:nvPr/>
        </p:nvSpPr>
        <p:spPr>
          <a:xfrm>
            <a:off x="466725" y="4772025"/>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Li, J., Wang, C., &amp; Chen, M. (2025a). Effects of Driving Background Complexity and Interface Opacity on Visual Cognition in AR‐HUD Systems. Journal of the Society for Information Display, 33(8), 919–936. https://doi.org/10.1002/jsid.2096</a:t>
            </a:r>
          </a:p>
        </p:txBody>
      </p:sp>
      <p:sp>
        <p:nvSpPr>
          <p:cNvPr id="18" name="TextBox 17"/>
          <p:cNvSpPr txBox="1"/>
          <p:nvPr/>
        </p:nvSpPr>
        <p:spPr>
          <a:xfrm>
            <a:off x="466725" y="5064918"/>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Lopez, J. C., &amp; Moacdieh, N. M. (2025). Opacity in car augmented reality head-up displays: users’ preferences, visual attention, and situation awareness. Applied Ergonomics, 129, 104610. https://doi.org/10.1016/j.apergo.2025.104610</a:t>
            </a:r>
          </a:p>
        </p:txBody>
      </p:sp>
      <p:sp>
        <p:nvSpPr>
          <p:cNvPr id="19" name="TextBox 18"/>
          <p:cNvSpPr txBox="1"/>
          <p:nvPr/>
        </p:nvSpPr>
        <p:spPr>
          <a:xfrm>
            <a:off x="6153150" y="1078706"/>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Merenda, C., Kim, H., Tanous, K., Gabbard, J. L., Feichtl, B., Misu, T., &amp; Suga, C. (2018). Augmented Reality Interface Design Approaches for Goal-directed and Stimulus-driven Driving Tasks. IEEE Transactions on Visualization and Computer Graphics, 24(11), 2875–2885. https://doi.org/10.1109/tvcg.2018.2868531</a:t>
            </a:r>
          </a:p>
        </p:txBody>
      </p:sp>
      <p:sp>
        <p:nvSpPr>
          <p:cNvPr id="20" name="TextBox 19"/>
          <p:cNvSpPr txBox="1"/>
          <p:nvPr/>
        </p:nvSpPr>
        <p:spPr>
          <a:xfrm>
            <a:off x="6153150" y="1498996"/>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Rasouli, A., &amp; Tsotsos, J. K. (2020). Autonomous Vehicles That Interact With Pedestrians: A Survey of Theory and Practice. IEEE Transactions on Intelligent Transportation Systems, 21(3), 900–918. https://doi.org/10.1109/tits.2019.2901817</a:t>
            </a:r>
          </a:p>
        </p:txBody>
      </p:sp>
      <p:sp>
        <p:nvSpPr>
          <p:cNvPr id="21" name="TextBox 20"/>
          <p:cNvSpPr txBox="1"/>
          <p:nvPr/>
        </p:nvSpPr>
        <p:spPr>
          <a:xfrm>
            <a:off x="6153150" y="1791890"/>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Strayer, D. L., &amp; McDonnell, A. S. (2025). SPIDER 2.0: Driver Distraction and Visual Attention. Annual Review of Vision Science, 11(1), 521–540. https://doi.org/10.1146/annurev-vision-110423-025626</a:t>
            </a:r>
          </a:p>
        </p:txBody>
      </p:sp>
      <p:sp>
        <p:nvSpPr>
          <p:cNvPr id="22" name="TextBox 21"/>
          <p:cNvSpPr txBox="1"/>
          <p:nvPr/>
        </p:nvSpPr>
        <p:spPr>
          <a:xfrm>
            <a:off x="6153150" y="2084784"/>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Takada, S., Hiraoka, T., &amp; Kawakami, H. (2014). Effectiveness of forward obstacles collision warning system based on deceleration for collision avoidance. IET Intelligent Transport Systems, 8(6), 570–579. https://doi.org/10.1049/iet-its.2013.0024</a:t>
            </a:r>
          </a:p>
        </p:txBody>
      </p:sp>
      <p:sp>
        <p:nvSpPr>
          <p:cNvPr id="23" name="TextBox 22"/>
          <p:cNvSpPr txBox="1"/>
          <p:nvPr/>
        </p:nvSpPr>
        <p:spPr>
          <a:xfrm>
            <a:off x="6153150" y="2377678"/>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Wang, Y., Wu, Y., Chen, C., Wu, B., Ma, S., Wang, D., Li, H., &amp; Yang, Z. (2021). Inattentional Blindness in Augmented Reality Head-Up Display-Assisted Driving. International Journal of Human–Computer Interaction, 38(9), 837–850. https://doi.org/10.1080/10447318.2021.1970434</a:t>
            </a:r>
          </a:p>
        </p:txBody>
      </p:sp>
      <p:sp>
        <p:nvSpPr>
          <p:cNvPr id="24" name="TextBox 23"/>
          <p:cNvSpPr txBox="1"/>
          <p:nvPr/>
        </p:nvSpPr>
        <p:spPr>
          <a:xfrm>
            <a:off x="6153150" y="2797968"/>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Wang, J., Yang, J., Fu, Q., Zhang, J., &amp; Zhang, J. (2024). A new dynamic spatial information design framework for AR-HUD to evoke drivers’ instinctive responses and improve accident prevention. International Journal of Human-Computer Studies, 183, 103194. https://doi.org/10.1016/j.ijhcs.2023.103194</a:t>
            </a:r>
          </a:p>
        </p:txBody>
      </p:sp>
      <p:sp>
        <p:nvSpPr>
          <p:cNvPr id="25" name="TextBox 24"/>
          <p:cNvSpPr txBox="1"/>
          <p:nvPr/>
        </p:nvSpPr>
        <p:spPr>
          <a:xfrm>
            <a:off x="6153150" y="3218259"/>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Winkler, S., Kazazi, J., &amp; Vollrath, M. (2018). How to warn drivers in various safety-critical situations – Different strategies, different reactions. Accident Analysis &amp; Prevention, 117, 410–426. https://doi.org/10.1016/j.aap.2018.01.040</a:t>
            </a:r>
          </a:p>
        </p:txBody>
      </p:sp>
      <p:sp>
        <p:nvSpPr>
          <p:cNvPr id="26" name="TextBox 25"/>
          <p:cNvSpPr txBox="1"/>
          <p:nvPr/>
        </p:nvSpPr>
        <p:spPr>
          <a:xfrm>
            <a:off x="6153150" y="3511153"/>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Wu, Z., Liang, Y., Liu, G., &amp; Ai, X. (2024). Comparative Analysis of AR-HUDs Crash Warning Icon Designs: An Eye-Tracking Study Using 360° Panoramic Driving Simulation. Sustainability, 16(21), 9167. https://doi.org/10.3390/su16219167</a:t>
            </a:r>
          </a:p>
        </p:txBody>
      </p:sp>
      <p:sp>
        <p:nvSpPr>
          <p:cNvPr id="27" name="TextBox 26"/>
          <p:cNvSpPr txBox="1"/>
          <p:nvPr/>
        </p:nvSpPr>
        <p:spPr>
          <a:xfrm>
            <a:off x="6153150" y="3804046"/>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You, F., Zhang, J., Zhang, J., Shen, L., Fang, W., Cui, W., &amp; Wang, J. (2023). A Novel Cooperation-Guided Warning of Invisible Danger from AR-HUD to Enhance Driver’s Perception. International Journal of Human–Computer Interaction, 40(8), 1873–1891. https://doi.org/10.1080/10447318.2023.2233734</a:t>
            </a:r>
          </a:p>
        </p:txBody>
      </p:sp>
      <p:sp>
        <p:nvSpPr>
          <p:cNvPr id="28" name="TextBox 27"/>
          <p:cNvSpPr txBox="1"/>
          <p:nvPr/>
        </p:nvSpPr>
        <p:spPr>
          <a:xfrm>
            <a:off x="6153150" y="4224337"/>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Zhang, Y., Li, X., Yan, X., &amp; Xue, Q. (2015). Effects of collision warning system under different warning timing on driving speed and distanc. In 2015 International Conference on Transportation Information and Safety (ICTIS) (pp. 380–385). IEEE. https://doi.org/10.1109/ictis.2015.7232174</a:t>
            </a:r>
          </a:p>
        </p:txBody>
      </p:sp>
      <p:sp>
        <p:nvSpPr>
          <p:cNvPr id="29" name="TextBox 28"/>
          <p:cNvSpPr txBox="1"/>
          <p:nvPr/>
        </p:nvSpPr>
        <p:spPr>
          <a:xfrm>
            <a:off x="6153150" y="4644628"/>
            <a:ext cx="5638800" cy="410765"/>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Zhang, Y., Bian, Y., Zhao, X., Li, X., &amp; Zhang, J. (2024). Improving Pedestrian Safety with Head-Up Display Warning in a Connected Environment. International Journal of Human–Computer Interaction, 41(6), 3724–3744. https://doi.org/10.1080/10447318.2024.2368910</a:t>
            </a:r>
          </a:p>
        </p:txBody>
      </p:sp>
      <p:sp>
        <p:nvSpPr>
          <p:cNvPr id="30" name="TextBox 29"/>
          <p:cNvSpPr txBox="1"/>
          <p:nvPr/>
        </p:nvSpPr>
        <p:spPr>
          <a:xfrm>
            <a:off x="6153150" y="5064918"/>
            <a:ext cx="5638800" cy="283368"/>
          </a:xfrm>
          <a:prstGeom prst="rect">
            <a:avLst/>
          </a:prstGeom>
          <a:noFill/>
        </p:spPr>
        <p:txBody>
          <a:bodyPr wrap="square" lIns="0" rIns="0" tIns="0" bIns="0" anchor="t">
            <a:normAutofit/>
          </a:bodyPr>
          <a:lstStyle/>
          <a:p>
            <a:pPr algn="l">
              <a:lnSpc>
                <a:spcPct val="144000"/>
              </a:lnSpc>
              <a:spcBef>
                <a:spcPts val="0"/>
              </a:spcBef>
              <a:spcAft>
                <a:spcPts val="0"/>
              </a:spcAft>
            </a:pPr>
            <a:r>
              <a:rPr sz="700">
                <a:latin typeface="Microsoft YaHei"/>
              </a:rPr>
              <a:t>• </a:t>
            </a:r>
            <a:r>
              <a:rPr sz="700" b="0" i="0">
                <a:solidFill>
                  <a:srgbClr val="333333"/>
                </a:solidFill>
                <a:latin typeface="Microsoft YaHei"/>
              </a:rPr>
              <a:t>Zhu, Q., Li, J., &amp; Liu, Y. (2025). Visual Saliency Design for AR-HUD Navigation in Extreme Weather: Reducing Inattentional Blindness. IEEE Access, 13, 137613–137622. https://doi.org/10.1109/access.2025.3588576</a:t>
            </a:r>
          </a:p>
        </p:txBody>
      </p:sp>
      <p:sp>
        <p:nvSpPr>
          <p:cNvPr id="31" name="TextBox 30"/>
          <p:cNvSpPr txBox="1"/>
          <p:nvPr/>
        </p:nvSpPr>
        <p:spPr>
          <a:xfrm>
            <a:off x="11403955" y="6562725"/>
            <a:ext cx="387994" cy="190500"/>
          </a:xfrm>
          <a:prstGeom prst="rect">
            <a:avLst/>
          </a:prstGeom>
          <a:noFill/>
        </p:spPr>
        <p:txBody>
          <a:bodyPr wrap="square" lIns="0" rIns="0" tIns="0" bIns="0" anchor="t">
            <a:normAutofit/>
          </a:bodyPr>
          <a:lstStyle/>
          <a:p>
            <a:pPr algn="l">
              <a:lnSpc>
                <a:spcPct val="125000"/>
              </a:lnSpc>
              <a:spcBef>
                <a:spcPts val="0"/>
              </a:spcBef>
              <a:spcAft>
                <a:spcPts val="0"/>
              </a:spcAft>
            </a:pPr>
            <a:r>
              <a:rPr sz="900" b="0" i="0">
                <a:solidFill>
                  <a:srgbClr val="8C8C8C"/>
                </a:solidFill>
                <a:latin typeface="Microsoft YaHei"/>
              </a:rPr>
              <a:t>37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