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46200" y="1524000"/>
            <a:ext cx="13563600" cy="3048000"/>
          </a:xfrm>
          <a:prstGeom prst="rect">
            <a:avLst/>
          </a:prstGeom>
          <a:noFill/>
        </p:spPr>
        <p:txBody>
          <a:bodyPr wrap="square" lIns="0" rIns="0" tIns="0" bIns="0">
            <a:spAutoFit/>
          </a:bodyPr>
          <a:lstStyle/>
          <a:p>
            <a:pPr algn="ctr">
              <a:lnSpc>
                <a:spcPct val="125000"/>
              </a:lnSpc>
            </a:pPr>
            <a:r>
              <a:rPr sz="3400" b="1">
                <a:solidFill>
                  <a:srgbClr val="2F528F"/>
                </a:solidFill>
                <a:latin typeface="微软雅黑"/>
              </a:rPr>
              <a:t>AR-HUD 行人碰撞预警的情境依赖时空参数设计非盲区与盲区双情境的分别标定及其迁移损失</a:t>
            </a:r>
          </a:p>
        </p:txBody>
      </p:sp>
      <p:sp>
        <p:nvSpPr>
          <p:cNvPr id="4" name="TextBox 3"/>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研究问题　三个按情境展开的研究问题及其变量结构</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1 / 6</a:t>
            </a:r>
          </a:p>
        </p:txBody>
      </p:sp>
      <p:sp>
        <p:nvSpPr>
          <p:cNvPr id="6" name="Rectangle 5"/>
          <p:cNvSpPr/>
          <p:nvPr/>
        </p:nvSpPr>
        <p:spPr>
          <a:xfrm>
            <a:off x="584200" y="939800"/>
            <a:ext cx="15087600" cy="81635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81635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&gt;本研究的对象是 AR-HUD 行人碰撞预警的时空参数。核心判断为：参数不存在跨情境通用的取值——决定其取值的首要因素不是显示技术，而是危险目标在预警时刻是否可见。故本研究按视线可见性把问题切成两个情境分别标定，并直接实测两套参数之间的迁移损失。 四项分目标：O1′ 双情境零点的同批标定；O2′ 非盲区时空参数标定；O3′ 盲区零点重建与时空参数标定；O4′ 迁移损失估计与切换判据输出。</a:t>
            </a:r>
          </a:p>
        </p:txBody>
      </p:sp>
      <p:sp>
        <p:nvSpPr>
          <p:cNvPr id="9" name="Rectangle 8"/>
          <p:cNvSpPr/>
          <p:nvPr/>
        </p:nvSpPr>
        <p:spPr>
          <a:xfrm>
            <a:off x="584200" y="1832356"/>
            <a:ext cx="4876800" cy="1440751"/>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832356"/>
            <a:ext cx="4495800" cy="1364551"/>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RQ1′ 非盲区情境的时空参数</a:t>
            </a:r>
          </a:p>
          <a:p>
            <a:pPr marL="5334" indent="-4572">
              <a:lnSpc>
                <a:spcPct val="182000"/>
              </a:lnSpc>
              <a:spcAft>
                <a:spcPts val="500"/>
              </a:spcAft>
            </a:pPr>
            <a:r>
              <a:rPr sz="1350" b="0">
                <a:solidFill>
                  <a:srgbClr val="1A1A1A"/>
                </a:solidFill>
                <a:latin typeface="微软雅黑"/>
              </a:rPr>
              <a:t>•  行人自始可见时，预警相对驾驶员自发察觉时刻 t0 应提前多少？</a:t>
            </a:r>
          </a:p>
          <a:p>
            <a:pPr marL="5334" indent="-4572">
              <a:lnSpc>
                <a:spcPct val="182000"/>
              </a:lnSpc>
              <a:spcAft>
                <a:spcPts val="500"/>
              </a:spcAft>
            </a:pPr>
            <a:r>
              <a:rPr sz="1350" b="0">
                <a:solidFill>
                  <a:srgbClr val="1A1A1A"/>
                </a:solidFill>
                <a:latin typeface="微软雅黑"/>
              </a:rPr>
              <a:t>•  触发准则应依据固定时间阈值还是减速度归一化量 BTN？</a:t>
            </a:r>
          </a:p>
          <a:p>
            <a:pPr marL="5334" indent="-4572">
              <a:lnSpc>
                <a:spcPct val="182000"/>
              </a:lnSpc>
              <a:spcAft>
                <a:spcPts val="500"/>
              </a:spcAft>
            </a:pPr>
            <a:r>
              <a:rPr sz="1350" b="0">
                <a:solidFill>
                  <a:srgbClr val="1A1A1A"/>
                </a:solidFill>
                <a:latin typeface="微软雅黑"/>
              </a:rPr>
              <a:t>•  预警应锁定于屏幕、道路冲突点、行人目标还是复合？该优劣序是否随背景视觉复杂度与次任务负荷变化？</a:t>
            </a:r>
          </a:p>
          <a:p>
            <a:pPr marL="5334" indent="-4572">
              <a:lnSpc>
                <a:spcPct val="182000"/>
              </a:lnSpc>
              <a:spcAft>
                <a:spcPts val="500"/>
              </a:spcAft>
            </a:pPr>
            <a:r>
              <a:rPr sz="1350" b="0">
                <a:solidFill>
                  <a:srgbClr val="1A1A1A"/>
                </a:solidFill>
                <a:latin typeface="微软雅黑"/>
              </a:rPr>
              <a:t>•  对应实验 2（时间）与实验 3（空间）</a:t>
            </a:r>
          </a:p>
        </p:txBody>
      </p:sp>
      <p:sp>
        <p:nvSpPr>
          <p:cNvPr id="11" name="Rectangle 10"/>
          <p:cNvSpPr/>
          <p:nvPr/>
        </p:nvSpPr>
        <p:spPr>
          <a:xfrm>
            <a:off x="5689600" y="1832356"/>
            <a:ext cx="4876800" cy="1440751"/>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92800" y="1832356"/>
            <a:ext cx="4495800" cy="1364551"/>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RQ2′ 盲区情境的时空参数</a:t>
            </a:r>
          </a:p>
          <a:p>
            <a:pPr marL="5334" indent="-4572">
              <a:lnSpc>
                <a:spcPct val="182000"/>
              </a:lnSpc>
              <a:spcAft>
                <a:spcPts val="500"/>
              </a:spcAft>
            </a:pPr>
            <a:r>
              <a:rPr sz="1350" b="0">
                <a:solidFill>
                  <a:srgbClr val="1A1A1A"/>
                </a:solidFill>
                <a:latin typeface="微软雅黑"/>
              </a:rPr>
              <a:t>•  t0 在物理上不存在时，零点应换成什么？预警相对自然显露时刻 treveal 应提前多少？</a:t>
            </a:r>
          </a:p>
          <a:p>
            <a:pPr marL="5334" indent="-4572">
              <a:lnSpc>
                <a:spcPct val="182000"/>
              </a:lnSpc>
              <a:spcAft>
                <a:spcPts val="500"/>
              </a:spcAft>
            </a:pPr>
            <a:r>
              <a:rPr sz="1350" b="0">
                <a:solidFill>
                  <a:srgbClr val="1A1A1A"/>
                </a:solidFill>
                <a:latin typeface="微软雅黑"/>
              </a:rPr>
              <a:t>•  「行人尚不可见而预警已呈现」的预告区段是否具有独立价值？</a:t>
            </a:r>
          </a:p>
          <a:p>
            <a:pPr marL="5334" indent="-4572">
              <a:lnSpc>
                <a:spcPct val="182000"/>
              </a:lnSpc>
              <a:spcAft>
                <a:spcPts val="500"/>
              </a:spcAft>
            </a:pPr>
            <a:r>
              <a:rPr sz="1350" b="0">
                <a:solidFill>
                  <a:srgbClr val="1A1A1A"/>
                </a:solidFill>
                <a:latin typeface="微软雅黑"/>
              </a:rPr>
              <a:t>•  目标锁定在物理上不可实现时，图形应锚定于何处？</a:t>
            </a:r>
          </a:p>
          <a:p>
            <a:pPr marL="5334" indent="-4572">
              <a:lnSpc>
                <a:spcPct val="182000"/>
              </a:lnSpc>
              <a:spcAft>
                <a:spcPts val="500"/>
              </a:spcAft>
            </a:pPr>
            <a:r>
              <a:rPr sz="1350" b="0">
                <a:solidFill>
                  <a:srgbClr val="1A1A1A"/>
                </a:solidFill>
                <a:latin typeface="微软雅黑"/>
              </a:rPr>
              <a:t>•  对应实验 4（时间）与实验 5（空间）</a:t>
            </a:r>
          </a:p>
        </p:txBody>
      </p:sp>
      <p:sp>
        <p:nvSpPr>
          <p:cNvPr id="13" name="Rectangle 12"/>
          <p:cNvSpPr/>
          <p:nvPr/>
        </p:nvSpPr>
        <p:spPr>
          <a:xfrm>
            <a:off x="10795000" y="1832356"/>
            <a:ext cx="4876800" cy="1440751"/>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98200" y="1832356"/>
            <a:ext cx="4495800" cy="1364551"/>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RQ3′ 跨情境迁移损失</a:t>
            </a:r>
          </a:p>
          <a:p>
            <a:pPr marL="5334" indent="-4572">
              <a:lnSpc>
                <a:spcPct val="182000"/>
              </a:lnSpc>
              <a:spcAft>
                <a:spcPts val="500"/>
              </a:spcAft>
            </a:pPr>
            <a:r>
              <a:rPr sz="1350" b="0">
                <a:solidFill>
                  <a:srgbClr val="1A1A1A"/>
                </a:solidFill>
                <a:latin typeface="微软雅黑"/>
              </a:rPr>
              <a:t>•  两套参数能否互换？双向迁移损失有多大？</a:t>
            </a:r>
          </a:p>
          <a:p>
            <a:pPr marL="5334" indent="-4572">
              <a:lnSpc>
                <a:spcPct val="182000"/>
              </a:lnSpc>
              <a:spcAft>
                <a:spcPts val="500"/>
              </a:spcAft>
            </a:pPr>
            <a:r>
              <a:rPr sz="1350" b="0">
                <a:solidFill>
                  <a:srgbClr val="1A1A1A"/>
                </a:solidFill>
                <a:latin typeface="微软雅黑"/>
              </a:rPr>
              <a:t>•  若需情境自适应，切换判据是什么？</a:t>
            </a:r>
          </a:p>
          <a:p>
            <a:pPr marL="5334" indent="-4572">
              <a:lnSpc>
                <a:spcPct val="182000"/>
              </a:lnSpc>
              <a:spcAft>
                <a:spcPts val="500"/>
              </a:spcAft>
            </a:pPr>
            <a:r>
              <a:rPr sz="1350" b="0">
                <a:solidFill>
                  <a:srgbClr val="1A1A1A"/>
                </a:solidFill>
                <a:latin typeface="微软雅黑"/>
              </a:rPr>
              <a:t>•  该问题的答案可否证本研究的情境切分本身：若迁移损失不显著，则应退回单情境处理。</a:t>
            </a:r>
          </a:p>
          <a:p>
            <a:pPr marL="5334" indent="-4572">
              <a:lnSpc>
                <a:spcPct val="182000"/>
              </a:lnSpc>
              <a:spcAft>
                <a:spcPts val="500"/>
              </a:spcAft>
            </a:pPr>
            <a:r>
              <a:rPr sz="1350" b="0">
                <a:solidFill>
                  <a:srgbClr val="1A1A1A"/>
                </a:solidFill>
                <a:latin typeface="微软雅黑"/>
              </a:rPr>
              <a:t>•  对应嵌入实验 3 与实验 5 的交叉迁移区块</a:t>
            </a:r>
          </a:p>
        </p:txBody>
      </p:sp>
      <p:sp>
        <p:nvSpPr>
          <p:cNvPr id="15" name="Rectangle 14"/>
          <p:cNvSpPr/>
          <p:nvPr/>
        </p:nvSpPr>
        <p:spPr>
          <a:xfrm>
            <a:off x="584200" y="3349307"/>
            <a:ext cx="15087600" cy="81635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4200" y="3349307"/>
            <a:ext cx="63500" cy="81635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7400" y="3349307"/>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auto"&gt;因变量口径：两个情境共用同一因变量结构，归入四类构念——安全绩效（最小 TTMD、峰值减速度、碰撞率）、认知负荷（NASA-TLX、瞳孔变化率、注视熵）、情境意识（三阶段计分、危险漏检率、首次注视时间、预期性注视）、用户体验（信任、可接受度、扰烦度）。 盲区口径：本研究的「盲区」专指驾驶员视线的几何遮挡，不含传感器盲区、后视盲区与认知性盲区（无意视盲）。后者不作为情境自变量，而作为代价指标归入两个情境共用的因变量集，即情境意识构念下的漏检率一项。</a:t>
            </a:r>
          </a:p>
        </p:txBody>
      </p:sp>
      <p:sp>
        <p:nvSpPr>
          <p:cNvPr id="18" name="TextBox 17"/>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切分依据　盲区情境使六项前提不成立，而非使效应量变小</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1 / 6</a:t>
            </a:r>
          </a:p>
        </p:txBody>
      </p:sp>
      <p:graphicFrame>
        <p:nvGraphicFramePr>
          <p:cNvPr id="6" name="Table 5"/>
          <p:cNvGraphicFramePr>
            <a:graphicFrameLocks noGrp="1"/>
          </p:cNvGraphicFramePr>
          <p:nvPr/>
        </p:nvGraphicFramePr>
        <p:xfrm>
          <a:off x="584200" y="939800"/>
          <a:ext cx="15087600" cy="3556000"/>
        </p:xfrm>
        <a:graphic>
          <a:graphicData uri="http://schemas.openxmlformats.org/drawingml/2006/table">
            <a:tbl>
              <a:tblPr firstRow="1" bandRow="1">
                <a:tableStyleId>{5C22544A-7EE6-4342-B048-85BDC9FD1C3A}</a:tableStyleId>
              </a:tblPr>
              <a:tblGrid>
                <a:gridCol w="3771900"/>
                <a:gridCol w="3771900"/>
                <a:gridCol w="3771900"/>
                <a:gridCol w="3771900"/>
              </a:tblGrid>
              <a:tr h="508000">
                <a:tc>
                  <a:txBody>
                    <a:bodyPr wrap="square" lIns="76200" rIns="76200" tIns="38100" bIns="38100"/>
                    <a:lstStyle/>
                    <a:p>
                      <a:pPr>
                        <a:lnSpc>
                          <a:spcPct val="115000"/>
                        </a:lnSpc>
                      </a:pPr>
                      <a:r>
                        <a:rPr sz="1250" b="1">
                          <a:solidFill>
                            <a:srgbClr val="FFFFFF"/>
                          </a:solidFill>
                          <a:latin typeface="微软雅黑"/>
                        </a:rPr>
                        <a:t>编号</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非盲区情境的成立前提</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盲区情境下的失效方式</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出处</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BD-1 零点</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存在自发察觉时刻 t0，可实测、可作 Δt 的零点</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行人在显露前不可见，Scanning 无信号可采样，t0 在物理上不存在；Δt = t0 − twarn 无定义</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You 等, 2023；Strayer 与 McDonnell, 2025</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BD-2 空间</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目标可见，故目标锁定 BW 可实现且最优（首次注视 2730 → 617 ms）</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严格 BW 物理不可实现：或锚定遮挡物表面，或穿透绘制而引入深度歧义；候选集本身改变</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You 等, 2023 揭示 Wu 等, 2024 的边界</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BD-3 上界</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提前量上界由人因（虚警代价、认知窗口）决定</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上界由传感器能否看见决定：最低时间预算 1.66 s；意图预测缓冲仅 0.5–2.0 s，远小于 6.07–6.28 s 的制动需求</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Kim 等, 2022；Cangut 等, 2026；Chang 等, 2009</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BD-4 信任</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驾驶员可用自身视觉核验预警真伪，信任由「与自身判断是否吻合」建立</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无从核验：信任只能依赖长期可靠性经验；「晚报警 → 信任 7.3 降至 4.3、R = −0.46」的机制在此不适用</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Abe 与 Richardson, 2006；You 等, 2023</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BD-5 视场</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共形图形可稳定贴合于目标</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17° 视场下近距侧方行人的共形图形移出视场而彻底失效；遮挡后横穿恰是近距侧方构型</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Merenda 等, 2018</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BD-6 理论</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可由光学膨胀率 dθ/dt 越过知觉阈值反推 t0 下界（60 km/h 无遮挡约 3.2 s）</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dθ/dt 的时间原点被遮挡截断：dθ/dt 序列自显露时刻起才存在，下界推导须以新零点重做</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本研究推导，依 Merenda 等与 Zhang 等的场景几何</a:t>
                      </a:r>
                    </a:p>
                  </a:txBody>
                  <a:tcPr>
                    <a:solidFill>
                      <a:srgbClr val="FAFBFD"/>
                    </a:solidFill>
                  </a:tcPr>
                </a:tc>
              </a:tr>
            </a:tbl>
          </a:graphicData>
        </a:graphic>
      </p:graphicFrame>
      <p:sp>
        <p:nvSpPr>
          <p:cNvPr id="7" name="Rectangle 6"/>
          <p:cNvSpPr/>
          <p:nvPr/>
        </p:nvSpPr>
        <p:spPr>
          <a:xfrm>
            <a:off x="584200" y="4648200"/>
            <a:ext cx="15087600" cy="65633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4200" y="4648200"/>
            <a:ext cx="63500" cy="65633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46482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结论：上述六条并非「盲区条件下效应变弱」，而是「参数化本身失效」。因此盲区不能作为非盲区研究中的一个附加水平处理，必须另立一项研究。此判断可被否证——若交叉迁移区块显示双向迁移损失不显著，则本切分不成立（见预测 P6′）。</a:t>
            </a:r>
          </a:p>
        </p:txBody>
      </p:sp>
      <p:sp>
        <p:nvSpPr>
          <p:cNvPr id="10" name="Rectangle 9"/>
          <p:cNvSpPr/>
          <p:nvPr/>
        </p:nvSpPr>
        <p:spPr>
          <a:xfrm>
            <a:off x="584200" y="5380736"/>
            <a:ext cx="7429500" cy="1403032"/>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5380736"/>
            <a:ext cx="7048500" cy="1326832"/>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盲区的操作化与显露时刻</a:t>
            </a:r>
          </a:p>
          <a:p>
            <a:pPr marL="5334" indent="-4572">
              <a:lnSpc>
                <a:spcPct val="182000"/>
              </a:lnSpc>
              <a:spcAft>
                <a:spcPts val="500"/>
              </a:spcAft>
            </a:pPr>
            <a:r>
              <a:rPr sz="1350" b="0">
                <a:solidFill>
                  <a:srgbClr val="1A1A1A"/>
                </a:solidFill>
                <a:latin typeface="微软雅黑"/>
              </a:rPr>
              <a:t>•  遮挡判据。以驾驶员眼点为顶点的视线锥被遮挡体完全阻断，即行人在视网膜像平面上的可见像素占比为零。</a:t>
            </a:r>
          </a:p>
          <a:p>
            <a:pPr marL="5334" indent="-4572">
              <a:lnSpc>
                <a:spcPct val="182000"/>
              </a:lnSpc>
              <a:spcAft>
                <a:spcPts val="500"/>
              </a:spcAft>
            </a:pPr>
            <a:r>
              <a:rPr sz="1350" b="0">
                <a:solidFill>
                  <a:srgbClr val="1A1A1A"/>
                </a:solidFill>
                <a:latin typeface="微软雅黑"/>
              </a:rPr>
              <a:t>•  显露时刻的定义。可见像素占比由零转正的时刻；由遮挡体位置尺寸、行人步速、本车轨迹与眼点位置联立解析求出。</a:t>
            </a:r>
          </a:p>
          <a:p>
            <a:pPr marL="5334" indent="-4572">
              <a:lnSpc>
                <a:spcPct val="182000"/>
              </a:lnSpc>
              <a:spcAft>
                <a:spcPts val="500"/>
              </a:spcAft>
            </a:pPr>
            <a:r>
              <a:rPr sz="1350" b="0">
                <a:solidFill>
                  <a:srgbClr val="1A1A1A"/>
                </a:solidFill>
                <a:latin typeface="微软雅黑"/>
              </a:rPr>
              <a:t>•  部分遮挡的处理。遮挡比例介于 0 与 1 之间的过渡段极短（60 km/h 下约 0.15 s），故按完全遮挡处理并声明该近似。解析解由实验 1 以视线锥仿真与实测眼动双重核验，误差超阈值时以实测为准。</a:t>
            </a:r>
          </a:p>
        </p:txBody>
      </p:sp>
      <p:sp>
        <p:nvSpPr>
          <p:cNvPr id="12" name="Rectangle 11"/>
          <p:cNvSpPr/>
          <p:nvPr/>
        </p:nvSpPr>
        <p:spPr>
          <a:xfrm>
            <a:off x="8242300" y="5380736"/>
            <a:ext cx="7429500" cy="1247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45500" y="5380736"/>
            <a:ext cx="7048500" cy="1170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三类不计入本研究「盲区」的情形</a:t>
            </a:r>
          </a:p>
          <a:p>
            <a:pPr marL="5334" indent="-4572">
              <a:lnSpc>
                <a:spcPct val="182000"/>
              </a:lnSpc>
              <a:spcAft>
                <a:spcPts val="500"/>
              </a:spcAft>
            </a:pPr>
            <a:r>
              <a:rPr sz="1350" b="0">
                <a:solidFill>
                  <a:srgbClr val="1A1A1A"/>
                </a:solidFill>
                <a:latin typeface="微软雅黑"/>
              </a:rPr>
              <a:t>•  传感器盲区。属工程问题，以程序设定的探测时刻代替，不作情境自变量；其随遮挡比例的退化曲线列为已知缺口。</a:t>
            </a:r>
          </a:p>
          <a:p>
            <a:pPr marL="5334" indent="-4572">
              <a:lnSpc>
                <a:spcPct val="182000"/>
              </a:lnSpc>
              <a:spcAft>
                <a:spcPts val="500"/>
              </a:spcAft>
            </a:pPr>
            <a:r>
              <a:rPr sz="1350" b="0">
                <a:solidFill>
                  <a:srgbClr val="1A1A1A"/>
                </a:solidFill>
                <a:latin typeface="微软雅黑"/>
              </a:rPr>
              <a:t>•  后视与侧后盲区。后向危险不进入前视野 AR 的可锚定空间，故四类锚定策略在该情形下不可比较。</a:t>
            </a:r>
          </a:p>
          <a:p>
            <a:pPr marL="5334" indent="-4572">
              <a:lnSpc>
                <a:spcPct val="182000"/>
              </a:lnSpc>
              <a:spcAft>
                <a:spcPts val="500"/>
              </a:spcAft>
            </a:pPr>
            <a:r>
              <a:rPr sz="1350" b="0">
                <a:solidFill>
                  <a:srgbClr val="1A1A1A"/>
                </a:solidFill>
                <a:latin typeface="微软雅黑"/>
              </a:rPr>
              <a:t>•  认知性盲区。信号已入视网膜而未被注意选中，可干预点不同；作代价指标纳入因变量集，而非情境自变量。</a:t>
            </a:r>
          </a:p>
        </p:txBody>
      </p:sp>
      <p:sp>
        <p:nvSpPr>
          <p:cNvPr id="14" name="TextBox 13"/>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核心理论　盲区把注意加工的五个阶段在时间轴上强制拆成两段</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 / 6</a:t>
            </a:r>
          </a:p>
        </p:txBody>
      </p:sp>
      <p:sp>
        <p:nvSpPr>
          <p:cNvPr id="6" name="Rectangle 5"/>
          <p:cNvSpPr/>
          <p:nvPr/>
        </p:nvSpPr>
        <p:spPr>
          <a:xfrm>
            <a:off x="584200" y="939800"/>
            <a:ext cx="15087600" cy="816356"/>
          </a:xfrm>
          <a:prstGeom prst="rect">
            <a:avLst/>
          </a:prstGeom>
          <a:solidFill>
            <a:srgbClr val="F2F9F2"/>
          </a:solidFill>
          <a:ln w="1778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81635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auto"&gt;由此导出三条可否证预测：P1′ 若 Δt′ ≤ 0（预警发于显露之后，即放弃预告区段），绩效应显著劣于 Δt′ &gt; 0；P2′ 盲区情境的最优 Δt′ 应显著大于非盲区情境的最优 Δt——遮挡使预期性注视无从建立，且遮挡场景在注意机制上属刺激驱动而非目标导向（Merenda 等, 2018），刺激驱动定向本身有额外耗时；P3′ 预告区段的收益单调递增但存在饱和，饱和点对应 Predicting 与预置 Deciding 的完成时间——此即盲区情境下「过早预警收益递减」的机制性解释。</a:t>
            </a:r>
          </a:p>
        </p:txBody>
      </p:sp>
      <p:sp>
        <p:nvSpPr>
          <p:cNvPr id="9" name="Rectangle 8"/>
          <p:cNvSpPr/>
          <p:nvPr/>
        </p:nvSpPr>
        <p:spPr>
          <a:xfrm>
            <a:off x="584200" y="1832356"/>
            <a:ext cx="15087600" cy="1247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832356"/>
            <a:ext cx="14706600" cy="1170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非盲区：预警加速已有加工链条</a:t>
            </a:r>
          </a:p>
          <a:p>
            <a:pPr marL="5334" indent="-4572">
              <a:lnSpc>
                <a:spcPct val="182000"/>
              </a:lnSpc>
              <a:spcAft>
                <a:spcPts val="500"/>
              </a:spcAft>
            </a:pPr>
            <a:r>
              <a:rPr sz="1350" b="0">
                <a:solidFill>
                  <a:srgbClr val="1A1A1A"/>
                </a:solidFill>
                <a:latin typeface="微软雅黑"/>
              </a:rPr>
              <a:t>•  行人自始可见，故 Scanning 在预警前已可启动；驾驶员本就会在 t0 自行发现行人。有实测证据显示 50% 被试在预警呈现前已开始制动。</a:t>
            </a:r>
          </a:p>
          <a:p>
            <a:pPr marL="5334" indent="-4572">
              <a:lnSpc>
                <a:spcPct val="182000"/>
              </a:lnSpc>
              <a:spcAft>
                <a:spcPts val="500"/>
              </a:spcAft>
            </a:pPr>
            <a:r>
              <a:rPr sz="1350" b="0">
                <a:solidFill>
                  <a:srgbClr val="1A1A1A"/>
                </a:solidFill>
                <a:latin typeface="微软雅黑"/>
              </a:rPr>
              <a:t>•  预警的价值 = 把整条链条前移，即缩短从可见到动作的时距。收益有天然上限：不可能早于「行人已可见」这一事实。</a:t>
            </a:r>
          </a:p>
          <a:p>
            <a:pPr marL="5334" indent="-4572">
              <a:lnSpc>
                <a:spcPct val="182000"/>
              </a:lnSpc>
              <a:spcAft>
                <a:spcPts val="500"/>
              </a:spcAft>
            </a:pPr>
            <a:r>
              <a:rPr sz="1350" b="0">
                <a:solidFill>
                  <a:srgbClr val="1A1A1A"/>
                </a:solidFill>
                <a:latin typeface="微软雅黑"/>
              </a:rPr>
              <a:t>•  故可干预点在 S 与 I 两阶段，代价在注意捕获与对未增强危险的漏检。</a:t>
            </a:r>
          </a:p>
        </p:txBody>
      </p:sp>
      <p:sp>
        <p:nvSpPr>
          <p:cNvPr id="11" name="TextBox 10"/>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核心理论　三重约束模型的情境分化：软约束变硬约束</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 / 6</a:t>
            </a:r>
          </a:p>
        </p:txBody>
      </p:sp>
      <p:graphicFrame>
        <p:nvGraphicFramePr>
          <p:cNvPr id="6" name="Table 5"/>
          <p:cNvGraphicFramePr>
            <a:graphicFrameLocks noGrp="1"/>
          </p:cNvGraphicFramePr>
          <p:nvPr/>
        </p:nvGraphicFramePr>
        <p:xfrm>
          <a:off x="584200" y="939800"/>
          <a:ext cx="15087600" cy="2540000"/>
        </p:xfrm>
        <a:graphic>
          <a:graphicData uri="http://schemas.openxmlformats.org/drawingml/2006/table">
            <a:tbl>
              <a:tblPr firstRow="1" bandRow="1">
                <a:tableStyleId>{5C22544A-7EE6-4342-B048-85BDC9FD1C3A}</a:tableStyleId>
              </a:tblPr>
              <a:tblGrid>
                <a:gridCol w="3771900"/>
                <a:gridCol w="3771900"/>
                <a:gridCol w="3771900"/>
                <a:gridCol w="3771900"/>
              </a:tblGrid>
              <a:tr h="508000">
                <a:tc>
                  <a:txBody>
                    <a:bodyPr wrap="square" lIns="76200" rIns="76200" tIns="38100" bIns="38100"/>
                    <a:lstStyle/>
                    <a:p>
                      <a:pPr>
                        <a:lnSpc>
                          <a:spcPct val="115000"/>
                        </a:lnSpc>
                      </a:pPr>
                      <a:r>
                        <a:rPr sz="1250" b="1">
                          <a:solidFill>
                            <a:srgbClr val="FFFFFF"/>
                          </a:solidFill>
                          <a:latin typeface="微软雅黑"/>
                        </a:rPr>
                        <a:t>约束</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非盲区情境</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盲区情境</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性质变化</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下界 运动学必要性</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twarn ≥ PRTp95 + v/acomf + δbrake</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同式，但 PRT 须以 treveal 为起点重新测量</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形式不变，参数须重标定</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上界 可靠性</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twarn ≤ tpred，由虚警代价决定</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twarn ≤ tdetect，由传感器能否看见决定</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软约束 → 硬约束：前者可由界面设计缓解，后者不可</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窗口 认知加工</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Δt ≥ ΣSPIDER，五阶段连续完成</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五阶段被 treveal 强制拆成两段（见上页）</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连续 → 分段</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零点</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t0：心理量，随被试与场景变化，须实测</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treveal：几何量，由遮挡体位置尺寸、行人步速、本车轨迹与眼点位置解析求出</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可变 → 恒定</a:t>
                      </a:r>
                    </a:p>
                  </a:txBody>
                  <a:tcPr>
                    <a:solidFill>
                      <a:srgbClr val="FAFBFD"/>
                    </a:solidFill>
                  </a:tcPr>
                </a:tc>
              </a:tr>
            </a:tbl>
          </a:graphicData>
        </a:graphic>
      </p:graphicFrame>
      <p:sp>
        <p:nvSpPr>
          <p:cNvPr id="7" name="Rectangle 6"/>
          <p:cNvSpPr/>
          <p:nvPr/>
        </p:nvSpPr>
        <p:spPr>
          <a:xfrm>
            <a:off x="584200" y="3632200"/>
            <a:ext cx="7429500" cy="1247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3632200"/>
            <a:ext cx="7048500" cy="1170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零点几何化的三项方法学收益</a:t>
            </a:r>
          </a:p>
          <a:p>
            <a:pPr marL="5334" indent="-4572">
              <a:lnSpc>
                <a:spcPct val="182000"/>
              </a:lnSpc>
              <a:spcAft>
                <a:spcPts val="500"/>
              </a:spcAft>
            </a:pPr>
            <a:r>
              <a:rPr sz="1350" b="0">
                <a:solidFill>
                  <a:srgbClr val="1A1A1A"/>
                </a:solidFill>
                <a:latin typeface="微软雅黑"/>
              </a:rPr>
              <a:t>•  不需按个体校准自变量。显露时刻被试间恒定，故 Δt′ 可直接作被试内因子操纵。</a:t>
            </a:r>
          </a:p>
          <a:p>
            <a:pPr marL="5334" indent="-4572">
              <a:lnSpc>
                <a:spcPct val="182000"/>
              </a:lnSpc>
              <a:spcAft>
                <a:spcPts val="500"/>
              </a:spcAft>
            </a:pPr>
            <a:r>
              <a:rPr sz="1350" b="0">
                <a:solidFill>
                  <a:srgbClr val="1A1A1A"/>
                </a:solidFill>
                <a:latin typeface="微软雅黑"/>
              </a:rPr>
              <a:t>•  不需复用被试。实验 4 无须承接实验 1 的个体数据；而实验 2 因 Δt 依赖被试自身 t0，仍须与实验 1 复用同批被试。</a:t>
            </a:r>
          </a:p>
          <a:p>
            <a:pPr marL="5334" indent="-4572">
              <a:lnSpc>
                <a:spcPct val="182000"/>
              </a:lnSpc>
              <a:spcAft>
                <a:spcPts val="500"/>
              </a:spcAft>
            </a:pPr>
            <a:r>
              <a:rPr sz="1350" b="0">
                <a:solidFill>
                  <a:srgbClr val="1A1A1A"/>
                </a:solidFill>
                <a:latin typeface="微软雅黑"/>
              </a:rPr>
              <a:t>•  级间间隔不再是自由参数。盲区分层的两级分别锚于 tdetect 与 treveal，间隔由场景几何与传感架构共同决定，而非待搜索的取值。</a:t>
            </a:r>
          </a:p>
        </p:txBody>
      </p:sp>
      <p:sp>
        <p:nvSpPr>
          <p:cNvPr id="9" name="Rectangle 8"/>
          <p:cNvSpPr/>
          <p:nvPr/>
        </p:nvSpPr>
        <p:spPr>
          <a:xfrm>
            <a:off x="8242300" y="3632200"/>
            <a:ext cx="7429500" cy="1247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45500" y="3632200"/>
            <a:ext cx="7048500" cy="1170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三项新代价</a:t>
            </a:r>
          </a:p>
          <a:p>
            <a:pPr marL="5334" indent="-4572">
              <a:lnSpc>
                <a:spcPct val="182000"/>
              </a:lnSpc>
              <a:spcAft>
                <a:spcPts val="500"/>
              </a:spcAft>
            </a:pPr>
            <a:r>
              <a:rPr sz="1350" b="0">
                <a:solidFill>
                  <a:srgbClr val="1A1A1A"/>
                </a:solidFill>
                <a:latin typeface="微软雅黑"/>
              </a:rPr>
              <a:t>•  可行域被硬上界压缩。若探测时刻晚于人因所需时刻，则无论界面如何设计，所需提前量在物理上不可达。</a:t>
            </a:r>
          </a:p>
          <a:p>
            <a:pPr marL="5334" indent="-4572">
              <a:lnSpc>
                <a:spcPct val="182000"/>
              </a:lnSpc>
              <a:spcAft>
                <a:spcPts val="500"/>
              </a:spcAft>
            </a:pPr>
            <a:r>
              <a:rPr sz="1350" b="0">
                <a:solidFill>
                  <a:srgbClr val="1A1A1A"/>
                </a:solidFill>
                <a:latin typeface="微软雅黑"/>
              </a:rPr>
              <a:t>•  解析式不可跨车型迁移。显露时刻依赖眼点位置与遮挡体几何，本研究只提供解析式而非固定秒数。</a:t>
            </a:r>
          </a:p>
          <a:p>
            <a:pPr marL="5334" indent="-4572">
              <a:lnSpc>
                <a:spcPct val="182000"/>
              </a:lnSpc>
              <a:spcAft>
                <a:spcPts val="500"/>
              </a:spcAft>
            </a:pPr>
            <a:r>
              <a:rPr sz="1350" b="0">
                <a:solidFill>
                  <a:srgbClr val="1A1A1A"/>
                </a:solidFill>
                <a:latin typeface="微软雅黑"/>
              </a:rPr>
              <a:t>•  场景可预期性无法消除。被试数试次后即习得「遮挡体后必有行人」，须以 filler 稀释、catch trials 与首试次单独分析三重手段控制。</a:t>
            </a:r>
          </a:p>
        </p:txBody>
      </p:sp>
      <p:sp>
        <p:nvSpPr>
          <p:cNvPr id="11" name="Rectangle 10"/>
          <p:cNvSpPr/>
          <p:nvPr/>
        </p:nvSpPr>
        <p:spPr>
          <a:xfrm>
            <a:off x="584200" y="4955413"/>
            <a:ext cx="7429500" cy="1247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4955413"/>
            <a:ext cx="7048500" cy="1170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为何取显露时刻而非探测时刻</a:t>
            </a:r>
          </a:p>
          <a:p>
            <a:pPr marL="5334" indent="-4572">
              <a:lnSpc>
                <a:spcPct val="182000"/>
              </a:lnSpc>
              <a:spcAft>
                <a:spcPts val="500"/>
              </a:spcAft>
            </a:pPr>
            <a:r>
              <a:rPr sz="1350" b="0">
                <a:solidFill>
                  <a:srgbClr val="1A1A1A"/>
                </a:solidFill>
                <a:latin typeface="微软雅黑"/>
              </a:rPr>
              <a:t>•  探测时刻是约束，不是参照。它由传感与通信架构决定，跨系统差异极大；以它作零点会使参数随硬件配置漂移。</a:t>
            </a:r>
          </a:p>
          <a:p>
            <a:pPr marL="5334" indent="-4572">
              <a:lnSpc>
                <a:spcPct val="182000"/>
              </a:lnSpc>
              <a:spcAft>
                <a:spcPts val="500"/>
              </a:spcAft>
            </a:pPr>
            <a:r>
              <a:rPr sz="1350" b="0">
                <a:solidFill>
                  <a:srgbClr val="1A1A1A"/>
                </a:solidFill>
                <a:latin typeface="微软雅黑"/>
              </a:rPr>
              <a:t>•  显露时刻才是驾驶员侧的事件。它标记「若无辅助，驾驶员最早可能获得信息的时刻」，与自发察觉时刻功能同位——两者都是驾驶员自力可及的起点。</a:t>
            </a:r>
          </a:p>
          <a:p>
            <a:pPr marL="5334" indent="-4572">
              <a:lnSpc>
                <a:spcPct val="182000"/>
              </a:lnSpc>
              <a:spcAft>
                <a:spcPts val="500"/>
              </a:spcAft>
            </a:pPr>
            <a:r>
              <a:rPr sz="1350" b="0">
                <a:solidFill>
                  <a:srgbClr val="1A1A1A"/>
                </a:solidFill>
                <a:latin typeface="微软雅黑"/>
              </a:rPr>
              <a:t>•  故双情境共用同一记法思想：提前量一律定义为相对驾驶员自力起点的提前量，只是该起点在非盲区为心理量、在盲区为几何量。</a:t>
            </a:r>
          </a:p>
        </p:txBody>
      </p:sp>
      <p:sp>
        <p:nvSpPr>
          <p:cNvPr id="13" name="Rectangle 12"/>
          <p:cNvSpPr/>
          <p:nvPr/>
        </p:nvSpPr>
        <p:spPr>
          <a:xfrm>
            <a:off x="8242300" y="4955413"/>
            <a:ext cx="7429500" cy="1247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45500" y="4955413"/>
            <a:ext cx="7048500" cy="1170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两情境自变量的可比性如何保证</a:t>
            </a:r>
          </a:p>
          <a:p>
            <a:pPr marL="5334" indent="-4572">
              <a:lnSpc>
                <a:spcPct val="182000"/>
              </a:lnSpc>
              <a:spcAft>
                <a:spcPts val="500"/>
              </a:spcAft>
            </a:pPr>
            <a:r>
              <a:rPr sz="1350" b="0">
                <a:solidFill>
                  <a:srgbClr val="1A1A1A"/>
                </a:solidFill>
                <a:latin typeface="微软雅黑"/>
              </a:rPr>
              <a:t>•  刻度对齐。两情境提前量取相同水平（+1.0／+2.5 s）；盲区另加 −0.5 与 0 以检验预告区段。</a:t>
            </a:r>
          </a:p>
          <a:p>
            <a:pPr marL="5334" indent="-4572">
              <a:lnSpc>
                <a:spcPct val="182000"/>
              </a:lnSpc>
              <a:spcAft>
                <a:spcPts val="500"/>
              </a:spcAft>
            </a:pPr>
            <a:r>
              <a:rPr sz="1350" b="0">
                <a:solidFill>
                  <a:srgbClr val="1A1A1A"/>
                </a:solidFill>
                <a:latin typeface="微软雅黑"/>
              </a:rPr>
              <a:t>•  场景族对齐。实验 1／2／4 共用场景族与标定单元，车速与遮挡按四单元分别标定，故运动学难度可比。</a:t>
            </a:r>
          </a:p>
          <a:p>
            <a:pPr marL="5334" indent="-4572">
              <a:lnSpc>
                <a:spcPct val="182000"/>
              </a:lnSpc>
              <a:spcAft>
                <a:spcPts val="500"/>
              </a:spcAft>
            </a:pPr>
            <a:r>
              <a:rPr sz="1350" b="0">
                <a:solidFill>
                  <a:srgbClr val="1A1A1A"/>
                </a:solidFill>
                <a:latin typeface="微软雅黑"/>
              </a:rPr>
              <a:t>•  归一化量对齐。触发准则与风险量映射一律采用制动威胁数，分母由实验 1 在两情境中分别实测，故强度标度可比。</a:t>
            </a:r>
          </a:p>
        </p:txBody>
      </p:sp>
      <p:sp>
        <p:nvSpPr>
          <p:cNvPr id="15" name="TextBox 14"/>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证据基础　主库 102 篇中以遮挡为核心条件者 6 篇</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3 / 6</a:t>
            </a:r>
          </a:p>
        </p:txBody>
      </p:sp>
      <p:sp>
        <p:nvSpPr>
          <p:cNvPr id="6" name="Rectangle 5"/>
          <p:cNvSpPr/>
          <p:nvPr/>
        </p:nvSpPr>
        <p:spPr>
          <a:xfrm>
            <a:off x="584200" y="939800"/>
            <a:ext cx="15087600" cy="656336"/>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147066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全库以 30 项中英关键词正则扫描，85 条命中，按与本框架的关系强度重新分级后可用者 21 篇，其中遮挡作为自变量或场景核心构成条件者仅 6 篇。</a:t>
            </a:r>
          </a:p>
        </p:txBody>
      </p:sp>
      <p:graphicFrame>
        <p:nvGraphicFramePr>
          <p:cNvPr id="8" name="Table 7"/>
          <p:cNvGraphicFramePr>
            <a:graphicFrameLocks noGrp="1"/>
          </p:cNvGraphicFramePr>
          <p:nvPr/>
        </p:nvGraphicFramePr>
        <p:xfrm>
          <a:off x="584200" y="1672336"/>
          <a:ext cx="15087600" cy="3556000"/>
        </p:xfrm>
        <a:graphic>
          <a:graphicData uri="http://schemas.openxmlformats.org/drawingml/2006/table">
            <a:tbl>
              <a:tblPr firstRow="1" bandRow="1">
                <a:tableStyleId>{5C22544A-7EE6-4342-B048-85BDC9FD1C3A}</a:tableStyleId>
              </a:tblPr>
              <a:tblGrid>
                <a:gridCol w="3771900"/>
                <a:gridCol w="3771900"/>
                <a:gridCol w="3771900"/>
                <a:gridCol w="3771900"/>
              </a:tblGrid>
              <a:tr h="508000">
                <a:tc>
                  <a:txBody>
                    <a:bodyPr wrap="square" lIns="76200" rIns="76200" tIns="38100" bIns="38100"/>
                    <a:lstStyle/>
                    <a:p>
                      <a:pPr>
                        <a:lnSpc>
                          <a:spcPct val="115000"/>
                        </a:lnSpc>
                      </a:pPr>
                      <a:r>
                        <a:rPr sz="1250" b="1">
                          <a:solidFill>
                            <a:srgbClr val="FFFFFF"/>
                          </a:solidFill>
                          <a:latin typeface="微软雅黑"/>
                        </a:rPr>
                        <a:t>文献</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类型</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遮挡设置与关键数值</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证据等级</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Merenda 等 （2018）</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实车</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本库唯一的实车「遮挡后横穿」范式。事件区左右各停 3 辆同色货车（共 6 辆）；研究 2 在每辆货车尾部悬挂黑布以阻止被试在行人步出前看到其双脚。车速 10 mph，紧迫度三级 TTC 2 / 3 / 4 s = 9 / 13.5 / 18 m。结果：屏幕固定线索捕获快、引导慢；世界固定共形线索捕获慢、引导快（t(53) = 3.022, p = .019；t(176) = 3.904, p &lt; .001），总定位时间无显著差异。与本车运动耦合的动画在 2 s TTC 下产生负的停车间隙（即理论碰撞）；17° 视场下近距侧方共形图形移出视场而失效。</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A 全文</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Zhang 等 （2024）</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模拟</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行人位于机动车道右边线外 2.5 m，被路边公交车遮挡；主车距 100 m 时路侧 V2I 触发，距行人 60 m 时行人以 1 m/s 起步横穿；N = 34，3 × 2（晴／雾 240 m）。HUD 使油门松开提前 36.29 m、首次制动提前 39.10 m、最大减速度绝对值降低约 3.45 m/s²、最小冲突距离增加 9.41 m（均 p &lt; .001）；雾天放大该优势（油门提前多 27.7 m, p = .032）。</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A 全文 唯一可引用数值源</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You 等 （2023）</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模拟</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以团队协同感知模型（人 + 智能体双感知循环）设计「不可见危险」预警，把 AR-HUD 定位为承载智能体认知信息的载体；报告 SA 与反应时在手动与自动两模式下均改善。但为仅摘要级，零个数值，反应时计时起止点未定义。其真正价值在于揭示 BW 在遮挡下不可实现，从而界定 Wu 等（2024）结论的适用边界。</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B 仅摘要 禁引数值</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Chang 等 （2009）</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仿真</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交叉口公交—行人，车体构成相互遮挡；50 km/h、紧急减速率约 3 m/s²、有预警时感知—反应时 2.1–2.3 s。预警须在碰撞点前 6.07 s（视觉）／6.28 s（语音）发出；检测须覆盖距路缘 7.1 m、危险感知距离 ≥ 61 m。收益形式为紧急减速率由 3.10–3.56 降至 2.77–3.18 m/s²，即制动平顺化而非反应时缩短。</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A 全文</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Kim 等 （2022）</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工程</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基于 3D 姿态估计的路侧 P2CWS + V2X，实现非视距行人预警；朝向识别 100 FPS、意图预测 35 FPS。给出 AR-HUD 行人预警的最低时间预算 1.66 s = 1.5 s 意图预测 + 0.16 s 制动响应；主张同时接受车载与路侧双重输入。</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A 全文</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Char （2022）</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事故重建</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3700 余例事故重建，遮挡为本库遮挡关键词密度最高的事故学来源。硬下界 tLTTB = 碰撞前 1.5 s；FCW 于 2 s 时制动反应 0.97 ± 0.31 s，于 1.7 s 时反而增至 1.17 ± 0.24 s；传感视场 70° + FCW 2.6 s + 反应 0.6 s 可正面影响 84% 行人事故，视场 &gt; 30° 时 TTC 2 s 检出率 &gt; 90%。反证：180 人模拟器实验中 FCW 几乎无统计效果，40–56% 被试认为 1.7／2 s 太晚。</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A 博士论文</a:t>
                      </a:r>
                    </a:p>
                  </a:txBody>
                  <a:tcPr>
                    <a:solidFill>
                      <a:srgbClr val="FAFBFD"/>
                    </a:solidFill>
                  </a:tcPr>
                </a:tc>
              </a:tr>
            </a:tbl>
          </a:graphicData>
        </a:graphic>
      </p:graphicFrame>
      <p:sp>
        <p:nvSpPr>
          <p:cNvPr id="9" name="Rectangle 8"/>
          <p:cNvSpPr/>
          <p:nvPr/>
        </p:nvSpPr>
        <p:spPr>
          <a:xfrm>
            <a:off x="584200" y="5380736"/>
            <a:ext cx="7429500" cy="1209294"/>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5380736"/>
            <a:ext cx="7048500" cy="1133094"/>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支撑性证据 11 篇</a:t>
            </a:r>
          </a:p>
          <a:p>
            <a:pPr marL="5334" indent="-4572">
              <a:lnSpc>
                <a:spcPct val="182000"/>
              </a:lnSpc>
              <a:spcAft>
                <a:spcPts val="500"/>
              </a:spcAft>
            </a:pPr>
            <a:r>
              <a:rPr sz="1350" b="0">
                <a:solidFill>
                  <a:srgbClr val="1A1A1A"/>
                </a:solidFill>
                <a:latin typeface="微软雅黑"/>
              </a:rPr>
              <a:t>•  工程可行性。边缘计算把 AR 延迟由 125 ms 降至 92 ms，视野共享可扩展物理视野以解决停泊车辆盲区；车路链路存在通信时延，故延迟列为必测项。</a:t>
            </a:r>
          </a:p>
          <a:p>
            <a:pPr marL="5334" indent="-4572">
              <a:lnSpc>
                <a:spcPct val="182000"/>
              </a:lnSpc>
              <a:spcAft>
                <a:spcPts val="500"/>
              </a:spcAft>
            </a:pPr>
            <a:r>
              <a:rPr sz="1350" b="0">
                <a:solidFill>
                  <a:srgbClr val="1A1A1A"/>
                </a:solidFill>
                <a:latin typeface="微软雅黑"/>
              </a:rPr>
              <a:t>•  低行动要求的容错。以目标为中心的黄色菱形把老年驾驶员行人检出率由 66.10% 提升至 91.13%，且 15% 误报加 15% 漏报对所有因变量无显著效应——但其条件是提示提前 11–13 s 且不要求立即动作。</a:t>
            </a:r>
          </a:p>
        </p:txBody>
      </p:sp>
      <p:sp>
        <p:nvSpPr>
          <p:cNvPr id="11" name="Rectangle 10"/>
          <p:cNvSpPr/>
          <p:nvPr/>
        </p:nvSpPr>
        <p:spPr>
          <a:xfrm>
            <a:off x="8242300" y="5380736"/>
            <a:ext cx="7429500" cy="1209294"/>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45500" y="5380736"/>
            <a:ext cx="7048500" cy="1133094"/>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认知性盲区 4 篇：构念不同，须严格区分</a:t>
            </a:r>
          </a:p>
          <a:p>
            <a:pPr marL="5334" indent="-4572">
              <a:lnSpc>
                <a:spcPct val="182000"/>
              </a:lnSpc>
              <a:spcAft>
                <a:spcPts val="500"/>
              </a:spcAft>
            </a:pPr>
            <a:r>
              <a:rPr sz="1350" b="0">
                <a:solidFill>
                  <a:srgbClr val="1A1A1A"/>
                </a:solidFill>
                <a:latin typeface="微软雅黑"/>
              </a:rPr>
              <a:t>•  区分依据。几何遮挡下无信号可采样（Scanning 无法启动）；认知性盲区下信号已入视网膜而未被注意选中（Identification 失败）。故只以前者作情境自变量。</a:t>
            </a:r>
          </a:p>
          <a:p>
            <a:pPr marL="5334" indent="-4572">
              <a:lnSpc>
                <a:spcPct val="182000"/>
              </a:lnSpc>
              <a:spcAft>
                <a:spcPts val="500"/>
              </a:spcAft>
            </a:pPr>
            <a:r>
              <a:rPr sz="1350" b="0">
                <a:solidFill>
                  <a:srgbClr val="1A1A1A"/>
                </a:solidFill>
                <a:latin typeface="微软雅黑"/>
              </a:rPr>
              <a:t>•  但后者进入因变量集。边界框使无意视盲由 46 降至 11，而系统一旦漏检行人，无意视盲反高于不用 AR-HUD；任一注意阶段成功率降 5% 即使碰撞风险翻倍。故盲区情境下漏检率升格为第一约束。</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证据基础　盲区情境可用的数值锚点与一处工程—人因缺口</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3 / 6</a:t>
            </a:r>
          </a:p>
        </p:txBody>
      </p:sp>
      <p:sp>
        <p:nvSpPr>
          <p:cNvPr id="6" name="Rectangle 5"/>
          <p:cNvSpPr/>
          <p:nvPr/>
        </p:nvSpPr>
        <p:spPr>
          <a:xfrm>
            <a:off x="584200" y="939800"/>
            <a:ext cx="15087600" cy="457200"/>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14706600" cy="381000"/>
          </a:xfrm>
          <a:prstGeom prst="rect">
            <a:avLst/>
          </a:prstGeom>
          <a:noFill/>
        </p:spPr>
        <p:txBody>
          <a:bodyPr wrap="square" lIns="0" rIns="0" tIns="0" bIns="0">
            <a:spAutoFit/>
          </a:bodyPr>
          <a:lstStyle/>
          <a:p/>
        </p:txBody>
      </p:sp>
      <p:sp>
        <p:nvSpPr>
          <p:cNvPr id="8" name="TextBox 7"/>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研究一　非盲区情境：时间参数与空间参照系</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4 / 6</a:t>
            </a:r>
          </a:p>
        </p:txBody>
      </p:sp>
      <p:sp>
        <p:nvSpPr>
          <p:cNvPr id="6" name="Rectangle 5"/>
          <p:cNvSpPr/>
          <p:nvPr/>
        </p:nvSpPr>
        <p:spPr>
          <a:xfrm>
            <a:off x="584200" y="939800"/>
            <a:ext cx="7429500" cy="2111946"/>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7048500" cy="2035746"/>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实验 2 单层预警的时间参数</a:t>
            </a:r>
          </a:p>
          <a:p>
            <a:pPr>
              <a:lnSpc>
                <a:spcPct val="180000"/>
              </a:lnSpc>
              <a:spcAft>
                <a:spcPts val="500"/>
              </a:spcAft>
            </a:pPr>
            <a:r>
              <a:rPr sz="1400" b="0">
                <a:solidFill>
                  <a:srgbClr val="1A1A1A"/>
                </a:solidFill>
                <a:latin typeface="微软雅黑"/>
              </a:rPr>
              <a:t>设计：触发准则（固定时间阈值／BTN）× 相对提前量 Δt（0／+1.0／+2.5 s）= 2 × 3 被试内；区块 B 另比较持续与撤销三水平（固定 1.5 s／状态维持／风险耦合衰减）。</a:t>
            </a:r>
          </a:p>
          <a:p>
            <a:pPr marL="5334" indent="-4572">
              <a:lnSpc>
                <a:spcPct val="182000"/>
              </a:lnSpc>
              <a:spcAft>
                <a:spcPts val="500"/>
              </a:spcAft>
            </a:pPr>
            <a:r>
              <a:rPr sz="1350" b="0">
                <a:solidFill>
                  <a:srgbClr val="1A1A1A"/>
                </a:solidFill>
                <a:latin typeface="微软雅黑"/>
              </a:rPr>
              <a:t>•  水平依据。Δt = 0 为「与自发察觉同时」的对照；+1.0 s 对应 Scanning 与 Identification 的工程估计，有产业级联的 1.0 s 级间与 1.0 s 档距双源支持；+2.5 s 用于检验收益递减与代价递增。</a:t>
            </a:r>
          </a:p>
          <a:p>
            <a:pPr marL="5334" indent="-4572">
              <a:lnSpc>
                <a:spcPct val="182000"/>
              </a:lnSpc>
              <a:spcAft>
                <a:spcPts val="500"/>
              </a:spcAft>
            </a:pPr>
            <a:r>
              <a:rPr sz="1350" b="0">
                <a:solidFill>
                  <a:srgbClr val="1A1A1A"/>
                </a:solidFill>
                <a:latin typeface="微软雅黑"/>
              </a:rPr>
              <a:t>•  准则对照的必要性。同一 TTC 2 s 在 40 km/h 下所需减速度 2.78 m/s²（BTN 0.35，温和制动），在 80 km/h 下 5.56 m/s²（BTN 0.69，接近全力制动）——固定秒数在物理上不可跨车速迁移，而人因侧从未做过准则类型的对照。</a:t>
            </a:r>
          </a:p>
          <a:p>
            <a:pPr marL="5334" indent="-4572">
              <a:lnSpc>
                <a:spcPct val="182000"/>
              </a:lnSpc>
              <a:spcAft>
                <a:spcPts val="500"/>
              </a:spcAft>
            </a:pPr>
            <a:r>
              <a:rPr sz="1350" b="0">
                <a:solidFill>
                  <a:srgbClr val="1A1A1A"/>
                </a:solidFill>
                <a:latin typeface="微软雅黑"/>
              </a:rPr>
              <a:t>•  撤销侧沿用 2 : 1 滞环（进入 4.0、解除 2.0 m/s²），原文目的即避免极短促的报警；此为本库唯一以运动学量定义级间关系的先例。</a:t>
            </a:r>
          </a:p>
          <a:p>
            <a:pPr marL="5334" indent="-4572">
              <a:lnSpc>
                <a:spcPct val="182000"/>
              </a:lnSpc>
              <a:spcAft>
                <a:spcPts val="500"/>
              </a:spcAft>
            </a:pPr>
            <a:r>
              <a:rPr sz="1350" b="0">
                <a:solidFill>
                  <a:srgbClr val="1A1A1A"/>
                </a:solidFill>
                <a:latin typeface="微软雅黑"/>
              </a:rPr>
              <a:t>•  主要终点：最小 TTMD（安全非劣）；次要为峰值减速度、抖动率、首次注视时间、漏检率。</a:t>
            </a:r>
          </a:p>
        </p:txBody>
      </p:sp>
      <p:sp>
        <p:nvSpPr>
          <p:cNvPr id="8" name="Rectangle 7"/>
          <p:cNvSpPr/>
          <p:nvPr/>
        </p:nvSpPr>
        <p:spPr>
          <a:xfrm>
            <a:off x="8242300" y="939800"/>
            <a:ext cx="7429500" cy="1955927"/>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45500" y="939800"/>
            <a:ext cx="7048500" cy="1879727"/>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实验 3 空间参照系与锁定策略</a:t>
            </a:r>
          </a:p>
          <a:p>
            <a:pPr>
              <a:lnSpc>
                <a:spcPct val="180000"/>
              </a:lnSpc>
              <a:spcAft>
                <a:spcPts val="500"/>
              </a:spcAft>
            </a:pPr>
            <a:r>
              <a:rPr sz="1400" b="0">
                <a:solidFill>
                  <a:srgbClr val="1A1A1A"/>
                </a:solidFill>
                <a:latin typeface="微软雅黑"/>
              </a:rPr>
              <a:t>主设计：锁定策略 5 水平（Baseline／BD／BR／BW／BW+BR）× 背景视觉复杂度 2 水平被试内；时间参数固定为实验 2 入选组合。另设次任务负荷区块：BD／BW × 次任务负荷 2 水平（纯音乐／意图诱导型听觉问答），背景固定为高拥挤，检验共形增益是否依赖负荷。</a:t>
            </a:r>
          </a:p>
          <a:p>
            <a:pPr marL="5334" indent="-4572">
              <a:lnSpc>
                <a:spcPct val="182000"/>
              </a:lnSpc>
              <a:spcAft>
                <a:spcPts val="500"/>
              </a:spcAft>
            </a:pPr>
            <a:r>
              <a:rPr sz="1350" b="0">
                <a:solidFill>
                  <a:srgbClr val="1A1A1A"/>
                </a:solidFill>
                <a:latin typeface="微软雅黑"/>
              </a:rPr>
              <a:t>•  最强证据。三方对照（N = 36）：BW 首次注视 617 ms、BD 2563 ms、BR 2730 ms，差异接近四倍。</a:t>
            </a:r>
          </a:p>
          <a:p>
            <a:pPr marL="5334" indent="-4572">
              <a:lnSpc>
                <a:spcPct val="182000"/>
              </a:lnSpc>
              <a:spcAft>
                <a:spcPts val="500"/>
              </a:spcAft>
            </a:pPr>
            <a:r>
              <a:rPr sz="1350" b="0">
                <a:solidFill>
                  <a:srgbClr val="1A1A1A"/>
                </a:solidFill>
                <a:latin typeface="微软雅黑"/>
              </a:rPr>
              <a:t>•  但基线设定须修正。碰撞预警平视显示本身即屏幕固定式前视野显示，却已取得制动反应时快约 200 ms、漏报 1 次对 17 次的优势。故 AR 的收益必须拆成位置增益与共形增益两项，混在一起会系统性高估共形性。</a:t>
            </a:r>
          </a:p>
          <a:p>
            <a:pPr marL="5334" indent="-4572">
              <a:lnSpc>
                <a:spcPct val="182000"/>
              </a:lnSpc>
              <a:spcAft>
                <a:spcPts val="500"/>
              </a:spcAft>
            </a:pPr>
            <a:r>
              <a:rPr sz="1350" b="0">
                <a:solidFill>
                  <a:srgbClr val="1A1A1A"/>
                </a:solidFill>
                <a:latin typeface="微软雅黑"/>
              </a:rPr>
              <a:t>•  方法学后果。BD 条件已含平视位置的大部分收益，故 BW／BR 相对 BD 的增量必然更小，样本量估计须按更小的效应量做。</a:t>
            </a:r>
          </a:p>
          <a:p>
            <a:pPr marL="5334" indent="-4572">
              <a:lnSpc>
                <a:spcPct val="182000"/>
              </a:lnSpc>
              <a:spcAft>
                <a:spcPts val="500"/>
              </a:spcAft>
            </a:pPr>
            <a:r>
              <a:rPr sz="1350" b="0">
                <a:solidFill>
                  <a:srgbClr val="1A1A1A"/>
                </a:solidFill>
                <a:latin typeface="微软雅黑"/>
              </a:rPr>
              <a:t>•  并列主要终点：漏检率、以及注视时长是否越过 2000 ms 分心上界——贴地共形箭头曾把图形注视时长推到 3.33 s。</a:t>
            </a:r>
          </a:p>
        </p:txBody>
      </p:sp>
      <p:sp>
        <p:nvSpPr>
          <p:cNvPr id="10" name="Rectangle 9"/>
          <p:cNvSpPr/>
          <p:nvPr/>
        </p:nvSpPr>
        <p:spPr>
          <a:xfrm>
            <a:off x="584200" y="3127946"/>
            <a:ext cx="15087600" cy="81635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4200" y="3127946"/>
            <a:ext cx="63500" cy="81635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3127946"/>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auto"&gt;硬约束：实验 1 与实验 2 必须共用同一场景族与同一套零点标定单元，且复用同一批被试——自变量 Δt 需要被试自身的 t0。实验 1 按「情境（非盲区／盲区）× 车速（40／60 km/h）」四个单元分别标定：零点随车速与遮挡系统变化，遮挡直接改变光学膨胀率越过知觉阈值的时刻。实验 3 已固定全部时间参数，可另设场景操纵，不受此约束。</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研究二　盲区情境：时间参数、预告区段与系统可靠性</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4 / 6</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&gt;实验 4 设计：相对提前量 Δt′ = treveal − twarn（−0.5／0／+1.0／+2.5 s）× 系统可靠性（100%／80%）= 4 × 2 被试内，另加无预警基线对照；区块 B 比较分层语义分化与单层。所有水平须满足 twarn ≥ tdetect。</a:t>
            </a:r>
          </a:p>
        </p:txBody>
      </p:sp>
      <p:sp>
        <p:nvSpPr>
          <p:cNvPr id="9" name="Rectangle 8"/>
          <p:cNvSpPr/>
          <p:nvPr/>
        </p:nvSpPr>
        <p:spPr>
          <a:xfrm>
            <a:off x="584200" y="1672336"/>
            <a:ext cx="7429500" cy="1247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672336"/>
            <a:ext cx="7048500" cy="1170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四个水平的分工</a:t>
            </a:r>
          </a:p>
          <a:p>
            <a:pPr marL="5334" indent="-4572">
              <a:lnSpc>
                <a:spcPct val="182000"/>
              </a:lnSpc>
              <a:spcAft>
                <a:spcPts val="500"/>
              </a:spcAft>
            </a:pPr>
            <a:r>
              <a:rPr sz="1350" b="0">
                <a:solidFill>
                  <a:srgbClr val="1A1A1A"/>
                </a:solidFill>
                <a:latin typeface="微软雅黑"/>
              </a:rPr>
              <a:t>•  −0.5 s：预警发于行人已显露之后，即完全放弃预告区段。此为研究一无对应物的关键对照，直接检验 P1′。</a:t>
            </a:r>
          </a:p>
          <a:p>
            <a:pPr marL="5334" indent="-4572">
              <a:lnSpc>
                <a:spcPct val="182000"/>
              </a:lnSpc>
              <a:spcAft>
                <a:spcPts val="500"/>
              </a:spcAft>
            </a:pPr>
            <a:r>
              <a:rPr sz="1350" b="0">
                <a:solidFill>
                  <a:srgbClr val="1A1A1A"/>
                </a:solidFill>
                <a:latin typeface="微软雅黑"/>
              </a:rPr>
              <a:t>•  0：预警与显露同时，仅省去扫视搜索成本，不提供预测窗口。</a:t>
            </a:r>
          </a:p>
          <a:p>
            <a:pPr marL="5334" indent="-4572">
              <a:lnSpc>
                <a:spcPct val="182000"/>
              </a:lnSpc>
              <a:spcAft>
                <a:spcPts val="500"/>
              </a:spcAft>
            </a:pPr>
            <a:r>
              <a:rPr sz="1350" b="0">
                <a:solidFill>
                  <a:srgbClr val="1A1A1A"/>
                </a:solidFill>
                <a:latin typeface="微软雅黑"/>
              </a:rPr>
              <a:t>•  +1.0／+2.5 s：与研究一的 Δt 取值对齐，使跨情境比较在同一刻度上进行（P2′）。</a:t>
            </a:r>
          </a:p>
        </p:txBody>
      </p:sp>
      <p:sp>
        <p:nvSpPr>
          <p:cNvPr id="11" name="Rectangle 10"/>
          <p:cNvSpPr/>
          <p:nvPr/>
        </p:nvSpPr>
        <p:spPr>
          <a:xfrm>
            <a:off x="8242300" y="1672336"/>
            <a:ext cx="7429500" cy="1752790"/>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45500" y="1672336"/>
            <a:ext cx="7048500" cy="1676590"/>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为何把可靠性操纵置于研究二而非研究一</a:t>
            </a:r>
          </a:p>
          <a:p>
            <a:pPr marL="5334" indent="-4572">
              <a:lnSpc>
                <a:spcPct val="182000"/>
              </a:lnSpc>
              <a:spcAft>
                <a:spcPts val="500"/>
              </a:spcAft>
            </a:pPr>
            <a:r>
              <a:rPr sz="1350" b="0">
                <a:solidFill>
                  <a:srgbClr val="1A1A1A"/>
                </a:solidFill>
                <a:latin typeface="微软雅黑"/>
              </a:rPr>
              <a:t>•  理论意义最大处。虚警代价的机制在盲区情境下才发生质变——不可核验。在非盲区情境操纵可靠性，只能复现 15%／15% 的零效应或另一项的强效应，而无法解释两者为何冲突。</a:t>
            </a:r>
          </a:p>
          <a:p>
            <a:pPr marL="5334" indent="-4572">
              <a:lnSpc>
                <a:spcPct val="182000"/>
              </a:lnSpc>
              <a:spcAft>
                <a:spcPts val="500"/>
              </a:spcAft>
            </a:pPr>
            <a:r>
              <a:rPr sz="1350" b="0">
                <a:solidFill>
                  <a:srgbClr val="1A1A1A"/>
                </a:solidFill>
                <a:latin typeface="微软雅黑"/>
              </a:rPr>
              <a:t>•  可否证预测最强处。P4′：同一虚警率下，盲区预警的信任损伤与依从率下降显著大于非盲区预警。非盲区情境中一次虚警可被归因为「系统略早」而保留信任；盲区情境中虚警无法被归因，只能计入系统错误。</a:t>
            </a:r>
          </a:p>
          <a:p>
            <a:pPr marL="5334" indent="-4572">
              <a:lnSpc>
                <a:spcPct val="182000"/>
              </a:lnSpc>
              <a:spcAft>
                <a:spcPts val="500"/>
              </a:spcAft>
            </a:pPr>
            <a:r>
              <a:rPr sz="1350" b="0">
                <a:solidFill>
                  <a:srgbClr val="1A1A1A"/>
                </a:solidFill>
                <a:latin typeface="微软雅黑"/>
              </a:rPr>
              <a:t>•  上界性质一致。盲区的时间上界本即探测可靠性，故把可靠性与 Δt′ 置于同一实验，使自变量与上界约束在同一物理量上闭合。</a:t>
            </a:r>
          </a:p>
          <a:p>
            <a:pPr marL="5334" indent="-4572">
              <a:lnSpc>
                <a:spcPct val="182000"/>
              </a:lnSpc>
              <a:spcAft>
                <a:spcPts val="500"/>
              </a:spcAft>
            </a:pPr>
            <a:r>
              <a:rPr sz="1350" b="0">
                <a:solidFill>
                  <a:srgbClr val="1A1A1A"/>
                </a:solidFill>
                <a:latin typeface="微软雅黑"/>
              </a:rPr>
              <a:t>•  80% 的依据。15% 已证零效应故不提供信息；已有研究的最低操纵档为 20%；工程可达骚扰水平约 13.74%。故 20% 略高于当前最佳水平，属保守压力测试，用于检验稳健性而非模拟典型系统。虚警只施加在预告级。</a:t>
            </a:r>
          </a:p>
        </p:txBody>
      </p:sp>
      <p:sp>
        <p:nvSpPr>
          <p:cNvPr id="13" name="Rectangle 12"/>
          <p:cNvSpPr/>
          <p:nvPr/>
        </p:nvSpPr>
        <p:spPr>
          <a:xfrm>
            <a:off x="584200" y="3501326"/>
            <a:ext cx="15087600" cy="816356"/>
          </a:xfrm>
          <a:prstGeom prst="rect">
            <a:avLst/>
          </a:prstGeom>
          <a:solidFill>
            <a:srgbClr val="F2F9F2"/>
          </a:solidFill>
          <a:ln w="1778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4200" y="3501326"/>
            <a:ext cx="63500" cy="81635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7400" y="3501326"/>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auto"&gt;区块 B 分层语义分化（盲区情境独有）。非盲区的两级指向同一可见目标，仅强度不同；盲区的两级承担本质不同的信息——预告级（锚于 tdetect）语义为「遮挡体后方存在一个你看不见的行人」，可支持 Predicting 与预置 Deciding；确认级（锚于 treveal）语义为「它现在出现了，在这里」，支持 S、I、D、E。故级间间隔不是自由参数，而等于 treveal − tdetect。另设状态条件化升级仲裁：确认级前若已检测到有效减速（阈值 −0.075 g）则取消升级——依据是有研究报告 50% 被试在预警呈现前已开始制动；记录取消升级率、错误升级率与错误取消率。</a:t>
            </a:r>
          </a:p>
        </p:txBody>
      </p:sp>
      <p:sp>
        <p:nvSpPr>
          <p:cNvPr id="16" name="TextBox 15"/>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研究二　盲区情境：目标锁定不可实现时的四类锚定策略</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4 / 6</a:t>
            </a:r>
          </a:p>
        </p:txBody>
      </p:sp>
      <p:sp>
        <p:nvSpPr>
          <p:cNvPr id="6" name="Rectangle 5"/>
          <p:cNvSpPr/>
          <p:nvPr/>
        </p:nvSpPr>
        <p:spPr>
          <a:xfrm>
            <a:off x="584200" y="939800"/>
            <a:ext cx="15087600" cy="656336"/>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147066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实验 5 设计：锚定策略 5 水平 × 遮挡几何 2 水平（近距侧方／远距前方）被试内；时间参数固定为实验 4 入选组合。图形参数按四源收敛区间固定：不透明度 0.6、红与黄日夜鲁棒色对、条件间闪烁状态固定、动画不得与本车运动耦合。</a:t>
            </a:r>
          </a:p>
        </p:txBody>
      </p:sp>
      <p:graphicFrame>
        <p:nvGraphicFramePr>
          <p:cNvPr id="8" name="Table 7"/>
          <p:cNvGraphicFramePr>
            <a:graphicFrameLocks noGrp="1"/>
          </p:cNvGraphicFramePr>
          <p:nvPr/>
        </p:nvGraphicFramePr>
        <p:xfrm>
          <a:off x="584200" y="1672336"/>
          <a:ext cx="15087600" cy="3048000"/>
        </p:xfrm>
        <a:graphic>
          <a:graphicData uri="http://schemas.openxmlformats.org/drawingml/2006/table">
            <a:tbl>
              <a:tblPr firstRow="1" bandRow="1">
                <a:tableStyleId>{5C22544A-7EE6-4342-B048-85BDC9FD1C3A}</a:tableStyleId>
              </a:tblPr>
              <a:tblGrid>
                <a:gridCol w="3771900"/>
                <a:gridCol w="3771900"/>
                <a:gridCol w="3771900"/>
                <a:gridCol w="3771900"/>
              </a:tblGrid>
              <a:tr h="508000">
                <a:tc>
                  <a:txBody>
                    <a:bodyPr wrap="square" lIns="76200" rIns="76200" tIns="38100" bIns="38100"/>
                    <a:lstStyle/>
                    <a:p>
                      <a:pPr>
                        <a:lnSpc>
                          <a:spcPct val="115000"/>
                        </a:lnSpc>
                      </a:pPr>
                      <a:r>
                        <a:rPr sz="1250" b="1">
                          <a:solidFill>
                            <a:srgbClr val="FFFFFF"/>
                          </a:solidFill>
                          <a:latin typeface="微软雅黑"/>
                        </a:rPr>
                        <a:t>水平</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操作化</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理论定位</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主要风险与对应测量</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BO 遮挡体锚定</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高亮或描边绘制于遮挡体表面朝向行人的一侧</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指示「危险来自这个物体后面」</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构成叠加于遮挡物之上的构型，而外周视野下叠加于图形之上的危险漏检率最高且反应时最长 → 须测遮挡体误锚定率</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BR-p 推测地面锚定</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贴地图形绘制于行人推测的地面位置（按探测轨迹外推），纵深按 Rx = Ttc·Vcar 缩放</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指示「风险将发生于何处」，即 BR 在遮挡条件下的自然延伸</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外推误差直接转为空间误差 → 须报告配准误差与冲突点空间误差</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DR 穿透显影</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将遮挡体半透明化以显示其后行人</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保持行人在原空间语境中被感知；对应 2012 年以来穿透式显示的技术路线</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深度歧义（穿透视觉的经典问题）→ 须测深度判断误差、晕动与不适；脱落率按 15% 估计</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BD-dir 屏幕方位指示器</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屏幕固定的方向箭头，不做空间配准</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显示视场受限时的退化方案，对应量产视场仅 10°–15° 而文献方案要求 40°–85° 的工程边界</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不携带精确位置信息 → 须测定位转换成本</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BO + BR-p （探索）</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复合</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检验二者是否互补而非同类冗余</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负荷叠加 → 须检验注视时长是否越 2000 ms</a:t>
                      </a:r>
                    </a:p>
                  </a:txBody>
                  <a:tcPr>
                    <a:solidFill>
                      <a:srgbClr val="FFFFFF"/>
                    </a:solidFill>
                  </a:tcPr>
                </a:tc>
              </a:tr>
            </a:tbl>
          </a:graphicData>
        </a:graphic>
      </p:graphicFrame>
      <p:sp>
        <p:nvSpPr>
          <p:cNvPr id="9" name="Rectangle 8"/>
          <p:cNvSpPr/>
          <p:nvPr/>
        </p:nvSpPr>
        <p:spPr>
          <a:xfrm>
            <a:off x="584200" y="4872736"/>
            <a:ext cx="15087600" cy="81635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200" y="4872736"/>
            <a:ext cx="63500" cy="81635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4872736"/>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auto"&gt;遮挡几何两水平的设置依据与 P5′。17° 圆形视场下近距侧方行人的共形图形会移出视场而彻底失效，而遮挡后横穿恰是近距侧方构型——行人自停放车辆后走出时方位角随接近迅速增大。故 P5′ 预测：近距侧方几何下共形类锚定（BO、BR-p、DR）绩效显著低于屏幕方位指示器，远距前方几何下方向相反，即盲区情境不存在单一最优锚定策略，最优解是遮挡几何的函数。</a:t>
            </a:r>
          </a:p>
        </p:txBody>
      </p:sp>
      <p:sp>
        <p:nvSpPr>
          <p:cNvPr id="12" name="Rectangle 11"/>
          <p:cNvSpPr/>
          <p:nvPr/>
        </p:nvSpPr>
        <p:spPr>
          <a:xfrm>
            <a:off x="584200" y="5765292"/>
            <a:ext cx="7429500" cy="1247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400" y="5765292"/>
            <a:ext cx="7048500" cy="1170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新水平与研究一记法的对应</a:t>
            </a:r>
          </a:p>
          <a:p>
            <a:pPr marL="5334" indent="-4572">
              <a:lnSpc>
                <a:spcPct val="182000"/>
              </a:lnSpc>
              <a:spcAft>
                <a:spcPts val="500"/>
              </a:spcAft>
            </a:pPr>
            <a:r>
              <a:rPr sz="1350" b="0">
                <a:solidFill>
                  <a:srgbClr val="1A1A1A"/>
                </a:solidFill>
                <a:latin typeface="微软雅黑"/>
              </a:rPr>
              <a:t>•  BW 被删除而非降级。跟随目标锁定无对象可锁，故不进入候选集——这正是研究一结论无法迁移的空间侧体现。</a:t>
            </a:r>
          </a:p>
          <a:p>
            <a:pPr marL="5334" indent="-4572">
              <a:lnSpc>
                <a:spcPct val="182000"/>
              </a:lnSpc>
              <a:spcAft>
                <a:spcPts val="500"/>
              </a:spcAft>
            </a:pPr>
            <a:r>
              <a:rPr sz="1350" b="0">
                <a:solidFill>
                  <a:srgbClr val="1A1A1A"/>
                </a:solidFill>
                <a:latin typeface="微软雅黑"/>
              </a:rPr>
              <a:t>•  BR → BR-p。锚点由已知冲突点改为按探测轨迹外推的推测位置，故新增一项误差源。BO 与 DR 则为盲区情境新增，是「遮挡」本身催生的设计空间。</a:t>
            </a:r>
          </a:p>
          <a:p>
            <a:pPr marL="5334" indent="-4572">
              <a:lnSpc>
                <a:spcPct val="182000"/>
              </a:lnSpc>
              <a:spcAft>
                <a:spcPts val="500"/>
              </a:spcAft>
            </a:pPr>
            <a:r>
              <a:rPr sz="1350" b="0">
                <a:solidFill>
                  <a:srgbClr val="1A1A1A"/>
                </a:solidFill>
                <a:latin typeface="微软雅黑"/>
              </a:rPr>
              <a:t>•  BD → BD-dir。屏幕固定由「低效基线」升为视场受限下的正当退化方案——它本身已取得约 200 ms 与漏报 1 对 17 的优势。</a:t>
            </a:r>
          </a:p>
        </p:txBody>
      </p:sp>
      <p:sp>
        <p:nvSpPr>
          <p:cNvPr id="14" name="Rectangle 13"/>
          <p:cNvSpPr/>
          <p:nvPr/>
        </p:nvSpPr>
        <p:spPr>
          <a:xfrm>
            <a:off x="8242300" y="5765292"/>
            <a:ext cx="7429500" cy="1247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45500" y="5765292"/>
            <a:ext cx="7048500" cy="1170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量产可实现性判定（应用输出）</a:t>
            </a:r>
          </a:p>
          <a:p>
            <a:pPr marL="5334" indent="-4572">
              <a:lnSpc>
                <a:spcPct val="182000"/>
              </a:lnSpc>
              <a:spcAft>
                <a:spcPts val="500"/>
              </a:spcAft>
            </a:pPr>
            <a:r>
              <a:rPr sz="1350" b="0">
                <a:solidFill>
                  <a:srgbClr val="1A1A1A"/>
                </a:solidFill>
                <a:latin typeface="微软雅黑"/>
              </a:rPr>
              <a:t>•  量产平视显示视场当前仅 10°–15°，文献方案普遍要求 40°–85°。本实验按此界定三档——</a:t>
            </a:r>
          </a:p>
          <a:p>
            <a:pPr marL="5334" indent="-4572">
              <a:lnSpc>
                <a:spcPct val="182000"/>
              </a:lnSpc>
              <a:spcAft>
                <a:spcPts val="500"/>
              </a:spcAft>
            </a:pPr>
            <a:r>
              <a:rPr sz="1350" b="0">
                <a:solidFill>
                  <a:srgbClr val="1A1A1A"/>
                </a:solidFill>
                <a:latin typeface="微软雅黑"/>
              </a:rPr>
              <a:t>•  ① 当前可实现：屏幕方位指示器，不依赖视场。② 有条件可实现：远距前方几何下的推测地面锚定。③ 当前不可实现：近距侧方几何下的一切共形锚定，含穿透显影。</a:t>
            </a:r>
          </a:p>
          <a:p>
            <a:pPr marL="5334" indent="-4572">
              <a:lnSpc>
                <a:spcPct val="182000"/>
              </a:lnSpc>
              <a:spcAft>
                <a:spcPts val="500"/>
              </a:spcAft>
            </a:pPr>
            <a:r>
              <a:rPr sz="1350" b="0">
                <a:solidFill>
                  <a:srgbClr val="1A1A1A"/>
                </a:solidFill>
                <a:latin typeface="微软雅黑"/>
              </a:rPr>
              <a:t>•  故输出不是「哪种锚定最好」，而是「遮挡几何 × 可用视场 → 推荐锚定」的查表式规范。</a:t>
            </a:r>
          </a:p>
        </p:txBody>
      </p:sp>
      <p:sp>
        <p:nvSpPr>
          <p:cNvPr id="16" name="TextBox 15"/>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可否证预测　六条由理论导出的预测及其否证条件</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5 / 6</a:t>
            </a:r>
          </a:p>
        </p:txBody>
      </p:sp>
      <p:graphicFrame>
        <p:nvGraphicFramePr>
          <p:cNvPr id="6" name="Table 5"/>
          <p:cNvGraphicFramePr>
            <a:graphicFrameLocks noGrp="1"/>
          </p:cNvGraphicFramePr>
          <p:nvPr/>
        </p:nvGraphicFramePr>
        <p:xfrm>
          <a:off x="584200" y="939800"/>
          <a:ext cx="15087600" cy="3556000"/>
        </p:xfrm>
        <a:graphic>
          <a:graphicData uri="http://schemas.openxmlformats.org/drawingml/2006/table">
            <a:tbl>
              <a:tblPr firstRow="1" bandRow="1">
                <a:tableStyleId>{5C22544A-7EE6-4342-B048-85BDC9FD1C3A}</a:tableStyleId>
              </a:tblPr>
              <a:tblGrid>
                <a:gridCol w="3771900"/>
                <a:gridCol w="3771900"/>
                <a:gridCol w="3771900"/>
                <a:gridCol w="3771900"/>
              </a:tblGrid>
              <a:tr h="508000">
                <a:tc>
                  <a:txBody>
                    <a:bodyPr wrap="square" lIns="76200" rIns="76200" tIns="38100" bIns="38100"/>
                    <a:lstStyle/>
                    <a:p>
                      <a:pPr>
                        <a:lnSpc>
                          <a:spcPct val="115000"/>
                        </a:lnSpc>
                      </a:pPr>
                      <a:r>
                        <a:rPr sz="1250" b="1">
                          <a:solidFill>
                            <a:srgbClr val="FFFFFF"/>
                          </a:solidFill>
                          <a:latin typeface="微软雅黑"/>
                        </a:rPr>
                        <a:t>编号</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预测</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来源</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否证条件</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P1′</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放弃预告区段（Δt′ ≤ 0）的绩效显著劣于跨越显露时刻的预警（Δt′ &gt; 0）</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五阶段被强制分段</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两者无显著差异，或 Δt′ ≤ 0 反而更优</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P2′</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盲区情境的最优 Δt′ 显著大于非盲区情境的最优 Δt</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预期性注视无从建立 + 刺激驱动定向的额外耗时</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两者相等，或盲区所需提前量更小</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P3′</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预告区段的收益单调递增但存在饱和，饱和点对应预测与预置决策的完成时间</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五阶段被强制分段</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呈线性而无饱和，或呈倒 U 型</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P4′</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80% 可靠性对盲区预警的信任损伤与依从率下降显著大于对非盲区预警</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预警在显露前不可被视觉核验</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两情境损伤相当，或方向相反</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P5′</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最优锚定策略随遮挡几何反转：近距侧方屏幕方位指示器更优，远距前方共形类更优</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17° 视场下近距侧方共形图形失效</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存在跨几何一致的单一最优锚定</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P6′</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双向迁移损失显著大于零：研究一入选方案施于盲区、研究二入选方案施于非盲区，均产生显著绩效损失</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BD-1 至 BD-6 六项前提失效</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迁移损失不显著 → 本框架的情境切分不成立，应退回单情境处理</a:t>
                      </a:r>
                    </a:p>
                  </a:txBody>
                  <a:tcPr>
                    <a:solidFill>
                      <a:srgbClr val="FAFBFD"/>
                    </a:solidFill>
                  </a:tcPr>
                </a:tc>
              </a:tr>
            </a:tbl>
          </a:graphicData>
        </a:graphic>
      </p:graphicFrame>
      <p:sp>
        <p:nvSpPr>
          <p:cNvPr id="7" name="Rectangle 6"/>
          <p:cNvSpPr/>
          <p:nvPr/>
        </p:nvSpPr>
        <p:spPr>
          <a:xfrm>
            <a:off x="584200" y="4648200"/>
            <a:ext cx="7429500" cy="179050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4648200"/>
            <a:ext cx="7048500" cy="171430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由文献归纳的五项假设</a:t>
            </a:r>
          </a:p>
          <a:p>
            <a:pPr marL="5334" indent="-4572">
              <a:lnSpc>
                <a:spcPct val="182000"/>
              </a:lnSpc>
              <a:spcAft>
                <a:spcPts val="500"/>
              </a:spcAft>
            </a:pPr>
            <a:r>
              <a:rPr sz="1350" b="0">
                <a:solidFill>
                  <a:srgbClr val="1A1A1A"/>
                </a:solidFill>
                <a:latin typeface="微软雅黑"/>
              </a:rPr>
              <a:t>•  H1′ 盲区预警使油门松开与首次制动位置显著提前且峰值减速度下降，收益形式为制动平顺化而非仅反应时缩短（两源同向：距离与减速度指标；紧急减速率 3.10–3.56 → 2.77–3.18 m/s²）。</a:t>
            </a:r>
          </a:p>
          <a:p>
            <a:pPr marL="5334" indent="-4572">
              <a:lnSpc>
                <a:spcPct val="182000"/>
              </a:lnSpc>
              <a:spcAft>
                <a:spcPts val="500"/>
              </a:spcAft>
            </a:pPr>
            <a:r>
              <a:rPr sz="1350" b="0">
                <a:solidFill>
                  <a:srgbClr val="1A1A1A"/>
                </a:solidFill>
                <a:latin typeface="微软雅黑"/>
              </a:rPr>
              <a:t>•  H2′ 能见度下降放大盲区预警的收益（雾天油门提前多 27.7 m, p = .032；制动多 27.8 m, p = .035）。</a:t>
            </a:r>
          </a:p>
          <a:p>
            <a:pPr marL="5334" indent="-4572">
              <a:lnSpc>
                <a:spcPct val="182000"/>
              </a:lnSpc>
              <a:spcAft>
                <a:spcPts val="500"/>
              </a:spcAft>
            </a:pPr>
            <a:r>
              <a:rPr sz="1350" b="0">
                <a:solidFill>
                  <a:srgbClr val="1A1A1A"/>
                </a:solidFill>
                <a:latin typeface="微软雅黑"/>
              </a:rPr>
              <a:t>•  H3′ 遮挡体锚定的误锚定率显著高于推测地面锚定与穿透显影。</a:t>
            </a:r>
          </a:p>
          <a:p>
            <a:pPr marL="5334" indent="-4572">
              <a:lnSpc>
                <a:spcPct val="182000"/>
              </a:lnSpc>
              <a:spcAft>
                <a:spcPts val="500"/>
              </a:spcAft>
            </a:pPr>
            <a:r>
              <a:rPr sz="1350" b="0">
                <a:solidFill>
                  <a:srgbClr val="1A1A1A"/>
                </a:solidFill>
                <a:latin typeface="微软雅黑"/>
              </a:rPr>
              <a:t>•  H4′ 系统漏检时，盲区情境的漏检代价显著大于非盲区情境——驾驶员无独立视觉信息源可补偿。</a:t>
            </a:r>
          </a:p>
          <a:p>
            <a:pPr marL="5334" indent="-4572">
              <a:lnSpc>
                <a:spcPct val="182000"/>
              </a:lnSpc>
              <a:spcAft>
                <a:spcPts val="500"/>
              </a:spcAft>
            </a:pPr>
            <a:r>
              <a:rPr sz="1350" b="0">
                <a:solidFill>
                  <a:srgbClr val="1A1A1A"/>
                </a:solidFill>
                <a:latin typeface="微软雅黑"/>
              </a:rPr>
              <a:t>•  H5′ 分层语义分化优于单层，且优势主要体现在预告区段内的预期性注视上。</a:t>
            </a:r>
          </a:p>
        </p:txBody>
      </p:sp>
      <p:sp>
        <p:nvSpPr>
          <p:cNvPr id="9" name="Rectangle 8"/>
          <p:cNvSpPr/>
          <p:nvPr/>
        </p:nvSpPr>
        <p:spPr>
          <a:xfrm>
            <a:off x="8242300" y="4648200"/>
            <a:ext cx="7429500" cy="1440751"/>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45500" y="4648200"/>
            <a:ext cx="7048500" cy="1364551"/>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预注册与零结果处理</a:t>
            </a:r>
          </a:p>
          <a:p>
            <a:pPr marL="5334" indent="-4572">
              <a:lnSpc>
                <a:spcPct val="182000"/>
              </a:lnSpc>
              <a:spcAft>
                <a:spcPts val="500"/>
              </a:spcAft>
            </a:pPr>
            <a:r>
              <a:rPr sz="1350" b="0">
                <a:solidFill>
                  <a:srgbClr val="1A1A1A"/>
                </a:solidFill>
                <a:latin typeface="微软雅黑"/>
              </a:rPr>
              <a:t>•  P1′ 至 P6′ 与 H1′ 至 H5′ 全部预注册；次要结局按错误发现率校正。</a:t>
            </a:r>
          </a:p>
          <a:p>
            <a:pPr marL="5334" indent="-4572">
              <a:lnSpc>
                <a:spcPct val="182000"/>
              </a:lnSpc>
              <a:spcAft>
                <a:spcPts val="500"/>
              </a:spcAft>
            </a:pPr>
            <a:r>
              <a:rPr sz="1350" b="0">
                <a:solidFill>
                  <a:srgbClr val="1A1A1A"/>
                </a:solidFill>
                <a:latin typeface="微软雅黑"/>
              </a:rPr>
              <a:t>•  P6′ 是本研究唯一的自我否证条款，其零结果将被照实报告并视为对领域的有效贡献——它说明单一套参数即可跨情境使用，从而简化工程实现。</a:t>
            </a:r>
          </a:p>
          <a:p>
            <a:pPr marL="5334" indent="-4572">
              <a:lnSpc>
                <a:spcPct val="182000"/>
              </a:lnSpc>
              <a:spcAft>
                <a:spcPts val="500"/>
              </a:spcAft>
            </a:pPr>
            <a:r>
              <a:rPr sz="1350" b="0">
                <a:solidFill>
                  <a:srgbClr val="1A1A1A"/>
                </a:solidFill>
                <a:latin typeface="微软雅黑"/>
              </a:rPr>
              <a:t>•  「无显著差异」不解释为等效；一律报告估计差、95% 置信区间与效应量。</a:t>
            </a:r>
          </a:p>
          <a:p>
            <a:pPr marL="5334" indent="-4572">
              <a:lnSpc>
                <a:spcPct val="182000"/>
              </a:lnSpc>
              <a:spcAft>
                <a:spcPts val="500"/>
              </a:spcAft>
            </a:pPr>
            <a:r>
              <a:rPr sz="1350" b="0">
                <a:solidFill>
                  <a:srgbClr val="1A1A1A"/>
                </a:solidFill>
                <a:latin typeface="微软雅黑"/>
              </a:rPr>
              <a:t>•  按判定顺序第一条，安全非劣即可作为有效结论报告；零效应对参数区间的收窄仍有信息价值。</a:t>
            </a:r>
          </a:p>
        </p:txBody>
      </p:sp>
      <p:sp>
        <p:nvSpPr>
          <p:cNvPr id="11" name="Rectangle 10"/>
          <p:cNvSpPr/>
          <p:nvPr/>
        </p:nvSpPr>
        <p:spPr>
          <a:xfrm>
            <a:off x="584200" y="6514909"/>
            <a:ext cx="15087600" cy="81635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4200" y="6514909"/>
            <a:ext cx="63500" cy="81635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400" y="6514909"/>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auto"&gt;递进设计的风险与退化路径（须预先写入方案书）：下游实验以上游产出为固定参数，故上游失败会阻塞下游。三条缓解方案——① 若实验 1 的自发察觉时刻方差过大而无法定出稳定基准，实验 2 退化为绝对时距与相对提前量的双参数化并行报告，即把提前量作协变量而非自变量；② 若显露时刻的解析解与实测眼动偏差超阈值，实验 4 改以实测显露时刻为零点，并把解析误差作为协变量报告；③ 若穿透显影条件的晕动脱落率超过 25%，该水平降级为探索性分析，主分析在余下四水平上进行。三条方案均预先声明，不得在见数据后选择。</a:t>
            </a:r>
          </a:p>
        </p:txBody>
      </p:sp>
      <p:sp>
        <p:nvSpPr>
          <p:cNvPr id="14" name="TextBox 13"/>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研究设计　一个双情境标定实验 + 两组情境内主实验 + 交叉迁移区块</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6 / 6</a:t>
            </a:r>
          </a:p>
        </p:txBody>
      </p:sp>
      <p:graphicFrame>
        <p:nvGraphicFramePr>
          <p:cNvPr id="6" name="Table 5"/>
          <p:cNvGraphicFramePr>
            <a:graphicFrameLocks noGrp="1"/>
          </p:cNvGraphicFramePr>
          <p:nvPr/>
        </p:nvGraphicFramePr>
        <p:xfrm>
          <a:off x="584200" y="939800"/>
          <a:ext cx="15087600" cy="3556000"/>
        </p:xfrm>
        <a:graphic>
          <a:graphicData uri="http://schemas.openxmlformats.org/drawingml/2006/table">
            <a:tbl>
              <a:tblPr firstRow="1" bandRow="1">
                <a:tableStyleId>{5C22544A-7EE6-4342-B048-85BDC9FD1C3A}</a:tableStyleId>
              </a:tblPr>
              <a:tblGrid>
                <a:gridCol w="3017520"/>
                <a:gridCol w="3017520"/>
                <a:gridCol w="3017520"/>
                <a:gridCol w="3017520"/>
                <a:gridCol w="3017520"/>
              </a:tblGrid>
              <a:tr h="508000">
                <a:tc>
                  <a:txBody>
                    <a:bodyPr wrap="square" lIns="76200" rIns="76200" tIns="38100" bIns="38100"/>
                    <a:lstStyle/>
                    <a:p>
                      <a:pPr>
                        <a:lnSpc>
                          <a:spcPct val="115000"/>
                        </a:lnSpc>
                      </a:pPr>
                      <a:r>
                        <a:rPr sz="1250" b="1">
                          <a:solidFill>
                            <a:srgbClr val="FFFFFF"/>
                          </a:solidFill>
                          <a:latin typeface="微软雅黑"/>
                        </a:rPr>
                        <a:t>研究</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实验</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核心问题</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核心变量与水平</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主要机制指标</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共用基础 双情境标定</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实验 1 双情境无预警基线</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两个零点各在何处？运动学可行域多大？</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情境（非盲区／盲区）× 车速（40／60 km/h），无 AR 预警</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非盲区：t0 分布；盲区：treveal 几何验证与显露后感知反应时；两情境的反应时分位数、舒适减速度、零点时刻 BTN、渲染延迟、方差成分</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研究一 非盲区情境</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实验 2 时间参数</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相对自发察觉应提前多少？触发准则用时间还是减速度？</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触发准则（固定时间阈值／BTN）× Δt（0／+1.0／+2.5 s）= 2 × 3；区块 B 持续与撤销 3 水平</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首次注视时间（警告／行人）；制动启动、峰值减速度、抖动率；安全约束为最小 TTMD</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实验 3 空间参数</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预警应锁定屏幕、道路、行人还是复合？</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主设计：锁定策略 5 水平（Baseline／BD／BR／BW／BW+BR）× 背景视觉复杂度 2 水平；负荷区块：BD／BW × 次任务负荷 2 水平</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真实行人首次注视时间；定位转换成本；并列终点含漏检率与 2000 ms 上界</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研究二 盲区情境</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实验 4 时间参数与可靠性</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相对自然显露应提前多少？预告区段是否有价值？可靠性如何调节？</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Δt′（−0.5／0／+1.0／+2.5 s）× 可靠性（100%／80%）= 4 × 2，另加无预警基线；区块 B 分层语义分化</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预告区段内的预期性注视；路径侵入预测正确率；显露后行人首次注视时间；信任量表、预告级依从率、取消升级率</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实验 5 空间参数</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目标锁定不可实现时应锚定于何处？最优解是否随遮挡几何变化？</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锚定策略 5 水平（Baseline／BO／BR-p／DR／BD-dir）× 遮挡几何 2 水平</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显露后行人首次注视时间；定位转换成本、遮挡体误锚定率；并列终点含漏检率、深度判断误差、晕动与不适</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整合</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交叉迁移区块 嵌入实验 3 与实验 5</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两套参数能否互换？</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情境（非盲区／盲区）× 方案来源（本情境入选／他情境入选）</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迁移损失 = 他情境方案绩效 − 本情境方案绩效，报告点估计与 95% 置信区间</a:t>
                      </a:r>
                    </a:p>
                  </a:txBody>
                  <a:tcPr>
                    <a:solidFill>
                      <a:srgbClr val="FAFBFD"/>
                    </a:solidFill>
                  </a:tcPr>
                </a:tc>
              </a:tr>
            </a:tbl>
          </a:graphicData>
        </a:graphic>
      </p:graphicFrame>
      <p:sp>
        <p:nvSpPr>
          <p:cNvPr id="7" name="Rectangle 6"/>
          <p:cNvSpPr/>
          <p:nvPr/>
        </p:nvSpPr>
        <p:spPr>
          <a:xfrm>
            <a:off x="584200" y="4648200"/>
            <a:ext cx="15087600" cy="81635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4200" y="4648200"/>
            <a:ext cx="63500" cy="81635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4648200"/>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auto"&gt;判定顺序（不评选单一冠军，结果以帕累托前沿呈现）：① 安全非劣——最小 TTMD 的组间差下限大于 −0.2 s 且碰撞率不高于基线；② 漏检非劣——未增强危险漏检率不高于基线（盲区情境下此条前置至第二位，依据 H4′）；③ 制动更平顺者；④ 认知代价更低者；⑤ 低可靠性下退化更小者；⑥ 仅在上述条件相当时，才以反应时与主观偏好定选。</a:t>
            </a:r>
          </a:p>
        </p:txBody>
      </p:sp>
      <p:sp>
        <p:nvSpPr>
          <p:cNvPr id="10" name="Rectangle 9"/>
          <p:cNvSpPr/>
          <p:nvPr/>
        </p:nvSpPr>
        <p:spPr>
          <a:xfrm>
            <a:off x="584200" y="5540756"/>
            <a:ext cx="7429500" cy="1247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5540756"/>
            <a:ext cx="7048500" cy="1170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被试与场次安排</a:t>
            </a:r>
          </a:p>
          <a:p>
            <a:pPr marL="5334" indent="-4572">
              <a:lnSpc>
                <a:spcPct val="182000"/>
              </a:lnSpc>
              <a:spcAft>
                <a:spcPts val="500"/>
              </a:spcAft>
            </a:pPr>
            <a:r>
              <a:rPr sz="1350" b="0">
                <a:solidFill>
                  <a:srgbClr val="1A1A1A"/>
                </a:solidFill>
                <a:latin typeface="微软雅黑"/>
              </a:rPr>
              <a:t>•  实验 1 与实验 2 复用同一批被试——自变量 Δt 需要被试自身的 t0。</a:t>
            </a:r>
          </a:p>
          <a:p>
            <a:pPr marL="5334" indent="-4572">
              <a:lnSpc>
                <a:spcPct val="182000"/>
              </a:lnSpc>
              <a:spcAft>
                <a:spcPts val="500"/>
              </a:spcAft>
            </a:pPr>
            <a:r>
              <a:rPr sz="1350" b="0">
                <a:solidFill>
                  <a:srgbClr val="1A1A1A"/>
                </a:solidFill>
                <a:latin typeface="微软雅黑"/>
              </a:rPr>
              <a:t>•  实验 4 无须复用被试——treveal 为几何量、被试间恒定，故 Δt′ 可直接操纵，招募约束大幅放宽。</a:t>
            </a:r>
          </a:p>
          <a:p>
            <a:pPr marL="5334" indent="-4572">
              <a:lnSpc>
                <a:spcPct val="182000"/>
              </a:lnSpc>
              <a:spcAft>
                <a:spcPts val="500"/>
              </a:spcAft>
            </a:pPr>
            <a:r>
              <a:rPr sz="1350" b="0">
                <a:solidFill>
                  <a:srgbClr val="1A1A1A"/>
                </a:solidFill>
                <a:latin typeface="微软雅黑"/>
              </a:rPr>
              <a:t>•  若招募资源受限，两项研究各由一批被试完成两个场次，场景集交叉替换并至少间隔 7 天；样本量按预实验方差与约 10% 脱落重算，穿透显影条件按 15% 估计。</a:t>
            </a:r>
          </a:p>
        </p:txBody>
      </p:sp>
      <p:sp>
        <p:nvSpPr>
          <p:cNvPr id="12" name="Rectangle 11"/>
          <p:cNvSpPr/>
          <p:nvPr/>
        </p:nvSpPr>
        <p:spPr>
          <a:xfrm>
            <a:off x="8242300" y="5540756"/>
            <a:ext cx="7429500" cy="1403032"/>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45500" y="5540756"/>
            <a:ext cx="7048500" cy="1326832"/>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统一场景族（实验 1／2／4 共用）</a:t>
            </a:r>
          </a:p>
          <a:p>
            <a:pPr marL="5334" indent="-4572">
              <a:lnSpc>
                <a:spcPct val="182000"/>
              </a:lnSpc>
              <a:spcAft>
                <a:spcPts val="500"/>
              </a:spcAft>
            </a:pPr>
            <a:r>
              <a:rPr sz="1350" b="0">
                <a:solidFill>
                  <a:srgbClr val="1A1A1A"/>
                </a:solidFill>
                <a:latin typeface="微软雅黑"/>
              </a:rPr>
              <a:t>•  遮挡体：路侧停放的同色厢式货车（近距侧方）与路侧公交车（远距前方），均取自已发表范式。</a:t>
            </a:r>
          </a:p>
          <a:p>
            <a:pPr marL="5334" indent="-4572">
              <a:lnSpc>
                <a:spcPct val="182000"/>
              </a:lnSpc>
              <a:spcAft>
                <a:spcPts val="500"/>
              </a:spcAft>
            </a:pPr>
            <a:r>
              <a:rPr sz="1350" b="0">
                <a:solidFill>
                  <a:srgbClr val="1A1A1A"/>
                </a:solidFill>
                <a:latin typeface="微软雅黑"/>
              </a:rPr>
              <a:t>•  行人：机动车道右边线外 2.5 m、斑马线外，步速 1.0 m/s（主）与 1.5 m/s（稳健性检查）。</a:t>
            </a:r>
          </a:p>
          <a:p>
            <a:pPr marL="5334" indent="-4572">
              <a:lnSpc>
                <a:spcPct val="182000"/>
              </a:lnSpc>
              <a:spcAft>
                <a:spcPts val="500"/>
              </a:spcAft>
            </a:pPr>
            <a:r>
              <a:rPr sz="1350" b="0">
                <a:solidFill>
                  <a:srgbClr val="1A1A1A"/>
                </a:solidFill>
                <a:latin typeface="微软雅黑"/>
              </a:rPr>
              <a:t>•  车速 40／60 km/h；tdetect 设于距行人 100 m（约 6 s @60 km/h）。车—人间隙落在 1.5–7 s，主实验取 3–7 s 决策模糊带；两端点为综述转引，不作效应量依据。</a:t>
            </a:r>
          </a:p>
        </p:txBody>
      </p:sp>
      <p:sp>
        <p:nvSpPr>
          <p:cNvPr id="14" name="TextBox 13"/>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方法学规范　共同规范与盲区情境特有的四项控制</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6 / 6</a:t>
            </a:r>
          </a:p>
        </p:txBody>
      </p:sp>
      <p:sp>
        <p:nvSpPr>
          <p:cNvPr id="6" name="Rectangle 5"/>
          <p:cNvSpPr/>
          <p:nvPr/>
        </p:nvSpPr>
        <p:spPr>
          <a:xfrm>
            <a:off x="584200" y="939800"/>
            <a:ext cx="7429500" cy="1828228"/>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7048500" cy="1752028"/>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两情境共同规范</a:t>
            </a:r>
          </a:p>
          <a:p>
            <a:pPr marL="5334" indent="-4572">
              <a:lnSpc>
                <a:spcPct val="182000"/>
              </a:lnSpc>
              <a:spcAft>
                <a:spcPts val="500"/>
              </a:spcAft>
            </a:pPr>
            <a:r>
              <a:rPr sz="1350" b="0">
                <a:solidFill>
                  <a:srgbClr val="1A1A1A"/>
                </a:solidFill>
                <a:latin typeface="微软雅黑"/>
              </a:rPr>
              <a:t>•  被试内设计加混合模型，被试与场景为随机效应；反应时按右偏分布处理。</a:t>
            </a:r>
          </a:p>
          <a:p>
            <a:pPr marL="5334" indent="-4572">
              <a:lnSpc>
                <a:spcPct val="182000"/>
              </a:lnSpc>
              <a:spcAft>
                <a:spcPts val="500"/>
              </a:spcAft>
            </a:pPr>
            <a:r>
              <a:rPr sz="1350" b="0">
                <a:solidFill>
                  <a:srgbClr val="1A1A1A"/>
                </a:solidFill>
                <a:latin typeface="微软雅黑"/>
              </a:rPr>
              <a:t>•  主要结局预注册；次要结局按错误发现率校正；报告估计差、95% 置信区间与效应量。</a:t>
            </a:r>
          </a:p>
          <a:p>
            <a:pPr marL="5334" indent="-4572">
              <a:lnSpc>
                <a:spcPct val="182000"/>
              </a:lnSpc>
              <a:spcAft>
                <a:spcPts val="500"/>
              </a:spcAft>
            </a:pPr>
            <a:r>
              <a:rPr sz="1350" b="0">
                <a:solidFill>
                  <a:srgbClr val="1A1A1A"/>
                </a:solidFill>
                <a:latin typeface="微软雅黑"/>
              </a:rPr>
              <a:t>•  眼动采用动态兴趣区、有效率不低于 80%，并区分四类兴趣区：警告、真实行人、遮挡体、未增强危险。</a:t>
            </a:r>
          </a:p>
          <a:p>
            <a:pPr marL="5334" indent="-4572">
              <a:lnSpc>
                <a:spcPct val="182000"/>
              </a:lnSpc>
              <a:spcAft>
                <a:spcPts val="500"/>
              </a:spcAft>
            </a:pPr>
            <a:r>
              <a:rPr sz="1350" b="0">
                <a:solidFill>
                  <a:srgbClr val="1A1A1A"/>
                </a:solidFill>
                <a:latin typeface="微软雅黑"/>
              </a:rPr>
              <a:t>•  相邻危险事件间隔取 60 秒。依据：次任务结束后分心影响仍持续 30 秒以上，取 60 秒留一倍冗余；并插入填充试次与捕获试次抑制预期与习惯化。</a:t>
            </a:r>
          </a:p>
          <a:p>
            <a:pPr marL="5334" indent="-4572">
              <a:lnSpc>
                <a:spcPct val="182000"/>
              </a:lnSpc>
              <a:spcAft>
                <a:spcPts val="500"/>
              </a:spcAft>
            </a:pPr>
            <a:r>
              <a:rPr sz="1350" b="0">
                <a:solidFill>
                  <a:srgbClr val="1A1A1A"/>
                </a:solidFill>
                <a:latin typeface="微软雅黑"/>
              </a:rPr>
              <a:t>•  样本量以最小具有实际意义的差异加混合模型模拟确定，并按预实验方差与约 10% 的眼动无效或晕动脱落重新计算；穿透显影条件按 15% 估计。</a:t>
            </a:r>
          </a:p>
          <a:p>
            <a:pPr marL="5334" indent="-4572">
              <a:lnSpc>
                <a:spcPct val="182000"/>
              </a:lnSpc>
              <a:spcAft>
                <a:spcPts val="500"/>
              </a:spcAft>
            </a:pPr>
            <a:r>
              <a:rPr sz="1350" b="0">
                <a:solidFill>
                  <a:srgbClr val="1A1A1A"/>
                </a:solidFill>
                <a:latin typeface="微软雅黑"/>
              </a:rPr>
              <a:t>•  被试与场次安排：实验 1 与实验 2 复用同一批被试；实验 4 因零点被试间恒定无须复用，可独立招募。</a:t>
            </a:r>
          </a:p>
        </p:txBody>
      </p:sp>
      <p:sp>
        <p:nvSpPr>
          <p:cNvPr id="8" name="Rectangle 7"/>
          <p:cNvSpPr/>
          <p:nvPr/>
        </p:nvSpPr>
        <p:spPr>
          <a:xfrm>
            <a:off x="8242300" y="939800"/>
            <a:ext cx="7429500" cy="183902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45500" y="939800"/>
            <a:ext cx="7048500" cy="176282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盲区情境特有的四项控制</a:t>
            </a:r>
          </a:p>
          <a:p>
            <a:pPr>
              <a:lnSpc>
                <a:spcPct val="180000"/>
              </a:lnSpc>
              <a:spcAft>
                <a:spcPts val="500"/>
              </a:spcAft>
            </a:pPr>
            <a:r>
              <a:rPr sz="1400" b="0">
                <a:solidFill>
                  <a:srgbClr val="1A1A1A"/>
                </a:solidFill>
                <a:latin typeface="微软雅黑"/>
              </a:rPr>
              <a:t>问题：遮挡场景高度可预期，被试经数试次即习得「遮挡体后必有行人」，从而以预期性注视代替对预警的响应，使效应量被系统性污染。</a:t>
            </a:r>
          </a:p>
          <a:p>
            <a:pPr>
              <a:lnSpc>
                <a:spcPct val="180000"/>
              </a:lnSpc>
              <a:spcAft>
                <a:spcPts val="500"/>
              </a:spcAft>
            </a:pPr>
            <a:r>
              <a:rPr sz="1400" b="0">
                <a:solidFill>
                  <a:srgbClr val="1A1A1A"/>
                </a:solidFill>
                <a:latin typeface="微软雅黑"/>
              </a:rPr>
              <a:t>残余局限（须在讨论中声明）：可预期性无法完全消除，故本研究的效应量相对真实突发遮挡事件的偏误方向不明，须并列陈述高估与低估两种可能，不得单向断言保守。</a:t>
            </a:r>
          </a:p>
          <a:p>
            <a:pPr marL="5334" indent="-4572">
              <a:lnSpc>
                <a:spcPct val="182000"/>
              </a:lnSpc>
              <a:spcAft>
                <a:spcPts val="500"/>
              </a:spcAft>
            </a:pPr>
            <a:r>
              <a:rPr sz="1350" b="0">
                <a:solidFill>
                  <a:srgbClr val="1A1A1A"/>
                </a:solidFill>
                <a:latin typeface="微软雅黑"/>
              </a:rPr>
              <a:t>•  ① 密度稀释。以填充试次把遮挡事件密度压至不超过总事件的四分之一。</a:t>
            </a:r>
          </a:p>
          <a:p>
            <a:pPr marL="5334" indent="-4572">
              <a:lnSpc>
                <a:spcPct val="182000"/>
              </a:lnSpc>
              <a:spcAft>
                <a:spcPts val="500"/>
              </a:spcAft>
            </a:pPr>
            <a:r>
              <a:rPr sz="1350" b="0">
                <a:solidFill>
                  <a:srgbClr val="1A1A1A"/>
                </a:solidFill>
                <a:latin typeface="微软雅黑"/>
              </a:rPr>
              <a:t>•  ② 捕获试次。设置遮挡体后无行人的试次，以测虚警条件下的行为，并使「遮挡必有行人」的规则不成立。</a:t>
            </a:r>
          </a:p>
          <a:p>
            <a:pPr marL="5334" indent="-4572">
              <a:lnSpc>
                <a:spcPct val="182000"/>
              </a:lnSpc>
              <a:spcAft>
                <a:spcPts val="500"/>
              </a:spcAft>
            </a:pPr>
            <a:r>
              <a:rPr sz="1350" b="0">
                <a:solidFill>
                  <a:srgbClr val="1A1A1A"/>
                </a:solidFill>
                <a:latin typeface="微软雅黑"/>
              </a:rPr>
              <a:t>•  ③ 序号协变量。在模型中把试次序号作为协变量，显式检验并报告学习效应。</a:t>
            </a:r>
          </a:p>
          <a:p>
            <a:pPr marL="5334" indent="-4572">
              <a:lnSpc>
                <a:spcPct val="182000"/>
              </a:lnSpc>
              <a:spcAft>
                <a:spcPts val="500"/>
              </a:spcAft>
            </a:pPr>
            <a:r>
              <a:rPr sz="1350" b="0">
                <a:solidFill>
                  <a:srgbClr val="1A1A1A"/>
                </a:solidFill>
                <a:latin typeface="微软雅黑"/>
              </a:rPr>
              <a:t>•  ④ 首试次单独分析。报告首个遮挡试次的单独结果，作为「无预期」条件的近似。</a:t>
            </a:r>
          </a:p>
        </p:txBody>
      </p:sp>
      <p:sp>
        <p:nvSpPr>
          <p:cNvPr id="10" name="Rectangle 9"/>
          <p:cNvSpPr/>
          <p:nvPr/>
        </p:nvSpPr>
        <p:spPr>
          <a:xfrm>
            <a:off x="584200" y="2855023"/>
            <a:ext cx="15087600" cy="81635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4200" y="2855023"/>
            <a:ext cx="63500" cy="81635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2855023"/>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auto"&gt;结论边界（七条，须在论文中显式声明）：① 短期模拟驾驶、视觉 AR-HUD、城市行人横穿，不外推长期使用与最后时刻的多模态干预；② 盲区限于单一遮挡体的几何遮挡，多重遮挡、行进车辆造成的间歇遮挡与天气致能见度下降均不在范围内；③ treveal 的解析解依赖遮挡体几何与眼点位置，跨车型须重算，本研究只提供解析式而非固定秒数；④ tdetect 在模拟器中为程序设定而非真实传感器性能，其随遮挡比例的退化曲线为已知缺口；⑤ 本研究的探测时刻设定依赖路侧与车路协同输入；⑥ 穿透显影条件受模拟器渲染保真度限制，不可外推至真实光学 AR-HUD；⑦ 遮挡场景可预期性的偏误方向不明。</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