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6256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46200" y="1524000"/>
            <a:ext cx="13563600" cy="3048000"/>
          </a:xfrm>
          <a:prstGeom prst="rect">
            <a:avLst/>
          </a:prstGeom>
          <a:noFill/>
        </p:spPr>
        <p:txBody>
          <a:bodyPr wrap="square" lIns="0" rIns="0" tIns="0" bIns="0">
            <a:spAutoFit/>
          </a:bodyPr>
          <a:lstStyle/>
          <a:p>
            <a:pPr algn="ctr">
              <a:lnSpc>
                <a:spcPct val="125000"/>
              </a:lnSpc>
            </a:pPr>
            <a:r>
              <a:rPr sz="3400" b="1">
                <a:solidFill>
                  <a:srgbClr val="2F528F"/>
                </a:solidFill>
                <a:latin typeface="微软雅黑"/>
              </a:rPr>
              <a:t>AR-HUD 行人碰撞预警的时空参数设计及其对驾驶员情境意识与避险绩效的影响</a:t>
            </a:r>
          </a:p>
        </p:txBody>
      </p:sp>
      <p:sp>
        <p:nvSpPr>
          <p:cNvPr id="4" name="TextBox 3"/>
          <p:cNvSpPr txBox="1"/>
          <p:nvPr/>
        </p:nvSpPr>
        <p:spPr>
          <a:xfrm>
            <a:off x="1346200" y="5080000"/>
            <a:ext cx="13563600" cy="1905000"/>
          </a:xfrm>
          <a:prstGeom prst="rect">
            <a:avLst/>
          </a:prstGeom>
          <a:noFill/>
        </p:spPr>
        <p:txBody>
          <a:bodyPr wrap="square" lIns="0" rIns="0" tIns="0" bIns="0">
            <a:spAutoFit/>
          </a:bodyPr>
          <a:lstStyle/>
          <a:p>
            <a:pPr algn="l">
              <a:lnSpc>
                <a:spcPct val="125000"/>
              </a:lnSpc>
            </a:pPr>
            <a:r>
              <a:rPr sz="1600" b="1">
                <a:solidFill>
                  <a:srgbClr val="2F528F"/>
                </a:solidFill>
                <a:latin typeface="微软雅黑"/>
              </a:rPr>
              <a:t>核心问题：探索 AR-HUD 行人碰撞预警的时空参数取值与驾驶员情境意识、避险绩效 之间的关系，输出兼顾安全阈限与用户心理需求的时空参数设计标准与关系模型。</a:t>
            </a:r>
          </a:p>
        </p:txBody>
      </p:sp>
      <p:sp>
        <p:nvSpPr>
          <p:cNvPr id="5" name="TextBox 4"/>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1 / 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研究背景　研究背景与研究意义</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706600" y="203200"/>
            <a:ext cx="9652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背景</a:t>
            </a:r>
          </a:p>
        </p:txBody>
      </p:sp>
      <p:sp>
        <p:nvSpPr>
          <p:cNvPr id="6" name="Rectangle 5"/>
          <p:cNvSpPr/>
          <p:nvPr/>
        </p:nvSpPr>
        <p:spPr>
          <a:xfrm>
            <a:off x="584200" y="939800"/>
            <a:ext cx="15087600" cy="656336"/>
          </a:xfrm>
          <a:prstGeom prst="rect">
            <a:avLst/>
          </a:prstGeom>
          <a:solidFill>
            <a:srgbClr val="D9E2F3"/>
          </a:solidFill>
          <a:ln w="1778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4200" y="939800"/>
            <a:ext cx="63500" cy="656336"/>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939800"/>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 全球每年约 135 万人死于道路交通事故，行人约占 23%（WHO, 2023）。传统低头显示要求视线移离前方道路， 产生视线离路时间；AR-HUD 把图形与真实目标逐帧配准，理论上可同时消除视线离路时间与「信息位置—危险位置」的对应成本。</a:t>
            </a:r>
          </a:p>
        </p:txBody>
      </p:sp>
      <p:sp>
        <p:nvSpPr>
          <p:cNvPr id="9" name="Rectangle 8"/>
          <p:cNvSpPr/>
          <p:nvPr/>
        </p:nvSpPr>
        <p:spPr>
          <a:xfrm>
            <a:off x="584200" y="1672336"/>
            <a:ext cx="15087600" cy="816356"/>
          </a:xfrm>
          <a:prstGeom prst="rect">
            <a:avLst/>
          </a:prstGeom>
          <a:solidFill>
            <a:srgbClr val="FDF2F2"/>
          </a:solidFill>
          <a:ln w="1778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84200" y="1672336"/>
            <a:ext cx="63500" cy="816356"/>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7400" y="1672336"/>
            <a:ext cx="14757400" cy="74015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 技术可行不等同于人因收益。本文献库 102 篇中存在三项方向相反的实证结果：贴地共形箭头把图形注视时长推至 3.33 s，越过分心上界（Gabbard 等, 2019）；TTC 5.0 s 的文本预警使峰值减速度上升 34.46%（Kim 等, 2018）； AR 系统随机故障时新手出现严重反应退化（Huo 与 Alla, 2025）。→ 决定效果的并非是否采用 AR，而是时空参数的取值。</a:t>
            </a:r>
          </a:p>
        </p:txBody>
      </p:sp>
      <p:sp>
        <p:nvSpPr>
          <p:cNvPr id="12" name="Rectangle 11"/>
          <p:cNvSpPr/>
          <p:nvPr/>
        </p:nvSpPr>
        <p:spPr>
          <a:xfrm>
            <a:off x="584200" y="2564892"/>
            <a:ext cx="7429500" cy="1247013"/>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7400" y="2564892"/>
            <a:ext cx="7048500" cy="1170813"/>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理论意义</a:t>
            </a:r>
          </a:p>
          <a:p>
            <a:pPr marL="5334" indent="-4572">
              <a:lnSpc>
                <a:spcPct val="182000"/>
              </a:lnSpc>
              <a:spcAft>
                <a:spcPts val="500"/>
              </a:spcAft>
            </a:pPr>
            <a:r>
              <a:rPr sz="1350" b="0">
                <a:solidFill>
                  <a:srgbClr val="1A1A1A"/>
                </a:solidFill>
                <a:latin typeface="微软雅黑"/>
              </a:rPr>
              <a:t>•  把预警时刻从枚举秒数改为由约束导出：建立运动学下界／可靠性上界／认知加工窗口的三重约束模型， 并以自发察觉时刻 t0 为零点实测其交集</a:t>
            </a:r>
          </a:p>
          <a:p>
            <a:pPr marL="5334" indent="-4572">
              <a:lnSpc>
                <a:spcPct val="182000"/>
              </a:lnSpc>
              <a:spcAft>
                <a:spcPts val="500"/>
              </a:spcAft>
            </a:pPr>
            <a:r>
              <a:rPr sz="1350" b="0">
                <a:solidFill>
                  <a:srgbClr val="1A1A1A"/>
                </a:solidFill>
                <a:latin typeface="微软雅黑"/>
              </a:rPr>
              <a:t>•  以 Δt 而非绝对 TTC 为自变量，为跨车速、跨研究的结论比较提供统一记法</a:t>
            </a:r>
          </a:p>
          <a:p>
            <a:pPr marL="5334" indent="-4572">
              <a:lnSpc>
                <a:spcPct val="182000"/>
              </a:lnSpc>
              <a:spcAft>
                <a:spcPts val="500"/>
              </a:spcAft>
            </a:pPr>
            <a:r>
              <a:rPr sz="1350" b="0">
                <a:solidFill>
                  <a:srgbClr val="1A1A1A"/>
                </a:solidFill>
                <a:latin typeface="微软雅黑"/>
              </a:rPr>
              <a:t>•  把「动态」拆为风险量级映射 × 运动趋势映射两个正交维度，检验其分别作用于情境意识的哪一层级</a:t>
            </a:r>
          </a:p>
        </p:txBody>
      </p:sp>
      <p:sp>
        <p:nvSpPr>
          <p:cNvPr id="14" name="Rectangle 13"/>
          <p:cNvSpPr/>
          <p:nvPr/>
        </p:nvSpPr>
        <p:spPr>
          <a:xfrm>
            <a:off x="8242300" y="2564892"/>
            <a:ext cx="7429500" cy="1247013"/>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45500" y="2564892"/>
            <a:ext cx="7048500" cy="1170813"/>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应用意义</a:t>
            </a:r>
          </a:p>
          <a:p>
            <a:pPr marL="5334" indent="-4572">
              <a:lnSpc>
                <a:spcPct val="182000"/>
              </a:lnSpc>
              <a:spcAft>
                <a:spcPts val="500"/>
              </a:spcAft>
            </a:pPr>
            <a:r>
              <a:rPr sz="1350" b="0">
                <a:solidFill>
                  <a:srgbClr val="1A1A1A"/>
                </a:solidFill>
                <a:latin typeface="微软雅黑"/>
              </a:rPr>
              <a:t>•  输出六项可落地的参数区间：出现时机 · 触发准则 · 持续与撤销 · 级间间隔 · 锁定策略 · 动态编码</a:t>
            </a:r>
          </a:p>
          <a:p>
            <a:pPr marL="5334" indent="-4572">
              <a:lnSpc>
                <a:spcPct val="182000"/>
              </a:lnSpc>
              <a:spcAft>
                <a:spcPts val="500"/>
              </a:spcAft>
            </a:pPr>
            <a:r>
              <a:rPr sz="1350" b="0">
                <a:solidFill>
                  <a:srgbClr val="1A1A1A"/>
                </a:solidFill>
                <a:latin typeface="微软雅黑"/>
              </a:rPr>
              <a:t>•  参数以运动学量（制动威胁数 BTN）而非固定秒数表达，可跨车速迁移，并与量产 AEB 时序对齐</a:t>
            </a:r>
          </a:p>
          <a:p>
            <a:pPr marL="5334" indent="-4572">
              <a:lnSpc>
                <a:spcPct val="182000"/>
              </a:lnSpc>
              <a:spcAft>
                <a:spcPts val="500"/>
              </a:spcAft>
            </a:pPr>
            <a:r>
              <a:rPr sz="1350" b="0">
                <a:solidFill>
                  <a:srgbClr val="1A1A1A"/>
                </a:solidFill>
                <a:latin typeface="微软雅黑"/>
              </a:rPr>
              <a:t>•  面向中国新手驾驶员，为车载显示的人因评估条款提供实证依据</a:t>
            </a:r>
          </a:p>
        </p:txBody>
      </p:sp>
      <p:sp>
        <p:nvSpPr>
          <p:cNvPr id="16" name="TextBox 15"/>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2 / 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文献综述　参数一 预警提前量 Δt</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3563600" y="203200"/>
            <a:ext cx="21082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参数 1 / 7</a:t>
            </a:r>
          </a:p>
        </p:txBody>
      </p:sp>
      <p:sp>
        <p:nvSpPr>
          <p:cNvPr id="6" name="Rectangle 5"/>
          <p:cNvSpPr/>
          <p:nvPr/>
        </p:nvSpPr>
        <p:spPr>
          <a:xfrm>
            <a:off x="584200" y="939800"/>
            <a:ext cx="15087600" cy="656336"/>
          </a:xfrm>
          <a:prstGeom prst="rect">
            <a:avLst/>
          </a:prstGeom>
          <a:solidFill>
            <a:srgbClr val="D9E2F3"/>
          </a:solidFill>
          <a:ln w="1778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4200" y="939800"/>
            <a:ext cx="63500" cy="656336"/>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939800"/>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&gt;待定参数：预警的触发时刻。既有研究一律以「距冲突的剩余时间」（绝对 TTC）表述。</a:t>
            </a:r>
          </a:p>
        </p:txBody>
      </p:sp>
      <p:sp>
        <p:nvSpPr>
          <p:cNvPr id="9" name="TextBox 8"/>
          <p:cNvSpPr txBox="1"/>
          <p:nvPr/>
        </p:nvSpPr>
        <p:spPr>
          <a:xfrm>
            <a:off x="584200" y="1672336"/>
            <a:ext cx="15087600" cy="1423416"/>
          </a:xfrm>
          <a:prstGeom prst="rect">
            <a:avLst/>
          </a:prstGeom>
          <a:noFill/>
        </p:spPr>
        <p:txBody>
          <a:bodyPr wrap="square" lIns="0" rIns="0" tIns="0" bIns="0">
            <a:spAutoFit/>
          </a:bodyPr>
          <a:lstStyle/>
          <a:p>
            <a:pPr>
              <a:lnSpc>
                <a:spcPct val="170000"/>
              </a:lnSpc>
              <a:spcAft>
                <a:spcPts val="500"/>
              </a:spcAft>
            </a:pPr>
            <a:r>
              <a:rPr sz="1600" b="1">
                <a:solidFill>
                  <a:srgbClr val="1A1A1A"/>
                </a:solidFill>
                <a:latin typeface="微软雅黑"/>
              </a:rPr>
              <a:t>▍已定　Zhang 等（2015）的七档梯度对照是本库唯一的梯度证据：TTC 2.5 s 与无预警条件无显著差异（碰撞率 29.4% 对 44.1%），出现显著改善的下限为 3.0 s，推荐区间 3.0–4.0 s。</a:t>
            </a:r>
          </a:p>
          <a:p>
            <a:pPr>
              <a:lnSpc>
                <a:spcPct val="170000"/>
              </a:lnSpc>
              <a:spcAft>
                <a:spcPts val="500"/>
              </a:spcAft>
            </a:pPr>
            <a:r>
              <a:rPr sz="1600" b="1">
                <a:solidFill>
                  <a:srgbClr val="1A1A1A"/>
                </a:solidFill>
                <a:latin typeface="微软雅黑"/>
              </a:rPr>
              <a:t>▍未定　同一取值 5.0 s 上存在三种相反结论——显著缩短反应时（Kang 等, 2016）、峰值减速度上升 34.46%（Kim 等, 2018）、无显著增益（Wang 等, 2025）；可识别的第三变量为车速与呈现模态。更根本的是：t0 从未被作为基准量测量，全部研究把预警设在绝对 TTC 上，隐含「驾驶员在预警前对行人一无所知」，而 Winkler 等（2018）报告 50% 被试在预警呈现前已开始制动。</a:t>
            </a:r>
          </a:p>
          <a:p>
            <a:pPr>
              <a:lnSpc>
                <a:spcPct val="170000"/>
              </a:lnSpc>
              <a:spcAft>
                <a:spcPts val="500"/>
              </a:spcAft>
            </a:pPr>
            <a:r>
              <a:rPr sz="1600" b="1">
                <a:solidFill>
                  <a:srgbClr val="1A1A1A"/>
                </a:solidFill>
                <a:latin typeface="微软雅黑"/>
              </a:rPr>
              <a:t>▍本研究取值　自变量由绝对 TTC 改为相对提前量 Δt = t0 − twarn，取 0 ／ +1.0 ／ +2.5 s 三水平，使不同车速下的条件在信息增益上等价。</a:t>
            </a:r>
          </a:p>
          <a:p>
            <a:pPr>
              <a:lnSpc>
                <a:spcPct val="170000"/>
              </a:lnSpc>
              <a:spcAft>
                <a:spcPts val="500"/>
              </a:spcAft>
            </a:pPr>
            <a:r>
              <a:rPr sz="1600" b="1">
                <a:solidFill>
                  <a:srgbClr val="1A1A1A"/>
                </a:solidFill>
                <a:latin typeface="微软雅黑"/>
              </a:rPr>
              <a:t>▍去处　t0 由研究一实测（空白 G1）→ Δt 作为实验 2 的自变量。</a:t>
            </a:r>
          </a:p>
        </p:txBody>
      </p:sp>
      <p:sp>
        <p:nvSpPr>
          <p:cNvPr id="10" name="TextBox 9"/>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3 / 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文献综述　参数二 触发准则</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3563600" y="203200"/>
            <a:ext cx="21082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参数 2 / 7</a:t>
            </a:r>
          </a:p>
        </p:txBody>
      </p:sp>
      <p:sp>
        <p:nvSpPr>
          <p:cNvPr id="6" name="Rectangle 5"/>
          <p:cNvSpPr/>
          <p:nvPr/>
        </p:nvSpPr>
        <p:spPr>
          <a:xfrm>
            <a:off x="584200" y="939800"/>
            <a:ext cx="15087600" cy="656336"/>
          </a:xfrm>
          <a:prstGeom prst="rect">
            <a:avLst/>
          </a:prstGeom>
          <a:solidFill>
            <a:srgbClr val="D9E2F3"/>
          </a:solidFill>
          <a:ln w="1778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4200" y="939800"/>
            <a:ext cx="63500" cy="656336"/>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939800"/>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&gt;待定参数：触发条件所依据的物理量——固定时间阈值（TTC），或制动威胁数 BTN（＝避险所需减速度／最大可用减速度，无量纲）。</a:t>
            </a:r>
          </a:p>
        </p:txBody>
      </p:sp>
      <p:sp>
        <p:nvSpPr>
          <p:cNvPr id="9" name="TextBox 8"/>
          <p:cNvSpPr txBox="1"/>
          <p:nvPr/>
        </p:nvSpPr>
        <p:spPr>
          <a:xfrm>
            <a:off x="584200" y="1672336"/>
            <a:ext cx="15087600" cy="1423416"/>
          </a:xfrm>
          <a:prstGeom prst="rect">
            <a:avLst/>
          </a:prstGeom>
          <a:noFill/>
        </p:spPr>
        <p:txBody>
          <a:bodyPr wrap="square" lIns="0" rIns="0" tIns="0" bIns="0">
            <a:spAutoFit/>
          </a:bodyPr>
          <a:lstStyle/>
          <a:p>
            <a:pPr>
              <a:lnSpc>
                <a:spcPct val="170000"/>
              </a:lnSpc>
              <a:spcAft>
                <a:spcPts val="500"/>
              </a:spcAft>
            </a:pPr>
            <a:r>
              <a:rPr sz="1600" b="1">
                <a:solidFill>
                  <a:srgbClr val="1A1A1A"/>
                </a:solidFill>
                <a:latin typeface="微软雅黑"/>
              </a:rPr>
              <a:t>▍已定　算法侧四项研究一致主张以运动学量而非固定秒数触发：Takada 等（2014）的减速度触发准则（触发 4.0／解除 2.0 m/s²，2 : 1 滞环）、Chen 等（2013）的双条件、Coelingh 等（2010）的量产 AEB 时序（物理最早 1.6 s、制动建立 0.68 s）、Char（2020）基于 3 700 例事故重建的检出率。</a:t>
            </a:r>
          </a:p>
          <a:p>
            <a:pPr>
              <a:lnSpc>
                <a:spcPct val="170000"/>
              </a:lnSpc>
              <a:spcAft>
                <a:spcPts val="500"/>
              </a:spcAft>
            </a:pPr>
            <a:r>
              <a:rPr sz="1600" b="1">
                <a:solidFill>
                  <a:srgbClr val="1A1A1A"/>
                </a:solidFill>
                <a:latin typeface="微软雅黑"/>
              </a:rPr>
              <a:t>▍未定　固定时间阈值跨车速失效：TTC 2 s 在 40 km/h 下对应 BTN 0.35，在 80 km/h 下对应 0.69，运动学难度相差一倍，故以固定秒数表述的参数在物理上不可跨车速迁移。但人因侧从未做过准则类型的对照实验（空白 G2）。</a:t>
            </a:r>
          </a:p>
          <a:p>
            <a:pPr>
              <a:lnSpc>
                <a:spcPct val="170000"/>
              </a:lnSpc>
              <a:spcAft>
                <a:spcPts val="500"/>
              </a:spcAft>
            </a:pPr>
            <a:r>
              <a:rPr sz="1600" b="1">
                <a:solidFill>
                  <a:srgbClr val="1A1A1A"/>
                </a:solidFill>
                <a:latin typeface="微软雅黑"/>
              </a:rPr>
              <a:t>▍本研究取值　实验 2 把准则类型设为自变量（固定时间阈值／减速度归一化）。BTN 分母统一取 amax = 8 m/s²，并另以研究一实测的舒适减速度为分母并列报告，不择一而用。</a:t>
            </a:r>
          </a:p>
          <a:p>
            <a:pPr>
              <a:lnSpc>
                <a:spcPct val="170000"/>
              </a:lnSpc>
              <a:spcAft>
                <a:spcPts val="500"/>
              </a:spcAft>
            </a:pPr>
            <a:r>
              <a:rPr sz="1600" b="1">
                <a:solidFill>
                  <a:srgbClr val="1A1A1A"/>
                </a:solidFill>
                <a:latin typeface="微软雅黑"/>
              </a:rPr>
              <a:t>▍去处　实验 2 自变量；BTN 同时作为实验 5 风险量级映射的映射源。</a:t>
            </a:r>
          </a:p>
        </p:txBody>
      </p:sp>
      <p:sp>
        <p:nvSpPr>
          <p:cNvPr id="10" name="TextBox 9"/>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4 / 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文献综述　参数三 分层结构与级间间隔</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3563600" y="203200"/>
            <a:ext cx="21082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参数 3 / 7</a:t>
            </a:r>
          </a:p>
        </p:txBody>
      </p:sp>
      <p:sp>
        <p:nvSpPr>
          <p:cNvPr id="6" name="Rectangle 5"/>
          <p:cNvSpPr/>
          <p:nvPr/>
        </p:nvSpPr>
        <p:spPr>
          <a:xfrm>
            <a:off x="584200" y="939800"/>
            <a:ext cx="15087600" cy="656336"/>
          </a:xfrm>
          <a:prstGeom prst="rect">
            <a:avLst/>
          </a:prstGeom>
          <a:solidFill>
            <a:srgbClr val="D9E2F3"/>
          </a:solidFill>
          <a:ln w="1778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4200" y="939800"/>
            <a:ext cx="63500" cy="656336"/>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939800"/>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&gt;待定参数：级数、各级触发点与级间间隔。分层的主张并非增加信息量，而是使预警强度与风险阶段相匹配。</a:t>
            </a:r>
          </a:p>
        </p:txBody>
      </p:sp>
      <p:sp>
        <p:nvSpPr>
          <p:cNvPr id="9" name="TextBox 8"/>
          <p:cNvSpPr txBox="1"/>
          <p:nvPr/>
        </p:nvSpPr>
        <p:spPr>
          <a:xfrm>
            <a:off x="584200" y="1672336"/>
            <a:ext cx="15087600" cy="1423416"/>
          </a:xfrm>
          <a:prstGeom prst="rect">
            <a:avLst/>
          </a:prstGeom>
          <a:noFill/>
        </p:spPr>
        <p:txBody>
          <a:bodyPr wrap="square" lIns="0" rIns="0" tIns="0" bIns="0">
            <a:spAutoFit/>
          </a:bodyPr>
          <a:lstStyle/>
          <a:p>
            <a:pPr>
              <a:lnSpc>
                <a:spcPct val="170000"/>
              </a:lnSpc>
              <a:spcAft>
                <a:spcPts val="500"/>
              </a:spcAft>
            </a:pPr>
            <a:r>
              <a:rPr sz="1600" b="1">
                <a:solidFill>
                  <a:srgbClr val="1A1A1A"/>
                </a:solidFill>
                <a:latin typeface="微软雅黑"/>
              </a:rPr>
              <a:t>▍已定　四条产业级级联时序共同界定区间 0.5–2.0 s，且越接近碰撞间隔越短（Lubbe, 2017：0.7 s；Daimler 转引：1.4／1.0／0.5 s；Suzuki 等, 2010：档距 1.0 s）；其中 1.0 s 获双源支持。Phan（2016）的覆盖人群百分位为第二级锚点提供依据：TTC 2.0 s 覆盖 90%。</a:t>
            </a:r>
          </a:p>
          <a:p>
            <a:pPr>
              <a:lnSpc>
                <a:spcPct val="170000"/>
              </a:lnSpc>
              <a:spcAft>
                <a:spcPts val="500"/>
              </a:spcAft>
            </a:pPr>
            <a:r>
              <a:rPr sz="1600" b="1">
                <a:solidFill>
                  <a:srgbClr val="1A1A1A"/>
                </a:solidFill>
                <a:latin typeface="微软雅黑"/>
              </a:rPr>
              <a:t>▍未定　上述区间全部来自产业实现的时序，本库无一项以级间间隔为自变量的人因实验（空白 G4）；因此间隔过短是否导致理解不及、过长是否造成重复提醒、是否存在倒 U 型最优区间，均无从判断。常被引用的 0.7 s 实为单一来源，且可能使两级警告在知觉上融合为单一刺激。</a:t>
            </a:r>
          </a:p>
          <a:p>
            <a:pPr>
              <a:lnSpc>
                <a:spcPct val="170000"/>
              </a:lnSpc>
              <a:spcAft>
                <a:spcPts val="500"/>
              </a:spcAft>
            </a:pPr>
            <a:r>
              <a:rPr sz="1600" b="1">
                <a:solidFill>
                  <a:srgbClr val="1A1A1A"/>
                </a:solidFill>
                <a:latin typeface="微软雅黑"/>
              </a:rPr>
              <a:t>▍本研究取值　实验 3 以级间间隔 0.7 ／ 1.0 ／ 1.5 s 为自变量，另加无警告基线与实验 2 入选单层方案两个对照；并设状态条件化升级仲裁——第二级前若已检测到 aego &lt; −0.075 g 则取消升级。</a:t>
            </a:r>
          </a:p>
          <a:p>
            <a:pPr>
              <a:lnSpc>
                <a:spcPct val="170000"/>
              </a:lnSpc>
              <a:spcAft>
                <a:spcPts val="500"/>
              </a:spcAft>
            </a:pPr>
            <a:r>
              <a:rPr sz="1600" b="1">
                <a:solidFill>
                  <a:srgbClr val="1A1A1A"/>
                </a:solidFill>
                <a:latin typeface="微软雅黑"/>
              </a:rPr>
              <a:t>▍去处　实验 3 自变量；升级仲裁的取消率／错误率作为过程指标。</a:t>
            </a:r>
          </a:p>
        </p:txBody>
      </p:sp>
      <p:sp>
        <p:nvSpPr>
          <p:cNvPr id="10" name="TextBox 9"/>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5 / 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文献综述　参数四 持续时长与撤销策略</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3563600" y="203200"/>
            <a:ext cx="21082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参数 4 / 7</a:t>
            </a:r>
          </a:p>
        </p:txBody>
      </p:sp>
      <p:sp>
        <p:nvSpPr>
          <p:cNvPr id="6" name="Rectangle 5"/>
          <p:cNvSpPr/>
          <p:nvPr/>
        </p:nvSpPr>
        <p:spPr>
          <a:xfrm>
            <a:off x="584200" y="939800"/>
            <a:ext cx="15087600" cy="656336"/>
          </a:xfrm>
          <a:prstGeom prst="rect">
            <a:avLst/>
          </a:prstGeom>
          <a:solidFill>
            <a:srgbClr val="D9E2F3"/>
          </a:solidFill>
          <a:ln w="1778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4200" y="939800"/>
            <a:ext cx="63500" cy="656336"/>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939800"/>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&gt;待定参数：在屏持续时长与退出方式（硬切／渐隐／滞环）。该参数在七项中证据最为薄弱。</a:t>
            </a:r>
          </a:p>
        </p:txBody>
      </p:sp>
      <p:sp>
        <p:nvSpPr>
          <p:cNvPr id="9" name="TextBox 8"/>
          <p:cNvSpPr txBox="1"/>
          <p:nvPr/>
        </p:nvSpPr>
        <p:spPr>
          <a:xfrm>
            <a:off x="584200" y="1672336"/>
            <a:ext cx="15087600" cy="1423416"/>
          </a:xfrm>
          <a:prstGeom prst="rect">
            <a:avLst/>
          </a:prstGeom>
          <a:noFill/>
        </p:spPr>
        <p:txBody>
          <a:bodyPr wrap="square" lIns="0" rIns="0" tIns="0" bIns="0">
            <a:spAutoFit/>
          </a:bodyPr>
          <a:lstStyle/>
          <a:p>
            <a:pPr>
              <a:lnSpc>
                <a:spcPct val="170000"/>
              </a:lnSpc>
              <a:spcAft>
                <a:spcPts val="500"/>
              </a:spcAft>
            </a:pPr>
            <a:r>
              <a:rPr sz="1600" b="1">
                <a:solidFill>
                  <a:srgbClr val="1A1A1A"/>
                </a:solidFill>
                <a:latin typeface="微软雅黑"/>
              </a:rPr>
              <a:t>▍已定　固定时长型研究多取 3 s（Ma 等, 2021；Ye 与 Yin, 2025）。撤销侧唯一可用规则为 Takada 等（2014）的 2 : 1 滞环。本研究综合的理论上下界：下界 ≥ 500 ms（注意定向 150–300 ms ＋ 信息提取 300–500 ms）、上界 ≤ 3 s（单通道视觉须留出视线回到道路的窗口）。</a:t>
            </a:r>
          </a:p>
          <a:p>
            <a:pPr>
              <a:lnSpc>
                <a:spcPct val="170000"/>
              </a:lnSpc>
              <a:spcAft>
                <a:spcPts val="500"/>
              </a:spcAft>
            </a:pPr>
            <a:r>
              <a:rPr sz="1600" b="1">
                <a:solidFill>
                  <a:srgbClr val="1A1A1A"/>
                </a:solidFill>
                <a:latin typeface="微软雅黑"/>
              </a:rPr>
              <a:t>▍未定　持续时长的报告率不足 15%，而「1 s／2 s／3 s／至危险解除」这一最基本的对照本库无一篇（空白 G3）；渐隐时长没有任何文献支撑。Ma 等（2021）自陈其 3 s 为工程经验值而非实证最优值。</a:t>
            </a:r>
          </a:p>
          <a:p>
            <a:pPr>
              <a:lnSpc>
                <a:spcPct val="170000"/>
              </a:lnSpc>
              <a:spcAft>
                <a:spcPts val="500"/>
              </a:spcAft>
            </a:pPr>
            <a:r>
              <a:rPr sz="1600" b="1">
                <a:solidFill>
                  <a:srgbClr val="1A1A1A"/>
                </a:solidFill>
                <a:latin typeface="微软雅黑"/>
              </a:rPr>
              <a:t>▍本研究取值　实验 2 设区块 B，比较固定 1.5 s ／ 状态维持 ／ 风险耦合衰减三种策略，主要终点取漏检率与视觉占用而非仅反应时；渐隐参数按推导值执行，并在论文中显式标注为无文献支撑。</a:t>
            </a:r>
          </a:p>
          <a:p>
            <a:pPr>
              <a:lnSpc>
                <a:spcPct val="170000"/>
              </a:lnSpc>
              <a:spcAft>
                <a:spcPts val="500"/>
              </a:spcAft>
            </a:pPr>
            <a:r>
              <a:rPr sz="1600" b="1">
                <a:solidFill>
                  <a:srgbClr val="1A1A1A"/>
                </a:solidFill>
                <a:latin typeface="微软雅黑"/>
              </a:rPr>
              <a:t>▍去处　实验 2 区块 B；所有条件间固定闪烁状态，以免反应时差异被归因于闪烁。</a:t>
            </a:r>
          </a:p>
        </p:txBody>
      </p:sp>
      <p:sp>
        <p:nvSpPr>
          <p:cNvPr id="10" name="TextBox 9"/>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6 / 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文献综述　参数五 系统可靠性与虚警代价</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3563600" y="203200"/>
            <a:ext cx="21082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参数 5 / 7</a:t>
            </a:r>
          </a:p>
        </p:txBody>
      </p:sp>
      <p:sp>
        <p:nvSpPr>
          <p:cNvPr id="6" name="Rectangle 5"/>
          <p:cNvSpPr/>
          <p:nvPr/>
        </p:nvSpPr>
        <p:spPr>
          <a:xfrm>
            <a:off x="584200" y="939800"/>
            <a:ext cx="15087600" cy="656336"/>
          </a:xfrm>
          <a:prstGeom prst="rect">
            <a:avLst/>
          </a:prstGeom>
          <a:solidFill>
            <a:srgbClr val="D9E2F3"/>
          </a:solidFill>
          <a:ln w="1778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4200" y="939800"/>
            <a:ext cx="63500" cy="656336"/>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939800"/>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&gt;待定参数：可容许的虚警率与漏报率上限。该参数同时确定提前量的上界——预警不得早于算法可作可靠判断的时刻。</a:t>
            </a:r>
          </a:p>
        </p:txBody>
      </p:sp>
      <p:sp>
        <p:nvSpPr>
          <p:cNvPr id="9" name="TextBox 8"/>
          <p:cNvSpPr txBox="1"/>
          <p:nvPr/>
        </p:nvSpPr>
        <p:spPr>
          <a:xfrm>
            <a:off x="584200" y="1672336"/>
            <a:ext cx="15087600" cy="1423416"/>
          </a:xfrm>
          <a:prstGeom prst="rect">
            <a:avLst/>
          </a:prstGeom>
          <a:noFill/>
        </p:spPr>
        <p:txBody>
          <a:bodyPr wrap="square" lIns="0" rIns="0" tIns="0" bIns="0">
            <a:spAutoFit/>
          </a:bodyPr>
          <a:lstStyle/>
          <a:p>
            <a:pPr>
              <a:lnSpc>
                <a:spcPct val="170000"/>
              </a:lnSpc>
              <a:spcAft>
                <a:spcPts val="500"/>
              </a:spcAft>
            </a:pPr>
            <a:r>
              <a:rPr sz="1600" b="1">
                <a:solidFill>
                  <a:srgbClr val="1A1A1A"/>
                </a:solidFill>
                <a:latin typeface="微软雅黑"/>
              </a:rPr>
              <a:t>▍已定　Schall 等（2013）：15% 误报 ＋ 15% 漏报（可靠性 85%）对所有因变量均无显著效应，其关键条件为提示提前 11–13 s、语义为警示级、不要求立即动作；同一系统使老年驾驶员行人检出率由 66.10% 升至 91.13%。工程可达水平：骚扰报警占比 13.74%（Wang 等, 2026）。</a:t>
            </a:r>
          </a:p>
          <a:p>
            <a:pPr>
              <a:lnSpc>
                <a:spcPct val="170000"/>
              </a:lnSpc>
              <a:spcAft>
                <a:spcPts val="500"/>
              </a:spcAft>
            </a:pPr>
            <a:r>
              <a:rPr sz="1600" b="1">
                <a:solidFill>
                  <a:srgbClr val="1A1A1A"/>
                </a:solidFill>
                <a:latin typeface="微软雅黑"/>
              </a:rPr>
              <a:t>▍未定　Abe 与 Richardson（2006）在要求立即制动的条件下得到强效应：信任由 7.3 降至 4.3，晚报警反使制动反应时由 0.95 延长至 1.07 s。两处结论的第三变量是行动要求强度，但可靠性与提前量的交互从未被检验（空白 G5）。</a:t>
            </a:r>
          </a:p>
          <a:p>
            <a:pPr>
              <a:lnSpc>
                <a:spcPct val="170000"/>
              </a:lnSpc>
              <a:spcAft>
                <a:spcPts val="500"/>
              </a:spcAft>
            </a:pPr>
            <a:r>
              <a:rPr sz="1600" b="1">
                <a:solidFill>
                  <a:srgbClr val="1A1A1A"/>
                </a:solidFill>
                <a:latin typeface="微软雅黑"/>
              </a:rPr>
              <a:t>▍本研究取值　实验 3 把系统可靠性设为自变量，并把虚警只施加在第一级（低行动要求级别），据此检验「虚警代价随行动要求强度递增」这一预测，同时分离可靠性与时机的交互。</a:t>
            </a:r>
          </a:p>
          <a:p>
            <a:pPr>
              <a:lnSpc>
                <a:spcPct val="170000"/>
              </a:lnSpc>
              <a:spcAft>
                <a:spcPts val="500"/>
              </a:spcAft>
            </a:pPr>
            <a:r>
              <a:rPr sz="1600" b="1">
                <a:solidFill>
                  <a:srgbClr val="1A1A1A"/>
                </a:solidFill>
                <a:latin typeface="微软雅黑"/>
              </a:rPr>
              <a:t>▍去处　实验 3 自变量；并作为 Δt 上界的约束来源（三重约束模型之一）。</a:t>
            </a:r>
          </a:p>
        </p:txBody>
      </p:sp>
      <p:sp>
        <p:nvSpPr>
          <p:cNvPr id="10" name="TextBox 9"/>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7 / 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文献综述　参数六 空间参照系与锁定策略</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3563600" y="203200"/>
            <a:ext cx="21082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参数 6 / 7</a:t>
            </a:r>
          </a:p>
        </p:txBody>
      </p:sp>
      <p:sp>
        <p:nvSpPr>
          <p:cNvPr id="6" name="Rectangle 5"/>
          <p:cNvSpPr/>
          <p:nvPr/>
        </p:nvSpPr>
        <p:spPr>
          <a:xfrm>
            <a:off x="584200" y="939800"/>
            <a:ext cx="15087600" cy="656336"/>
          </a:xfrm>
          <a:prstGeom prst="rect">
            <a:avLst/>
          </a:prstGeom>
          <a:solidFill>
            <a:srgbClr val="D9E2F3"/>
          </a:solidFill>
          <a:ln w="1778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4200" y="939800"/>
            <a:ext cx="63500" cy="656336"/>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939800"/>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&gt;待定参数：图形锁定于何处——BD 屏幕／视线固定、BR 道路／冲突点锁定、BW 跟随危险行人的目标锁定（记法沿用 Wu 等, 2024）。</a:t>
            </a:r>
          </a:p>
        </p:txBody>
      </p:sp>
      <p:sp>
        <p:nvSpPr>
          <p:cNvPr id="9" name="TextBox 8"/>
          <p:cNvSpPr txBox="1"/>
          <p:nvPr/>
        </p:nvSpPr>
        <p:spPr>
          <a:xfrm>
            <a:off x="584200" y="1672336"/>
            <a:ext cx="15087600" cy="1250696"/>
          </a:xfrm>
          <a:prstGeom prst="rect">
            <a:avLst/>
          </a:prstGeom>
          <a:noFill/>
        </p:spPr>
        <p:txBody>
          <a:bodyPr wrap="square" lIns="0" rIns="0" tIns="0" bIns="0">
            <a:spAutoFit/>
          </a:bodyPr>
          <a:lstStyle/>
          <a:p>
            <a:pPr>
              <a:lnSpc>
                <a:spcPct val="170000"/>
              </a:lnSpc>
              <a:spcAft>
                <a:spcPts val="500"/>
              </a:spcAft>
            </a:pPr>
            <a:r>
              <a:rPr sz="1600" b="1">
                <a:solidFill>
                  <a:srgbClr val="1A1A1A"/>
                </a:solidFill>
                <a:latin typeface="微软雅黑"/>
              </a:rPr>
              <a:t>▍已定　Wu 等（2024，N = 36）三方对照的首次注视时间：BW 617 ms、BD 2 563 ms、BR 2 730 ms，差异接近 4 倍。Lind（2007）四方对照：碰撞预警平视显示的制动反应时快约 200 ms，漏报 1 次对高位下视显示 17 次。</a:t>
            </a:r>
          </a:p>
          <a:p>
            <a:pPr>
              <a:lnSpc>
                <a:spcPct val="170000"/>
              </a:lnSpc>
              <a:spcAft>
                <a:spcPts val="500"/>
              </a:spcAft>
            </a:pPr>
            <a:r>
              <a:rPr sz="1600" b="1">
                <a:solidFill>
                  <a:srgbClr val="1A1A1A"/>
                </a:solidFill>
                <a:latin typeface="微软雅黑"/>
              </a:rPr>
              <a:t>▍未定　BD／BR／BW／BW+BR 的正交对照至今无一实现，亦无一项操纵背景视觉复杂度（空白 G6）。更需辨析的是：碰撞预警平视显示本身即屏幕固定式前视野显示，却已取得上述优势，故 AR 的收益必须拆为位置增益（把信息搬进前视野）与共形增益（图形贴合真实目标）两项，混计会系统性高估共形性。</a:t>
            </a:r>
          </a:p>
          <a:p>
            <a:pPr>
              <a:lnSpc>
                <a:spcPct val="170000"/>
              </a:lnSpc>
              <a:spcAft>
                <a:spcPts val="500"/>
              </a:spcAft>
            </a:pPr>
            <a:r>
              <a:rPr sz="1600" b="1">
                <a:solidFill>
                  <a:srgbClr val="1A1A1A"/>
                </a:solidFill>
                <a:latin typeface="微软雅黑"/>
              </a:rPr>
              <a:t>▍本研究取值　实验 4 采用五水平正交对照（Baseline／BD／BR／BW／BW+BR）× 背景视觉复杂度，时间参数全部固定为实验 2–3 入选组合；因 BD 已含位置增益，样本量按更小的增量效应估计。另设区块 F（BD／BW × 次任务负荷）检验共形增益是否依赖负荷。</a:t>
            </a:r>
          </a:p>
          <a:p>
            <a:pPr>
              <a:lnSpc>
                <a:spcPct val="170000"/>
              </a:lnSpc>
              <a:spcAft>
                <a:spcPts val="500"/>
              </a:spcAft>
            </a:pPr>
            <a:r>
              <a:rPr sz="1600" b="1">
                <a:solidFill>
                  <a:srgbClr val="1A1A1A"/>
                </a:solidFill>
                <a:latin typeface="微软雅黑"/>
              </a:rPr>
              <a:t>▍去处　实验 4 自变量；主要指标含真实行人首次注视时间，并并列报告漏检率。</a:t>
            </a:r>
          </a:p>
        </p:txBody>
      </p:sp>
      <p:sp>
        <p:nvSpPr>
          <p:cNvPr id="10" name="TextBox 9"/>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8 / 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文献综述　参数七 风险动态映射</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3563600" y="203200"/>
            <a:ext cx="21082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参数 7 / 7</a:t>
            </a:r>
          </a:p>
        </p:txBody>
      </p:sp>
      <p:sp>
        <p:nvSpPr>
          <p:cNvPr id="6" name="Rectangle 5"/>
          <p:cNvSpPr/>
          <p:nvPr/>
        </p:nvSpPr>
        <p:spPr>
          <a:xfrm>
            <a:off x="584200" y="939800"/>
            <a:ext cx="15087600" cy="656336"/>
          </a:xfrm>
          <a:prstGeom prst="rect">
            <a:avLst/>
          </a:prstGeom>
          <a:solidFill>
            <a:srgbClr val="D9E2F3"/>
          </a:solidFill>
          <a:ln w="1778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4200" y="939800"/>
            <a:ext cx="63500" cy="656336"/>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939800"/>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&gt;待定参数：图形随风险连续变化的映射方式。形态、颜色与不透明度已有较充分证据，映射方式为拟填补的主要空白。</a:t>
            </a:r>
          </a:p>
        </p:txBody>
      </p:sp>
      <p:sp>
        <p:nvSpPr>
          <p:cNvPr id="9" name="TextBox 8"/>
          <p:cNvSpPr txBox="1"/>
          <p:nvPr/>
        </p:nvSpPr>
        <p:spPr>
          <a:xfrm>
            <a:off x="584200" y="1672336"/>
            <a:ext cx="15087600" cy="1250696"/>
          </a:xfrm>
          <a:prstGeom prst="rect">
            <a:avLst/>
          </a:prstGeom>
          <a:noFill/>
        </p:spPr>
        <p:txBody>
          <a:bodyPr wrap="square" lIns="0" rIns="0" tIns="0" bIns="0">
            <a:spAutoFit/>
          </a:bodyPr>
          <a:lstStyle/>
          <a:p>
            <a:pPr>
              <a:lnSpc>
                <a:spcPct val="170000"/>
              </a:lnSpc>
              <a:spcAft>
                <a:spcPts val="500"/>
              </a:spcAft>
            </a:pPr>
            <a:r>
              <a:rPr sz="1600" b="1">
                <a:solidFill>
                  <a:srgbClr val="1A1A1A"/>
                </a:solidFill>
                <a:latin typeface="微软雅黑"/>
              </a:rPr>
              <a:t>▍已定　颜色：Zhong 等（2022）实车 42 组合显示红与黄为跨照度鲁棒色对（日间黄 4.12、夜间红 3.88），蓝与紫在两种照度下均最差。不透明度：四个来源收敛于 0.6–0.75。形态优劣依赖场景，行人场景下边界框反而更快。</a:t>
            </a:r>
          </a:p>
          <a:p>
            <a:pPr>
              <a:lnSpc>
                <a:spcPct val="170000"/>
              </a:lnSpc>
              <a:spcAft>
                <a:spcPts val="500"/>
              </a:spcAft>
            </a:pPr>
            <a:r>
              <a:rPr sz="1600" b="1">
                <a:solidFill>
                  <a:srgbClr val="1A1A1A"/>
                </a:solidFill>
                <a:latin typeface="微软雅黑"/>
              </a:rPr>
              <a:t>▍未定　「动态」从未被拆为风险量级映射与运动趋势映射的正交组合（空白 G7），故既有「动态编码优于静态编码」的结论无法说明其作用路径——即究竟改善了对风险程度的理解，还是对未来位置的预测。</a:t>
            </a:r>
          </a:p>
          <a:p>
            <a:pPr>
              <a:lnSpc>
                <a:spcPct val="170000"/>
              </a:lnSpc>
              <a:spcAft>
                <a:spcPts val="500"/>
              </a:spcAft>
            </a:pPr>
            <a:r>
              <a:rPr sz="1600" b="1">
                <a:solidFill>
                  <a:srgbClr val="1A1A1A"/>
                </a:solidFill>
                <a:latin typeface="微软雅黑"/>
              </a:rPr>
              <a:t>▍本研究取值　实验 5 采用 2（风险量级映射：有／无，以 BTN 为映射源）× 2（运动趋势映射：有／无）设计，颜色与不透明度固定为上述鲁棒取值；预期两个维度分别作用于情境意识的理解层与预测层。</a:t>
            </a:r>
          </a:p>
          <a:p>
            <a:pPr>
              <a:lnSpc>
                <a:spcPct val="170000"/>
              </a:lnSpc>
              <a:spcAft>
                <a:spcPts val="500"/>
              </a:spcAft>
            </a:pPr>
            <a:r>
              <a:rPr sz="1600" b="1">
                <a:solidFill>
                  <a:srgbClr val="1A1A1A"/>
                </a:solidFill>
                <a:latin typeface="微软雅黑"/>
              </a:rPr>
              <a:t>▍去处　实验 5 自变量；其交互项是「时间侧—空间侧整合模型」的关键系数。</a:t>
            </a:r>
          </a:p>
        </p:txBody>
      </p:sp>
      <p:sp>
        <p:nvSpPr>
          <p:cNvPr id="10" name="TextBox 9"/>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9 / 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承接　七项参数的共同前提：时间零点尚未被测量</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3754100" y="203200"/>
            <a:ext cx="1917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为何先做研究一</a:t>
            </a:r>
          </a:p>
        </p:txBody>
      </p:sp>
      <p:sp>
        <p:nvSpPr>
          <p:cNvPr id="6" name="Rectangle 5"/>
          <p:cNvSpPr/>
          <p:nvPr/>
        </p:nvSpPr>
        <p:spPr>
          <a:xfrm>
            <a:off x="584200" y="939800"/>
            <a:ext cx="15087600" cy="656336"/>
          </a:xfrm>
          <a:prstGeom prst="rect">
            <a:avLst/>
          </a:prstGeom>
          <a:solidFill>
            <a:srgbClr val="D9E2F3"/>
          </a:solidFill>
          <a:ln w="1778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4200" y="939800"/>
            <a:ext cx="63500" cy="656336"/>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939800"/>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 七项参数中的前五项均以时间表述，而这些秒数共享同一个零点：冲突时刻。 该记法隐含一个从未被检验的假设——驾驶员在预警呈现前对行人一无所知。</a:t>
            </a:r>
          </a:p>
        </p:txBody>
      </p:sp>
      <p:sp>
        <p:nvSpPr>
          <p:cNvPr id="9" name="Rectangle 8"/>
          <p:cNvSpPr/>
          <p:nvPr/>
        </p:nvSpPr>
        <p:spPr>
          <a:xfrm>
            <a:off x="584200" y="1672336"/>
            <a:ext cx="7429500" cy="1446149"/>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1672336"/>
            <a:ext cx="7048500" cy="1369949"/>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隐含假设的三条否证</a:t>
            </a:r>
          </a:p>
          <a:p>
            <a:pPr>
              <a:lnSpc>
                <a:spcPct val="180000"/>
              </a:lnSpc>
              <a:spcAft>
                <a:spcPts val="500"/>
              </a:spcAft>
            </a:pPr>
            <a:r>
              <a:rPr sz="1400" b="0">
                <a:solidFill>
                  <a:srgbClr val="1A1A1A"/>
                </a:solidFill>
                <a:latin typeface="微软雅黑"/>
              </a:rPr>
              <a:t>后果：以绝对 TTC 为自变量时，同一取值在不同车速与遮挡条件下 对应的信息增益不同，故条件间的比较不成立——这也正是同一个 5.0 s 出现三种相反结论的原因之一。</a:t>
            </a:r>
          </a:p>
          <a:p>
            <a:pPr marL="5334" indent="-4572">
              <a:lnSpc>
                <a:spcPct val="182000"/>
              </a:lnSpc>
              <a:spcAft>
                <a:spcPts val="500"/>
              </a:spcAft>
            </a:pPr>
            <a:r>
              <a:rPr sz="1350" b="0">
                <a:solidFill>
                  <a:srgbClr val="1A1A1A"/>
                </a:solidFill>
                <a:latin typeface="微软雅黑"/>
              </a:rPr>
              <a:t>•  Winkler 等（2018）：左转侵入场景中 50% 被试在预警呈现前已开始制动</a:t>
            </a:r>
          </a:p>
          <a:p>
            <a:pPr marL="5334" indent="-4572">
              <a:lnSpc>
                <a:spcPct val="182000"/>
              </a:lnSpc>
              <a:spcAft>
                <a:spcPts val="500"/>
              </a:spcAft>
            </a:pPr>
            <a:r>
              <a:rPr sz="1350" b="0">
                <a:solidFill>
                  <a:srgbClr val="1A1A1A"/>
                </a:solidFill>
                <a:latin typeface="微软雅黑"/>
              </a:rPr>
              <a:t>•  Phan 等（2016）：无预警条件下行人觉察时刻已在 TTC 约 3 s</a:t>
            </a:r>
          </a:p>
          <a:p>
            <a:pPr marL="5334" indent="-4572">
              <a:lnSpc>
                <a:spcPct val="182000"/>
              </a:lnSpc>
              <a:spcAft>
                <a:spcPts val="500"/>
              </a:spcAft>
            </a:pPr>
            <a:r>
              <a:rPr sz="1350" b="0">
                <a:solidFill>
                  <a:srgbClr val="1A1A1A"/>
                </a:solidFill>
                <a:latin typeface="微软雅黑"/>
              </a:rPr>
              <a:t>•  Abe 与 Richardson（2006）：无报警条件下自主松油基线 0.72 s</a:t>
            </a:r>
          </a:p>
        </p:txBody>
      </p:sp>
      <p:sp>
        <p:nvSpPr>
          <p:cNvPr id="11" name="Rectangle 10"/>
          <p:cNvSpPr/>
          <p:nvPr/>
        </p:nvSpPr>
        <p:spPr>
          <a:xfrm>
            <a:off x="8242300" y="1672336"/>
            <a:ext cx="7429500" cy="1247013"/>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45500" y="1672336"/>
            <a:ext cx="7048500" cy="1170813"/>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研究一的三项职能</a:t>
            </a:r>
          </a:p>
          <a:p>
            <a:pPr marL="5334" indent="-4572">
              <a:lnSpc>
                <a:spcPct val="182000"/>
              </a:lnSpc>
              <a:spcAft>
                <a:spcPts val="500"/>
              </a:spcAft>
            </a:pPr>
            <a:r>
              <a:rPr sz="1350" b="0">
                <a:solidFill>
                  <a:srgbClr val="1A1A1A"/>
                </a:solidFill>
                <a:latin typeface="微软雅黑"/>
              </a:rPr>
              <a:t>•  重设零点。实测 t0 的分布，使时间参数由绝对 TTC 改写为 Δt = t0 − twarn</a:t>
            </a:r>
          </a:p>
          <a:p>
            <a:pPr marL="5334" indent="-4572">
              <a:lnSpc>
                <a:spcPct val="182000"/>
              </a:lnSpc>
              <a:spcAft>
                <a:spcPts val="500"/>
              </a:spcAft>
            </a:pPr>
            <a:r>
              <a:rPr sz="1350" b="0">
                <a:solidFill>
                  <a:srgbClr val="1A1A1A"/>
                </a:solidFill>
                <a:latin typeface="微软雅黑"/>
              </a:rPr>
              <a:t>•  提供基线参数。感知反应时分位数、BTN 校准值、实测舒适减速度、无预警条件下的碰撞率</a:t>
            </a:r>
          </a:p>
          <a:p>
            <a:pPr marL="5334" indent="-4572">
              <a:lnSpc>
                <a:spcPct val="182000"/>
              </a:lnSpc>
              <a:spcAft>
                <a:spcPts val="500"/>
              </a:spcAft>
            </a:pPr>
            <a:r>
              <a:rPr sz="1350" b="0">
                <a:solidFill>
                  <a:srgbClr val="1A1A1A"/>
                </a:solidFill>
                <a:latin typeface="微软雅黑"/>
              </a:rPr>
              <a:t>•  决定后续设计的可行性。t0 的被试内标准差决定 Δt 能否作被试内因子； 若三重约束的交集为空，则否证本研究的参数化路径</a:t>
            </a:r>
          </a:p>
        </p:txBody>
      </p:sp>
      <p:sp>
        <p:nvSpPr>
          <p:cNvPr id="13" name="Rectangle 12"/>
          <p:cNvSpPr/>
          <p:nvPr/>
        </p:nvSpPr>
        <p:spPr>
          <a:xfrm>
            <a:off x="584200" y="3194685"/>
            <a:ext cx="15087600" cy="656336"/>
          </a:xfrm>
          <a:prstGeom prst="rect">
            <a:avLst/>
          </a:prstGeom>
          <a:solidFill>
            <a:srgbClr val="F2F9F2"/>
          </a:solidFill>
          <a:ln w="17780">
            <a:solidFill>
              <a:srgbClr val="3E7D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84200" y="3194685"/>
            <a:ext cx="63500" cy="656336"/>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7400" y="3194685"/>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 因此研究一在前。它不检验任何设计方案的优劣，其唯一职能是为后续四个实验标定基线参数； 同时它是本研究「参数由约束导出而非由文献枚举」这一主张的前置可否证环节。</a:t>
            </a:r>
          </a:p>
        </p:txBody>
      </p:sp>
      <p:sp>
        <p:nvSpPr>
          <p:cNvPr id="16" name="TextBox 15"/>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10 / 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研究一　研究一的变量结构：2 × 2 设计与四类因变量构念</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3373100" y="203200"/>
            <a:ext cx="2298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研究一 1 / 3</a:t>
            </a:r>
          </a:p>
        </p:txBody>
      </p:sp>
      <p:sp>
        <p:nvSpPr>
          <p:cNvPr id="6" name="Rectangle 5"/>
          <p:cNvSpPr/>
          <p:nvPr/>
        </p:nvSpPr>
        <p:spPr>
          <a:xfrm>
            <a:off x="584200" y="939800"/>
            <a:ext cx="15087600" cy="656336"/>
          </a:xfrm>
          <a:prstGeom prst="rect">
            <a:avLst/>
          </a:prstGeom>
          <a:solidFill>
            <a:srgbClr val="D9E2F3"/>
          </a:solidFill>
          <a:ln w="1778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4200" y="939800"/>
            <a:ext cx="63500" cy="656336"/>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939800"/>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 研究一为测量性研究，不含 AR 操纵，全部条件均为无预警条件；不设实验组—对照组，故其自变量为 影响自发察觉时刻的两个情境因素，而非任何显示设计参数。</a:t>
            </a:r>
          </a:p>
        </p:txBody>
      </p:sp>
      <p:sp>
        <p:nvSpPr>
          <p:cNvPr id="9" name="Rectangle 8"/>
          <p:cNvSpPr/>
          <p:nvPr/>
        </p:nvSpPr>
        <p:spPr>
          <a:xfrm>
            <a:off x="584200" y="1672336"/>
            <a:ext cx="7429500" cy="1252410"/>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1672336"/>
            <a:ext cx="7048500" cy="1176210"/>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自变量：2 × 2 被试内</a:t>
            </a:r>
          </a:p>
          <a:p>
            <a:pPr>
              <a:lnSpc>
                <a:spcPct val="180000"/>
              </a:lnSpc>
              <a:spcAft>
                <a:spcPts val="500"/>
              </a:spcAft>
            </a:pPr>
            <a:r>
              <a:rPr sz="1400" b="0">
                <a:solidFill>
                  <a:srgbClr val="1A1A1A"/>
                </a:solidFill>
                <a:latin typeface="微软雅黑"/>
              </a:rPr>
              <a:t>→ 四个标定单元，顺序按拉丁方平衡。</a:t>
            </a:r>
          </a:p>
          <a:p>
            <a:pPr marL="5334" indent="-4572">
              <a:lnSpc>
                <a:spcPct val="182000"/>
              </a:lnSpc>
              <a:spcAft>
                <a:spcPts val="500"/>
              </a:spcAft>
            </a:pPr>
            <a:r>
              <a:rPr sz="1350" b="0">
                <a:solidFill>
                  <a:srgbClr val="1A1A1A"/>
                </a:solidFill>
                <a:latin typeface="微软雅黑"/>
              </a:rPr>
              <a:t>•  行车速度 40 ／ 60 km/h 覆盖国内城市主要限速档，并与 Large 等（2019）的 40、Wu 等（2024）的 60 可对照</a:t>
            </a:r>
          </a:p>
          <a:p>
            <a:pPr marL="5334" indent="-4572">
              <a:lnSpc>
                <a:spcPct val="182000"/>
              </a:lnSpc>
              <a:spcAft>
                <a:spcPts val="500"/>
              </a:spcAft>
            </a:pPr>
            <a:r>
              <a:rPr sz="1350" b="0">
                <a:solidFill>
                  <a:srgbClr val="1A1A1A"/>
                </a:solidFill>
                <a:latin typeface="微软雅黑"/>
              </a:rPr>
              <a:t>•  视线遮挡 无 ／ 停放车辆部分遮挡 遮挡直接改变光学膨胀率越过知觉阈值的时刻，即直接改变 t0</a:t>
            </a:r>
          </a:p>
        </p:txBody>
      </p:sp>
      <p:sp>
        <p:nvSpPr>
          <p:cNvPr id="11" name="Rectangle 10"/>
          <p:cNvSpPr/>
          <p:nvPr/>
        </p:nvSpPr>
        <p:spPr>
          <a:xfrm>
            <a:off x="8242300" y="1672336"/>
            <a:ext cx="7429500" cy="1440751"/>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45500" y="1672336"/>
            <a:ext cx="7048500" cy="1364551"/>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因变量：四类构念及其操作化指标</a:t>
            </a:r>
          </a:p>
          <a:p>
            <a:pPr marL="5334" indent="-4572">
              <a:lnSpc>
                <a:spcPct val="182000"/>
              </a:lnSpc>
              <a:spcAft>
                <a:spcPts val="500"/>
              </a:spcAft>
            </a:pPr>
            <a:r>
              <a:rPr sz="1350" b="0">
                <a:solidFill>
                  <a:srgbClr val="1A1A1A"/>
                </a:solidFill>
                <a:latin typeface="微软雅黑"/>
              </a:rPr>
              <a:t>•  情境意识 t0（首次注视行人时刻，注视识别阈 80 ms／100 px）；SA 三级得分（感知／理解／预测）</a:t>
            </a:r>
          </a:p>
          <a:p>
            <a:pPr marL="5334" indent="-4572">
              <a:lnSpc>
                <a:spcPct val="182000"/>
              </a:lnSpc>
              <a:spcAft>
                <a:spcPts val="500"/>
              </a:spcAft>
            </a:pPr>
            <a:r>
              <a:rPr sz="1350" b="0">
                <a:solidFill>
                  <a:srgbClr val="1A1A1A"/>
                </a:solidFill>
                <a:latin typeface="微软雅黑"/>
              </a:rPr>
              <a:t>•  安全绩效 首个避险动作时刻（松油阈值 −0.075 g）、峰值减速度、碰撞率； 过程量为感知反应时及其三段分解与所需减速度轨迹</a:t>
            </a:r>
          </a:p>
          <a:p>
            <a:pPr marL="5334" indent="-4572">
              <a:lnSpc>
                <a:spcPct val="182000"/>
              </a:lnSpc>
              <a:spcAft>
                <a:spcPts val="500"/>
              </a:spcAft>
            </a:pPr>
            <a:r>
              <a:rPr sz="1350" b="0">
                <a:solidFill>
                  <a:srgbClr val="1A1A1A"/>
                </a:solidFill>
                <a:latin typeface="微软雅黑"/>
              </a:rPr>
              <a:t>•  认知负荷 NASA-TLX 与瞳孔直径基线，用作后续四个实验的负荷参照基线</a:t>
            </a:r>
          </a:p>
          <a:p>
            <a:pPr marL="5334" indent="-4572">
              <a:lnSpc>
                <a:spcPct val="182000"/>
              </a:lnSpc>
              <a:spcAft>
                <a:spcPts val="500"/>
              </a:spcAft>
            </a:pPr>
            <a:r>
              <a:rPr sz="1350" b="0">
                <a:solidFill>
                  <a:srgbClr val="1A1A1A"/>
                </a:solidFill>
                <a:latin typeface="微软雅黑"/>
              </a:rPr>
              <a:t>•  用户体验 无预警条件下的主观风险感与紧迫度评定，用作后续实验的体验参照基线</a:t>
            </a:r>
          </a:p>
        </p:txBody>
      </p:sp>
      <p:sp>
        <p:nvSpPr>
          <p:cNvPr id="13" name="Rectangle 12"/>
          <p:cNvSpPr/>
          <p:nvPr/>
        </p:nvSpPr>
        <p:spPr>
          <a:xfrm>
            <a:off x="584200" y="3189287"/>
            <a:ext cx="15087600" cy="656336"/>
          </a:xfrm>
          <a:prstGeom prst="rect">
            <a:avLst/>
          </a:prstGeom>
          <a:solidFill>
            <a:srgbClr val="FFF8E5"/>
          </a:solidFill>
          <a:ln w="17780">
            <a:solidFill>
              <a:srgbClr val="E0A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84200" y="3189287"/>
            <a:ext cx="63500" cy="656336"/>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7400" y="3189287"/>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 指标归属的理论依据：t0 是时刻量，SA 是潜在构念，二者为「操作化指标—构念」关系而非同一事物的两个名称。 本研究把 t0 明确归属为情境意识感知层在无辅助条件下的达成时刻，并另设 SA 三级得分与之并存。</a:t>
            </a:r>
          </a:p>
        </p:txBody>
      </p:sp>
      <p:sp>
        <p:nvSpPr>
          <p:cNvPr id="16" name="TextBox 15"/>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11 / 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研究一　研究一的实施方案：被试、任务、流程与清洗规则</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3373100" y="203200"/>
            <a:ext cx="2298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研究一 2 / 3</a:t>
            </a:r>
          </a:p>
        </p:txBody>
      </p:sp>
      <p:graphicFrame>
        <p:nvGraphicFramePr>
          <p:cNvPr id="6" name="Table 5"/>
          <p:cNvGraphicFramePr>
            <a:graphicFrameLocks noGrp="1"/>
          </p:cNvGraphicFramePr>
          <p:nvPr/>
        </p:nvGraphicFramePr>
        <p:xfrm>
          <a:off x="584200" y="939800"/>
          <a:ext cx="15087600" cy="3048000"/>
        </p:xfrm>
        <a:graphic>
          <a:graphicData uri="http://schemas.openxmlformats.org/drawingml/2006/table">
            <a:tbl>
              <a:tblPr firstRow="1" bandRow="1">
                <a:tableStyleId>{5C22544A-7EE6-4342-B048-85BDC9FD1C3A}</a:tableStyleId>
              </a:tblPr>
              <a:tblGrid>
                <a:gridCol w="7543800"/>
                <a:gridCol w="7543800"/>
              </a:tblGrid>
              <a:tr h="508000">
                <a:tc>
                  <a:txBody>
                    <a:bodyPr wrap="square" lIns="76200" rIns="76200" tIns="38100" bIns="38100"/>
                    <a:lstStyle/>
                    <a:p>
                      <a:pPr>
                        <a:lnSpc>
                          <a:spcPct val="115000"/>
                        </a:lnSpc>
                      </a:pPr>
                      <a:r>
                        <a:rPr sz="1250" b="1">
                          <a:solidFill>
                            <a:srgbClr val="FFFFFF"/>
                          </a:solidFill>
                          <a:latin typeface="微软雅黑"/>
                        </a:rPr>
                        <a:t>要素</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设定与依据</a:t>
                      </a:r>
                    </a:p>
                  </a:txBody>
                  <a:tcPr>
                    <a:solidFill>
                      <a:srgbClr val="4472C4"/>
                    </a:solidFill>
                  </a:tcPr>
                </a:tc>
              </a:tr>
              <a:tr h="508000">
                <a:tc>
                  <a:txBody>
                    <a:bodyPr wrap="square" lIns="76200" rIns="76200" tIns="38100" bIns="38100"/>
                    <a:lstStyle/>
                    <a:p>
                      <a:pPr>
                        <a:lnSpc>
                          <a:spcPct val="115000"/>
                        </a:lnSpc>
                      </a:pPr>
                      <a:r>
                        <a:rPr sz="1200" b="0">
                          <a:solidFill>
                            <a:srgbClr val="1A1A1A"/>
                          </a:solidFill>
                          <a:latin typeface="微软雅黑"/>
                        </a:rPr>
                        <a:t>被试</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N ≈ 24。标定实验以估计精度而非效应检出为目标，正式值由预实验方差成分重算并写入预注册。 持照驾驶员，含新手（驾龄 &lt; 1 年）与熟手两层。须与实验 2 复用同一批被试——因 Δt 需要被试自身的 t0。</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任务</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模拟器城市道路定速跟驰，遇危险自行避险，未告知危险类型与出现时点。 不设次任务——本实验测的是无附加负荷下的自发察觉基线，加入次任务将污染零点。</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流程</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知情同意 → 视力与晕动筛查 → 适应驾驶 8 min → 正式四个标定单元 → 单元间休息 3 min → 眼动标定复核 → 事后访谈与量表。单次 session ≤ 25–30 min（晕动控制）。</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试次</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危险事件 24 次、填充 ≥ 36 次、捕获 8 次，危险占比 &lt; 40%（以免形成预期）； 事件间隔 ≥ 60 s（依据：次任务后的分心残留可持续 30 s 以上，留一倍冗余）。</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清洗</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反应时纳入界 0.2–2.9 s；眼动有效率 ≥ 80%；学习效应以试次序号作协变量显式检验 （参考量级 0.16 s）。</a:t>
                      </a:r>
                    </a:p>
                  </a:txBody>
                  <a:tcPr>
                    <a:solidFill>
                      <a:srgbClr val="FFFFFF"/>
                    </a:solidFill>
                  </a:tcPr>
                </a:tc>
              </a:tr>
            </a:tbl>
          </a:graphicData>
        </a:graphic>
      </p:graphicFrame>
      <p:sp>
        <p:nvSpPr>
          <p:cNvPr id="7" name="Rectangle 6"/>
          <p:cNvSpPr/>
          <p:nvPr/>
        </p:nvSpPr>
        <p:spPr>
          <a:xfrm>
            <a:off x="584200" y="4140200"/>
            <a:ext cx="15087600" cy="656336"/>
          </a:xfrm>
          <a:prstGeom prst="rect">
            <a:avLst/>
          </a:prstGeom>
          <a:solidFill>
            <a:srgbClr val="FFF8E5"/>
          </a:solidFill>
          <a:ln w="17780">
            <a:solidFill>
              <a:srgbClr val="E0A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84200" y="4140200"/>
            <a:ext cx="63500" cy="656336"/>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400" y="4140200"/>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 预先声明的研究者设定值（无文献支撑，列入局限并写入预注册）：事件间路程 300–600 m、session 时长上限、 行人肩宽 0.5 m（膨胀率计算用）、最小侵入余量非劣界 −0.2 s、样本量。其中非劣界与样本量须由预实验的最小实际意义差重算。</a:t>
            </a:r>
          </a:p>
        </p:txBody>
      </p:sp>
      <p:sp>
        <p:nvSpPr>
          <p:cNvPr id="10" name="TextBox 9"/>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12 / 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研究一　研究一的预期结果与五项产出的去处</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3373100" y="203200"/>
            <a:ext cx="2298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研究一 3 / 3</a:t>
            </a:r>
          </a:p>
        </p:txBody>
      </p:sp>
      <p:sp>
        <p:nvSpPr>
          <p:cNvPr id="6" name="Rectangle 5"/>
          <p:cNvSpPr/>
          <p:nvPr/>
        </p:nvSpPr>
        <p:spPr>
          <a:xfrm>
            <a:off x="584200" y="939800"/>
            <a:ext cx="7429500" cy="1596771"/>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7400" y="939800"/>
            <a:ext cx="7048500" cy="1520571"/>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预期结果（含理论校验值）</a:t>
            </a:r>
          </a:p>
          <a:p>
            <a:pPr marL="5334" indent="-4572">
              <a:lnSpc>
                <a:spcPct val="182000"/>
              </a:lnSpc>
              <a:spcAft>
                <a:spcPts val="500"/>
              </a:spcAft>
            </a:pPr>
            <a:r>
              <a:rPr sz="1350" b="0">
                <a:solidFill>
                  <a:srgbClr val="1A1A1A"/>
                </a:solidFill>
                <a:latin typeface="微软雅黑"/>
              </a:rPr>
              <a:t>•  t0 中位数：60 km/h 无遮挡条件下预期 3.0–3.5 s（光学膨胀率推算 3.2 s，Phan 等实测约 3 s）。 若大幅偏离，先检验模拟器视觉保真度而非直接采信。</a:t>
            </a:r>
          </a:p>
          <a:p>
            <a:pPr marL="5334" indent="-4572">
              <a:lnSpc>
                <a:spcPct val="182000"/>
              </a:lnSpc>
              <a:spcAft>
                <a:spcPts val="500"/>
              </a:spcAft>
            </a:pPr>
            <a:r>
              <a:rPr sz="1350" b="0">
                <a:solidFill>
                  <a:srgbClr val="1A1A1A"/>
                </a:solidFill>
                <a:latin typeface="微软雅黑"/>
              </a:rPr>
              <a:t>•  主效应方向：t0 随车速升高而缩短（膨胀率越阈发生于更近距离）；遮挡条件下显著晚于无遮挡。</a:t>
            </a:r>
          </a:p>
          <a:p>
            <a:pPr marL="5334" indent="-4572">
              <a:lnSpc>
                <a:spcPct val="182000"/>
              </a:lnSpc>
              <a:spcAft>
                <a:spcPts val="500"/>
              </a:spcAft>
            </a:pPr>
            <a:r>
              <a:rPr sz="1350" b="0">
                <a:solidFill>
                  <a:srgbClr val="1A1A1A"/>
                </a:solidFill>
                <a:latin typeface="微软雅黑"/>
              </a:rPr>
              <a:t>•  首个避险动作时刻：无预警条件下预期在距冲突点约 1.5 s，碰撞率约 44%（Zhang 等, 2015 同源）。</a:t>
            </a:r>
          </a:p>
          <a:p>
            <a:pPr marL="5334" indent="-4572">
              <a:lnSpc>
                <a:spcPct val="182000"/>
              </a:lnSpc>
              <a:spcAft>
                <a:spcPts val="500"/>
              </a:spcAft>
            </a:pPr>
            <a:r>
              <a:rPr sz="1350" b="0">
                <a:solidFill>
                  <a:srgbClr val="1A1A1A"/>
                </a:solidFill>
                <a:latin typeface="微软雅黑"/>
              </a:rPr>
              <a:t>•  效度证据：预期 SA 感知层得分与 t0 显著负相关；若不相关，须在讨论中重新审视该指标归属。</a:t>
            </a:r>
          </a:p>
        </p:txBody>
      </p:sp>
      <p:sp>
        <p:nvSpPr>
          <p:cNvPr id="8" name="Rectangle 7"/>
          <p:cNvSpPr/>
          <p:nvPr/>
        </p:nvSpPr>
        <p:spPr>
          <a:xfrm>
            <a:off x="8242300" y="939800"/>
            <a:ext cx="7429500" cy="1224089"/>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45500" y="939800"/>
            <a:ext cx="7048500" cy="1147889"/>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五项产出与下游去处</a:t>
            </a:r>
          </a:p>
          <a:p>
            <a:pPr>
              <a:lnSpc>
                <a:spcPct val="180000"/>
              </a:lnSpc>
              <a:spcAft>
                <a:spcPts val="500"/>
              </a:spcAft>
            </a:pPr>
            <a:r>
              <a:rPr sz="1400" b="0">
                <a:solidFill>
                  <a:srgbClr val="1A1A1A"/>
                </a:solidFill>
                <a:latin typeface="微软雅黑"/>
              </a:rPr>
              <a:t>可否证点：若 t0 的被试内标准差过大，则 Δt 不可作被试内因子，实验 2 须改为组间设计；若三重约束的交集为空，则否证参数化路径本身。</a:t>
            </a:r>
          </a:p>
          <a:p>
            <a:pPr>
              <a:lnSpc>
                <a:spcPct val="180000"/>
              </a:lnSpc>
              <a:spcAft>
                <a:spcPts val="500"/>
              </a:spcAft>
            </a:pPr>
            <a:r>
              <a:rPr sz="1400" b="0">
                <a:solidFill>
                  <a:srgbClr val="1A1A1A"/>
                </a:solidFill>
                <a:latin typeface="微软雅黑"/>
              </a:rPr>
              <a:t>产出去处 t0 分布实验 2 的 Δt 零点 感知反应时 p85提前量下界 BTN 校准值实验 2 触发准则 实验 5 映射源 实测舒适减速度BTN 第二分母 代价终点判据 方差成分全部实验的样本量</a:t>
            </a:r>
          </a:p>
        </p:txBody>
      </p:sp>
      <p:sp>
        <p:nvSpPr>
          <p:cNvPr id="10" name="TextBox 9"/>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13 / 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研究规划　研究二与研究三：四个主实验的分工</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516100" y="203200"/>
            <a:ext cx="1155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路线图</a:t>
            </a:r>
          </a:p>
        </p:txBody>
      </p:sp>
      <p:graphicFrame>
        <p:nvGraphicFramePr>
          <p:cNvPr id="6" name="Table 5"/>
          <p:cNvGraphicFramePr>
            <a:graphicFrameLocks noGrp="1"/>
          </p:cNvGraphicFramePr>
          <p:nvPr/>
        </p:nvGraphicFramePr>
        <p:xfrm>
          <a:off x="584200" y="939800"/>
          <a:ext cx="15087600" cy="2540000"/>
        </p:xfrm>
        <a:graphic>
          <a:graphicData uri="http://schemas.openxmlformats.org/drawingml/2006/table">
            <a:tbl>
              <a:tblPr firstRow="1" bandRow="1">
                <a:tableStyleId>{5C22544A-7EE6-4342-B048-85BDC9FD1C3A}</a:tableStyleId>
              </a:tblPr>
              <a:tblGrid>
                <a:gridCol w="5029200"/>
                <a:gridCol w="5029200"/>
                <a:gridCol w="5029200"/>
              </a:tblGrid>
              <a:tr h="508000">
                <a:tc>
                  <a:txBody>
                    <a:bodyPr wrap="square" lIns="76200" rIns="76200" tIns="38100" bIns="38100"/>
                    <a:lstStyle/>
                    <a:p>
                      <a:pPr>
                        <a:lnSpc>
                          <a:spcPct val="115000"/>
                        </a:lnSpc>
                      </a:pPr>
                      <a:r>
                        <a:rPr sz="1250" b="1">
                          <a:solidFill>
                            <a:srgbClr val="FFFFFF"/>
                          </a:solidFill>
                          <a:latin typeface="微软雅黑"/>
                        </a:rPr>
                        <a:t>实验</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自变量</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主要终点与所答问题</a:t>
                      </a:r>
                    </a:p>
                  </a:txBody>
                  <a:tcPr>
                    <a:solidFill>
                      <a:srgbClr val="4472C4"/>
                    </a:solidFill>
                  </a:tcPr>
                </a:tc>
              </a:tr>
              <a:tr h="508000">
                <a:tc>
                  <a:txBody>
                    <a:bodyPr wrap="square" lIns="76200" rIns="76200" tIns="38100" bIns="38100"/>
                    <a:lstStyle/>
                    <a:p>
                      <a:pPr>
                        <a:lnSpc>
                          <a:spcPct val="115000"/>
                        </a:lnSpc>
                      </a:pPr>
                      <a:r>
                        <a:rPr sz="1200" b="0">
                          <a:solidFill>
                            <a:srgbClr val="1A1A1A"/>
                          </a:solidFill>
                          <a:latin typeface="微软雅黑"/>
                        </a:rPr>
                        <a:t>实验 2 研究二</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相对提前量 Δt × 触发准则 区块 B：持续与撤销策略</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单层预警的时间参数可行区间：最小有效提前量、准则类型的主效应，以及漏检率与视觉占用的权衡</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实验 3 研究二</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级间间隔 × 系统可靠性 状态条件化升级仲裁</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分层预警的升级时序规范：级间间隔是否存在倒 U 型最优区间，虚警代价是否随行动要求强度递增</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实验 4 研究三</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锁定策略五水平 × 背景视觉复杂度 区块 F：次任务负荷</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位置增益与共形增益的分离：共形性的增量效应有多大，以及该增量是否依赖背景复杂度与负荷</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实验 5 研究三</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风险量级映射 × 运动趋势映射</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动态编码的作用路径：两个维度是否分别作用于情境意识的理解层与预测层</a:t>
                      </a:r>
                    </a:p>
                  </a:txBody>
                  <a:tcPr>
                    <a:solidFill>
                      <a:srgbClr val="FAFBFD"/>
                    </a:solidFill>
                  </a:tcPr>
                </a:tc>
              </a:tr>
            </a:tbl>
          </a:graphicData>
        </a:graphic>
      </p:graphicFrame>
      <p:sp>
        <p:nvSpPr>
          <p:cNvPr id="7" name="Rectangle 6"/>
          <p:cNvSpPr/>
          <p:nvPr/>
        </p:nvSpPr>
        <p:spPr>
          <a:xfrm>
            <a:off x="584200" y="3632200"/>
            <a:ext cx="15087600" cy="656336"/>
          </a:xfrm>
          <a:prstGeom prst="rect">
            <a:avLst/>
          </a:prstGeom>
          <a:solidFill>
            <a:srgbClr val="F2F9F2"/>
          </a:solidFill>
          <a:ln w="17780">
            <a:solidFill>
              <a:srgbClr val="3E7D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84200" y="3632200"/>
            <a:ext cx="63500" cy="656336"/>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400" y="3632200"/>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 递进而非并列。上游实验的入选参数在下游实验中固定：实验 1 的五项产出定义实验 2 的自变量刻度， 实验 2–3 的入选时间参数在实验 4–5 中固定，从而使空间参数的效应不与时间参数混淆。 全局硬约束：实验 1／2／3 必须共用同一场景族与同一套标定单元，否则 t0 不可迁移。</a:t>
            </a:r>
          </a:p>
        </p:txBody>
      </p:sp>
      <p:sp>
        <p:nvSpPr>
          <p:cNvPr id="10" name="TextBox 9"/>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14 / 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研究问题　三个递进的研究问题及其变量结构</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706600" y="203200"/>
            <a:ext cx="9652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备查</a:t>
            </a:r>
          </a:p>
        </p:txBody>
      </p:sp>
      <p:sp>
        <p:nvSpPr>
          <p:cNvPr id="6" name="Rectangle 5"/>
          <p:cNvSpPr/>
          <p:nvPr/>
        </p:nvSpPr>
        <p:spPr>
          <a:xfrm>
            <a:off x="584200" y="939800"/>
            <a:ext cx="15087600" cy="656336"/>
          </a:xfrm>
          <a:prstGeom prst="rect">
            <a:avLst/>
          </a:prstGeom>
          <a:solidFill>
            <a:srgbClr val="D9E2F3"/>
          </a:solidFill>
          <a:ln w="1778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4200" y="939800"/>
            <a:ext cx="63500" cy="656336"/>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939800"/>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&gt;研究对象为 AR-HUD 行人碰撞预警的时空参数。核心命题是：预警效果并非由显示技术类型决定，而由时空参数的取值水平决定。三个研究问题依「参数化基准的建立 → 时间参数的标定 → 空间参数的标定」次序提出，次序由变量依赖关系强制，不可对调。</a:t>
            </a:r>
          </a:p>
        </p:txBody>
      </p:sp>
      <p:sp>
        <p:nvSpPr>
          <p:cNvPr id="9" name="Rectangle 8"/>
          <p:cNvSpPr/>
          <p:nvPr/>
        </p:nvSpPr>
        <p:spPr>
          <a:xfrm>
            <a:off x="584200" y="1672336"/>
            <a:ext cx="15087600" cy="1583245"/>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1672336"/>
            <a:ext cx="14706600" cy="1507045"/>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RQ1 参数化基准：无预警辅助条件下驾驶员自发风险察觉的时间特征</a:t>
            </a:r>
          </a:p>
          <a:p>
            <a:pPr>
              <a:lnSpc>
                <a:spcPct val="180000"/>
              </a:lnSpc>
              <a:spcAft>
                <a:spcPts val="500"/>
              </a:spcAft>
            </a:pPr>
            <a:r>
              <a:rPr sz="1400" b="0">
                <a:solidFill>
                  <a:srgbClr val="1A1A1A"/>
                </a:solidFill>
                <a:latin typeface="微软雅黑"/>
              </a:rPr>
              <a:t>在无预警辅助的基线条件下，驾驶员对横穿行人的自发察觉时刻（t0）与感知反应时（PRT）的分布特征如何？二者如何受行车速度与视线遮挡两项情境因素的调节？该问题构成后续全部参数标定的前提——若 t0 未经实测，实验 2 的自变量只能表达为绝对碰撞时间，而后者在不同行车速度下对应不同的运动学难度与信息增益，此即既有文献结论方向不一致的方法学根源。</a:t>
            </a:r>
          </a:p>
          <a:p>
            <a:pPr>
              <a:lnSpc>
                <a:spcPct val="180000"/>
              </a:lnSpc>
              <a:spcAft>
                <a:spcPts val="500"/>
              </a:spcAft>
            </a:pPr>
            <a:r>
              <a:rPr sz="1400" b="0">
                <a:solidFill>
                  <a:srgbClr val="1A1A1A"/>
                </a:solidFill>
                <a:latin typeface="微软雅黑"/>
              </a:rPr>
              <a:t>操作化指标：(a) t0 的中位数、第 5 与第 95 百分位、被试内标准差；(b) t0 对速度与遮挡的主效应与交互；(c) PRT 的分位数分布及其成分分解；(d) 实际采用的减速度范围与制动威胁数（BTN）可用阈值区间。 理论校验值：60 km/h 无遮挡条件下 t0 中位数的预期区间为 3.0–3.5 s（光学膨胀率理论推算 3.2 s，与 Phan 等实测约 3 s 收敛）；若实测值大幅偏离，应先检验模拟器视觉保真度而非直接采信。</a:t>
            </a:r>
          </a:p>
          <a:p>
            <a:pPr>
              <a:lnSpc>
                <a:spcPct val="180000"/>
              </a:lnSpc>
              <a:spcAft>
                <a:spcPts val="500"/>
              </a:spcAft>
            </a:pPr>
            <a:r>
              <a:rPr sz="1400" b="0">
                <a:solidFill>
                  <a:srgbClr val="1A1A1A"/>
                </a:solidFill>
                <a:latin typeface="微软雅黑"/>
              </a:rPr>
              <a:t>&gt;</a:t>
            </a:r>
          </a:p>
        </p:txBody>
      </p:sp>
      <p:sp>
        <p:nvSpPr>
          <p:cNvPr id="11" name="Rectangle 10"/>
          <p:cNvSpPr/>
          <p:nvPr/>
        </p:nvSpPr>
        <p:spPr>
          <a:xfrm>
            <a:off x="584200" y="3331781"/>
            <a:ext cx="15087600" cy="1423225"/>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7400" y="3331781"/>
            <a:ext cx="14706600" cy="1347025"/>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RQ2 时间参数：预警时序变量对四类因变量的影响机制与适宜区间</a:t>
            </a:r>
          </a:p>
          <a:p>
            <a:pPr>
              <a:lnSpc>
                <a:spcPct val="180000"/>
              </a:lnSpc>
              <a:spcAft>
                <a:spcPts val="500"/>
              </a:spcAft>
            </a:pPr>
            <a:r>
              <a:rPr sz="1400" b="0">
                <a:solidFill>
                  <a:srgbClr val="1A1A1A"/>
                </a:solidFill>
                <a:latin typeface="微软雅黑"/>
              </a:rPr>
              <a:t>AR-HUD 行人预警的时间参数如何影响驾驶员的安全绩效、认知负荷、情境意识与用户体验？各参数的适宜取值区间为何？三项自变量依次为：</a:t>
            </a:r>
          </a:p>
          <a:p>
            <a:pPr>
              <a:lnSpc>
                <a:spcPct val="180000"/>
              </a:lnSpc>
              <a:spcAft>
                <a:spcPts val="500"/>
              </a:spcAft>
            </a:pPr>
            <a:r>
              <a:rPr sz="1400" b="0">
                <a:solidFill>
                  <a:srgbClr val="1A1A1A"/>
                </a:solidFill>
                <a:latin typeface="微软雅黑"/>
              </a:rPr>
              <a:t>(a) 相对提前量 Δt 与触发准则类型——Δt 的适宜区间为何？触发准则采用固定时间阈值抑或减速度归一化量（BTN）？该效应是否与行车速度交互？→ 对应空白 G1、G2(b) 预警持续与撤销策略——固定时长、状态维持与风险耦合衰减三种策略的优劣序为何？撤销规则是否需引入滞环？→ G3(c) 分层升级规则与系统可靠性——级间间隔的适宜取值为何？可靠性下降时分层结构的优势是否衰减？虚警发生于预告级与确认级时代价是否等同？→ G4、G5</a:t>
            </a:r>
          </a:p>
          <a:p>
            <a:pPr>
              <a:lnSpc>
                <a:spcPct val="180000"/>
              </a:lnSpc>
              <a:spcAft>
                <a:spcPts val="500"/>
              </a:spcAft>
            </a:pPr>
            <a:r>
              <a:rPr sz="1400" b="0">
                <a:solidFill>
                  <a:srgbClr val="1A1A1A"/>
                </a:solidFill>
                <a:latin typeface="微软雅黑"/>
              </a:rPr>
              <a:t>&gt;</a:t>
            </a:r>
          </a:p>
        </p:txBody>
      </p:sp>
      <p:sp>
        <p:nvSpPr>
          <p:cNvPr id="13" name="Rectangle 12"/>
          <p:cNvSpPr/>
          <p:nvPr/>
        </p:nvSpPr>
        <p:spPr>
          <a:xfrm>
            <a:off x="584200" y="4831207"/>
            <a:ext cx="15087600" cy="1423225"/>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7400" y="4831207"/>
            <a:ext cx="14706600" cy="1347025"/>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RQ3 空间参数：空间参照系与风险动态映射的作用路径</a:t>
            </a:r>
          </a:p>
          <a:p>
            <a:pPr>
              <a:lnSpc>
                <a:spcPct val="180000"/>
              </a:lnSpc>
              <a:spcAft>
                <a:spcPts val="500"/>
              </a:spcAft>
            </a:pPr>
            <a:r>
              <a:rPr sz="1400" b="0">
                <a:solidFill>
                  <a:srgbClr val="1A1A1A"/>
                </a:solidFill>
                <a:latin typeface="微软雅黑"/>
              </a:rPr>
              <a:t>预警图形的空间参照系与风险动态映射如何影响危险定位效率、注意资源分配与情境意识各阶段的达成？两项自变量为：</a:t>
            </a:r>
          </a:p>
          <a:p>
            <a:pPr>
              <a:lnSpc>
                <a:spcPct val="180000"/>
              </a:lnSpc>
              <a:spcAft>
                <a:spcPts val="500"/>
              </a:spcAft>
            </a:pPr>
            <a:r>
              <a:rPr sz="1400" b="0">
                <a:solidFill>
                  <a:srgbClr val="1A1A1A"/>
                </a:solidFill>
                <a:latin typeface="微软雅黑"/>
              </a:rPr>
              <a:t>(a) 空间参照系与锁定策略——屏幕固定（BD）、道路锁定（BR）、跟随目标锁定（BW）与复合（BW+BR）四水平的优劣序为何？该序是否随背景视觉复杂度与次任务负荷改变？→ G6(b) 风险演化的空间编码——将「动态」分解为风险量级空间映射（图形几何是否随 BTN 缩放）与运动趋势空间映射（是否呈现预测轨迹与冲突点）两个正交维度后，各维度的作用路径为何？二者是否存在协同效应？→ G7</a:t>
            </a:r>
          </a:p>
          <a:p>
            <a:pPr>
              <a:lnSpc>
                <a:spcPct val="180000"/>
              </a:lnSpc>
              <a:spcAft>
                <a:spcPts val="500"/>
              </a:spcAft>
            </a:pPr>
            <a:r>
              <a:rPr sz="1400" b="0">
                <a:solidFill>
                  <a:srgbClr val="1A1A1A"/>
                </a:solidFill>
                <a:latin typeface="微软雅黑"/>
              </a:rPr>
              <a:t>&gt;</a:t>
            </a:r>
          </a:p>
        </p:txBody>
      </p:sp>
      <p:sp>
        <p:nvSpPr>
          <p:cNvPr id="15" name="TextBox 14"/>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15 / 24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研究目标　总目标、四项分目标与四类因变量构念</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706600" y="203200"/>
            <a:ext cx="9652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备查</a:t>
            </a:r>
          </a:p>
        </p:txBody>
      </p:sp>
      <p:sp>
        <p:nvSpPr>
          <p:cNvPr id="6" name="Rectangle 5"/>
          <p:cNvSpPr/>
          <p:nvPr/>
        </p:nvSpPr>
        <p:spPr>
          <a:xfrm>
            <a:off x="584200" y="939800"/>
            <a:ext cx="15087600" cy="656336"/>
          </a:xfrm>
          <a:prstGeom prst="rect">
            <a:avLst/>
          </a:prstGeom>
          <a:solidFill>
            <a:srgbClr val="D9E2F3"/>
          </a:solidFill>
          <a:ln w="1778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4200" y="939800"/>
            <a:ext cx="63500" cy="656336"/>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939800"/>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&gt;总目标：以驾驶员情境意识模型与注意加工阶段理论为理论基础，探索情境特异的 AR-HUD 行人碰撞预警时空参数与驾驶员安全绩效、认知负荷、情境意识及用户体验之间的关系，建立以自发察觉时刻为零点的参数化基准，输出兼顾安全阈限与用户心理需求的 AR-HUD 行人预警时空参数设计标准。</a:t>
            </a:r>
          </a:p>
        </p:txBody>
      </p:sp>
      <p:sp>
        <p:nvSpPr>
          <p:cNvPr id="9" name="Rectangle 8"/>
          <p:cNvSpPr/>
          <p:nvPr/>
        </p:nvSpPr>
        <p:spPr>
          <a:xfrm>
            <a:off x="584200" y="1672336"/>
            <a:ext cx="7429500" cy="1908809"/>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1672336"/>
            <a:ext cx="7048500" cy="1832609"/>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四项分目标（逐层收敛，与 RQ 一一对应）</a:t>
            </a:r>
          </a:p>
          <a:p>
            <a:pPr marL="5334" indent="-4572">
              <a:lnSpc>
                <a:spcPct val="182000"/>
              </a:lnSpc>
              <a:spcAft>
                <a:spcPts val="500"/>
              </a:spcAft>
            </a:pPr>
            <a:r>
              <a:rPr sz="1350" b="0">
                <a:solidFill>
                  <a:srgbClr val="1A1A1A"/>
                </a:solidFill>
                <a:latin typeface="微软雅黑"/>
              </a:rPr>
              <a:t>•  O1 基准标定。探索无预警辅助条件下驾驶员自发风险察觉的时间特征及其情境调节，输出以自发察觉时刻为零点的参数化基准、感知反应时分位数分布与运动学下界。→ RQ1</a:t>
            </a:r>
          </a:p>
          <a:p>
            <a:pPr marL="5334" indent="-4572">
              <a:lnSpc>
                <a:spcPct val="182000"/>
              </a:lnSpc>
              <a:spcAft>
                <a:spcPts val="500"/>
              </a:spcAft>
            </a:pPr>
            <a:r>
              <a:rPr sz="1350" b="0">
                <a:solidFill>
                  <a:srgbClr val="1A1A1A"/>
                </a:solidFill>
                <a:latin typeface="微软雅黑"/>
              </a:rPr>
              <a:t>•  O2 时间参数标定。在预警时刻三重约束模型下，探索相对提前量、触发准则类型、持续与撤销策略、分层级间间隔与系统可靠性对四类因变量的影响机制与作用边界，输出各时间参数的适宜取值区间及其运动学表达式。→ RQ2</a:t>
            </a:r>
          </a:p>
          <a:p>
            <a:pPr marL="5334" indent="-4572">
              <a:lnSpc>
                <a:spcPct val="182000"/>
              </a:lnSpc>
              <a:spcAft>
                <a:spcPts val="500"/>
              </a:spcAft>
            </a:pPr>
            <a:r>
              <a:rPr sz="1350" b="0">
                <a:solidFill>
                  <a:srgbClr val="1A1A1A"/>
                </a:solidFill>
                <a:latin typeface="微软雅黑"/>
              </a:rPr>
              <a:t>•  O3 空间参数标定。探索空间参照系与风险动态映射对危险定位效率、注意资源分配及情境意识三阶段的作用路径，输出锁定策略推荐序与动态编码规则，并分离位置增益与共形增益、判定推荐序可否跨负荷迁移。→ RQ3</a:t>
            </a:r>
          </a:p>
          <a:p>
            <a:pPr marL="5334" indent="-4572">
              <a:lnSpc>
                <a:spcPct val="182000"/>
              </a:lnSpc>
              <a:spcAft>
                <a:spcPts val="500"/>
              </a:spcAft>
            </a:pPr>
            <a:r>
              <a:rPr sz="1350" b="0">
                <a:solidFill>
                  <a:srgbClr val="1A1A1A"/>
                </a:solidFill>
                <a:latin typeface="微软雅黑"/>
              </a:rPr>
              <a:t>•  O4 关系模型与标准整合。建立「时空参数 → 情境意识 → 安全绩效与用户体验」的关系模型，输出可跨行车速度迁移、与量产显示视场及自动紧急制动时序对齐的设计标准，并明确其适用边界。</a:t>
            </a:r>
          </a:p>
        </p:txBody>
      </p:sp>
      <p:sp>
        <p:nvSpPr>
          <p:cNvPr id="11" name="Rectangle 10"/>
          <p:cNvSpPr/>
          <p:nvPr/>
        </p:nvSpPr>
        <p:spPr>
          <a:xfrm>
            <a:off x="8242300" y="1672336"/>
            <a:ext cx="7429500" cy="1704149"/>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45500" y="1672336"/>
            <a:ext cx="7048500" cy="1627949"/>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四类因变量构念及其操作化</a:t>
            </a:r>
          </a:p>
          <a:p>
            <a:pPr>
              <a:lnSpc>
                <a:spcPct val="180000"/>
              </a:lnSpc>
              <a:spcAft>
                <a:spcPts val="500"/>
              </a:spcAft>
            </a:pPr>
            <a:r>
              <a:rPr sz="1400" b="0">
                <a:solidFill>
                  <a:srgbClr val="1A1A1A"/>
                </a:solidFill>
                <a:latin typeface="微软雅黑"/>
              </a:rPr>
              <a:t>构念分列的理由：情境意识不并入认知负荷，因二者在既有证据中可解离——存在负荷下降而漏检率上升的条件（注意隧道），若合并计量将掩盖该权衡。故漏检率提升为与安全绩效并列的主要因变量。</a:t>
            </a:r>
          </a:p>
          <a:p>
            <a:pPr>
              <a:lnSpc>
                <a:spcPct val="180000"/>
              </a:lnSpc>
              <a:spcAft>
                <a:spcPts val="500"/>
              </a:spcAft>
            </a:pPr>
            <a:r>
              <a:rPr sz="1400" b="0">
                <a:solidFill>
                  <a:srgbClr val="1A1A1A"/>
                </a:solidFill>
                <a:latin typeface="微软雅黑"/>
              </a:rPr>
              <a:t>构念测量指标 安全绩效 safety performance最小碰撞余量距离（TTMD）、碰撞发生率、峰值减速度、制动反应时（BRT）、方向盘抖动率 认知负荷 cognitive workloadNASA-TLX 加权总分、瞳孔直径变化率、注视转移熵、次任务绩效衰减 情境意识 situation awareness冻结探测法（SAGAT）按感知／理解／预测三阶段分别计分；危险漏检率（并列主要因变量）、首次注视时间（TTFF）、预期性注视比例 用户体验 user experience信任量表、可接受度、扰烦度评分、主观偏好序、晕动与不适自评</a:t>
            </a:r>
          </a:p>
        </p:txBody>
      </p:sp>
      <p:sp>
        <p:nvSpPr>
          <p:cNvPr id="13" name="Rectangle 12"/>
          <p:cNvSpPr/>
          <p:nvPr/>
        </p:nvSpPr>
        <p:spPr>
          <a:xfrm>
            <a:off x="584200" y="3657346"/>
            <a:ext cx="15087600" cy="816356"/>
          </a:xfrm>
          <a:prstGeom prst="rect">
            <a:avLst/>
          </a:prstGeom>
          <a:solidFill>
            <a:srgbClr val="FFF8E5"/>
          </a:solidFill>
          <a:ln w="17780">
            <a:solidFill>
              <a:srgbClr val="E0A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84200" y="3657346"/>
            <a:ext cx="63500" cy="816356"/>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7400" y="3657346"/>
            <a:ext cx="14757400" cy="74015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style="flex:0 0 auto"&gt;目标间的依赖关系：O1 的产出（t0 分布、PRT 分位数、实测舒适减速度、方差成分）为 O2 的自变量换算基准与样本量估计输入；O2 的入选时间参数组合为 O3 的固定条件；O4 以 O1–O3 的实测参数为输入，不引入新的实验操纵。四项目标的输出物均以运动学量而非固定秒数表达，以保证跨行车速度与跨车型的可迁移性。</a:t>
            </a:r>
          </a:p>
        </p:txBody>
      </p:sp>
      <p:sp>
        <p:nvSpPr>
          <p:cNvPr id="16" name="TextBox 15"/>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16 / 24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研究问题　研究框架：三个研究问题与五个实验</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706600" y="203200"/>
            <a:ext cx="9652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备查</a:t>
            </a:r>
          </a:p>
        </p:txBody>
      </p:sp>
      <p:sp>
        <p:nvSpPr>
          <p:cNvPr id="6" name="TextBox 5"/>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17 / 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研究问题　五个实验的递进逻辑与一条硬约束</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706600" y="203200"/>
            <a:ext cx="9652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备查</a:t>
            </a:r>
          </a:p>
        </p:txBody>
      </p:sp>
      <p:sp>
        <p:nvSpPr>
          <p:cNvPr id="6" name="Rectangle 5"/>
          <p:cNvSpPr/>
          <p:nvPr/>
        </p:nvSpPr>
        <p:spPr>
          <a:xfrm>
            <a:off x="584200" y="939800"/>
            <a:ext cx="15087600" cy="656336"/>
          </a:xfrm>
          <a:prstGeom prst="rect">
            <a:avLst/>
          </a:prstGeom>
          <a:solidFill>
            <a:srgbClr val="D9E2F3"/>
          </a:solidFill>
          <a:ln w="1778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4200" y="939800"/>
            <a:ext cx="63500" cy="656336"/>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939800"/>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&gt;五个实验递进而非并列：每一个下游实验都把上游实验的产出作为固定参数，以此约束同时变化的自变量数目。若并列实施，实验 4 须自行选定一套时间参数，而该选择将缺乏实证依据。</a:t>
            </a:r>
          </a:p>
        </p:txBody>
      </p:sp>
      <p:sp>
        <p:nvSpPr>
          <p:cNvPr id="9" name="Rectangle 8"/>
          <p:cNvSpPr/>
          <p:nvPr/>
        </p:nvSpPr>
        <p:spPr>
          <a:xfrm>
            <a:off x="584200" y="1672336"/>
            <a:ext cx="15087600" cy="1224089"/>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1672336"/>
            <a:ext cx="14706600" cy="1147889"/>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实验 1 的五项产出，分别被下游四个实验实际使用</a:t>
            </a:r>
          </a:p>
          <a:p>
            <a:pPr>
              <a:lnSpc>
                <a:spcPct val="180000"/>
              </a:lnSpc>
              <a:spcAft>
                <a:spcPts val="500"/>
              </a:spcAft>
            </a:pPr>
            <a:r>
              <a:rPr sz="1400" b="0">
                <a:solidFill>
                  <a:srgbClr val="1A1A1A"/>
                </a:solidFill>
                <a:latin typeface="微软雅黑"/>
              </a:rPr>
              <a:t>其后的递进：实验 2 建立单层时间基线 → 实验 3 升级为分层规则并检验低可靠性稳健性 → 实验 4 固定全部时间参数，仅比较锁定策略 → 实验 5 固定时间参数与空间载体，仅比较风险演化动态。</a:t>
            </a:r>
          </a:p>
          <a:p>
            <a:pPr>
              <a:lnSpc>
                <a:spcPct val="180000"/>
              </a:lnSpc>
              <a:spcAft>
                <a:spcPts val="500"/>
              </a:spcAft>
            </a:pPr>
            <a:r>
              <a:rPr sz="1400" b="0">
                <a:solidFill>
                  <a:srgbClr val="1A1A1A"/>
                </a:solidFill>
                <a:latin typeface="微软雅黑"/>
              </a:rPr>
              <a:t>&gt; 产出下游用途使用者 t0 的分布（中位数、p5、p95、被试内 SD）实验 2 自变量 Δt 的换算基准；被试内 SD 决定 Δt 能否作为被试内变量实验 2 PRTp95运动学下界计算与可避险区校验实验 2、3 t0 时刻的 BTNBTN 触发阈值校准，使归一化触发与自发察觉对齐实验 2 实测舒适减速度 acomf全部实验的归一化分母；实验 5 的风险量级映射亦以此为标度实验 2–5 方差成分样本量估计与混合模型的随机效应结构设定实验 2–5</a:t>
            </a:r>
          </a:p>
        </p:txBody>
      </p:sp>
      <p:sp>
        <p:nvSpPr>
          <p:cNvPr id="11" name="Rectangle 10"/>
          <p:cNvSpPr/>
          <p:nvPr/>
        </p:nvSpPr>
        <p:spPr>
          <a:xfrm>
            <a:off x="584200" y="2972625"/>
            <a:ext cx="15087600" cy="816356"/>
          </a:xfrm>
          <a:prstGeom prst="rect">
            <a:avLst/>
          </a:prstGeom>
          <a:solidFill>
            <a:srgbClr val="FDF2F2"/>
          </a:solidFill>
          <a:ln w="1778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84200" y="2972625"/>
            <a:ext cx="63500" cy="816356"/>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7400" y="2972625"/>
            <a:ext cx="14757400" cy="74015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style="flex:0 0 auto"&gt;由核心理论模型强制导出的一条硬约束：实验 1／2／3 必须共用同一场景族与同一套 t0 标定单元。因为自变量是 Δt = t0 − twarn，而 t0 不是常数——它随车速与遮挡系统变化（遮挡直接改变光学膨胀率 dθ/dt 越过知觉阈值的时刻）。故：实验 1 按「车速 40／60 × 遮挡 无／有」四个单元分别标定；实验 2 只能在已标定的单元内换算 Δt；实验 3 把车速与遮挡固定在实验 2 入选水平，使 t0 成为常量。实验 4／5 已固定全部时间参数，可另设场景操纵，不受此约束。</a:t>
            </a:r>
          </a:p>
        </p:txBody>
      </p:sp>
      <p:sp>
        <p:nvSpPr>
          <p:cNvPr id="14" name="Rectangle 13"/>
          <p:cNvSpPr/>
          <p:nvPr/>
        </p:nvSpPr>
        <p:spPr>
          <a:xfrm>
            <a:off x="584200" y="3865181"/>
            <a:ext cx="15087600" cy="816356"/>
          </a:xfrm>
          <a:prstGeom prst="rect">
            <a:avLst/>
          </a:prstGeom>
          <a:solidFill>
            <a:srgbClr val="F2F9F2"/>
          </a:solidFill>
          <a:ln w="17780">
            <a:solidFill>
              <a:srgbClr val="3E7D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84200" y="3865181"/>
            <a:ext cx="63500" cy="816356"/>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7400" y="3865181"/>
            <a:ext cx="14757400" cy="74015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style="flex:0 0 auto"&gt;被试与场次安排：实验 1 与实验 2 复用同一批被试（Δt 需要被试自身的 t0），实验 3–5 独立招募；若招募资源受限，研究二由同一批被试完成两个 session、研究三由另一批完成两个 session，场景集交叉替换并至少间隔 7 天。样本量以最小具有实际意义的差异加混合模型模拟确定，并按预实验方差与约 10% 的眼动无效或晕动脱落重新计算。</a:t>
            </a:r>
          </a:p>
        </p:txBody>
      </p:sp>
      <p:sp>
        <p:nvSpPr>
          <p:cNvPr id="17" name="TextBox 16"/>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18 / 24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研究背景　两个并列理论框架与制动威胁数的三重角色</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706600" y="203200"/>
            <a:ext cx="9652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备查</a:t>
            </a:r>
          </a:p>
        </p:txBody>
      </p:sp>
      <p:sp>
        <p:nvSpPr>
          <p:cNvPr id="6" name="Rectangle 5"/>
          <p:cNvSpPr/>
          <p:nvPr/>
        </p:nvSpPr>
        <p:spPr>
          <a:xfrm>
            <a:off x="584200" y="939800"/>
            <a:ext cx="15087600" cy="457200"/>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7400" y="939800"/>
            <a:ext cx="14706600" cy="381000"/>
          </a:xfrm>
          <a:prstGeom prst="rect">
            <a:avLst/>
          </a:prstGeom>
          <a:noFill/>
        </p:spPr>
        <p:txBody>
          <a:bodyPr wrap="square" lIns="0" rIns="0" tIns="0" bIns="0">
            <a:spAutoFit/>
          </a:bodyPr>
          <a:lstStyle/>
          <a:p/>
        </p:txBody>
      </p:sp>
      <p:sp>
        <p:nvSpPr>
          <p:cNvPr id="8" name="TextBox 7"/>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19 / 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研究共识　已形成共识的八项结论</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706600" y="203200"/>
            <a:ext cx="9652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备查</a:t>
            </a:r>
          </a:p>
        </p:txBody>
      </p:sp>
      <p:sp>
        <p:nvSpPr>
          <p:cNvPr id="6" name="Rectangle 5"/>
          <p:cNvSpPr/>
          <p:nvPr/>
        </p:nvSpPr>
        <p:spPr>
          <a:xfrm>
            <a:off x="584200" y="939800"/>
            <a:ext cx="15087600" cy="656336"/>
          </a:xfrm>
          <a:prstGeom prst="rect">
            <a:avLst/>
          </a:prstGeom>
          <a:solidFill>
            <a:srgbClr val="D9E2F3"/>
          </a:solidFill>
          <a:ln w="1778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4200" y="939800"/>
            <a:ext cx="63500" cy="656336"/>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939800"/>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&gt;以下八项结论证据方向一致，构成本研究的前提而非研究问题。纳入标准为：至少 2 项独立研究方向一致，且无实质反证。</a:t>
            </a:r>
          </a:p>
        </p:txBody>
      </p:sp>
      <p:graphicFrame>
        <p:nvGraphicFramePr>
          <p:cNvPr id="9" name="Table 8"/>
          <p:cNvGraphicFramePr>
            <a:graphicFrameLocks noGrp="1"/>
          </p:cNvGraphicFramePr>
          <p:nvPr/>
        </p:nvGraphicFramePr>
        <p:xfrm>
          <a:off x="584200" y="1672336"/>
          <a:ext cx="15087600" cy="4572000"/>
        </p:xfrm>
        <a:graphic>
          <a:graphicData uri="http://schemas.openxmlformats.org/drawingml/2006/table">
            <a:tbl>
              <a:tblPr firstRow="1" bandRow="1">
                <a:tableStyleId>{5C22544A-7EE6-4342-B048-85BDC9FD1C3A}</a:tableStyleId>
              </a:tblPr>
              <a:tblGrid>
                <a:gridCol w="3771900"/>
                <a:gridCol w="3771900"/>
                <a:gridCol w="3771900"/>
                <a:gridCol w="3771900"/>
              </a:tblGrid>
              <a:tr h="508000">
                <a:tc>
                  <a:txBody>
                    <a:bodyPr wrap="square" lIns="76200" rIns="76200" tIns="38100" bIns="38100"/>
                    <a:lstStyle/>
                    <a:p>
                      <a:pPr>
                        <a:lnSpc>
                          <a:spcPct val="115000"/>
                        </a:lnSpc>
                      </a:pPr>
                      <a:r>
                        <a:rPr sz="1250" b="1">
                          <a:solidFill>
                            <a:srgbClr val="FFFFFF"/>
                          </a:solidFill>
                          <a:latin typeface="微软雅黑"/>
                        </a:rPr>
                        <a:t>#</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共识</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主要证据</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证据强度</a:t>
                      </a:r>
                    </a:p>
                  </a:txBody>
                  <a:tcPr>
                    <a:solidFill>
                      <a:srgbClr val="4472C4"/>
                    </a:solidFill>
                  </a:tcPr>
                </a:tc>
              </a:tr>
              <a:tr h="508000">
                <a:tc>
                  <a:txBody>
                    <a:bodyPr wrap="square" lIns="76200" rIns="76200" tIns="38100" bIns="38100"/>
                    <a:lstStyle/>
                    <a:p>
                      <a:pPr>
                        <a:lnSpc>
                          <a:spcPct val="115000"/>
                        </a:lnSpc>
                      </a:pPr>
                      <a:r>
                        <a:rPr sz="1200" b="0">
                          <a:solidFill>
                            <a:srgbClr val="1A1A1A"/>
                          </a:solidFill>
                          <a:latin typeface="微软雅黑"/>
                        </a:rPr>
                        <a:t>1</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位置：把预警搬进前视野即有实质收益</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Lind（2007）四方对照：CWHUD 快约 200 ms、漏报 1 vs 高位下视显示 17 次；Zhang 等（2024）中国样本独立印证（首次制动提前约 25 m）</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强 两地样本</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2</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时机下界：单层预警在 TTC &lt; 3 s 时不足以改变行为</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Zhang 等（2015）七档梯度：2.5 s 与无预警无显著差异；Lubbe（2017）分心下最长反应时 2.5 s 已超过 TTC 本身</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强 唯一梯度</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3</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时机上界：过早预警收益递减且代价上升</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Kim 等（2018）5.0 s 峰值减速度 +34.46%；Wang 等（2025）≤ 5 s 无反应时增益；Chen 等（2019）TTA 5 s 熟练组虚警率 0.55</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中强 三源同向</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4</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分层：级间间隔落在 0.5–2.0 s，且随紧迫度单调缩短</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四条产业级级联时序（Lubbe 0.7；Daimler 1.4/1.0/0.5；Suzuki 档距 1.0；Phan 非固定秒数）</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中 产业时序</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5</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锁定：跟随目标（BW）的定位效率显著优于屏幕固定与道路锁定</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Wu 等（2024）BW 617 vs BD 2 563 / BR 2 730 ms（近 4 倍）；机制上 BW 消除「图形—目标」的对应搜索</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中 单项直接对照</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6</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视觉参数：红—黄为日夜鲁棒色对，蓝紫不可用；不透明度取 0.6–0.75</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Zhong 等（2022）实车 42 组合两照度排序；不透明度四源收敛（Ye 与 Yin、Hou 等、Li 等、Lopez 与 Moacdieh）</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强 四源收敛</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7</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归一化方向：参数应随运动学状态缩放，而非取固定数值</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时间侧 Takada 等（2014）减速度触发与 2 : 1 滞环；空间侧 Suzuki 等（2010）Rx = Ttc·Vcar——两侧同源</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中强 算法侧一致</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8</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副作用真实存在：AR 的收益以「不过度捕获注意」与「系统可靠」为前提</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Gabbard 等（2019）共形箭头注视 3.33 s 越过分心上界；Wang 等（2021）与 Chen 等（2023）无意视盲；Huo 与 Alla（2025）AR 依赖性</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强 多源</a:t>
                      </a:r>
                    </a:p>
                  </a:txBody>
                  <a:tcPr>
                    <a:solidFill>
                      <a:srgbClr val="FAFBFD"/>
                    </a:solidFill>
                  </a:tcPr>
                </a:tc>
              </a:tr>
            </a:tbl>
          </a:graphicData>
        </a:graphic>
      </p:graphicFrame>
      <p:sp>
        <p:nvSpPr>
          <p:cNvPr id="10" name="Rectangle 9"/>
          <p:cNvSpPr/>
          <p:nvPr/>
        </p:nvSpPr>
        <p:spPr>
          <a:xfrm>
            <a:off x="584200" y="6396736"/>
            <a:ext cx="15087600" cy="656336"/>
          </a:xfrm>
          <a:prstGeom prst="rect">
            <a:avLst/>
          </a:prstGeom>
          <a:solidFill>
            <a:srgbClr val="FDF2F2"/>
          </a:solidFill>
          <a:ln w="1778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84200" y="6396736"/>
            <a:ext cx="63500" cy="656336"/>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7400" y="6396736"/>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上述共识仅限于「措施是否有效」与「信息置于何处」两个层面。一旦追问具体取值——提前量、持续时长、级间间隔、可用可靠性下限、动态映射方式——共识即不复存在。下一页归纳这一层缺口的四类局限。</a:t>
            </a:r>
          </a:p>
        </p:txBody>
      </p:sp>
      <p:sp>
        <p:nvSpPr>
          <p:cNvPr id="13" name="TextBox 12"/>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20 / 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研究局限　既有研究的四类局限及其应对</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706600" y="203200"/>
            <a:ext cx="9652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备查</a:t>
            </a:r>
          </a:p>
        </p:txBody>
      </p:sp>
      <p:sp>
        <p:nvSpPr>
          <p:cNvPr id="6" name="TextBox 5"/>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21 / 24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研究设计　一个标定实验 + 四个递进主实验</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706600" y="203200"/>
            <a:ext cx="9652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备查</a:t>
            </a:r>
          </a:p>
        </p:txBody>
      </p:sp>
      <p:graphicFrame>
        <p:nvGraphicFramePr>
          <p:cNvPr id="6" name="Table 5"/>
          <p:cNvGraphicFramePr>
            <a:graphicFrameLocks noGrp="1"/>
          </p:cNvGraphicFramePr>
          <p:nvPr/>
        </p:nvGraphicFramePr>
        <p:xfrm>
          <a:off x="584200" y="939800"/>
          <a:ext cx="15087600" cy="3048000"/>
        </p:xfrm>
        <a:graphic>
          <a:graphicData uri="http://schemas.openxmlformats.org/drawingml/2006/table">
            <a:tbl>
              <a:tblPr firstRow="1" bandRow="1">
                <a:tableStyleId>{5C22544A-7EE6-4342-B048-85BDC9FD1C3A}</a:tableStyleId>
              </a:tblPr>
              <a:tblGrid>
                <a:gridCol w="3017520"/>
                <a:gridCol w="3017520"/>
                <a:gridCol w="3017520"/>
                <a:gridCol w="3017520"/>
                <a:gridCol w="3017520"/>
              </a:tblGrid>
              <a:tr h="508000">
                <a:tc>
                  <a:txBody>
                    <a:bodyPr wrap="square" lIns="76200" rIns="76200" tIns="38100" bIns="38100"/>
                    <a:lstStyle/>
                    <a:p>
                      <a:pPr>
                        <a:lnSpc>
                          <a:spcPct val="115000"/>
                        </a:lnSpc>
                      </a:pPr>
                      <a:r>
                        <a:rPr sz="1250" b="1">
                          <a:solidFill>
                            <a:srgbClr val="FFFFFF"/>
                          </a:solidFill>
                          <a:latin typeface="微软雅黑"/>
                        </a:rPr>
                        <a:t>研究</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实验</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核心问题</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核心变量与水平</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主要机制指标（按 SPIDER 阶段归属）</a:t>
                      </a:r>
                    </a:p>
                  </a:txBody>
                  <a:tcPr>
                    <a:solidFill>
                      <a:srgbClr val="4472C4"/>
                    </a:solidFill>
                  </a:tcPr>
                </a:tc>
              </a:tr>
              <a:tr h="508000">
                <a:tc>
                  <a:txBody>
                    <a:bodyPr wrap="square" lIns="76200" rIns="76200" tIns="38100" bIns="38100"/>
                    <a:lstStyle/>
                    <a:p>
                      <a:pPr>
                        <a:lnSpc>
                          <a:spcPct val="115000"/>
                        </a:lnSpc>
                      </a:pPr>
                      <a:r>
                        <a:rPr sz="1200" b="0">
                          <a:solidFill>
                            <a:srgbClr val="1A1A1A"/>
                          </a:solidFill>
                          <a:latin typeface="微软雅黑"/>
                        </a:rPr>
                        <a:t>研究一 基线标定</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实验 1 无预警基线</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自发察觉时刻与感知反应时的分布特征及其情境调节</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车速（40 / 60 km/h）× 遮挡（无 / 有），无 AR 预警</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t0 分布、PRT 分布、areq 轨迹、系统渲染延迟 → 五项产出全部被下游实验使用</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研究二 时间参数 设计规范</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实验 2 单层预警</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相对提前量的适宜区间；触发准则类型（时间阈值／减速度归一化）的效应</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主设计：触发准则（固定时间阈值 / BTN）× 相对提前量 Δt（0 / +1.0 / +2.5 s）= 2 × 3 区块 B：持续与撤销 3 水平（固定 1.5 s / 状态维持 / 风险耦合衰减）</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S：TTFF（警告）、TTFF（行人）；E：制动启动、峰值减速度、jerk；安全：最小 TTMD</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实验 3 分层预警</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级间间隔的适宜取值；系统可靠性对分层结构优势的调节</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级间间隔（0.7 / 1.0 / 1.5 s）× 系统可靠性（100% / 80%）= 3 × 2，另加「无警告基线」与「实验 2 入选单层方案」两对照；虚警只施加在 L1</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S：警告→首次注视；I + D：首次注视→正确反应；信任量表、L1 依从率、取消升级率</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研究三 空间动态 信息的促进作用</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实验 4 参照系与锁定</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空间参照系四水平的优劣序，及与背景复杂度、负荷的交互</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主设计：锁定策略 5 水平——Baseline / BD / BR / BW / BW+BR × 背景复杂度；区块 F：BD / BW × 次任务负荷</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S：真实行人 TTFF；I：定位转换成本；并列主要终点：漏检率、TDT 是否越过 2 000 ms</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实验 5 风险演化动态</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风险量级映射与运动趋势映射两个正交维度的作用路径与协同性</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2 × 2 被试内：风险量级空间映射（无 / 有，映射量统一为 BTN）× 运动趋势空间映射（无 / 有）→ D0、D1、D2、D3；空间载体固定为实验 4 入选方案</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P：路径侵入预测正确率、冲突点空间误差；负荷与瞳孔指标</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r>
            </a:tbl>
          </a:graphicData>
        </a:graphic>
      </p:graphicFrame>
      <p:sp>
        <p:nvSpPr>
          <p:cNvPr id="7" name="Rectangle 6"/>
          <p:cNvSpPr/>
          <p:nvPr/>
        </p:nvSpPr>
        <p:spPr>
          <a:xfrm>
            <a:off x="584200" y="4140200"/>
            <a:ext cx="15087600" cy="457200"/>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4140200"/>
            <a:ext cx="14706600" cy="381000"/>
          </a:xfrm>
          <a:prstGeom prst="rect">
            <a:avLst/>
          </a:prstGeom>
          <a:noFill/>
        </p:spPr>
        <p:txBody>
          <a:bodyPr wrap="square" lIns="0" rIns="0" tIns="0" bIns="0">
            <a:spAutoFit/>
          </a:bodyPr>
          <a:lstStyle/>
          <a:p/>
        </p:txBody>
      </p:sp>
      <p:sp>
        <p:nvSpPr>
          <p:cNvPr id="9" name="Rectangle 8"/>
          <p:cNvSpPr/>
          <p:nvPr/>
        </p:nvSpPr>
        <p:spPr>
          <a:xfrm>
            <a:off x="584200" y="4673600"/>
            <a:ext cx="15087600" cy="816356"/>
          </a:xfrm>
          <a:prstGeom prst="rect">
            <a:avLst/>
          </a:prstGeom>
          <a:solidFill>
            <a:srgbClr val="FFF8E5"/>
          </a:solidFill>
          <a:ln w="17780">
            <a:solidFill>
              <a:srgbClr val="E0A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84200" y="4673600"/>
            <a:ext cx="63500" cy="816356"/>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7400" y="4673600"/>
            <a:ext cx="14757400" cy="74015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style="flex:0 0 auto"&gt;共同方法学规范：被试内设计 + 混合模型（被试与场景为随机效应）；反应时按右偏分布处理（对数正态／Gamma 或生存分析）；主要结局预注册，次要结局 FDR 校正；眼动采用动态 AOI、有效率 ≥ 80%，并区分警告 AOI 与真实行人 AOI；报告估计差、95% CI 与效应量，「无显著差异」不解释为等效。由 SPIDER 2.0 导出的时间约束：分心影响在次任务后仍持续 30 s 以上，故相邻危险事件间隔取 60 s，并插入 filler／catch trials 抑制预期与习惯化。</a:t>
            </a:r>
          </a:p>
        </p:txBody>
      </p:sp>
      <p:sp>
        <p:nvSpPr>
          <p:cNvPr id="12" name="TextBox 11"/>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22 / 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研究设计　研究二与研究三：实验 2–5 的设计详表</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706600" y="203200"/>
            <a:ext cx="9652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备查</a:t>
            </a:r>
          </a:p>
        </p:txBody>
      </p:sp>
      <p:sp>
        <p:nvSpPr>
          <p:cNvPr id="6" name="Rectangle 5"/>
          <p:cNvSpPr/>
          <p:nvPr/>
        </p:nvSpPr>
        <p:spPr>
          <a:xfrm>
            <a:off x="584200" y="939800"/>
            <a:ext cx="15087600" cy="656336"/>
          </a:xfrm>
          <a:prstGeom prst="rect">
            <a:avLst/>
          </a:prstGeom>
          <a:solidFill>
            <a:srgbClr val="D9E2F3"/>
          </a:solidFill>
          <a:ln w="1778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4200" y="939800"/>
            <a:ext cx="63500" cy="656336"/>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939800"/>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&gt;四个主实验共用同一被试与流程规范：被试内设计 + 混合模型（被试与场景为随机效应）；单 session ≤ 30 min；危险事件占比 &lt; 40%、事件间隔 ≥ 60 s、含填充与捕获试次；时间参数由上游实验入选值固定。下表只列各实验特有的变量与预期。</a:t>
            </a:r>
          </a:p>
        </p:txBody>
      </p:sp>
      <p:graphicFrame>
        <p:nvGraphicFramePr>
          <p:cNvPr id="9" name="Table 8"/>
          <p:cNvGraphicFramePr>
            <a:graphicFrameLocks noGrp="1"/>
          </p:cNvGraphicFramePr>
          <p:nvPr/>
        </p:nvGraphicFramePr>
        <p:xfrm>
          <a:off x="584200" y="1672336"/>
          <a:ext cx="15087600" cy="2540000"/>
        </p:xfrm>
        <a:graphic>
          <a:graphicData uri="http://schemas.openxmlformats.org/drawingml/2006/table">
            <a:tbl>
              <a:tblPr firstRow="1" bandRow="1">
                <a:tableStyleId>{5C22544A-7EE6-4342-B048-85BDC9FD1C3A}</a:tableStyleId>
              </a:tblPr>
              <a:tblGrid>
                <a:gridCol w="3771900"/>
                <a:gridCol w="3771900"/>
                <a:gridCol w="3771900"/>
                <a:gridCol w="3771900"/>
              </a:tblGrid>
              <a:tr h="508000">
                <a:tc>
                  <a:txBody>
                    <a:bodyPr wrap="square" lIns="76200" rIns="76200" tIns="38100" bIns="38100"/>
                    <a:lstStyle/>
                    <a:p>
                      <a:pPr>
                        <a:lnSpc>
                          <a:spcPct val="115000"/>
                        </a:lnSpc>
                      </a:pPr>
                      <a:r>
                        <a:rPr sz="1250" b="1">
                          <a:solidFill>
                            <a:srgbClr val="FFFFFF"/>
                          </a:solidFill>
                          <a:latin typeface="微软雅黑"/>
                        </a:rPr>
                        <a:t>实验</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自变量与水平</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主要因变量（四类构念）</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预期结果</a:t>
                      </a:r>
                    </a:p>
                  </a:txBody>
                  <a:tcPr>
                    <a:solidFill>
                      <a:srgbClr val="4472C4"/>
                    </a:solidFill>
                  </a:tcPr>
                </a:tc>
              </a:tr>
              <a:tr h="508000">
                <a:tc>
                  <a:txBody>
                    <a:bodyPr wrap="square" lIns="76200" rIns="76200" tIns="38100" bIns="38100"/>
                    <a:lstStyle/>
                    <a:p>
                      <a:pPr>
                        <a:lnSpc>
                          <a:spcPct val="115000"/>
                        </a:lnSpc>
                      </a:pPr>
                      <a:r>
                        <a:rPr sz="1200" b="0">
                          <a:solidFill>
                            <a:srgbClr val="1A1A1A"/>
                          </a:solidFill>
                          <a:latin typeface="微软雅黑"/>
                        </a:rPr>
                        <a:t>实验 2 单层时间参数</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触发准则（固定时间阈值／制动威胁数）× 相对提前量 Δt（0／+1.0／+2.5 s）= 2 × 3 被试内；行车速度 40／60 km/h 平衡呈现，并作为检验 H3（准则 × 车速交互）的因素而非纯控制变量；区块 B：持续与撤销 3 水平</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安全绩效最小 TTMD（主）、峰值减速度、抖动率 情境意识首次注视时间、漏检率（并列主） 认知负荷NASA-TLX 用户体验侵入性</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H1 存在最小有效提前量 0.9–1.2 s；Δt &lt; 0.9 s 时峰值减速度与抖动率显著上升而碰撞率不降。H2 +2.5 s 相对 +1.0 s 反应时无显著增益而主观负荷与侵入性更差（收益递减 + 代价递增）。H3 「准则 × 车速」交互显著，即制动威胁数的跨车速一致性优于固定阈值。</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实验 3 分层与可靠性</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级间间隔（0.7／1.0／1.5 s）× 系统可靠性（100%／80%）= 3 × 2，另加无预警基线与实验 2 入选单层方案两对照；虚警只施加在预告级</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情境意识预告级→首次注视、目标验证时间 用户体验信任量表、预告级依从率 安全绩效取消升级率、最小 TTMD</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H4 级间间隔存在倒 U 型峰值且峰值位于 1.0 s。H9（反向预测）80% 可靠性下分层优势显著衰减、预告级依从率下降，且低可靠性时 1.5 s 间隔反而更稳健。</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实验 4 空间参照系</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主设计：锁定策略 5 水平（Baseline／屏幕固定／道路锁定／跟随目标／复合）× 背景视觉复杂度 2 水平 = 5 × 2；区块 F：锁定策略 2 水平（屏幕固定／跟随目标）× 次任务负荷 2 水平（纯音乐／意图诱导型听觉问答）= 2 × 2，背景固定为高拥挤；时间参数固定为实验 2–3 入选组合</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情境意识真实行人首次注视（主）、漏检率（并列主）、目标验证时间 认知负荷注视转移熵、瞳孔变化率 用户体验主观偏好序</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H11 跟随目标锁定的定位效率优于屏幕固定与道路锁定；复合条件改善情境理解但提高认知负荷（两方向同时预测）。H15（区块 F）负荷 × 锁定策略交互显著；零结果亦有解释力——Shen 等（2026）的「闪烁 × 沉浸度」交互即不显著（p = .126）而沉浸度主效应 η² = .886，若此处亦然则说明推荐序可跨负荷迁移。关键约束：以屏幕固定为基线以分离位置增益与共形增益，故其余条件的增量必然更小，样本量按更小效应量估计。</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实验 5 风险演化编码</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2 × 2 被试内：风险量级空间映射（无／有，映射源统一为制动威胁数）× 运动趋势空间映射（无／有）；空间载体固定为实验 4 入选方案</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情境意识路径侵入预测正确率、冲突点空间误差、预期性注视比例 认知负荷瞳孔与负荷量表 安全绩效最小 TTMD</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两维度作用路径不同：量级映射主要改善紧迫度判断（理解层），趋势映射主要改善路径侵入预测（预测层）；二者是否协同为开放问题，若同时施加使负荷显著上升而绩效不再改善，则支持「信息量存在上限」。</a:t>
                      </a:r>
                    </a:p>
                  </a:txBody>
                  <a:tcPr>
                    <a:solidFill>
                      <a:srgbClr val="FAFBFD"/>
                    </a:solidFill>
                  </a:tcPr>
                </a:tc>
              </a:tr>
            </a:tbl>
          </a:graphicData>
        </a:graphic>
      </p:graphicFrame>
      <p:sp>
        <p:nvSpPr>
          <p:cNvPr id="10" name="Rectangle 9"/>
          <p:cNvSpPr/>
          <p:nvPr/>
        </p:nvSpPr>
        <p:spPr>
          <a:xfrm>
            <a:off x="584200" y="4364736"/>
            <a:ext cx="15087600" cy="816356"/>
          </a:xfrm>
          <a:prstGeom prst="rect">
            <a:avLst/>
          </a:prstGeom>
          <a:solidFill>
            <a:srgbClr val="FFF8E5"/>
          </a:solidFill>
          <a:ln w="17780">
            <a:solidFill>
              <a:srgbClr val="E0A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84200" y="4364736"/>
            <a:ext cx="63500" cy="816356"/>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7400" y="4364736"/>
            <a:ext cx="14757400" cy="74015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style="flex:0 0 auto"&gt;共同统计规范：反应时按右偏分布处理（对数正态／Gamma 或生存分析）；主要结局预注册，次要结局按错误发现率校正；报告估计差、95% 置信区间与效应量；「无显著差异」不解释为等效，等效须另设等效界检验。判定按序贯非劣：安全非劣 → 制动平顺 → 认知代价 → 低可靠性稳健性 → 反应时与偏好，结果以帕累托前沿呈现。</a:t>
            </a:r>
          </a:p>
        </p:txBody>
      </p:sp>
      <p:sp>
        <p:nvSpPr>
          <p:cNvPr id="13" name="TextBox 12"/>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23 / 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研究设计　研究一如何指导研究二与研究三：五项产出的逐项去处</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706600" y="203200"/>
            <a:ext cx="9652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备查</a:t>
            </a:r>
          </a:p>
        </p:txBody>
      </p:sp>
      <p:sp>
        <p:nvSpPr>
          <p:cNvPr id="6" name="Rectangle 5"/>
          <p:cNvSpPr/>
          <p:nvPr/>
        </p:nvSpPr>
        <p:spPr>
          <a:xfrm>
            <a:off x="584200" y="939800"/>
            <a:ext cx="15087600" cy="656336"/>
          </a:xfrm>
          <a:prstGeom prst="rect">
            <a:avLst/>
          </a:prstGeom>
          <a:solidFill>
            <a:srgbClr val="D9E2F3"/>
          </a:solidFill>
          <a:ln w="1778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4200" y="939800"/>
            <a:ext cx="63500" cy="656336"/>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939800"/>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回答一个必须回答的质疑：研究一只做测量、不做操纵，其价值何在？答案是三条——它为下游提供①基线参数（自变量的换算零点）、②关键时间阈值（自变量水平的取值边界）、③模型可行性验证（三重约束模型的可行区间是否非空）。若缺此三项，下游实验的自变量水平只能凭既有文献在其他车速条件下报告的秒数设定，而这正是本领域结论不可累积的根源。</a:t>
            </a:r>
          </a:p>
        </p:txBody>
      </p:sp>
      <p:sp>
        <p:nvSpPr>
          <p:cNvPr id="9" name="Rectangle 8"/>
          <p:cNvSpPr/>
          <p:nvPr/>
        </p:nvSpPr>
        <p:spPr>
          <a:xfrm>
            <a:off x="584200" y="1672336"/>
            <a:ext cx="7429500" cy="1505013"/>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1672336"/>
            <a:ext cx="7048500" cy="1428813"/>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五项产出与其下游去处（逐项可核）</a:t>
            </a:r>
          </a:p>
          <a:p>
            <a:pPr>
              <a:lnSpc>
                <a:spcPct val="180000"/>
              </a:lnSpc>
              <a:spcAft>
                <a:spcPts val="500"/>
              </a:spcAft>
            </a:pPr>
            <a:r>
              <a:rPr sz="1400" b="0">
                <a:solidFill>
                  <a:srgbClr val="1A1A1A"/>
                </a:solidFill>
                <a:latin typeface="微软雅黑"/>
              </a:rPr>
              <a:t>产出去处与作用使用者 ① t0 分布 中位数、p5、p95、被试内 SD基线参数：作 Δt 的换算零点；被试内 SD 决定 Δt 能否作被试内因子——若 SD &gt; 1 s 则退化为协变量并行报告实验 2 ② PRT 第 95 分位关键阈值：运动学下界计算与可避险区校验——据此判定哪些 Δt 水平在物理上仍可避险实验 2、3 ③ t0 时刻的制动威胁数关键阈值：制动威胁数触发阈值的校准值，使归一化触发与自发察觉对齐——这是「准则类型」自变量得以公平对照的前提实验 2 ④ 实测舒适减速度基线参数：全部实验的归一化分母（与车辆上限并列报告）；实验 5 的风险量级映射亦以此为标度实验 2–5 ⑤ 方差成分模型可行性：样本量估计与混合模型的随机效应结构设定实验 2–5</a:t>
            </a:r>
          </a:p>
        </p:txBody>
      </p:sp>
      <p:sp>
        <p:nvSpPr>
          <p:cNvPr id="11" name="Rectangle 10"/>
          <p:cNvSpPr/>
          <p:nvPr/>
        </p:nvSpPr>
        <p:spPr>
          <a:xfrm>
            <a:off x="8242300" y="1672336"/>
            <a:ext cx="7429500" cy="1839023"/>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45500" y="1672336"/>
            <a:ext cx="7048500" cy="1762823"/>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三重约束模型的可行区间校验</a:t>
            </a:r>
          </a:p>
          <a:p>
            <a:pPr>
              <a:lnSpc>
                <a:spcPct val="180000"/>
              </a:lnSpc>
              <a:spcAft>
                <a:spcPts val="500"/>
              </a:spcAft>
            </a:pPr>
            <a:r>
              <a:rPr sz="1400" b="0">
                <a:solidFill>
                  <a:srgbClr val="1A1A1A"/>
                </a:solidFill>
                <a:latin typeface="微软雅黑"/>
              </a:rPr>
              <a:t>研究一的第三项职能是检验三重约束模型的交集是否非空——这是本研究理论主张能否成立的前置条件。</a:t>
            </a:r>
          </a:p>
          <a:p>
            <a:pPr>
              <a:lnSpc>
                <a:spcPct val="180000"/>
              </a:lnSpc>
              <a:spcAft>
                <a:spcPts val="500"/>
              </a:spcAft>
            </a:pPr>
            <a:r>
              <a:rPr sz="1400" b="0">
                <a:solidFill>
                  <a:srgbClr val="1A1A1A"/>
                </a:solidFill>
                <a:latin typeface="微软雅黑"/>
              </a:rPr>
              <a:t>递进的代价与其对策：逐层固定参数使下游变量数可控，代价是上游失准会阻塞下游。故对每一项产出均预先声明退化路径（见上表①），且退化路径不得在见到数据后选择。</a:t>
            </a:r>
          </a:p>
          <a:p>
            <a:pPr marL="5334" indent="-4572">
              <a:lnSpc>
                <a:spcPct val="182000"/>
              </a:lnSpc>
              <a:spcAft>
                <a:spcPts val="500"/>
              </a:spcAft>
            </a:pPr>
            <a:r>
              <a:rPr sz="1350" b="0">
                <a:solidFill>
                  <a:srgbClr val="1A1A1A"/>
                </a:solidFill>
                <a:latin typeface="微软雅黑"/>
              </a:rPr>
              <a:t>•  ① 运动学下界由实测 PRT 第 95 分位与舒适减速度确定：预警须早于「以舒适减速度仍可在冲突点前停住」的最晚时刻。</a:t>
            </a:r>
          </a:p>
          <a:p>
            <a:pPr marL="5334" indent="-4572">
              <a:lnSpc>
                <a:spcPct val="182000"/>
              </a:lnSpc>
              <a:spcAft>
                <a:spcPts val="500"/>
              </a:spcAft>
            </a:pPr>
            <a:r>
              <a:rPr sz="1350" b="0">
                <a:solidFill>
                  <a:srgbClr val="1A1A1A"/>
                </a:solidFill>
                <a:latin typeface="微软雅黑"/>
              </a:rPr>
              <a:t>•  ② 可靠性上界由探测可靠性与虚警代价确定，本研究以实验 3 的可靠性操纵间接标定。</a:t>
            </a:r>
          </a:p>
          <a:p>
            <a:pPr marL="5334" indent="-4572">
              <a:lnSpc>
                <a:spcPct val="182000"/>
              </a:lnSpc>
              <a:spcAft>
                <a:spcPts val="500"/>
              </a:spcAft>
            </a:pPr>
            <a:r>
              <a:rPr sz="1350" b="0">
                <a:solidFill>
                  <a:srgbClr val="1A1A1A"/>
                </a:solidFill>
                <a:latin typeface="微软雅黑"/>
              </a:rPr>
              <a:t>•  ③ 认知窗口由 t0 与各 SPIDER 阶段的可用时长确定。</a:t>
            </a:r>
          </a:p>
          <a:p>
            <a:pPr marL="5334" indent="-4572">
              <a:lnSpc>
                <a:spcPct val="182000"/>
              </a:lnSpc>
              <a:spcAft>
                <a:spcPts val="500"/>
              </a:spcAft>
            </a:pPr>
            <a:r>
              <a:rPr sz="1350" b="0">
                <a:solidFill>
                  <a:srgbClr val="1A1A1A"/>
                </a:solidFill>
                <a:latin typeface="微软雅黑"/>
              </a:rPr>
              <a:t>•  否证条件：若实测显示三者交集为空（即任何提前量都无法同时满足运动学与认知要求），则本研究的参数化路径不成立，须转向多模态或介入式方案。该情形须照实报告。</a:t>
            </a:r>
          </a:p>
        </p:txBody>
      </p:sp>
      <p:sp>
        <p:nvSpPr>
          <p:cNvPr id="13" name="TextBox 12"/>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24 /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