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46200" y="1524000"/>
            <a:ext cx="13563600" cy="3048000"/>
          </a:xfrm>
          <a:prstGeom prst="rect">
            <a:avLst/>
          </a:prstGeom>
          <a:noFill/>
        </p:spPr>
        <p:txBody>
          <a:bodyPr wrap="square" lIns="0" rIns="0" tIns="0" bIns="0">
            <a:spAutoFit/>
          </a:bodyPr>
          <a:lstStyle/>
          <a:p>
            <a:pPr algn="ctr">
              <a:lnSpc>
                <a:spcPct val="125000"/>
              </a:lnSpc>
            </a:pPr>
            <a:r>
              <a:rPr sz="3400" b="1">
                <a:solidFill>
                  <a:srgbClr val="2F528F"/>
                </a:solidFill>
                <a:latin typeface="微软雅黑"/>
              </a:rPr>
              <a:t>AR-HUD 行人碰撞预警的情境依赖时空参数设计非盲区与盲区双情境的分别标定及其迁移损失</a:t>
            </a:r>
          </a:p>
        </p:txBody>
      </p:sp>
      <p:sp>
        <p:nvSpPr>
          <p:cNvPr id="4" name="TextBox 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选题依据　一个高危却尚未被参数化的情境</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1 / 8</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&gt;行人碰撞中最危险的一类，并非驾驶员看见了行人而未及反应，而是驾驶员在碰撞前从未看见行人。从停放车辆后方窜出、自公交车尾绕行、在 A 柱遮挡角内横穿——中文语境称为「鬼探头」，即视线被车辆或障碍物遮挡时行人突然窜出。这类场景对 AR-HUD 具有双重意义。</a:t>
            </a:r>
          </a:p>
        </p:txBody>
      </p:sp>
      <p:sp>
        <p:nvSpPr>
          <p:cNvPr id="9" name="Rectangle 8"/>
          <p:cNvSpPr/>
          <p:nvPr/>
        </p:nvSpPr>
        <p:spPr>
          <a:xfrm>
            <a:off x="584200" y="1672336"/>
            <a:ext cx="7429500" cy="1403032"/>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326832"/>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机器感知在此具有绝对优势</a:t>
            </a:r>
          </a:p>
          <a:p>
            <a:pPr marL="5334" indent="-4572">
              <a:lnSpc>
                <a:spcPct val="182000"/>
              </a:lnSpc>
              <a:spcAft>
                <a:spcPts val="500"/>
              </a:spcAft>
            </a:pPr>
            <a:r>
              <a:rPr sz="1350" b="0">
                <a:solidFill>
                  <a:srgbClr val="1A1A1A"/>
                </a:solidFill>
                <a:latin typeface="微软雅黑"/>
              </a:rPr>
              <a:t>•  毫米波雷达、路侧摄像机与车路协同链路可以「看见」驾驶员看不见的目标。已有实车与仿真证据：路侧单元于距行人 100 m 触发预警，使油门松开提前 36.29 m、首次制动提前 39.10 m、最大减速度绝对值降低约 3.45 m/s²、最小冲突距离增加 9.41 m（均 p &lt; .001）。</a:t>
            </a:r>
          </a:p>
          <a:p>
            <a:pPr marL="5334" indent="-4572">
              <a:lnSpc>
                <a:spcPct val="182000"/>
              </a:lnSpc>
              <a:spcAft>
                <a:spcPts val="500"/>
              </a:spcAft>
            </a:pPr>
            <a:r>
              <a:rPr sz="1350" b="0">
                <a:solidFill>
                  <a:srgbClr val="1A1A1A"/>
                </a:solidFill>
                <a:latin typeface="微软雅黑"/>
              </a:rPr>
              <a:t>•  故 AR-HUD 在此不只是加速信息传递的通道，而是信息的唯一来源——这与常规可见场景有本质区别。</a:t>
            </a:r>
          </a:p>
          <a:p>
            <a:pPr marL="5334" indent="-4572">
              <a:lnSpc>
                <a:spcPct val="182000"/>
              </a:lnSpc>
              <a:spcAft>
                <a:spcPts val="500"/>
              </a:spcAft>
            </a:pPr>
            <a:r>
              <a:rPr sz="1350" b="0">
                <a:solidFill>
                  <a:srgbClr val="1A1A1A"/>
                </a:solidFill>
                <a:latin typeface="微软雅黑"/>
              </a:rPr>
              <a:t>•  能见度下降还会放大这一优势：雾天条件下油门提前多 27.7 m（p = .032）、制动提前多 27.8 m（p = .035）。</a:t>
            </a:r>
          </a:p>
        </p:txBody>
      </p:sp>
      <p:sp>
        <p:nvSpPr>
          <p:cNvPr id="11" name="Rectangle 10"/>
          <p:cNvSpPr/>
          <p:nvPr/>
        </p:nvSpPr>
        <p:spPr>
          <a:xfrm>
            <a:off x="8242300" y="1672336"/>
            <a:ext cx="7429500" cy="1403032"/>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326832"/>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但也正因如此，责任与风险同时放大</a:t>
            </a:r>
          </a:p>
          <a:p>
            <a:pPr marL="5334" indent="-4572">
              <a:lnSpc>
                <a:spcPct val="182000"/>
              </a:lnSpc>
              <a:spcAft>
                <a:spcPts val="500"/>
              </a:spcAft>
            </a:pPr>
            <a:r>
              <a:rPr sz="1350" b="0">
                <a:solidFill>
                  <a:srgbClr val="1A1A1A"/>
                </a:solidFill>
                <a:latin typeface="微软雅黑"/>
              </a:rPr>
              <a:t>•  驾驶员无法用自身视觉核验预警。预警发出时行人不可见，故「报警是否与我的判断吻合」这一常规的信任建立路径在此不成立。</a:t>
            </a:r>
          </a:p>
          <a:p>
            <a:pPr marL="5334" indent="-4572">
              <a:lnSpc>
                <a:spcPct val="182000"/>
              </a:lnSpc>
              <a:spcAft>
                <a:spcPts val="500"/>
              </a:spcAft>
            </a:pPr>
            <a:r>
              <a:rPr sz="1350" b="0">
                <a:solidFill>
                  <a:srgbClr val="1A1A1A"/>
                </a:solidFill>
                <a:latin typeface="微软雅黑"/>
              </a:rPr>
              <a:t>•  系统漏检的后果更严重。已有证据显示 AR 边界框把无意视盲频次由 46 降至 11，但系统一旦漏检行人，无意视盲反而高于不用 AR-HUD；而盲区情境中驾驶员没有独立视觉信息源可以补偿。</a:t>
            </a:r>
          </a:p>
          <a:p>
            <a:pPr marL="5334" indent="-4572">
              <a:lnSpc>
                <a:spcPct val="182000"/>
              </a:lnSpc>
              <a:spcAft>
                <a:spcPts val="500"/>
              </a:spcAft>
            </a:pPr>
            <a:r>
              <a:rPr sz="1350" b="0">
                <a:solidFill>
                  <a:srgbClr val="1A1A1A"/>
                </a:solidFill>
                <a:latin typeface="微软雅黑"/>
              </a:rPr>
              <a:t>•  共形图形可能失效。实车实测显示 17° 视场下近距侧方行人的共形图形会移出视场而彻底失效，而遮挡后横穿恰是近距侧方构型。</a:t>
            </a:r>
          </a:p>
        </p:txBody>
      </p:sp>
      <p:sp>
        <p:nvSpPr>
          <p:cNvPr id="13" name="Rectangle 12"/>
          <p:cNvSpPr/>
          <p:nvPr/>
        </p:nvSpPr>
        <p:spPr>
          <a:xfrm>
            <a:off x="584200" y="3151568"/>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151568"/>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151568"/>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auto"&gt;选题的直接依据：本课题已建成的 102 篇文献库中，以遮挡为核心条件的研究不足 6%（6 篇），其中仅 1 篇提供可引用的数值、1 篇为实车范式、1 篇为仅摘要级；无一篇测量或计算行人的自然显露时刻，无一篇以相对显露时刻的提前量为自变量，无一篇正交比较遮挡条件下的锚定策略。既有文献自身的判断亦一致——该问题「仍未被充分探索」。</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研究现状　既有格局：「是否有效」已有共识，「取何值」普遍缺证据</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 / 8</a:t>
            </a:r>
          </a:p>
        </p:txBody>
      </p:sp>
      <p:sp>
        <p:nvSpPr>
          <p:cNvPr id="6" name="Rectangle 5"/>
          <p:cNvSpPr/>
          <p:nvPr/>
        </p:nvSpPr>
        <p:spPr>
          <a:xfrm>
            <a:off x="584200" y="939800"/>
            <a:ext cx="15087600" cy="65633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本课题前期已完成 102 篇文献的系统综述，按 AR-HUD 预警设计须依次确定的七个参数环节组织，每一环节固定考察已有证据、结论分歧与研究空白三项。下表为七环节的现状概览。</a:t>
            </a:r>
          </a:p>
        </p:txBody>
      </p:sp>
      <p:graphicFrame>
        <p:nvGraphicFramePr>
          <p:cNvPr id="8" name="Table 7"/>
          <p:cNvGraphicFramePr>
            <a:graphicFrameLocks noGrp="1"/>
          </p:cNvGraphicFramePr>
          <p:nvPr/>
        </p:nvGraphicFramePr>
        <p:xfrm>
          <a:off x="584200" y="1672336"/>
          <a:ext cx="15087600" cy="4064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参数环节</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已形成的共识</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仍缺失的证据</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① 呈现时机</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把预警搬进前视野即有实质收益；单层预警在 TTC 小于 3 s 时不足以改变行为；过早预警收益递减且代价上升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自发察觉时刻从未被作为基准量测量；全部研究把预警设在绝对时距上</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② 触发准则</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算法侧四篇一致主张以运动学量而非固定秒数触发——同一 TTC 2 s 在 40 与 80 km/h 下制动威胁数相差一倍</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准则类型从未被作为自变量；人因侧零对照</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③ 分层与级间间隔</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产业实现的级间间隔落在 0.5–2.0 s 且随紧迫度单调缩短，其中 1.0 s 有双源支持</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级间间隔无任何直接人因对照；升级仲裁被普遍忽视</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④ 持续与撤销</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唯一可用的撤销规则是 2 : 1 滞环；理论上下界为不低于 500 ms、不高于 3 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持续时长对照实验完全缺失，报告率低于 15%；渐隐时长无文献支撑</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⑤ 系统可靠性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低行动要求条件下 15% 误报加 15% 漏报对所有因变量无显著效应；高行动要求条件下信任由 7.3 降至 4.3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可靠性与预警时机的交互从未被分离</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⑥ 空间参照系</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跟随目标锁定在定位效率上显著占优：首次注视 617 ms 对 2563／2730 ms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四种锁定的正交对照至今无一实现；位置增益与共形增益未分离</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⑦ 图形与动态编码</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红与黄为日夜鲁棒色对、蓝紫不可用；不透明度四源收敛于 0.6–0.75；分级配色可缩短风险感知时间</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「动态」从未被拆成量级映射与趋势映射的正交设计</a:t>
                      </a:r>
                    </a:p>
                  </a:txBody>
                  <a:tcPr>
                    <a:solidFill>
                      <a:srgbClr val="FFFFFF"/>
                    </a:solidFill>
                  </a:tcPr>
                </a:tc>
              </a:tr>
            </a:tbl>
          </a:graphicData>
        </a:graphic>
      </p:graphicFrame>
      <p:sp>
        <p:nvSpPr>
          <p:cNvPr id="9" name="Rectangle 8"/>
          <p:cNvSpPr/>
          <p:nvPr/>
        </p:nvSpPr>
        <p:spPr>
          <a:xfrm>
            <a:off x="584200" y="5888736"/>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5888736"/>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58887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格局判断：针对「某一措施是否有效」的问题，文献多已给出方向一致的答案；针对「参数应取何值」的问题，直接证据普遍缺失。而上述七环节的全部结论都隐含同一前提——危险目标可见。本课题的切入点即在于检验并突破这一前提。</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研究现状　遮挡情境的六篇核心证据与一处三倍缺口</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 / 8</a:t>
            </a:r>
          </a:p>
        </p:txBody>
      </p:sp>
      <p:sp>
        <p:nvSpPr>
          <p:cNvPr id="6" name="Rectangle 5"/>
          <p:cNvSpPr/>
          <p:nvPr/>
        </p:nvSpPr>
        <p:spPr>
          <a:xfrm>
            <a:off x="584200" y="939800"/>
            <a:ext cx="15087600" cy="45720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381000"/>
          </a:xfrm>
          <a:prstGeom prst="rect">
            <a:avLst/>
          </a:prstGeom>
          <a:noFill/>
        </p:spPr>
        <p:txBody>
          <a:bodyPr wrap="square" lIns="0" rIns="0" tIns="0" bIns="0">
            <a:spAutoFit/>
          </a:bodyPr>
          <a:lstStyle/>
          <a:p/>
        </p:txBody>
      </p:sp>
      <p:sp>
        <p:nvSpPr>
          <p:cNvPr id="8" name="TextBox 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问题的提出　盲区使既有结论的六项前提不成立，而非使效应量变小</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3 / 8</a:t>
            </a:r>
          </a:p>
        </p:txBody>
      </p:sp>
      <p:graphicFrame>
        <p:nvGraphicFramePr>
          <p:cNvPr id="6" name="Table 5"/>
          <p:cNvGraphicFramePr>
            <a:graphicFrameLocks noGrp="1"/>
          </p:cNvGraphicFramePr>
          <p:nvPr/>
        </p:nvGraphicFramePr>
        <p:xfrm>
          <a:off x="584200" y="939800"/>
          <a:ext cx="15087600" cy="3556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编号</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既有结论的成立前提</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盲区情境下的失效方式</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出处</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BD-1 零点</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存在自发察觉时刻 t0，可实测、可作提前量的零点</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行人在显露前不可见，Scanning 无信号可采样，t0 在物理上不存在；Δt = t0 − twarn 无定义</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You 等, 2023；Strayer 与 McDonnell, 2025</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BD-2 空间</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目标可见，故跟随目标锁定可实现且最优（首次注视 2730 → 617 ms）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严格的目标锁定物理不可实现：或锚定遮挡物表面（此时锚的是遮挡物），或穿透绘制（引入深度歧义）；候选集本身改变</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You 等, 2023 揭示 Wu 等, 2024 的边界</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BD-3 上界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提前量上界由人因（虚警代价、认知窗口）决定，可由界面设计缓解</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上界由传感器能否看见决定：最低预算 1.66 s、意图预测缓冲 0.5–2.0 s，远小于 6.07–6.28 s 的需求。任何界面设计都无法补偿</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Kim 等, 2022；Cangut 等, 2026；Chang 等, 2009</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BD-4 信任</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驾驶员可核验预警真伪，信任由「与自身判断是否吻合」建立</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无从核验：信任只能依赖长期可靠性经验；「晚报警 → 信任 7.3 降至 4.3、R = −0.46」的机制在此不适用</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Abe 与 Richardson, 2006；You 等, 2023</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BD-5 视场</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共形图形可稳定贴合于目标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17° 视场下近距侧方共形图形移出视场而彻底失效；遮挡后横穿恰是近距侧方构型</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Merenda 等, 2018</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BD-6 理论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可由光学膨胀率 dθ/dt 越过知觉阈值反推 t0 下界（60 km/h 约 3.2 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膨胀率的时间原点被遮挡截断：序列自显露时刻起才存在，下界推导须以新零点重做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本研究推导，依已发表场景几何</a:t>
                      </a:r>
                    </a:p>
                  </a:txBody>
                  <a:tcPr>
                    <a:solidFill>
                      <a:srgbClr val="FAFBFD"/>
                    </a:solidFill>
                  </a:tcPr>
                </a:tc>
              </a:tr>
            </a:tbl>
          </a:graphicData>
        </a:graphic>
      </p:graphicFrame>
      <p:sp>
        <p:nvSpPr>
          <p:cNvPr id="7" name="Rectangle 6"/>
          <p:cNvSpPr/>
          <p:nvPr/>
        </p:nvSpPr>
        <p:spPr>
          <a:xfrm>
            <a:off x="584200" y="4648200"/>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4648200"/>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46482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由此确立选题的逻辑：六条并非「盲区条件下效应变弱」，而是「参数化本身失效」。若仅是效应变弱，盲区可作既有研究的一个附加水平处理；既是前提不成立，就必须另立一项研究并重建参数化基础。六条的逻辑结构为：BD-1 为根本，BD-3 与 BD-4 为独立约束，BD-2 与 BD-5 为空间侧叠加，BD-6 为 BD-1 的理论侧后果。此判断本身可被否证——见创新点第一条与预测 P6′。</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研究目标　总目标、四项分目标与三个研究问题</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4 / 8</a:t>
            </a:r>
          </a:p>
        </p:txBody>
      </p:sp>
      <p:sp>
        <p:nvSpPr>
          <p:cNvPr id="6" name="Rectangle 5"/>
          <p:cNvSpPr/>
          <p:nvPr/>
        </p:nvSpPr>
        <p:spPr>
          <a:xfrm>
            <a:off x="584200" y="939800"/>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&gt;总目标：以驾驶员情境意识模型与注意加工阶段理论为理论基础，围绕视线可见性这一情境变量，探索 AR-HUD 行人预警时空参数与驾驶员安全绩效、认知负荷、情境意识及用户体验四类构念的关系，输出两套可检验、可复现的时空参数设计标准，并直接实测两套参数之间的迁移损失，据此判定参数是否须情境自适应。 四项分目标：O1′ 双情境零点的同批标定（实验 1）；O2′ 非盲区时空参数标定（RQ1′）；O3′ 盲区零点重建与时空参数标定（RQ2′）；O4′ 迁移损失估计与切换判据输出（RQ3′）。</a:t>
            </a:r>
          </a:p>
        </p:txBody>
      </p:sp>
      <p:sp>
        <p:nvSpPr>
          <p:cNvPr id="9" name="Rectangle 8"/>
          <p:cNvSpPr/>
          <p:nvPr/>
        </p:nvSpPr>
        <p:spPr>
          <a:xfrm>
            <a:off x="584200" y="1832356"/>
            <a:ext cx="48768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832356"/>
            <a:ext cx="44958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RQ1′ / O2′ 非盲区情境</a:t>
            </a:r>
          </a:p>
          <a:p>
            <a:pPr marL="5334" indent="-4572">
              <a:lnSpc>
                <a:spcPct val="182000"/>
              </a:lnSpc>
              <a:spcAft>
                <a:spcPts val="500"/>
              </a:spcAft>
            </a:pPr>
            <a:r>
              <a:rPr sz="1350" b="0">
                <a:solidFill>
                  <a:srgbClr val="1A1A1A"/>
                </a:solidFill>
                <a:latin typeface="微软雅黑"/>
              </a:rPr>
              <a:t>•  时间参数：预警相对自发察觉时刻应提前多少？触发准则用固定时间阈值还是减速度归一化量？</a:t>
            </a:r>
          </a:p>
          <a:p>
            <a:pPr marL="5334" indent="-4572">
              <a:lnSpc>
                <a:spcPct val="182000"/>
              </a:lnSpc>
              <a:spcAft>
                <a:spcPts val="500"/>
              </a:spcAft>
            </a:pPr>
            <a:r>
              <a:rPr sz="1350" b="0">
                <a:solidFill>
                  <a:srgbClr val="1A1A1A"/>
                </a:solidFill>
                <a:latin typeface="微软雅黑"/>
              </a:rPr>
              <a:t>•  空间参数：预警应锁定屏幕、道路冲突点、行人目标还是复合？该优劣序是否随背景视觉复杂度与次任务负荷变化？</a:t>
            </a:r>
          </a:p>
          <a:p>
            <a:pPr marL="5334" indent="-4572">
              <a:lnSpc>
                <a:spcPct val="182000"/>
              </a:lnSpc>
              <a:spcAft>
                <a:spcPts val="500"/>
              </a:spcAft>
            </a:pPr>
            <a:r>
              <a:rPr sz="1350" b="0">
                <a:solidFill>
                  <a:srgbClr val="1A1A1A"/>
                </a:solidFill>
                <a:latin typeface="微软雅黑"/>
              </a:rPr>
              <a:t>•  产出：提前量与触发准则的可行区间；锁定策略的推荐序，且位置增益与共形增益分离报告。</a:t>
            </a:r>
          </a:p>
          <a:p>
            <a:pPr marL="5334" indent="-4572">
              <a:lnSpc>
                <a:spcPct val="182000"/>
              </a:lnSpc>
              <a:spcAft>
                <a:spcPts val="500"/>
              </a:spcAft>
            </a:pPr>
            <a:r>
              <a:rPr sz="1350" b="0">
                <a:solidFill>
                  <a:srgbClr val="1A1A1A"/>
                </a:solidFill>
                <a:latin typeface="微软雅黑"/>
              </a:rPr>
              <a:t>•  实验 2、实验 3</a:t>
            </a:r>
          </a:p>
        </p:txBody>
      </p:sp>
      <p:sp>
        <p:nvSpPr>
          <p:cNvPr id="11" name="Rectangle 10"/>
          <p:cNvSpPr/>
          <p:nvPr/>
        </p:nvSpPr>
        <p:spPr>
          <a:xfrm>
            <a:off x="5689600" y="1832356"/>
            <a:ext cx="4876800" cy="16344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2800" y="1832356"/>
            <a:ext cx="4495800" cy="155829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RQ2′ / O3′ 盲区情境</a:t>
            </a:r>
          </a:p>
          <a:p>
            <a:pPr marL="5334" indent="-4572">
              <a:lnSpc>
                <a:spcPct val="182000"/>
              </a:lnSpc>
              <a:spcAft>
                <a:spcPts val="500"/>
              </a:spcAft>
            </a:pPr>
            <a:r>
              <a:rPr sz="1350" b="0">
                <a:solidFill>
                  <a:srgbClr val="1A1A1A"/>
                </a:solidFill>
                <a:latin typeface="微软雅黑"/>
              </a:rPr>
              <a:t>•  零点重建：以行人自然显露时刻替代自发察觉时刻，并给出解析式。</a:t>
            </a:r>
          </a:p>
          <a:p>
            <a:pPr marL="5334" indent="-4572">
              <a:lnSpc>
                <a:spcPct val="182000"/>
              </a:lnSpc>
              <a:spcAft>
                <a:spcPts val="500"/>
              </a:spcAft>
            </a:pPr>
            <a:r>
              <a:rPr sz="1350" b="0">
                <a:solidFill>
                  <a:srgbClr val="1A1A1A"/>
                </a:solidFill>
                <a:latin typeface="微软雅黑"/>
              </a:rPr>
              <a:t>•  时间参数：相对显露时刻应提前多少？预告区段是否有独立价值？可靠性如何调节？</a:t>
            </a:r>
          </a:p>
          <a:p>
            <a:pPr marL="5334" indent="-4572">
              <a:lnSpc>
                <a:spcPct val="182000"/>
              </a:lnSpc>
              <a:spcAft>
                <a:spcPts val="500"/>
              </a:spcAft>
            </a:pPr>
            <a:r>
              <a:rPr sz="1350" b="0">
                <a:solidFill>
                  <a:srgbClr val="1A1A1A"/>
                </a:solidFill>
                <a:latin typeface="微软雅黑"/>
              </a:rPr>
              <a:t>•  空间参数：目标锁定不可实现时应锚定于何处？最优解是否随遮挡几何变化？</a:t>
            </a:r>
          </a:p>
          <a:p>
            <a:pPr marL="5334" indent="-4572">
              <a:lnSpc>
                <a:spcPct val="182000"/>
              </a:lnSpc>
              <a:spcAft>
                <a:spcPts val="500"/>
              </a:spcAft>
            </a:pPr>
            <a:r>
              <a:rPr sz="1350" b="0">
                <a:solidFill>
                  <a:srgbClr val="1A1A1A"/>
                </a:solidFill>
                <a:latin typeface="微软雅黑"/>
              </a:rPr>
              <a:t>•  产出：盲区提前量区间；分层语义分化规则；「遮挡几何 × 可用视场 → 推荐锚定」查表式规范。</a:t>
            </a:r>
          </a:p>
          <a:p>
            <a:pPr marL="5334" indent="-4572">
              <a:lnSpc>
                <a:spcPct val="182000"/>
              </a:lnSpc>
              <a:spcAft>
                <a:spcPts val="500"/>
              </a:spcAft>
            </a:pPr>
            <a:r>
              <a:rPr sz="1350" b="0">
                <a:solidFill>
                  <a:srgbClr val="1A1A1A"/>
                </a:solidFill>
                <a:latin typeface="微软雅黑"/>
              </a:rPr>
              <a:t>•  实验 4、实验 5</a:t>
            </a:r>
          </a:p>
        </p:txBody>
      </p:sp>
      <p:sp>
        <p:nvSpPr>
          <p:cNvPr id="13" name="Rectangle 12"/>
          <p:cNvSpPr/>
          <p:nvPr/>
        </p:nvSpPr>
        <p:spPr>
          <a:xfrm>
            <a:off x="10795000" y="1832356"/>
            <a:ext cx="48768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98200" y="1832356"/>
            <a:ext cx="44958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RQ3′ / O4′ 跨情境迁移</a:t>
            </a:r>
          </a:p>
          <a:p>
            <a:pPr marL="5334" indent="-4572">
              <a:lnSpc>
                <a:spcPct val="182000"/>
              </a:lnSpc>
              <a:spcAft>
                <a:spcPts val="500"/>
              </a:spcAft>
            </a:pPr>
            <a:r>
              <a:rPr sz="1350" b="0">
                <a:solidFill>
                  <a:srgbClr val="1A1A1A"/>
                </a:solidFill>
                <a:latin typeface="微软雅黑"/>
              </a:rPr>
              <a:t>•  迁移损失：把一情境入选方案施用于另一情境，估计双向绩效损失的点估计与 95% 置信区间。</a:t>
            </a:r>
          </a:p>
          <a:p>
            <a:pPr marL="5334" indent="-4572">
              <a:lnSpc>
                <a:spcPct val="182000"/>
              </a:lnSpc>
              <a:spcAft>
                <a:spcPts val="500"/>
              </a:spcAft>
            </a:pPr>
            <a:r>
              <a:rPr sz="1350" b="0">
                <a:solidFill>
                  <a:srgbClr val="1A1A1A"/>
                </a:solidFill>
                <a:latin typeface="微软雅黑"/>
              </a:rPr>
              <a:t>•  切换判据：若需情境自适应，给出以可见性判别为输入的切换条件。</a:t>
            </a:r>
          </a:p>
          <a:p>
            <a:pPr marL="5334" indent="-4572">
              <a:lnSpc>
                <a:spcPct val="182000"/>
              </a:lnSpc>
              <a:spcAft>
                <a:spcPts val="500"/>
              </a:spcAft>
            </a:pPr>
            <a:r>
              <a:rPr sz="1350" b="0">
                <a:solidFill>
                  <a:srgbClr val="1A1A1A"/>
                </a:solidFill>
                <a:latin typeface="微软雅黑"/>
              </a:rPr>
              <a:t>•  自我否证：若迁移损失不显著，本研究的情境切分不成立，应退回单情境处理——该零结果照实报告并视为有效贡献。</a:t>
            </a:r>
          </a:p>
          <a:p>
            <a:pPr marL="5334" indent="-4572">
              <a:lnSpc>
                <a:spcPct val="182000"/>
              </a:lnSpc>
              <a:spcAft>
                <a:spcPts val="500"/>
              </a:spcAft>
            </a:pPr>
            <a:r>
              <a:rPr sz="1350" b="0">
                <a:solidFill>
                  <a:srgbClr val="1A1A1A"/>
                </a:solidFill>
                <a:latin typeface="微软雅黑"/>
              </a:rPr>
              <a:t>•  交叉迁移区块（嵌入实验 3 与实验 5）</a:t>
            </a:r>
          </a:p>
        </p:txBody>
      </p:sp>
      <p:sp>
        <p:nvSpPr>
          <p:cNvPr id="15" name="Rectangle 14"/>
          <p:cNvSpPr/>
          <p:nvPr/>
        </p:nvSpPr>
        <p:spPr>
          <a:xfrm>
            <a:off x="584200" y="3543046"/>
            <a:ext cx="15087600" cy="97637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200" y="3543046"/>
            <a:ext cx="63500" cy="97637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400" y="3543046"/>
            <a:ext cx="14757400" cy="90017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auto"&gt;共用前提——实验 1（双情境标定）：以「情境（非盲区／盲区）× 车速（40／60 km/h）」四单元、无 AR 预警条件，在同一批被试与同一场景族内同时标定两个零点：非盲区的自发察觉时刻分布，盲区的显露时刻几何验证与显露后感知反应时；另产出反应时分位数、舒适减速度、零点时刻的制动威胁数、系统渲染延迟与方差成分。一个实验同时定出两个零点，是两套参数可比的前提（即 O1′）。 因变量口径：两情境共用四类构念——安全绩效（最小 TTMD、峰值减速度、碰撞率）、认知负荷（NASA-TLX、瞳孔变化率、注视熵）、情境意识（三阶段计分、漏检率为并列主要终点、首次注视时间、预期性注视）、用户体验（信任、可接受度、扰烦度）；情境意识单列而不并入认知负荷，因二者可解离。</a:t>
            </a:r>
          </a:p>
        </p:txBody>
      </p:sp>
      <p:sp>
        <p:nvSpPr>
          <p:cNvPr id="18" name="TextBox 1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核心理论　预告区段：盲区把注意加工的五阶段强制拆成两段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5 / 8</a:t>
            </a:r>
          </a:p>
        </p:txBody>
      </p:sp>
      <p:sp>
        <p:nvSpPr>
          <p:cNvPr id="6" name="Rectangle 5"/>
          <p:cNvSpPr/>
          <p:nvPr/>
        </p:nvSpPr>
        <p:spPr>
          <a:xfrm>
            <a:off x="584200" y="939800"/>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零点由心理量替换为几何量：三项方法学收益</a:t>
            </a:r>
          </a:p>
          <a:p>
            <a:pPr marL="5334" indent="-4572">
              <a:lnSpc>
                <a:spcPct val="182000"/>
              </a:lnSpc>
              <a:spcAft>
                <a:spcPts val="500"/>
              </a:spcAft>
            </a:pPr>
            <a:r>
              <a:rPr sz="1350" b="0">
                <a:solidFill>
                  <a:srgbClr val="1A1A1A"/>
                </a:solidFill>
                <a:latin typeface="微软雅黑"/>
              </a:rPr>
              <a:t>•  免个体校准。显露时刻由遮挡体位置尺寸、行人步速、本车轨迹与眼点位置解析求出，被试间恒定，故 Δt′ 可直接作被试内因子。</a:t>
            </a:r>
          </a:p>
          <a:p>
            <a:pPr marL="5334" indent="-4572">
              <a:lnSpc>
                <a:spcPct val="182000"/>
              </a:lnSpc>
              <a:spcAft>
                <a:spcPts val="500"/>
              </a:spcAft>
            </a:pPr>
            <a:r>
              <a:rPr sz="1350" b="0">
                <a:solidFill>
                  <a:srgbClr val="1A1A1A"/>
                </a:solidFill>
                <a:latin typeface="微软雅黑"/>
              </a:rPr>
              <a:t>•  免复用被试。实验 4 无须承接实验 1 的个体数据，招募约束大幅放宽。</a:t>
            </a:r>
          </a:p>
          <a:p>
            <a:pPr marL="5334" indent="-4572">
              <a:lnSpc>
                <a:spcPct val="182000"/>
              </a:lnSpc>
              <a:spcAft>
                <a:spcPts val="500"/>
              </a:spcAft>
            </a:pPr>
            <a:r>
              <a:rPr sz="1350" b="0">
                <a:solidFill>
                  <a:srgbClr val="1A1A1A"/>
                </a:solidFill>
                <a:latin typeface="微软雅黑"/>
              </a:rPr>
              <a:t>•  级间间隔不再自由。盲区分层的两级分别锚于探测时刻与显露时刻，间隔由场景几何与传感架构共同决定。</a:t>
            </a:r>
          </a:p>
        </p:txBody>
      </p:sp>
      <p:sp>
        <p:nvSpPr>
          <p:cNvPr id="8" name="Rectangle 7"/>
          <p:cNvSpPr/>
          <p:nvPr/>
        </p:nvSpPr>
        <p:spPr>
          <a:xfrm>
            <a:off x="8242300" y="939800"/>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由分段导出的三条可否证预测</a:t>
            </a:r>
          </a:p>
          <a:p>
            <a:pPr marL="5334" indent="-4572">
              <a:lnSpc>
                <a:spcPct val="182000"/>
              </a:lnSpc>
              <a:spcAft>
                <a:spcPts val="500"/>
              </a:spcAft>
            </a:pPr>
            <a:r>
              <a:rPr sz="1350" b="0">
                <a:solidFill>
                  <a:srgbClr val="1A1A1A"/>
                </a:solidFill>
                <a:latin typeface="微软雅黑"/>
              </a:rPr>
              <a:t>•  P1′ 放弃预告区段（Δt′ ≤ 0）的绩效显著劣于跨越显露时刻的预警。</a:t>
            </a:r>
          </a:p>
          <a:p>
            <a:pPr marL="5334" indent="-4572">
              <a:lnSpc>
                <a:spcPct val="182000"/>
              </a:lnSpc>
              <a:spcAft>
                <a:spcPts val="500"/>
              </a:spcAft>
            </a:pPr>
            <a:r>
              <a:rPr sz="1350" b="0">
                <a:solidFill>
                  <a:srgbClr val="1A1A1A"/>
                </a:solidFill>
                <a:latin typeface="微软雅黑"/>
              </a:rPr>
              <a:t>•  P2′ 盲区最优 Δt′ 显著大于非盲区最优 Δt——遮挡使预期性注视无从建立，且遮挡场景属刺激驱动而非目标导向，定向本身有额外耗时。</a:t>
            </a:r>
          </a:p>
          <a:p>
            <a:pPr marL="5334" indent="-4572">
              <a:lnSpc>
                <a:spcPct val="182000"/>
              </a:lnSpc>
              <a:spcAft>
                <a:spcPts val="500"/>
              </a:spcAft>
            </a:pPr>
            <a:r>
              <a:rPr sz="1350" b="0">
                <a:solidFill>
                  <a:srgbClr val="1A1A1A"/>
                </a:solidFill>
                <a:latin typeface="微软雅黑"/>
              </a:rPr>
              <a:t>•  P3′ 预告区段收益单调递增但存在饱和，饱和点对应预测与预置决策的完成时间——此即盲区下「过早预警收益递减」的机制性解释。</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技术路线　由文献到规范的六个阶段与逐层固定参数的链条</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6 / 8</a:t>
            </a:r>
          </a:p>
        </p:txBody>
      </p:sp>
      <p:sp>
        <p:nvSpPr>
          <p:cNvPr id="6" name="TextBox 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研究方法　研究一（非盲区情境）：实验 2 与实验 3</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6 / 8</a:t>
            </a:r>
          </a:p>
        </p:txBody>
      </p:sp>
      <p:sp>
        <p:nvSpPr>
          <p:cNvPr id="6" name="Rectangle 5"/>
          <p:cNvSpPr/>
          <p:nvPr/>
        </p:nvSpPr>
        <p:spPr>
          <a:xfrm>
            <a:off x="584200" y="939800"/>
            <a:ext cx="7429500" cy="211194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2035746"/>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2 单层预警的时间参数</a:t>
            </a:r>
          </a:p>
          <a:p>
            <a:pPr>
              <a:lnSpc>
                <a:spcPct val="180000"/>
              </a:lnSpc>
              <a:spcAft>
                <a:spcPts val="500"/>
              </a:spcAft>
            </a:pPr>
            <a:r>
              <a:rPr sz="1400" b="0">
                <a:solidFill>
                  <a:srgbClr val="1A1A1A"/>
                </a:solidFill>
                <a:latin typeface="微软雅黑"/>
              </a:rPr>
              <a:t>设计：触发准则（固定时间阈值／制动威胁数）× 相对提前量（0／+1.0／+2.5 s）= 2 × 3 被试内；区块 B 比较持续与撤销三水平（固定 1.5 s／状态维持／风险耦合衰减）。</a:t>
            </a:r>
          </a:p>
          <a:p>
            <a:pPr marL="5334" indent="-4572">
              <a:lnSpc>
                <a:spcPct val="182000"/>
              </a:lnSpc>
              <a:spcAft>
                <a:spcPts val="500"/>
              </a:spcAft>
            </a:pPr>
            <a:r>
              <a:rPr sz="1350" b="0">
                <a:solidFill>
                  <a:srgbClr val="1A1A1A"/>
                </a:solidFill>
                <a:latin typeface="微软雅黑"/>
              </a:rPr>
              <a:t>•  水平依据。0 为「与自发察觉同时」的对照；+1.0 s 对应扫视加确认的工程估计，有产业级联 1.0 s 级间与 1.0 s 档距双源支持；+2.5 s 用于检验收益递减与代价递增。</a:t>
            </a:r>
          </a:p>
          <a:p>
            <a:pPr marL="5334" indent="-4572">
              <a:lnSpc>
                <a:spcPct val="182000"/>
              </a:lnSpc>
              <a:spcAft>
                <a:spcPts val="500"/>
              </a:spcAft>
            </a:pPr>
            <a:r>
              <a:rPr sz="1350" b="0">
                <a:solidFill>
                  <a:srgbClr val="1A1A1A"/>
                </a:solidFill>
                <a:latin typeface="微软雅黑"/>
              </a:rPr>
              <a:t>•  准则对照的必要性。同一 TTC 2 s 在 40 km/h 下所需减速度 2.78 m/s²（制动威胁数 0.35，温和制动），在 80 km/h 下 5.56 m/s²（0.69，接近全力制动）——固定秒数在物理上不可跨车速迁移，而人因侧从未做过准则类型的对照。</a:t>
            </a:r>
          </a:p>
          <a:p>
            <a:pPr marL="5334" indent="-4572">
              <a:lnSpc>
                <a:spcPct val="182000"/>
              </a:lnSpc>
              <a:spcAft>
                <a:spcPts val="500"/>
              </a:spcAft>
            </a:pPr>
            <a:r>
              <a:rPr sz="1350" b="0">
                <a:solidFill>
                  <a:srgbClr val="1A1A1A"/>
                </a:solidFill>
                <a:latin typeface="微软雅黑"/>
              </a:rPr>
              <a:t>•  撤销侧沿用 2 : 1 滞环（进入 4.0、解除 2.0 m/s²），本库中唯一以运动学量定义级间关系的先例。</a:t>
            </a:r>
          </a:p>
          <a:p>
            <a:pPr marL="5334" indent="-4572">
              <a:lnSpc>
                <a:spcPct val="182000"/>
              </a:lnSpc>
              <a:spcAft>
                <a:spcPts val="500"/>
              </a:spcAft>
            </a:pPr>
            <a:r>
              <a:rPr sz="1350" b="0">
                <a:solidFill>
                  <a:srgbClr val="1A1A1A"/>
                </a:solidFill>
                <a:latin typeface="微软雅黑"/>
              </a:rPr>
              <a:t>•  终点。主要为最小 TTMD（安全非劣）；次要为峰值减速度、抖动率、首次注视时间、漏检率。</a:t>
            </a:r>
          </a:p>
        </p:txBody>
      </p:sp>
      <p:sp>
        <p:nvSpPr>
          <p:cNvPr id="8" name="Rectangle 7"/>
          <p:cNvSpPr/>
          <p:nvPr/>
        </p:nvSpPr>
        <p:spPr>
          <a:xfrm>
            <a:off x="8242300" y="939800"/>
            <a:ext cx="7429500" cy="211194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2035746"/>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3 空间参照系与锁定策略</a:t>
            </a:r>
          </a:p>
          <a:p>
            <a:pPr>
              <a:lnSpc>
                <a:spcPct val="180000"/>
              </a:lnSpc>
              <a:spcAft>
                <a:spcPts val="500"/>
              </a:spcAft>
            </a:pPr>
            <a:r>
              <a:rPr sz="1400" b="0">
                <a:solidFill>
                  <a:srgbClr val="1A1A1A"/>
                </a:solidFill>
                <a:latin typeface="微软雅黑"/>
              </a:rPr>
              <a:t>主设计：锁定策略 5 水平（Baseline／屏幕固定／道路锁定／跟随目标／复合）× 背景视觉复杂度 2 水平被试内；时间参数固定为实验 2 入选组合。次任务负荷区块：屏幕固定／跟随目标 × 次任务负荷 2 水平（纯音乐／意图诱导型听觉问答），背景固定为高拥挤。</a:t>
            </a:r>
          </a:p>
          <a:p>
            <a:pPr marL="5334" indent="-4572">
              <a:lnSpc>
                <a:spcPct val="182000"/>
              </a:lnSpc>
              <a:spcAft>
                <a:spcPts val="500"/>
              </a:spcAft>
            </a:pPr>
            <a:r>
              <a:rPr sz="1350" b="0">
                <a:solidFill>
                  <a:srgbClr val="1A1A1A"/>
                </a:solidFill>
                <a:latin typeface="微软雅黑"/>
              </a:rPr>
              <a:t>•  基线须修正。碰撞预警平视显示本身即屏幕固定式前视野显示，却已取得制动反应时快约 200 ms、漏报 1 次对 17 次的优势。故 AR 收益必须拆成位置增益与共形增益，混在一起会系统性高估共形性。</a:t>
            </a:r>
          </a:p>
          <a:p>
            <a:pPr marL="5334" indent="-4572">
              <a:lnSpc>
                <a:spcPct val="182000"/>
              </a:lnSpc>
              <a:spcAft>
                <a:spcPts val="500"/>
              </a:spcAft>
            </a:pPr>
            <a:r>
              <a:rPr sz="1350" b="0">
                <a:solidFill>
                  <a:srgbClr val="1A1A1A"/>
                </a:solidFill>
                <a:latin typeface="微软雅黑"/>
              </a:rPr>
              <a:t>•  方法学后果。屏幕固定条件已含平视位置的大部分收益，故其余条件相对它的增量必然更小，样本量估计须按更小的效应量做。</a:t>
            </a:r>
          </a:p>
          <a:p>
            <a:pPr marL="5334" indent="-4572">
              <a:lnSpc>
                <a:spcPct val="182000"/>
              </a:lnSpc>
              <a:spcAft>
                <a:spcPts val="500"/>
              </a:spcAft>
            </a:pPr>
            <a:r>
              <a:rPr sz="1350" b="0">
                <a:solidFill>
                  <a:srgbClr val="1A1A1A"/>
                </a:solidFill>
                <a:latin typeface="微软雅黑"/>
              </a:rPr>
              <a:t>•  操纵检查。背景复杂度以同时可见的行人与车辆数量、路侧广告密度分两水平，并以边缘密度与颜色熵两项图像统计量报告；负荷区块以次任务应答正确率与延迟、心理需求分量与瞳孔变化率作操纵检查，须先确认负荷主效应显著再解释交互。</a:t>
            </a:r>
          </a:p>
          <a:p>
            <a:pPr marL="5334" indent="-4572">
              <a:lnSpc>
                <a:spcPct val="182000"/>
              </a:lnSpc>
              <a:spcAft>
                <a:spcPts val="500"/>
              </a:spcAft>
            </a:pPr>
            <a:r>
              <a:rPr sz="1350" b="0">
                <a:solidFill>
                  <a:srgbClr val="1A1A1A"/>
                </a:solidFill>
                <a:latin typeface="微软雅黑"/>
              </a:rPr>
              <a:t>•  并列主要终点。漏检率，以及注视时长是否越过 2000 ms 分心上界——已有研究把 HUD 图形注视时长推到 3.33 s。</a:t>
            </a:r>
          </a:p>
        </p:txBody>
      </p:sp>
      <p:sp>
        <p:nvSpPr>
          <p:cNvPr id="10" name="Rectangle 9"/>
          <p:cNvSpPr/>
          <p:nvPr/>
        </p:nvSpPr>
        <p:spPr>
          <a:xfrm>
            <a:off x="584200" y="3127946"/>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3127946"/>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312794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auto"&gt;硬约束：实验 1 与实验 2 必须共用同一场景族与同一套零点标定单元，且复用同一批被试——自变量提前量需要被试自身的自发察觉时刻。实验 1 按「情境 × 车速」四单元分别标定：零点随车速与遮挡系统变化，遮挡直接改变光学膨胀率越过知觉阈值的时刻。实验 3 已固定全部时间参数，可另设场景操纵，不受此约束。</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研究方法　研究二（盲区情境）：实验 4 与实验 5</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6 / 8</a:t>
            </a:r>
          </a:p>
        </p:txBody>
      </p:sp>
      <p:sp>
        <p:nvSpPr>
          <p:cNvPr id="6" name="Rectangle 5"/>
          <p:cNvSpPr/>
          <p:nvPr/>
        </p:nvSpPr>
        <p:spPr>
          <a:xfrm>
            <a:off x="584200" y="939800"/>
            <a:ext cx="7429500" cy="210794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203174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4 时间参数、预告区段与可靠性</a:t>
            </a:r>
          </a:p>
          <a:p>
            <a:pPr>
              <a:lnSpc>
                <a:spcPct val="180000"/>
              </a:lnSpc>
              <a:spcAft>
                <a:spcPts val="500"/>
              </a:spcAft>
            </a:pPr>
            <a:r>
              <a:rPr sz="1400" b="0">
                <a:solidFill>
                  <a:srgbClr val="1A1A1A"/>
                </a:solidFill>
                <a:latin typeface="微软雅黑"/>
              </a:rPr>
              <a:t>设计：提前量（−0.5／0／+1.0／+2.5 s）× 可靠性（100%／80%）= 4 × 2 被试内，另加无预警基线；所有水平须满足预警时刻不早于探测时刻。</a:t>
            </a:r>
          </a:p>
          <a:p>
            <a:pPr marL="5334" indent="-4572">
              <a:lnSpc>
                <a:spcPct val="182000"/>
              </a:lnSpc>
              <a:spcAft>
                <a:spcPts val="500"/>
              </a:spcAft>
            </a:pPr>
            <a:r>
              <a:rPr sz="1350" b="0">
                <a:solidFill>
                  <a:srgbClr val="1A1A1A"/>
                </a:solidFill>
                <a:latin typeface="微软雅黑"/>
              </a:rPr>
              <a:t>•  −0.5 s 是预警发于行人已显露之后，即完全放弃预告区段——研究一无对应物的关键对照，直接检验 P1′。+1.0／+2.5 s 与研究一取值对齐，使跨情境比较落在同一刻度（P2′）。</a:t>
            </a:r>
          </a:p>
          <a:p>
            <a:pPr marL="5334" indent="-4572">
              <a:lnSpc>
                <a:spcPct val="182000"/>
              </a:lnSpc>
              <a:spcAft>
                <a:spcPts val="500"/>
              </a:spcAft>
            </a:pPr>
            <a:r>
              <a:rPr sz="1350" b="0">
                <a:solidFill>
                  <a:srgbClr val="1A1A1A"/>
                </a:solidFill>
                <a:latin typeface="微软雅黑"/>
              </a:rPr>
              <a:t>•  可靠性置于此处的三条理由：虚警机制在盲区下才质变（不可核验）；P4′ 预测盲区的信任损伤显著大于非盲区，可由双情境设计直接检验；盲区的时间上界本即探测可靠性，二者在同一物理量上闭合。</a:t>
            </a:r>
          </a:p>
          <a:p>
            <a:pPr marL="5334" indent="-4572">
              <a:lnSpc>
                <a:spcPct val="182000"/>
              </a:lnSpc>
              <a:spcAft>
                <a:spcPts val="500"/>
              </a:spcAft>
            </a:pPr>
            <a:r>
              <a:rPr sz="1350" b="0">
                <a:solidFill>
                  <a:srgbClr val="1A1A1A"/>
                </a:solidFill>
                <a:latin typeface="微软雅黑"/>
              </a:rPr>
              <a:t>•  80% 的依据：15% 已证零效应故不提供信息；已有研究最低操纵档 20%；工程可达骚扰水平约 13.74%。故属保守压力测试。虚警只施加在预告级。</a:t>
            </a:r>
          </a:p>
          <a:p>
            <a:pPr marL="5334" indent="-4572">
              <a:lnSpc>
                <a:spcPct val="182000"/>
              </a:lnSpc>
              <a:spcAft>
                <a:spcPts val="500"/>
              </a:spcAft>
            </a:pPr>
            <a:r>
              <a:rPr sz="1350" b="0">
                <a:solidFill>
                  <a:srgbClr val="1A1A1A"/>
                </a:solidFill>
                <a:latin typeface="微软雅黑"/>
              </a:rPr>
              <a:t>•  区块 B 分层语义分化：预告级语义为「遮挡体后方存在一个你看不见的行人」，确认级为「它现在出现了，在这里」；另设状态条件化升级仲裁（已检测到有效减速则取消升级，阈值 −0.075 g），依据是 50% 被试在预警前已开始制动。</a:t>
            </a:r>
          </a:p>
        </p:txBody>
      </p:sp>
      <p:sp>
        <p:nvSpPr>
          <p:cNvPr id="8" name="Rectangle 7"/>
          <p:cNvSpPr/>
          <p:nvPr/>
        </p:nvSpPr>
        <p:spPr>
          <a:xfrm>
            <a:off x="8242300" y="939800"/>
            <a:ext cx="7429500" cy="190328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82708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5 目标锁定不可实现时的锚定策略</a:t>
            </a:r>
          </a:p>
          <a:p>
            <a:pPr>
              <a:lnSpc>
                <a:spcPct val="180000"/>
              </a:lnSpc>
              <a:spcAft>
                <a:spcPts val="500"/>
              </a:spcAft>
            </a:pPr>
            <a:r>
              <a:rPr sz="1400" b="0">
                <a:solidFill>
                  <a:srgbClr val="1A1A1A"/>
                </a:solidFill>
                <a:latin typeface="微软雅黑"/>
              </a:rPr>
              <a:t>设计：锚定策略 5 水平 × 遮挡几何 2 水平（近距侧方／远距前方）被试内；时间参数固定为实验 4 入选组合。图形参数按四源收敛区间固定：不透明度 0.6、红与黄日夜鲁棒色对、条件间闪烁状态固定、动画不得与本车运动耦合。</a:t>
            </a:r>
          </a:p>
          <a:p>
            <a:pPr>
              <a:lnSpc>
                <a:spcPct val="180000"/>
              </a:lnSpc>
              <a:spcAft>
                <a:spcPts val="500"/>
              </a:spcAft>
            </a:pPr>
            <a:r>
              <a:rPr sz="1400" b="0">
                <a:solidFill>
                  <a:srgbClr val="1A1A1A"/>
                </a:solidFill>
                <a:latin typeface="微软雅黑"/>
              </a:rPr>
              <a:t>P5′：17° 视场下近距侧方共形图形移出视场而失效，故预测最优锚定随遮挡几何反转；输出形式相应由「单一冠军」改为查表式规范。</a:t>
            </a:r>
          </a:p>
          <a:p>
            <a:pPr>
              <a:lnSpc>
                <a:spcPct val="180000"/>
              </a:lnSpc>
              <a:spcAft>
                <a:spcPts val="500"/>
              </a:spcAft>
            </a:pPr>
            <a:r>
              <a:rPr sz="1400" b="0">
                <a:solidFill>
                  <a:srgbClr val="1A1A1A"/>
                </a:solidFill>
                <a:latin typeface="微软雅黑"/>
              </a:rPr>
              <a:t>水平操作化与定位主要风险与对应测量 遮挡体锚定绘于遮挡体表面朝向行人一侧；语义为「危险来自这个物体后面」构成叠加于遮挡物之上的构型 → 须测遮挡体误锚定率 推测地面锚定贴地图形绘于按探测轨迹外推的行人推测位置，纵深按 TTC 乘车速缩放外推误差转为空间误差 → 须报配准误差与冲突点空间误差 穿透显影将遮挡体半透明化以显示其后行人，保持原空间语境深度歧义 → 须测深度判断误差、晕动与不适；脱落率按 15% 估计 屏幕方位指示器屏幕固定方向箭头，不做空间配准；视场受限时的正当退化方案不携带精确位置信息 → 须测定位转换成本 复合（探索）遮挡体锚定 + 推测地面锚定负荷叠加 → 须检验注视时长是否越 2000 ms</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创新点　四项，逐项给出可检验的判据</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7 / 8</a:t>
            </a:r>
          </a:p>
        </p:txBody>
      </p:sp>
      <p:sp>
        <p:nvSpPr>
          <p:cNvPr id="6" name="Rectangle 5"/>
          <p:cNvSpPr/>
          <p:nvPr/>
        </p:nvSpPr>
        <p:spPr>
          <a:xfrm>
            <a:off x="584200" y="939800"/>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创新一 把视线可见性确立为情境自变量，并附自我否证条款</a:t>
            </a:r>
          </a:p>
          <a:p>
            <a:pPr marL="5334" indent="-4572">
              <a:lnSpc>
                <a:spcPct val="182000"/>
              </a:lnSpc>
              <a:spcAft>
                <a:spcPts val="500"/>
              </a:spcAft>
            </a:pPr>
            <a:r>
              <a:rPr sz="1350" b="0">
                <a:solidFill>
                  <a:srgbClr val="1A1A1A"/>
                </a:solidFill>
                <a:latin typeface="微软雅黑"/>
              </a:rPr>
              <a:t>•  既有研究把遮挡作为场景背景或一个附加水平处理。本研究论证盲区使既有结论的六项前提不成立（BD-1 至 BD-6），据此把可见性升格为情境自变量，并分别标定两套参数。</a:t>
            </a:r>
          </a:p>
          <a:p>
            <a:pPr marL="5334" indent="-4572">
              <a:lnSpc>
                <a:spcPct val="182000"/>
              </a:lnSpc>
              <a:spcAft>
                <a:spcPts val="500"/>
              </a:spcAft>
            </a:pPr>
            <a:r>
              <a:rPr sz="1350" b="0">
                <a:solidFill>
                  <a:srgbClr val="1A1A1A"/>
                </a:solidFill>
                <a:latin typeface="微软雅黑"/>
              </a:rPr>
              <a:t>•  判据 P6′：双向迁移损失显著大于零。否证条件：迁移损失不显著 → 本切分不成立，应退回单情境处理。</a:t>
            </a:r>
          </a:p>
          <a:p>
            <a:pPr marL="5334" indent="-4572">
              <a:lnSpc>
                <a:spcPct val="182000"/>
              </a:lnSpc>
              <a:spcAft>
                <a:spcPts val="500"/>
              </a:spcAft>
            </a:pPr>
            <a:r>
              <a:rPr sz="1350" b="0">
                <a:solidFill>
                  <a:srgbClr val="1A1A1A"/>
                </a:solidFill>
                <a:latin typeface="微软雅黑"/>
              </a:rPr>
              <a:t>•  该条款写入预注册，零结果照实报告并视为有效贡献——它意味着单一套参数即可跨情境使用，从而简化工程实现。本创新的价值不取决于 P6′ 成立，而取决于它被明确检验了一次。</a:t>
            </a:r>
          </a:p>
        </p:txBody>
      </p:sp>
      <p:sp>
        <p:nvSpPr>
          <p:cNvPr id="8" name="Rectangle 7"/>
          <p:cNvSpPr/>
          <p:nvPr/>
        </p:nvSpPr>
        <p:spPr>
          <a:xfrm>
            <a:off x="8242300" y="939800"/>
            <a:ext cx="7429500" cy="1403032"/>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326832"/>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创新二 零点由心理量替换为几何量，并给出解析式</a:t>
            </a:r>
          </a:p>
          <a:p>
            <a:pPr marL="5334" indent="-4572">
              <a:lnSpc>
                <a:spcPct val="182000"/>
              </a:lnSpc>
              <a:spcAft>
                <a:spcPts val="500"/>
              </a:spcAft>
            </a:pPr>
            <a:r>
              <a:rPr sz="1350" b="0">
                <a:solidFill>
                  <a:srgbClr val="1A1A1A"/>
                </a:solidFill>
                <a:latin typeface="微软雅黑"/>
              </a:rPr>
              <a:t>•  既有研究一律以碰撞点或空间距离为零点，故参数不可跨车速、跨研究比较。本研究以自然显露时刻为盲区零点，它与非盲区的自发察觉时刻功能同位——两者都是「驾驶员自力可及的起点」。</a:t>
            </a:r>
          </a:p>
          <a:p>
            <a:pPr marL="5334" indent="-4572">
              <a:lnSpc>
                <a:spcPct val="182000"/>
              </a:lnSpc>
              <a:spcAft>
                <a:spcPts val="500"/>
              </a:spcAft>
            </a:pPr>
            <a:r>
              <a:rPr sz="1350" b="0">
                <a:solidFill>
                  <a:srgbClr val="1A1A1A"/>
                </a:solidFill>
                <a:latin typeface="微软雅黑"/>
              </a:rPr>
              <a:t>•  显露时刻为几何量，由遮挡体位置尺寸、行人步速、本车轨迹与眼点位置解析求出，被试间恒定；本研究提供解析式而非固定秒数，故可跨车型换算。</a:t>
            </a:r>
          </a:p>
          <a:p>
            <a:pPr marL="5334" indent="-4572">
              <a:lnSpc>
                <a:spcPct val="182000"/>
              </a:lnSpc>
              <a:spcAft>
                <a:spcPts val="500"/>
              </a:spcAft>
            </a:pPr>
            <a:r>
              <a:rPr sz="1350" b="0">
                <a:solidFill>
                  <a:srgbClr val="1A1A1A"/>
                </a:solidFill>
                <a:latin typeface="微软雅黑"/>
              </a:rPr>
              <a:t>•  判据：解析解与实测眼动的偏差在预设阈值内（由实验 1 双重核验）。</a:t>
            </a:r>
          </a:p>
        </p:txBody>
      </p:sp>
      <p:sp>
        <p:nvSpPr>
          <p:cNvPr id="10" name="Rectangle 9"/>
          <p:cNvSpPr/>
          <p:nvPr/>
        </p:nvSpPr>
        <p:spPr>
          <a:xfrm>
            <a:off x="584200" y="2419032"/>
            <a:ext cx="74295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2419032"/>
            <a:ext cx="70485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创新三 提出「预告区段」构念，把注意加工在时间轴上分段</a:t>
            </a:r>
          </a:p>
          <a:p>
            <a:pPr marL="5334" indent="-4572">
              <a:lnSpc>
                <a:spcPct val="182000"/>
              </a:lnSpc>
              <a:spcAft>
                <a:spcPts val="500"/>
              </a:spcAft>
            </a:pPr>
            <a:r>
              <a:rPr sz="1350" b="0">
                <a:solidFill>
                  <a:srgbClr val="1A1A1A"/>
                </a:solidFill>
                <a:latin typeface="微软雅黑"/>
              </a:rPr>
              <a:t>•  既有注意框架把预警后的加工视为单一连续过程。本研究指出盲区把五阶段以显露时刻强制拆成两段：预告区段只能完成预测与预置决策，显露区段才能完成扫视与确认。</a:t>
            </a:r>
          </a:p>
          <a:p>
            <a:pPr marL="5334" indent="-4572">
              <a:lnSpc>
                <a:spcPct val="182000"/>
              </a:lnSpc>
              <a:spcAft>
                <a:spcPts val="500"/>
              </a:spcAft>
            </a:pPr>
            <a:r>
              <a:rPr sz="1350" b="0">
                <a:solidFill>
                  <a:srgbClr val="1A1A1A"/>
                </a:solidFill>
                <a:latin typeface="微软雅黑"/>
              </a:rPr>
              <a:t>•  由此，盲区预警的功能不是加速已有链条，而是从无到有创造一个加工窗口——其理论收益上限高于非盲区，代价亦更高。</a:t>
            </a:r>
          </a:p>
          <a:p>
            <a:pPr marL="5334" indent="-4572">
              <a:lnSpc>
                <a:spcPct val="182000"/>
              </a:lnSpc>
              <a:spcAft>
                <a:spcPts val="500"/>
              </a:spcAft>
            </a:pPr>
            <a:r>
              <a:rPr sz="1350" b="0">
                <a:solidFill>
                  <a:srgbClr val="1A1A1A"/>
                </a:solidFill>
                <a:latin typeface="微软雅黑"/>
              </a:rPr>
              <a:t>•  判据 P1′／P2′／P3′：放弃预告区段绩效更差；盲区最优提前量更大；收益单调递增且存在饱和。三条均给出明确否证条件。</a:t>
            </a:r>
          </a:p>
          <a:p>
            <a:pPr marL="5334" indent="-4572">
              <a:lnSpc>
                <a:spcPct val="182000"/>
              </a:lnSpc>
              <a:spcAft>
                <a:spcPts val="500"/>
              </a:spcAft>
            </a:pPr>
            <a:r>
              <a:rPr sz="1350" b="0">
                <a:solidFill>
                  <a:srgbClr val="1A1A1A"/>
                </a:solidFill>
                <a:latin typeface="微软雅黑"/>
              </a:rPr>
              <a:t>•  测量：预告区段内向遮挡体边缘的预期性注视为直接指标。</a:t>
            </a:r>
          </a:p>
        </p:txBody>
      </p:sp>
      <p:sp>
        <p:nvSpPr>
          <p:cNvPr id="12" name="Rectangle 11"/>
          <p:cNvSpPr/>
          <p:nvPr/>
        </p:nvSpPr>
        <p:spPr>
          <a:xfrm>
            <a:off x="8242300" y="2419032"/>
            <a:ext cx="7429500" cy="159677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45500" y="2419032"/>
            <a:ext cx="7048500" cy="152057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创新四 输出形式由「单一冠军」改为查表式规范</a:t>
            </a:r>
          </a:p>
          <a:p>
            <a:pPr marL="5334" indent="-4572">
              <a:lnSpc>
                <a:spcPct val="182000"/>
              </a:lnSpc>
              <a:spcAft>
                <a:spcPts val="500"/>
              </a:spcAft>
            </a:pPr>
            <a:r>
              <a:rPr sz="1350" b="0">
                <a:solidFill>
                  <a:srgbClr val="1A1A1A"/>
                </a:solidFill>
                <a:latin typeface="微软雅黑"/>
              </a:rPr>
              <a:t>•  既有研究的结论形式多为「某方案优于某方案」。本研究首次正交比较遮挡条件下的四类锚定策略，并把遮挡几何设为交叉因子。</a:t>
            </a:r>
          </a:p>
          <a:p>
            <a:pPr marL="5334" indent="-4572">
              <a:lnSpc>
                <a:spcPct val="182000"/>
              </a:lnSpc>
              <a:spcAft>
                <a:spcPts val="500"/>
              </a:spcAft>
            </a:pPr>
            <a:r>
              <a:rPr sz="1350" b="0">
                <a:solidFill>
                  <a:srgbClr val="1A1A1A"/>
                </a:solidFill>
                <a:latin typeface="微软雅黑"/>
              </a:rPr>
              <a:t>•  因预测最优解随遮挡几何反转（P5′），输出形式相应改为「遮挡几何 × 可用视场 → 推荐锚定」的查表式规范，并按量产视场界定三档：当前可实现、有条件可实现、当前不可实现。</a:t>
            </a:r>
          </a:p>
          <a:p>
            <a:pPr marL="5334" indent="-4572">
              <a:lnSpc>
                <a:spcPct val="182000"/>
              </a:lnSpc>
              <a:spcAft>
                <a:spcPts val="500"/>
              </a:spcAft>
            </a:pPr>
            <a:r>
              <a:rPr sz="1350" b="0">
                <a:solidFill>
                  <a:srgbClr val="1A1A1A"/>
                </a:solidFill>
                <a:latin typeface="微软雅黑"/>
              </a:rPr>
              <a:t>•  同时把参数一律以运动学量表达（制动威胁数、风险区纵深按 TTC 乘车速），使时间侧与空间侧建立在同一物理量上，便于最终整合为单一时空模型。</a:t>
            </a:r>
          </a:p>
          <a:p>
            <a:pPr marL="5334" indent="-4572">
              <a:lnSpc>
                <a:spcPct val="182000"/>
              </a:lnSpc>
              <a:spcAft>
                <a:spcPts val="500"/>
              </a:spcAft>
            </a:pPr>
            <a:r>
              <a:rPr sz="1350" b="0">
                <a:solidFill>
                  <a:srgbClr val="1A1A1A"/>
                </a:solidFill>
                <a:latin typeface="微软雅黑"/>
              </a:rPr>
              <a:t>•  判据：存在显著的锚定策略 × 遮挡几何交互。</a:t>
            </a:r>
          </a:p>
        </p:txBody>
      </p:sp>
      <p:sp>
        <p:nvSpPr>
          <p:cNvPr id="14" name="TextBox 1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可行性分析　四项已具备的基础与三条预先声明的退化路径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7 / 8</a:t>
            </a:r>
          </a:p>
        </p:txBody>
      </p:sp>
      <p:sp>
        <p:nvSpPr>
          <p:cNvPr id="6" name="Rectangle 5"/>
          <p:cNvSpPr/>
          <p:nvPr/>
        </p:nvSpPr>
        <p:spPr>
          <a:xfrm>
            <a:off x="584200" y="939800"/>
            <a:ext cx="7429500" cy="190880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83260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已具备的基础</a:t>
            </a:r>
          </a:p>
          <a:p>
            <a:pPr marL="5334" indent="-4572">
              <a:lnSpc>
                <a:spcPct val="182000"/>
              </a:lnSpc>
              <a:spcAft>
                <a:spcPts val="500"/>
              </a:spcAft>
            </a:pPr>
            <a:r>
              <a:rPr sz="1350" b="0">
                <a:solidFill>
                  <a:srgbClr val="1A1A1A"/>
                </a:solidFill>
                <a:latin typeface="微软雅黑"/>
              </a:rPr>
              <a:t>•  文献基础已完成。102 篇文献库建成并逐篇结构化；盲区专题筛查完成（85 条命中 → 21 篇可用，其中以遮挡为核心条件者 6 篇）；参考文献经按数字对象标识符、论文编号与接口三路核验。</a:t>
            </a:r>
          </a:p>
          <a:p>
            <a:pPr marL="5334" indent="-4572">
              <a:lnSpc>
                <a:spcPct val="182000"/>
              </a:lnSpc>
              <a:spcAft>
                <a:spcPts val="500"/>
              </a:spcAft>
            </a:pPr>
            <a:r>
              <a:rPr sz="1350" b="0">
                <a:solidFill>
                  <a:srgbClr val="1A1A1A"/>
                </a:solidFill>
                <a:latin typeface="微软雅黑"/>
              </a:rPr>
              <a:t>•  场景族可复现。遮挡体、行人位置与步速、车速与探测时刻全部取自已发表范式（同色厢式货车与路侧公交车、边线外 2.5 m、1.0 与 1.5 m/s、40 与 60 km/h、距行人 100 m 触发），非自拟参数。</a:t>
            </a:r>
          </a:p>
          <a:p>
            <a:pPr marL="5334" indent="-4572">
              <a:lnSpc>
                <a:spcPct val="182000"/>
              </a:lnSpc>
              <a:spcAft>
                <a:spcPts val="500"/>
              </a:spcAft>
            </a:pPr>
            <a:r>
              <a:rPr sz="1350" b="0">
                <a:solidFill>
                  <a:srgbClr val="1A1A1A"/>
                </a:solidFill>
                <a:latin typeface="微软雅黑"/>
              </a:rPr>
              <a:t>•  方法学规范已定。被试内设计加混合模型、主要结局预注册、次要结局按错误发现率校正、四类动态兴趣区、有效率不低于 80%、相邻危险事件间隔 60 s（依据：次任务后分心持续 30 s 以上，留一倍冗余）。</a:t>
            </a:r>
          </a:p>
          <a:p>
            <a:pPr marL="5334" indent="-4572">
              <a:lnSpc>
                <a:spcPct val="182000"/>
              </a:lnSpc>
              <a:spcAft>
                <a:spcPts val="500"/>
              </a:spcAft>
            </a:pPr>
            <a:r>
              <a:rPr sz="1350" b="0">
                <a:solidFill>
                  <a:srgbClr val="1A1A1A"/>
                </a:solidFill>
                <a:latin typeface="微软雅黑"/>
              </a:rPr>
              <a:t>•  招募压力已被结构性降低。显露时刻为几何量、被试间恒定，故实验 4 无须复用实验 1 的被试；仅实验 1 与实验 2 需复用同批被试。</a:t>
            </a:r>
          </a:p>
        </p:txBody>
      </p:sp>
      <p:sp>
        <p:nvSpPr>
          <p:cNvPr id="8" name="Rectangle 7"/>
          <p:cNvSpPr/>
          <p:nvPr/>
        </p:nvSpPr>
        <p:spPr>
          <a:xfrm>
            <a:off x="8242300" y="939800"/>
            <a:ext cx="7429500" cy="19465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8703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风险与预先声明的应对</a:t>
            </a:r>
          </a:p>
          <a:p>
            <a:pPr marL="5334" indent="-4572">
              <a:lnSpc>
                <a:spcPct val="182000"/>
              </a:lnSpc>
              <a:spcAft>
                <a:spcPts val="500"/>
              </a:spcAft>
            </a:pPr>
            <a:r>
              <a:rPr sz="1350" b="0">
                <a:solidFill>
                  <a:srgbClr val="1A1A1A"/>
                </a:solidFill>
                <a:latin typeface="微软雅黑"/>
              </a:rPr>
              <a:t>•  风险一：递进设计的阻塞。下游实验以上游产出为固定参数。应对① 若自发察觉时刻方差过大而无法定出稳定基准，实验 2 退化为绝对时距与相对提前量的双参数化并行报告，即把提前量作协变量而非自变量。</a:t>
            </a:r>
          </a:p>
          <a:p>
            <a:pPr marL="5334" indent="-4572">
              <a:lnSpc>
                <a:spcPct val="182000"/>
              </a:lnSpc>
              <a:spcAft>
                <a:spcPts val="500"/>
              </a:spcAft>
            </a:pPr>
            <a:r>
              <a:rPr sz="1350" b="0">
                <a:solidFill>
                  <a:srgbClr val="1A1A1A"/>
                </a:solidFill>
                <a:latin typeface="微软雅黑"/>
              </a:rPr>
              <a:t>•  风险二：解析解失准。应对② 若显露时刻的解析解与实测眼动偏差超阈值，实验 4 改以实测显露时刻为零点，并把解析误差作为协变量报告。</a:t>
            </a:r>
          </a:p>
          <a:p>
            <a:pPr marL="5334" indent="-4572">
              <a:lnSpc>
                <a:spcPct val="182000"/>
              </a:lnSpc>
              <a:spcAft>
                <a:spcPts val="500"/>
              </a:spcAft>
            </a:pPr>
            <a:r>
              <a:rPr sz="1350" b="0">
                <a:solidFill>
                  <a:srgbClr val="1A1A1A"/>
                </a:solidFill>
                <a:latin typeface="微软雅黑"/>
              </a:rPr>
              <a:t>•  风险三：穿透显影的晕动脱落。应对③ 若脱落率超过 25%，该水平降级为探索性分析，主分析在余下四水平上进行；样本量估计已按 15% 预留。</a:t>
            </a:r>
          </a:p>
          <a:p>
            <a:pPr marL="5334" indent="-4572">
              <a:lnSpc>
                <a:spcPct val="182000"/>
              </a:lnSpc>
              <a:spcAft>
                <a:spcPts val="500"/>
              </a:spcAft>
            </a:pPr>
            <a:r>
              <a:rPr sz="1350" b="0">
                <a:solidFill>
                  <a:srgbClr val="1A1A1A"/>
                </a:solidFill>
                <a:latin typeface="微软雅黑"/>
              </a:rPr>
              <a:t>•  风险四：场景可预期性。被试数试次后即习得「遮挡体后必有行人」。四项控制：填充试次把遮挡事件压至不超过总事件四分之一；设置遮挡体后无行人的捕获试次；试次序号作协变量显式检验学习效应；报告首个遮挡试次的单独结果作为「无预期」近似。</a:t>
            </a:r>
          </a:p>
          <a:p>
            <a:pPr marL="5334" indent="-4572">
              <a:lnSpc>
                <a:spcPct val="182000"/>
              </a:lnSpc>
              <a:spcAft>
                <a:spcPts val="500"/>
              </a:spcAft>
            </a:pPr>
            <a:r>
              <a:rPr sz="1350" b="0">
                <a:solidFill>
                  <a:srgbClr val="1A1A1A"/>
                </a:solidFill>
                <a:latin typeface="微软雅黑"/>
              </a:rPr>
              <a:t>•  三条退化路径均预先声明，不得在见到数据后选择。</a:t>
            </a:r>
          </a:p>
        </p:txBody>
      </p:sp>
      <p:sp>
        <p:nvSpPr>
          <p:cNvPr id="10" name="Rectangle 9"/>
          <p:cNvSpPr/>
          <p:nvPr/>
        </p:nvSpPr>
        <p:spPr>
          <a:xfrm>
            <a:off x="584200" y="2962529"/>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2962529"/>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962529"/>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auto"&gt;结论边界（七条，须在论文中显式声明）：① 短期模拟驾驶、视觉 AR-HUD、城市行人横穿，不外推长期使用与最后时刻的多模态干预；② 盲区限于单一遮挡体的几何遮挡，多重遮挡、行进车辆造成的间歇遮挡与天气致能见度下降均不在范围内；③ 显露时刻的解析解跨车型须重算；④ 探测时刻在模拟器中为程序设定而非真实传感器性能，其随遮挡比例的退化曲线为已知缺口；⑤ 探测时刻设定依赖路侧与车路协同输入；⑥ 穿透显影条件受渲染保真度限制，不外推至真实光学 AR-HUD；⑦ 场景可预期性无法完全消除，故效应量的偏误方向不明，须并列陈述高估与低估两种可能，不得单向断言保守。</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工作计划　21 个月，六阶段，含两处并行与三处评审节点</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8 / 8</a:t>
            </a:r>
          </a:p>
        </p:txBody>
      </p:sp>
      <p:graphicFrame>
        <p:nvGraphicFramePr>
          <p:cNvPr id="6" name="Table 5"/>
          <p:cNvGraphicFramePr>
            <a:graphicFrameLocks noGrp="1"/>
          </p:cNvGraphicFramePr>
          <p:nvPr/>
        </p:nvGraphicFramePr>
        <p:xfrm>
          <a:off x="584200" y="939800"/>
          <a:ext cx="15087600" cy="5080000"/>
        </p:xfrm>
        <a:graphic>
          <a:graphicData uri="http://schemas.openxmlformats.org/drawingml/2006/table">
            <a:tbl>
              <a:tblPr firstRow="1" bandRow="1">
                <a:tableStyleId>{5C22544A-7EE6-4342-B048-85BDC9FD1C3A}</a:tableStyleId>
              </a:tblPr>
              <a:tblGrid>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82"/>
                <a:gridCol w="655996"/>
              </a:tblGrid>
              <a:tr h="508000">
                <a:tc>
                  <a:txBody>
                    <a:bodyPr wrap="square" lIns="76200" rIns="76200" tIns="38100" bIns="38100"/>
                    <a:lstStyle/>
                    <a:p>
                      <a:pPr>
                        <a:lnSpc>
                          <a:spcPct val="115000"/>
                        </a:lnSpc>
                      </a:pPr>
                      <a:r>
                        <a:rPr sz="1250" b="1">
                          <a:solidFill>
                            <a:srgbClr val="FFFFFF"/>
                          </a:solidFill>
                          <a:latin typeface="微软雅黑"/>
                        </a:rPr>
                        <a:t>阶段与任务</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起止</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26 09</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10</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11</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12</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27 01</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02</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03</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04</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05</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06</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07</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08</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09</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10</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11</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12</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28 01</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02</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03</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04</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05</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一 基础建设 文献补全 · 解析式推导 · 场景族开发 · 指标与工具链</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26.09 26.11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二 预实验与实验 1 双情境标定 · 解析解双重核验 · 方差成分与样本量重算</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26.12 27.01</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三 实验 2 非盲区时间参数（2 × 3）+ 区块 B 持续与撤销</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27.02 27.04</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四 实验 3 非盲区空间参数（5 × 2）+ 反向迁移区块</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27.05 27.07</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五 实验 4 盲区时间参数与可靠性（4 × 2）+ 区块 B 分层语义分化</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27.08 27.10</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六 实验 5 盲区锚定策略（5 × 2）+ 正向迁移区块</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27.11 28.01</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七 整合与撰写 迁移损失估计 · 帕累托前沿 · 规范输出 · 论文撰写与送审</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28.02 28.05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并行：论文撰写 第 1–2 章随阶段一定稿；各实验章随实验完成即写</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26.10 28.05</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评审节点 ① 预注册提交 ② 中期检查 ③ 预答辩</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27.01 27.10 28.03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bl>
          </a:graphicData>
        </a:graphic>
      </p:graphicFrame>
      <p:sp>
        <p:nvSpPr>
          <p:cNvPr id="7" name="Rectangle 6"/>
          <p:cNvSpPr/>
          <p:nvPr/>
        </p:nvSpPr>
        <p:spPr>
          <a:xfrm>
            <a:off x="584200" y="6172200"/>
            <a:ext cx="15087600" cy="81635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6172200"/>
            <a:ext cx="63500" cy="81635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61722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auto"&gt;进度安排的三条依据：① 预注册置于实验 1 之后、实验 2 之前——因样本量须按实验 1 实测的方差成分重算，过早预注册会导致功效分析失效；② 实验 4 不排在实验 2 之后而排在实验 3 之后——虽然实验 4 无须复用被试、理论上可与研究一并行，但其时间参数水平须与实验 2 入选值对齐以保证跨情境可比，故仍置于研究一之后；③ 两处迁移区块分别嵌入实验 3 与实验 5 的末尾而非独立成实验，以节省一轮招募与场景开发。</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预期成果　五类交付物与已完成部分</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8 / 8</a:t>
            </a:r>
          </a:p>
        </p:txBody>
      </p:sp>
      <p:sp>
        <p:nvSpPr>
          <p:cNvPr id="6" name="Rectangle 5"/>
          <p:cNvSpPr/>
          <p:nvPr/>
        </p:nvSpPr>
        <p:spPr>
          <a:xfrm>
            <a:off x="584200" y="939800"/>
            <a:ext cx="7429500" cy="179050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71430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预期交付物</a:t>
            </a:r>
          </a:p>
          <a:p>
            <a:pPr marL="5334" indent="-4572">
              <a:lnSpc>
                <a:spcPct val="182000"/>
              </a:lnSpc>
              <a:spcAft>
                <a:spcPts val="500"/>
              </a:spcAft>
            </a:pPr>
            <a:r>
              <a:rPr sz="1350" b="0">
                <a:solidFill>
                  <a:srgbClr val="1A1A1A"/>
                </a:solidFill>
                <a:latin typeface="微软雅黑"/>
              </a:rPr>
              <a:t>•  ① 学位论文一部。含双情境参数规范、显露时刻解析式、四类锚定策略的首次正交对照，以及迁移损失的实测。</a:t>
            </a:r>
          </a:p>
          <a:p>
            <a:pPr marL="5334" indent="-4572">
              <a:lnSpc>
                <a:spcPct val="182000"/>
              </a:lnSpc>
              <a:spcAft>
                <a:spcPts val="500"/>
              </a:spcAft>
            </a:pPr>
            <a:r>
              <a:rPr sz="1350" b="0">
                <a:solidFill>
                  <a:srgbClr val="1A1A1A"/>
                </a:solidFill>
                <a:latin typeface="微软雅黑"/>
              </a:rPr>
              <a:t>•  ② 学术论文。时间侧一篇（预告区段的独立价值与最优提前量的情境差）、空间侧一篇（遮挡条件下的锚定策略与几何交互）。</a:t>
            </a:r>
          </a:p>
          <a:p>
            <a:pPr marL="5334" indent="-4572">
              <a:lnSpc>
                <a:spcPct val="182000"/>
              </a:lnSpc>
              <a:spcAft>
                <a:spcPts val="500"/>
              </a:spcAft>
            </a:pPr>
            <a:r>
              <a:rPr sz="1350" b="0">
                <a:solidFill>
                  <a:srgbClr val="1A1A1A"/>
                </a:solidFill>
                <a:latin typeface="微软雅黑"/>
              </a:rPr>
              <a:t>•  ③ 设计规范文本。两套参数区间（提前量、触发准则、持续与撤销、分层语义、锚定策略），以运动学量表达以便跨车速迁移；并以「遮挡几何 × 可用视场 → 推荐锚定」查表式规范给出量产落地判据与退化路径。</a:t>
            </a:r>
          </a:p>
          <a:p>
            <a:pPr marL="5334" indent="-4572">
              <a:lnSpc>
                <a:spcPct val="182000"/>
              </a:lnSpc>
              <a:spcAft>
                <a:spcPts val="500"/>
              </a:spcAft>
            </a:pPr>
            <a:r>
              <a:rPr sz="1350" b="0">
                <a:solidFill>
                  <a:srgbClr val="1A1A1A"/>
                </a:solidFill>
                <a:latin typeface="微软雅黑"/>
              </a:rPr>
              <a:t>•  ④ 可复现材料。显露时刻解析式与推导、视线锥仿真脚本、场景族参数表、四类动态兴趣区定义、预注册记录与分析脚本。</a:t>
            </a:r>
          </a:p>
          <a:p>
            <a:pPr marL="5334" indent="-4572">
              <a:lnSpc>
                <a:spcPct val="182000"/>
              </a:lnSpc>
              <a:spcAft>
                <a:spcPts val="500"/>
              </a:spcAft>
            </a:pPr>
            <a:r>
              <a:rPr sz="1350" b="0">
                <a:solidFill>
                  <a:srgbClr val="1A1A1A"/>
                </a:solidFill>
                <a:latin typeface="微软雅黑"/>
              </a:rPr>
              <a:t>•  ⑤ 证据底账。盲区专题证据台账（含证据等级、数值锚点与引用禁则），以及 12 条补检题录的补全记录。</a:t>
            </a:r>
          </a:p>
        </p:txBody>
      </p:sp>
      <p:sp>
        <p:nvSpPr>
          <p:cNvPr id="8" name="Rectangle 7"/>
          <p:cNvSpPr/>
          <p:nvPr/>
        </p:nvSpPr>
        <p:spPr>
          <a:xfrm>
            <a:off x="8242300" y="939800"/>
            <a:ext cx="7429500" cy="175279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67659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已完成部分（本次开题的支撑材料）</a:t>
            </a:r>
          </a:p>
          <a:p>
            <a:pPr marL="5334" indent="-4572">
              <a:lnSpc>
                <a:spcPct val="182000"/>
              </a:lnSpc>
              <a:spcAft>
                <a:spcPts val="500"/>
              </a:spcAft>
            </a:pPr>
            <a:r>
              <a:rPr sz="1350" b="0">
                <a:solidFill>
                  <a:srgbClr val="1A1A1A"/>
                </a:solidFill>
                <a:latin typeface="微软雅黑"/>
              </a:rPr>
              <a:t>•  文献库。102 篇结构化笔记 + 综合表 + 参考文献表（经三路核验）；主线文献综述正文（七环节、七组冲突辨析、九项空白）。</a:t>
            </a:r>
          </a:p>
          <a:p>
            <a:pPr marL="5334" indent="-4572">
              <a:lnSpc>
                <a:spcPct val="182000"/>
              </a:lnSpc>
              <a:spcAft>
                <a:spcPts val="500"/>
              </a:spcAft>
            </a:pPr>
            <a:r>
              <a:rPr sz="1350" b="0">
                <a:solidFill>
                  <a:srgbClr val="1A1A1A"/>
                </a:solidFill>
                <a:latin typeface="微软雅黑"/>
              </a:rPr>
              <a:t>•  盲区专题。全库 30 关键词正则筛查（85 条命中 → 21 篇可用，A 类 6 篇）；证据台账（六处边界推翻、17 项数值锚点、10 条引用禁则）；专题文献综述正文（含四组遮挡专题冲突辨析与七项空白）。</a:t>
            </a:r>
          </a:p>
          <a:p>
            <a:pPr marL="5334" indent="-4572">
              <a:lnSpc>
                <a:spcPct val="182000"/>
              </a:lnSpc>
              <a:spcAft>
                <a:spcPts val="500"/>
              </a:spcAft>
            </a:pPr>
            <a:r>
              <a:rPr sz="1350" b="0">
                <a:solidFill>
                  <a:srgbClr val="1A1A1A"/>
                </a:solidFill>
                <a:latin typeface="微软雅黑"/>
              </a:rPr>
              <a:t>•  框架文本。双情境研究框架（术语表、三重约束情境分化、五实验设计、六条预测加五条假设、指标体系、结论边界七条）。</a:t>
            </a:r>
          </a:p>
          <a:p>
            <a:pPr marL="5334" indent="-4572">
              <a:lnSpc>
                <a:spcPct val="182000"/>
              </a:lnSpc>
              <a:spcAft>
                <a:spcPts val="500"/>
              </a:spcAft>
            </a:pPr>
            <a:r>
              <a:rPr sz="1350" b="0">
                <a:solidFill>
                  <a:srgbClr val="1A1A1A"/>
                </a:solidFill>
                <a:latin typeface="微软雅黑"/>
              </a:rPr>
              <a:t>•  汇报材料。研究汇报 13 页与本开题报告，均经自动化排版探针核验零溢出；配套逐字讲稿经逐页标题、分块与计时三项校验；交付物另经目录级一致性校验器核验数值跨文件一致、术语统一、编号成套与路径可解析。</a:t>
            </a:r>
          </a:p>
        </p:txBody>
      </p:sp>
      <p:sp>
        <p:nvSpPr>
          <p:cNvPr id="10" name="Rectangle 9"/>
          <p:cNvSpPr/>
          <p:nvPr/>
        </p:nvSpPr>
        <p:spPr>
          <a:xfrm>
            <a:off x="584200" y="2806509"/>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2806509"/>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806509"/>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auto"&gt;本课题的贡献主张：AR-HUD 行人碰撞预警的时空参数不存在跨情境通用的取值；决定取值的首要因素不是显示技术，而是危险目标在预警时刻是否可见。本研究以自然显露时刻替代自发察觉时刻作为盲区零点，提出并检验预告区段这一构念，首次正交比较遮挡条件下的四类锚定策略，并以可自我否证的迁移损失检验为这一整套主张提供成立或不成立的判据。</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