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Lst>
  <p:sldSz cx="162560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46200" y="1524000"/>
            <a:ext cx="13563600" cy="3048000"/>
          </a:xfrm>
          <a:prstGeom prst="rect">
            <a:avLst/>
          </a:prstGeom>
          <a:noFill/>
        </p:spPr>
        <p:txBody>
          <a:bodyPr wrap="square" lIns="0" rIns="0" tIns="0" bIns="0">
            <a:spAutoFit/>
          </a:bodyPr>
          <a:lstStyle/>
          <a:p>
            <a:pPr algn="ctr">
              <a:lnSpc>
                <a:spcPct val="125000"/>
              </a:lnSpc>
            </a:pPr>
            <a:r>
              <a:rPr sz="3400" b="1">
                <a:solidFill>
                  <a:srgbClr val="2F528F"/>
                </a:solidFill>
                <a:latin typeface="微软雅黑"/>
              </a:rPr>
              <a:t>AR-HUD 行人碰撞预警的时空参数设计及其对驾驶员情境意识与避险绩效的影响</a:t>
            </a:r>
          </a:p>
        </p:txBody>
      </p:sp>
      <p:sp>
        <p:nvSpPr>
          <p:cNvPr id="4" name="TextBox 3"/>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1 / 37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文献综述　本章的问题结构</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706600" y="203200"/>
            <a:ext cx="9652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导览</a:t>
            </a:r>
          </a:p>
        </p:txBody>
      </p:sp>
      <p:sp>
        <p:nvSpPr>
          <p:cNvPr id="6" name="Rectangle 5"/>
          <p:cNvSpPr/>
          <p:nvPr/>
        </p:nvSpPr>
        <p:spPr>
          <a:xfrm>
            <a:off x="584200" y="939800"/>
            <a:ext cx="15087600" cy="656336"/>
          </a:xfrm>
          <a:prstGeom prst="rect">
            <a:avLst/>
          </a:prstGeom>
          <a:solidFill>
            <a:srgbClr val="D9E2F3"/>
          </a:solidFill>
          <a:ln w="1778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4200" y="939800"/>
            <a:ext cx="63500" cy="656336"/>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7400" y="939800"/>
            <a:ext cx="14757400" cy="58013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 AR-HUD 行人预警的效果不由「有没有 AR」决定，而由时空参数取什么值决定。所以本章不问「哪个值最好」，而先回答三个前置问题——它们决定了后面所有数值能不能用。</a:t>
            </a:r>
          </a:p>
        </p:txBody>
      </p:sp>
      <p:sp>
        <p:nvSpPr>
          <p:cNvPr id="9" name="Rectangle 8"/>
          <p:cNvSpPr/>
          <p:nvPr/>
        </p:nvSpPr>
        <p:spPr>
          <a:xfrm>
            <a:off x="584200" y="1672336"/>
            <a:ext cx="4876800" cy="1942401"/>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7400" y="1672336"/>
            <a:ext cx="4495800" cy="1866201"/>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问题一 参数值从哪里来？</a:t>
            </a:r>
          </a:p>
          <a:p>
            <a:pPr>
              <a:lnSpc>
                <a:spcPct val="180000"/>
              </a:lnSpc>
              <a:spcAft>
                <a:spcPts val="500"/>
              </a:spcAft>
            </a:pPr>
            <a:r>
              <a:rPr sz="1400" b="0">
                <a:solidFill>
                  <a:srgbClr val="1A1A1A"/>
                </a:solidFill>
                <a:latin typeface="微软雅黑"/>
              </a:rPr>
              <a:t>难处：文献里出现过 1.8／2.0／2.5／3.0／4.0／5.0／6.0 s，没有任何一篇说明自己为什么取这个值。逐个试是无穷的。</a:t>
            </a:r>
          </a:p>
          <a:p>
            <a:pPr>
              <a:lnSpc>
                <a:spcPct val="180000"/>
              </a:lnSpc>
              <a:spcAft>
                <a:spcPts val="500"/>
              </a:spcAft>
            </a:pPr>
            <a:r>
              <a:rPr sz="1400" b="0">
                <a:solidFill>
                  <a:srgbClr val="1A1A1A"/>
                </a:solidFill>
                <a:latin typeface="微软雅黑"/>
              </a:rPr>
              <a:t>本章的回答：都不取。改为先确定参数被什么约束住——建立三重约束模型（上界、下界、认知窗口 + 零点 t0），把「最优 TTC 是多少」换成「可行区间在哪里」。</a:t>
            </a:r>
          </a:p>
          <a:p>
            <a:pPr>
              <a:lnSpc>
                <a:spcPct val="180000"/>
              </a:lnSpc>
              <a:spcAft>
                <a:spcPts val="500"/>
              </a:spcAft>
            </a:pPr>
            <a:r>
              <a:rPr sz="1400" b="0">
                <a:solidFill>
                  <a:srgbClr val="1A1A1A"/>
                </a:solidFill>
                <a:latin typeface="微软雅黑"/>
              </a:rPr>
              <a:t>→ §2.1 概念 · 六项时间指标 · 六项空间要素 · 五项理论 · 三重约束模型 · 行人侧参数</a:t>
            </a:r>
          </a:p>
          <a:p>
            <a:pPr>
              <a:lnSpc>
                <a:spcPct val="180000"/>
              </a:lnSpc>
              <a:spcAft>
                <a:spcPts val="500"/>
              </a:spcAft>
            </a:pPr>
            <a:r>
              <a:rPr sz="1400" b="0">
                <a:solidFill>
                  <a:srgbClr val="1A1A1A"/>
                </a:solidFill>
                <a:latin typeface="微软雅黑"/>
              </a:rPr>
              <a:t>由此产生的实验：实验 1（把零点 t0 与运动学下界实测出来）——没有它，实验 2 的自变量只能写成绝对 TTC。</a:t>
            </a:r>
          </a:p>
        </p:txBody>
      </p:sp>
      <p:sp>
        <p:nvSpPr>
          <p:cNvPr id="11" name="Rectangle 10"/>
          <p:cNvSpPr/>
          <p:nvPr/>
        </p:nvSpPr>
        <p:spPr>
          <a:xfrm>
            <a:off x="5689600" y="1672336"/>
            <a:ext cx="4876800" cy="1942401"/>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92800" y="1672336"/>
            <a:ext cx="4495800" cy="1866201"/>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问题二 为什么文献结论互相矛盾？</a:t>
            </a:r>
          </a:p>
          <a:p>
            <a:pPr>
              <a:lnSpc>
                <a:spcPct val="180000"/>
              </a:lnSpc>
              <a:spcAft>
                <a:spcPts val="500"/>
              </a:spcAft>
            </a:pPr>
            <a:r>
              <a:rPr sz="1400" b="0">
                <a:solidFill>
                  <a:srgbClr val="1A1A1A"/>
                </a:solidFill>
                <a:latin typeface="微软雅黑"/>
              </a:rPr>
              <a:t>难处：同一个 5.0 s，Kang 等（2016）报告显著改善避险绩效、Kim 等（2018）报告峰值减速度上升 34.46%、Wang 等（2025）报告相对基线无显著增益。取平均或各引一句都是错的。</a:t>
            </a:r>
          </a:p>
          <a:p>
            <a:pPr>
              <a:lnSpc>
                <a:spcPct val="180000"/>
              </a:lnSpc>
              <a:spcAft>
                <a:spcPts val="500"/>
              </a:spcAft>
            </a:pPr>
            <a:r>
              <a:rPr sz="1400" b="0">
                <a:solidFill>
                  <a:srgbClr val="1A1A1A"/>
                </a:solidFill>
                <a:latin typeface="微软雅黑"/>
              </a:rPr>
              <a:t>本章的回答：把每一组矛盾拆到条件差异／记法口径／推论过度三类来源上，逐组找出那个未被控制的第三变量——共七组主要 + 四组次级冲突。</a:t>
            </a:r>
          </a:p>
          <a:p>
            <a:pPr>
              <a:lnSpc>
                <a:spcPct val="180000"/>
              </a:lnSpc>
              <a:spcAft>
                <a:spcPts val="500"/>
              </a:spcAft>
            </a:pPr>
            <a:r>
              <a:rPr sz="1400" b="0">
                <a:solidFill>
                  <a:srgbClr val="1A1A1A"/>
                </a:solidFill>
                <a:latin typeface="微软雅黑"/>
              </a:rPr>
              <a:t>→ §2.2 时间侧证据｜§2.3 空间侧证据｜§2.4 冲突辨析与方法学评述</a:t>
            </a:r>
          </a:p>
          <a:p>
            <a:pPr>
              <a:lnSpc>
                <a:spcPct val="180000"/>
              </a:lnSpc>
              <a:spcAft>
                <a:spcPts val="500"/>
              </a:spcAft>
            </a:pPr>
            <a:r>
              <a:rPr sz="1400" b="0">
                <a:solidFill>
                  <a:srgbClr val="1A1A1A"/>
                </a:solidFill>
                <a:latin typeface="微软雅黑"/>
              </a:rPr>
              <a:t>由此产生的实验：每一个被找出的第三变量成为一个操纵维度——提前量（实验 2）、可靠性（实验 3）、锁定策略（实验 4）、风险演化（实验 5）。</a:t>
            </a:r>
          </a:p>
        </p:txBody>
      </p:sp>
      <p:sp>
        <p:nvSpPr>
          <p:cNvPr id="13" name="Rectangle 12"/>
          <p:cNvSpPr/>
          <p:nvPr/>
        </p:nvSpPr>
        <p:spPr>
          <a:xfrm>
            <a:off x="10795000" y="1672336"/>
            <a:ext cx="4876800" cy="1622361"/>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98200" y="1672336"/>
            <a:ext cx="4495800" cy="1546161"/>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问题三 哪些还没有人回答？</a:t>
            </a:r>
          </a:p>
          <a:p>
            <a:pPr>
              <a:lnSpc>
                <a:spcPct val="180000"/>
              </a:lnSpc>
              <a:spcAft>
                <a:spcPts val="500"/>
              </a:spcAft>
            </a:pPr>
            <a:r>
              <a:rPr sz="1400" b="0">
                <a:solidFill>
                  <a:srgbClr val="1A1A1A"/>
                </a:solidFill>
                <a:latin typeface="微软雅黑"/>
              </a:rPr>
              <a:t>难处：综述若只汇总已有结论，就无法说明「为什么还要做实验」。必须指出零对照的参数。</a:t>
            </a:r>
          </a:p>
          <a:p>
            <a:pPr>
              <a:lnSpc>
                <a:spcPct val="180000"/>
              </a:lnSpc>
              <a:spcAft>
                <a:spcPts val="500"/>
              </a:spcAft>
            </a:pPr>
            <a:r>
              <a:rPr sz="1400" b="0">
                <a:solidFill>
                  <a:srgbClr val="1A1A1A"/>
                </a:solidFill>
                <a:latin typeface="微软雅黑"/>
              </a:rPr>
              <a:t>本章的回答：九项研究空白（其中 4 项为「零人因对照」）→ 收敛为三个层层递进的核心问题 → H1–H4（由理论导出、可否证）+ H5–H14（由文献归纳）。</a:t>
            </a:r>
          </a:p>
          <a:p>
            <a:pPr>
              <a:lnSpc>
                <a:spcPct val="180000"/>
              </a:lnSpc>
              <a:spcAft>
                <a:spcPts val="500"/>
              </a:spcAft>
            </a:pPr>
            <a:r>
              <a:rPr sz="1400" b="0">
                <a:solidFill>
                  <a:srgbClr val="1A1A1A"/>
                </a:solidFill>
                <a:latin typeface="微软雅黑"/>
              </a:rPr>
              <a:t>→ §2.5 空白与问题提出｜§2.6 本章小结（七处对既有共识的修正）</a:t>
            </a:r>
          </a:p>
          <a:p>
            <a:pPr>
              <a:lnSpc>
                <a:spcPct val="180000"/>
              </a:lnSpc>
              <a:spcAft>
                <a:spcPts val="500"/>
              </a:spcAft>
            </a:pPr>
            <a:r>
              <a:rPr sz="1400" b="0">
                <a:solidFill>
                  <a:srgbClr val="1A1A1A"/>
                </a:solidFill>
                <a:latin typeface="微软雅黑"/>
              </a:rPr>
              <a:t>由此产生的实验：空白清单本身即五个实验的必要性论证——每个实验都指名它填补哪一项空白。</a:t>
            </a:r>
          </a:p>
        </p:txBody>
      </p:sp>
      <p:sp>
        <p:nvSpPr>
          <p:cNvPr id="15" name="Rectangle 14"/>
          <p:cNvSpPr/>
          <p:nvPr/>
        </p:nvSpPr>
        <p:spPr>
          <a:xfrm>
            <a:off x="584200" y="3690937"/>
            <a:ext cx="15087600" cy="656336"/>
          </a:xfrm>
          <a:prstGeom prst="rect">
            <a:avLst/>
          </a:prstGeom>
          <a:solidFill>
            <a:srgbClr val="F2F9F2"/>
          </a:solidFill>
          <a:ln w="17780">
            <a:solidFill>
              <a:srgbClr val="3E7D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84200" y="3690937"/>
            <a:ext cx="63500" cy="656336"/>
          </a:xfrm>
          <a:prstGeom prst="rect">
            <a:avLst/>
          </a:prstGeom>
          <a:solidFill>
            <a:srgbClr val="3E7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7400" y="3690937"/>
            <a:ext cx="14757400" cy="58013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贯穿三个问题的一条方法论主张：结论冲突不该被「取平均」或回避，而应当作调节变量存在的实证信号——找出那个未被控制的第三变量，就等于找到了一个应当纳入设计的维度。本研究的五个实验，每一个都对应一个这样被找出来的维度。</a:t>
            </a:r>
          </a:p>
        </p:txBody>
      </p:sp>
      <p:sp>
        <p:nvSpPr>
          <p:cNvPr id="18" name="TextBox 17"/>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2 / 37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文献综述　概念界定：HUD 与 AR-HUD</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135100" y="203200"/>
            <a:ext cx="15367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2.1.1</a:t>
            </a:r>
          </a:p>
        </p:txBody>
      </p:sp>
      <p:sp>
        <p:nvSpPr>
          <p:cNvPr id="6" name="Rectangle 5"/>
          <p:cNvSpPr/>
          <p:nvPr/>
        </p:nvSpPr>
        <p:spPr>
          <a:xfrm>
            <a:off x="584200" y="939800"/>
            <a:ext cx="15087600" cy="816356"/>
          </a:xfrm>
          <a:prstGeom prst="rect">
            <a:avLst/>
          </a:prstGeom>
          <a:solidFill>
            <a:srgbClr val="D9E2F3"/>
          </a:solidFill>
          <a:ln w="1778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4200" y="939800"/>
            <a:ext cx="63500" cy="816356"/>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7400" y="939800"/>
            <a:ext cx="14757400" cy="74015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 AR-HUD（增强现实抬头显示）是把图形与车外真实目标逐帧配准的抬头显示；其图形随目标在视野中的位置、大小、遮挡关系连续变化 （Yoon 等, 2014；Kim 等, 2018）。汽车 HUD 始于 1988 年通用 Oldsmobile Cutlass Supreme，相对低头显示可缩短约 0.2 s 反应时 （Yoon 等, 2014 转引 Horrey 等）。</a:t>
            </a:r>
          </a:p>
        </p:txBody>
      </p:sp>
      <p:graphicFrame>
        <p:nvGraphicFramePr>
          <p:cNvPr id="9" name="Table 8"/>
          <p:cNvGraphicFramePr>
            <a:graphicFrameLocks noGrp="1"/>
          </p:cNvGraphicFramePr>
          <p:nvPr/>
        </p:nvGraphicFramePr>
        <p:xfrm>
          <a:off x="584200" y="1832356"/>
          <a:ext cx="15087600" cy="1524000"/>
        </p:xfrm>
        <a:graphic>
          <a:graphicData uri="http://schemas.openxmlformats.org/drawingml/2006/table">
            <a:tbl>
              <a:tblPr firstRow="1" bandRow="1">
                <a:tableStyleId>{5C22544A-7EE6-4342-B048-85BDC9FD1C3A}</a:tableStyleId>
              </a:tblPr>
              <a:tblGrid>
                <a:gridCol w="3771900"/>
                <a:gridCol w="3771900"/>
                <a:gridCol w="3771900"/>
                <a:gridCol w="3771900"/>
              </a:tblGrid>
              <a:tr h="508000">
                <a:tc>
                  <a:txBody>
                    <a:bodyPr wrap="square" lIns="76200" rIns="76200" tIns="38100" bIns="38100"/>
                    <a:lstStyle/>
                    <a:p>
                      <a:pPr>
                        <a:lnSpc>
                          <a:spcPct val="115000"/>
                        </a:lnSpc>
                      </a:pPr>
                      <a:r>
                        <a:rPr sz="1250" b="1">
                          <a:solidFill>
                            <a:srgbClr val="FFFFFF"/>
                          </a:solidFill>
                          <a:latin typeface="微软雅黑"/>
                        </a:rPr>
                        <a:t>代际</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显示方式</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信息与场景的关系</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典型内容</a:t>
                      </a:r>
                    </a:p>
                  </a:txBody>
                  <a:tcPr>
                    <a:solidFill>
                      <a:srgbClr val="4472C4"/>
                    </a:solidFill>
                  </a:tcPr>
                </a:tc>
              </a:tr>
              <a:tr h="508000">
                <a:tc>
                  <a:txBody>
                    <a:bodyPr wrap="square" lIns="76200" rIns="76200" tIns="38100" bIns="38100"/>
                    <a:lstStyle/>
                    <a:p>
                      <a:pPr>
                        <a:lnSpc>
                          <a:spcPct val="115000"/>
                        </a:lnSpc>
                      </a:pPr>
                      <a:r>
                        <a:rPr sz="1200" b="0">
                          <a:solidFill>
                            <a:srgbClr val="1A1A1A"/>
                          </a:solidFill>
                          <a:latin typeface="微软雅黑"/>
                        </a:rPr>
                        <a:t>传统 HUD</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屏幕固定 screen-fixed</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图形位置与车外场景无空间对应，仅占据视野中一块固定区域</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车速、导航箭头、油量</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AR-HUD</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世界锁定 world-locked／共形 contact-analog</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图形位置与车外目标逐帧配准</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行人边界框、路面虚拟阴影、车道增强、冲突区标记</a:t>
                      </a:r>
                    </a:p>
                  </a:txBody>
                  <a:tcPr>
                    <a:solidFill>
                      <a:srgbClr val="FAFBFD"/>
                    </a:solidFill>
                  </a:tcPr>
                </a:tc>
              </a:tr>
            </a:tbl>
          </a:graphicData>
        </a:graphic>
      </p:graphicFrame>
      <p:sp>
        <p:nvSpPr>
          <p:cNvPr id="10" name="Rectangle 9"/>
          <p:cNvSpPr/>
          <p:nvPr/>
        </p:nvSpPr>
        <p:spPr>
          <a:xfrm>
            <a:off x="584200" y="3508755"/>
            <a:ext cx="15087600" cy="656336"/>
          </a:xfrm>
          <a:prstGeom prst="rect">
            <a:avLst/>
          </a:prstGeom>
          <a:solidFill>
            <a:srgbClr val="FDF2F2"/>
          </a:solidFill>
          <a:ln w="1778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84200" y="3508755"/>
            <a:ext cx="63500" cy="656336"/>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7400" y="3508755"/>
            <a:ext cx="14757400" cy="58013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&gt;必须在一开始澄清的概念混淆：「屏幕固定」与「显示位置」是两个独立维度。Lind（2007）的四方对照表明，碰撞预警平视显示（CWHUD）本身即屏幕固定式，其相对仪表显示已快约 200 ms、漏报少 16 次。因此讨论「屏幕固定的局限」时，比较对象必须是同在前视野的世界锁定图形，而非仪表显示。忽略这一点会系统性高估共形性的边际收益。</a:t>
            </a:r>
          </a:p>
        </p:txBody>
      </p:sp>
      <p:sp>
        <p:nvSpPr>
          <p:cNvPr id="13" name="Rectangle 12"/>
          <p:cNvSpPr/>
          <p:nvPr/>
        </p:nvSpPr>
        <p:spPr>
          <a:xfrm>
            <a:off x="584200" y="4241292"/>
            <a:ext cx="15087600" cy="656336"/>
          </a:xfrm>
          <a:prstGeom prst="rect">
            <a:avLst/>
          </a:prstGeom>
          <a:solidFill>
            <a:srgbClr val="FFF8E5"/>
          </a:solidFill>
          <a:ln w="17780">
            <a:solidFill>
              <a:srgbClr val="E0A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84200" y="4241292"/>
            <a:ext cx="63500" cy="656336"/>
          </a:xfrm>
          <a:prstGeom prst="rect">
            <a:avLst/>
          </a:prstGeom>
          <a:solidFill>
            <a:srgbClr val="E0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7400" y="4241292"/>
            <a:ext cx="14757400" cy="58013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&gt;量产硬约束：显示 FOV 当前约 10°–15°，而文献提出的车速—FOV 耦合方案要求 40°–85°（Ma 等, 2021；Teng 等, 2023）——数倍落差意味着大量实验室有效方案在量产车上根本画不出来。</a:t>
            </a:r>
          </a:p>
        </p:txBody>
      </p:sp>
      <p:sp>
        <p:nvSpPr>
          <p:cNvPr id="16" name="TextBox 15"/>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3 / 37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文献综述　时间维度的关键指标</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135100" y="203200"/>
            <a:ext cx="15367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2.1.3</a:t>
            </a:r>
          </a:p>
        </p:txBody>
      </p:sp>
      <p:graphicFrame>
        <p:nvGraphicFramePr>
          <p:cNvPr id="6" name="Table 5"/>
          <p:cNvGraphicFramePr>
            <a:graphicFrameLocks noGrp="1"/>
          </p:cNvGraphicFramePr>
          <p:nvPr/>
        </p:nvGraphicFramePr>
        <p:xfrm>
          <a:off x="584200" y="939800"/>
          <a:ext cx="15087600" cy="4064000"/>
        </p:xfrm>
        <a:graphic>
          <a:graphicData uri="http://schemas.openxmlformats.org/drawingml/2006/table">
            <a:tbl>
              <a:tblPr firstRow="1" bandRow="1">
                <a:tableStyleId>{5C22544A-7EE6-4342-B048-85BDC9FD1C3A}</a:tableStyleId>
              </a:tblPr>
              <a:tblGrid>
                <a:gridCol w="5029200"/>
                <a:gridCol w="5029200"/>
                <a:gridCol w="5029200"/>
              </a:tblGrid>
              <a:tr h="508000">
                <a:tc>
                  <a:txBody>
                    <a:bodyPr wrap="square" lIns="76200" rIns="76200" tIns="38100" bIns="38100"/>
                    <a:lstStyle/>
                    <a:p>
                      <a:pPr>
                        <a:lnSpc>
                          <a:spcPct val="115000"/>
                        </a:lnSpc>
                      </a:pPr>
                      <a:r>
                        <a:rPr sz="1250" b="1">
                          <a:solidFill>
                            <a:srgbClr val="FFFFFF"/>
                          </a:solidFill>
                          <a:latin typeface="微软雅黑"/>
                        </a:rPr>
                        <a:t>指标</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定义</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关键性质与局限</a:t>
                      </a:r>
                    </a:p>
                  </a:txBody>
                  <a:tcPr>
                    <a:solidFill>
                      <a:srgbClr val="4472C4"/>
                    </a:solidFill>
                  </a:tcPr>
                </a:tc>
              </a:tr>
              <a:tr h="508000">
                <a:tc>
                  <a:txBody>
                    <a:bodyPr wrap="square" lIns="76200" rIns="76200" tIns="38100" bIns="38100"/>
                    <a:lstStyle/>
                    <a:p>
                      <a:pPr>
                        <a:lnSpc>
                          <a:spcPct val="115000"/>
                        </a:lnSpc>
                      </a:pPr>
                      <a:r>
                        <a:rPr sz="1200" b="0">
                          <a:solidFill>
                            <a:srgbClr val="1A1A1A"/>
                          </a:solidFill>
                          <a:latin typeface="微软雅黑"/>
                        </a:rPr>
                        <a:t>TTC</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双方不改变运动状态时距碰撞的剩余时间</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最常用；但行人横穿是二维相交冲突，「碰撞点」本身依赖双方速度，定义不唯一</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TTMD</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两者间距达到最小值的时刻距当前的时间</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本研究固定采用；在轨迹不相交（擦肩而过）时仍有定义，且避免与「最大减速度所需时间」同名缩写混淆</a:t>
                      </a:r>
                    </a:p>
                  </a:txBody>
                  <a:tcPr>
                    <a:solidFill>
                      <a:srgbClr val="FAFBFD"/>
                    </a:solidFill>
                  </a:tcPr>
                </a:tc>
              </a:tr>
              <a:tr h="508000">
                <a:tc>
                  <a:txBody>
                    <a:bodyPr wrap="square" lIns="76200" rIns="76200" tIns="38100" bIns="38100"/>
                    <a:lstStyle/>
                    <a:p>
                      <a:pPr>
                        <a:lnSpc>
                          <a:spcPct val="115000"/>
                        </a:lnSpc>
                      </a:pPr>
                      <a:r>
                        <a:rPr sz="1200" b="0">
                          <a:solidFill>
                            <a:srgbClr val="1A1A1A"/>
                          </a:solidFill>
                          <a:latin typeface="微软雅黑"/>
                        </a:rPr>
                        <a:t>THW</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d/vego</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只依赖自车速度，对逼近速率不敏感；Chen 等（2024b）以 THW ≤ 3 s 为高亮阈值</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areq / BTN</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areq=v2/(2d)；BTN=areq/amax</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把车速内生化；BTN = 1 意味着碰撞物理上已不可避免。同族指标为 Takada 等（2014）的 DCA</a:t>
                      </a:r>
                    </a:p>
                  </a:txBody>
                  <a:tcPr>
                    <a:solidFill>
                      <a:srgbClr val="FAFBFD"/>
                    </a:solidFill>
                  </a:tcPr>
                </a:tc>
              </a:tr>
              <a:tr h="508000">
                <a:tc>
                  <a:txBody>
                    <a:bodyPr wrap="square" lIns="76200" rIns="76200" tIns="38100" bIns="38100"/>
                    <a:lstStyle/>
                    <a:p>
                      <a:pPr>
                        <a:lnSpc>
                          <a:spcPct val="115000"/>
                        </a:lnSpc>
                      </a:pPr>
                      <a:r>
                        <a:rPr sz="1200" b="0">
                          <a:solidFill>
                            <a:srgbClr val="1A1A1A"/>
                          </a:solidFill>
                          <a:latin typeface="微软雅黑"/>
                        </a:rPr>
                        <a:t>τ 与光学膨胀率</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光学膨胀率；τ = θ / (dθ/dt)</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Lee（1976）；觉察阈值约 0.003 rad/s；由 dth = √(wv / (dθ/dt)th) 得 60 km/h 下 TTC ≈ 3.2 s</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t0 / Δt</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无辅助时的自发察觉时刻；Δt=t0-twarn</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本研究的核心主张：决定预警有无信息增益的不是绝对 TTC，而是 Δt</a:t>
                      </a:r>
                    </a:p>
                  </a:txBody>
                  <a:tcPr>
                    <a:solidFill>
                      <a:srgbClr val="FAFBFD"/>
                    </a:solidFill>
                  </a:tcPr>
                </a:tc>
              </a:tr>
              <a:tr h="508000">
                <a:tc>
                  <a:txBody>
                    <a:bodyPr wrap="square" lIns="76200" rIns="76200" tIns="38100" bIns="38100"/>
                    <a:lstStyle/>
                    <a:p>
                      <a:pPr>
                        <a:lnSpc>
                          <a:spcPct val="115000"/>
                        </a:lnSpc>
                      </a:pPr>
                      <a:r>
                        <a:rPr sz="1200" b="0">
                          <a:solidFill>
                            <a:srgbClr val="1A1A1A"/>
                          </a:solidFill>
                          <a:latin typeface="微软雅黑"/>
                        </a:rPr>
                        <a:t>warning lag</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触发条件满足 → 图形上屏</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实车可达 1.47 s（Thammakaroon 与 Tangamchit, 2012）；本库几乎无人报告</a:t>
                      </a:r>
                    </a:p>
                  </a:txBody>
                  <a:tcPr>
                    <a:solidFill>
                      <a:srgbClr val="FFFFFF"/>
                    </a:solidFill>
                  </a:tcPr>
                </a:tc>
              </a:tr>
            </a:tbl>
          </a:graphicData>
        </a:graphic>
      </p:graphicFrame>
      <p:sp>
        <p:nvSpPr>
          <p:cNvPr id="7" name="Rectangle 6"/>
          <p:cNvSpPr/>
          <p:nvPr/>
        </p:nvSpPr>
        <p:spPr>
          <a:xfrm>
            <a:off x="584200" y="5156200"/>
            <a:ext cx="15087600" cy="656336"/>
          </a:xfrm>
          <a:prstGeom prst="rect">
            <a:avLst/>
          </a:prstGeom>
          <a:solidFill>
            <a:srgbClr val="FDF2F2"/>
          </a:solidFill>
          <a:ln w="1778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84200" y="5156200"/>
            <a:ext cx="63500" cy="656336"/>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7400" y="5156200"/>
            <a:ext cx="14757400" cy="58013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&gt;为什么必须引入 BTN：同一个 TTC = 2.0 s，在 40 km/h 下只需 BTN 0.35 的温和制动，在 80 km/h 下已需 BTN 0.69 的接近全力制动。既有研究车速跨度从 24 km/h 到 60 km/h 不等——这正是结论互相冲突的一个结构性原因。</a:t>
            </a:r>
          </a:p>
        </p:txBody>
      </p:sp>
      <p:sp>
        <p:nvSpPr>
          <p:cNvPr id="10" name="TextBox 9"/>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4 / 37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文献综述　制动威胁数的三重角色与自变量依据</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3944600" y="203200"/>
            <a:ext cx="17272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2.1.3b</a:t>
            </a:r>
          </a:p>
        </p:txBody>
      </p:sp>
      <p:sp>
        <p:nvSpPr>
          <p:cNvPr id="6" name="Rectangle 5"/>
          <p:cNvSpPr/>
          <p:nvPr/>
        </p:nvSpPr>
        <p:spPr>
          <a:xfrm>
            <a:off x="584200" y="939800"/>
            <a:ext cx="15087600" cy="656336"/>
          </a:xfrm>
          <a:prstGeom prst="rect">
            <a:avLst/>
          </a:prstGeom>
          <a:solidFill>
            <a:srgbClr val="D9E2F3"/>
          </a:solidFill>
          <a:ln w="1778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4200" y="939800"/>
            <a:ext cx="63500" cy="656336"/>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7400" y="939800"/>
            <a:ext cx="14757400" cy="58013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&gt;结论先行：制动威胁数（brake threat number, BTN）是无量纲运动学比值（0–1），既非时刻亦非时长。BTN = areq / amax，其中 areq = v2 / (2dconflict)；BTN = 1 即碰撞在物理上已不可避免。本研究在三个层面上使用它，性质各不相同，故须分列。</a:t>
            </a:r>
          </a:p>
        </p:txBody>
      </p:sp>
      <p:graphicFrame>
        <p:nvGraphicFramePr>
          <p:cNvPr id="9" name="Table 8"/>
          <p:cNvGraphicFramePr>
            <a:graphicFrameLocks noGrp="1"/>
          </p:cNvGraphicFramePr>
          <p:nvPr/>
        </p:nvGraphicFramePr>
        <p:xfrm>
          <a:off x="584200" y="1672336"/>
          <a:ext cx="15087600" cy="2032000"/>
        </p:xfrm>
        <a:graphic>
          <a:graphicData uri="http://schemas.openxmlformats.org/drawingml/2006/table">
            <a:tbl>
              <a:tblPr firstRow="1" bandRow="1">
                <a:tableStyleId>{5C22544A-7EE6-4342-B048-85BDC9FD1C3A}</a:tableStyleId>
              </a:tblPr>
              <a:tblGrid>
                <a:gridCol w="3771900"/>
                <a:gridCol w="3771900"/>
                <a:gridCol w="3771900"/>
                <a:gridCol w="3771900"/>
              </a:tblGrid>
              <a:tr h="508000">
                <a:tc>
                  <a:txBody>
                    <a:bodyPr wrap="square" lIns="76200" rIns="76200" tIns="38100" bIns="38100"/>
                    <a:lstStyle/>
                    <a:p>
                      <a:pPr>
                        <a:lnSpc>
                          <a:spcPct val="115000"/>
                        </a:lnSpc>
                      </a:pPr>
                      <a:r>
                        <a:rPr sz="1250" b="1">
                          <a:solidFill>
                            <a:srgbClr val="FFFFFF"/>
                          </a:solidFill>
                          <a:latin typeface="微软雅黑"/>
                        </a:rPr>
                        <a:t>层面</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用法</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在设计中的性质</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出处与依据</a:t>
                      </a:r>
                    </a:p>
                  </a:txBody>
                  <a:tcPr>
                    <a:solidFill>
                      <a:srgbClr val="4472C4"/>
                    </a:solidFill>
                  </a:tcPr>
                </a:tc>
              </a:tr>
              <a:tr h="508000">
                <a:tc>
                  <a:txBody>
                    <a:bodyPr wrap="square" lIns="76200" rIns="76200" tIns="38100" bIns="38100"/>
                    <a:lstStyle/>
                    <a:p>
                      <a:pPr>
                        <a:lnSpc>
                          <a:spcPct val="115000"/>
                        </a:lnSpc>
                      </a:pPr>
                      <a:r>
                        <a:rPr sz="1200" b="0">
                          <a:solidFill>
                            <a:srgbClr val="1A1A1A"/>
                          </a:solidFill>
                          <a:latin typeface="微软雅黑"/>
                        </a:rPr>
                        <a:t>① 算法侧 触发量</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预警触发条件写作 BTN ≥ θ，替代 TTC ≤ θ；实验 2 中作为触发准则类型这一自变量的一个水平</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自变量的水平 （准则类型，二分类：固定时间阈值／减速度归一化）</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Takada 等（2014）的避险减速度 DCA；Chen 等（2013）；Coelingh 等（2010）；量产自动紧急制动普遍采用同族量</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② 材料侧 难度标度</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事后计算每个试次在预警时刻的 BTN，核验各条件的运动学难度是否等价，并作跨车速比较的共同刻度</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操纵检查量与协变量 （非自变量）</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表 2-3 的换算；本研究方法学要求</a:t>
                      </a:r>
                    </a:p>
                  </a:txBody>
                  <a:tcPr>
                    <a:solidFill>
                      <a:srgbClr val="FAFBFD"/>
                    </a:solidFill>
                  </a:tcPr>
                </a:tc>
              </a:tr>
              <a:tr h="508000">
                <a:tc>
                  <a:txBody>
                    <a:bodyPr wrap="square" lIns="76200" rIns="76200" tIns="38100" bIns="38100"/>
                    <a:lstStyle/>
                    <a:p>
                      <a:pPr>
                        <a:lnSpc>
                          <a:spcPct val="115000"/>
                        </a:lnSpc>
                      </a:pPr>
                      <a:r>
                        <a:rPr sz="1200" b="0">
                          <a:solidFill>
                            <a:srgbClr val="1A1A1A"/>
                          </a:solidFill>
                          <a:latin typeface="微软雅黑"/>
                        </a:rPr>
                        <a:t>③ 空间侧 映射量</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实验 5 的风险量级空间映射以 BTN 为映射源，即图形几何随 BTN 缩放</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自变量的映射源 （连续量 → 视觉量的转换基准）</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Suzuki 等（2010）的 Rx = Ttc·Vcar 属同源做法（§2.3.7）</a:t>
                      </a:r>
                    </a:p>
                  </a:txBody>
                  <a:tcPr>
                    <a:solidFill>
                      <a:srgbClr val="FFFFFF"/>
                    </a:solidFill>
                  </a:tcPr>
                </a:tc>
              </a:tr>
            </a:tbl>
          </a:graphicData>
        </a:graphic>
      </p:graphicFrame>
      <p:sp>
        <p:nvSpPr>
          <p:cNvPr id="10" name="Rectangle 9"/>
          <p:cNvSpPr/>
          <p:nvPr/>
        </p:nvSpPr>
        <p:spPr>
          <a:xfrm>
            <a:off x="584200" y="3856736"/>
            <a:ext cx="15087600" cy="457200"/>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7400" y="3856736"/>
            <a:ext cx="14706600" cy="381000"/>
          </a:xfrm>
          <a:prstGeom prst="rect">
            <a:avLst/>
          </a:prstGeom>
          <a:noFill/>
        </p:spPr>
        <p:txBody>
          <a:bodyPr wrap="square" lIns="0" rIns="0" tIns="0" bIns="0">
            <a:spAutoFit/>
          </a:bodyPr>
          <a:lstStyle/>
          <a:p/>
        </p:txBody>
      </p:sp>
      <p:sp>
        <p:nvSpPr>
          <p:cNvPr id="12" name="TextBox 11"/>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5 / 37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文献综述　理论基础：SPIDER 五阶段</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135100" y="203200"/>
            <a:ext cx="15367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2.1.5</a:t>
            </a:r>
          </a:p>
        </p:txBody>
      </p:sp>
      <p:sp>
        <p:nvSpPr>
          <p:cNvPr id="6" name="Rectangle 5"/>
          <p:cNvSpPr/>
          <p:nvPr/>
        </p:nvSpPr>
        <p:spPr>
          <a:xfrm>
            <a:off x="584200" y="939800"/>
            <a:ext cx="15087600" cy="816356"/>
          </a:xfrm>
          <a:prstGeom prst="rect">
            <a:avLst/>
          </a:prstGeom>
          <a:solidFill>
            <a:srgbClr val="D9E2F3"/>
          </a:solidFill>
          <a:ln w="1778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4200" y="939800"/>
            <a:ext cx="63500" cy="816356"/>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7400" y="939800"/>
            <a:ext cx="14757400" cy="74015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 SPIDER = Scanning · Predicting · Identification · Decision-making · Executing a Response。Strayer 与 Fisher（2016，*Human Factors*，Q1，IF 3.6）提出，Strayer 与 McDonnell（2025，*Annu. Rev. Vis. Sci.*，CC BY，已取得全文）更新为 2.0。它与本研究框架的分工是：SPIDER 定「结构」，实证文献定「数值」。</a:t>
            </a:r>
          </a:p>
        </p:txBody>
      </p:sp>
      <p:sp>
        <p:nvSpPr>
          <p:cNvPr id="9" name="Rectangle 8"/>
          <p:cNvSpPr/>
          <p:nvPr/>
        </p:nvSpPr>
        <p:spPr>
          <a:xfrm>
            <a:off x="584200" y="1832356"/>
            <a:ext cx="7429500" cy="1505013"/>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7400" y="1832356"/>
            <a:ext cx="7048500" cy="1428813"/>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结构：阶段 → 代理指标 → Endsley 层级</a:t>
            </a:r>
          </a:p>
          <a:p>
            <a:pPr>
              <a:lnSpc>
                <a:spcPct val="180000"/>
              </a:lnSpc>
              <a:spcAft>
                <a:spcPts val="500"/>
              </a:spcAft>
            </a:pPr>
            <a:r>
              <a:rPr sz="1400" b="0">
                <a:solidFill>
                  <a:srgbClr val="1A1A1A"/>
                </a:solidFill>
                <a:latin typeface="微软雅黑"/>
              </a:rPr>
              <a:t>阶段本研究的代理指标SA 层级 （原文明确） ScanningTTFF（警告／行人）、道路注视比例、注视分散度层级 1 感知 Predicting预期性注视比例、风险区首次注视时刻（原文确认代理量即 anticipatory glances）层级 3 预测 Identification目标验证时间 = TTFF(行人) − TTFF(警告)、漏检率／无意视盲率层级 2 理解 Decision首次注视行人 → 松油时间、间隙判断、安全边际SA 的 下游 Exec. Resp.制动启动时间、峰值减速度、jerk、反应时分布尾部SA 的 下游 原文 Figure 1 的结构事实：只有 S、P、I 与情境意识双向连接，D 与 ER 是 SA 的下游——把五阶段画成单向串行链是对原图的误读，这也解释了阶段耗时为何不可简单相加。</a:t>
            </a:r>
          </a:p>
        </p:txBody>
      </p:sp>
      <p:sp>
        <p:nvSpPr>
          <p:cNvPr id="11" name="Rectangle 10"/>
          <p:cNvSpPr/>
          <p:nvPr/>
        </p:nvSpPr>
        <p:spPr>
          <a:xfrm>
            <a:off x="8242300" y="1832356"/>
            <a:ext cx="7429500" cy="1184973"/>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45500" y="1832356"/>
            <a:ext cx="7048500" cy="1108773"/>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数值：SPIDER 给出的与不给出的</a:t>
            </a:r>
          </a:p>
          <a:p>
            <a:pPr>
              <a:lnSpc>
                <a:spcPct val="180000"/>
              </a:lnSpc>
              <a:spcAft>
                <a:spcPts val="500"/>
              </a:spcAft>
            </a:pPr>
            <a:r>
              <a:rPr sz="1400" b="0">
                <a:solidFill>
                  <a:srgbClr val="1A1A1A"/>
                </a:solidFill>
                <a:latin typeface="微软雅黑"/>
              </a:rPr>
              <a:t>不给出：任何阶段耗时。两篇原文均未报告一个毫秒值，也未声明五阶段严格串行。故「S+I ≈ 0.9–1.2 s」只能表述为本研究基于其阶段划分建立的工作假设：S 的 617 ms 取自 Wu 等（2024）实测，I 的 300–600 ms 是本研究由 TTFF 差值自行估计。1.0 s 的主要依据是工程证据（Daimler 级联 1.0 s 级间、Suzuki 等 1.0 s 档距）。</a:t>
            </a:r>
          </a:p>
        </p:txBody>
      </p:sp>
      <p:sp>
        <p:nvSpPr>
          <p:cNvPr id="13" name="TextBox 12"/>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6 / 37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文献综述　情境意识与 SPIDER 的分工及 t₀ 的构念定位</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3944600" y="203200"/>
            <a:ext cx="17272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2.1.5b</a:t>
            </a:r>
          </a:p>
        </p:txBody>
      </p:sp>
      <p:sp>
        <p:nvSpPr>
          <p:cNvPr id="6" name="Rectangle 5"/>
          <p:cNvSpPr/>
          <p:nvPr/>
        </p:nvSpPr>
        <p:spPr>
          <a:xfrm>
            <a:off x="584200" y="939800"/>
            <a:ext cx="15087600" cy="656336"/>
          </a:xfrm>
          <a:prstGeom prst="rect">
            <a:avLst/>
          </a:prstGeom>
          <a:solidFill>
            <a:srgbClr val="D9E2F3"/>
          </a:solidFill>
          <a:ln w="1778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4200" y="939800"/>
            <a:ext cx="63500" cy="656336"/>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7400" y="939800"/>
            <a:ext cx="14757400" cy="58013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&gt;结论先行：两个理论并列而非竞争。情境意识（SA）三级模型（Endsley, 1995）提供构念层级，用以组织因变量；SPIDER 五阶段（Strayer 与 McDonnell, 2025）提供过程细节，用以组织过程指标的阶段归属。SA 回答「驾驶员对情境的掌握达到哪一层级」，SPIDER 回答「该层级通过哪一操作环节达成或失败」。</a:t>
            </a:r>
          </a:p>
        </p:txBody>
      </p:sp>
      <p:graphicFrame>
        <p:nvGraphicFramePr>
          <p:cNvPr id="9" name="Table 8"/>
          <p:cNvGraphicFramePr>
            <a:graphicFrameLocks noGrp="1"/>
          </p:cNvGraphicFramePr>
          <p:nvPr/>
        </p:nvGraphicFramePr>
        <p:xfrm>
          <a:off x="584200" y="1672336"/>
          <a:ext cx="15087600" cy="2540000"/>
        </p:xfrm>
        <a:graphic>
          <a:graphicData uri="http://schemas.openxmlformats.org/drawingml/2006/table">
            <a:tbl>
              <a:tblPr firstRow="1" bandRow="1">
                <a:tableStyleId>{5C22544A-7EE6-4342-B048-85BDC9FD1C3A}</a:tableStyleId>
              </a:tblPr>
              <a:tblGrid>
                <a:gridCol w="3771900"/>
                <a:gridCol w="3771900"/>
                <a:gridCol w="3771900"/>
                <a:gridCol w="3771900"/>
              </a:tblGrid>
              <a:tr h="508000">
                <a:tc>
                  <a:txBody>
                    <a:bodyPr wrap="square" lIns="76200" rIns="76200" tIns="38100" bIns="38100"/>
                    <a:lstStyle/>
                    <a:p>
                      <a:pPr>
                        <a:lnSpc>
                          <a:spcPct val="115000"/>
                        </a:lnSpc>
                      </a:pPr>
                      <a:r>
                        <a:rPr sz="1250" b="1">
                          <a:solidFill>
                            <a:srgbClr val="FFFFFF"/>
                          </a:solidFill>
                          <a:latin typeface="微软雅黑"/>
                        </a:rPr>
                        <a:t>SA 层级</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SPIDER 阶段</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本研究的操作化指标</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相关自变量</a:t>
                      </a:r>
                    </a:p>
                  </a:txBody>
                  <a:tcPr>
                    <a:solidFill>
                      <a:srgbClr val="4472C4"/>
                    </a:solidFill>
                  </a:tcPr>
                </a:tc>
              </a:tr>
              <a:tr h="508000">
                <a:tc>
                  <a:txBody>
                    <a:bodyPr wrap="square" lIns="76200" rIns="76200" tIns="38100" bIns="38100"/>
                    <a:lstStyle/>
                    <a:p>
                      <a:pPr>
                        <a:lnSpc>
                          <a:spcPct val="115000"/>
                        </a:lnSpc>
                      </a:pPr>
                      <a:r>
                        <a:rPr sz="1200" b="0">
                          <a:solidFill>
                            <a:srgbClr val="1A1A1A"/>
                          </a:solidFill>
                          <a:latin typeface="微软雅黑"/>
                        </a:rPr>
                        <a:t>层级 1 感知 perception：觉察到相关要素</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Scanning</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自发察觉时刻 t0（无预警条件下首次注视行人的时刻）；有预警条件下的首次注视时间 TTFF；危险漏检率</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相对提前量 Δt、空间参照系、图形显著性</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层级 2 理解 comprehension：理解要素对当前目标的意义</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Identifying</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目标验证时间（= TTFF行人 − TTFF警告）、风险等级判断正确率、紧迫度判断</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分层语义、图形形态与颜色编码、信息完整度</a:t>
                      </a:r>
                    </a:p>
                  </a:txBody>
                  <a:tcPr>
                    <a:solidFill>
                      <a:srgbClr val="FAFBFD"/>
                    </a:solidFill>
                  </a:tcPr>
                </a:tc>
              </a:tr>
              <a:tr h="508000">
                <a:tc>
                  <a:txBody>
                    <a:bodyPr wrap="square" lIns="76200" rIns="76200" tIns="38100" bIns="38100"/>
                    <a:lstStyle/>
                    <a:p>
                      <a:pPr>
                        <a:lnSpc>
                          <a:spcPct val="115000"/>
                        </a:lnSpc>
                      </a:pPr>
                      <a:r>
                        <a:rPr sz="1200" b="0">
                          <a:solidFill>
                            <a:srgbClr val="1A1A1A"/>
                          </a:solidFill>
                          <a:latin typeface="微软雅黑"/>
                        </a:rPr>
                        <a:t>层级 3 预测 projection：预测要素的未来状态</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Predicting</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路径侵入预测正确率、冲突点空间误差、过街方向判断、预期性注视比例</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运动趋势空间映射、风险量级空间映射</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（SA 之外的执行侧）</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Deciding Executing</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松油时刻、制动启动时间、峰值减速度、jerk</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全部时间参数</a:t>
                      </a:r>
                    </a:p>
                  </a:txBody>
                  <a:tcPr>
                    <a:solidFill>
                      <a:srgbClr val="FAFBFD"/>
                    </a:solidFill>
                  </a:tcPr>
                </a:tc>
              </a:tr>
            </a:tbl>
          </a:graphicData>
        </a:graphic>
      </p:graphicFrame>
      <p:sp>
        <p:nvSpPr>
          <p:cNvPr id="10" name="Rectangle 9"/>
          <p:cNvSpPr/>
          <p:nvPr/>
        </p:nvSpPr>
        <p:spPr>
          <a:xfrm>
            <a:off x="584200" y="4364736"/>
            <a:ext cx="15087600" cy="976376"/>
          </a:xfrm>
          <a:prstGeom prst="rect">
            <a:avLst/>
          </a:prstGeom>
          <a:solidFill>
            <a:srgbClr val="FDF2F2"/>
          </a:solidFill>
          <a:ln w="1778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84200" y="4364736"/>
            <a:ext cx="63500" cy="976376"/>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7400" y="4364736"/>
            <a:ext cx="14757400" cy="90017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style="flex:0 0 auto"&gt;t0 的构念定位——一处必须区分的量纲问题：t0 是时刻量（单位 s，由眼动首次注视与首个避险动作实测），SA 层级 1 是潜在构念（无时间单位，以得分计）。二者是「构念—操作化指标」关系，不是同一事物的两个名称。故本研究的处理为三条：① 保留 t0 作变量名，不改称构念名——因自变量定义式 Δt = t0 − twarn 要求 t0 具时间量纲，若以构念替换则该式在量纲上不成立；② 明确其理论归属——t0 是 SA 层级 1 在无辅助条件下达成时刻的行为指标，亦即 Scanning 阶段自发完成的时刻，由此不再是孤立的工程量；③ 另设 SA 三级得分为独立因变量，与 t0 并存——t0 测「感知层何时达成」，三级得分测「三层各自达成到何程度」，二者的相关性本身即一项可检验的效度证据。</a:t>
            </a:r>
          </a:p>
        </p:txBody>
      </p:sp>
      <p:sp>
        <p:nvSpPr>
          <p:cNvPr id="13" name="TextBox 12"/>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7 / 37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文献综述　核心理论模型：预警时刻的三重约束</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135100" y="203200"/>
            <a:ext cx="15367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2.1.6</a:t>
            </a:r>
          </a:p>
        </p:txBody>
      </p:sp>
      <p:sp>
        <p:nvSpPr>
          <p:cNvPr id="6" name="Rectangle 5"/>
          <p:cNvSpPr/>
          <p:nvPr/>
        </p:nvSpPr>
        <p:spPr>
          <a:xfrm>
            <a:off x="584200" y="939800"/>
            <a:ext cx="15087600" cy="656336"/>
          </a:xfrm>
          <a:prstGeom prst="rect">
            <a:avLst/>
          </a:prstGeom>
          <a:solidFill>
            <a:srgbClr val="D9E2F3"/>
          </a:solidFill>
          <a:ln w="1778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4200" y="939800"/>
            <a:ext cx="63500" cy="656336"/>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7400" y="939800"/>
            <a:ext cx="14757400" cy="58013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&gt;预警呈现时刻 twarn 不是待搜索的自由参数。它同时受三个约束，并以自发察觉时刻 t0 为零点；三者的交集即可行设计区间。本研究的贡献不是「猜一个更好的秒数」，而是把这个区间实测出来。</a:t>
            </a:r>
          </a:p>
        </p:txBody>
      </p:sp>
      <p:graphicFrame>
        <p:nvGraphicFramePr>
          <p:cNvPr id="9" name="Table 8"/>
          <p:cNvGraphicFramePr>
            <a:graphicFrameLocks noGrp="1"/>
          </p:cNvGraphicFramePr>
          <p:nvPr/>
        </p:nvGraphicFramePr>
        <p:xfrm>
          <a:off x="584200" y="1672336"/>
          <a:ext cx="15087600" cy="2540000"/>
        </p:xfrm>
        <a:graphic>
          <a:graphicData uri="http://schemas.openxmlformats.org/drawingml/2006/table">
            <a:tbl>
              <a:tblPr firstRow="1" bandRow="1">
                <a:tableStyleId>{5C22544A-7EE6-4342-B048-85BDC9FD1C3A}</a:tableStyleId>
              </a:tblPr>
              <a:tblGrid>
                <a:gridCol w="3771900"/>
                <a:gridCol w="3771900"/>
                <a:gridCol w="3771900"/>
                <a:gridCol w="3771900"/>
              </a:tblGrid>
              <a:tr h="508000">
                <a:tc>
                  <a:txBody>
                    <a:bodyPr wrap="square" lIns="76200" rIns="76200" tIns="38100" bIns="38100"/>
                    <a:lstStyle/>
                    <a:p>
                      <a:pPr>
                        <a:lnSpc>
                          <a:spcPct val="115000"/>
                        </a:lnSpc>
                      </a:pPr>
                      <a:r>
                        <a:rPr sz="1250" b="1">
                          <a:solidFill>
                            <a:srgbClr val="FFFFFF"/>
                          </a:solidFill>
                          <a:latin typeface="微软雅黑"/>
                        </a:rPr>
                        <a:t>约束</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约束的实质</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数学表述</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由谁测定</a:t>
                      </a:r>
                    </a:p>
                  </a:txBody>
                  <a:tcPr>
                    <a:solidFill>
                      <a:srgbClr val="4472C4"/>
                    </a:solidFill>
                  </a:tcPr>
                </a:tc>
              </a:tr>
              <a:tr h="508000">
                <a:tc>
                  <a:txBody>
                    <a:bodyPr wrap="square" lIns="76200" rIns="76200" tIns="38100" bIns="38100"/>
                    <a:lstStyle/>
                    <a:p>
                      <a:pPr>
                        <a:lnSpc>
                          <a:spcPct val="115000"/>
                        </a:lnSpc>
                      </a:pPr>
                      <a:r>
                        <a:rPr sz="1200" b="0">
                          <a:solidFill>
                            <a:srgbClr val="1A1A1A"/>
                          </a:solidFill>
                          <a:latin typeface="微软雅黑"/>
                        </a:rPr>
                        <a:t>① 运动学下界</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预警必须足够早：来不及刹住就没有意义</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twarn≥ PRTp95+vego/acomf+δbrake</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实验 1 测 PRT 分布与 acomf，由车速算出</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② 可靠性上界</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预警不能太早：算法判不准，虚警毁掉信任</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twarn≤ tpred(PPV≥π*)</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实验 3 操纵系统可靠性直接检验</a:t>
                      </a:r>
                    </a:p>
                  </a:txBody>
                  <a:tcPr>
                    <a:solidFill>
                      <a:srgbClr val="FAFBFD"/>
                    </a:solidFill>
                  </a:tcPr>
                </a:tc>
              </a:tr>
              <a:tr h="508000">
                <a:tc>
                  <a:txBody>
                    <a:bodyPr wrap="square" lIns="76200" rIns="76200" tIns="38100" bIns="38100"/>
                    <a:lstStyle/>
                    <a:p>
                      <a:pPr>
                        <a:lnSpc>
                          <a:spcPct val="115000"/>
                        </a:lnSpc>
                      </a:pPr>
                      <a:r>
                        <a:rPr sz="1200" b="0">
                          <a:solidFill>
                            <a:srgbClr val="1A1A1A"/>
                          </a:solidFill>
                          <a:latin typeface="微软雅黑"/>
                        </a:rPr>
                        <a:t>③ 认知窗口</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窗口宽度必须容得下注意加工</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Δt = t0 − twarn ≥ 加工所需（本研究估计 0.9–1.2 s）</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实验 2 以 Δt 为自变量直接检验</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零点 t0</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零点缺失时相对提前量在操作上无从定义</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驾驶员在无辅助条件下的自发察觉时刻</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实验 1 实测；τ 理论给出校验值 TTC ≈ 3.2 s</a:t>
                      </a:r>
                    </a:p>
                  </a:txBody>
                  <a:tcPr>
                    <a:solidFill>
                      <a:srgbClr val="FAFBFD"/>
                    </a:solidFill>
                  </a:tcPr>
                </a:tc>
              </a:tr>
            </a:tbl>
          </a:graphicData>
        </a:graphic>
      </p:graphicFrame>
      <p:sp>
        <p:nvSpPr>
          <p:cNvPr id="10" name="TextBox 9"/>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8 / 37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文献综述　行人侧的行为与运动学参数</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135100" y="203200"/>
            <a:ext cx="15367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2.1.7</a:t>
            </a:r>
          </a:p>
        </p:txBody>
      </p:sp>
      <p:sp>
        <p:nvSpPr>
          <p:cNvPr id="6" name="Rectangle 5"/>
          <p:cNvSpPr/>
          <p:nvPr/>
        </p:nvSpPr>
        <p:spPr>
          <a:xfrm>
            <a:off x="584200" y="939800"/>
            <a:ext cx="15087600" cy="656336"/>
          </a:xfrm>
          <a:prstGeom prst="rect">
            <a:avLst/>
          </a:prstGeom>
          <a:solidFill>
            <a:srgbClr val="D9E2F3"/>
          </a:solidFill>
          <a:ln w="1778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4200" y="939800"/>
            <a:ext cx="63500" cy="656336"/>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7400" y="939800"/>
            <a:ext cx="14757400" cy="58013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&gt;若实验场景中的行人运动参数不符合真实行为分布，则所有时间阈值都失去外部效度。主要依据：Rasouli 与 Tsotsos（2020）梳理 1950s–2018 年研究与 24 个意图估计模型、识别 38 个影响因素；Ezzati Amini 等（2019）汇总 152 篇文献。</a:t>
            </a:r>
          </a:p>
        </p:txBody>
      </p:sp>
      <p:sp>
        <p:nvSpPr>
          <p:cNvPr id="9" name="Rectangle 8"/>
          <p:cNvSpPr/>
          <p:nvPr/>
        </p:nvSpPr>
        <p:spPr>
          <a:xfrm>
            <a:off x="584200" y="1672336"/>
            <a:ext cx="7429500" cy="1184973"/>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7400" y="1672336"/>
            <a:ext cx="7048500" cy="1108773"/>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过街速度</a:t>
            </a:r>
          </a:p>
          <a:p>
            <a:pPr>
              <a:lnSpc>
                <a:spcPct val="180000"/>
              </a:lnSpc>
              <a:spcAft>
                <a:spcPts val="500"/>
              </a:spcAft>
            </a:pPr>
            <a:r>
              <a:rPr sz="1400" b="0">
                <a:solidFill>
                  <a:srgbClr val="1A1A1A"/>
                </a:solidFill>
                <a:latin typeface="微软雅黑"/>
              </a:rPr>
              <a:t>来源速度用途 斑马线实测均值（Crompton, 1979）1.49主设定 土耳其标准设计速度1.4主设定 墨尔本实测（Bennett 等）1.53— MUTCD 群体平均基准1.22边界校验 无按钮配时推荐值0.91–0.99最慢档 &lt; 16 岁 / &gt; 64 岁1.53 / 1.16代际边界 ⚠ 一处文献冲突：1.49–1.74 vs 1.22 / 0.91–0.99 相差最多 1.9 倍。本研究判读为测量对象不同而非矛盾——前者是实际速度实测均值，后者是配时设计下限。不取平均。</a:t>
            </a:r>
          </a:p>
        </p:txBody>
      </p:sp>
      <p:sp>
        <p:nvSpPr>
          <p:cNvPr id="11" name="Rectangle 10"/>
          <p:cNvSpPr/>
          <p:nvPr/>
        </p:nvSpPr>
        <p:spPr>
          <a:xfrm>
            <a:off x="8242300" y="1672336"/>
            <a:ext cx="7429500" cy="1665033"/>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45500" y="1672336"/>
            <a:ext cx="7048500" cy="1588833"/>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间隙接受：危险场景在生态上是否成立</a:t>
            </a:r>
          </a:p>
          <a:p>
            <a:pPr>
              <a:lnSpc>
                <a:spcPct val="180000"/>
              </a:lnSpc>
              <a:spcAft>
                <a:spcPts val="500"/>
              </a:spcAft>
            </a:pPr>
            <a:r>
              <a:rPr sz="1400" b="0">
                <a:solidFill>
                  <a:srgbClr val="1A1A1A"/>
                </a:solidFill>
                <a:latin typeface="微软雅黑"/>
              </a:rPr>
              <a:t>判据数值一手出处（两篇综述均为转引） 无人接受的间隙&lt; 1.5 s英国实测「所有行人接受 10.5 s、无人接受 &lt; 1.5 s」——Ezzati Amini 等（2019）转引，原文献编号 [116] 通常不过街的 TTC&lt; 3 sDiPietro 与 King（1970）——Rasouli 与 Tsotsos（2020）转引 非常可能过街的 TTC&gt; 7 sSchmidt 与 Färber（2009）——同上转引；Ezzati Amini 等经 Schroeder 独立得到同一区间 起步损失时间1.3 s路段中部受控过街，Bennett 等——Ezzati Amini 等（2019）转引 本研究由此得出的场景约束（判读，非原文表述）：危险场景的车—人间隙应落在 1.5–7 s——低于 1.5 s 则行人横穿在生态上不合理，高于 7 s 则冲突不成立；3–7 s 是行人自身决策最不确定的模糊带，也是 AR 介入价值最高的窗口。</a:t>
            </a:r>
          </a:p>
        </p:txBody>
      </p:sp>
      <p:sp>
        <p:nvSpPr>
          <p:cNvPr id="13" name="TextBox 12"/>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9 / 37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文献综述　预警出现时机：横向比较证据</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135100" y="203200"/>
            <a:ext cx="15367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2.2.1</a:t>
            </a:r>
          </a:p>
        </p:txBody>
      </p:sp>
      <p:graphicFrame>
        <p:nvGraphicFramePr>
          <p:cNvPr id="6" name="Table 5"/>
          <p:cNvGraphicFramePr>
            <a:graphicFrameLocks noGrp="1"/>
          </p:cNvGraphicFramePr>
          <p:nvPr/>
        </p:nvGraphicFramePr>
        <p:xfrm>
          <a:off x="584200" y="939800"/>
          <a:ext cx="15087600" cy="4572000"/>
        </p:xfrm>
        <a:graphic>
          <a:graphicData uri="http://schemas.openxmlformats.org/drawingml/2006/table">
            <a:tbl>
              <a:tblPr firstRow="1" bandRow="1">
                <a:tableStyleId>{5C22544A-7EE6-4342-B048-85BDC9FD1C3A}</a:tableStyleId>
              </a:tblPr>
              <a:tblGrid>
                <a:gridCol w="3771900"/>
                <a:gridCol w="3771900"/>
                <a:gridCol w="3771900"/>
                <a:gridCol w="3771900"/>
              </a:tblGrid>
              <a:tr h="508000">
                <a:tc>
                  <a:txBody>
                    <a:bodyPr wrap="square" lIns="76200" rIns="76200" tIns="38100" bIns="38100"/>
                    <a:lstStyle/>
                    <a:p>
                      <a:pPr>
                        <a:lnSpc>
                          <a:spcPct val="115000"/>
                        </a:lnSpc>
                      </a:pPr>
                      <a:r>
                        <a:rPr sz="1250" b="1">
                          <a:solidFill>
                            <a:srgbClr val="FFFFFF"/>
                          </a:solidFill>
                          <a:latin typeface="微软雅黑"/>
                        </a:rPr>
                        <a:t>研究</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阈值</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场景与车速</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关键结果</a:t>
                      </a:r>
                    </a:p>
                  </a:txBody>
                  <a:tcPr>
                    <a:solidFill>
                      <a:srgbClr val="4472C4"/>
                    </a:solidFill>
                  </a:tcPr>
                </a:tc>
              </a:tr>
              <a:tr h="508000">
                <a:tc>
                  <a:txBody>
                    <a:bodyPr wrap="square" lIns="76200" rIns="76200" tIns="38100" bIns="38100"/>
                    <a:lstStyle/>
                    <a:p>
                      <a:pPr>
                        <a:lnSpc>
                          <a:spcPct val="115000"/>
                        </a:lnSpc>
                      </a:pPr>
                      <a:r>
                        <a:rPr sz="1200" b="0">
                          <a:solidFill>
                            <a:srgbClr val="1A1A1A"/>
                          </a:solidFill>
                          <a:latin typeface="微软雅黑"/>
                        </a:rPr>
                        <a:t>Kim 等（2018）</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2.5 / 5.0 s</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户外停车场实车 15 mph（24 km/h）</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体积式 HUD（8 m 至光学无穷远，17° 圆形视场）；5.0 s 条件下 BRAKE 文本使峰值减速度较无预警基线上升 34.46%；虚拟阴影未出现过度反应</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Lubbe（2017）</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1.8 s 临界 2.5 s 提示</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运动基座模拟器 7.1 m 穹顶 + 6 DOF</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Setting 4（视听 + 制动脉冲）仅 1 次碰撞（其余 8–10 次），平均反应时 0.8 s（SD 0.29）；无触觉条件最长反应时 2.5 s，已超过 TTC 本身</a:t>
                      </a:r>
                    </a:p>
                  </a:txBody>
                  <a:tcPr>
                    <a:solidFill>
                      <a:srgbClr val="FAFBFD"/>
                    </a:solidFill>
                  </a:tcPr>
                </a:tc>
              </a:tr>
              <a:tr h="508000">
                <a:tc>
                  <a:txBody>
                    <a:bodyPr wrap="square" lIns="76200" rIns="76200" tIns="38100" bIns="38100"/>
                    <a:lstStyle/>
                    <a:p>
                      <a:pPr>
                        <a:lnSpc>
                          <a:spcPct val="115000"/>
                        </a:lnSpc>
                      </a:pPr>
                      <a:r>
                        <a:rPr sz="1200" b="0">
                          <a:solidFill>
                            <a:srgbClr val="1A1A1A"/>
                          </a:solidFill>
                          <a:latin typeface="微软雅黑"/>
                        </a:rPr>
                        <a:t>Huo 与 Alla（2025）</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2.5 s （50 km/h → 34.72 m）</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城市道路模拟 白天／夜间</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危险感知时间：白天 0.52 vs 1.20 s；夜间 0.58 vs 1.89 s（均 p &lt; .01）；AR 可消除昼夜差异</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Phan 等（2016）</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min(TTC 2 s, d 16.6 m)</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固定基座模拟器</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行人觉察时刻由 TTC 约 3 s 提前至 4.5 s；紧急制动次数由 72 降至 11</a:t>
                      </a:r>
                    </a:p>
                  </a:txBody>
                  <a:tcPr>
                    <a:solidFill>
                      <a:srgbClr val="FAFBFD"/>
                    </a:solidFill>
                  </a:tcPr>
                </a:tc>
              </a:tr>
              <a:tr h="508000">
                <a:tc>
                  <a:txBody>
                    <a:bodyPr wrap="square" lIns="76200" rIns="76200" tIns="38100" bIns="38100"/>
                    <a:lstStyle/>
                    <a:p>
                      <a:pPr>
                        <a:lnSpc>
                          <a:spcPct val="115000"/>
                        </a:lnSpc>
                      </a:pPr>
                      <a:r>
                        <a:rPr sz="1200" b="0">
                          <a:solidFill>
                            <a:srgbClr val="1A1A1A"/>
                          </a:solidFill>
                          <a:latin typeface="微软雅黑"/>
                        </a:rPr>
                        <a:t>Wu 等（2024）</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&lt; 3 s</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360° 全景视频 60 km/h，行人 1.5 m/s</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动态跟随 BW 在所有转向场景的 TTFF、注视次数、注视时长均显著优于 BD／BR</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Chen 等（2024b）</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THW ≤ 3 s</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多目标场景，新手</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分级警告 vs 均等警告：1 083 ms vs 1 707 ms（−36%）</a:t>
                      </a:r>
                    </a:p>
                  </a:txBody>
                  <a:tcPr>
                    <a:solidFill>
                      <a:srgbClr val="FAFBFD"/>
                    </a:solidFill>
                  </a:tcPr>
                </a:tc>
              </a:tr>
              <a:tr h="508000">
                <a:tc>
                  <a:txBody>
                    <a:bodyPr wrap="square" lIns="76200" rIns="76200" tIns="38100" bIns="38100"/>
                    <a:lstStyle/>
                    <a:p>
                      <a:pPr>
                        <a:lnSpc>
                          <a:spcPct val="115000"/>
                        </a:lnSpc>
                      </a:pPr>
                      <a:r>
                        <a:rPr sz="1200" b="0">
                          <a:solidFill>
                            <a:srgbClr val="1A1A1A"/>
                          </a:solidFill>
                          <a:latin typeface="微软雅黑"/>
                        </a:rPr>
                        <a:t>Wang 等（2025）ARive</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 5 s</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HoloLens 2，让行场景</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未显著降低反应时（疑似习惯化），但显著增大 THW；红地毯让行成功率优于基线（p &lt; .001）</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Zhang 等（2024）</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100 m ≈ 6 s @60 km/h</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网联 V2X，中国样本 N = 34</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首次制动位置 64.50 → 27.33 m（提前约 37 m）；最大减速度 −8.30 → −5.03 m/s²；最小冲突距离 10.75 → 20.96 m</a:t>
                      </a:r>
                    </a:p>
                  </a:txBody>
                  <a:tcPr>
                    <a:solidFill>
                      <a:srgbClr val="FAFBFD"/>
                    </a:solidFill>
                  </a:tcPr>
                </a:tc>
              </a:tr>
            </a:tbl>
          </a:graphicData>
        </a:graphic>
      </p:graphicFrame>
      <p:sp>
        <p:nvSpPr>
          <p:cNvPr id="7" name="Rectangle 6"/>
          <p:cNvSpPr/>
          <p:nvPr/>
        </p:nvSpPr>
        <p:spPr>
          <a:xfrm>
            <a:off x="584200" y="5664200"/>
            <a:ext cx="15087600" cy="656336"/>
          </a:xfrm>
          <a:prstGeom prst="rect">
            <a:avLst/>
          </a:prstGeom>
          <a:solidFill>
            <a:srgbClr val="FDF2F2"/>
          </a:solidFill>
          <a:ln w="1778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84200" y="5664200"/>
            <a:ext cx="63500" cy="656336"/>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7400" y="5664200"/>
            <a:ext cx="14757400" cy="58013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&gt;横向比较的共同缺陷：不同研究采用不同单点阈值，其差异同时包含阈值差异与研究间差异（车速、模态、样本、场景），无法分离。</a:t>
            </a:r>
          </a:p>
        </p:txBody>
      </p:sp>
      <p:sp>
        <p:nvSpPr>
          <p:cNvPr id="10" name="TextBox 9"/>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10 / 37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文献综述　出现时机：梯度对照证据（证据等级最高）</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135100" y="203200"/>
            <a:ext cx="15367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2.2.1</a:t>
            </a:r>
          </a:p>
        </p:txBody>
      </p:sp>
      <p:sp>
        <p:nvSpPr>
          <p:cNvPr id="6" name="Rectangle 5"/>
          <p:cNvSpPr/>
          <p:nvPr/>
        </p:nvSpPr>
        <p:spPr>
          <a:xfrm>
            <a:off x="584200" y="939800"/>
            <a:ext cx="15087600" cy="656336"/>
          </a:xfrm>
          <a:prstGeom prst="rect">
            <a:avLst/>
          </a:prstGeom>
          <a:solidFill>
            <a:srgbClr val="D9E2F3"/>
          </a:solidFill>
          <a:ln w="1778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4200" y="939800"/>
            <a:ext cx="63500" cy="656336"/>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7400" y="939800"/>
            <a:ext cx="14757400" cy="58013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&gt;真正把「出现时机」作为多水平自变量的研究只有两项。它们的证据等级显著高于横向比较——因为只有梯度设计才能给出剂量—反应关系。</a:t>
            </a:r>
          </a:p>
        </p:txBody>
      </p:sp>
      <p:sp>
        <p:nvSpPr>
          <p:cNvPr id="9" name="Rectangle 8"/>
          <p:cNvSpPr/>
          <p:nvPr/>
        </p:nvSpPr>
        <p:spPr>
          <a:xfrm>
            <a:off x="584200" y="1672336"/>
            <a:ext cx="7429500" cy="1544129"/>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7400" y="1672336"/>
            <a:ext cx="7048500" cy="1467929"/>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Zhang 等（2015）：7 档梯度（本库最细）</a:t>
            </a:r>
          </a:p>
          <a:p>
            <a:pPr>
              <a:lnSpc>
                <a:spcPct val="180000"/>
              </a:lnSpc>
              <a:spcAft>
                <a:spcPts val="500"/>
              </a:spcAft>
            </a:pPr>
            <a:r>
              <a:rPr sz="1400" b="0">
                <a:solidFill>
                  <a:srgbClr val="1A1A1A"/>
                </a:solidFill>
                <a:latin typeface="微软雅黑"/>
              </a:rPr>
              <a:t>交叉口闯红灯冲突，听觉预警，2.5 / 3.0 / 3.5 / 4.0 / 4.5 / 5.0 / 5.5 s + 无预警</a:t>
            </a:r>
          </a:p>
          <a:p>
            <a:pPr>
              <a:lnSpc>
                <a:spcPct val="180000"/>
              </a:lnSpc>
              <a:spcAft>
                <a:spcPts val="500"/>
              </a:spcAft>
            </a:pPr>
            <a:r>
              <a:rPr sz="1400" b="0">
                <a:solidFill>
                  <a:srgbClr val="1A1A1A"/>
                </a:solidFill>
                <a:latin typeface="微软雅黑"/>
              </a:rPr>
              <a:t>结果项数值 无效阈值2.5 s：全部时间切片上与无预警无显著差异，碰撞率 29.4% 有效性硬下限3.0 s 推荐区间3.0–4.0 s 无预警基线直到距冲突点 1.5 s 才猛制动；碰撞率 44.1% 最大减速距离33.24 → 36.57 / 44.44 / 36.92 / 50.07 / 50.52 / 56.26 / 59.49 m（F = 7.464, p &lt; .05） 行为离散度SD 40.75 → 15.97 m 响应潜伏期0.5 s（3.0 s 条件）→ 2.0 s（5.5 s 条件）</a:t>
            </a:r>
          </a:p>
        </p:txBody>
      </p:sp>
      <p:sp>
        <p:nvSpPr>
          <p:cNvPr id="11" name="Rectangle 10"/>
          <p:cNvSpPr/>
          <p:nvPr/>
        </p:nvSpPr>
        <p:spPr>
          <a:xfrm>
            <a:off x="8242300" y="1672336"/>
            <a:ext cx="7429500" cy="1583245"/>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45500" y="1672336"/>
            <a:ext cx="7048500" cy="1507045"/>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Large 等（2019）：4 档梯度</a:t>
            </a:r>
          </a:p>
          <a:p>
            <a:pPr>
              <a:lnSpc>
                <a:spcPct val="180000"/>
              </a:lnSpc>
              <a:spcAft>
                <a:spcPts val="500"/>
              </a:spcAft>
            </a:pPr>
            <a:r>
              <a:rPr sz="1400" b="0">
                <a:solidFill>
                  <a:srgbClr val="1A1A1A"/>
                </a:solidFill>
                <a:latin typeface="微软雅黑"/>
              </a:rPr>
              <a:t>TTC 2.0 / 3.0 / 4.0 / 5.0 s（W1–W4），40 km/h。紧迫度主效应极强（松油门：F = 5 037.10）；模态主效应仅部分显著（首次注视行人 p = .608 不显著）。</a:t>
            </a:r>
          </a:p>
          <a:p>
            <a:pPr>
              <a:lnSpc>
                <a:spcPct val="180000"/>
              </a:lnSpc>
              <a:spcAft>
                <a:spcPts val="500"/>
              </a:spcAft>
            </a:pPr>
            <a:r>
              <a:rPr sz="1400" b="0">
                <a:solidFill>
                  <a:srgbClr val="1A1A1A"/>
                </a:solidFill>
                <a:latin typeface="微软雅黑"/>
              </a:rPr>
              <a:t>本研究由其数据推算的阶段耗时：警报 → 松油门 0.53–0.77 s；松油门 → 踩刹车 0.35 s（W1）→ 1.38 s（W4）。</a:t>
            </a:r>
          </a:p>
          <a:p>
            <a:pPr>
              <a:lnSpc>
                <a:spcPct val="180000"/>
              </a:lnSpc>
              <a:spcAft>
                <a:spcPts val="500"/>
              </a:spcAft>
            </a:pPr>
            <a:r>
              <a:rPr sz="1400" b="0">
                <a:solidFill>
                  <a:srgbClr val="1A1A1A"/>
                </a:solidFill>
                <a:latin typeface="微软雅黑"/>
              </a:rPr>
              <a:t>方法学缺陷：TTC 四水平与误报率 20/40/60/80% 共变，「紧迫度主效应」实为「紧迫度 + 可靠性」的混合效应。这正是本研究实验 3 把可靠性单列为自变量的直接理由。</a:t>
            </a:r>
          </a:p>
        </p:txBody>
      </p:sp>
      <p:sp>
        <p:nvSpPr>
          <p:cNvPr id="13" name="Rectangle 12"/>
          <p:cNvSpPr/>
          <p:nvPr/>
        </p:nvSpPr>
        <p:spPr>
          <a:xfrm>
            <a:off x="584200" y="3331781"/>
            <a:ext cx="15087600" cy="976376"/>
          </a:xfrm>
          <a:prstGeom prst="rect">
            <a:avLst/>
          </a:prstGeom>
          <a:solidFill>
            <a:srgbClr val="FFF8E5"/>
          </a:solidFill>
          <a:ln w="17780">
            <a:solidFill>
              <a:srgbClr val="E0A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84200" y="3331781"/>
            <a:ext cx="63500" cy="976376"/>
          </a:xfrm>
          <a:prstGeom prst="rect">
            <a:avLst/>
          </a:prstGeom>
          <a:solidFill>
            <a:srgbClr val="E0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7400" y="3331781"/>
            <a:ext cx="14757400" cy="90017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&gt;Zhang 等（2015）的秒数是以什么为基线算出来的？——四点必须交代，否则不能迁移： ① 零点＝冲突点（交叉口内两车轨迹的交点），不是碰撞时刻、也不是行人所在位置； ② 时间量＝本车按当前车速到冲突点的接近时间，由模拟器的「TTC 传感器」实时外推（恒速假设），预警由接近传感器在预设接近时间处触发；场景由闯红灯车在本车距冲突点 7 s 时以 20 m/s 驶出而生成，限速 80 km/h 城市双车道； ③ 「有效」的判定基线＝无预警组 NA，做逐 0.5 s 切片的配对 t 检验（NA 组直到 1.5 s 才猛制动、碰撞率 44.1%）——所谓「2.5 s 无效」即全部切片上与 NA 无显著差异； ④ 因此它给的是距冲突点的剩余时间，不是相对驾驶员察觉时刻的提前量。迁移到本课题必须换算：Δt = t0 − twarn，而 t0 在该研究中未被测量。</a:t>
            </a:r>
          </a:p>
        </p:txBody>
      </p:sp>
      <p:sp>
        <p:nvSpPr>
          <p:cNvPr id="16" name="Rectangle 15"/>
          <p:cNvSpPr/>
          <p:nvPr/>
        </p:nvSpPr>
        <p:spPr>
          <a:xfrm>
            <a:off x="584200" y="4384357"/>
            <a:ext cx="15087600" cy="656336"/>
          </a:xfrm>
          <a:prstGeom prst="rect">
            <a:avLst/>
          </a:prstGeom>
          <a:solidFill>
            <a:srgbClr val="F2F9F2"/>
          </a:solidFill>
          <a:ln w="17780">
            <a:solidFill>
              <a:srgbClr val="3E7D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84200" y="4384357"/>
            <a:ext cx="63500" cy="656336"/>
          </a:xfrm>
          <a:prstGeom prst="rect">
            <a:avLst/>
          </a:prstGeom>
          <a:solidFill>
            <a:srgbClr val="3E7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7400" y="4384357"/>
            <a:ext cx="14757400" cy="58013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&gt;两项梯度研究的汇合结论：单层预警有效区间下界在 3.0 s，上界在 4.0–5.0 s 出现收益递减。梯度证据把下界从既有共识的 2.5 s 上修到 3.0 s——这是本课题对原有结论的一处实质性修正。</a:t>
            </a:r>
          </a:p>
        </p:txBody>
      </p:sp>
      <p:sp>
        <p:nvSpPr>
          <p:cNvPr id="19" name="TextBox 18"/>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11 / 37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文献综述　预警出现时机的证据谱</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135100" y="203200"/>
            <a:ext cx="15367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2.2.1</a:t>
            </a:r>
          </a:p>
        </p:txBody>
      </p:sp>
      <p:sp>
        <p:nvSpPr>
          <p:cNvPr id="6" name="Rectangle 5"/>
          <p:cNvSpPr/>
          <p:nvPr/>
        </p:nvSpPr>
        <p:spPr>
          <a:xfrm>
            <a:off x="584200" y="939800"/>
            <a:ext cx="15087600" cy="816356"/>
          </a:xfrm>
          <a:prstGeom prst="rect">
            <a:avLst/>
          </a:prstGeom>
          <a:solidFill>
            <a:srgbClr val="FFF8E5"/>
          </a:solidFill>
          <a:ln w="17780">
            <a:solidFill>
              <a:srgbClr val="E0A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4200" y="939800"/>
            <a:ext cx="63500" cy="816356"/>
          </a:xfrm>
          <a:prstGeom prst="rect">
            <a:avLst/>
          </a:prstGeom>
          <a:solidFill>
            <a:srgbClr val="E0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7400" y="939800"/>
            <a:ext cx="14757400" cy="74015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&gt;读图要点：① 落在无效区的全部是分层体系中的提示级（Lubbe 的 2.5 s、Phan 的 2.0 s），它们并非独立生效——单层与分层的阈值不可互相迁移；② 收益递减区的两项（Kim 5.0 s Far、Wang ≤ 5 s）分别表现为过度反应与无增益，方向不同但都指向同一结论；③ 4.0 s 的绿色虚线是人类意图判别力的峰值——即使换成一位熟练驾驶员，在 5 s 时也有 55% 虚警率。</a:t>
            </a:r>
          </a:p>
        </p:txBody>
      </p:sp>
      <p:sp>
        <p:nvSpPr>
          <p:cNvPr id="9" name="TextBox 8"/>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12 / 37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文献综述　触发准则：从固定秒数到减速度归一化</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135100" y="203200"/>
            <a:ext cx="15367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2.2.2</a:t>
            </a:r>
          </a:p>
        </p:txBody>
      </p:sp>
      <p:sp>
        <p:nvSpPr>
          <p:cNvPr id="6" name="Rectangle 5"/>
          <p:cNvSpPr/>
          <p:nvPr/>
        </p:nvSpPr>
        <p:spPr>
          <a:xfrm>
            <a:off x="584200" y="939800"/>
            <a:ext cx="7429500" cy="1184973"/>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7400" y="939800"/>
            <a:ext cx="7048500" cy="1108773"/>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固定 TTC 的跨车速失效</a:t>
            </a:r>
          </a:p>
          <a:p>
            <a:pPr>
              <a:lnSpc>
                <a:spcPct val="180000"/>
              </a:lnSpc>
              <a:spcAft>
                <a:spcPts val="500"/>
              </a:spcAft>
            </a:pPr>
            <a:r>
              <a:rPr sz="1400" b="0">
                <a:solidFill>
                  <a:srgbClr val="1A1A1A"/>
                </a:solidFill>
                <a:latin typeface="微软雅黑"/>
              </a:rPr>
              <a:t>车速TTC 2 sTTC 4 s 40 km/h2.78 m/s² BTN 0.351.39 m/s² BTN 0.17 60 km/h4.17 m/s² BTN 0.522.08 m/s² BTN 0.26 80 km/h5.56 m/s² BTN 0.692.78 m/s² BTN 0.35 同一个 TTC = 2 s：40 km/h 下是温和制动，80 km/h 下已是接近全力制动。以固定秒数为准则的研究，其结论无法跨车速迁移。</a:t>
            </a:r>
          </a:p>
        </p:txBody>
      </p:sp>
      <p:sp>
        <p:nvSpPr>
          <p:cNvPr id="8" name="Rectangle 7"/>
          <p:cNvSpPr/>
          <p:nvPr/>
        </p:nvSpPr>
        <p:spPr>
          <a:xfrm>
            <a:off x="8242300" y="939800"/>
            <a:ext cx="7429500" cy="1665033"/>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45500" y="939800"/>
            <a:ext cx="7048500" cy="1588833"/>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减速度归一化触发的四条证据</a:t>
            </a:r>
          </a:p>
          <a:p>
            <a:pPr>
              <a:lnSpc>
                <a:spcPct val="180000"/>
              </a:lnSpc>
              <a:spcAft>
                <a:spcPts val="500"/>
              </a:spcAft>
            </a:pPr>
            <a:r>
              <a:rPr sz="1400" b="0">
                <a:solidFill>
                  <a:srgbClr val="1A1A1A"/>
                </a:solidFill>
                <a:latin typeface="微软雅黑"/>
              </a:rPr>
              <a:t>来源准则与关键参数 Takada 等（2014）DCA；PDCA（预测型，视觉）先于 ODCA（当前型，听觉）；触发 4.0 / 解除 2.0 m/s²（2 : 1 滞环，原文目的「避免极短促的报警」）；反应时 T = 1.2 s（未踩刹车，为 90 百分位）／0.2 s（已踩刹车） Chen 等（2013）TTC 与车头时距双条件；临界 Tc = 1.5 s；反射 0.44–0.52 + 判断 0.15–0.25 + 动作 0.15–0.40 = 0.74–1.17 s；制动压力建立 0.3–0.75 s；总时延 1.04–1.92 s Coelingh 等（2010）量产实现；AEB 介入「未响应且碰撞约在 1 s 之后」；物理最早 1.6 s；纯延迟 180 ms + 斜坡 20 m/s³，建立 10 m/s² 需 0.68 s；相机 48° + 雷达 60° Char（2020）3 700+ 例事故重建 + 200 人反应时分布；行人 FOV &gt; 30° 时 TTC 2 s 检出 &gt; 90%，≥ 40° 后增益极小</a:t>
            </a:r>
          </a:p>
        </p:txBody>
      </p:sp>
      <p:sp>
        <p:nvSpPr>
          <p:cNvPr id="10" name="Rectangle 9"/>
          <p:cNvSpPr/>
          <p:nvPr/>
        </p:nvSpPr>
        <p:spPr>
          <a:xfrm>
            <a:off x="584200" y="2681033"/>
            <a:ext cx="15087600" cy="816356"/>
          </a:xfrm>
          <a:prstGeom prst="rect">
            <a:avLst/>
          </a:prstGeom>
          <a:solidFill>
            <a:srgbClr val="F2F9F2"/>
          </a:solidFill>
          <a:ln w="17780">
            <a:solidFill>
              <a:srgbClr val="3E7D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84200" y="2681033"/>
            <a:ext cx="63500" cy="816356"/>
          </a:xfrm>
          <a:prstGeom prst="rect">
            <a:avLst/>
          </a:prstGeom>
          <a:solidFill>
            <a:srgbClr val="3E7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7400" y="2681033"/>
            <a:ext cx="14757400" cy="74015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&gt;Takada 等（2014）的 2 : 1 滞环是本库唯一「用运动学量而非固定秒数定义级间关系」的先例，其设计目的正是「级间间隔不能太短」的物理版表述。本研究在实验 2 的撤销策略与实验 3 的降级规则中直接沿用（退出阈值取进入阈值的 1/2）。 本研究据此把「触发准则类型」本身设为实验 2 的自变量——这是时间参数侧最主要的方法学推进。</a:t>
            </a:r>
          </a:p>
        </p:txBody>
      </p:sp>
      <p:sp>
        <p:nvSpPr>
          <p:cNvPr id="13" name="TextBox 12"/>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13 / 37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文献综述　持续时长、撤销策略与闪烁占空比</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2992100" y="203200"/>
            <a:ext cx="26797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2.2.3–2.2.4</a:t>
            </a:r>
          </a:p>
        </p:txBody>
      </p:sp>
      <p:sp>
        <p:nvSpPr>
          <p:cNvPr id="6" name="Rectangle 5"/>
          <p:cNvSpPr/>
          <p:nvPr/>
        </p:nvSpPr>
        <p:spPr>
          <a:xfrm>
            <a:off x="584200" y="939800"/>
            <a:ext cx="7429500" cy="1606169"/>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7400" y="939800"/>
            <a:ext cx="7048500" cy="1529969"/>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三类持续时长范式（报告率 &lt; 15%）</a:t>
            </a:r>
          </a:p>
          <a:p>
            <a:pPr marL="5334" indent="-4572">
              <a:lnSpc>
                <a:spcPct val="182000"/>
              </a:lnSpc>
              <a:spcAft>
                <a:spcPts val="500"/>
              </a:spcAft>
            </a:pPr>
            <a:r>
              <a:rPr sz="1350" b="0">
                <a:solidFill>
                  <a:srgbClr val="1A1A1A"/>
                </a:solidFill>
                <a:latin typeface="微软雅黑"/>
              </a:rPr>
              <a:t>•  至危险解除型：最普遍但最缺量化。Kim 等（2018）虚拟阴影持续更新至危险解除；Ma 等（2024）风险解除后面积与饱和度逐渐减小直至消失</a:t>
            </a:r>
          </a:p>
          <a:p>
            <a:pPr marL="5334" indent="-4572">
              <a:lnSpc>
                <a:spcPct val="182000"/>
              </a:lnSpc>
              <a:spcAft>
                <a:spcPts val="500"/>
              </a:spcAft>
            </a:pPr>
            <a:r>
              <a:rPr sz="1350" b="0">
                <a:solidFill>
                  <a:srgbClr val="1A1A1A"/>
                </a:solidFill>
                <a:latin typeface="微软雅黑"/>
              </a:rPr>
              <a:t>•  固定时长型：Ma 等（2021）单条消息 3 s、紧急消息 10–15 s；Ye 与 Yin（2025）取 3 s；Lind（2007）单次 1.2 s</a:t>
            </a:r>
          </a:p>
          <a:p>
            <a:pPr marL="5334" indent="-4572">
              <a:lnSpc>
                <a:spcPct val="182000"/>
              </a:lnSpc>
              <a:spcAft>
                <a:spcPts val="500"/>
              </a:spcAft>
            </a:pPr>
            <a:r>
              <a:rPr sz="1350" b="0">
                <a:solidFill>
                  <a:srgbClr val="1A1A1A"/>
                </a:solidFill>
                <a:latin typeface="微软雅黑"/>
              </a:rPr>
              <a:t>•  动态强度调制型：Huo 与 Alla（2025）闪烁持续；Wu 等（2024）动态跟随把「持续显示」转化为「动态行为」</a:t>
            </a:r>
          </a:p>
          <a:p>
            <a:pPr>
              <a:lnSpc>
                <a:spcPct val="180000"/>
              </a:lnSpc>
              <a:spcAft>
                <a:spcPts val="500"/>
              </a:spcAft>
            </a:pPr>
            <a:r>
              <a:rPr sz="1400" b="0">
                <a:solidFill>
                  <a:srgbClr val="1A1A1A"/>
                </a:solidFill>
                <a:latin typeface="微软雅黑"/>
              </a:rPr>
              <a:t>理论上下界（本研究综合）： 下界 ≥ 500 ms——注意定向 150–300 ms + 信息提取 300–500 ms（Posner, 1980） 上界 ≤ 3 s——单通道视觉须留出「视线回到道路」的窗口（Wickens, 2002） 上界第二重约束：神经习惯化（Sokolov, 1963；Bliss 等, 1995）</a:t>
            </a:r>
          </a:p>
        </p:txBody>
      </p:sp>
      <p:sp>
        <p:nvSpPr>
          <p:cNvPr id="8" name="Rectangle 7"/>
          <p:cNvSpPr/>
          <p:nvPr/>
        </p:nvSpPr>
        <p:spPr>
          <a:xfrm>
            <a:off x="8242300" y="939800"/>
            <a:ext cx="7429500" cy="1505013"/>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45500" y="939800"/>
            <a:ext cx="7048500" cy="1428813"/>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闪烁：频率与占空比的 8 倍冲突</a:t>
            </a:r>
          </a:p>
          <a:p>
            <a:pPr>
              <a:lnSpc>
                <a:spcPct val="180000"/>
              </a:lnSpc>
              <a:spcAft>
                <a:spcPts val="500"/>
              </a:spcAft>
            </a:pPr>
            <a:r>
              <a:rPr sz="1400" b="0">
                <a:solidFill>
                  <a:srgbClr val="1A1A1A"/>
                </a:solidFill>
                <a:latin typeface="微软雅黑"/>
              </a:rPr>
              <a:t>来源频率占空比效果 Lind（2007）4 Hz60%CWHUD 快约 200 ms Shen 等（2026）0.5 Hz （周期 2 s）0/25/50/75%50% 最优 1 041.58 ± 380.87 ms；无闪烁最差 1 633.38 ± 1 282.46 ms；高沉浸分心下 2 777.80 → 1 389.34 ms Hou 等（2024）未报告未报告动效对无意视盲无显著影响，仅闪烁缩短反应时（仅摘要） 频率差 8 倍，占空比却接近（60% vs 50%）→ 可检验假设：占空比可能比频率更接近有效变量。 ⚠ 一处转述失真的更正：本课题曾把 Hou 等（2024）转述为「闪烁可缓解无意视盲」，原文实为「动效对 IB 无显著影响」。设计含义：若条件间闪烁状态不一致，反应时差异可完全归因于闪烁。</a:t>
            </a:r>
          </a:p>
        </p:txBody>
      </p:sp>
      <p:sp>
        <p:nvSpPr>
          <p:cNvPr id="10" name="Rectangle 9"/>
          <p:cNvSpPr/>
          <p:nvPr/>
        </p:nvSpPr>
        <p:spPr>
          <a:xfrm>
            <a:off x="584200" y="2622169"/>
            <a:ext cx="15087600" cy="656336"/>
          </a:xfrm>
          <a:prstGeom prst="rect">
            <a:avLst/>
          </a:prstGeom>
          <a:solidFill>
            <a:srgbClr val="FDF2F2"/>
          </a:solidFill>
          <a:ln w="1778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84200" y="2622169"/>
            <a:ext cx="63500" cy="656336"/>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7400" y="2622169"/>
            <a:ext cx="14757400" cy="58013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&gt;撤销策略的证据空白：「1 s / 2 s / 3 s / 至危险解除」这一对照在 102 篇中完全缺失；渐隐时长无任何文献支撑；唯一可用规则是 Takada 等（2014）的 2 : 1 滞环。</a:t>
            </a:r>
          </a:p>
        </p:txBody>
      </p:sp>
      <p:sp>
        <p:nvSpPr>
          <p:cNvPr id="13" name="TextBox 12"/>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14 / 37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文献综述　分层预警与级间间隔</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135100" y="203200"/>
            <a:ext cx="15367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2.2.5</a:t>
            </a:r>
          </a:p>
        </p:txBody>
      </p:sp>
      <p:sp>
        <p:nvSpPr>
          <p:cNvPr id="6" name="Rectangle 5"/>
          <p:cNvSpPr/>
          <p:nvPr/>
        </p:nvSpPr>
        <p:spPr>
          <a:xfrm>
            <a:off x="584200" y="939800"/>
            <a:ext cx="15087600" cy="656336"/>
          </a:xfrm>
          <a:prstGeom prst="rect">
            <a:avLst/>
          </a:prstGeom>
          <a:solidFill>
            <a:srgbClr val="D9E2F3"/>
          </a:solidFill>
          <a:ln w="1778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4200" y="939800"/>
            <a:ext cx="63500" cy="656336"/>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7400" y="939800"/>
            <a:ext cx="14757400" cy="58013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&gt;分层的核心主张不是增加信息量，而是让预警强度与风险阶段匹配：早期低侵入并帮助定位，临界阶段再强化动作语义。</a:t>
            </a:r>
          </a:p>
        </p:txBody>
      </p:sp>
      <p:sp>
        <p:nvSpPr>
          <p:cNvPr id="9" name="Rectangle 8"/>
          <p:cNvSpPr/>
          <p:nvPr/>
        </p:nvSpPr>
        <p:spPr>
          <a:xfrm>
            <a:off x="584200" y="1672336"/>
            <a:ext cx="7429500" cy="1505013"/>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7400" y="1672336"/>
            <a:ext cx="7048500" cy="1428813"/>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四条产业级级联时序 → 共同界定的区间</a:t>
            </a:r>
          </a:p>
          <a:p>
            <a:pPr>
              <a:lnSpc>
                <a:spcPct val="180000"/>
              </a:lnSpc>
              <a:spcAft>
                <a:spcPts val="500"/>
              </a:spcAft>
            </a:pPr>
            <a:r>
              <a:rPr sz="1400" b="0">
                <a:solidFill>
                  <a:srgbClr val="1A1A1A"/>
                </a:solidFill>
                <a:latin typeface="微软雅黑"/>
              </a:rPr>
              <a:t>来源级联结构级间间隔 Lubbe（2017）HUD + 57 dBA（2.5 s）→ 视听 + 64 dBA + 制动脉冲（1.8 s）0.7 s Large 等（2019） 转引 Daimlerearly 4.0 → warning 2.6 → urgent 1.6 → 自动制动 1.1 s1.4 / 1.0 / 0.5 s （单调缩短） Suzuki 等（2010）视觉情境层 4.0 s → 听觉叠加 2.0 s；危险等级每 1.0 s 一档2.0 s；档距 1.0 s Phan（2016）检测到即显示贴合框 → TTC 2.0 s 叠加黄色面板非固定秒数 区间结论：产业实现的级间间隔落在 0.5–2.0 s，且越接近碰撞间隔越短。1.0 s 得到 Daimler 第二级间隔与 Suzuki 档距的双源支持。</a:t>
            </a:r>
          </a:p>
        </p:txBody>
      </p:sp>
      <p:sp>
        <p:nvSpPr>
          <p:cNvPr id="11" name="Rectangle 10"/>
          <p:cNvSpPr/>
          <p:nvPr/>
        </p:nvSpPr>
        <p:spPr>
          <a:xfrm>
            <a:off x="8242300" y="1672336"/>
            <a:ext cx="7429500" cy="1622361"/>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45500" y="1672336"/>
            <a:ext cx="7048500" cy="1546161"/>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分层必要性的最强单条证据</a:t>
            </a:r>
          </a:p>
          <a:p>
            <a:pPr>
              <a:lnSpc>
                <a:spcPct val="180000"/>
              </a:lnSpc>
              <a:spcAft>
                <a:spcPts val="500"/>
              </a:spcAft>
            </a:pPr>
            <a:r>
              <a:rPr sz="1400" b="0">
                <a:solidFill>
                  <a:srgbClr val="1A1A1A"/>
                </a:solidFill>
                <a:latin typeface="微软雅黑"/>
              </a:rPr>
              <a:t>Zhang 等（2015）：TTC 2.5 s 单层预警与无预警无显著差异（29.4% vs 44.1%），有效下限 3.0 s。</a:t>
            </a:r>
          </a:p>
          <a:p>
            <a:pPr>
              <a:lnSpc>
                <a:spcPct val="180000"/>
              </a:lnSpc>
              <a:spcAft>
                <a:spcPts val="500"/>
              </a:spcAft>
            </a:pPr>
            <a:r>
              <a:rPr sz="1400" b="0">
                <a:solidFill>
                  <a:srgbClr val="1A1A1A"/>
                </a:solidFill>
                <a:latin typeface="微软雅黑"/>
              </a:rPr>
              <a:t>反面推论：若 L2 设在 2.0 s，它单独不可能有效——L2 之所以能设在 2.0 s，前提是 L1 已完成定位工作。</a:t>
            </a:r>
          </a:p>
          <a:p>
            <a:pPr>
              <a:lnSpc>
                <a:spcPct val="180000"/>
              </a:lnSpc>
              <a:spcAft>
                <a:spcPts val="500"/>
              </a:spcAft>
            </a:pPr>
            <a:r>
              <a:rPr sz="1400" b="0">
                <a:solidFill>
                  <a:srgbClr val="1A1A1A"/>
                </a:solidFill>
                <a:latin typeface="微软雅黑"/>
              </a:rPr>
              <a:t>Phan（2016）的覆盖人群百分位表为 L2 锚点提供量化依据：TTC 1.0 s → 45%、1.6 s → 80%、2.0 s → 90%。</a:t>
            </a:r>
          </a:p>
          <a:p>
            <a:pPr>
              <a:lnSpc>
                <a:spcPct val="180000"/>
              </a:lnSpc>
              <a:spcAft>
                <a:spcPts val="500"/>
              </a:spcAft>
            </a:pPr>
            <a:r>
              <a:rPr sz="1400" b="0">
                <a:solidFill>
                  <a:srgbClr val="1A1A1A"/>
                </a:solidFill>
                <a:latin typeface="微软雅黑"/>
              </a:rPr>
              <a:t>1.8–2.0 s 已是人机交界：AEB 物理最早 1.6 s 介入，制动系统还需 0.68 s 建立全力减速（Coelingh 等, 2010）；Lubbe（2017）分心条件下最长反应时 2.5 s 已超过 TTC 本身——视觉单通道在此窗口确实不足。</a:t>
            </a:r>
          </a:p>
        </p:txBody>
      </p:sp>
      <p:sp>
        <p:nvSpPr>
          <p:cNvPr id="13" name="Rectangle 12"/>
          <p:cNvSpPr/>
          <p:nvPr/>
        </p:nvSpPr>
        <p:spPr>
          <a:xfrm>
            <a:off x="584200" y="3370897"/>
            <a:ext cx="15087600" cy="816356"/>
          </a:xfrm>
          <a:prstGeom prst="rect">
            <a:avLst/>
          </a:prstGeom>
          <a:solidFill>
            <a:srgbClr val="FFF8E5"/>
          </a:solidFill>
          <a:ln w="17780">
            <a:solidFill>
              <a:srgbClr val="E0A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84200" y="3370897"/>
            <a:ext cx="63500" cy="816356"/>
          </a:xfrm>
          <a:prstGeom prst="rect">
            <a:avLst/>
          </a:prstGeom>
          <a:solidFill>
            <a:srgbClr val="E0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7400" y="3370897"/>
            <a:ext cx="14757400" cy="74015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&gt;升级仲裁：一个被普遍忽视的规则。Winkler 等（2018）报告左转侵入场景中 50% 被试在预警呈现前就已开始制动。若不设仲裁，则近半数试次中 L2 会对一个已在制动的驾驶员喊「立即制动」。本研究据此设「状态条件化升级仲裁」：若 L2 前已检测到有效减速（aego &lt; -0.075 g，阈值取自 Phan, 2016）则取消升级，并记录取消升级率／错误升级率／错误取消率。</a:t>
            </a:r>
          </a:p>
        </p:txBody>
      </p:sp>
      <p:sp>
        <p:nvSpPr>
          <p:cNvPr id="16" name="TextBox 15"/>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15 / 37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文献综述　可靠性、虚警与信任：提前量的上界</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135100" y="203200"/>
            <a:ext cx="15367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2.2.6</a:t>
            </a:r>
          </a:p>
        </p:txBody>
      </p:sp>
      <p:sp>
        <p:nvSpPr>
          <p:cNvPr id="6" name="Rectangle 5"/>
          <p:cNvSpPr/>
          <p:nvPr/>
        </p:nvSpPr>
        <p:spPr>
          <a:xfrm>
            <a:off x="584200" y="939800"/>
            <a:ext cx="15087600" cy="656336"/>
          </a:xfrm>
          <a:prstGeom prst="rect">
            <a:avLst/>
          </a:prstGeom>
          <a:solidFill>
            <a:srgbClr val="F2F9F2"/>
          </a:solidFill>
          <a:ln w="17780">
            <a:solidFill>
              <a:srgbClr val="3E7D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4200" y="939800"/>
            <a:ext cx="63500" cy="656336"/>
          </a:xfrm>
          <a:prstGeom prst="rect">
            <a:avLst/>
          </a:prstGeom>
          <a:solidFill>
            <a:srgbClr val="3E7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7400" y="939800"/>
            <a:ext cx="14757400" cy="58013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&gt;两者共同界定的边界：可靠性的行为后果随预警的「行动要求强度」放大。→ 可否证预测：L1（低行动要求）上的虚警代价应显著小于 L2（高行动要求）。这是实验 3 把虚警只施加在 L1 的设计依据。</a:t>
            </a:r>
          </a:p>
        </p:txBody>
      </p:sp>
      <p:sp>
        <p:nvSpPr>
          <p:cNvPr id="9" name="Rectangle 8"/>
          <p:cNvSpPr/>
          <p:nvPr/>
        </p:nvSpPr>
        <p:spPr>
          <a:xfrm>
            <a:off x="584200" y="1672336"/>
            <a:ext cx="15087600" cy="976376"/>
          </a:xfrm>
          <a:prstGeom prst="rect">
            <a:avLst/>
          </a:prstGeom>
          <a:solidFill>
            <a:srgbClr val="FFF8E5"/>
          </a:solidFill>
          <a:ln w="17780">
            <a:solidFill>
              <a:srgbClr val="E0A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84200" y="1672336"/>
            <a:ext cx="63500" cy="976376"/>
          </a:xfrm>
          <a:prstGeom prst="rect">
            <a:avLst/>
          </a:prstGeom>
          <a:solidFill>
            <a:srgbClr val="E0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7400" y="1672336"/>
            <a:ext cx="14757400" cy="90017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&gt;可靠性水平取值 20% 的三条依据：① Large 等（2019）最低操纵档为 20%，可直接对照；② Schall 等（2013）的 15% 已证零效应，若仍取 15% 大概率复现零结果；③ 20% 高于 Wang 等（2026）A-TTC 动态标定后可达的 13.74%（569 车／3 519 条视频核验，威胁召回 89.25%，准确率 81.42%）。 ⚠ 两处已撤回的引用：A-TTC 正式版删除了「固定阈值误报率 25.16%」基线（出自 SSRN 预印本），故不得据此断言真实系统虚警率；「Bliss（2003）元分析的 30% 信任崩塌门限」未能在任何原文中溯源（该文实为航空事故档案分析），已改用 Bliss 等（1995）与 Bliss 与 Acton（2003）。</a:t>
            </a:r>
          </a:p>
        </p:txBody>
      </p:sp>
      <p:sp>
        <p:nvSpPr>
          <p:cNvPr id="12" name="TextBox 11"/>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16 / 37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文献综述　三个时间窗的张力：需求 &gt; 人类 &gt; 算法</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135100" y="203200"/>
            <a:ext cx="15367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2.2.6</a:t>
            </a:r>
          </a:p>
        </p:txBody>
      </p:sp>
      <p:sp>
        <p:nvSpPr>
          <p:cNvPr id="6" name="Rectangle 5"/>
          <p:cNvSpPr/>
          <p:nvPr/>
        </p:nvSpPr>
        <p:spPr>
          <a:xfrm>
            <a:off x="584200" y="939800"/>
            <a:ext cx="15087600" cy="816356"/>
          </a:xfrm>
          <a:prstGeom prst="rect">
            <a:avLst/>
          </a:prstGeom>
          <a:solidFill>
            <a:srgbClr val="FDF2F2"/>
          </a:solidFill>
          <a:ln w="1778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4200" y="939800"/>
            <a:ext cx="63500" cy="816356"/>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7400" y="939800"/>
            <a:ext cx="14757400" cy="74015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&gt;本领域一个根本性的张力：需求 6.07–6.28 s ＞ 人类判别上界 TTA 4 s ＞ 算法预测上界 0.5–1.0 s。本领域实证研究几乎全部把预警设在 2–5 s——它不是任何一侧的最优值，而是「算法勉强能判、人还来得及反应、虚警率尚可接受」三者的交集。 对本研究的含义：「把预警设得更早」在工程上并非可自由选择的方向。实验 2 的 Δt = +2.5 s（相对 t0 ≈ 3.2 s 即绝对约 5.7 s）已接近甚至超出人类判别的可靠上界，故 H2（收益递减 + 代价递增）有很强的先验支持。</a:t>
            </a:r>
          </a:p>
        </p:txBody>
      </p:sp>
      <p:sp>
        <p:nvSpPr>
          <p:cNvPr id="9" name="TextBox 8"/>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17 / 37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文献综述　反应时下界与个体／场景调节</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2992100" y="203200"/>
            <a:ext cx="26797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2.2.7–2.2.8</a:t>
            </a:r>
          </a:p>
        </p:txBody>
      </p:sp>
      <p:sp>
        <p:nvSpPr>
          <p:cNvPr id="6" name="Rectangle 5"/>
          <p:cNvSpPr/>
          <p:nvPr/>
        </p:nvSpPr>
        <p:spPr>
          <a:xfrm>
            <a:off x="584200" y="939800"/>
            <a:ext cx="7429500" cy="1825053"/>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7400" y="939800"/>
            <a:ext cx="7048500" cy="1748853"/>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三套独立的反应时分解</a:t>
            </a:r>
          </a:p>
          <a:p>
            <a:pPr>
              <a:lnSpc>
                <a:spcPct val="180000"/>
              </a:lnSpc>
              <a:spcAft>
                <a:spcPts val="500"/>
              </a:spcAft>
            </a:pPr>
            <a:r>
              <a:rPr sz="1400" b="0">
                <a:solidFill>
                  <a:srgbClr val="1A1A1A"/>
                </a:solidFill>
                <a:latin typeface="微软雅黑"/>
              </a:rPr>
              <a:t>来源分解 Chen 等（2013）反射 0.44–0.52 + 判断 0.15–0.25 + 动作 0.15–0.40 = 驾驶员 0.74–1.17 s；+ 制动压力建立 0.3–0.75 s = 总时延 1.04–1.92 s Large 等（2019） （本研究推算）警报 → 松油门 0.53–0.77 s；松油门 → 踩刹车 0.35 → 1.38 s（随提前量增大而变长） Winkler 等（2018）制动反应时 1.4 s（无预警）→ 1.03–1.05 s；学习效应 T1 → T2：1.20 → 1.04 s；清洗界 0.2–2.9 s（剔除约 16%，纳入 77%） 本研究的下界推导（60 km/h，取 PRTp95 = 1.5 s、δbrake = 0.7 s）： twarn ≥ 1.5 + 16.7/a + 0.7 → 「舒适停住」（acomf = 3.5 m/s²）需 ≈ 6.97 s；「仅避免碰撞」（amax = 8 m/s²）降至 ≈ 4.3 s。 → 梯度研究得出的 3.0–4.0 s 恰好位于两者之间：真实驾驶员不追求舒适停住，而是接受较大减速度换取更晚的预警。</a:t>
            </a:r>
          </a:p>
        </p:txBody>
      </p:sp>
      <p:sp>
        <p:nvSpPr>
          <p:cNvPr id="8" name="Rectangle 7"/>
          <p:cNvSpPr/>
          <p:nvPr/>
        </p:nvSpPr>
        <p:spPr>
          <a:xfrm>
            <a:off x="8242300" y="939800"/>
            <a:ext cx="7429500" cy="1825053"/>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45500" y="939800"/>
            <a:ext cx="7048500" cy="1748853"/>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七个调节变量与本研究的处理</a:t>
            </a:r>
          </a:p>
          <a:p>
            <a:pPr>
              <a:lnSpc>
                <a:spcPct val="180000"/>
              </a:lnSpc>
              <a:spcAft>
                <a:spcPts val="500"/>
              </a:spcAft>
            </a:pPr>
            <a:r>
              <a:rPr sz="1400" b="0">
                <a:solidFill>
                  <a:srgbClr val="1A1A1A"/>
                </a:solidFill>
                <a:latin typeface="微软雅黑"/>
              </a:rPr>
              <a:t>变量已知效应处理 年龄老年 PRT 更长；临界场景偏好停车标志（Kazazi 等, 2015：BRT 1.9 → 1.2 s）不操纵 声明边界 驾驶经验低负荷下新手显著依赖 AR，AR 故障时严重退化（Huo 与 Alla, 2025）作为协变量 分心／次任务负荷显著推后时机下限；放大动效收益（Shen 等：2 777.80 → 1 389.34 ms）实验 4 区块 F 能见度AR 相对收益放大（Zhang 等 2024 雾天再提前 27.8 m）固定晴天日间 车速同一秒数对应不同运动学难度检验因素 40 / 60 km/h 遮挡直接改变 t0实验 1 自变量 背景复杂度调节锁定策略的价值实验 4 主设计 ⚠ 框架中出现三种不同的「上界／下界」，不可混用： 是什么的界取值依据与用途 ① 反应时本身驾驶员 0.74–1.17 s；含车辆侧 1.04–1.92 sChen 等（2013）三段分解。是实测分布，非设计界限 ② 反应时数据清洗下 0.2 s／上 2.9 s（g = 3.0）Winkler 等（2018）规则，本研究沿用并预注册 ③ 预警提前量（三重约束）下界 4.3–6.97 s @60 km/h；上界 = tpred下界＝运动学式；上界＝虚警率 0.55@5 s（Chen 等, 2019）+ 信任证据。只有这一条是设计界限</a:t>
            </a:r>
          </a:p>
        </p:txBody>
      </p:sp>
      <p:sp>
        <p:nvSpPr>
          <p:cNvPr id="10" name="TextBox 9"/>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18 / 37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文献综述　空间参数：位置增益与共形增益的分离</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135100" y="203200"/>
            <a:ext cx="15367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2.3.1</a:t>
            </a:r>
          </a:p>
        </p:txBody>
      </p:sp>
      <p:sp>
        <p:nvSpPr>
          <p:cNvPr id="6" name="Rectangle 5"/>
          <p:cNvSpPr/>
          <p:nvPr/>
        </p:nvSpPr>
        <p:spPr>
          <a:xfrm>
            <a:off x="584200" y="939800"/>
            <a:ext cx="15087600" cy="656336"/>
          </a:xfrm>
          <a:prstGeom prst="rect">
            <a:avLst/>
          </a:prstGeom>
          <a:solidFill>
            <a:srgbClr val="D9E2F3"/>
          </a:solidFill>
          <a:ln w="1778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4200" y="939800"/>
            <a:ext cx="63500" cy="656336"/>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7400" y="939800"/>
            <a:ext cx="14757400" cy="58013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&gt;本领域最容易被忽略的事实：AR-HUD 的收益中有相当一部分来自「把信息放到前视野」这一位置增益，而非「把图形贴到目标上」这一共形增益。</a:t>
            </a:r>
          </a:p>
        </p:txBody>
      </p:sp>
      <p:sp>
        <p:nvSpPr>
          <p:cNvPr id="9" name="Rectangle 8"/>
          <p:cNvSpPr/>
          <p:nvPr/>
        </p:nvSpPr>
        <p:spPr>
          <a:xfrm>
            <a:off x="584200" y="1672336"/>
            <a:ext cx="7429500" cy="1064069"/>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7400" y="1672336"/>
            <a:ext cx="7048500" cy="987869"/>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Lind（2007）四方对照</a:t>
            </a:r>
          </a:p>
          <a:p>
            <a:pPr>
              <a:lnSpc>
                <a:spcPct val="180000"/>
              </a:lnSpc>
              <a:spcAft>
                <a:spcPts val="500"/>
              </a:spcAft>
            </a:pPr>
            <a:r>
              <a:rPr sz="1400" b="0">
                <a:solidFill>
                  <a:srgbClr val="1A1A1A"/>
                </a:solidFill>
                <a:latin typeface="微软雅黑"/>
              </a:rPr>
              <a:t>F(3,45) = 10.8, p &lt; .0001, 效应量 0.87</a:t>
            </a:r>
          </a:p>
          <a:p>
            <a:pPr>
              <a:lnSpc>
                <a:spcPct val="180000"/>
              </a:lnSpc>
              <a:spcAft>
                <a:spcPts val="500"/>
              </a:spcAft>
            </a:pPr>
            <a:r>
              <a:rPr sz="1400" b="0">
                <a:solidFill>
                  <a:srgbClr val="1A1A1A"/>
                </a:solidFill>
                <a:latin typeface="微软雅黑"/>
              </a:rPr>
              <a:t>显示位置制动反应时漏报次数 碰撞预警平视显示 CWHUD最快 （快约 200 ms）1 方向盘显示—6 仪表显示—12 高位下视显示 HHDD—17</a:t>
            </a:r>
          </a:p>
        </p:txBody>
      </p:sp>
      <p:sp>
        <p:nvSpPr>
          <p:cNvPr id="11" name="Rectangle 10"/>
          <p:cNvSpPr/>
          <p:nvPr/>
        </p:nvSpPr>
        <p:spPr>
          <a:xfrm>
            <a:off x="8242300" y="1672336"/>
            <a:ext cx="7429500" cy="1024953"/>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45500" y="1672336"/>
            <a:ext cx="7048500" cy="948753"/>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两点实质修正</a:t>
            </a:r>
          </a:p>
          <a:p>
            <a:pPr>
              <a:lnSpc>
                <a:spcPct val="180000"/>
              </a:lnSpc>
              <a:spcAft>
                <a:spcPts val="500"/>
              </a:spcAft>
            </a:pPr>
            <a:r>
              <a:rPr sz="1400" b="0">
                <a:solidFill>
                  <a:srgbClr val="1A1A1A"/>
                </a:solidFill>
                <a:latin typeface="微软雅黑"/>
              </a:rPr>
              <a:t>① 「屏幕固定」不是稻草人基线。CWHUD 本身就是屏幕固定式前视野显示。→ 实验 4 的 BD 条件已包含 HUD 位置的大部分收益，BW/BR 相对 BD 的增量必然更小，样本量估计必须按更小的效应量做。</a:t>
            </a:r>
          </a:p>
        </p:txBody>
      </p:sp>
      <p:sp>
        <p:nvSpPr>
          <p:cNvPr id="13" name="TextBox 12"/>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19 / 37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文献综述　空间参照系与锁定策略</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135100" y="203200"/>
            <a:ext cx="15367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2.3.2</a:t>
            </a:r>
          </a:p>
        </p:txBody>
      </p:sp>
      <p:sp>
        <p:nvSpPr>
          <p:cNvPr id="6" name="Rectangle 5"/>
          <p:cNvSpPr/>
          <p:nvPr/>
        </p:nvSpPr>
        <p:spPr>
          <a:xfrm>
            <a:off x="584200" y="939800"/>
            <a:ext cx="15087600" cy="816356"/>
          </a:xfrm>
          <a:prstGeom prst="rect">
            <a:avLst/>
          </a:prstGeom>
          <a:solidFill>
            <a:srgbClr val="D9E2F3"/>
          </a:solidFill>
          <a:ln w="1778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4200" y="939800"/>
            <a:ext cx="63500" cy="816356"/>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7400" y="939800"/>
            <a:ext cx="14757400" cy="74015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&gt;BD = based on driver's view（屏幕／视线固定）；BR = based on road information（道路／冲突点锁定）；BW = based on warning information（跟随危险行人的目标锁定）（记法沿用 Wu 等, 2024）。机制上：BW 回答「哪一个行人危险」，BR 回答「风险将在哪里发生」——两者是功能分工，不是优劣关系。</a:t>
            </a:r>
          </a:p>
        </p:txBody>
      </p:sp>
      <p:sp>
        <p:nvSpPr>
          <p:cNvPr id="9" name="Rectangle 8"/>
          <p:cNvSpPr/>
          <p:nvPr/>
        </p:nvSpPr>
        <p:spPr>
          <a:xfrm>
            <a:off x="584200" y="1832356"/>
            <a:ext cx="7429500" cy="1224089"/>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7400" y="1832356"/>
            <a:ext cx="7048500" cy="1147889"/>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最直接的三方对照（Wu 等, 2024，N = 36）</a:t>
            </a:r>
          </a:p>
          <a:p>
            <a:pPr>
              <a:lnSpc>
                <a:spcPct val="180000"/>
              </a:lnSpc>
              <a:spcAft>
                <a:spcPts val="500"/>
              </a:spcAft>
            </a:pPr>
            <a:r>
              <a:rPr sz="1400" b="0">
                <a:solidFill>
                  <a:srgbClr val="1A1A1A"/>
                </a:solidFill>
                <a:latin typeface="微软雅黑"/>
              </a:rPr>
              <a:t>RGB(255,0,0)；TTC &lt; 3 s；60 km/h；行人 1.5 m/s。差异接近 4 倍。</a:t>
            </a:r>
          </a:p>
          <a:p>
            <a:pPr>
              <a:lnSpc>
                <a:spcPct val="180000"/>
              </a:lnSpc>
              <a:spcAft>
                <a:spcPts val="500"/>
              </a:spcAft>
            </a:pPr>
            <a:r>
              <a:rPr sz="1400" b="0">
                <a:solidFill>
                  <a:srgbClr val="1A1A1A"/>
                </a:solidFill>
                <a:latin typeface="微软雅黑"/>
              </a:rPr>
              <a:t>策略TTFF BW 目标锁定617 ms BD 屏幕固定2 563 ms BR 道路锁定2 730 ms ⚠ 一处解读修正：617 ms 虽远优于 2 563/2 730 ms，但仍在 Zhu 等（2025）给出的 TTFF 最优区间 100–300 ms 之外——应表述为「显著改善但未达最优区间」，而非「已达理想水平」。</a:t>
            </a:r>
          </a:p>
        </p:txBody>
      </p:sp>
      <p:sp>
        <p:nvSpPr>
          <p:cNvPr id="11" name="Rectangle 10"/>
          <p:cNvSpPr/>
          <p:nvPr/>
        </p:nvSpPr>
        <p:spPr>
          <a:xfrm>
            <a:off x="8242300" y="1832356"/>
            <a:ext cx="7429500" cy="1505013"/>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45500" y="1832356"/>
            <a:ext cx="7048500" cy="1428813"/>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复合锁定 BW+BR：支撑与反证</a:t>
            </a:r>
          </a:p>
          <a:p>
            <a:pPr>
              <a:lnSpc>
                <a:spcPct val="180000"/>
              </a:lnSpc>
              <a:spcAft>
                <a:spcPts val="500"/>
              </a:spcAft>
            </a:pPr>
            <a:r>
              <a:rPr sz="1400" b="0">
                <a:solidFill>
                  <a:srgbClr val="1A1A1A"/>
                </a:solidFill>
                <a:latin typeface="微软雅黑"/>
              </a:rPr>
              <a:t>来源方向与内容 Wang 等（2024） DSID支撑 基于 SRK 分类学把知识级／规则级信息转换为技能级信号；四个界面中同时含侧向预警 + 动态驾驶空间 + 速度表者最好；同时提升情境意识与避险能力、降低认知负荷 Wei 等（2025）部分反证 自动驾驶无保护交叉口；不同信息组合间信任无显著差异；「周边车轨迹 + 盲区视频」负荷最低（仅摘要） Chen 等（2024b）反证 多目标同色 Equivalent 模式在新手中可能比无警告更差 本研究的立场：BW+BR 属 Wang 等（2024）型的互补组合（目标定位 + 冲突位置），而非 Wei 等（2025）型的同类冗余叠加，故预期方向与前者一致；但必须实测负荷代价并检验 TDT 是否越过 2 000 ms 上界。</a:t>
            </a:r>
          </a:p>
        </p:txBody>
      </p:sp>
      <p:sp>
        <p:nvSpPr>
          <p:cNvPr id="13" name="Rectangle 12"/>
          <p:cNvSpPr/>
          <p:nvPr/>
        </p:nvSpPr>
        <p:spPr>
          <a:xfrm>
            <a:off x="584200" y="3413569"/>
            <a:ext cx="15087600" cy="656336"/>
          </a:xfrm>
          <a:prstGeom prst="rect">
            <a:avLst/>
          </a:prstGeom>
          <a:solidFill>
            <a:srgbClr val="FFF8E5"/>
          </a:solidFill>
          <a:ln w="17780">
            <a:solidFill>
              <a:srgbClr val="E0A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84200" y="3413569"/>
            <a:ext cx="63500" cy="656336"/>
          </a:xfrm>
          <a:prstGeom prst="rect">
            <a:avLst/>
          </a:prstGeom>
          <a:solidFill>
            <a:srgbClr val="E0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7400" y="3413569"/>
            <a:ext cx="14757400" cy="58013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&gt;不可见危险的锁定问题（You 等, 2023）：当行人尚未进入驾驶员视线时，BW 在物理上无对象可锁，只能退化为 BR 或方向指示——这构成实验 4 结论适用边界的声明依据。</a:t>
            </a:r>
          </a:p>
        </p:txBody>
      </p:sp>
      <p:sp>
        <p:nvSpPr>
          <p:cNvPr id="16" name="TextBox 15"/>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20 / 37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文献综述　图形形态与颜色编码</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2992100" y="203200"/>
            <a:ext cx="26797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2.3.3–2.3.4</a:t>
            </a:r>
          </a:p>
        </p:txBody>
      </p:sp>
      <p:sp>
        <p:nvSpPr>
          <p:cNvPr id="6" name="Rectangle 5"/>
          <p:cNvSpPr/>
          <p:nvPr/>
        </p:nvSpPr>
        <p:spPr>
          <a:xfrm>
            <a:off x="584200" y="939800"/>
            <a:ext cx="7429500" cy="2111946"/>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7400" y="939800"/>
            <a:ext cx="7048500" cy="2035746"/>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四个形态家族：从几何抽象到生态隐喻</a:t>
            </a:r>
          </a:p>
          <a:p>
            <a:pPr marL="5334" indent="-4572">
              <a:lnSpc>
                <a:spcPct val="182000"/>
              </a:lnSpc>
              <a:spcAft>
                <a:spcPts val="500"/>
              </a:spcAft>
            </a:pPr>
            <a:r>
              <a:rPr sz="1350" b="0">
                <a:solidFill>
                  <a:srgbClr val="1A1A1A"/>
                </a:solidFill>
                <a:latin typeface="微软雅黑"/>
              </a:rPr>
              <a:t>•  边界框——实现简单、「框出」自带标记隐喻；但不携带紧急程度信息</a:t>
            </a:r>
          </a:p>
          <a:p>
            <a:pPr marL="5334" indent="-4572">
              <a:lnSpc>
                <a:spcPct val="182000"/>
              </a:lnSpc>
              <a:spcAft>
                <a:spcPts val="500"/>
              </a:spcAft>
            </a:pPr>
            <a:r>
              <a:rPr sz="1350" b="0">
                <a:solidFill>
                  <a:srgbClr val="1A1A1A"/>
                </a:solidFill>
                <a:latin typeface="微软雅黑"/>
              </a:rPr>
              <a:t>•  接触类比／虚拟阴影（Kim 等, 2016a/2016b/2018）——脚下 dome 直径 1.0 m，视角 2°–8° 随距离变化 + tether（长度＝车辆到达交叉点时行人会侵入的距离）；生态界面设计，阴影伸展即风险升高</a:t>
            </a:r>
          </a:p>
          <a:p>
            <a:pPr marL="5334" indent="-4572">
              <a:lnSpc>
                <a:spcPct val="182000"/>
              </a:lnSpc>
              <a:spcAft>
                <a:spcPts val="500"/>
              </a:spcAft>
            </a:pPr>
            <a:r>
              <a:rPr sz="1350" b="0">
                <a:solidFill>
                  <a:srgbClr val="1A1A1A"/>
                </a:solidFill>
                <a:latin typeface="微软雅黑"/>
              </a:rPr>
              <a:t>•  交通标志类（Winkler 等, 2015）——最大 21 × 21 cm，约 6° 视角；「难理解」的转向标志效果最差，「不需注视即可被感知」者最具潜力</a:t>
            </a:r>
          </a:p>
          <a:p>
            <a:pPr marL="5334" indent="-4572">
              <a:lnSpc>
                <a:spcPct val="182000"/>
              </a:lnSpc>
              <a:spcAft>
                <a:spcPts val="500"/>
              </a:spcAft>
            </a:pPr>
            <a:r>
              <a:rPr sz="1350" b="0">
                <a:solidFill>
                  <a:srgbClr val="1A1A1A"/>
                </a:solidFill>
                <a:latin typeface="微软雅黑"/>
              </a:rPr>
              <a:t>•  风险区／地毯／虚拟墙（Ma 等, 2024；Wang 等, 2025）——信息密度最高；ARive 急刹场景两者均显著增大 THW（p &lt; .005／.009），让行成功率虚拟墙优于基线（p &lt; .001），而用户偏好红地毯 16/21</a:t>
            </a:r>
          </a:p>
          <a:p>
            <a:pPr>
              <a:lnSpc>
                <a:spcPct val="180000"/>
              </a:lnSpc>
              <a:spcAft>
                <a:spcPts val="500"/>
              </a:spcAft>
            </a:pPr>
            <a:r>
              <a:rPr sz="1400" b="0">
                <a:solidFill>
                  <a:srgbClr val="1A1A1A"/>
                </a:solidFill>
                <a:latin typeface="微软雅黑"/>
              </a:rPr>
              <a:t>与直觉相反的直接对照（Chen 等, 2024a，N = 48 中国新手）：追尾场景接触类比更优，而行人场景边界框反应时反而更短。→ 形状选择必须结合场景类型：横向、外周视野的行人更需要低复杂度快速识别。</a:t>
            </a:r>
          </a:p>
        </p:txBody>
      </p:sp>
      <p:sp>
        <p:nvSpPr>
          <p:cNvPr id="8" name="Rectangle 7"/>
          <p:cNvSpPr/>
          <p:nvPr/>
        </p:nvSpPr>
        <p:spPr>
          <a:xfrm>
            <a:off x="8242300" y="939800"/>
            <a:ext cx="7429500" cy="1544129"/>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45500" y="939800"/>
            <a:ext cx="7048500" cy="1467929"/>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颜色：红为主流，蓝紫不可用</a:t>
            </a:r>
          </a:p>
          <a:p>
            <a:pPr>
              <a:lnSpc>
                <a:spcPct val="180000"/>
              </a:lnSpc>
              <a:spcAft>
                <a:spcPts val="500"/>
              </a:spcAft>
            </a:pPr>
            <a:r>
              <a:rPr sz="1400" b="0">
                <a:solidFill>
                  <a:srgbClr val="1A1A1A"/>
                </a:solidFill>
                <a:latin typeface="微软雅黑"/>
              </a:rPr>
              <a:t>Zhong 等（2022）：实车 AR-HUD（FOV 12° × 5°），7 色 × 3 描边 × 2 照度 = 42 组合，N = 25（均龄 28.4，驾龄 ≥ 2 年）</a:t>
            </a:r>
          </a:p>
          <a:p>
            <a:pPr>
              <a:lnSpc>
                <a:spcPct val="180000"/>
              </a:lnSpc>
              <a:spcAft>
                <a:spcPts val="500"/>
              </a:spcAft>
            </a:pPr>
            <a:r>
              <a:rPr sz="1400" b="0">
                <a:solidFill>
                  <a:srgbClr val="1A1A1A"/>
                </a:solidFill>
                <a:latin typeface="微软雅黑"/>
              </a:rPr>
              <a:t>照度可见性排序（评分） 日间 100 000 lx黄 4.12 &gt; 绿 3.92 &gt; 红 3.08 &gt; 橙 2.84 &gt; 蓝＝紫 1.16 夜间 30 lx红 3.88 &gt; 黄 3.80 &gt; 绿 3.56 &gt; 橙 2.84 &gt; 蓝 1.68 &gt; 紫 1.40 ① 蓝、紫两照度下均最差，应避免；② 红—黄构成日夜「鲁棒色对」，可作分级核心色；③ 白色描边多数情况显著优于灰色或无描边（例外：日间黄色）。</a:t>
            </a:r>
          </a:p>
        </p:txBody>
      </p:sp>
      <p:sp>
        <p:nvSpPr>
          <p:cNvPr id="10" name="TextBox 9"/>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21 / 37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文献综述　不透明度、视场角与风险区几何</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2992100" y="203200"/>
            <a:ext cx="26797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2.3.5–2.3.7</a:t>
            </a:r>
          </a:p>
        </p:txBody>
      </p:sp>
      <p:sp>
        <p:nvSpPr>
          <p:cNvPr id="6" name="Rectangle 5"/>
          <p:cNvSpPr/>
          <p:nvPr/>
        </p:nvSpPr>
        <p:spPr>
          <a:xfrm>
            <a:off x="584200" y="939800"/>
            <a:ext cx="4876800" cy="1505013"/>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7400" y="939800"/>
            <a:ext cx="4495800" cy="1428813"/>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不透明度：3 倍冲突 已裁定</a:t>
            </a:r>
          </a:p>
          <a:p>
            <a:pPr>
              <a:lnSpc>
                <a:spcPct val="180000"/>
              </a:lnSpc>
              <a:spcAft>
                <a:spcPts val="500"/>
              </a:spcAft>
            </a:pPr>
            <a:r>
              <a:rPr sz="1400" b="0">
                <a:solidFill>
                  <a:srgbClr val="1A1A1A"/>
                </a:solidFill>
                <a:latin typeface="微软雅黑"/>
              </a:rPr>
              <a:t>来源原文值换算不透明度 Ye 与 Yin（2025）0.750.75 Hou 等（2024）T1/T0.75 T0.5/T0.35最优 0.5–0.75 Li 等（2025a）0.1–1.0 十档≥ 0.6 Lopez 与 Moacdieh（2025）20% 与 60%0.6 一致 0.2 见下 裁定依据：Ye 与 Yin（2025）引 Hou 等时写「不透明度设为 0.75，该值在可见性上有优势」——一个提升可见性的 0.75 只能是 alpha，不可能是「75% 透明」。→ 四源收敛 0.6–0.75。</a:t>
            </a:r>
          </a:p>
        </p:txBody>
      </p:sp>
      <p:sp>
        <p:nvSpPr>
          <p:cNvPr id="8" name="Rectangle 7"/>
          <p:cNvSpPr/>
          <p:nvPr/>
        </p:nvSpPr>
        <p:spPr>
          <a:xfrm>
            <a:off x="5689600" y="939800"/>
            <a:ext cx="4876800" cy="1665033"/>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92800" y="939800"/>
            <a:ext cx="4495800" cy="1588833"/>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FOV：必须区分显示与传感</a:t>
            </a:r>
          </a:p>
          <a:p>
            <a:pPr>
              <a:lnSpc>
                <a:spcPct val="180000"/>
              </a:lnSpc>
              <a:spcAft>
                <a:spcPts val="500"/>
              </a:spcAft>
            </a:pPr>
            <a:r>
              <a:rPr sz="1400" b="0">
                <a:solidFill>
                  <a:srgbClr val="1A1A1A"/>
                </a:solidFill>
                <a:latin typeface="微软雅黑"/>
              </a:rPr>
              <a:t>类别数值 显示 FOV （能画多宽）量产 10°–15°；文献方案 85°/65°/40°（Ma 等 2021、Teng 等 2023）；实测 12°×5°（Zhong 等 2022） 传感 FOV （能看多宽）行人 &gt; 30° 时 TTC 2 s 检出 &gt; 90%，≥ 40° 后增益极小，骑行者需 60°+（Char, 2020）；量产相机 48° + 雷达 60°（Coelingh 等, 2010） 后果完全不同：传感不足 → 系统根本不知道有行人（Char 报告 &lt; 10% 案例晚检出 1 s，此时最好只能减轻）；显示不足 → 系统知道但画不出，须退化为边界箭头。既有综述在这一点上混用了两个物理量。</a:t>
            </a:r>
          </a:p>
        </p:txBody>
      </p:sp>
      <p:sp>
        <p:nvSpPr>
          <p:cNvPr id="10" name="Rectangle 9"/>
          <p:cNvSpPr/>
          <p:nvPr/>
        </p:nvSpPr>
        <p:spPr>
          <a:xfrm>
            <a:off x="10795000" y="939800"/>
            <a:ext cx="4876800" cy="1665033"/>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98200" y="939800"/>
            <a:ext cx="4495800" cy="1588833"/>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风险区几何：运动学缩放</a:t>
            </a:r>
          </a:p>
          <a:p>
            <a:pPr>
              <a:lnSpc>
                <a:spcPct val="180000"/>
              </a:lnSpc>
              <a:spcAft>
                <a:spcPts val="500"/>
              </a:spcAft>
            </a:pPr>
            <a:r>
              <a:rPr sz="1400" b="0">
                <a:solidFill>
                  <a:srgbClr val="1A1A1A"/>
                </a:solidFill>
                <a:latin typeface="微软雅黑"/>
              </a:rPr>
              <a:t>来源规则 Suzuki 等（2010）纵向深度随车速伸缩： Rx = Ttc· Vcar Ttc,max = 4.0 s；20 → 22.2 m、40 → 44.4 m、50 km/h → 55.6 m；斑马线区两侧各外扩 1 m Kuo 等（2016）危险区以 1.5 m 线划分左右子区；位置误差 0.12–0.15 m Zhang 等（2023）按行人心理安全距离划分车辆坐标区（仅摘要，无数值） 时空两侧最重要的收敛点：Rx = Ttc· Vcar 与本研究把触发准则改为 BTN 同源——都是把参数从「固定数值」改为「随运动学状态缩放」。→ 实验 4 的 BR 路面标记按 Rx 而非固定米数绘制。</a:t>
            </a:r>
          </a:p>
        </p:txBody>
      </p:sp>
      <p:sp>
        <p:nvSpPr>
          <p:cNvPr id="12" name="TextBox 11"/>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22 / 37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文献综述　AR-HUD 的副作用：无意视盲与注意隧道</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3944600" y="203200"/>
            <a:ext cx="17272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2.3.10</a:t>
            </a:r>
          </a:p>
        </p:txBody>
      </p:sp>
      <p:sp>
        <p:nvSpPr>
          <p:cNvPr id="6" name="Rectangle 5"/>
          <p:cNvSpPr/>
          <p:nvPr/>
        </p:nvSpPr>
        <p:spPr>
          <a:xfrm>
            <a:off x="584200" y="939800"/>
            <a:ext cx="15087600" cy="656336"/>
          </a:xfrm>
          <a:prstGeom prst="rect">
            <a:avLst/>
          </a:prstGeom>
          <a:solidFill>
            <a:srgbClr val="D9E2F3"/>
          </a:solidFill>
          <a:ln w="1778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4200" y="939800"/>
            <a:ext cx="63500" cy="656336"/>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7400" y="939800"/>
            <a:ext cx="14757400" cy="58013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&gt;若图形越显著、对目标的引导越强，则对非增强危险的漏检也可能越严重。这是 AR-HUD 研究不可回避的一面，也是「越动越好」不成立的根据。</a:t>
            </a:r>
          </a:p>
        </p:txBody>
      </p:sp>
      <p:graphicFrame>
        <p:nvGraphicFramePr>
          <p:cNvPr id="9" name="Table 8"/>
          <p:cNvGraphicFramePr>
            <a:graphicFrameLocks noGrp="1"/>
          </p:cNvGraphicFramePr>
          <p:nvPr/>
        </p:nvGraphicFramePr>
        <p:xfrm>
          <a:off x="584200" y="1672336"/>
          <a:ext cx="15087600" cy="4572000"/>
        </p:xfrm>
        <a:graphic>
          <a:graphicData uri="http://schemas.openxmlformats.org/drawingml/2006/table">
            <a:tbl>
              <a:tblPr firstRow="1" bandRow="1">
                <a:tableStyleId>{5C22544A-7EE6-4342-B048-85BDC9FD1C3A}</a:tableStyleId>
              </a:tblPr>
              <a:tblGrid>
                <a:gridCol w="5029200"/>
                <a:gridCol w="5029200"/>
                <a:gridCol w="5029200"/>
              </a:tblGrid>
              <a:tr h="508000">
                <a:tc>
                  <a:txBody>
                    <a:bodyPr wrap="square" lIns="76200" rIns="76200" tIns="38100" bIns="38100"/>
                    <a:lstStyle/>
                    <a:p>
                      <a:pPr>
                        <a:lnSpc>
                          <a:spcPct val="115000"/>
                        </a:lnSpc>
                      </a:pPr>
                      <a:r>
                        <a:rPr sz="1250" b="1">
                          <a:solidFill>
                            <a:srgbClr val="FFFFFF"/>
                          </a:solidFill>
                          <a:latin typeface="微软雅黑"/>
                        </a:rPr>
                        <a:t>来源</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关键发现</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证据强度</a:t>
                      </a:r>
                    </a:p>
                  </a:txBody>
                  <a:tcPr>
                    <a:solidFill>
                      <a:srgbClr val="4472C4"/>
                    </a:solidFill>
                  </a:tcPr>
                </a:tc>
              </a:tr>
              <a:tr h="508000">
                <a:tc>
                  <a:txBody>
                    <a:bodyPr wrap="square" lIns="76200" rIns="76200" tIns="38100" bIns="38100"/>
                    <a:lstStyle/>
                    <a:p>
                      <a:pPr>
                        <a:lnSpc>
                          <a:spcPct val="115000"/>
                        </a:lnSpc>
                      </a:pPr>
                      <a:r>
                        <a:rPr sz="1200" b="0">
                          <a:solidFill>
                            <a:srgbClr val="1A1A1A"/>
                          </a:solidFill>
                          <a:latin typeface="微软雅黑"/>
                        </a:rPr>
                        <a:t>Wang 等（2021）</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AR-HUD 辅助驾驶中的无意视盲；本库该方向被引最多的实证锚点之一（约 56 次引用）</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全文</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Chen 等（2023）</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AR 环境下对未增强危险的无意视盲；本库唯一操纵「AR 图形与未增强危险的相对位置」的研究——是本研究动态 AOI 方案的必要输入</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全文</a:t>
                      </a:r>
                    </a:p>
                  </a:txBody>
                  <a:tcPr>
                    <a:solidFill>
                      <a:srgbClr val="FAFBFD"/>
                    </a:solidFill>
                  </a:tcPr>
                </a:tc>
              </a:tr>
              <a:tr h="508000">
                <a:tc>
                  <a:txBody>
                    <a:bodyPr wrap="square" lIns="76200" rIns="76200" tIns="38100" bIns="38100"/>
                    <a:lstStyle/>
                    <a:p>
                      <a:pPr>
                        <a:lnSpc>
                          <a:spcPct val="115000"/>
                        </a:lnSpc>
                      </a:pPr>
                      <a:r>
                        <a:rPr sz="1200" b="0">
                          <a:solidFill>
                            <a:srgbClr val="1A1A1A"/>
                          </a:solidFill>
                          <a:latin typeface="微软雅黑"/>
                        </a:rPr>
                        <a:t>Hou 等（2024）</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动效对无意视盲无显著影响，仅闪烁缩短反应时（透明度 T1/T0.75/T0.5/T0.35）</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仅摘要</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Ye 与 Yin（2025）</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水平／垂直／混合空间面定位与无意视盲；垂直面在工作负荷与实用性上最佳</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全文</a:t>
                      </a:r>
                    </a:p>
                  </a:txBody>
                  <a:tcPr>
                    <a:solidFill>
                      <a:srgbClr val="FAFBFD"/>
                    </a:solidFill>
                  </a:tcPr>
                </a:tc>
              </a:tr>
              <a:tr h="508000">
                <a:tc>
                  <a:txBody>
                    <a:bodyPr wrap="square" lIns="76200" rIns="76200" tIns="38100" bIns="38100"/>
                    <a:lstStyle/>
                    <a:p>
                      <a:pPr>
                        <a:lnSpc>
                          <a:spcPct val="115000"/>
                        </a:lnSpc>
                      </a:pPr>
                      <a:r>
                        <a:rPr sz="1200" b="0">
                          <a:solidFill>
                            <a:srgbClr val="1A1A1A"/>
                          </a:solidFill>
                          <a:latin typeface="微软雅黑"/>
                        </a:rPr>
                        <a:t>Pammer 与 Blink（2013）</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乡村与城市场景驾驶判断的注意差异；无意视盲中的语义一致性机制</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全文</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Gabbard 等（2019）</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贴地共形箭头使心理需求由 11.7% 升至 23.7%，HUD 图形注视时长最长达 3.33 s（屏幕箭头 1.17 s）——已越过分心上界</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全文</a:t>
                      </a:r>
                    </a:p>
                  </a:txBody>
                  <a:tcPr>
                    <a:solidFill>
                      <a:srgbClr val="FAFBFD"/>
                    </a:solidFill>
                  </a:tcPr>
                </a:tc>
              </a:tr>
              <a:tr h="508000">
                <a:tc>
                  <a:txBody>
                    <a:bodyPr wrap="square" lIns="76200" rIns="76200" tIns="38100" bIns="38100"/>
                    <a:lstStyle/>
                    <a:p>
                      <a:pPr>
                        <a:lnSpc>
                          <a:spcPct val="115000"/>
                        </a:lnSpc>
                      </a:pPr>
                      <a:r>
                        <a:rPr sz="1200" b="0">
                          <a:solidFill>
                            <a:srgbClr val="1A1A1A"/>
                          </a:solidFill>
                          <a:latin typeface="微软雅黑"/>
                        </a:rPr>
                        <a:t>Kim 与 Gabbard（2019）</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提出 AR-HUD 分心潜势评估方法：中央检测任务 CDT + 周边检测任务 PDT 双指标框架</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全文</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Huo 与 Alla（2025）</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新手在 AR 系统随机故障时严重反应退化——「AR 依赖性」问题：AR 的收益以系统可靠性为前提</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全文</a:t>
                      </a:r>
                    </a:p>
                  </a:txBody>
                  <a:tcPr>
                    <a:solidFill>
                      <a:srgbClr val="FAFBFD"/>
                    </a:solidFill>
                  </a:tcPr>
                </a:tc>
              </a:tr>
            </a:tbl>
          </a:graphicData>
        </a:graphic>
      </p:graphicFrame>
      <p:sp>
        <p:nvSpPr>
          <p:cNvPr id="10" name="Rectangle 9"/>
          <p:cNvSpPr/>
          <p:nvPr/>
        </p:nvSpPr>
        <p:spPr>
          <a:xfrm>
            <a:off x="584200" y="6396736"/>
            <a:ext cx="15087600" cy="656336"/>
          </a:xfrm>
          <a:prstGeom prst="rect">
            <a:avLst/>
          </a:prstGeom>
          <a:solidFill>
            <a:srgbClr val="FDF2F2"/>
          </a:solidFill>
          <a:ln w="1778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84200" y="6396736"/>
            <a:ext cx="63500" cy="656336"/>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7400" y="6396736"/>
            <a:ext cx="14757400" cy="58013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&gt;「AR 依赖性」的独立理论意义：AR-HUD 的收益不是无条件的——一旦系统失效，依赖 AR 的驾驶员可能比从未使用 AR 者更差。这与可靠性上界论证相互印证，共同支撑本研究把系统可靠性设为实验 3 自变量的决定。</a:t>
            </a:r>
          </a:p>
        </p:txBody>
      </p:sp>
      <p:sp>
        <p:nvSpPr>
          <p:cNvPr id="13" name="TextBox 12"/>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23 / 37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文献综述　眼动指标：从单调假设到区间判定</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3944600" y="203200"/>
            <a:ext cx="17272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2.3.11</a:t>
            </a:r>
          </a:p>
        </p:txBody>
      </p:sp>
      <p:sp>
        <p:nvSpPr>
          <p:cNvPr id="6" name="Rectangle 5"/>
          <p:cNvSpPr/>
          <p:nvPr/>
        </p:nvSpPr>
        <p:spPr>
          <a:xfrm>
            <a:off x="584200" y="939800"/>
            <a:ext cx="15087600" cy="656336"/>
          </a:xfrm>
          <a:prstGeom prst="rect">
            <a:avLst/>
          </a:prstGeom>
          <a:solidFill>
            <a:srgbClr val="D9E2F3"/>
          </a:solidFill>
          <a:ln w="1778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4200" y="939800"/>
            <a:ext cx="63500" cy="656336"/>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7400" y="939800"/>
            <a:ext cx="14757400" cy="58013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&gt;既有研究几乎全部按单调方向解释眼动指标——TTFF 越短越好、道路注视比例越高越好。这一解释在两端都会失效：TTFF 过短可能是「预期性注视」；总注视时长过短可能是「注意不足」而非「高效」。</a:t>
            </a:r>
          </a:p>
        </p:txBody>
      </p:sp>
      <p:sp>
        <p:nvSpPr>
          <p:cNvPr id="9" name="Rectangle 8"/>
          <p:cNvSpPr/>
          <p:nvPr/>
        </p:nvSpPr>
        <p:spPr>
          <a:xfrm>
            <a:off x="584200" y="1672336"/>
            <a:ext cx="15087600" cy="656336"/>
          </a:xfrm>
          <a:prstGeom prst="rect">
            <a:avLst/>
          </a:prstGeom>
          <a:solidFill>
            <a:srgbClr val="F2F9F2"/>
          </a:solidFill>
          <a:ln w="17780">
            <a:solidFill>
              <a:srgbClr val="3E7D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84200" y="1672336"/>
            <a:ext cx="63500" cy="656336"/>
          </a:xfrm>
          <a:prstGeom prst="rect">
            <a:avLst/>
          </a:prstGeom>
          <a:solidFill>
            <a:srgbClr val="3E7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7400" y="1672336"/>
            <a:ext cx="14757400" cy="58013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&gt;两条须重新表述的既有结论：① Wu 等（2024）的 BW 条件 617 ms → 「显著改善但未达最优区间」；② Gabbard 等（2019）的 3.33 s 注视时长 → 「已越过 2 000 ms 的分心上界」。本研究把这一区间判定写入预注册的判定规则。</a:t>
            </a:r>
          </a:p>
        </p:txBody>
      </p:sp>
      <p:sp>
        <p:nvSpPr>
          <p:cNvPr id="12" name="TextBox 11"/>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24 / 37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文献综述　结论不一致的辨析：三类冲突来源</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135100" y="203200"/>
            <a:ext cx="15367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2.4.1</a:t>
            </a:r>
          </a:p>
        </p:txBody>
      </p:sp>
      <p:sp>
        <p:nvSpPr>
          <p:cNvPr id="6" name="Rectangle 5"/>
          <p:cNvSpPr/>
          <p:nvPr/>
        </p:nvSpPr>
        <p:spPr>
          <a:xfrm>
            <a:off x="584200" y="939800"/>
            <a:ext cx="15087600" cy="656336"/>
          </a:xfrm>
          <a:prstGeom prst="rect">
            <a:avLst/>
          </a:prstGeom>
          <a:solidFill>
            <a:srgbClr val="D9E2F3"/>
          </a:solidFill>
          <a:ln w="1778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4200" y="939800"/>
            <a:ext cx="63500" cy="656336"/>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7400" y="939800"/>
            <a:ext cx="14757400" cy="58013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&gt;既有综述遇到冲突通常有两种处理：取平均（「综合来看约 3 s」）或回避（只引支持自己设计的一方）。本研究主张第三条路径：把冲突当作调节变量存在的实证信号——若两项研究在同一参数上得出相反结论，则必然存在至少一个未被控制的第三变量；识别这个变量，就等于识别了一个应当纳入设计的维度。</a:t>
            </a:r>
          </a:p>
        </p:txBody>
      </p:sp>
      <p:sp>
        <p:nvSpPr>
          <p:cNvPr id="9" name="Rectangle 8"/>
          <p:cNvSpPr/>
          <p:nvPr/>
        </p:nvSpPr>
        <p:spPr>
          <a:xfrm>
            <a:off x="584200" y="1672336"/>
            <a:ext cx="4876800" cy="1423225"/>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7400" y="1672336"/>
            <a:ext cx="4495800" cy="1347025"/>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A 类：条件差异型</a:t>
            </a:r>
          </a:p>
          <a:p>
            <a:pPr>
              <a:lnSpc>
                <a:spcPct val="180000"/>
              </a:lnSpc>
              <a:spcAft>
                <a:spcPts val="500"/>
              </a:spcAft>
            </a:pPr>
            <a:r>
              <a:rPr sz="1400" b="0">
                <a:solidFill>
                  <a:srgbClr val="1A1A1A"/>
                </a:solidFill>
                <a:latin typeface="微软雅黑"/>
              </a:rPr>
              <a:t>结论相反，但实验条件（模态、车速、场景、样本）系统不同。</a:t>
            </a:r>
          </a:p>
          <a:p>
            <a:pPr>
              <a:lnSpc>
                <a:spcPct val="180000"/>
              </a:lnSpc>
              <a:spcAft>
                <a:spcPts val="500"/>
              </a:spcAft>
            </a:pPr>
            <a:r>
              <a:rPr sz="1400" b="0">
                <a:solidFill>
                  <a:srgbClr val="1A1A1A"/>
                </a:solidFill>
                <a:latin typeface="微软雅黑"/>
              </a:rPr>
              <a:t>处理：把差异条件升级为自变量，冲突转化为交互效应假设。</a:t>
            </a:r>
          </a:p>
          <a:p>
            <a:pPr>
              <a:lnSpc>
                <a:spcPct val="180000"/>
              </a:lnSpc>
              <a:spcAft>
                <a:spcPts val="500"/>
              </a:spcAft>
            </a:pPr>
            <a:r>
              <a:rPr sz="1400" b="0">
                <a:solidFill>
                  <a:srgbClr val="1A1A1A"/>
                </a:solidFill>
                <a:latin typeface="微软雅黑"/>
              </a:rPr>
              <a:t>本领域冲突的主体。共同根源是未控制的第三变量，出现频率最高的两个是「未测量自发察觉时刻」与「未区分信息的互补／冗余关系」。</a:t>
            </a:r>
          </a:p>
        </p:txBody>
      </p:sp>
      <p:sp>
        <p:nvSpPr>
          <p:cNvPr id="11" name="Rectangle 10"/>
          <p:cNvSpPr/>
          <p:nvPr/>
        </p:nvSpPr>
        <p:spPr>
          <a:xfrm>
            <a:off x="5689600" y="1672336"/>
            <a:ext cx="4876800" cy="1263205"/>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92800" y="1672336"/>
            <a:ext cx="4495800" cy="1187005"/>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B 类：记法／口径型</a:t>
            </a:r>
          </a:p>
          <a:p>
            <a:pPr>
              <a:lnSpc>
                <a:spcPct val="180000"/>
              </a:lnSpc>
              <a:spcAft>
                <a:spcPts val="500"/>
              </a:spcAft>
            </a:pPr>
            <a:r>
              <a:rPr sz="1400" b="0">
                <a:solidFill>
                  <a:srgbClr val="1A1A1A"/>
                </a:solidFill>
                <a:latin typeface="微软雅黑"/>
              </a:rPr>
              <a:t>数值相差数倍，但可能只是单位、方向、测量对象不同。</a:t>
            </a:r>
          </a:p>
          <a:p>
            <a:pPr>
              <a:lnSpc>
                <a:spcPct val="180000"/>
              </a:lnSpc>
              <a:spcAft>
                <a:spcPts val="500"/>
              </a:spcAft>
            </a:pPr>
            <a:r>
              <a:rPr sz="1400" b="0">
                <a:solidFill>
                  <a:srgbClr val="1A1A1A"/>
                </a:solidFill>
                <a:latin typeface="微软雅黑"/>
              </a:rPr>
              <a:t>处理：取得全文统一口径；未统一前不得混合引用，把不确定性转化为敏感性检验。</a:t>
            </a:r>
          </a:p>
          <a:p>
            <a:pPr>
              <a:lnSpc>
                <a:spcPct val="180000"/>
              </a:lnSpc>
              <a:spcAft>
                <a:spcPts val="500"/>
              </a:spcAft>
            </a:pPr>
            <a:r>
              <a:rPr sz="1400" b="0">
                <a:solidFill>
                  <a:srgbClr val="1A1A1A"/>
                </a:solidFill>
                <a:latin typeface="微软雅黑"/>
              </a:rPr>
              <a:t>危害被严重低估。不透明度的 3 倍冲突与闪烁频率的 8 倍冲突都不是科学分歧，而是报告规范缺失的后果。</a:t>
            </a:r>
          </a:p>
        </p:txBody>
      </p:sp>
      <p:sp>
        <p:nvSpPr>
          <p:cNvPr id="13" name="Rectangle 12"/>
          <p:cNvSpPr/>
          <p:nvPr/>
        </p:nvSpPr>
        <p:spPr>
          <a:xfrm>
            <a:off x="10795000" y="1672336"/>
            <a:ext cx="4876800" cy="1423225"/>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98200" y="1672336"/>
            <a:ext cx="4495800" cy="1347025"/>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C 类：推论过度型</a:t>
            </a:r>
          </a:p>
          <a:p>
            <a:pPr>
              <a:lnSpc>
                <a:spcPct val="180000"/>
              </a:lnSpc>
              <a:spcAft>
                <a:spcPts val="500"/>
              </a:spcAft>
            </a:pPr>
            <a:r>
              <a:rPr sz="1400" b="0">
                <a:solidFill>
                  <a:srgbClr val="1A1A1A"/>
                </a:solidFill>
                <a:latin typeface="微软雅黑"/>
              </a:rPr>
              <a:t>一方的结论超出其数据支持范围（如由零结果推论显著提升）。</a:t>
            </a:r>
          </a:p>
          <a:p>
            <a:pPr>
              <a:lnSpc>
                <a:spcPct val="180000"/>
              </a:lnSpc>
              <a:spcAft>
                <a:spcPts val="500"/>
              </a:spcAft>
            </a:pPr>
            <a:r>
              <a:rPr sz="1400" b="0">
                <a:solidFill>
                  <a:srgbClr val="1A1A1A"/>
                </a:solidFill>
                <a:latin typeface="微软雅黑"/>
              </a:rPr>
              <a:t>处理：回到原始数据，降级引用。</a:t>
            </a:r>
          </a:p>
          <a:p>
            <a:pPr>
              <a:lnSpc>
                <a:spcPct val="180000"/>
              </a:lnSpc>
              <a:spcAft>
                <a:spcPts val="500"/>
              </a:spcAft>
            </a:pPr>
            <a:r>
              <a:rPr sz="1400" b="0">
                <a:solidFill>
                  <a:srgbClr val="1A1A1A"/>
                </a:solidFill>
                <a:latin typeface="微软雅黑"/>
              </a:rPr>
              <a:t>本章已执行三处降级：① Wei 等（2025）的信任零结果；② Wang 等（2026）删除的 25.16% 基线；③ 未能溯源的「Bliss 30% 门限」。</a:t>
            </a:r>
          </a:p>
        </p:txBody>
      </p:sp>
      <p:sp>
        <p:nvSpPr>
          <p:cNvPr id="15" name="Rectangle 14"/>
          <p:cNvSpPr/>
          <p:nvPr/>
        </p:nvSpPr>
        <p:spPr>
          <a:xfrm>
            <a:off x="584200" y="3171761"/>
            <a:ext cx="15087600" cy="816356"/>
          </a:xfrm>
          <a:prstGeom prst="rect">
            <a:avLst/>
          </a:prstGeom>
          <a:solidFill>
            <a:srgbClr val="FFF8E5"/>
          </a:solidFill>
          <a:ln w="17780">
            <a:solidFill>
              <a:srgbClr val="E0A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84200" y="3171761"/>
            <a:ext cx="63500" cy="816356"/>
          </a:xfrm>
          <a:prstGeom prst="rect">
            <a:avLst/>
          </a:prstGeom>
          <a:solidFill>
            <a:srgbClr val="E0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7400" y="3171761"/>
            <a:ext cx="14757400" cy="74015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&gt;本章共辨析 七组主要冲突（§2.4.2–2.4.8）与 四组次级冲突（§2.4.9）：提前量效应方向 · TTC 2.5 s 的效应存否 · 级间间隔 0.7 s 的最优性 · 信息完整度 · 图形指向侧 · 不透明度记法 · 频率与占空比的归因｜次级：固定阈值 vs 自适应 · 接触类比 vs 边界框 · 单目 vs 体三维 · 水平面 vs 垂直面</a:t>
            </a:r>
          </a:p>
        </p:txBody>
      </p:sp>
      <p:sp>
        <p:nvSpPr>
          <p:cNvPr id="18" name="TextBox 17"/>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25 / 37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文献综述　冲突一：提前量效应的方向何以不一致</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135100" y="203200"/>
            <a:ext cx="15367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2.4.2</a:t>
            </a:r>
          </a:p>
        </p:txBody>
      </p:sp>
      <p:sp>
        <p:nvSpPr>
          <p:cNvPr id="6" name="Rectangle 5"/>
          <p:cNvSpPr/>
          <p:nvPr/>
        </p:nvSpPr>
        <p:spPr>
          <a:xfrm>
            <a:off x="584200" y="939800"/>
            <a:ext cx="4876800" cy="1024953"/>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7400" y="939800"/>
            <a:ext cx="4495800" cy="948753"/>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来源 a：模态差异</a:t>
            </a:r>
          </a:p>
          <a:p>
            <a:pPr>
              <a:lnSpc>
                <a:spcPct val="180000"/>
              </a:lnSpc>
              <a:spcAft>
                <a:spcPts val="500"/>
              </a:spcAft>
            </a:pPr>
            <a:r>
              <a:rPr sz="1400" b="0">
                <a:solidFill>
                  <a:srgbClr val="1A1A1A"/>
                </a:solidFill>
                <a:latin typeface="微软雅黑"/>
              </a:rPr>
              <a:t>听觉不占用视觉资源，提前呈现代价低。视觉符号在缺乏知觉支撑时（dθ/dt 尚低于 0.003 rad/s）需额外认知转换——驾驶员可辨识指令内容却无法据以判断危险的方位与紧迫度，遂采取最保守的最大响应策略。</a:t>
            </a:r>
          </a:p>
        </p:txBody>
      </p:sp>
      <p:sp>
        <p:nvSpPr>
          <p:cNvPr id="8" name="Rectangle 7"/>
          <p:cNvSpPr/>
          <p:nvPr/>
        </p:nvSpPr>
        <p:spPr>
          <a:xfrm>
            <a:off x="5689600" y="939800"/>
            <a:ext cx="4876800" cy="1024953"/>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92800" y="939800"/>
            <a:ext cx="4495800" cy="948753"/>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来源 b：共形性差异</a:t>
            </a:r>
          </a:p>
          <a:p>
            <a:pPr>
              <a:lnSpc>
                <a:spcPct val="180000"/>
              </a:lnSpc>
              <a:spcAft>
                <a:spcPts val="500"/>
              </a:spcAft>
            </a:pPr>
            <a:r>
              <a:rPr sz="1400" b="0">
                <a:solidFill>
                  <a:srgbClr val="1A1A1A"/>
                </a:solidFill>
                <a:latin typeface="微软雅黑"/>
              </a:rPr>
              <a:t>在同一研究内部得到验证：Kim 等（2018）中虚拟阴影在 Far 条件未出现过度反应，而 BRAKE 文本出现了。→ 「过早」的代价可以被共形性抵消（共形图形自带距离与量级线索）。</a:t>
            </a:r>
          </a:p>
        </p:txBody>
      </p:sp>
      <p:sp>
        <p:nvSpPr>
          <p:cNvPr id="10" name="Rectangle 9"/>
          <p:cNvSpPr/>
          <p:nvPr/>
        </p:nvSpPr>
        <p:spPr>
          <a:xfrm>
            <a:off x="10795000" y="939800"/>
            <a:ext cx="4876800" cy="1184973"/>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98200" y="939800"/>
            <a:ext cx="4495800" cy="1108773"/>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来源 c：未控制 t0（最根本）</a:t>
            </a:r>
          </a:p>
          <a:p>
            <a:pPr>
              <a:lnSpc>
                <a:spcPct val="180000"/>
              </a:lnSpc>
              <a:spcAft>
                <a:spcPts val="500"/>
              </a:spcAft>
            </a:pPr>
            <a:r>
              <a:rPr sz="1400" b="0">
                <a:solidFill>
                  <a:srgbClr val="1A1A1A"/>
                </a:solidFill>
                <a:latin typeface="微软雅黑"/>
              </a:rPr>
              <a:t>三项研究都未测 t0。由 τ 理论：24 km/h 下 t0 ≈ 5.0 s，60 km/h 下 t0 ≈ 3.2 s。→ Kim 等（2018）的 5.0 s 条件下 Δt ≈ 0（预警与自发察觉几乎同时），而 60 km/h 下同一个 5.0 s 意味着 Δt ≈ 1.8 s。同一秒数，两种信息增益。</a:t>
            </a:r>
          </a:p>
        </p:txBody>
      </p:sp>
      <p:sp>
        <p:nvSpPr>
          <p:cNvPr id="12" name="Rectangle 11"/>
          <p:cNvSpPr/>
          <p:nvPr/>
        </p:nvSpPr>
        <p:spPr>
          <a:xfrm>
            <a:off x="584200" y="2200973"/>
            <a:ext cx="15087600" cy="656336"/>
          </a:xfrm>
          <a:prstGeom prst="rect">
            <a:avLst/>
          </a:prstGeom>
          <a:solidFill>
            <a:srgbClr val="F2F9F2"/>
          </a:solidFill>
          <a:ln w="17780">
            <a:solidFill>
              <a:srgbClr val="3E7D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84200" y="2200973"/>
            <a:ext cx="63500" cy="656336"/>
          </a:xfrm>
          <a:prstGeom prst="rect">
            <a:avLst/>
          </a:prstGeom>
          <a:solidFill>
            <a:srgbClr val="3E7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7400" y="2200973"/>
            <a:ext cx="14757400" cy="58013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&gt;冲突的转化：把模态、共形性、相对提前量 Δt 三者显式纳入设计。「提前量效应的方向为何」这一在原始形式下不可判定的问题，据此改写为可检验的形式——在给定的自发察觉基线上，相对提前量取何区间方能产生信息增益而不诱发过度反应？</a:t>
            </a:r>
          </a:p>
        </p:txBody>
      </p:sp>
      <p:sp>
        <p:nvSpPr>
          <p:cNvPr id="15" name="TextBox 14"/>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26 / 37</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文献综述　冲突二与三：TTC 2.5 s 的效应存否与级间间隔 0.7 s 的最优性</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2992100" y="203200"/>
            <a:ext cx="26797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2.4.3–2.4.4</a:t>
            </a:r>
          </a:p>
        </p:txBody>
      </p:sp>
      <p:sp>
        <p:nvSpPr>
          <p:cNvPr id="6" name="Rectangle 5"/>
          <p:cNvSpPr/>
          <p:nvPr/>
        </p:nvSpPr>
        <p:spPr>
          <a:xfrm>
            <a:off x="584200" y="939800"/>
            <a:ext cx="15087600" cy="1840420"/>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7400" y="939800"/>
            <a:ext cx="14706600" cy="1764220"/>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冲突二：TTC 2.5 s 的效应在不同研究间存否不一致</a:t>
            </a:r>
          </a:p>
          <a:p>
            <a:pPr>
              <a:lnSpc>
                <a:spcPct val="175000"/>
              </a:lnSpc>
              <a:spcAft>
                <a:spcPts val="500"/>
              </a:spcAft>
            </a:pPr>
            <a:r>
              <a:rPr sz="1500" b="1">
                <a:solidFill>
                  <a:srgbClr val="2F528F"/>
                </a:solidFill>
                <a:latin typeface="微软雅黑"/>
              </a:rPr>
              <a:t>有效</a:t>
            </a:r>
          </a:p>
          <a:p>
            <a:pPr>
              <a:lnSpc>
                <a:spcPct val="175000"/>
              </a:lnSpc>
              <a:spcAft>
                <a:spcPts val="500"/>
              </a:spcAft>
            </a:pPr>
            <a:r>
              <a:rPr sz="1500" b="1">
                <a:solidFill>
                  <a:srgbClr val="2F528F"/>
                </a:solidFill>
                <a:latin typeface="微软雅黑"/>
              </a:rPr>
              <a:t>无效</a:t>
            </a:r>
          </a:p>
          <a:p>
            <a:pPr>
              <a:lnSpc>
                <a:spcPct val="180000"/>
              </a:lnSpc>
              <a:spcAft>
                <a:spcPts val="500"/>
              </a:spcAft>
            </a:pPr>
            <a:r>
              <a:rPr sz="1400" b="0">
                <a:solidFill>
                  <a:srgbClr val="1A1A1A"/>
                </a:solidFill>
                <a:latin typeface="微软雅黑"/>
              </a:rPr>
              <a:t>Lubbe（2017）Setting 3/4 在 2.5 s 加 HUD 提示，Setting 4 仅 1 次碰撞；Huo 与 Alla（2025）2.5 s 使危险感知时间 1.20 → 0.52 s（p &lt; .01）位置：分级体系的提示级，其后还有 1.8 s 临界级 + 触觉脉冲</a:t>
            </a:r>
          </a:p>
          <a:p>
            <a:pPr>
              <a:lnSpc>
                <a:spcPct val="180000"/>
              </a:lnSpc>
              <a:spcAft>
                <a:spcPts val="500"/>
              </a:spcAft>
            </a:pPr>
            <a:r>
              <a:rPr sz="1400" b="0">
                <a:solidFill>
                  <a:srgbClr val="1A1A1A"/>
                </a:solidFill>
                <a:latin typeface="微软雅黑"/>
              </a:rPr>
              <a:t>Zhang 等（2015）：2.5 s 在全部时间切片上与无预警无显著差异，碰撞率 29.4%位置：唯一一次预警，无后续升级</a:t>
            </a:r>
          </a:p>
          <a:p>
            <a:pPr>
              <a:lnSpc>
                <a:spcPct val="180000"/>
              </a:lnSpc>
              <a:spcAft>
                <a:spcPts val="500"/>
              </a:spcAft>
            </a:pPr>
            <a:r>
              <a:rPr sz="1400" b="0">
                <a:solidFill>
                  <a:srgbClr val="1A1A1A"/>
                </a:solidFill>
                <a:latin typeface="微软雅黑"/>
              </a:rPr>
              <a:t>&gt; ⟷在体系中的 位置不同 提炼出的关键推论：单层预警的有效阈值高于分层预警中任一级的阈值。分层之所以能把临界级设在 1.8–2.0 s，是因为提示级已完成 Scanning 与 Identifying；单层必须在一次呈现中完成全部五个阶段。→ 这条推论直接构成实验 3 的立论基础，也解释了为什么实验 3 必须保留「实验 2 入选的最优单层方案」作为对照，而不是与一个刻意削弱的基线对比。</a:t>
            </a:r>
          </a:p>
        </p:txBody>
      </p:sp>
      <p:sp>
        <p:nvSpPr>
          <p:cNvPr id="8" name="Rectangle 7"/>
          <p:cNvSpPr/>
          <p:nvPr/>
        </p:nvSpPr>
        <p:spPr>
          <a:xfrm>
            <a:off x="584200" y="2856420"/>
            <a:ext cx="15087600" cy="1799907"/>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7400" y="2856420"/>
            <a:ext cx="14706600" cy="1723707"/>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冲突三：级间间隔 0.7 s 的最优性存在分歧</a:t>
            </a:r>
          </a:p>
          <a:p>
            <a:pPr marL="5334" indent="-4572">
              <a:lnSpc>
                <a:spcPct val="182000"/>
              </a:lnSpc>
              <a:spcAft>
                <a:spcPts val="500"/>
              </a:spcAft>
            </a:pPr>
            <a:r>
              <a:rPr sz="1350" b="0">
                <a:solidFill>
                  <a:srgbClr val="1A1A1A"/>
                </a:solidFill>
                <a:latin typeface="微软雅黑"/>
              </a:rPr>
              <a:t>•  0.7 s 是孤证而非最优值：Lubbe（2017）的 0.7 s 从未与其他间隔对照——它是该研究采用的唯一一个级间间隔。「0.7 s 有效」只能读作「不至于失效」，不能读作「最优」。既有综述把它当最优值引用，属于把单点证据外推为最优点。</a:t>
            </a:r>
          </a:p>
          <a:p>
            <a:pPr marL="5334" indent="-4572">
              <a:lnSpc>
                <a:spcPct val="182000"/>
              </a:lnSpc>
              <a:spcAft>
                <a:spcPts val="500"/>
              </a:spcAft>
            </a:pPr>
            <a:r>
              <a:rPr sz="1350" b="0">
                <a:solidFill>
                  <a:srgbClr val="1A1A1A"/>
                </a:solidFill>
                <a:latin typeface="微软雅黑"/>
              </a:rPr>
              <a:t>•  本研究的工作假设指向 1.0 s：L1 需承担 Scanning + Identifying，S + I ≈ 0.9–1.2 s；短于此则两级警告可能在知觉上融合为单一刺激，分层的语义结构失效。</a:t>
            </a:r>
          </a:p>
          <a:p>
            <a:pPr marL="5334" indent="-4572">
              <a:lnSpc>
                <a:spcPct val="182000"/>
              </a:lnSpc>
              <a:spcAft>
                <a:spcPts val="500"/>
              </a:spcAft>
            </a:pPr>
            <a:r>
              <a:rPr sz="1350" b="0">
                <a:solidFill>
                  <a:srgbClr val="1A1A1A"/>
                </a:solidFill>
                <a:latin typeface="微软雅黑"/>
              </a:rPr>
              <a:t>•  ⚠ 必须声明的降级：该推导不是 SPIDER 原文参数。1.0 s 的主要依据应是工程证据——Daimler 级联第二级间隔恰为 1.0 s、Suzuki 等档距恰为 1.0 s，两个独立来源在同一数值上汇合；SPIDER 推导只作事后的机制解释。</a:t>
            </a:r>
          </a:p>
          <a:p>
            <a:pPr marL="5334" indent="-4572">
              <a:lnSpc>
                <a:spcPct val="182000"/>
              </a:lnSpc>
              <a:spcAft>
                <a:spcPts val="500"/>
              </a:spcAft>
            </a:pPr>
            <a:r>
              <a:rPr sz="1350" b="0">
                <a:solidFill>
                  <a:srgbClr val="1A1A1A"/>
                </a:solidFill>
                <a:latin typeface="微软雅黑"/>
              </a:rPr>
              <a:t>•  新提炼的规律：级间间隔随紧迫度单调缩短（Daimler 1.4 → 1.0 → 0.5 s）；与 Takada 等（2014）2 : 1 滞环「避免极短促报警」从两个方向界定同一约束。</a:t>
            </a:r>
          </a:p>
          <a:p>
            <a:pPr>
              <a:lnSpc>
                <a:spcPct val="180000"/>
              </a:lnSpc>
              <a:spcAft>
                <a:spcPts val="500"/>
              </a:spcAft>
            </a:pPr>
            <a:r>
              <a:rPr sz="1400" b="0">
                <a:solidFill>
                  <a:srgbClr val="1A1A1A"/>
                </a:solidFill>
                <a:latin typeface="微软雅黑"/>
              </a:rPr>
              <a:t>style="margin-top:2px"&gt; 转化：三水平取值保留（0.7 / 1.0 / 1.5 s），但论证方式从「取自 Lubbe + 两侧插值」改为「四源共同界定的区间 0.5–2.0 s 的中段 + 双源支持的 1.0 s 中心值 + 单调缩短规律」。理论定位：0.7 s 短于加工窗口（检验融合下界）· 1.0 s 恰好覆盖（理论中心）· 1.5 s 长于窗口（检验收益递减）。</a:t>
            </a:r>
          </a:p>
        </p:txBody>
      </p:sp>
      <p:sp>
        <p:nvSpPr>
          <p:cNvPr id="10" name="TextBox 9"/>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27 / 37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文献综述　冲突四与五：信息完整度与图形指向侧</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2992100" y="203200"/>
            <a:ext cx="26797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2.4.5–2.4.6</a:t>
            </a:r>
          </a:p>
        </p:txBody>
      </p:sp>
      <p:sp>
        <p:nvSpPr>
          <p:cNvPr id="6" name="Rectangle 5"/>
          <p:cNvSpPr/>
          <p:nvPr/>
        </p:nvSpPr>
        <p:spPr>
          <a:xfrm>
            <a:off x="584200" y="939800"/>
            <a:ext cx="15087600" cy="1184973"/>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7400" y="939800"/>
            <a:ext cx="14706600" cy="1108773"/>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冲突四：信息越完整越好还是越少越好？</a:t>
            </a:r>
          </a:p>
          <a:p>
            <a:pPr>
              <a:lnSpc>
                <a:spcPct val="180000"/>
              </a:lnSpc>
              <a:spcAft>
                <a:spcPts val="500"/>
              </a:spcAft>
            </a:pPr>
            <a:r>
              <a:rPr sz="1400" b="0">
                <a:solidFill>
                  <a:srgbClr val="1A1A1A"/>
                </a:solidFill>
                <a:latin typeface="微软雅黑"/>
              </a:rPr>
              <a:t>&gt; 来源结论驾驶模式信息关系 Wang 等（2024）DSID信息越完整越好：三元素俱全者最好；同时提升 SA 与避险能力、降低负荷手动驾驶互补功能（预警 + 空间 + 速度，各回答不同问题） Wei 等（2025）信息越少负荷越低：组合间信任无显著差异自动驾驶同类冗余（三种轨迹／视野信息回答同一问题） Chen 等（2024b）同色 Equivalent 在新手中可能比无警告更差手动驾驶同类冗余（多个等价高亮） Li 等（2025b）冗余界面在主观可用性上获最高评分（雾天，中国样本）手动驾驶冗余（同一信息多通道） 关键边界条件：信息是「互补」还是「冗余」。→ 互补组合有净收益，冗余组合只有负荷代价，两者并不矛盾。另两条边界：驾驶模式不同（须执行动作 vs 只需监督）；Wei 等（2025）由零结果推论「信任显著提升」属C 类推论过度。 典型的偏好—绩效解离：驾驶员喜欢更多信息，但更多同类信息损害绩效——这是设计决策不能只依据主观评分的直接证据。</a:t>
            </a:r>
          </a:p>
        </p:txBody>
      </p:sp>
      <p:sp>
        <p:nvSpPr>
          <p:cNvPr id="8" name="Rectangle 7"/>
          <p:cNvSpPr/>
          <p:nvPr/>
        </p:nvSpPr>
        <p:spPr>
          <a:xfrm>
            <a:off x="584200" y="2200973"/>
            <a:ext cx="15087600" cy="1423225"/>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7400" y="2200973"/>
            <a:ext cx="14706600" cy="1347025"/>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冲突五：图形应指向危险侧还是逃逸侧？（本轮新识别的维度）</a:t>
            </a:r>
          </a:p>
          <a:p>
            <a:pPr>
              <a:lnSpc>
                <a:spcPct val="180000"/>
              </a:lnSpc>
              <a:spcAft>
                <a:spcPts val="500"/>
              </a:spcAft>
            </a:pPr>
            <a:r>
              <a:rPr sz="1400" b="0">
                <a:solidFill>
                  <a:srgbClr val="1A1A1A"/>
                </a:solidFill>
                <a:latin typeface="微软雅黑"/>
              </a:rPr>
              <a:t>Kang 等（2016）：听觉行人预警中刺激—反应不兼容（提示回避方向而非危险方向）优于兼容；配合 TTC 4.0 s 时「更可靠、更有用」（仅摘要）</a:t>
            </a:r>
          </a:p>
          <a:p>
            <a:pPr>
              <a:lnSpc>
                <a:spcPct val="180000"/>
              </a:lnSpc>
              <a:spcAft>
                <a:spcPts val="500"/>
              </a:spcAft>
            </a:pPr>
            <a:r>
              <a:rPr sz="1400" b="0">
                <a:solidFill>
                  <a:srgbClr val="1A1A1A"/>
                </a:solidFill>
                <a:latin typeface="微软雅黑"/>
              </a:rPr>
              <a:t>Straughn、Gray 与 Tan（2009，IEEE Trans. Haptics）：长 TTC 用危险侧方向、短 TTC 用逃逸方向——经核验该文本身即行人碰撞预警的 S-R 兼容性研究，属一手来源（本课题此前误标为「经 Gray 等 2014 转引」）</a:t>
            </a:r>
          </a:p>
          <a:p>
            <a:pPr>
              <a:lnSpc>
                <a:spcPct val="180000"/>
              </a:lnSpc>
              <a:spcAft>
                <a:spcPts val="500"/>
              </a:spcAft>
            </a:pPr>
            <a:r>
              <a:rPr sz="1400" b="0">
                <a:solidFill>
                  <a:srgbClr val="1A1A1A"/>
                </a:solidFill>
                <a:latin typeface="微软雅黑"/>
              </a:rPr>
              <a:t>style="margin-top:2px"&gt; 外部效度边界：两项证据均为听觉／触觉预警。视觉 AR-HUD 的图形若指向「逃逸方向」而非行人所在，可能与共形配准的基本逻辑冲突——AR 的价值正在于把图形贴到危险对象上。 → 本研究定位为探索性区块（实验 4 区块 D），不作主设计。 预注册的条件化推断规则（不预设方向）：若「映射方向 × 提前量」交互显著 → 支持 Straughn 的时间依赖假设；若仅主效应显著 → 支持 Kang 的单向假设。必须在数据采集前写入预注册文件，以避免事后解释。</a:t>
            </a:r>
          </a:p>
        </p:txBody>
      </p:sp>
      <p:sp>
        <p:nvSpPr>
          <p:cNvPr id="10" name="TextBox 9"/>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28 / 37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文献综述　冲突六、七与方法学评述</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2801600" y="203200"/>
            <a:ext cx="28702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2.4.7–2.4.10</a:t>
            </a:r>
          </a:p>
        </p:txBody>
      </p:sp>
      <p:sp>
        <p:nvSpPr>
          <p:cNvPr id="6" name="Rectangle 5"/>
          <p:cNvSpPr/>
          <p:nvPr/>
        </p:nvSpPr>
        <p:spPr>
          <a:xfrm>
            <a:off x="584200" y="939800"/>
            <a:ext cx="7429500" cy="2223325"/>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7400" y="939800"/>
            <a:ext cx="7048500" cy="2147125"/>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冲突六、七：两组 B 类（记法／口径）冲突</a:t>
            </a:r>
          </a:p>
          <a:p>
            <a:pPr>
              <a:lnSpc>
                <a:spcPct val="180000"/>
              </a:lnSpc>
              <a:spcAft>
                <a:spcPts val="500"/>
              </a:spcAft>
            </a:pPr>
            <a:r>
              <a:rPr sz="1400" b="0">
                <a:solidFill>
                  <a:srgbClr val="1A1A1A"/>
                </a:solidFill>
                <a:latin typeface="微软雅黑"/>
              </a:rPr>
              <a:t>冲突六 不透明度 3 倍（本轮已裁定）：① 记法已定——Ye 与 Yin（2025）把 Hou 等的 T 标尺当作「提升可见性的 0.75」使用，故 T 功能上是 alpha，最优换算为 0.5–0.75；② 剩余差异是构念而非矛盾——Lopez 原文为「20% 与 60% 均支持情境意识」，未推荐 20%，与 Li 等在 0.6 上一致。四源收敛 0.6–0.75。处理更新：主条件仍取 0.6（交集的保守下界），0.2 档的检验目的从「消解记法不确定」改为「检验遮挡收益是否超过可读性代价」。</a:t>
            </a:r>
          </a:p>
          <a:p>
            <a:pPr>
              <a:lnSpc>
                <a:spcPct val="180000"/>
              </a:lnSpc>
              <a:spcAft>
                <a:spcPts val="500"/>
              </a:spcAft>
            </a:pPr>
            <a:r>
              <a:rPr sz="1400" b="0">
                <a:solidFill>
                  <a:srgbClr val="1A1A1A"/>
                </a:solidFill>
                <a:latin typeface="微软雅黑"/>
              </a:rPr>
              <a:t>冲突七 频率 8 倍 vs 占空比接近：4 Hz/60% 与 0.5 Hz/50%。机制假设：占空比决定单位时间总光通量与亮灭时长比，频率只决定重复速率。Shen 等「无闪烁最差」说明至少需有 onset 事件，「50% 优于 75%」说明 onset 事件密度与绩效并非单调正相关。处理：全条件统一动效参数（周期 2 s、占空比 50%）或全不闪烁，不得让锁定策略与闪烁状态共变。</a:t>
            </a:r>
          </a:p>
          <a:p>
            <a:pPr>
              <a:lnSpc>
                <a:spcPct val="180000"/>
              </a:lnSpc>
              <a:spcAft>
                <a:spcPts val="500"/>
              </a:spcAft>
            </a:pPr>
            <a:r>
              <a:rPr sz="1400" b="0">
                <a:solidFill>
                  <a:srgbClr val="1A1A1A"/>
                </a:solidFill>
                <a:latin typeface="微软雅黑"/>
              </a:rPr>
              <a:t>方法学意义（两层）：① 记法不统一而无法取得全文时，应把不确定性显式转化为敏感性检验，而不是挑一个数值当定论。 ② 本轮新得：B 类冲突有时可由「引用者如何使用该参数」间接裁定——原文不可得时，一篇引用并复现其设置的开放获取文献，往往在方法节保留了记法方向的判据。代价是证据等级降为间接。 须记录的漏检：Hussain 与 Park（2023, IJHCI）专题研究「透明度水平 × 真实背景」，与本参数直接相关却不在本库 102 篇内。</a:t>
            </a:r>
          </a:p>
        </p:txBody>
      </p:sp>
      <p:sp>
        <p:nvSpPr>
          <p:cNvPr id="8" name="Rectangle 7"/>
          <p:cNvSpPr/>
          <p:nvPr/>
        </p:nvSpPr>
        <p:spPr>
          <a:xfrm>
            <a:off x="8242300" y="939800"/>
            <a:ext cx="7429500" cy="1544129"/>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45500" y="939800"/>
            <a:ext cx="7048500" cy="1467929"/>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方法学评述：四项系统性报告缺失</a:t>
            </a:r>
          </a:p>
          <a:p>
            <a:pPr>
              <a:lnSpc>
                <a:spcPct val="180000"/>
              </a:lnSpc>
              <a:spcAft>
                <a:spcPts val="500"/>
              </a:spcAft>
            </a:pPr>
            <a:r>
              <a:rPr sz="1400" b="0">
                <a:solidFill>
                  <a:srgbClr val="1A1A1A"/>
                </a:solidFill>
                <a:latin typeface="微软雅黑"/>
              </a:rPr>
              <a:t>其他方法学局限：实车研究仅约 8% 且多在低速可控场景；N &lt; 20 的研究约占 25%（零结果须区分「效力不足」与「真无差异」）；覆盖 65 岁以上者仅 2 项；真正做梯度对照的只有 2 项，且其中一项两自变量共变。</a:t>
            </a:r>
          </a:p>
          <a:p>
            <a:pPr>
              <a:lnSpc>
                <a:spcPct val="180000"/>
              </a:lnSpc>
              <a:spcAft>
                <a:spcPts val="500"/>
              </a:spcAft>
            </a:pPr>
            <a:r>
              <a:rPr sz="1400" b="0">
                <a:solidFill>
                  <a:srgbClr val="1A1A1A"/>
                </a:solidFill>
                <a:latin typeface="微软雅黑"/>
              </a:rPr>
              <a:t>缺失项报告率后果 颜色 RGB／HEX／CIE约 25%制约跨研究比较与工程复现 不透明度记法方向四篇均未明确→ 冲突六 闪烁频率与占空比极少同时报告→ 冲突七；无法判断哪个是有效变量 系统侧延迟接近 0全部时间参数都无法迁移到实车（实车可达 1.47 s） 本研究的六项报告承诺：RGB/HEX 值 · 不透明度记法方向 · 闪烁周期与占空比 · 以角分为单位的线宽 · Michelson 对比度 · 实测系统渲染延迟。这不是形式要求，而是让参数能被后续研究复现与比较的必要条件。</a:t>
            </a:r>
          </a:p>
        </p:txBody>
      </p:sp>
      <p:sp>
        <p:nvSpPr>
          <p:cNvPr id="10" name="TextBox 9"/>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29 / 37</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文献综述　研究空白：九项</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135100" y="203200"/>
            <a:ext cx="15367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2.5.1</a:t>
            </a:r>
          </a:p>
        </p:txBody>
      </p:sp>
      <p:graphicFrame>
        <p:nvGraphicFramePr>
          <p:cNvPr id="6" name="Table 5"/>
          <p:cNvGraphicFramePr>
            <a:graphicFrameLocks noGrp="1"/>
          </p:cNvGraphicFramePr>
          <p:nvPr/>
        </p:nvGraphicFramePr>
        <p:xfrm>
          <a:off x="584200" y="939800"/>
          <a:ext cx="15087600" cy="5080000"/>
        </p:xfrm>
        <a:graphic>
          <a:graphicData uri="http://schemas.openxmlformats.org/drawingml/2006/table">
            <a:tbl>
              <a:tblPr firstRow="1" bandRow="1">
                <a:tableStyleId>{5C22544A-7EE6-4342-B048-85BDC9FD1C3A}</a:tableStyleId>
              </a:tblPr>
              <a:tblGrid>
                <a:gridCol w="3771900"/>
                <a:gridCol w="3771900"/>
                <a:gridCol w="3771900"/>
                <a:gridCol w="3771900"/>
              </a:tblGrid>
              <a:tr h="508000">
                <a:tc>
                  <a:txBody>
                    <a:bodyPr wrap="square" lIns="76200" rIns="76200" tIns="38100" bIns="38100"/>
                    <a:lstStyle/>
                    <a:p>
                      <a:pPr>
                        <a:lnSpc>
                          <a:spcPct val="115000"/>
                        </a:lnSpc>
                      </a:pPr>
                      <a:r>
                        <a:rPr sz="1250" b="1">
                          <a:solidFill>
                            <a:srgbClr val="FFFFFF"/>
                          </a:solidFill>
                          <a:latin typeface="微软雅黑"/>
                        </a:rPr>
                        <a:t>编号</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研究空白</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现有证据状态</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优先级</a:t>
                      </a:r>
                    </a:p>
                  </a:txBody>
                  <a:tcPr>
                    <a:solidFill>
                      <a:srgbClr val="4472C4"/>
                    </a:solidFill>
                  </a:tcPr>
                </a:tc>
              </a:tr>
              <a:tr h="508000">
                <a:tc>
                  <a:txBody>
                    <a:bodyPr wrap="square" lIns="76200" rIns="76200" tIns="38100" bIns="38100"/>
                    <a:lstStyle/>
                    <a:p>
                      <a:pPr>
                        <a:lnSpc>
                          <a:spcPct val="115000"/>
                        </a:lnSpc>
                      </a:pPr>
                      <a:r>
                        <a:rPr sz="1200" b="0">
                          <a:solidFill>
                            <a:srgbClr val="1A1A1A"/>
                          </a:solidFill>
                          <a:latin typeface="微软雅黑"/>
                        </a:rPr>
                        <a:t>G1</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自发察觉时刻 t0 从未被作为基准量测量。全部研究把预警设在绝对 TTC 上，隐含假设驾驶员在预警前对行人一无所知；但 Winkler 等（2018）观测到 50% 被试预警前已制动、Phan 等（2016）观测到 t0 ≈ 3 s、Abe 与 Richardson（2006）测得自主松油门基线 0.72 s——三者共同否证了这一假设</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零篇 AR-HUD 研究测量该量</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最高</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G2</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触发准则类型从未被作为自变量。Takada 等（2014）等虽提出减速度归一化，但从未与固定阈值做人因对照</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算法侧四篇一致，人因侧零对照</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最高</a:t>
                      </a:r>
                    </a:p>
                  </a:txBody>
                  <a:tcPr>
                    <a:solidFill>
                      <a:srgbClr val="FAFBFD"/>
                    </a:solidFill>
                  </a:tcPr>
                </a:tc>
              </a:tr>
              <a:tr h="508000">
                <a:tc>
                  <a:txBody>
                    <a:bodyPr wrap="square" lIns="76200" rIns="76200" tIns="38100" bIns="38100"/>
                    <a:lstStyle/>
                    <a:p>
                      <a:pPr>
                        <a:lnSpc>
                          <a:spcPct val="115000"/>
                        </a:lnSpc>
                      </a:pPr>
                      <a:r>
                        <a:rPr sz="1200" b="0">
                          <a:solidFill>
                            <a:srgbClr val="1A1A1A"/>
                          </a:solidFill>
                          <a:latin typeface="微软雅黑"/>
                        </a:rPr>
                        <a:t>G3</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持续时长的对照实验完全缺失；撤销策略仅 2 : 1 滞环一条规则；渐隐时长无任何文献支撑</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报告率 &lt; 15%，零对照</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高</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G4</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级间间隔无任何直接对照实验。0.5–2.0 s 区间来自产业时序共同界定，非人因研究</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四条产业时序，零人因对照</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高</a:t>
                      </a:r>
                    </a:p>
                  </a:txBody>
                  <a:tcPr>
                    <a:solidFill>
                      <a:srgbClr val="FAFBFD"/>
                    </a:solidFill>
                  </a:tcPr>
                </a:tc>
              </a:tr>
              <a:tr h="508000">
                <a:tc>
                  <a:txBody>
                    <a:bodyPr wrap="square" lIns="76200" rIns="76200" tIns="38100" bIns="38100"/>
                    <a:lstStyle/>
                    <a:p>
                      <a:pPr>
                        <a:lnSpc>
                          <a:spcPct val="115000"/>
                        </a:lnSpc>
                      </a:pPr>
                      <a:r>
                        <a:rPr sz="1200" b="0">
                          <a:solidFill>
                            <a:srgbClr val="1A1A1A"/>
                          </a:solidFill>
                          <a:latin typeface="微软雅黑"/>
                        </a:rPr>
                        <a:t>G5</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系统可靠性与预警时机的交互从未被分离。Large 等（2019）两者共变，Schall 等与 Abe 与 Richardson 各测一侧</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两侧各有证据，交互零证据</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高</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G6</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BD/BR/BW/BW+BR 的正交对照至今无一实现。Wu 等（2024）做了三方对照但未含复合条件，也未操纵背景复杂度</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三方对照一项</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高</a:t>
                      </a:r>
                    </a:p>
                  </a:txBody>
                  <a:tcPr>
                    <a:solidFill>
                      <a:srgbClr val="FAFBFD"/>
                    </a:solidFill>
                  </a:tcPr>
                </a:tc>
              </a:tr>
              <a:tr h="508000">
                <a:tc>
                  <a:txBody>
                    <a:bodyPr wrap="square" lIns="76200" rIns="76200" tIns="38100" bIns="38100"/>
                    <a:lstStyle/>
                    <a:p>
                      <a:pPr>
                        <a:lnSpc>
                          <a:spcPct val="115000"/>
                        </a:lnSpc>
                      </a:pPr>
                      <a:r>
                        <a:rPr sz="1200" b="0">
                          <a:solidFill>
                            <a:srgbClr val="1A1A1A"/>
                          </a:solidFill>
                          <a:latin typeface="微软雅黑"/>
                        </a:rPr>
                        <a:t>G7</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风险演化动态未被分解为量级映射与趋势映射两个正交维度。既有研究把「动态」作整体处理（动 vs 不动），无法分辨是「随风险缩放」还是「显示运动趋势」起作用</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零篇做过 2 × 2 分解</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高</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G8</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不透明度记法冲突未裁定，直接影响实验条件的视觉参数取值</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四篇相差 3 倍且方向未知</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中</a:t>
                      </a:r>
                    </a:p>
                  </a:txBody>
                  <a:tcPr>
                    <a:solidFill>
                      <a:srgbClr val="FAFBFD"/>
                    </a:solidFill>
                  </a:tcPr>
                </a:tc>
              </a:tr>
              <a:tr h="508000">
                <a:tc>
                  <a:txBody>
                    <a:bodyPr wrap="square" lIns="76200" rIns="76200" tIns="38100" bIns="38100"/>
                    <a:lstStyle/>
                    <a:p>
                      <a:pPr>
                        <a:lnSpc>
                          <a:spcPct val="115000"/>
                        </a:lnSpc>
                      </a:pPr>
                      <a:r>
                        <a:rPr sz="1200" b="0">
                          <a:solidFill>
                            <a:srgbClr val="1A1A1A"/>
                          </a:solidFill>
                          <a:latin typeface="微软雅黑"/>
                        </a:rPr>
                        <a:t>G9</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系统侧延迟几乎无人报告</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报告率 ≈ 0</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中</a:t>
                      </a:r>
                    </a:p>
                  </a:txBody>
                  <a:tcPr>
                    <a:solidFill>
                      <a:srgbClr val="FFFFFF"/>
                    </a:solidFill>
                  </a:tcPr>
                </a:tc>
              </a:tr>
            </a:tbl>
          </a:graphicData>
        </a:graphic>
      </p:graphicFrame>
      <p:sp>
        <p:nvSpPr>
          <p:cNvPr id="7" name="Rectangle 6"/>
          <p:cNvSpPr/>
          <p:nvPr/>
        </p:nvSpPr>
        <p:spPr>
          <a:xfrm>
            <a:off x="584200" y="6172200"/>
            <a:ext cx="15087600" cy="656336"/>
          </a:xfrm>
          <a:prstGeom prst="rect">
            <a:avLst/>
          </a:prstGeom>
          <a:solidFill>
            <a:srgbClr val="FFF8E5"/>
          </a:solidFill>
          <a:ln w="17780">
            <a:solidFill>
              <a:srgbClr val="E0A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84200" y="6172200"/>
            <a:ext cx="63500" cy="656336"/>
          </a:xfrm>
          <a:prstGeom prst="rect">
            <a:avLst/>
          </a:prstGeom>
          <a:solidFill>
            <a:srgbClr val="E0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7400" y="6172200"/>
            <a:ext cx="14757400" cy="58013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&gt;另有三项本研究不打算填补但须声明的空白：① 长期使用与习惯化——全部 102 篇均为短期单次实验（典型 &lt; 1 小时）；② 动效频率的二维网格——建议后续做频率（0.5/2/4 Hz）× 占空比（25/50/75%），优先检验占空比主效应是否强于频率；③ 传感 FOV 下界与显示策略的耦合——两者从未联合考虑。</a:t>
            </a:r>
          </a:p>
        </p:txBody>
      </p:sp>
      <p:sp>
        <p:nvSpPr>
          <p:cNvPr id="10" name="TextBox 9"/>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30 / 37</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文献综述　问题提出：三个递进的研究问题及其变量结构</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135100" y="203200"/>
            <a:ext cx="15367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2.5.2</a:t>
            </a:r>
          </a:p>
        </p:txBody>
      </p:sp>
      <p:sp>
        <p:nvSpPr>
          <p:cNvPr id="6" name="Rectangle 5"/>
          <p:cNvSpPr/>
          <p:nvPr/>
        </p:nvSpPr>
        <p:spPr>
          <a:xfrm>
            <a:off x="584200" y="939800"/>
            <a:ext cx="15087600" cy="1423225"/>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7400" y="939800"/>
            <a:ext cx="14706600" cy="1347025"/>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RQ1 参数化基准：无预警辅助条件下驾驶员自发风险察觉的时间特征</a:t>
            </a:r>
          </a:p>
          <a:p>
            <a:pPr>
              <a:lnSpc>
                <a:spcPct val="180000"/>
              </a:lnSpc>
              <a:spcAft>
                <a:spcPts val="500"/>
              </a:spcAft>
            </a:pPr>
            <a:r>
              <a:rPr sz="1400" b="0">
                <a:solidFill>
                  <a:srgbClr val="1A1A1A"/>
                </a:solidFill>
                <a:latin typeface="微软雅黑"/>
              </a:rPr>
              <a:t>在无预警辅助的基线条件下，驾驶员对横穿行人的自发察觉时刻（t0）与感知反应时（PRT）的分布特征如何？二者如何受行车速度与视线遮挡两项情境因素的调节？该问题构成后续全部参数标定的前提——若 t0 未经实测，实验 2 的自变量只能表达为绝对碰撞时间，而后者在不同行车速度下对应不同的信息增益，此即既有文献结论方向不一致的方法学根源。</a:t>
            </a:r>
          </a:p>
          <a:p>
            <a:pPr>
              <a:lnSpc>
                <a:spcPct val="180000"/>
              </a:lnSpc>
              <a:spcAft>
                <a:spcPts val="500"/>
              </a:spcAft>
            </a:pPr>
            <a:r>
              <a:rPr sz="1400" b="0">
                <a:solidFill>
                  <a:srgbClr val="1A1A1A"/>
                </a:solidFill>
                <a:latin typeface="微软雅黑"/>
              </a:rPr>
              <a:t>操作化指标：(a) t0 的中位数、第 5 与第 95 百分位、被试内标准差；(b) t0 对速度与遮挡的主效应与交互；(c) PRT 的分位数分布及其成分分解；(d) 实际采用的减速度范围与制动威胁数可用阈值区间。 理论校验值：60 km/h 无遮挡条件下 t0 中位数的预期区间为 3.0–3.5 s（光学膨胀率理论推算 3.2 s，与 Phan 等实测约 3 s 收敛）；若实测值大幅偏离，应先检验模拟器视觉保真度而非直接采信。</a:t>
            </a:r>
          </a:p>
          <a:p>
            <a:pPr>
              <a:lnSpc>
                <a:spcPct val="180000"/>
              </a:lnSpc>
              <a:spcAft>
                <a:spcPts val="500"/>
              </a:spcAft>
            </a:pPr>
            <a:r>
              <a:rPr sz="1400" b="0">
                <a:solidFill>
                  <a:srgbClr val="1A1A1A"/>
                </a:solidFill>
                <a:latin typeface="微软雅黑"/>
              </a:rPr>
              <a:t>&gt;</a:t>
            </a:r>
          </a:p>
        </p:txBody>
      </p:sp>
      <p:sp>
        <p:nvSpPr>
          <p:cNvPr id="8" name="Rectangle 7"/>
          <p:cNvSpPr/>
          <p:nvPr/>
        </p:nvSpPr>
        <p:spPr>
          <a:xfrm>
            <a:off x="584200" y="2439225"/>
            <a:ext cx="15087600" cy="1224089"/>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7400" y="2439225"/>
            <a:ext cx="14706600" cy="1147889"/>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RQ2 时间参数：预警时序变量对四类因变量的影响机制与适宜区间</a:t>
            </a:r>
          </a:p>
          <a:p>
            <a:pPr>
              <a:lnSpc>
                <a:spcPct val="180000"/>
              </a:lnSpc>
              <a:spcAft>
                <a:spcPts val="500"/>
              </a:spcAft>
            </a:pPr>
            <a:r>
              <a:rPr sz="1400" b="0">
                <a:solidFill>
                  <a:srgbClr val="1A1A1A"/>
                </a:solidFill>
                <a:latin typeface="微软雅黑"/>
              </a:rPr>
              <a:t>时间参数如何影响驾驶员的安全绩效、认知负荷、情境意识与用户体验？各参数的适宜取值区间为何？(a) 相对提前量 Δt 与触发准则类型——Δt 的适宜区间为何？准则采用固定时间阈值抑或减速度归一化量？是否与行车速度交互？→ 对应空白 G1、G2(b) 持续与撤销策略——固定时长、状态维持与风险耦合衰减三者的优劣序为何？撤销规则是否需引入滞环？→ G3(c) 分层升级规则与系统可靠性——级间间隔的适宜取值为何？可靠性下降时分层结构的优势是否衰减？虚警发生于预告级与确认级时代价是否等同？→ G4、G5</a:t>
            </a:r>
          </a:p>
          <a:p>
            <a:pPr>
              <a:lnSpc>
                <a:spcPct val="180000"/>
              </a:lnSpc>
              <a:spcAft>
                <a:spcPts val="500"/>
              </a:spcAft>
            </a:pPr>
            <a:r>
              <a:rPr sz="1400" b="0">
                <a:solidFill>
                  <a:srgbClr val="1A1A1A"/>
                </a:solidFill>
                <a:latin typeface="微软雅黑"/>
              </a:rPr>
              <a:t>style="margin-top:2px"&gt;</a:t>
            </a:r>
          </a:p>
        </p:txBody>
      </p:sp>
      <p:sp>
        <p:nvSpPr>
          <p:cNvPr id="10" name="Rectangle 9"/>
          <p:cNvSpPr/>
          <p:nvPr/>
        </p:nvSpPr>
        <p:spPr>
          <a:xfrm>
            <a:off x="584200" y="3739515"/>
            <a:ext cx="15087600" cy="1224089"/>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7400" y="3739515"/>
            <a:ext cx="14706600" cy="1147889"/>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RQ3 空间参数：空间参照系与风险动态映射的作用路径</a:t>
            </a:r>
          </a:p>
          <a:p>
            <a:pPr>
              <a:lnSpc>
                <a:spcPct val="180000"/>
              </a:lnSpc>
              <a:spcAft>
                <a:spcPts val="500"/>
              </a:spcAft>
            </a:pPr>
            <a:r>
              <a:rPr sz="1400" b="0">
                <a:solidFill>
                  <a:srgbClr val="1A1A1A"/>
                </a:solidFill>
                <a:latin typeface="微软雅黑"/>
              </a:rPr>
              <a:t>空间参照系与风险动态映射如何影响危险定位效率、注意资源分配与情境意识各阶段的达成？(a) 空间参照系与锁定策略——屏幕固定、道路锁定、跟随目标锁定与复合四水平的优劣序为何？该序是否随背景视觉复杂度与次任务负荷改变？图形指向危险侧抑或逃逸侧？→ 对应空白 G6(b) 风险演化的空间编码——将「动态」分解为风险量级空间映射（几何是否随制动威胁数缩放）与运动趋势空间映射（是否呈现预测轨迹与冲突点）两个正交维度后，各维度的作用路径为何？二者是否存在协同效应？→ G7</a:t>
            </a:r>
          </a:p>
          <a:p>
            <a:pPr>
              <a:lnSpc>
                <a:spcPct val="180000"/>
              </a:lnSpc>
              <a:spcAft>
                <a:spcPts val="500"/>
              </a:spcAft>
            </a:pPr>
            <a:r>
              <a:rPr sz="1400" b="0">
                <a:solidFill>
                  <a:srgbClr val="1A1A1A"/>
                </a:solidFill>
                <a:latin typeface="微软雅黑"/>
              </a:rPr>
              <a:t>style="margin-top:2px"&gt;</a:t>
            </a:r>
          </a:p>
        </p:txBody>
      </p:sp>
      <p:sp>
        <p:nvSpPr>
          <p:cNvPr id="12" name="TextBox 11"/>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31 / 37</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文献综述　研究目标：总目标、四项分目标与四类因变量构念</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135100" y="203200"/>
            <a:ext cx="15367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2.5.2</a:t>
            </a:r>
          </a:p>
        </p:txBody>
      </p:sp>
      <p:sp>
        <p:nvSpPr>
          <p:cNvPr id="6" name="Rectangle 5"/>
          <p:cNvSpPr/>
          <p:nvPr/>
        </p:nvSpPr>
        <p:spPr>
          <a:xfrm>
            <a:off x="584200" y="939800"/>
            <a:ext cx="15087600" cy="656336"/>
          </a:xfrm>
          <a:prstGeom prst="rect">
            <a:avLst/>
          </a:prstGeom>
          <a:solidFill>
            <a:srgbClr val="D9E2F3"/>
          </a:solidFill>
          <a:ln w="1778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4200" y="939800"/>
            <a:ext cx="63500" cy="656336"/>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7400" y="939800"/>
            <a:ext cx="14757400" cy="58013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&gt;总目标：以驾驶员情境意识模型与注意加工阶段理论为理论基础，探索情境特异的 AR-HUD 行人碰撞预警时空参数与驾驶员安全绩效、认知负荷、情境意识及用户体验之间的关系，建立以自发察觉时刻为零点的参数化基准，输出兼顾安全阈限与用户心理需求的 AR-HUD 行人预警时空参数设计标准。</a:t>
            </a:r>
          </a:p>
        </p:txBody>
      </p:sp>
      <p:sp>
        <p:nvSpPr>
          <p:cNvPr id="9" name="Rectangle 8"/>
          <p:cNvSpPr/>
          <p:nvPr/>
        </p:nvSpPr>
        <p:spPr>
          <a:xfrm>
            <a:off x="584200" y="1672336"/>
            <a:ext cx="7429500" cy="2064829"/>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7400" y="1672336"/>
            <a:ext cx="7048500" cy="1988629"/>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四项分目标（与 RQ 一一对应，逐层收敛）</a:t>
            </a:r>
          </a:p>
          <a:p>
            <a:pPr marL="5334" indent="-4572">
              <a:lnSpc>
                <a:spcPct val="182000"/>
              </a:lnSpc>
              <a:spcAft>
                <a:spcPts val="500"/>
              </a:spcAft>
            </a:pPr>
            <a:r>
              <a:rPr sz="1350" b="0">
                <a:solidFill>
                  <a:srgbClr val="1A1A1A"/>
                </a:solidFill>
                <a:latin typeface="微软雅黑"/>
              </a:rPr>
              <a:t>•  O1 基准标定。探索无预警辅助条件下驾驶员自发风险察觉的时间特征及其情境调节，输出以自发察觉时刻为零点的参数化基准、感知反应时分位数分布与运动学下界。→ RQ1｜§2.1.6 三重约束模型的零点</a:t>
            </a:r>
          </a:p>
          <a:p>
            <a:pPr marL="5334" indent="-4572">
              <a:lnSpc>
                <a:spcPct val="182000"/>
              </a:lnSpc>
              <a:spcAft>
                <a:spcPts val="500"/>
              </a:spcAft>
            </a:pPr>
            <a:r>
              <a:rPr sz="1350" b="0">
                <a:solidFill>
                  <a:srgbClr val="1A1A1A"/>
                </a:solidFill>
                <a:latin typeface="微软雅黑"/>
              </a:rPr>
              <a:t>•  O2 时间参数标定。探索相对提前量、触发准则类型、持续与撤销策略、分层级间间隔与系统可靠性对四类因变量的影响机制与作用边界，输出各时间参数的适宜取值区间及其运动学表达式。→ RQ2｜填补 G1–G5</a:t>
            </a:r>
          </a:p>
          <a:p>
            <a:pPr marL="5334" indent="-4572">
              <a:lnSpc>
                <a:spcPct val="182000"/>
              </a:lnSpc>
              <a:spcAft>
                <a:spcPts val="500"/>
              </a:spcAft>
            </a:pPr>
            <a:r>
              <a:rPr sz="1350" b="0">
                <a:solidFill>
                  <a:srgbClr val="1A1A1A"/>
                </a:solidFill>
                <a:latin typeface="微软雅黑"/>
              </a:rPr>
              <a:t>•  O3 空间参数标定。探索空间参照系与风险动态映射对危险定位效率、注意资源分配及情境意识三阶段的作用路径，输出锁定策略推荐序与动态编码规则，分离位置增益与共形增益，并判定推荐序可否跨负荷迁移。→ RQ3｜填补 G6–G7</a:t>
            </a:r>
          </a:p>
          <a:p>
            <a:pPr marL="5334" indent="-4572">
              <a:lnSpc>
                <a:spcPct val="182000"/>
              </a:lnSpc>
              <a:spcAft>
                <a:spcPts val="500"/>
              </a:spcAft>
            </a:pPr>
            <a:r>
              <a:rPr sz="1350" b="0">
                <a:solidFill>
                  <a:srgbClr val="1A1A1A"/>
                </a:solidFill>
                <a:latin typeface="微软雅黑"/>
              </a:rPr>
              <a:t>•  O4 关系模型与标准整合。建立「时空参数 → 情境意识 → 安全绩效与用户体验」的关系模型，输出可跨行车速度迁移、与量产显示视场及自动紧急制动时序对齐的设计标准，并明确适用边界。→ §2.4 七组冲突的处置结果并入本目标</a:t>
            </a:r>
          </a:p>
        </p:txBody>
      </p:sp>
      <p:sp>
        <p:nvSpPr>
          <p:cNvPr id="11" name="Rectangle 10"/>
          <p:cNvSpPr/>
          <p:nvPr/>
        </p:nvSpPr>
        <p:spPr>
          <a:xfrm>
            <a:off x="8242300" y="1672336"/>
            <a:ext cx="7429500" cy="1544129"/>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45500" y="1672336"/>
            <a:ext cx="7048500" cy="1467929"/>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四类因变量构念及其操作化</a:t>
            </a:r>
          </a:p>
          <a:p>
            <a:pPr>
              <a:lnSpc>
                <a:spcPct val="180000"/>
              </a:lnSpc>
              <a:spcAft>
                <a:spcPts val="500"/>
              </a:spcAft>
            </a:pPr>
            <a:r>
              <a:rPr sz="1400" b="0">
                <a:solidFill>
                  <a:srgbClr val="1A1A1A"/>
                </a:solidFill>
                <a:latin typeface="微软雅黑"/>
              </a:rPr>
              <a:t>情境意识不并入认知负荷的理由：§2.3.10 与 §2.3.11 的证据显示二者可解离——存在主观负荷下降而危险漏检率上升的条件（注意隧道与无意视盲）。合并计量将掩盖该权衡，故漏检率提升为与安全绩效并列的主要因变量，且眼动指标一律按区间判定而非单调假设解释。</a:t>
            </a:r>
          </a:p>
          <a:p>
            <a:pPr>
              <a:lnSpc>
                <a:spcPct val="180000"/>
              </a:lnSpc>
              <a:spcAft>
                <a:spcPts val="500"/>
              </a:spcAft>
            </a:pPr>
            <a:r>
              <a:rPr sz="1400" b="0">
                <a:solidFill>
                  <a:srgbClr val="1A1A1A"/>
                </a:solidFill>
                <a:latin typeface="微软雅黑"/>
              </a:rPr>
              <a:t>构念测量指标 安全绩效最小碰撞余量距离、碰撞发生率、峰值减速度、制动反应时、方向盘抖动率 认知负荷NASA-TLX 加权总分、瞳孔直径变化率、注视转移熵、次任务绩效衰减 情境意识冻结探测法按感知／理解／预测三阶段分别计分；危险漏检率（并列主要因变量）、首次注视时间、预期性注视比例 用户体验信任量表、可接受度、扰烦度评分、主观偏好序、晕动与不适自评</a:t>
            </a:r>
          </a:p>
        </p:txBody>
      </p:sp>
      <p:sp>
        <p:nvSpPr>
          <p:cNvPr id="13" name="Rectangle 12"/>
          <p:cNvSpPr/>
          <p:nvPr/>
        </p:nvSpPr>
        <p:spPr>
          <a:xfrm>
            <a:off x="584200" y="3813365"/>
            <a:ext cx="15087600" cy="816356"/>
          </a:xfrm>
          <a:prstGeom prst="rect">
            <a:avLst/>
          </a:prstGeom>
          <a:solidFill>
            <a:srgbClr val="FFF8E5"/>
          </a:solidFill>
          <a:ln w="17780">
            <a:solidFill>
              <a:srgbClr val="E0A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84200" y="3813365"/>
            <a:ext cx="63500" cy="816356"/>
          </a:xfrm>
          <a:prstGeom prst="rect">
            <a:avLst/>
          </a:prstGeom>
          <a:solidFill>
            <a:srgbClr val="E0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7400" y="3813365"/>
            <a:ext cx="14757400" cy="74015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style="flex:0 0 auto"&gt;目标间的依赖关系：O1 的产出（t0 分布、感知反应时分位数、实测舒适减速度、方差成分）构成 O2 的自变量换算基准与样本量估计输入；O2 的入选时间参数组合构成 O3 的固定条件；O4 以 O1–O3 的实测参数为输入，不引入新的实验操纵。四项目标的输出物均以运动学量而非固定秒数表达，以保证跨行车速度与跨车型的可迁移性——此即 §2.4.10 方法学评述所指出的、既有研究结论不可累积的直接对策。</a:t>
            </a:r>
          </a:p>
        </p:txBody>
      </p:sp>
      <p:sp>
        <p:nvSpPr>
          <p:cNvPr id="16" name="TextBox 15"/>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32 / 37</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文献综述　研究假设：理论导出 vs 文献归纳</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135100" y="203200"/>
            <a:ext cx="15367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2.5.3</a:t>
            </a:r>
          </a:p>
        </p:txBody>
      </p:sp>
      <p:sp>
        <p:nvSpPr>
          <p:cNvPr id="6" name="Rectangle 5"/>
          <p:cNvSpPr/>
          <p:nvPr/>
        </p:nvSpPr>
        <p:spPr>
          <a:xfrm>
            <a:off x="584200" y="939800"/>
            <a:ext cx="15087600" cy="656336"/>
          </a:xfrm>
          <a:prstGeom prst="rect">
            <a:avLst/>
          </a:prstGeom>
          <a:solidFill>
            <a:srgbClr val="D9E2F3"/>
          </a:solidFill>
          <a:ln w="1778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4200" y="939800"/>
            <a:ext cx="63500" cy="656336"/>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7400" y="939800"/>
            <a:ext cx="14757400" cy="58013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&gt;两组假设分列的目的：使讨论章能够区分「理论被证伪」与「参数未达显著」两种不同情形。</a:t>
            </a:r>
          </a:p>
        </p:txBody>
      </p:sp>
      <p:sp>
        <p:nvSpPr>
          <p:cNvPr id="9" name="Rectangle 8"/>
          <p:cNvSpPr/>
          <p:nvPr/>
        </p:nvSpPr>
        <p:spPr>
          <a:xfrm>
            <a:off x="584200" y="1672336"/>
            <a:ext cx="7429500" cy="1505013"/>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7400" y="1672336"/>
            <a:ext cx="7048500" cy="1428813"/>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H1–H4：由理论导出的可否证预测</a:t>
            </a:r>
          </a:p>
          <a:p>
            <a:pPr>
              <a:lnSpc>
                <a:spcPct val="180000"/>
              </a:lnSpc>
              <a:spcAft>
                <a:spcPts val="500"/>
              </a:spcAft>
            </a:pPr>
            <a:r>
              <a:rPr sz="1400" b="0">
                <a:solidFill>
                  <a:srgbClr val="1A1A1A"/>
                </a:solidFill>
                <a:latin typeface="微软雅黑"/>
              </a:rPr>
              <a:t>编号内容与「若被推翻意味着」 H1存在最小有效提前量 Δtmin ≈ 0.9–1.2 s；Δt &lt; 0.9 s 时峰值减速度与 jerk 显著上升但碰撞率不降。 → 被推翻意味着本研究对阶段耗时的估计方式被推翻（而非 SPIDER 框架本身） H2Δt = +2.5 s 相比 +1.0 s 反应时无显著增益，但主观负荷与侵入性更差（收益递减 + 代价递增）。 → 若被推翻，则「提前量与绩效单调正相关」成立，上界须重估 H3BTN 归一化触发的跨车速效应一致性显著优于固定时间阈值（即「准则 × 车速」交互显著）。 → 被推翻意味着固定 TTC 阈值已足够，无需引入 BTN H4级间间隔存在倒 U 型峰值且峰值位于 1.0 s；分层增益主要位于 Identifying 与 Deciding 而非 Scanning。 → 被推翻时 1.0 s 的工程依据仍成立，只是失去理论解释</a:t>
            </a:r>
          </a:p>
        </p:txBody>
      </p:sp>
      <p:sp>
        <p:nvSpPr>
          <p:cNvPr id="11" name="Rectangle 10"/>
          <p:cNvSpPr/>
          <p:nvPr/>
        </p:nvSpPr>
        <p:spPr>
          <a:xfrm>
            <a:off x="8242300" y="1672336"/>
            <a:ext cx="7429500" cy="2802318"/>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45500" y="1672336"/>
            <a:ext cx="7048500" cy="2726118"/>
          </a:xfrm>
          <a:prstGeom prst="rect">
            <a:avLst/>
          </a:prstGeom>
          <a:noFill/>
        </p:spPr>
        <p:txBody>
          <a:bodyPr wrap="square" lIns="0" rIns="0" tIns="0" bIns="0">
            <a:spAutoFit/>
          </a:bodyPr>
          <a:lstStyle/>
          <a:p>
            <a:pPr>
              <a:lnSpc>
                <a:spcPct val="175000"/>
              </a:lnSpc>
              <a:spcAft>
                <a:spcPts val="500"/>
              </a:spcAft>
            </a:pPr>
            <a:r>
              <a:rPr sz="1500" b="1">
                <a:solidFill>
                  <a:srgbClr val="2F528F"/>
                </a:solidFill>
                <a:latin typeface="微软雅黑"/>
              </a:rPr>
              <a:t>H5–H14：由文献归纳的方向性假设（摘要）</a:t>
            </a:r>
          </a:p>
          <a:p>
            <a:pPr marL="5334" indent="-4572">
              <a:lnSpc>
                <a:spcPct val="182000"/>
              </a:lnSpc>
              <a:spcAft>
                <a:spcPts val="500"/>
              </a:spcAft>
            </a:pPr>
            <a:r>
              <a:rPr sz="1350" b="0">
                <a:solidFill>
                  <a:srgbClr val="1A1A1A"/>
                </a:solidFill>
                <a:latin typeface="微软雅黑"/>
              </a:rPr>
              <a:t>•  H5 折中窗口存在，其位置由 Δt 而非绝对 TTC 决定</a:t>
            </a:r>
          </a:p>
          <a:p>
            <a:pPr marL="5334" indent="-4572">
              <a:lnSpc>
                <a:spcPct val="182000"/>
              </a:lnSpc>
              <a:spcAft>
                <a:spcPts val="500"/>
              </a:spcAft>
            </a:pPr>
            <a:r>
              <a:rPr sz="1350" b="0">
                <a:solidFill>
                  <a:srgbClr val="1A1A1A"/>
                </a:solidFill>
                <a:latin typeface="微软雅黑"/>
              </a:rPr>
              <a:t>•  H6 状态维持或适中时长降低漏检，过长增加注视吸附</a:t>
            </a:r>
          </a:p>
          <a:p>
            <a:pPr marL="5334" indent="-4572">
              <a:lnSpc>
                <a:spcPct val="182000"/>
              </a:lnSpc>
              <a:spcAft>
                <a:spcPts val="500"/>
              </a:spcAft>
            </a:pPr>
            <a:r>
              <a:rPr sz="1350" b="0">
                <a:solidFill>
                  <a:srgbClr val="1A1A1A"/>
                </a:solidFill>
                <a:latin typeface="微软雅黑"/>
              </a:rPr>
              <a:t>•  H7 风险耦合衰减在漏检率与视觉占用上同时优于固定时长与纯状态维持</a:t>
            </a:r>
          </a:p>
          <a:p>
            <a:pPr marL="5334" indent="-4572">
              <a:lnSpc>
                <a:spcPct val="182000"/>
              </a:lnSpc>
              <a:spcAft>
                <a:spcPts val="500"/>
              </a:spcAft>
            </a:pPr>
            <a:r>
              <a:rPr sz="1350" b="0">
                <a:solidFill>
                  <a:srgbClr val="1A1A1A"/>
                </a:solidFill>
                <a:latin typeface="微软雅黑"/>
              </a:rPr>
              <a:t>•  H8 分层相较最佳单层方案降低急刹与负荷，同时保持安全余量</a:t>
            </a:r>
          </a:p>
          <a:p>
            <a:pPr marL="5334" indent="-4572">
              <a:lnSpc>
                <a:spcPct val="182000"/>
              </a:lnSpc>
              <a:spcAft>
                <a:spcPts val="500"/>
              </a:spcAft>
            </a:pPr>
            <a:r>
              <a:rPr sz="1350" b="0">
                <a:solidFill>
                  <a:srgbClr val="1A1A1A"/>
                </a:solidFill>
                <a:latin typeface="微软雅黑"/>
              </a:rPr>
              <a:t>•  H9 80% 可靠性下分层优势显著衰减、L1 依从率下降；低可靠性时 1.5 s 级间反而更稳健</a:t>
            </a:r>
          </a:p>
          <a:p>
            <a:pPr marL="5334" indent="-4572">
              <a:lnSpc>
                <a:spcPct val="182000"/>
              </a:lnSpc>
              <a:spcAft>
                <a:spcPts val="500"/>
              </a:spcAft>
            </a:pPr>
            <a:r>
              <a:rPr sz="1350" b="0">
                <a:solidFill>
                  <a:srgbClr val="1A1A1A"/>
                </a:solidFill>
                <a:latin typeface="微软雅黑"/>
              </a:rPr>
              <a:t>•  H10 级间间隔存在最优区间，过短来不及理解，过长造成重复</a:t>
            </a:r>
          </a:p>
          <a:p>
            <a:pPr marL="5334" indent="-4572">
              <a:lnSpc>
                <a:spcPct val="182000"/>
              </a:lnSpc>
              <a:spcAft>
                <a:spcPts val="500"/>
              </a:spcAft>
            </a:pPr>
            <a:r>
              <a:rPr sz="1350" b="0">
                <a:solidFill>
                  <a:srgbClr val="1A1A1A"/>
                </a:solidFill>
                <a:latin typeface="微软雅黑"/>
              </a:rPr>
              <a:t>•  H11 BW 定位效率优于 BD/BR；BW+BR 改善情境理解但增加负荷</a:t>
            </a:r>
          </a:p>
          <a:p>
            <a:pPr marL="5334" indent="-4572">
              <a:lnSpc>
                <a:spcPct val="182000"/>
              </a:lnSpc>
              <a:spcAft>
                <a:spcPts val="500"/>
              </a:spcAft>
            </a:pPr>
            <a:r>
              <a:rPr sz="1350" b="0">
                <a:solidFill>
                  <a:srgbClr val="1A1A1A"/>
                </a:solidFill>
                <a:latin typeface="微软雅黑"/>
              </a:rPr>
              <a:t>•  H12 风险量级动态促进紧迫度判断，轨迹动态促进路径预测</a:t>
            </a:r>
          </a:p>
          <a:p>
            <a:pPr marL="5334" indent="-4572">
              <a:lnSpc>
                <a:spcPct val="182000"/>
              </a:lnSpc>
              <a:spcAft>
                <a:spcPts val="500"/>
              </a:spcAft>
            </a:pPr>
            <a:r>
              <a:rPr sz="1350" b="0">
                <a:solidFill>
                  <a:srgbClr val="1A1A1A"/>
                </a:solidFill>
                <a:latin typeface="微软雅黑"/>
              </a:rPr>
              <a:t>•  H13 组合动态只在未显著增加负荷时优于单一动态</a:t>
            </a:r>
          </a:p>
          <a:p>
            <a:pPr marL="5334" indent="-4572">
              <a:lnSpc>
                <a:spcPct val="182000"/>
              </a:lnSpc>
              <a:spcAft>
                <a:spcPts val="500"/>
              </a:spcAft>
            </a:pPr>
            <a:r>
              <a:rPr sz="1350" b="0">
                <a:solidFill>
                  <a:srgbClr val="1A1A1A"/>
                </a:solidFill>
                <a:latin typeface="微软雅黑"/>
              </a:rPr>
              <a:t>•  H14 时间分层与空间动态共同通过缩短目标验证时间（SPIDER 的 I 阶段）改善绩效</a:t>
            </a:r>
          </a:p>
          <a:p>
            <a:pPr>
              <a:lnSpc>
                <a:spcPct val="180000"/>
              </a:lnSpc>
              <a:spcAft>
                <a:spcPts val="500"/>
              </a:spcAft>
            </a:pPr>
            <a:r>
              <a:rPr sz="1400" b="0">
                <a:solidFill>
                  <a:srgbClr val="1A1A1A"/>
                </a:solidFill>
                <a:latin typeface="微软雅黑"/>
              </a:rPr>
              <a:t>全部为待检验假设。H14 属跨实验整合推断，只有在实验 3 与实验 5 的中介阶段指标均提供一致证据时，才可作为机制性结论。</a:t>
            </a:r>
          </a:p>
        </p:txBody>
      </p:sp>
      <p:sp>
        <p:nvSpPr>
          <p:cNvPr id="13" name="TextBox 12"/>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33 / 37</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研究问题　研究框架</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135100" y="203200"/>
            <a:ext cx="15367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2.5.4</a:t>
            </a:r>
          </a:p>
        </p:txBody>
      </p:sp>
      <p:sp>
        <p:nvSpPr>
          <p:cNvPr id="6" name="Rectangle 5"/>
          <p:cNvSpPr/>
          <p:nvPr/>
        </p:nvSpPr>
        <p:spPr>
          <a:xfrm>
            <a:off x="584200" y="939800"/>
            <a:ext cx="15087600" cy="816356"/>
          </a:xfrm>
          <a:prstGeom prst="rect">
            <a:avLst/>
          </a:prstGeom>
          <a:solidFill>
            <a:srgbClr val="FFF8E5"/>
          </a:solidFill>
          <a:ln w="17780">
            <a:solidFill>
              <a:srgbClr val="E0A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4200" y="939800"/>
            <a:ext cx="63500" cy="816356"/>
          </a:xfrm>
          <a:prstGeom prst="rect">
            <a:avLst/>
          </a:prstGeom>
          <a:solidFill>
            <a:srgbClr val="E0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7400" y="939800"/>
            <a:ext cx="14757400" cy="74015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style="flex:0 0 auto"&gt;五个实验的递进逻辑（这也是本研究不是「五个并列小实验」的理由）：实验 1 提供零点与下界（t0 分布 → 实验 2 自变量换算基准；PRTp95 → 可避险区校验；t0 时刻 BTN → 触发阈值校准；acomf 实测 → 全部实验的归一化分母；方差成分 → 样本量估计）→ 实验 2 建立单层时间基线 → 实验 3 升级为分层规则并检验低可靠性稳健性 → 实验 4 固定全部时间参数只比较「锁定在哪里」 → 实验 5 固定时间与空间载体只比较「如何随风险变化」。</a:t>
            </a:r>
          </a:p>
        </p:txBody>
      </p:sp>
      <p:sp>
        <p:nvSpPr>
          <p:cNvPr id="9" name="Rectangle 8"/>
          <p:cNvSpPr/>
          <p:nvPr/>
        </p:nvSpPr>
        <p:spPr>
          <a:xfrm>
            <a:off x="584200" y="1832356"/>
            <a:ext cx="15087600" cy="816356"/>
          </a:xfrm>
          <a:prstGeom prst="rect">
            <a:avLst/>
          </a:prstGeom>
          <a:solidFill>
            <a:srgbClr val="FDF2F2"/>
          </a:solidFill>
          <a:ln w="1778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84200" y="1832356"/>
            <a:ext cx="63500" cy="816356"/>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7400" y="1832356"/>
            <a:ext cx="14757400" cy="74015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style="flex:0 0 auto;margin-top:7px"&gt;由核心理论模型强制导出的一条设计约束：实验 1／2／3 必须共用同一场景族。因为自变量是 Δt = t0 − twarn，而 t0 不是常数——它随车速与遮挡系统变化（遮挡直接改变光学膨胀率越过知觉阈值的时刻）。因此：实验 1 按「车速 40／60 × 遮挡 无／有」四个单元分别标定 t0；实验 2 只能在已标定的单元内换算 Δt；实验 3 把车速与遮挡固定在实验 2 入选的水平上，使 t0 成为常量，只让级间间隔与可靠性变化。实验 4／5 已固定全部时间参数，故可另设场景操纵（背景复杂度、风险演化），不受此约束。</a:t>
            </a:r>
          </a:p>
        </p:txBody>
      </p:sp>
      <p:sp>
        <p:nvSpPr>
          <p:cNvPr id="12" name="TextBox 11"/>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34 / 37</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文献综述　「最优设计」的判定原则</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135100" y="203200"/>
            <a:ext cx="15367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2.5.4</a:t>
            </a:r>
          </a:p>
        </p:txBody>
      </p:sp>
      <p:sp>
        <p:nvSpPr>
          <p:cNvPr id="6" name="Rectangle 5"/>
          <p:cNvSpPr/>
          <p:nvPr/>
        </p:nvSpPr>
        <p:spPr>
          <a:xfrm>
            <a:off x="584200" y="939800"/>
            <a:ext cx="15087600" cy="656336"/>
          </a:xfrm>
          <a:prstGeom prst="rect">
            <a:avLst/>
          </a:prstGeom>
          <a:solidFill>
            <a:srgbClr val="D9E2F3"/>
          </a:solidFill>
          <a:ln w="17780">
            <a:solidFill>
              <a:srgbClr val="4472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84200" y="939800"/>
            <a:ext cx="63500" cy="656336"/>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7400" y="939800"/>
            <a:ext cx="14757400" cy="58013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&gt;本研究不评选单一「冠军条件」，而采用约束优先的多指标判定顺序。报告形式为在（安全收益，虚警代价）与（安全收益，认知代价）两个平面上给出各条件的 Pareto 前沿位置。</a:t>
            </a:r>
          </a:p>
        </p:txBody>
      </p:sp>
      <p:graphicFrame>
        <p:nvGraphicFramePr>
          <p:cNvPr id="9" name="Table 8"/>
          <p:cNvGraphicFramePr>
            <a:graphicFrameLocks noGrp="1"/>
          </p:cNvGraphicFramePr>
          <p:nvPr/>
        </p:nvGraphicFramePr>
        <p:xfrm>
          <a:off x="584200" y="1672336"/>
          <a:ext cx="15087600" cy="3048000"/>
        </p:xfrm>
        <a:graphic>
          <a:graphicData uri="http://schemas.openxmlformats.org/drawingml/2006/table">
            <a:tbl>
              <a:tblPr firstRow="1" bandRow="1">
                <a:tableStyleId>{5C22544A-7EE6-4342-B048-85BDC9FD1C3A}</a:tableStyleId>
              </a:tblPr>
              <a:tblGrid>
                <a:gridCol w="5029200"/>
                <a:gridCol w="5029200"/>
                <a:gridCol w="5029200"/>
              </a:tblGrid>
              <a:tr h="508000">
                <a:tc>
                  <a:txBody>
                    <a:bodyPr wrap="square" lIns="76200" rIns="76200" tIns="38100" bIns="38100"/>
                    <a:lstStyle/>
                    <a:p>
                      <a:pPr>
                        <a:lnSpc>
                          <a:spcPct val="115000"/>
                        </a:lnSpc>
                      </a:pPr>
                      <a:r>
                        <a:rPr sz="1250" b="1">
                          <a:solidFill>
                            <a:srgbClr val="FFFFFF"/>
                          </a:solidFill>
                          <a:latin typeface="微软雅黑"/>
                        </a:rPr>
                        <a:t>顺序</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判定</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理由</a:t>
                      </a:r>
                    </a:p>
                  </a:txBody>
                  <a:tcPr>
                    <a:solidFill>
                      <a:srgbClr val="4472C4"/>
                    </a:solidFill>
                  </a:tcPr>
                </a:tc>
              </a:tr>
              <a:tr h="508000">
                <a:tc>
                  <a:txBody>
                    <a:bodyPr wrap="square" lIns="76200" rIns="76200" tIns="38100" bIns="38100"/>
                    <a:lstStyle/>
                    <a:p>
                      <a:pPr>
                        <a:lnSpc>
                          <a:spcPct val="115000"/>
                        </a:lnSpc>
                      </a:pPr>
                      <a:r>
                        <a:rPr sz="1200" b="0">
                          <a:solidFill>
                            <a:srgbClr val="1A1A1A"/>
                          </a:solidFill>
                          <a:latin typeface="微软雅黑"/>
                        </a:rPr>
                        <a:t>1</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首先满足安全约束</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碰撞率不升高、最小 TTMD 不劣于对照（预注册非劣界：组间差值下限 &gt; −0.2 s）</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2</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在安全条件中选制动更平顺者</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峰值减速度与 jerk 较低——避免把「更快但更急刹」误读为更安全</a:t>
                      </a:r>
                    </a:p>
                  </a:txBody>
                  <a:tcPr>
                    <a:solidFill>
                      <a:srgbClr val="FAFBFD"/>
                    </a:solidFill>
                  </a:tcPr>
                </a:tc>
              </a:tr>
              <a:tr h="508000">
                <a:tc>
                  <a:txBody>
                    <a:bodyPr wrap="square" lIns="76200" rIns="76200" tIns="38100" bIns="38100"/>
                    <a:lstStyle/>
                    <a:p>
                      <a:pPr>
                        <a:lnSpc>
                          <a:spcPct val="115000"/>
                        </a:lnSpc>
                      </a:pPr>
                      <a:r>
                        <a:rPr sz="1200" b="0">
                          <a:solidFill>
                            <a:srgbClr val="1A1A1A"/>
                          </a:solidFill>
                          <a:latin typeface="微软雅黑"/>
                        </a:rPr>
                        <a:t>3</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再选认知代价更低者</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注视熵、道路离视比例、主观负荷——避免把「注视更久」误读为「更关注」</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4</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再选在 80% 可靠性下退化更小者</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避免选出一个只在完美系统下成立的方案</a:t>
                      </a:r>
                    </a:p>
                  </a:txBody>
                  <a:tcPr>
                    <a:solidFill>
                      <a:srgbClr val="FAFBFD"/>
                    </a:solidFill>
                  </a:tcPr>
                </a:tc>
              </a:tr>
              <a:tr h="508000">
                <a:tc>
                  <a:txBody>
                    <a:bodyPr wrap="square" lIns="76200" rIns="76200" tIns="38100" bIns="38100"/>
                    <a:lstStyle/>
                    <a:p>
                      <a:pPr>
                        <a:lnSpc>
                          <a:spcPct val="115000"/>
                        </a:lnSpc>
                      </a:pPr>
                      <a:r>
                        <a:rPr sz="1200" b="0">
                          <a:solidFill>
                            <a:srgbClr val="1A1A1A"/>
                          </a:solidFill>
                          <a:latin typeface="微软雅黑"/>
                        </a:rPr>
                        <a:t>5</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仅在上述条件相当时，以反应时与主观偏好作最终依据</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并列时选择更简单、侵入性更低的方案</a:t>
                      </a:r>
                    </a:p>
                  </a:txBody>
                  <a:tcPr>
                    <a:solidFill>
                      <a:srgbClr val="FFFFFF"/>
                    </a:solidFill>
                  </a:tcPr>
                </a:tc>
              </a:tr>
            </a:tbl>
          </a:graphicData>
        </a:graphic>
      </p:graphicFrame>
      <p:sp>
        <p:nvSpPr>
          <p:cNvPr id="10" name="Rectangle 9"/>
          <p:cNvSpPr/>
          <p:nvPr/>
        </p:nvSpPr>
        <p:spPr>
          <a:xfrm>
            <a:off x="584200" y="4872736"/>
            <a:ext cx="15087600" cy="656336"/>
          </a:xfrm>
          <a:prstGeom prst="rect">
            <a:avLst/>
          </a:prstGeom>
          <a:solidFill>
            <a:srgbClr val="FDF2F2"/>
          </a:solidFill>
          <a:ln w="1778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84200" y="4872736"/>
            <a:ext cx="63500" cy="656336"/>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7400" y="4872736"/>
            <a:ext cx="14757400" cy="58013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&gt;这一顺序的必要性由本章的辨析直接支持：若只看反应时，则 Kim 等（2018）的 BRAKE 文本在 Far 条件下会被判为「有效」（驾驶员确实更早制动），而其 +34.46% 的峰值减速度上升会被忽略。同理，若只看主观偏好，则 Wang 等（2025）的红地毯（16/21 偏好）会胜过虚拟墙，而后者的让行成功率才是显著更优的。</a:t>
            </a:r>
          </a:p>
        </p:txBody>
      </p:sp>
      <p:sp>
        <p:nvSpPr>
          <p:cNvPr id="13" name="Rectangle 12"/>
          <p:cNvSpPr/>
          <p:nvPr/>
        </p:nvSpPr>
        <p:spPr>
          <a:xfrm>
            <a:off x="584200" y="5605272"/>
            <a:ext cx="15087600" cy="656336"/>
          </a:xfrm>
          <a:prstGeom prst="rect">
            <a:avLst/>
          </a:prstGeom>
          <a:solidFill>
            <a:srgbClr val="F2F9F2"/>
          </a:solidFill>
          <a:ln w="17780">
            <a:solidFill>
              <a:srgbClr val="3E7D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84200" y="5605272"/>
            <a:ext cx="63500" cy="656336"/>
          </a:xfrm>
          <a:prstGeom prst="rect">
            <a:avLst/>
          </a:prstGeom>
          <a:solidFill>
            <a:srgbClr val="3E7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7400" y="5605272"/>
            <a:ext cx="14757400" cy="58013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&gt;五条由方法学质量导出的设计约束：① 不得沿用文献典型样本量，须由实验 1 的方差成分反推；② 不得把零结果读作无效应，须报告效应量置信区间；③ 必须实测并报告系统渲染延迟；④ 必须完整报告六项视觉参数；⑤ 必须预注册反应时清洗规则（0.2–2.9 s）与注视定义（最小 80 ms、最大离散 100 像素）。</a:t>
            </a:r>
          </a:p>
        </p:txBody>
      </p:sp>
      <p:sp>
        <p:nvSpPr>
          <p:cNvPr id="16" name="TextBox 15"/>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35 / 37</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文献综述　本章小结：七处对既有共识的修正</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516100" y="203200"/>
            <a:ext cx="11557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2.6</a:t>
            </a:r>
          </a:p>
        </p:txBody>
      </p:sp>
      <p:graphicFrame>
        <p:nvGraphicFramePr>
          <p:cNvPr id="6" name="Table 5"/>
          <p:cNvGraphicFramePr>
            <a:graphicFrameLocks noGrp="1"/>
          </p:cNvGraphicFramePr>
          <p:nvPr/>
        </p:nvGraphicFramePr>
        <p:xfrm>
          <a:off x="584200" y="939800"/>
          <a:ext cx="15087600" cy="4064000"/>
        </p:xfrm>
        <a:graphic>
          <a:graphicData uri="http://schemas.openxmlformats.org/drawingml/2006/table">
            <a:tbl>
              <a:tblPr firstRow="1" bandRow="1">
                <a:tableStyleId>{5C22544A-7EE6-4342-B048-85BDC9FD1C3A}</a:tableStyleId>
              </a:tblPr>
              <a:tblGrid>
                <a:gridCol w="5029200"/>
                <a:gridCol w="5029200"/>
                <a:gridCol w="5029200"/>
              </a:tblGrid>
              <a:tr h="508000">
                <a:tc>
                  <a:txBody>
                    <a:bodyPr wrap="square" lIns="76200" rIns="76200" tIns="38100" bIns="38100"/>
                    <a:lstStyle/>
                    <a:p>
                      <a:pPr>
                        <a:lnSpc>
                          <a:spcPct val="115000"/>
                        </a:lnSpc>
                      </a:pPr>
                      <a:r>
                        <a:rPr sz="1250" b="1">
                          <a:solidFill>
                            <a:srgbClr val="FFFFFF"/>
                          </a:solidFill>
                          <a:latin typeface="微软雅黑"/>
                        </a:rPr>
                        <a:t>#</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原表述</a:t>
                      </a:r>
                    </a:p>
                  </a:txBody>
                  <a:tcPr>
                    <a:solidFill>
                      <a:srgbClr val="4472C4"/>
                    </a:solidFill>
                  </a:tcPr>
                </a:tc>
                <a:tc>
                  <a:txBody>
                    <a:bodyPr wrap="square" lIns="76200" rIns="76200" tIns="38100" bIns="38100"/>
                    <a:lstStyle/>
                    <a:p>
                      <a:pPr>
                        <a:lnSpc>
                          <a:spcPct val="115000"/>
                        </a:lnSpc>
                      </a:pPr>
                      <a:r>
                        <a:rPr sz="1250" b="1">
                          <a:solidFill>
                            <a:srgbClr val="FFFFFF"/>
                          </a:solidFill>
                          <a:latin typeface="微软雅黑"/>
                        </a:rPr>
                        <a:t>修正后</a:t>
                      </a:r>
                    </a:p>
                  </a:txBody>
                  <a:tcPr>
                    <a:solidFill>
                      <a:srgbClr val="4472C4"/>
                    </a:solidFill>
                  </a:tcPr>
                </a:tc>
              </a:tr>
              <a:tr h="508000">
                <a:tc>
                  <a:txBody>
                    <a:bodyPr wrap="square" lIns="76200" rIns="76200" tIns="38100" bIns="38100"/>
                    <a:lstStyle/>
                    <a:p>
                      <a:pPr>
                        <a:lnSpc>
                          <a:spcPct val="115000"/>
                        </a:lnSpc>
                      </a:pPr>
                      <a:r>
                        <a:rPr sz="1200" b="0">
                          <a:solidFill>
                            <a:srgbClr val="1A1A1A"/>
                          </a:solidFill>
                          <a:latin typeface="微软雅黑"/>
                        </a:rPr>
                        <a:t>1</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单层预警有效下限 2.5 s</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3.0 s——Zhang 等（2015）的 7 档梯度证据；既有共识中的 2.5 s 均出现在分层体系的提示级位置，不能迁移为单层阈值</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2</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级间间隔取 Lubbe（2017）的 0.7 s</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四源共同界定的区间 0.5–2.0 s，1.0 s 为双源支持的中心值，且级间间隔随紧迫度单调缩短</a:t>
                      </a:r>
                    </a:p>
                  </a:txBody>
                  <a:tcPr>
                    <a:solidFill>
                      <a:srgbClr val="FAFBFD"/>
                    </a:solidFill>
                  </a:tcPr>
                </a:tc>
              </a:tr>
              <a:tr h="508000">
                <a:tc>
                  <a:txBody>
                    <a:bodyPr wrap="square" lIns="76200" rIns="76200" tIns="38100" bIns="38100"/>
                    <a:lstStyle/>
                    <a:p>
                      <a:pPr>
                        <a:lnSpc>
                          <a:spcPct val="115000"/>
                        </a:lnSpc>
                      </a:pPr>
                      <a:r>
                        <a:rPr sz="1200" b="0">
                          <a:solidFill>
                            <a:srgbClr val="1A1A1A"/>
                          </a:solidFill>
                          <a:latin typeface="微软雅黑"/>
                        </a:rPr>
                        <a:t>3</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屏幕固定是空间设计的低效基线</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「位置增益」与「共形增益」必须分离——Lind（2007）的 200 ms 与 1 vs 17 次漏报</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4</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以 TTFF 与反应时为主要指标</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漏检率应提升为并列主要指标——效应量级 17 倍 vs 20%</a:t>
                      </a:r>
                    </a:p>
                  </a:txBody>
                  <a:tcPr>
                    <a:solidFill>
                      <a:srgbClr val="FAFBFD"/>
                    </a:solidFill>
                  </a:tcPr>
                </a:tc>
              </a:tr>
              <a:tr h="508000">
                <a:tc>
                  <a:txBody>
                    <a:bodyPr wrap="square" lIns="76200" rIns="76200" tIns="38100" bIns="38100"/>
                    <a:lstStyle/>
                    <a:p>
                      <a:pPr>
                        <a:lnSpc>
                          <a:spcPct val="115000"/>
                        </a:lnSpc>
                      </a:pPr>
                      <a:r>
                        <a:rPr sz="1200" b="0">
                          <a:solidFill>
                            <a:srgbClr val="1A1A1A"/>
                          </a:solidFill>
                          <a:latin typeface="微软雅黑"/>
                        </a:rPr>
                        <a:t>5</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风险区按固定米数绘制</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按 Rx = Ttc· Vcar 随运动学状态缩放（Suzuki 等, 2010）——与时间侧改用 BTN 同源</a:t>
                      </a:r>
                    </a:p>
                  </a:txBody>
                  <a:tcPr>
                    <a:solidFill>
                      <a:srgbClr val="FFFFFF"/>
                    </a:solidFill>
                  </a:tcPr>
                </a:tc>
              </a:tr>
              <a:tr h="508000">
                <a:tc>
                  <a:txBody>
                    <a:bodyPr wrap="square" lIns="76200" rIns="76200" tIns="38100" bIns="38100"/>
                    <a:lstStyle/>
                    <a:p>
                      <a:pPr>
                        <a:lnSpc>
                          <a:spcPct val="115000"/>
                        </a:lnSpc>
                      </a:pPr>
                      <a:r>
                        <a:rPr sz="1200" b="0">
                          <a:solidFill>
                            <a:srgbClr val="1A1A1A"/>
                          </a:solidFill>
                          <a:latin typeface="微软雅黑"/>
                        </a:rPr>
                        <a:t>6</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眼动指标按单调方向解释</a:t>
                      </a:r>
                    </a:p>
                  </a:txBody>
                  <a:tcPr>
                    <a:solidFill>
                      <a:srgbClr val="FAFBFD"/>
                    </a:solidFill>
                  </a:tcPr>
                </a:tc>
                <a:tc>
                  <a:txBody>
                    <a:bodyPr wrap="square" lIns="76200" rIns="76200" tIns="38100" bIns="38100"/>
                    <a:lstStyle/>
                    <a:p>
                      <a:pPr>
                        <a:lnSpc>
                          <a:spcPct val="115000"/>
                        </a:lnSpc>
                      </a:pPr>
                      <a:r>
                        <a:rPr sz="1200" b="0">
                          <a:solidFill>
                            <a:srgbClr val="1A1A1A"/>
                          </a:solidFill>
                          <a:latin typeface="微软雅黑"/>
                        </a:rPr>
                        <a:t>改为区间判定：TDT 500–2 000 ms、TTFF 100–300 ms（Zhu 等, 2025）</a:t>
                      </a:r>
                    </a:p>
                  </a:txBody>
                  <a:tcPr>
                    <a:solidFill>
                      <a:srgbClr val="FAFBFD"/>
                    </a:solidFill>
                  </a:tcPr>
                </a:tc>
              </a:tr>
              <a:tr h="508000">
                <a:tc>
                  <a:txBody>
                    <a:bodyPr wrap="square" lIns="76200" rIns="76200" tIns="38100" bIns="38100"/>
                    <a:lstStyle/>
                    <a:p>
                      <a:pPr>
                        <a:lnSpc>
                          <a:spcPct val="115000"/>
                        </a:lnSpc>
                      </a:pPr>
                      <a:r>
                        <a:rPr sz="1200" b="0">
                          <a:solidFill>
                            <a:srgbClr val="1A1A1A"/>
                          </a:solidFill>
                          <a:latin typeface="微软雅黑"/>
                        </a:rPr>
                        <a:t>7</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Bliss（2003）元分析给出 30% 信任崩塌门限</a:t>
                      </a:r>
                    </a:p>
                  </a:txBody>
                  <a:tcPr>
                    <a:solidFill>
                      <a:srgbClr val="FFFFFF"/>
                    </a:solidFill>
                  </a:tcPr>
                </a:tc>
                <a:tc>
                  <a:txBody>
                    <a:bodyPr wrap="square" lIns="76200" rIns="76200" tIns="38100" bIns="38100"/>
                    <a:lstStyle/>
                    <a:p>
                      <a:pPr>
                        <a:lnSpc>
                          <a:spcPct val="115000"/>
                        </a:lnSpc>
                      </a:pPr>
                      <a:r>
                        <a:rPr sz="1200" b="0">
                          <a:solidFill>
                            <a:srgbClr val="1A1A1A"/>
                          </a:solidFill>
                          <a:latin typeface="微软雅黑"/>
                        </a:rPr>
                        <a:t>已撤回——该文为航空事故档案分析，非元分析非驾驶研究，且门限在任何原文中均未核实到；改用 Bliss 等（1995）与 Bliss 与 Acton（2003）</a:t>
                      </a:r>
                    </a:p>
                  </a:txBody>
                  <a:tcPr>
                    <a:solidFill>
                      <a:srgbClr val="FFFFFF"/>
                    </a:solidFill>
                  </a:tcPr>
                </a:tc>
              </a:tr>
            </a:tbl>
          </a:graphicData>
        </a:graphic>
      </p:graphicFrame>
      <p:sp>
        <p:nvSpPr>
          <p:cNvPr id="7" name="Rectangle 6"/>
          <p:cNvSpPr/>
          <p:nvPr/>
        </p:nvSpPr>
        <p:spPr>
          <a:xfrm>
            <a:off x="584200" y="5156200"/>
            <a:ext cx="15087600" cy="656336"/>
          </a:xfrm>
          <a:prstGeom prst="rect">
            <a:avLst/>
          </a:prstGeom>
          <a:solidFill>
            <a:srgbClr val="F2F9F2"/>
          </a:solidFill>
          <a:ln w="17780">
            <a:solidFill>
              <a:srgbClr val="3E7D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84200" y="5156200"/>
            <a:ext cx="63500" cy="656336"/>
          </a:xfrm>
          <a:prstGeom prst="rect">
            <a:avLst/>
          </a:prstGeom>
          <a:solidFill>
            <a:srgbClr val="3E7D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7400" y="5156200"/>
            <a:ext cx="14757400" cy="58013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&gt;本章四点核心工作：① 建立可导出参数而非枚举参数的三重约束框架，并明确 SPIDER 的使用边界（只组织阶段与指标，不推导耗时）；② 系统辨析七组主要 + 四组次级冲突，把每一组转化为一个设计维度；③ 对既有共识做出七处实质修正；④ 识别九项研究空白，其中三项此前完全未被识别（G2 触发准则、G7 动态二维分解、映射方向）。</a:t>
            </a:r>
          </a:p>
        </p:txBody>
      </p:sp>
      <p:sp>
        <p:nvSpPr>
          <p:cNvPr id="10" name="Rectangle 9"/>
          <p:cNvSpPr/>
          <p:nvPr/>
        </p:nvSpPr>
        <p:spPr>
          <a:xfrm>
            <a:off x="584200" y="5888736"/>
            <a:ext cx="15087600" cy="656336"/>
          </a:xfrm>
          <a:prstGeom prst="rect">
            <a:avLst/>
          </a:prstGeom>
          <a:solidFill>
            <a:srgbClr val="FDF2F2"/>
          </a:solidFill>
          <a:ln w="1778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84200" y="5888736"/>
            <a:ext cx="63500" cy="656336"/>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7400" y="5888736"/>
            <a:ext cx="14757400" cy="58013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&gt;须声明的五项证据局限：① 25 篇仅有摘要，其数值不作参数锚点；② 危险解除方向零篇人因对照，撤销侧三参数全为推导值，渐隐时长无任何文献支撑；③ 本库无一篇报告系统侧延迟；④ 样本代表性局限（覆盖 65 岁以上者仅 2 项）；⑤ 模拟器外推效度（实车研究仅约 8% 且多在低速可控场景）。</a:t>
            </a:r>
          </a:p>
        </p:txBody>
      </p:sp>
      <p:sp>
        <p:nvSpPr>
          <p:cNvPr id="13" name="TextBox 12"/>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36 / 37</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203200"/>
            <a:ext cx="15087600" cy="558800"/>
          </a:xfrm>
          <a:prstGeom prst="rect">
            <a:avLst/>
          </a:prstGeom>
          <a:noFill/>
        </p:spPr>
        <p:txBody>
          <a:bodyPr wrap="square" lIns="0" rIns="0" tIns="0" bIns="0">
            <a:spAutoFit/>
          </a:bodyPr>
          <a:lstStyle/>
          <a:p>
            <a:pPr algn="l">
              <a:lnSpc>
                <a:spcPct val="125000"/>
              </a:lnSpc>
            </a:pPr>
            <a:r>
              <a:rPr sz="2000" b="1">
                <a:solidFill>
                  <a:srgbClr val="1A1A1A"/>
                </a:solidFill>
                <a:latin typeface="微软雅黑"/>
              </a:rPr>
              <a:t>文献综述　参考文献：本讲稿主引 24 篇</a:t>
            </a:r>
          </a:p>
        </p:txBody>
      </p:sp>
      <p:sp>
        <p:nvSpPr>
          <p:cNvPr id="4" name="Rectangle 3"/>
          <p:cNvSpPr/>
          <p:nvPr/>
        </p:nvSpPr>
        <p:spPr>
          <a:xfrm>
            <a:off x="584200" y="762000"/>
            <a:ext cx="15087600" cy="3175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4516100" y="203200"/>
            <a:ext cx="1155700" cy="381000"/>
          </a:xfrm>
          <a:prstGeom prst="roundRect">
            <a:avLst>
              <a:gd name="adj" fmla="val 50000"/>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150">
                <a:solidFill>
                  <a:srgbClr val="FFFFFF"/>
                </a:solidFill>
                <a:latin typeface="微软雅黑"/>
              </a:rPr>
              <a:t>2.6</a:t>
            </a:r>
          </a:p>
        </p:txBody>
      </p:sp>
      <p:sp>
        <p:nvSpPr>
          <p:cNvPr id="6" name="Rectangle 5"/>
          <p:cNvSpPr/>
          <p:nvPr/>
        </p:nvSpPr>
        <p:spPr>
          <a:xfrm>
            <a:off x="584200" y="939800"/>
            <a:ext cx="15087600" cy="656336"/>
          </a:xfrm>
          <a:prstGeom prst="rect">
            <a:avLst/>
          </a:prstGeom>
          <a:solidFill>
            <a:srgbClr val="FFFFFF"/>
          </a:solidFill>
          <a:ln w="15240">
            <a:solidFill>
              <a:srgbClr val="D6D6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7400" y="939800"/>
            <a:ext cx="14706600" cy="580136"/>
          </a:xfrm>
          <a:prstGeom prst="rect">
            <a:avLst/>
          </a:prstGeom>
          <a:noFill/>
        </p:spPr>
        <p:txBody>
          <a:bodyPr wrap="square" lIns="0" rIns="0" tIns="0" bIns="0">
            <a:spAutoFit/>
          </a:bodyPr>
          <a:lstStyle/>
          <a:p>
            <a:pPr>
              <a:lnSpc>
                <a:spcPct val="180000"/>
              </a:lnSpc>
              <a:spcAft>
                <a:spcPts val="500"/>
              </a:spcAft>
            </a:pPr>
            <a:r>
              <a:rPr sz="1400" b="0">
                <a:solidFill>
                  <a:srgbClr val="1A1A1A"/>
                </a:solidFill>
                <a:latin typeface="微软雅黑"/>
              </a:rPr>
              <a:t>APA 第 7 版。完整 102 条见《第2章_文献综述_v2.md》文末参考文献表与 《HUD_AR-HUD_行人预警_文献综合表.csv》的「★APA条目」列。</a:t>
            </a:r>
          </a:p>
        </p:txBody>
      </p:sp>
      <p:sp>
        <p:nvSpPr>
          <p:cNvPr id="8" name="TextBox 7"/>
          <p:cNvSpPr txBox="1"/>
          <p:nvPr/>
        </p:nvSpPr>
        <p:spPr>
          <a:xfrm>
            <a:off x="14655800" y="8763000"/>
            <a:ext cx="1016000" cy="279400"/>
          </a:xfrm>
          <a:prstGeom prst="rect">
            <a:avLst/>
          </a:prstGeom>
          <a:noFill/>
        </p:spPr>
        <p:txBody>
          <a:bodyPr wrap="square" lIns="0" rIns="0" tIns="0" bIns="0">
            <a:spAutoFit/>
          </a:bodyPr>
          <a:lstStyle/>
          <a:p>
            <a:pPr algn="r">
              <a:lnSpc>
                <a:spcPct val="125000"/>
              </a:lnSpc>
            </a:pPr>
            <a:r>
              <a:rPr sz="1100" b="0">
                <a:solidFill>
                  <a:srgbClr val="8C8C8C"/>
                </a:solidFill>
                <a:latin typeface="微软雅黑"/>
              </a:rPr>
              <a:t>37 / 37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