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4175" y="1546026"/>
            <a:ext cx="6381750" cy="1029295"/>
          </a:xfrm>
          <a:prstGeom prst="rect">
            <a:avLst/>
          </a:prstGeom>
          <a:noFill/>
        </p:spPr>
        <p:txBody>
          <a:bodyPr wrap="square" lIns="0" rIns="0" tIns="0" bIns="0" anchor="t">
            <a:normAutofit/>
          </a:bodyPr>
          <a:lstStyle/>
          <a:p>
            <a:pPr algn="ctr">
              <a:lnSpc>
                <a:spcPct val="142000"/>
              </a:lnSpc>
              <a:spcBef>
                <a:spcPts val="0"/>
              </a:spcBef>
              <a:spcAft>
                <a:spcPts val="0"/>
              </a:spcAft>
            </a:pPr>
            <a:r>
              <a:rPr sz="2780" b="1" i="0">
                <a:solidFill>
                  <a:srgbClr val="2F528F"/>
                </a:solidFill>
                <a:latin typeface="Microsoft YaHei"/>
              </a:rPr>
              <a:t>AR-HUD 行人碰撞预警的时空参数设计</a:t>
            </a:r>
          </a:p>
          <a:p>
            <a:pPr algn="ctr">
              <a:lnSpc>
                <a:spcPct val="142000"/>
              </a:lnSpc>
              <a:spcBef>
                <a:spcPts val="0"/>
              </a:spcBef>
              <a:spcAft>
                <a:spcPts val="0"/>
              </a:spcAft>
            </a:pPr>
            <a:r>
              <a:rPr sz="2780" b="1" i="0">
                <a:solidFill>
                  <a:srgbClr val="2F528F"/>
                </a:solidFill>
                <a:latin typeface="Microsoft YaHei"/>
              </a:rPr>
              <a:t>及其对驾驶员情境意识与避险绩效的影响</a:t>
            </a:r>
          </a:p>
        </p:txBody>
      </p:sp>
      <p:sp>
        <p:nvSpPr>
          <p:cNvPr id="3" name="Rectangle 2"/>
          <p:cNvSpPr/>
          <p:nvPr/>
        </p:nvSpPr>
        <p:spPr>
          <a:xfrm>
            <a:off x="5476875" y="2680096"/>
            <a:ext cx="1238250" cy="28575"/>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619250" y="2994421"/>
            <a:ext cx="8953500" cy="851296"/>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19250" y="2994421"/>
            <a:ext cx="38100" cy="85129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9750" y="3137296"/>
            <a:ext cx="8610600" cy="594121"/>
          </a:xfrm>
          <a:prstGeom prst="rect">
            <a:avLst/>
          </a:prstGeom>
          <a:noFill/>
        </p:spPr>
        <p:txBody>
          <a:bodyPr wrap="square" lIns="0" rIns="0" tIns="0" bIns="0" anchor="t">
            <a:normAutofit/>
          </a:bodyPr>
          <a:lstStyle/>
          <a:p>
            <a:pPr algn="l">
              <a:lnSpc>
                <a:spcPct val="180000"/>
              </a:lnSpc>
              <a:spcBef>
                <a:spcPts val="0"/>
              </a:spcBef>
              <a:spcAft>
                <a:spcPts val="0"/>
              </a:spcAft>
            </a:pPr>
            <a:r>
              <a:rPr sz="1240" b="1" i="0">
                <a:solidFill>
                  <a:srgbClr val="2F528F"/>
                </a:solidFill>
                <a:latin typeface="Microsoft YaHei"/>
              </a:rPr>
              <a:t>核心问题：</a:t>
            </a:r>
            <a:r>
              <a:rPr sz="1240" b="0" i="0">
                <a:solidFill>
                  <a:srgbClr val="2F528F"/>
                </a:solidFill>
                <a:latin typeface="Microsoft YaHei"/>
              </a:rPr>
              <a:t>探索 AR-HUD 行人碰撞预警的</a:t>
            </a:r>
            <a:r>
              <a:rPr sz="1240" b="1" i="0">
                <a:solidFill>
                  <a:srgbClr val="2F528F"/>
                </a:solidFill>
                <a:latin typeface="Microsoft YaHei"/>
              </a:rPr>
              <a:t>时空参数取值</a:t>
            </a:r>
            <a:r>
              <a:rPr sz="1240" b="0" i="0">
                <a:solidFill>
                  <a:srgbClr val="2F528F"/>
                </a:solidFill>
                <a:latin typeface="Microsoft YaHei"/>
              </a:rPr>
              <a:t>与驾驶员</a:t>
            </a:r>
            <a:r>
              <a:rPr sz="1240" b="1" i="0">
                <a:solidFill>
                  <a:srgbClr val="2F528F"/>
                </a:solidFill>
                <a:latin typeface="Microsoft YaHei"/>
              </a:rPr>
              <a:t>情境意识、避险绩效</a:t>
            </a:r>
            <a:r>
              <a:rPr sz="1240" b="0" i="0">
                <a:solidFill>
                  <a:srgbClr val="2F528F"/>
                </a:solidFill>
                <a:latin typeface="Microsoft YaHei"/>
              </a:rPr>
              <a:t> 之间的关系，输出兼顾</a:t>
            </a:r>
            <a:r>
              <a:rPr sz="1240" b="1" i="0">
                <a:solidFill>
                  <a:srgbClr val="2F528F"/>
                </a:solidFill>
                <a:latin typeface="Microsoft YaHei"/>
              </a:rPr>
              <a:t>安全阈限</a:t>
            </a:r>
            <a:r>
              <a:rPr sz="1240" b="0" i="0">
                <a:solidFill>
                  <a:srgbClr val="2F528F"/>
                </a:solidFill>
                <a:latin typeface="Microsoft YaHei"/>
              </a:rPr>
              <a:t>与</a:t>
            </a:r>
            <a:r>
              <a:rPr sz="1240" b="1" i="0">
                <a:solidFill>
                  <a:srgbClr val="2F528F"/>
                </a:solidFill>
                <a:latin typeface="Microsoft YaHei"/>
              </a:rPr>
              <a:t>用户心理需求</a:t>
            </a:r>
            <a:r>
              <a:rPr sz="1240" b="0" i="0">
                <a:solidFill>
                  <a:srgbClr val="2F528F"/>
                </a:solidFill>
                <a:latin typeface="Microsoft YaHei"/>
              </a:rPr>
              <a:t>的时空参数设计标准与关系模型。 </a:t>
            </a:r>
          </a:p>
        </p:txBody>
      </p:sp>
      <p:sp>
        <p:nvSpPr>
          <p:cNvPr id="7" name="TextBox 6"/>
          <p:cNvSpPr txBox="1"/>
          <p:nvPr/>
        </p:nvSpPr>
        <p:spPr>
          <a:xfrm>
            <a:off x="3339703" y="3998118"/>
            <a:ext cx="5550693" cy="791467"/>
          </a:xfrm>
          <a:prstGeom prst="rect">
            <a:avLst/>
          </a:prstGeom>
          <a:noFill/>
        </p:spPr>
        <p:txBody>
          <a:bodyPr wrap="square" lIns="0" rIns="0" tIns="0" bIns="0" anchor="t">
            <a:normAutofit/>
          </a:bodyPr>
          <a:lstStyle/>
          <a:p>
            <a:pPr algn="l">
              <a:lnSpc>
                <a:spcPct val="186000"/>
              </a:lnSpc>
              <a:spcBef>
                <a:spcPts val="0"/>
              </a:spcBef>
              <a:spcAft>
                <a:spcPts val="0"/>
              </a:spcAft>
            </a:pPr>
            <a:r>
              <a:rPr sz="1050" b="1" i="0">
                <a:solidFill>
                  <a:srgbClr val="2F528F"/>
                </a:solidFill>
                <a:latin typeface="Microsoft YaHei"/>
              </a:rPr>
              <a:t>RQ1</a:t>
            </a:r>
            <a:r>
              <a:rPr sz="1050" b="0" i="0">
                <a:solidFill>
                  <a:srgbClr val="444444"/>
                </a:solidFill>
                <a:latin typeface="Microsoft YaHei"/>
              </a:rPr>
              <a:t> 驾驶员在无辅助条件下的自发察觉时刻 </a:t>
            </a:r>
            <a:r>
              <a:rPr sz="1050" b="0" i="1">
                <a:solidFill>
                  <a:srgbClr val="444444"/>
                </a:solidFill>
                <a:latin typeface="Microsoft YaHei"/>
              </a:rPr>
              <a:t>t</a:t>
            </a:r>
            <a:r>
              <a:rPr sz="740" b="0" i="1" baseline="-25000">
                <a:solidFill>
                  <a:srgbClr val="444444"/>
                </a:solidFill>
                <a:latin typeface="Microsoft YaHei"/>
              </a:rPr>
              <a:t>0</a:t>
            </a:r>
            <a:r>
              <a:rPr sz="1050" b="0" i="0">
                <a:solidFill>
                  <a:srgbClr val="444444"/>
                </a:solidFill>
                <a:latin typeface="Microsoft YaHei"/>
              </a:rPr>
              <a:t> 的分布特征为何，可否作为时间参数的零点？</a:t>
            </a:r>
          </a:p>
          <a:p>
            <a:pPr algn="l">
              <a:lnSpc>
                <a:spcPct val="186000"/>
              </a:lnSpc>
              <a:spcBef>
                <a:spcPts val="0"/>
              </a:spcBef>
              <a:spcAft>
                <a:spcPts val="0"/>
              </a:spcAft>
            </a:pPr>
            <a:r>
              <a:rPr sz="1050" b="0" i="0">
                <a:solidFill>
                  <a:srgbClr val="444444"/>
                </a:solidFill>
                <a:latin typeface="Microsoft YaHei"/>
              </a:rPr>
              <a:t> </a:t>
            </a:r>
            <a:r>
              <a:rPr sz="1050" b="1" i="0">
                <a:solidFill>
                  <a:srgbClr val="2F528F"/>
                </a:solidFill>
                <a:latin typeface="Microsoft YaHei"/>
              </a:rPr>
              <a:t>RQ2</a:t>
            </a:r>
            <a:r>
              <a:rPr sz="1050" b="0" i="0">
                <a:solidFill>
                  <a:srgbClr val="444444"/>
                </a:solidFill>
                <a:latin typeface="Microsoft YaHei"/>
              </a:rPr>
              <a:t> 以 </a:t>
            </a:r>
            <a:r>
              <a:rPr sz="1050" b="0" i="1">
                <a:solidFill>
                  <a:srgbClr val="444444"/>
                </a:solidFill>
                <a:latin typeface="Microsoft YaHei"/>
              </a:rPr>
              <a:t>t</a:t>
            </a:r>
            <a:r>
              <a:rPr sz="740" b="0" i="1" baseline="-25000">
                <a:solidFill>
                  <a:srgbClr val="444444"/>
                </a:solidFill>
                <a:latin typeface="Microsoft YaHei"/>
              </a:rPr>
              <a:t>0</a:t>
            </a:r>
            <a:r>
              <a:rPr sz="1050" b="0" i="0">
                <a:solidFill>
                  <a:srgbClr val="444444"/>
                </a:solidFill>
                <a:latin typeface="Microsoft YaHei"/>
              </a:rPr>
              <a:t> 为零点的相对提前量 </a:t>
            </a:r>
            <a:r>
              <a:rPr sz="1050" b="0" i="1">
                <a:solidFill>
                  <a:srgbClr val="444444"/>
                </a:solidFill>
                <a:latin typeface="Microsoft YaHei"/>
              </a:rPr>
              <a:t>Δt</a:t>
            </a:r>
            <a:r>
              <a:rPr sz="1050" b="0" i="0">
                <a:solidFill>
                  <a:srgbClr val="444444"/>
                </a:solidFill>
                <a:latin typeface="Microsoft YaHei"/>
              </a:rPr>
              <a:t>、触发准则与分层时序，如何影响情境意识与避险绩效？</a:t>
            </a:r>
          </a:p>
          <a:p>
            <a:pPr algn="l">
              <a:lnSpc>
                <a:spcPct val="186000"/>
              </a:lnSpc>
              <a:spcBef>
                <a:spcPts val="0"/>
              </a:spcBef>
              <a:spcAft>
                <a:spcPts val="0"/>
              </a:spcAft>
            </a:pPr>
            <a:r>
              <a:rPr sz="1050" b="0" i="0">
                <a:solidFill>
                  <a:srgbClr val="444444"/>
                </a:solidFill>
                <a:latin typeface="Microsoft YaHei"/>
              </a:rPr>
              <a:t> </a:t>
            </a:r>
            <a:r>
              <a:rPr sz="1050" b="1" i="0">
                <a:solidFill>
                  <a:srgbClr val="2F528F"/>
                </a:solidFill>
                <a:latin typeface="Microsoft YaHei"/>
              </a:rPr>
              <a:t>RQ3</a:t>
            </a:r>
            <a:r>
              <a:rPr sz="1050" b="0" i="0">
                <a:solidFill>
                  <a:srgbClr val="444444"/>
                </a:solidFill>
                <a:latin typeface="Microsoft YaHei"/>
              </a:rPr>
              <a:t> 空间参照系与风险动态映射，通过情境意识的哪一层级作用于避险绩效？ </a:t>
            </a:r>
          </a:p>
        </p:txBody>
      </p:sp>
      <p:sp>
        <p:nvSpPr>
          <p:cNvPr id="8" name="TextBox 7"/>
          <p:cNvSpPr txBox="1"/>
          <p:nvPr/>
        </p:nvSpPr>
        <p:spPr>
          <a:xfrm>
            <a:off x="1619250" y="4865786"/>
            <a:ext cx="8991600" cy="474761"/>
          </a:xfrm>
          <a:prstGeom prst="rect">
            <a:avLst/>
          </a:prstGeom>
          <a:noFill/>
        </p:spPr>
        <p:txBody>
          <a:bodyPr wrap="square" lIns="0" rIns="0" tIns="0" bIns="0" anchor="t">
            <a:normAutofit/>
          </a:bodyPr>
          <a:lstStyle/>
          <a:p>
            <a:pPr algn="l">
              <a:lnSpc>
                <a:spcPct val="186000"/>
              </a:lnSpc>
              <a:spcBef>
                <a:spcPts val="0"/>
              </a:spcBef>
              <a:spcAft>
                <a:spcPts val="0"/>
              </a:spcAft>
            </a:pPr>
            <a:r>
              <a:rPr sz="940" b="1" i="0">
                <a:solidFill>
                  <a:srgbClr val="2F528F"/>
                </a:solidFill>
                <a:latin typeface="Microsoft YaHei"/>
              </a:rPr>
              <a:t>版本</a:t>
            </a:r>
            <a:r>
              <a:rPr sz="940" b="0" i="0">
                <a:solidFill>
                  <a:srgbClr val="666666"/>
                </a:solidFill>
                <a:latin typeface="Microsoft YaHei"/>
              </a:rPr>
              <a:t> 2026-08 | </a:t>
            </a:r>
            <a:r>
              <a:rPr sz="940" b="1" i="0">
                <a:solidFill>
                  <a:srgbClr val="2F528F"/>
                </a:solidFill>
                <a:latin typeface="Microsoft YaHei"/>
              </a:rPr>
              <a:t>配套讲稿</a:t>
            </a:r>
            <a:r>
              <a:rPr sz="940" b="0" i="0">
                <a:solidFill>
                  <a:srgbClr val="666666"/>
                </a:solidFill>
                <a:latin typeface="Microsoft YaHei"/>
              </a:rPr>
              <a:t> 研究汇报_2026_08_讲稿.md（讲述配额 16 分 10 秒，逐字稿约 30 分） | </a:t>
            </a:r>
            <a:r>
              <a:rPr sz="940" b="1" i="0">
                <a:solidFill>
                  <a:srgbClr val="2F528F"/>
                </a:solidFill>
                <a:latin typeface="Microsoft YaHei"/>
              </a:rPr>
              <a:t>本稿 25 页</a:t>
            </a:r>
            <a:r>
              <a:rPr sz="940" b="0" i="0">
                <a:solidFill>
                  <a:srgbClr val="666666"/>
                </a:solidFill>
                <a:latin typeface="Microsoft YaHei"/>
              </a:rPr>
              <a:t>：p01–p14 讲述，</a:t>
            </a:r>
            <a:r>
              <a:rPr sz="940" b="1" i="0">
                <a:solidFill>
                  <a:srgbClr val="2F528F"/>
                </a:solidFill>
                <a:latin typeface="Microsoft YaHei"/>
              </a:rPr>
              <a:t>p15–p25 备查不讲</a:t>
            </a:r>
            <a:r>
              <a:rPr sz="940" b="0" i="0">
                <a:solidFill>
                  <a:srgbClr val="666666"/>
                </a:solidFill>
                <a:latin typeface="Microsoft YaHei"/>
              </a:rPr>
              <a:t>（研究问题与目标全稿、理论框架、共识与局限、实验详表、研究者设定值清单） </a:t>
            </a:r>
          </a:p>
        </p:txBody>
      </p:sp>
      <p:sp>
        <p:nvSpPr>
          <p:cNvPr id="9" name="TextBox 8"/>
          <p:cNvSpPr txBox="1"/>
          <p:nvPr/>
        </p:nvSpPr>
        <p:spPr>
          <a:xfrm>
            <a:off x="11467504" y="6562725"/>
            <a:ext cx="324445" cy="190500"/>
          </a:xfrm>
          <a:prstGeom prst="rect">
            <a:avLst/>
          </a:prstGeom>
          <a:noFill/>
        </p:spPr>
        <p:txBody>
          <a:bodyPr wrap="square" lIns="0" rIns="0" tIns="0" bIns="0" anchor="t">
            <a:normAutofit/>
          </a:bodyPr>
          <a:lstStyle/>
          <a:p>
            <a:pPr algn="ctr">
              <a:lnSpc>
                <a:spcPct val="125000"/>
              </a:lnSpc>
              <a:spcBef>
                <a:spcPts val="0"/>
              </a:spcBef>
              <a:spcAft>
                <a:spcPts val="0"/>
              </a:spcAft>
            </a:pPr>
            <a:r>
              <a:rPr sz="900" b="0" i="0">
                <a:solidFill>
                  <a:srgbClr val="8C8C8C"/>
                </a:solidFill>
                <a:latin typeface="Microsoft YaHei"/>
              </a:rPr>
              <a:t>1 / 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研究背景</a:t>
            </a:r>
            <a:r>
              <a:rPr sz="1580" b="1" i="0">
                <a:solidFill>
                  <a:srgbClr val="4472C4"/>
                </a:solidFill>
                <a:latin typeface="Microsoft YaHei"/>
              </a:rPr>
              <a:t>研究背景与研究意义</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背景</a:t>
            </a:r>
          </a:p>
        </p:txBody>
      </p:sp>
      <p:sp>
        <p:nvSpPr>
          <p:cNvPr id="6" name="Rectangle 5"/>
          <p:cNvSpPr/>
          <p:nvPr/>
        </p:nvSpPr>
        <p:spPr>
          <a:xfrm>
            <a:off x="438150" y="762000"/>
            <a:ext cx="11315700" cy="788193"/>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788193"/>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75" y="885825"/>
            <a:ext cx="11029950" cy="569118"/>
          </a:xfrm>
          <a:prstGeom prst="rect">
            <a:avLst/>
          </a:prstGeom>
          <a:noFill/>
        </p:spPr>
        <p:txBody>
          <a:bodyPr wrap="square" lIns="0" rIns="0" tIns="0" bIns="0" anchor="t">
            <a:normAutofit/>
          </a:bodyPr>
          <a:lstStyle/>
          <a:p>
            <a:pPr algn="l">
              <a:lnSpc>
                <a:spcPct val="182000"/>
              </a:lnSpc>
              <a:spcBef>
                <a:spcPts val="0"/>
              </a:spcBef>
              <a:spcAft>
                <a:spcPts val="0"/>
              </a:spcAft>
            </a:pPr>
            <a:r>
              <a:rPr sz="1170" b="0" i="0">
                <a:solidFill>
                  <a:srgbClr val="2F528F"/>
                </a:solidFill>
                <a:latin typeface="Microsoft YaHei"/>
              </a:rPr>
              <a:t> 全球每年约 </a:t>
            </a:r>
            <a:r>
              <a:rPr sz="1170" b="1" i="0">
                <a:solidFill>
                  <a:srgbClr val="2F528F"/>
                </a:solidFill>
                <a:latin typeface="Microsoft YaHei"/>
              </a:rPr>
              <a:t>135 万人</a:t>
            </a:r>
            <a:r>
              <a:rPr sz="1170" b="0" i="0">
                <a:solidFill>
                  <a:srgbClr val="2F528F"/>
                </a:solidFill>
                <a:latin typeface="Microsoft YaHei"/>
              </a:rPr>
              <a:t>死于道路交通事故，</a:t>
            </a:r>
            <a:r>
              <a:rPr sz="1170" b="1" i="0">
                <a:solidFill>
                  <a:srgbClr val="2F528F"/>
                </a:solidFill>
                <a:latin typeface="Microsoft YaHei"/>
              </a:rPr>
              <a:t>行人约占 23%</a:t>
            </a:r>
            <a:r>
              <a:rPr sz="1170" b="0" i="0">
                <a:solidFill>
                  <a:srgbClr val="2F528F"/>
                </a:solidFill>
                <a:latin typeface="Microsoft YaHei"/>
              </a:rPr>
              <a:t>（WHO, 2023）。传统低头显示要求视线移离前方道路， 产生</a:t>
            </a:r>
            <a:r>
              <a:rPr sz="1170" b="1" i="0">
                <a:solidFill>
                  <a:srgbClr val="2F528F"/>
                </a:solidFill>
                <a:latin typeface="Microsoft YaHei"/>
              </a:rPr>
              <a:t>视线离路时间</a:t>
            </a:r>
            <a:r>
              <a:rPr sz="1170" b="0" i="0">
                <a:solidFill>
                  <a:srgbClr val="2F528F"/>
                </a:solidFill>
                <a:latin typeface="Microsoft YaHei"/>
              </a:rPr>
              <a:t>；AR-HUD 把图形与真实目标逐帧配准，理论上可同时消除视线离路时间与「信息位置—危险位置」的对应成本。 </a:t>
            </a:r>
          </a:p>
        </p:txBody>
      </p:sp>
      <p:sp>
        <p:nvSpPr>
          <p:cNvPr id="9" name="Rectangle 8"/>
          <p:cNvSpPr/>
          <p:nvPr/>
        </p:nvSpPr>
        <p:spPr>
          <a:xfrm>
            <a:off x="438150" y="1654968"/>
            <a:ext cx="11315700" cy="72241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38150" y="1654968"/>
            <a:ext cx="38100" cy="72241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769268"/>
            <a:ext cx="11049000" cy="522386"/>
          </a:xfrm>
          <a:prstGeom prst="rect">
            <a:avLst/>
          </a:prstGeom>
          <a:noFill/>
        </p:spPr>
        <p:txBody>
          <a:bodyPr wrap="square" lIns="0" rIns="0" tIns="0" bIns="0" anchor="t">
            <a:normAutofit/>
          </a:bodyPr>
          <a:lstStyle/>
          <a:p>
            <a:pPr algn="l">
              <a:lnSpc>
                <a:spcPct val="180000"/>
              </a:lnSpc>
              <a:spcBef>
                <a:spcPts val="0"/>
              </a:spcBef>
              <a:spcAft>
                <a:spcPts val="0"/>
              </a:spcAft>
            </a:pPr>
            <a:r>
              <a:rPr sz="1080" b="1" i="0">
                <a:solidFill>
                  <a:srgbClr val="7A1F1F"/>
                </a:solidFill>
                <a:latin typeface="Microsoft YaHei"/>
              </a:rPr>
              <a:t>技术可行不等同于人因收益。</a:t>
            </a:r>
            <a:r>
              <a:rPr sz="1080" b="0" i="0">
                <a:solidFill>
                  <a:srgbClr val="7A1F1F"/>
                </a:solidFill>
                <a:latin typeface="Microsoft YaHei"/>
              </a:rPr>
              <a:t>本文献库 102 篇中存在三项方向相反的实证结果：贴地共形箭头把图形注视时长推至 </a:t>
            </a:r>
            <a:r>
              <a:rPr sz="1080" b="1" i="0">
                <a:solidFill>
                  <a:srgbClr val="7A1F1F"/>
                </a:solidFill>
                <a:latin typeface="Microsoft YaHei"/>
              </a:rPr>
              <a:t>3.33 s</a:t>
            </a:r>
            <a:r>
              <a:rPr sz="1080" b="0" i="0">
                <a:solidFill>
                  <a:srgbClr val="7A1F1F"/>
                </a:solidFill>
                <a:latin typeface="Microsoft YaHei"/>
              </a:rPr>
              <a:t>，越过分心上界（Gabbard 等, 2019）；TTC 5.0 s 的文本预警使峰值减速度</a:t>
            </a:r>
            <a:r>
              <a:rPr sz="1080" b="1" i="0">
                <a:solidFill>
                  <a:srgbClr val="7A1F1F"/>
                </a:solidFill>
                <a:latin typeface="Microsoft YaHei"/>
              </a:rPr>
              <a:t>上升 34.46%</a:t>
            </a:r>
            <a:r>
              <a:rPr sz="1080" b="0" i="0">
                <a:solidFill>
                  <a:srgbClr val="7A1F1F"/>
                </a:solidFill>
                <a:latin typeface="Microsoft YaHei"/>
              </a:rPr>
              <a:t>（Kim 等, 2018）； AR 系统随机故障时新手出现严重反应退化（Huo 与 Alla, 2025）。</a:t>
            </a:r>
            <a:r>
              <a:rPr sz="1080" b="1" i="0">
                <a:solidFill>
                  <a:srgbClr val="7A1F1F"/>
                </a:solidFill>
                <a:latin typeface="Microsoft YaHei"/>
              </a:rPr>
              <a:t>→ 决定效果的并非是否采用 AR，而是时空参数的取值。</a:t>
            </a:r>
            <a:r>
              <a:rPr sz="1080" b="0" i="0">
                <a:solidFill>
                  <a:srgbClr val="7A1F1F"/>
                </a:solidFill>
                <a:latin typeface="Microsoft YaHei"/>
              </a:rPr>
              <a:t> </a:t>
            </a:r>
          </a:p>
        </p:txBody>
      </p:sp>
      <p:sp>
        <p:nvSpPr>
          <p:cNvPr id="12" name="Rounded Rectangle 11"/>
          <p:cNvSpPr/>
          <p:nvPr/>
        </p:nvSpPr>
        <p:spPr>
          <a:xfrm>
            <a:off x="438150" y="2482155"/>
            <a:ext cx="5572125" cy="3975794"/>
          </a:xfrm>
          <a:prstGeom prst="roundRect">
            <a:avLst>
              <a:gd name="adj" fmla="val 1677"/>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19125" y="2939355"/>
            <a:ext cx="521017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125" y="2634555"/>
            <a:ext cx="5248275" cy="266700"/>
          </a:xfrm>
          <a:prstGeom prst="rect">
            <a:avLst/>
          </a:prstGeom>
          <a:noFill/>
        </p:spPr>
        <p:txBody>
          <a:bodyPr wrap="square" lIns="0" rIns="0" tIns="0" bIns="0" anchor="t">
            <a:normAutofit/>
          </a:bodyPr>
          <a:lstStyle/>
          <a:p>
            <a:pPr algn="l">
              <a:lnSpc>
                <a:spcPct val="125000"/>
              </a:lnSpc>
              <a:spcBef>
                <a:spcPts val="0"/>
              </a:spcBef>
              <a:spcAft>
                <a:spcPts val="0"/>
              </a:spcAft>
            </a:pPr>
            <a:r>
              <a:rPr sz="1200" b="1" i="0">
                <a:solidFill>
                  <a:srgbClr val="3E7D3E"/>
                </a:solidFill>
                <a:latin typeface="Microsoft YaHei"/>
              </a:rPr>
              <a:t>理论意义</a:t>
            </a:r>
          </a:p>
        </p:txBody>
      </p:sp>
      <p:sp>
        <p:nvSpPr>
          <p:cNvPr id="15" name="TextBox 14"/>
          <p:cNvSpPr txBox="1"/>
          <p:nvPr/>
        </p:nvSpPr>
        <p:spPr>
          <a:xfrm>
            <a:off x="685800" y="3053655"/>
            <a:ext cx="5181600" cy="65335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0" i="0">
                <a:solidFill>
                  <a:srgbClr val="1A1A1A"/>
                </a:solidFill>
                <a:latin typeface="Microsoft YaHei"/>
              </a:rPr>
              <a:t>把预警时刻从</a:t>
            </a:r>
            <a:r>
              <a:rPr sz="1170" b="1" i="0">
                <a:solidFill>
                  <a:srgbClr val="1A1A1A"/>
                </a:solidFill>
                <a:latin typeface="Microsoft YaHei"/>
              </a:rPr>
              <a:t>枚举秒数</a:t>
            </a:r>
            <a:r>
              <a:rPr sz="1170" b="0" i="0">
                <a:solidFill>
                  <a:srgbClr val="1A1A1A"/>
                </a:solidFill>
                <a:latin typeface="Microsoft YaHei"/>
              </a:rPr>
              <a:t>改为</a:t>
            </a:r>
            <a:r>
              <a:rPr sz="1170" b="1" i="0">
                <a:solidFill>
                  <a:srgbClr val="1A1A1A"/>
                </a:solidFill>
                <a:latin typeface="Microsoft YaHei"/>
              </a:rPr>
              <a:t>由约束导出</a:t>
            </a:r>
            <a:r>
              <a:rPr sz="1170" b="0" i="0">
                <a:solidFill>
                  <a:srgbClr val="1A1A1A"/>
                </a:solidFill>
                <a:latin typeface="Microsoft YaHei"/>
              </a:rPr>
              <a:t>：建立运动学下界／可靠性上界／认知加工窗口的</a:t>
            </a:r>
            <a:r>
              <a:rPr sz="1170" b="1" i="0">
                <a:solidFill>
                  <a:srgbClr val="1A1A1A"/>
                </a:solidFill>
                <a:latin typeface="Microsoft YaHei"/>
              </a:rPr>
              <a:t>三重约束模型</a:t>
            </a:r>
            <a:r>
              <a:rPr sz="1170" b="0" i="0">
                <a:solidFill>
                  <a:srgbClr val="1A1A1A"/>
                </a:solidFill>
                <a:latin typeface="Microsoft YaHei"/>
              </a:rPr>
              <a:t>， 并以自发察觉时刻 </a:t>
            </a:r>
            <a:r>
              <a:rPr sz="1170" b="0" i="1">
                <a:solidFill>
                  <a:srgbClr val="1A1A1A"/>
                </a:solidFill>
                <a:latin typeface="Microsoft YaHei"/>
              </a:rPr>
              <a:t>t</a:t>
            </a:r>
            <a:r>
              <a:rPr sz="819" b="0" i="1" baseline="-25000">
                <a:solidFill>
                  <a:srgbClr val="1A1A1A"/>
                </a:solidFill>
                <a:latin typeface="Microsoft YaHei"/>
              </a:rPr>
              <a:t>0</a:t>
            </a:r>
            <a:r>
              <a:rPr sz="1170" b="0" i="0">
                <a:solidFill>
                  <a:srgbClr val="1A1A1A"/>
                </a:solidFill>
                <a:latin typeface="Microsoft YaHei"/>
              </a:rPr>
              <a:t> 为零点实测其交集</a:t>
            </a:r>
          </a:p>
        </p:txBody>
      </p:sp>
      <p:sp>
        <p:nvSpPr>
          <p:cNvPr id="16" name="TextBox 15"/>
          <p:cNvSpPr txBox="1"/>
          <p:nvPr/>
        </p:nvSpPr>
        <p:spPr>
          <a:xfrm>
            <a:off x="685800" y="3764160"/>
            <a:ext cx="5181600" cy="350490"/>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0" i="0">
                <a:solidFill>
                  <a:srgbClr val="1A1A1A"/>
                </a:solidFill>
                <a:latin typeface="Microsoft YaHei"/>
              </a:rPr>
              <a:t>以 </a:t>
            </a:r>
            <a:r>
              <a:rPr sz="1170" b="0" i="1">
                <a:solidFill>
                  <a:srgbClr val="1A1A1A"/>
                </a:solidFill>
                <a:latin typeface="Microsoft YaHei"/>
              </a:rPr>
              <a:t>Δt</a:t>
            </a:r>
            <a:r>
              <a:rPr sz="1170" b="0" i="0">
                <a:solidFill>
                  <a:srgbClr val="1A1A1A"/>
                </a:solidFill>
                <a:latin typeface="Microsoft YaHei"/>
              </a:rPr>
              <a:t> 而非绝对 TTC 为自变量，为</a:t>
            </a:r>
            <a:r>
              <a:rPr sz="1170" b="1" i="0">
                <a:solidFill>
                  <a:srgbClr val="1A1A1A"/>
                </a:solidFill>
                <a:latin typeface="Microsoft YaHei"/>
              </a:rPr>
              <a:t>跨车速、跨研究</a:t>
            </a:r>
            <a:r>
              <a:rPr sz="1170" b="0" i="0">
                <a:solidFill>
                  <a:srgbClr val="1A1A1A"/>
                </a:solidFill>
                <a:latin typeface="Microsoft YaHei"/>
              </a:rPr>
              <a:t>的结论比较提供统一记法</a:t>
            </a:r>
          </a:p>
        </p:txBody>
      </p:sp>
      <p:sp>
        <p:nvSpPr>
          <p:cNvPr id="17" name="TextBox 16"/>
          <p:cNvSpPr txBox="1"/>
          <p:nvPr/>
        </p:nvSpPr>
        <p:spPr>
          <a:xfrm>
            <a:off x="685800" y="4171801"/>
            <a:ext cx="5181600" cy="63430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0" i="0">
                <a:solidFill>
                  <a:srgbClr val="1A1A1A"/>
                </a:solidFill>
                <a:latin typeface="Microsoft YaHei"/>
              </a:rPr>
              <a:t>把「动态」拆为</a:t>
            </a:r>
            <a:r>
              <a:rPr sz="1170" b="1" i="0">
                <a:solidFill>
                  <a:srgbClr val="1A1A1A"/>
                </a:solidFill>
                <a:latin typeface="Microsoft YaHei"/>
              </a:rPr>
              <a:t>风险量级映射 × 运动趋势映射</a:t>
            </a:r>
            <a:r>
              <a:rPr sz="1170" b="0" i="0">
                <a:solidFill>
                  <a:srgbClr val="1A1A1A"/>
                </a:solidFill>
                <a:latin typeface="Microsoft YaHei"/>
              </a:rPr>
              <a:t>两个正交维度，检验其分别作用于情境意识的哪一层级</a:t>
            </a:r>
          </a:p>
        </p:txBody>
      </p:sp>
      <p:sp>
        <p:nvSpPr>
          <p:cNvPr id="18" name="Rounded Rectangle 17"/>
          <p:cNvSpPr/>
          <p:nvPr/>
        </p:nvSpPr>
        <p:spPr>
          <a:xfrm>
            <a:off x="6181725" y="2482155"/>
            <a:ext cx="5572125" cy="3975794"/>
          </a:xfrm>
          <a:prstGeom prst="roundRect">
            <a:avLst>
              <a:gd name="adj" fmla="val 1677"/>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362700" y="2939355"/>
            <a:ext cx="5210175"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2700" y="2634555"/>
            <a:ext cx="5248275" cy="266700"/>
          </a:xfrm>
          <a:prstGeom prst="rect">
            <a:avLst/>
          </a:prstGeom>
          <a:noFill/>
        </p:spPr>
        <p:txBody>
          <a:bodyPr wrap="square" lIns="0" rIns="0" tIns="0" bIns="0" anchor="t">
            <a:normAutofit/>
          </a:bodyPr>
          <a:lstStyle/>
          <a:p>
            <a:pPr algn="l">
              <a:lnSpc>
                <a:spcPct val="125000"/>
              </a:lnSpc>
              <a:spcBef>
                <a:spcPts val="0"/>
              </a:spcBef>
              <a:spcAft>
                <a:spcPts val="0"/>
              </a:spcAft>
            </a:pPr>
            <a:r>
              <a:rPr sz="1200" b="1" i="0">
                <a:solidFill>
                  <a:srgbClr val="9A6E00"/>
                </a:solidFill>
                <a:latin typeface="Microsoft YaHei"/>
              </a:rPr>
              <a:t>应用意义</a:t>
            </a:r>
          </a:p>
        </p:txBody>
      </p:sp>
      <p:sp>
        <p:nvSpPr>
          <p:cNvPr id="21" name="TextBox 20"/>
          <p:cNvSpPr txBox="1"/>
          <p:nvPr/>
        </p:nvSpPr>
        <p:spPr>
          <a:xfrm>
            <a:off x="6429375" y="3053655"/>
            <a:ext cx="5181600" cy="63430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0" i="0">
                <a:solidFill>
                  <a:srgbClr val="1A1A1A"/>
                </a:solidFill>
                <a:latin typeface="Microsoft YaHei"/>
              </a:rPr>
              <a:t>输出六项可落地的参数区间：</a:t>
            </a:r>
            <a:r>
              <a:rPr sz="1170" b="1" i="0">
                <a:solidFill>
                  <a:srgbClr val="1A1A1A"/>
                </a:solidFill>
                <a:latin typeface="Microsoft YaHei"/>
              </a:rPr>
              <a:t>出现时机 · 触发准则 · 持续与撤销 · 级间间隔 · 锁定策略 · 动态编码</a:t>
            </a:r>
          </a:p>
        </p:txBody>
      </p:sp>
      <p:sp>
        <p:nvSpPr>
          <p:cNvPr id="22" name="TextBox 21"/>
          <p:cNvSpPr txBox="1"/>
          <p:nvPr/>
        </p:nvSpPr>
        <p:spPr>
          <a:xfrm>
            <a:off x="6429375" y="3745110"/>
            <a:ext cx="5181600" cy="63430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0" i="0">
                <a:solidFill>
                  <a:srgbClr val="1A1A1A"/>
                </a:solidFill>
                <a:latin typeface="Microsoft YaHei"/>
              </a:rPr>
              <a:t>参数以</a:t>
            </a:r>
            <a:r>
              <a:rPr sz="1170" b="1" i="0">
                <a:solidFill>
                  <a:srgbClr val="1A1A1A"/>
                </a:solidFill>
                <a:latin typeface="Microsoft YaHei"/>
              </a:rPr>
              <a:t>运动学量</a:t>
            </a:r>
            <a:r>
              <a:rPr sz="1170" b="0" i="0">
                <a:solidFill>
                  <a:srgbClr val="1A1A1A"/>
                </a:solidFill>
                <a:latin typeface="Microsoft YaHei"/>
              </a:rPr>
              <a:t>（制动威胁数 BTN）而非固定秒数表达，</a:t>
            </a:r>
            <a:r>
              <a:rPr sz="1170" b="1" i="0">
                <a:solidFill>
                  <a:srgbClr val="1A1A1A"/>
                </a:solidFill>
                <a:latin typeface="Microsoft YaHei"/>
              </a:rPr>
              <a:t>可跨车速迁移</a:t>
            </a:r>
            <a:r>
              <a:rPr sz="1170" b="0" i="0">
                <a:solidFill>
                  <a:srgbClr val="1A1A1A"/>
                </a:solidFill>
                <a:latin typeface="Microsoft YaHei"/>
              </a:rPr>
              <a:t>，并与量产 AEB 时序对齐</a:t>
            </a:r>
          </a:p>
        </p:txBody>
      </p:sp>
      <p:sp>
        <p:nvSpPr>
          <p:cNvPr id="23" name="TextBox 22"/>
          <p:cNvSpPr txBox="1"/>
          <p:nvPr/>
        </p:nvSpPr>
        <p:spPr>
          <a:xfrm>
            <a:off x="6429375" y="4436566"/>
            <a:ext cx="5181600" cy="331440"/>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0" i="0">
                <a:solidFill>
                  <a:srgbClr val="1A1A1A"/>
                </a:solidFill>
                <a:latin typeface="Microsoft YaHei"/>
              </a:rPr>
              <a:t>面向</a:t>
            </a:r>
            <a:r>
              <a:rPr sz="1170" b="1" i="0">
                <a:solidFill>
                  <a:srgbClr val="1A1A1A"/>
                </a:solidFill>
                <a:latin typeface="Microsoft YaHei"/>
              </a:rPr>
              <a:t>中国新手驾驶员</a:t>
            </a:r>
            <a:r>
              <a:rPr sz="1170" b="0" i="0">
                <a:solidFill>
                  <a:srgbClr val="1A1A1A"/>
                </a:solidFill>
                <a:latin typeface="Microsoft YaHei"/>
              </a:rPr>
              <a:t>，为车载显示的人因评估条款提供实证依据</a:t>
            </a:r>
          </a:p>
        </p:txBody>
      </p:sp>
      <p:sp>
        <p:nvSpPr>
          <p:cNvPr id="24" name="TextBox 23"/>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参数一 预警提前量 Δt</a:t>
            </a:r>
          </a:p>
        </p:txBody>
      </p:sp>
      <p:sp>
        <p:nvSpPr>
          <p:cNvPr id="4" name="Rounded Rectangle 3"/>
          <p:cNvSpPr/>
          <p:nvPr/>
        </p:nvSpPr>
        <p:spPr>
          <a:xfrm>
            <a:off x="11067157" y="209550"/>
            <a:ext cx="686692"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71932" y="238125"/>
            <a:ext cx="515242"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参数 1 / 7</a:t>
            </a:r>
          </a:p>
        </p:txBody>
      </p:sp>
      <p:sp>
        <p:nvSpPr>
          <p:cNvPr id="6" name="Rectangle 5"/>
          <p:cNvSpPr/>
          <p:nvPr/>
        </p:nvSpPr>
        <p:spPr>
          <a:xfrm>
            <a:off x="438150" y="762000"/>
            <a:ext cx="11315700" cy="517921"/>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517921"/>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75" y="885825"/>
            <a:ext cx="11029950" cy="298846"/>
          </a:xfrm>
          <a:prstGeom prst="rect">
            <a:avLst/>
          </a:prstGeom>
          <a:noFill/>
        </p:spPr>
        <p:txBody>
          <a:bodyPr wrap="square" lIns="0" rIns="0" tIns="0" bIns="0" anchor="t">
            <a:normAutofit/>
          </a:bodyPr>
          <a:lstStyle/>
          <a:p>
            <a:pPr algn="l">
              <a:lnSpc>
                <a:spcPct val="182000"/>
              </a:lnSpc>
              <a:spcBef>
                <a:spcPts val="0"/>
              </a:spcBef>
              <a:spcAft>
                <a:spcPts val="0"/>
              </a:spcAft>
            </a:pPr>
            <a:r>
              <a:rPr sz="1170" b="1" i="0">
                <a:solidFill>
                  <a:srgbClr val="2F528F"/>
                </a:solidFill>
                <a:latin typeface="Microsoft YaHei"/>
              </a:rPr>
              <a:t>待定参数：</a:t>
            </a:r>
            <a:r>
              <a:rPr sz="1170" b="0" i="0">
                <a:solidFill>
                  <a:srgbClr val="2F528F"/>
                </a:solidFill>
                <a:latin typeface="Microsoft YaHei"/>
              </a:rPr>
              <a:t>预警的触发时刻。既有研究一律以「距冲突的剩余时间」（绝对 TTC）表述。</a:t>
            </a:r>
          </a:p>
        </p:txBody>
      </p:sp>
      <p:sp>
        <p:nvSpPr>
          <p:cNvPr id="9" name="Rectangle 8"/>
          <p:cNvSpPr/>
          <p:nvPr/>
        </p:nvSpPr>
        <p:spPr>
          <a:xfrm>
            <a:off x="438150" y="2645866"/>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150" y="1933128"/>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3E7D3E"/>
                </a:solidFill>
                <a:latin typeface="Microsoft YaHei"/>
              </a:rPr>
              <a:t>已定</a:t>
            </a:r>
          </a:p>
        </p:txBody>
      </p:sp>
      <p:sp>
        <p:nvSpPr>
          <p:cNvPr id="11" name="TextBox 10"/>
          <p:cNvSpPr txBox="1"/>
          <p:nvPr/>
        </p:nvSpPr>
        <p:spPr>
          <a:xfrm>
            <a:off x="1371600" y="1733996"/>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Zhang 等（2015）的</a:t>
            </a:r>
            <a:r>
              <a:rPr sz="1230" b="1" i="0">
                <a:solidFill>
                  <a:srgbClr val="1A1A1A"/>
                </a:solidFill>
                <a:latin typeface="Microsoft YaHei"/>
              </a:rPr>
              <a:t>七档梯度对照</a:t>
            </a:r>
            <a:r>
              <a:rPr sz="1230" b="0" i="0">
                <a:solidFill>
                  <a:srgbClr val="1A1A1A"/>
                </a:solidFill>
                <a:latin typeface="Microsoft YaHei"/>
              </a:rPr>
              <a:t>是本库唯一的梯度证据：TTC </a:t>
            </a:r>
            <a:r>
              <a:rPr sz="1230" b="1" i="0">
                <a:solidFill>
                  <a:srgbClr val="1A1A1A"/>
                </a:solidFill>
                <a:latin typeface="Microsoft YaHei"/>
              </a:rPr>
              <a:t>2.5 s 与无预警条件无显著差异</a:t>
            </a:r>
            <a:r>
              <a:rPr sz="1230" b="0" i="0">
                <a:solidFill>
                  <a:srgbClr val="1A1A1A"/>
                </a:solidFill>
                <a:latin typeface="Microsoft YaHei"/>
              </a:rPr>
              <a:t>（碰撞率 29.4% 对 44.1%），出现显著改善的下限为 </a:t>
            </a:r>
            <a:r>
              <a:rPr sz="1230" b="1" i="0">
                <a:solidFill>
                  <a:srgbClr val="1A1A1A"/>
                </a:solidFill>
                <a:latin typeface="Microsoft YaHei"/>
              </a:rPr>
              <a:t>3.0 s</a:t>
            </a:r>
            <a:r>
              <a:rPr sz="1230" b="0" i="0">
                <a:solidFill>
                  <a:srgbClr val="1A1A1A"/>
                </a:solidFill>
                <a:latin typeface="Microsoft YaHei"/>
              </a:rPr>
              <a:t>，推荐区间 3.0–4.0 s。</a:t>
            </a:r>
          </a:p>
        </p:txBody>
      </p:sp>
      <p:sp>
        <p:nvSpPr>
          <p:cNvPr id="12" name="Rectangle 11"/>
          <p:cNvSpPr/>
          <p:nvPr/>
        </p:nvSpPr>
        <p:spPr>
          <a:xfrm>
            <a:off x="438150" y="3916560"/>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150" y="3203823"/>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C00000"/>
                </a:solidFill>
                <a:latin typeface="Microsoft YaHei"/>
              </a:rPr>
              <a:t>未定</a:t>
            </a:r>
          </a:p>
        </p:txBody>
      </p:sp>
      <p:sp>
        <p:nvSpPr>
          <p:cNvPr id="14" name="TextBox 13"/>
          <p:cNvSpPr txBox="1"/>
          <p:nvPr/>
        </p:nvSpPr>
        <p:spPr>
          <a:xfrm>
            <a:off x="1371600" y="2859285"/>
            <a:ext cx="10420350" cy="88195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同一取值 </a:t>
            </a:r>
            <a:r>
              <a:rPr sz="1230" b="1" i="0">
                <a:solidFill>
                  <a:srgbClr val="1A1A1A"/>
                </a:solidFill>
                <a:latin typeface="Microsoft YaHei"/>
              </a:rPr>
              <a:t>5.0 s</a:t>
            </a:r>
            <a:r>
              <a:rPr sz="1230" b="0" i="0">
                <a:solidFill>
                  <a:srgbClr val="1A1A1A"/>
                </a:solidFill>
                <a:latin typeface="Microsoft YaHei"/>
              </a:rPr>
              <a:t> 上存在三种相反结论——显著缩短反应时（Kang 等, 2016）、峰值减速度上升 34.46%（Kim 等, 2018）、无显著增益（Wang 等, 2025）；可识别的第三变量为</a:t>
            </a:r>
            <a:r>
              <a:rPr sz="1230" b="1" i="0">
                <a:solidFill>
                  <a:srgbClr val="1A1A1A"/>
                </a:solidFill>
                <a:latin typeface="Microsoft YaHei"/>
              </a:rPr>
              <a:t>车速与呈现模态</a:t>
            </a:r>
            <a:r>
              <a:rPr sz="1230" b="0" i="0">
                <a:solidFill>
                  <a:srgbClr val="1A1A1A"/>
                </a:solidFill>
                <a:latin typeface="Microsoft YaHei"/>
              </a:rPr>
              <a:t>。更根本的是：</a:t>
            </a:r>
            <a:r>
              <a:rPr sz="1230" b="0" i="1">
                <a:solidFill>
                  <a:srgbClr val="1A1A1A"/>
                </a:solidFill>
                <a:latin typeface="Microsoft YaHei"/>
              </a:rPr>
              <a:t>t</a:t>
            </a:r>
            <a:r>
              <a:rPr sz="860" b="0" i="1" baseline="-25000">
                <a:solidFill>
                  <a:srgbClr val="1A1A1A"/>
                </a:solidFill>
                <a:latin typeface="Microsoft YaHei"/>
              </a:rPr>
              <a:t>0</a:t>
            </a:r>
            <a:r>
              <a:rPr sz="1230" b="0" i="0">
                <a:solidFill>
                  <a:srgbClr val="1A1A1A"/>
                </a:solidFill>
                <a:latin typeface="Microsoft YaHei"/>
              </a:rPr>
              <a:t> </a:t>
            </a:r>
            <a:r>
              <a:rPr sz="1230" b="1" i="0">
                <a:solidFill>
                  <a:srgbClr val="1A1A1A"/>
                </a:solidFill>
                <a:latin typeface="Microsoft YaHei"/>
              </a:rPr>
              <a:t>从未被作为基准量测量</a:t>
            </a:r>
            <a:r>
              <a:rPr sz="1230" b="0" i="0">
                <a:solidFill>
                  <a:srgbClr val="1A1A1A"/>
                </a:solidFill>
                <a:latin typeface="Microsoft YaHei"/>
              </a:rPr>
              <a:t>，全部研究把预警设在绝对 TTC 上，隐含「驾驶员在预警前对行人一无所知」，而 Winkler 等（2018）报告 </a:t>
            </a:r>
            <a:r>
              <a:rPr sz="1230" b="1" i="0">
                <a:solidFill>
                  <a:srgbClr val="1A1A1A"/>
                </a:solidFill>
                <a:latin typeface="Microsoft YaHei"/>
              </a:rPr>
              <a:t>50% 被试在预警呈现前已开始制动</a:t>
            </a:r>
            <a:r>
              <a:rPr sz="1230" b="0" i="0">
                <a:solidFill>
                  <a:srgbClr val="1A1A1A"/>
                </a:solidFill>
                <a:latin typeface="Microsoft YaHei"/>
              </a:rPr>
              <a:t>。</a:t>
            </a:r>
          </a:p>
        </p:txBody>
      </p:sp>
      <p:sp>
        <p:nvSpPr>
          <p:cNvPr id="15" name="Rectangle 14"/>
          <p:cNvSpPr/>
          <p:nvPr/>
        </p:nvSpPr>
        <p:spPr>
          <a:xfrm>
            <a:off x="438150" y="5187255"/>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150" y="4474517"/>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2F528F"/>
                </a:solidFill>
                <a:latin typeface="Microsoft YaHei"/>
              </a:rPr>
              <a:t>本研究取值</a:t>
            </a:r>
          </a:p>
        </p:txBody>
      </p:sp>
      <p:sp>
        <p:nvSpPr>
          <p:cNvPr id="17" name="TextBox 16"/>
          <p:cNvSpPr txBox="1"/>
          <p:nvPr/>
        </p:nvSpPr>
        <p:spPr>
          <a:xfrm>
            <a:off x="1371600" y="4411265"/>
            <a:ext cx="10420350" cy="31938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自变量由绝对 TTC 改为</a:t>
            </a:r>
            <a:r>
              <a:rPr sz="1230" b="1" i="0">
                <a:solidFill>
                  <a:srgbClr val="1A1A1A"/>
                </a:solidFill>
                <a:latin typeface="Microsoft YaHei"/>
              </a:rPr>
              <a:t>相对提前量</a:t>
            </a:r>
            <a:r>
              <a:rPr sz="1230" b="0" i="0">
                <a:solidFill>
                  <a:srgbClr val="1A1A1A"/>
                </a:solidFill>
                <a:latin typeface="Microsoft YaHei"/>
              </a:rPr>
              <a:t> </a:t>
            </a:r>
            <a:r>
              <a:rPr sz="1230" b="0" i="1">
                <a:solidFill>
                  <a:srgbClr val="1A1A1A"/>
                </a:solidFill>
                <a:latin typeface="Microsoft YaHei"/>
              </a:rPr>
              <a:t>Δt</a:t>
            </a:r>
            <a:r>
              <a:rPr sz="1230" b="0" i="1">
                <a:solidFill>
                  <a:srgbClr val="1A1A1A"/>
                </a:solidFill>
                <a:latin typeface="Microsoft YaHei"/>
              </a:rPr>
              <a:t> = </a:t>
            </a:r>
            <a:r>
              <a:rPr sz="1230" b="0" i="1">
                <a:solidFill>
                  <a:srgbClr val="1A1A1A"/>
                </a:solidFill>
                <a:latin typeface="Microsoft YaHei"/>
              </a:rPr>
              <a:t>t</a:t>
            </a:r>
            <a:r>
              <a:rPr sz="860" b="0" i="1" baseline="-25000">
                <a:solidFill>
                  <a:srgbClr val="1A1A1A"/>
                </a:solidFill>
                <a:latin typeface="Microsoft YaHei"/>
              </a:rPr>
              <a:t>0</a:t>
            </a:r>
            <a:r>
              <a:rPr sz="1230" b="0" i="1">
                <a:solidFill>
                  <a:srgbClr val="1A1A1A"/>
                </a:solidFill>
                <a:latin typeface="Microsoft YaHei"/>
              </a:rPr>
              <a:t> − </a:t>
            </a:r>
            <a:r>
              <a:rPr sz="1230" b="0" i="1">
                <a:solidFill>
                  <a:srgbClr val="1A1A1A"/>
                </a:solidFill>
                <a:latin typeface="Microsoft YaHei"/>
              </a:rPr>
              <a:t>t</a:t>
            </a:r>
            <a:r>
              <a:rPr sz="860" b="0" i="1" baseline="-25000">
                <a:solidFill>
                  <a:srgbClr val="1A1A1A"/>
                </a:solidFill>
                <a:latin typeface="Microsoft YaHei"/>
              </a:rPr>
              <a:t>warn</a:t>
            </a:r>
            <a:r>
              <a:rPr sz="1230" b="0" i="0">
                <a:solidFill>
                  <a:srgbClr val="1A1A1A"/>
                </a:solidFill>
                <a:latin typeface="Microsoft YaHei"/>
              </a:rPr>
              <a:t>，取 </a:t>
            </a:r>
            <a:r>
              <a:rPr sz="1230" b="1" i="0">
                <a:solidFill>
                  <a:srgbClr val="1A1A1A"/>
                </a:solidFill>
                <a:latin typeface="Microsoft YaHei"/>
              </a:rPr>
              <a:t>0 ／ +1.0 ／ +2.5 s</a:t>
            </a:r>
            <a:r>
              <a:rPr sz="1230" b="0" i="0">
                <a:solidFill>
                  <a:srgbClr val="1A1A1A"/>
                </a:solidFill>
                <a:latin typeface="Microsoft YaHei"/>
              </a:rPr>
              <a:t> 三水平，使不同车速下的条件在</a:t>
            </a:r>
            <a:r>
              <a:rPr sz="1230" b="1" i="0">
                <a:solidFill>
                  <a:srgbClr val="1A1A1A"/>
                </a:solidFill>
                <a:latin typeface="Microsoft YaHei"/>
              </a:rPr>
              <a:t>信息增益上等价</a:t>
            </a:r>
            <a:r>
              <a:rPr sz="1230" b="0" i="0">
                <a:solidFill>
                  <a:srgbClr val="1A1A1A"/>
                </a:solidFill>
                <a:latin typeface="Microsoft YaHei"/>
              </a:rPr>
              <a:t>。</a:t>
            </a:r>
          </a:p>
        </p:txBody>
      </p:sp>
      <p:sp>
        <p:nvSpPr>
          <p:cNvPr id="18" name="TextBox 17"/>
          <p:cNvSpPr txBox="1"/>
          <p:nvPr/>
        </p:nvSpPr>
        <p:spPr>
          <a:xfrm>
            <a:off x="438150" y="5745212"/>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7B5EA7"/>
                </a:solidFill>
                <a:latin typeface="Microsoft YaHei"/>
              </a:rPr>
              <a:t>去处</a:t>
            </a:r>
          </a:p>
        </p:txBody>
      </p:sp>
      <p:sp>
        <p:nvSpPr>
          <p:cNvPr id="19" name="TextBox 18"/>
          <p:cNvSpPr txBox="1"/>
          <p:nvPr/>
        </p:nvSpPr>
        <p:spPr>
          <a:xfrm>
            <a:off x="1371600" y="5681960"/>
            <a:ext cx="10420350" cy="319385"/>
          </a:xfrm>
          <a:prstGeom prst="rect">
            <a:avLst/>
          </a:prstGeom>
          <a:noFill/>
        </p:spPr>
        <p:txBody>
          <a:bodyPr wrap="square" lIns="0" rIns="0" tIns="0" bIns="0" anchor="t">
            <a:normAutofit/>
          </a:bodyPr>
          <a:lstStyle/>
          <a:p>
            <a:pPr algn="l">
              <a:lnSpc>
                <a:spcPct val="180000"/>
              </a:lnSpc>
              <a:spcBef>
                <a:spcPts val="0"/>
              </a:spcBef>
              <a:spcAft>
                <a:spcPts val="0"/>
              </a:spcAft>
            </a:pPr>
            <a:r>
              <a:rPr sz="1230" b="0" i="1">
                <a:solidFill>
                  <a:srgbClr val="1A1A1A"/>
                </a:solidFill>
                <a:latin typeface="Microsoft YaHei"/>
              </a:rPr>
              <a:t>t</a:t>
            </a:r>
            <a:r>
              <a:rPr sz="860" b="0" i="1" baseline="-25000">
                <a:solidFill>
                  <a:srgbClr val="1A1A1A"/>
                </a:solidFill>
                <a:latin typeface="Microsoft YaHei"/>
              </a:rPr>
              <a:t>0</a:t>
            </a:r>
            <a:r>
              <a:rPr sz="1230" b="0" i="0">
                <a:solidFill>
                  <a:srgbClr val="1A1A1A"/>
                </a:solidFill>
                <a:latin typeface="Microsoft YaHei"/>
              </a:rPr>
              <a:t> 由</a:t>
            </a:r>
            <a:r>
              <a:rPr sz="1230" b="1" i="0">
                <a:solidFill>
                  <a:srgbClr val="1A1A1A"/>
                </a:solidFill>
                <a:latin typeface="Microsoft YaHei"/>
              </a:rPr>
              <a:t>研究一</a:t>
            </a:r>
            <a:r>
              <a:rPr sz="1230" b="0" i="0">
                <a:solidFill>
                  <a:srgbClr val="1A1A1A"/>
                </a:solidFill>
                <a:latin typeface="Microsoft YaHei"/>
              </a:rPr>
              <a:t>实测（空白 G1）→ </a:t>
            </a:r>
            <a:r>
              <a:rPr sz="1230" b="0" i="1">
                <a:solidFill>
                  <a:srgbClr val="1A1A1A"/>
                </a:solidFill>
                <a:latin typeface="Microsoft YaHei"/>
              </a:rPr>
              <a:t>Δt</a:t>
            </a:r>
            <a:r>
              <a:rPr sz="1230" b="0" i="0">
                <a:solidFill>
                  <a:srgbClr val="1A1A1A"/>
                </a:solidFill>
                <a:latin typeface="Microsoft YaHei"/>
              </a:rPr>
              <a:t> 作为</a:t>
            </a:r>
            <a:r>
              <a:rPr sz="1230" b="1" i="0">
                <a:solidFill>
                  <a:srgbClr val="1A1A1A"/>
                </a:solidFill>
                <a:latin typeface="Microsoft YaHei"/>
              </a:rPr>
              <a:t>实验 2</a:t>
            </a:r>
            <a:r>
              <a:rPr sz="1230" b="0" i="0">
                <a:solidFill>
                  <a:srgbClr val="1A1A1A"/>
                </a:solidFill>
                <a:latin typeface="Microsoft YaHei"/>
              </a:rPr>
              <a:t> 的自变量。</a:t>
            </a:r>
          </a:p>
        </p:txBody>
      </p:sp>
      <p:sp>
        <p:nvSpPr>
          <p:cNvPr id="20" name="TextBox 19"/>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 /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参数二 触发准则</a:t>
            </a:r>
          </a:p>
        </p:txBody>
      </p:sp>
      <p:sp>
        <p:nvSpPr>
          <p:cNvPr id="4" name="Rounded Rectangle 3"/>
          <p:cNvSpPr/>
          <p:nvPr/>
        </p:nvSpPr>
        <p:spPr>
          <a:xfrm>
            <a:off x="11067157" y="209550"/>
            <a:ext cx="686692"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71932" y="238125"/>
            <a:ext cx="515242"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参数 2 / 7</a:t>
            </a:r>
          </a:p>
        </p:txBody>
      </p:sp>
      <p:sp>
        <p:nvSpPr>
          <p:cNvPr id="6" name="Rectangle 5"/>
          <p:cNvSpPr/>
          <p:nvPr/>
        </p:nvSpPr>
        <p:spPr>
          <a:xfrm>
            <a:off x="438150" y="762000"/>
            <a:ext cx="11315700" cy="517921"/>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517921"/>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75" y="885825"/>
            <a:ext cx="11029950" cy="298846"/>
          </a:xfrm>
          <a:prstGeom prst="rect">
            <a:avLst/>
          </a:prstGeom>
          <a:noFill/>
        </p:spPr>
        <p:txBody>
          <a:bodyPr wrap="square" lIns="0" rIns="0" tIns="0" bIns="0" anchor="t">
            <a:normAutofit/>
          </a:bodyPr>
          <a:lstStyle/>
          <a:p>
            <a:pPr algn="l">
              <a:lnSpc>
                <a:spcPct val="182000"/>
              </a:lnSpc>
              <a:spcBef>
                <a:spcPts val="0"/>
              </a:spcBef>
              <a:spcAft>
                <a:spcPts val="0"/>
              </a:spcAft>
            </a:pPr>
            <a:r>
              <a:rPr sz="1170" b="1" i="0">
                <a:solidFill>
                  <a:srgbClr val="2F528F"/>
                </a:solidFill>
                <a:latin typeface="Microsoft YaHei"/>
              </a:rPr>
              <a:t>待定参数：</a:t>
            </a:r>
            <a:r>
              <a:rPr sz="1170" b="0" i="0">
                <a:solidFill>
                  <a:srgbClr val="2F528F"/>
                </a:solidFill>
                <a:latin typeface="Microsoft YaHei"/>
              </a:rPr>
              <a:t>触发条件所依据的物理量——固定时间阈值（TTC），或</a:t>
            </a:r>
            <a:r>
              <a:rPr sz="1170" b="1" i="0">
                <a:solidFill>
                  <a:srgbClr val="2F528F"/>
                </a:solidFill>
                <a:latin typeface="Microsoft YaHei"/>
              </a:rPr>
              <a:t>制动威胁数 BTN</a:t>
            </a:r>
            <a:r>
              <a:rPr sz="1170" b="0" i="0">
                <a:solidFill>
                  <a:srgbClr val="2F528F"/>
                </a:solidFill>
                <a:latin typeface="Microsoft YaHei"/>
              </a:rPr>
              <a:t>（＝避险所需减速度／最大可用减速度，无量纲）。</a:t>
            </a:r>
          </a:p>
        </p:txBody>
      </p:sp>
      <p:sp>
        <p:nvSpPr>
          <p:cNvPr id="9" name="Rectangle 8"/>
          <p:cNvSpPr/>
          <p:nvPr/>
        </p:nvSpPr>
        <p:spPr>
          <a:xfrm>
            <a:off x="438150" y="2645866"/>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150" y="1933128"/>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3E7D3E"/>
                </a:solidFill>
                <a:latin typeface="Microsoft YaHei"/>
              </a:rPr>
              <a:t>已定</a:t>
            </a:r>
          </a:p>
        </p:txBody>
      </p:sp>
      <p:sp>
        <p:nvSpPr>
          <p:cNvPr id="11" name="TextBox 10"/>
          <p:cNvSpPr txBox="1"/>
          <p:nvPr/>
        </p:nvSpPr>
        <p:spPr>
          <a:xfrm>
            <a:off x="1371600" y="1733996"/>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算法侧四项研究一致主张以</a:t>
            </a:r>
            <a:r>
              <a:rPr sz="1230" b="1" i="0">
                <a:solidFill>
                  <a:srgbClr val="1A1A1A"/>
                </a:solidFill>
                <a:latin typeface="Microsoft YaHei"/>
              </a:rPr>
              <a:t>运动学量</a:t>
            </a:r>
            <a:r>
              <a:rPr sz="1230" b="0" i="0">
                <a:solidFill>
                  <a:srgbClr val="1A1A1A"/>
                </a:solidFill>
                <a:latin typeface="Microsoft YaHei"/>
              </a:rPr>
              <a:t>而非固定秒数触发：Takada 等（2014）的减速度触发准则（触发 4.0／解除 2.0 m/s²，2 : 1 滞环）、Chen 等（2013）的双条件、Coelingh 等（2010）的量产 AEB 时序（物理最早 1.6 s、制动建立 0.68 s）、Char（2020）基于 3 700 例事故重建的检出率。</a:t>
            </a:r>
          </a:p>
        </p:txBody>
      </p:sp>
      <p:sp>
        <p:nvSpPr>
          <p:cNvPr id="12" name="Rectangle 11"/>
          <p:cNvSpPr/>
          <p:nvPr/>
        </p:nvSpPr>
        <p:spPr>
          <a:xfrm>
            <a:off x="438150" y="3916560"/>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150" y="3203823"/>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C00000"/>
                </a:solidFill>
                <a:latin typeface="Microsoft YaHei"/>
              </a:rPr>
              <a:t>未定</a:t>
            </a:r>
          </a:p>
        </p:txBody>
      </p:sp>
      <p:sp>
        <p:nvSpPr>
          <p:cNvPr id="14" name="TextBox 13"/>
          <p:cNvSpPr txBox="1"/>
          <p:nvPr/>
        </p:nvSpPr>
        <p:spPr>
          <a:xfrm>
            <a:off x="1371600" y="3004691"/>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固定时间阈值</a:t>
            </a:r>
            <a:r>
              <a:rPr sz="1230" b="1" i="0">
                <a:solidFill>
                  <a:srgbClr val="1A1A1A"/>
                </a:solidFill>
                <a:latin typeface="Microsoft YaHei"/>
              </a:rPr>
              <a:t>跨车速失效</a:t>
            </a:r>
            <a:r>
              <a:rPr sz="1230" b="0" i="0">
                <a:solidFill>
                  <a:srgbClr val="1A1A1A"/>
                </a:solidFill>
                <a:latin typeface="Microsoft YaHei"/>
              </a:rPr>
              <a:t>：TTC 2 s 在 40 km/h 下对应 BTN 0.35，在 80 km/h 下对应 </a:t>
            </a:r>
            <a:r>
              <a:rPr sz="1230" b="1" i="0">
                <a:solidFill>
                  <a:srgbClr val="1A1A1A"/>
                </a:solidFill>
                <a:latin typeface="Microsoft YaHei"/>
              </a:rPr>
              <a:t>0.69</a:t>
            </a:r>
            <a:r>
              <a:rPr sz="1230" b="0" i="0">
                <a:solidFill>
                  <a:srgbClr val="1A1A1A"/>
                </a:solidFill>
                <a:latin typeface="Microsoft YaHei"/>
              </a:rPr>
              <a:t>，运动学难度相差一倍，故以固定秒数表述的参数在物理上不可跨车速迁移。但人因侧</a:t>
            </a:r>
            <a:r>
              <a:rPr sz="1230" b="1" i="0">
                <a:solidFill>
                  <a:srgbClr val="1A1A1A"/>
                </a:solidFill>
                <a:latin typeface="Microsoft YaHei"/>
              </a:rPr>
              <a:t>从未做过准则类型的对照实验</a:t>
            </a:r>
            <a:r>
              <a:rPr sz="1230" b="0" i="0">
                <a:solidFill>
                  <a:srgbClr val="1A1A1A"/>
                </a:solidFill>
                <a:latin typeface="Microsoft YaHei"/>
              </a:rPr>
              <a:t>（空白 G2）。</a:t>
            </a:r>
          </a:p>
        </p:txBody>
      </p:sp>
      <p:sp>
        <p:nvSpPr>
          <p:cNvPr id="15" name="Rectangle 14"/>
          <p:cNvSpPr/>
          <p:nvPr/>
        </p:nvSpPr>
        <p:spPr>
          <a:xfrm>
            <a:off x="438150" y="5187255"/>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150" y="4474517"/>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2F528F"/>
                </a:solidFill>
                <a:latin typeface="Microsoft YaHei"/>
              </a:rPr>
              <a:t>本研究取值</a:t>
            </a:r>
          </a:p>
        </p:txBody>
      </p:sp>
      <p:sp>
        <p:nvSpPr>
          <p:cNvPr id="17" name="TextBox 16"/>
          <p:cNvSpPr txBox="1"/>
          <p:nvPr/>
        </p:nvSpPr>
        <p:spPr>
          <a:xfrm>
            <a:off x="1371600" y="4270623"/>
            <a:ext cx="10420350" cy="600670"/>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2</a:t>
            </a:r>
            <a:r>
              <a:rPr sz="1230" b="0" i="0">
                <a:solidFill>
                  <a:srgbClr val="1A1A1A"/>
                </a:solidFill>
                <a:latin typeface="Microsoft YaHei"/>
              </a:rPr>
              <a:t> 把准则类型设为自变量（固定时间阈值／减速度归一化）。BTN 分母统一取 </a:t>
            </a:r>
            <a:r>
              <a:rPr sz="1230" b="0" i="1">
                <a:solidFill>
                  <a:srgbClr val="1A1A1A"/>
                </a:solidFill>
                <a:latin typeface="Microsoft YaHei"/>
              </a:rPr>
              <a:t>a</a:t>
            </a:r>
            <a:r>
              <a:rPr sz="860" b="0" i="1" baseline="-25000">
                <a:solidFill>
                  <a:srgbClr val="1A1A1A"/>
                </a:solidFill>
                <a:latin typeface="Microsoft YaHei"/>
              </a:rPr>
              <a:t>max</a:t>
            </a:r>
            <a:r>
              <a:rPr sz="1230" b="0" i="0">
                <a:solidFill>
                  <a:srgbClr val="1A1A1A"/>
                </a:solidFill>
                <a:latin typeface="Microsoft YaHei"/>
              </a:rPr>
              <a:t> = 8 m/s²，并</a:t>
            </a:r>
            <a:r>
              <a:rPr sz="1230" b="1" i="0">
                <a:solidFill>
                  <a:srgbClr val="1A1A1A"/>
                </a:solidFill>
                <a:latin typeface="Microsoft YaHei"/>
              </a:rPr>
              <a:t>另以研究一实测的舒适减速度为分母并列报告</a:t>
            </a:r>
            <a:r>
              <a:rPr sz="1230" b="0" i="0">
                <a:solidFill>
                  <a:srgbClr val="1A1A1A"/>
                </a:solidFill>
                <a:latin typeface="Microsoft YaHei"/>
              </a:rPr>
              <a:t>，不择一而用。</a:t>
            </a:r>
          </a:p>
        </p:txBody>
      </p:sp>
      <p:sp>
        <p:nvSpPr>
          <p:cNvPr id="18" name="TextBox 17"/>
          <p:cNvSpPr txBox="1"/>
          <p:nvPr/>
        </p:nvSpPr>
        <p:spPr>
          <a:xfrm>
            <a:off x="438150" y="5745212"/>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7B5EA7"/>
                </a:solidFill>
                <a:latin typeface="Microsoft YaHei"/>
              </a:rPr>
              <a:t>去处</a:t>
            </a:r>
          </a:p>
        </p:txBody>
      </p:sp>
      <p:sp>
        <p:nvSpPr>
          <p:cNvPr id="19" name="TextBox 18"/>
          <p:cNvSpPr txBox="1"/>
          <p:nvPr/>
        </p:nvSpPr>
        <p:spPr>
          <a:xfrm>
            <a:off x="1371600" y="5686722"/>
            <a:ext cx="10420350" cy="309860"/>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2</a:t>
            </a:r>
            <a:r>
              <a:rPr sz="1230" b="0" i="0">
                <a:solidFill>
                  <a:srgbClr val="1A1A1A"/>
                </a:solidFill>
                <a:latin typeface="Microsoft YaHei"/>
              </a:rPr>
              <a:t> 自变量；BTN 同时作为</a:t>
            </a:r>
            <a:r>
              <a:rPr sz="1230" b="1" i="0">
                <a:solidFill>
                  <a:srgbClr val="1A1A1A"/>
                </a:solidFill>
                <a:latin typeface="Microsoft YaHei"/>
              </a:rPr>
              <a:t>实验 5</a:t>
            </a:r>
            <a:r>
              <a:rPr sz="1230" b="0" i="0">
                <a:solidFill>
                  <a:srgbClr val="1A1A1A"/>
                </a:solidFill>
                <a:latin typeface="Microsoft YaHei"/>
              </a:rPr>
              <a:t> 风险量级映射的映射源。</a:t>
            </a:r>
          </a:p>
        </p:txBody>
      </p:sp>
      <p:sp>
        <p:nvSpPr>
          <p:cNvPr id="20" name="TextBox 19"/>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4 /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参数三 分层结构与级间间隔</a:t>
            </a:r>
          </a:p>
        </p:txBody>
      </p:sp>
      <p:sp>
        <p:nvSpPr>
          <p:cNvPr id="4" name="Rounded Rectangle 3"/>
          <p:cNvSpPr/>
          <p:nvPr/>
        </p:nvSpPr>
        <p:spPr>
          <a:xfrm>
            <a:off x="11067157" y="209550"/>
            <a:ext cx="686692"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71932" y="238125"/>
            <a:ext cx="515242"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参数 3 / 7</a:t>
            </a:r>
          </a:p>
        </p:txBody>
      </p:sp>
      <p:sp>
        <p:nvSpPr>
          <p:cNvPr id="6" name="Rectangle 5"/>
          <p:cNvSpPr/>
          <p:nvPr/>
        </p:nvSpPr>
        <p:spPr>
          <a:xfrm>
            <a:off x="438150" y="762000"/>
            <a:ext cx="11315700" cy="517921"/>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517921"/>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75" y="885825"/>
            <a:ext cx="11029950" cy="298846"/>
          </a:xfrm>
          <a:prstGeom prst="rect">
            <a:avLst/>
          </a:prstGeom>
          <a:noFill/>
        </p:spPr>
        <p:txBody>
          <a:bodyPr wrap="square" lIns="0" rIns="0" tIns="0" bIns="0" anchor="t">
            <a:normAutofit/>
          </a:bodyPr>
          <a:lstStyle/>
          <a:p>
            <a:pPr algn="l">
              <a:lnSpc>
                <a:spcPct val="182000"/>
              </a:lnSpc>
              <a:spcBef>
                <a:spcPts val="0"/>
              </a:spcBef>
              <a:spcAft>
                <a:spcPts val="0"/>
              </a:spcAft>
            </a:pPr>
            <a:r>
              <a:rPr sz="1170" b="1" i="0">
                <a:solidFill>
                  <a:srgbClr val="2F528F"/>
                </a:solidFill>
                <a:latin typeface="Microsoft YaHei"/>
              </a:rPr>
              <a:t>待定参数：</a:t>
            </a:r>
            <a:r>
              <a:rPr sz="1170" b="0" i="0">
                <a:solidFill>
                  <a:srgbClr val="2F528F"/>
                </a:solidFill>
                <a:latin typeface="Microsoft YaHei"/>
              </a:rPr>
              <a:t>级数、各级触发点与</a:t>
            </a:r>
            <a:r>
              <a:rPr sz="1170" b="1" i="0">
                <a:solidFill>
                  <a:srgbClr val="2F528F"/>
                </a:solidFill>
                <a:latin typeface="Microsoft YaHei"/>
              </a:rPr>
              <a:t>级间间隔</a:t>
            </a:r>
            <a:r>
              <a:rPr sz="1170" b="0" i="0">
                <a:solidFill>
                  <a:srgbClr val="2F528F"/>
                </a:solidFill>
                <a:latin typeface="Microsoft YaHei"/>
              </a:rPr>
              <a:t>。分层的主张并非增加信息量，而是使预警强度与风险阶段相匹配。</a:t>
            </a:r>
          </a:p>
        </p:txBody>
      </p:sp>
      <p:sp>
        <p:nvSpPr>
          <p:cNvPr id="9" name="Rectangle 8"/>
          <p:cNvSpPr/>
          <p:nvPr/>
        </p:nvSpPr>
        <p:spPr>
          <a:xfrm>
            <a:off x="438150" y="2645866"/>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150" y="1933128"/>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3E7D3E"/>
                </a:solidFill>
                <a:latin typeface="Microsoft YaHei"/>
              </a:rPr>
              <a:t>已定</a:t>
            </a:r>
          </a:p>
        </p:txBody>
      </p:sp>
      <p:sp>
        <p:nvSpPr>
          <p:cNvPr id="11" name="TextBox 10"/>
          <p:cNvSpPr txBox="1"/>
          <p:nvPr/>
        </p:nvSpPr>
        <p:spPr>
          <a:xfrm>
            <a:off x="1371600" y="1733996"/>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四条产业级级联时序共同界定区间 </a:t>
            </a:r>
            <a:r>
              <a:rPr sz="1230" b="1" i="0">
                <a:solidFill>
                  <a:srgbClr val="1A1A1A"/>
                </a:solidFill>
                <a:latin typeface="Microsoft YaHei"/>
              </a:rPr>
              <a:t>0.5–2.0 s</a:t>
            </a:r>
            <a:r>
              <a:rPr sz="1230" b="0" i="0">
                <a:solidFill>
                  <a:srgbClr val="1A1A1A"/>
                </a:solidFill>
                <a:latin typeface="Microsoft YaHei"/>
              </a:rPr>
              <a:t>，且越接近碰撞间隔越短（Lubbe, 2017：0.7 s；Daimler 转引：1.4／1.0／0.5 s；Suzuki 等, 2010：档距 1.0 s）；其中 </a:t>
            </a:r>
            <a:r>
              <a:rPr sz="1230" b="1" i="0">
                <a:solidFill>
                  <a:srgbClr val="1A1A1A"/>
                </a:solidFill>
                <a:latin typeface="Microsoft YaHei"/>
              </a:rPr>
              <a:t>1.0 s 获双源支持</a:t>
            </a:r>
            <a:r>
              <a:rPr sz="1230" b="0" i="0">
                <a:solidFill>
                  <a:srgbClr val="1A1A1A"/>
                </a:solidFill>
                <a:latin typeface="Microsoft YaHei"/>
              </a:rPr>
              <a:t>。Phan（2016）的覆盖人群百分位为第二级锚点提供依据：TTC 2.0 s 覆盖 90%。</a:t>
            </a:r>
          </a:p>
        </p:txBody>
      </p:sp>
      <p:sp>
        <p:nvSpPr>
          <p:cNvPr id="12" name="Rectangle 11"/>
          <p:cNvSpPr/>
          <p:nvPr/>
        </p:nvSpPr>
        <p:spPr>
          <a:xfrm>
            <a:off x="438150" y="3916560"/>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150" y="3203823"/>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C00000"/>
                </a:solidFill>
                <a:latin typeface="Microsoft YaHei"/>
              </a:rPr>
              <a:t>未定</a:t>
            </a:r>
          </a:p>
        </p:txBody>
      </p:sp>
      <p:sp>
        <p:nvSpPr>
          <p:cNvPr id="14" name="TextBox 13"/>
          <p:cNvSpPr txBox="1"/>
          <p:nvPr/>
        </p:nvSpPr>
        <p:spPr>
          <a:xfrm>
            <a:off x="1371600" y="3004691"/>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上述区间</a:t>
            </a:r>
            <a:r>
              <a:rPr sz="1230" b="1" i="0">
                <a:solidFill>
                  <a:srgbClr val="1A1A1A"/>
                </a:solidFill>
                <a:latin typeface="Microsoft YaHei"/>
              </a:rPr>
              <a:t>全部来自产业实现的时序</a:t>
            </a:r>
            <a:r>
              <a:rPr sz="1230" b="0" i="0">
                <a:solidFill>
                  <a:srgbClr val="1A1A1A"/>
                </a:solidFill>
                <a:latin typeface="Microsoft YaHei"/>
              </a:rPr>
              <a:t>，本库无一项以级间间隔为自变量的人因实验（空白 G4）；因此间隔过短是否导致理解不及、过长是否造成重复提醒、是否存在倒 U 型最优区间，均无从判断。常被引用的 0.7 s 实为</a:t>
            </a:r>
            <a:r>
              <a:rPr sz="1230" b="1" i="0">
                <a:solidFill>
                  <a:srgbClr val="1A1A1A"/>
                </a:solidFill>
                <a:latin typeface="Microsoft YaHei"/>
              </a:rPr>
              <a:t>单一来源</a:t>
            </a:r>
            <a:r>
              <a:rPr sz="1230" b="0" i="0">
                <a:solidFill>
                  <a:srgbClr val="1A1A1A"/>
                </a:solidFill>
                <a:latin typeface="Microsoft YaHei"/>
              </a:rPr>
              <a:t>，且可能使两级警告在知觉上融合为单一刺激。</a:t>
            </a:r>
          </a:p>
        </p:txBody>
      </p:sp>
      <p:sp>
        <p:nvSpPr>
          <p:cNvPr id="15" name="Rectangle 14"/>
          <p:cNvSpPr/>
          <p:nvPr/>
        </p:nvSpPr>
        <p:spPr>
          <a:xfrm>
            <a:off x="438150" y="5187255"/>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150" y="4474517"/>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2F528F"/>
                </a:solidFill>
                <a:latin typeface="Microsoft YaHei"/>
              </a:rPr>
              <a:t>本研究取值</a:t>
            </a:r>
          </a:p>
        </p:txBody>
      </p:sp>
      <p:sp>
        <p:nvSpPr>
          <p:cNvPr id="17" name="TextBox 16"/>
          <p:cNvSpPr txBox="1"/>
          <p:nvPr/>
        </p:nvSpPr>
        <p:spPr>
          <a:xfrm>
            <a:off x="1371600" y="4270623"/>
            <a:ext cx="10420350" cy="600670"/>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3</a:t>
            </a:r>
            <a:r>
              <a:rPr sz="1230" b="0" i="0">
                <a:solidFill>
                  <a:srgbClr val="1A1A1A"/>
                </a:solidFill>
                <a:latin typeface="Microsoft YaHei"/>
              </a:rPr>
              <a:t> 以级间间隔 </a:t>
            </a:r>
            <a:r>
              <a:rPr sz="1230" b="1" i="0">
                <a:solidFill>
                  <a:srgbClr val="1A1A1A"/>
                </a:solidFill>
                <a:latin typeface="Microsoft YaHei"/>
              </a:rPr>
              <a:t>0.7 ／ 1.0 ／ 1.5 s</a:t>
            </a:r>
            <a:r>
              <a:rPr sz="1230" b="0" i="0">
                <a:solidFill>
                  <a:srgbClr val="1A1A1A"/>
                </a:solidFill>
                <a:latin typeface="Microsoft YaHei"/>
              </a:rPr>
              <a:t> 为自变量，另加无警告基线与实验 2 入选单层方案两个对照；并设</a:t>
            </a:r>
            <a:r>
              <a:rPr sz="1230" b="1" i="0">
                <a:solidFill>
                  <a:srgbClr val="1A1A1A"/>
                </a:solidFill>
                <a:latin typeface="Microsoft YaHei"/>
              </a:rPr>
              <a:t>状态条件化升级仲裁</a:t>
            </a:r>
            <a:r>
              <a:rPr sz="1230" b="0" i="0">
                <a:solidFill>
                  <a:srgbClr val="1A1A1A"/>
                </a:solidFill>
                <a:latin typeface="Microsoft YaHei"/>
              </a:rPr>
              <a:t>——第二级前若已检测到 </a:t>
            </a:r>
            <a:r>
              <a:rPr sz="1230" b="0" i="1">
                <a:solidFill>
                  <a:srgbClr val="1A1A1A"/>
                </a:solidFill>
                <a:latin typeface="Microsoft YaHei"/>
              </a:rPr>
              <a:t>a</a:t>
            </a:r>
            <a:r>
              <a:rPr sz="860" b="0" i="1" baseline="-25000">
                <a:solidFill>
                  <a:srgbClr val="1A1A1A"/>
                </a:solidFill>
                <a:latin typeface="Microsoft YaHei"/>
              </a:rPr>
              <a:t>ego</a:t>
            </a:r>
            <a:r>
              <a:rPr sz="1230" b="0" i="0">
                <a:solidFill>
                  <a:srgbClr val="1A1A1A"/>
                </a:solidFill>
                <a:latin typeface="Microsoft YaHei"/>
              </a:rPr>
              <a:t> &lt; −0.075 g 则取消升级。</a:t>
            </a:r>
          </a:p>
        </p:txBody>
      </p:sp>
      <p:sp>
        <p:nvSpPr>
          <p:cNvPr id="18" name="TextBox 17"/>
          <p:cNvSpPr txBox="1"/>
          <p:nvPr/>
        </p:nvSpPr>
        <p:spPr>
          <a:xfrm>
            <a:off x="438150" y="5745212"/>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7B5EA7"/>
                </a:solidFill>
                <a:latin typeface="Microsoft YaHei"/>
              </a:rPr>
              <a:t>去处</a:t>
            </a:r>
          </a:p>
        </p:txBody>
      </p:sp>
      <p:sp>
        <p:nvSpPr>
          <p:cNvPr id="19" name="TextBox 18"/>
          <p:cNvSpPr txBox="1"/>
          <p:nvPr/>
        </p:nvSpPr>
        <p:spPr>
          <a:xfrm>
            <a:off x="1371600" y="5686722"/>
            <a:ext cx="10420350" cy="309860"/>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3</a:t>
            </a:r>
            <a:r>
              <a:rPr sz="1230" b="0" i="0">
                <a:solidFill>
                  <a:srgbClr val="1A1A1A"/>
                </a:solidFill>
                <a:latin typeface="Microsoft YaHei"/>
              </a:rPr>
              <a:t> 自变量；升级仲裁的取消率／错误率作为过程指标。</a:t>
            </a:r>
          </a:p>
        </p:txBody>
      </p:sp>
      <p:sp>
        <p:nvSpPr>
          <p:cNvPr id="20" name="TextBox 19"/>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参数四 持续时长与撤销策略</a:t>
            </a:r>
          </a:p>
        </p:txBody>
      </p:sp>
      <p:sp>
        <p:nvSpPr>
          <p:cNvPr id="4" name="Rounded Rectangle 3"/>
          <p:cNvSpPr/>
          <p:nvPr/>
        </p:nvSpPr>
        <p:spPr>
          <a:xfrm>
            <a:off x="11067157" y="209550"/>
            <a:ext cx="686692"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71932" y="238125"/>
            <a:ext cx="515242"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参数 4 / 7</a:t>
            </a:r>
          </a:p>
        </p:txBody>
      </p:sp>
      <p:sp>
        <p:nvSpPr>
          <p:cNvPr id="6" name="Rectangle 5"/>
          <p:cNvSpPr/>
          <p:nvPr/>
        </p:nvSpPr>
        <p:spPr>
          <a:xfrm>
            <a:off x="438150" y="762000"/>
            <a:ext cx="11315700" cy="517921"/>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517921"/>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75" y="885825"/>
            <a:ext cx="11029950" cy="298846"/>
          </a:xfrm>
          <a:prstGeom prst="rect">
            <a:avLst/>
          </a:prstGeom>
          <a:noFill/>
        </p:spPr>
        <p:txBody>
          <a:bodyPr wrap="square" lIns="0" rIns="0" tIns="0" bIns="0" anchor="t">
            <a:normAutofit/>
          </a:bodyPr>
          <a:lstStyle/>
          <a:p>
            <a:pPr algn="l">
              <a:lnSpc>
                <a:spcPct val="182000"/>
              </a:lnSpc>
              <a:spcBef>
                <a:spcPts val="0"/>
              </a:spcBef>
              <a:spcAft>
                <a:spcPts val="0"/>
              </a:spcAft>
            </a:pPr>
            <a:r>
              <a:rPr sz="1170" b="1" i="0">
                <a:solidFill>
                  <a:srgbClr val="2F528F"/>
                </a:solidFill>
                <a:latin typeface="Microsoft YaHei"/>
              </a:rPr>
              <a:t>待定参数：</a:t>
            </a:r>
            <a:r>
              <a:rPr sz="1170" b="0" i="0">
                <a:solidFill>
                  <a:srgbClr val="2F528F"/>
                </a:solidFill>
                <a:latin typeface="Microsoft YaHei"/>
              </a:rPr>
              <a:t>在屏持续时长与退出方式（硬切／渐隐／滞环）。该参数在七项中证据最为薄弱。</a:t>
            </a:r>
          </a:p>
        </p:txBody>
      </p:sp>
      <p:sp>
        <p:nvSpPr>
          <p:cNvPr id="9" name="Rectangle 8"/>
          <p:cNvSpPr/>
          <p:nvPr/>
        </p:nvSpPr>
        <p:spPr>
          <a:xfrm>
            <a:off x="438150" y="2645866"/>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150" y="1933128"/>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3E7D3E"/>
                </a:solidFill>
                <a:latin typeface="Microsoft YaHei"/>
              </a:rPr>
              <a:t>已定</a:t>
            </a:r>
          </a:p>
        </p:txBody>
      </p:sp>
      <p:sp>
        <p:nvSpPr>
          <p:cNvPr id="11" name="TextBox 10"/>
          <p:cNvSpPr txBox="1"/>
          <p:nvPr/>
        </p:nvSpPr>
        <p:spPr>
          <a:xfrm>
            <a:off x="1371600" y="1733996"/>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固定时长型研究多取 </a:t>
            </a:r>
            <a:r>
              <a:rPr sz="1230" b="1" i="0">
                <a:solidFill>
                  <a:srgbClr val="1A1A1A"/>
                </a:solidFill>
                <a:latin typeface="Microsoft YaHei"/>
              </a:rPr>
              <a:t>3 s</a:t>
            </a:r>
            <a:r>
              <a:rPr sz="1230" b="0" i="0">
                <a:solidFill>
                  <a:srgbClr val="1A1A1A"/>
                </a:solidFill>
                <a:latin typeface="Microsoft YaHei"/>
              </a:rPr>
              <a:t>（Ma 等, 2021；Ye 与 Yin, 2025）。撤销侧唯一可用规则为 Takada 等（2014）的 </a:t>
            </a:r>
            <a:r>
              <a:rPr sz="1230" b="1" i="0">
                <a:solidFill>
                  <a:srgbClr val="1A1A1A"/>
                </a:solidFill>
                <a:latin typeface="Microsoft YaHei"/>
              </a:rPr>
              <a:t>2 : 1 滞环</a:t>
            </a:r>
            <a:r>
              <a:rPr sz="1230" b="0" i="0">
                <a:solidFill>
                  <a:srgbClr val="1A1A1A"/>
                </a:solidFill>
                <a:latin typeface="Microsoft YaHei"/>
              </a:rPr>
              <a:t>。本研究综合的理论上下界：下界 </a:t>
            </a:r>
            <a:r>
              <a:rPr sz="1230" b="1" i="0">
                <a:solidFill>
                  <a:srgbClr val="1A1A1A"/>
                </a:solidFill>
                <a:latin typeface="Microsoft YaHei"/>
              </a:rPr>
              <a:t>≥ 500 ms</a:t>
            </a:r>
            <a:r>
              <a:rPr sz="1230" b="0" i="0">
                <a:solidFill>
                  <a:srgbClr val="1A1A1A"/>
                </a:solidFill>
                <a:latin typeface="Microsoft YaHei"/>
              </a:rPr>
              <a:t>（注意定向 150–300 ms ＋ 信息提取 300–500 ms）、上界 </a:t>
            </a:r>
            <a:r>
              <a:rPr sz="1230" b="1" i="0">
                <a:solidFill>
                  <a:srgbClr val="1A1A1A"/>
                </a:solidFill>
                <a:latin typeface="Microsoft YaHei"/>
              </a:rPr>
              <a:t>≤ 3 s</a:t>
            </a:r>
            <a:r>
              <a:rPr sz="1230" b="0" i="0">
                <a:solidFill>
                  <a:srgbClr val="1A1A1A"/>
                </a:solidFill>
                <a:latin typeface="Microsoft YaHei"/>
              </a:rPr>
              <a:t>（单通道视觉须留出视线回到道路的窗口）。</a:t>
            </a:r>
          </a:p>
        </p:txBody>
      </p:sp>
      <p:sp>
        <p:nvSpPr>
          <p:cNvPr id="12" name="Rectangle 11"/>
          <p:cNvSpPr/>
          <p:nvPr/>
        </p:nvSpPr>
        <p:spPr>
          <a:xfrm>
            <a:off x="438150" y="3916560"/>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150" y="3203823"/>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C00000"/>
                </a:solidFill>
                <a:latin typeface="Microsoft YaHei"/>
              </a:rPr>
              <a:t>未定</a:t>
            </a:r>
          </a:p>
        </p:txBody>
      </p:sp>
      <p:sp>
        <p:nvSpPr>
          <p:cNvPr id="14" name="TextBox 13"/>
          <p:cNvSpPr txBox="1"/>
          <p:nvPr/>
        </p:nvSpPr>
        <p:spPr>
          <a:xfrm>
            <a:off x="1371600" y="3004691"/>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持续时长的</a:t>
            </a:r>
            <a:r>
              <a:rPr sz="1230" b="1" i="0">
                <a:solidFill>
                  <a:srgbClr val="1A1A1A"/>
                </a:solidFill>
                <a:latin typeface="Microsoft YaHei"/>
              </a:rPr>
              <a:t>报告率不足 15%</a:t>
            </a:r>
            <a:r>
              <a:rPr sz="1230" b="0" i="0">
                <a:solidFill>
                  <a:srgbClr val="1A1A1A"/>
                </a:solidFill>
                <a:latin typeface="Microsoft YaHei"/>
              </a:rPr>
              <a:t>，而「1 s／2 s／3 s／至危险解除」这一最基本的对照</a:t>
            </a:r>
            <a:r>
              <a:rPr sz="1230" b="1" i="0">
                <a:solidFill>
                  <a:srgbClr val="1A1A1A"/>
                </a:solidFill>
                <a:latin typeface="Microsoft YaHei"/>
              </a:rPr>
              <a:t>本库无一篇</a:t>
            </a:r>
            <a:r>
              <a:rPr sz="1230" b="0" i="0">
                <a:solidFill>
                  <a:srgbClr val="1A1A1A"/>
                </a:solidFill>
                <a:latin typeface="Microsoft YaHei"/>
              </a:rPr>
              <a:t>（空白 G3）；渐隐时长</a:t>
            </a:r>
            <a:r>
              <a:rPr sz="1230" b="1" i="0">
                <a:solidFill>
                  <a:srgbClr val="1A1A1A"/>
                </a:solidFill>
                <a:latin typeface="Microsoft YaHei"/>
              </a:rPr>
              <a:t>没有任何文献支撑</a:t>
            </a:r>
            <a:r>
              <a:rPr sz="1230" b="0" i="0">
                <a:solidFill>
                  <a:srgbClr val="1A1A1A"/>
                </a:solidFill>
                <a:latin typeface="Microsoft YaHei"/>
              </a:rPr>
              <a:t>。Ma 等（2021）自陈其 3 s 为工程经验值而非实证最优值。</a:t>
            </a:r>
          </a:p>
        </p:txBody>
      </p:sp>
      <p:sp>
        <p:nvSpPr>
          <p:cNvPr id="15" name="Rectangle 14"/>
          <p:cNvSpPr/>
          <p:nvPr/>
        </p:nvSpPr>
        <p:spPr>
          <a:xfrm>
            <a:off x="438150" y="5187255"/>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150" y="4474517"/>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2F528F"/>
                </a:solidFill>
                <a:latin typeface="Microsoft YaHei"/>
              </a:rPr>
              <a:t>本研究取值</a:t>
            </a:r>
          </a:p>
        </p:txBody>
      </p:sp>
      <p:sp>
        <p:nvSpPr>
          <p:cNvPr id="17" name="TextBox 16"/>
          <p:cNvSpPr txBox="1"/>
          <p:nvPr/>
        </p:nvSpPr>
        <p:spPr>
          <a:xfrm>
            <a:off x="1371600" y="4275385"/>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2</a:t>
            </a:r>
            <a:r>
              <a:rPr sz="1230" b="0" i="0">
                <a:solidFill>
                  <a:srgbClr val="1A1A1A"/>
                </a:solidFill>
                <a:latin typeface="Microsoft YaHei"/>
              </a:rPr>
              <a:t> 设区块 B，比较</a:t>
            </a:r>
            <a:r>
              <a:rPr sz="1230" b="1" i="0">
                <a:solidFill>
                  <a:srgbClr val="1A1A1A"/>
                </a:solidFill>
                <a:latin typeface="Microsoft YaHei"/>
              </a:rPr>
              <a:t>固定 1.5 s ／ 状态维持 ／ 风险耦合衰减</a:t>
            </a:r>
            <a:r>
              <a:rPr sz="1230" b="0" i="0">
                <a:solidFill>
                  <a:srgbClr val="1A1A1A"/>
                </a:solidFill>
                <a:latin typeface="Microsoft YaHei"/>
              </a:rPr>
              <a:t>三种策略，主要终点取</a:t>
            </a:r>
            <a:r>
              <a:rPr sz="1230" b="1" i="0">
                <a:solidFill>
                  <a:srgbClr val="1A1A1A"/>
                </a:solidFill>
                <a:latin typeface="Microsoft YaHei"/>
              </a:rPr>
              <a:t>漏检率与视觉占用</a:t>
            </a:r>
            <a:r>
              <a:rPr sz="1230" b="0" i="0">
                <a:solidFill>
                  <a:srgbClr val="1A1A1A"/>
                </a:solidFill>
                <a:latin typeface="Microsoft YaHei"/>
              </a:rPr>
              <a:t>而非仅反应时；渐隐参数按推导值执行，并在论文中显式标注为无文献支撑。</a:t>
            </a:r>
          </a:p>
        </p:txBody>
      </p:sp>
      <p:sp>
        <p:nvSpPr>
          <p:cNvPr id="18" name="TextBox 17"/>
          <p:cNvSpPr txBox="1"/>
          <p:nvPr/>
        </p:nvSpPr>
        <p:spPr>
          <a:xfrm>
            <a:off x="438150" y="5745212"/>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7B5EA7"/>
                </a:solidFill>
                <a:latin typeface="Microsoft YaHei"/>
              </a:rPr>
              <a:t>去处</a:t>
            </a:r>
          </a:p>
        </p:txBody>
      </p:sp>
      <p:sp>
        <p:nvSpPr>
          <p:cNvPr id="19" name="TextBox 18"/>
          <p:cNvSpPr txBox="1"/>
          <p:nvPr/>
        </p:nvSpPr>
        <p:spPr>
          <a:xfrm>
            <a:off x="1371600" y="5686722"/>
            <a:ext cx="10420350" cy="309860"/>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2</a:t>
            </a:r>
            <a:r>
              <a:rPr sz="1230" b="0" i="0">
                <a:solidFill>
                  <a:srgbClr val="1A1A1A"/>
                </a:solidFill>
                <a:latin typeface="Microsoft YaHei"/>
              </a:rPr>
              <a:t> 区块 B；所有条件间</a:t>
            </a:r>
            <a:r>
              <a:rPr sz="1230" b="1" i="0">
                <a:solidFill>
                  <a:srgbClr val="1A1A1A"/>
                </a:solidFill>
                <a:latin typeface="Microsoft YaHei"/>
              </a:rPr>
              <a:t>固定闪烁状态</a:t>
            </a:r>
            <a:r>
              <a:rPr sz="1230" b="0" i="0">
                <a:solidFill>
                  <a:srgbClr val="1A1A1A"/>
                </a:solidFill>
                <a:latin typeface="Microsoft YaHei"/>
              </a:rPr>
              <a:t>，以免反应时差异被归因于闪烁。</a:t>
            </a:r>
          </a:p>
        </p:txBody>
      </p:sp>
      <p:sp>
        <p:nvSpPr>
          <p:cNvPr id="20" name="TextBox 19"/>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参数五 系统可靠性与虚警代价</a:t>
            </a:r>
          </a:p>
        </p:txBody>
      </p:sp>
      <p:sp>
        <p:nvSpPr>
          <p:cNvPr id="4" name="Rounded Rectangle 3"/>
          <p:cNvSpPr/>
          <p:nvPr/>
        </p:nvSpPr>
        <p:spPr>
          <a:xfrm>
            <a:off x="11067157" y="209550"/>
            <a:ext cx="686692"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71932" y="238125"/>
            <a:ext cx="515242"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参数 5 / 7</a:t>
            </a:r>
          </a:p>
        </p:txBody>
      </p:sp>
      <p:sp>
        <p:nvSpPr>
          <p:cNvPr id="6" name="Rectangle 5"/>
          <p:cNvSpPr/>
          <p:nvPr/>
        </p:nvSpPr>
        <p:spPr>
          <a:xfrm>
            <a:off x="438150" y="762000"/>
            <a:ext cx="11315700" cy="517921"/>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517921"/>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75" y="885825"/>
            <a:ext cx="11029950" cy="298846"/>
          </a:xfrm>
          <a:prstGeom prst="rect">
            <a:avLst/>
          </a:prstGeom>
          <a:noFill/>
        </p:spPr>
        <p:txBody>
          <a:bodyPr wrap="square" lIns="0" rIns="0" tIns="0" bIns="0" anchor="t">
            <a:normAutofit/>
          </a:bodyPr>
          <a:lstStyle/>
          <a:p>
            <a:pPr algn="l">
              <a:lnSpc>
                <a:spcPct val="182000"/>
              </a:lnSpc>
              <a:spcBef>
                <a:spcPts val="0"/>
              </a:spcBef>
              <a:spcAft>
                <a:spcPts val="0"/>
              </a:spcAft>
            </a:pPr>
            <a:r>
              <a:rPr sz="1170" b="1" i="0">
                <a:solidFill>
                  <a:srgbClr val="2F528F"/>
                </a:solidFill>
                <a:latin typeface="Microsoft YaHei"/>
              </a:rPr>
              <a:t>待定参数：</a:t>
            </a:r>
            <a:r>
              <a:rPr sz="1170" b="0" i="0">
                <a:solidFill>
                  <a:srgbClr val="2F528F"/>
                </a:solidFill>
                <a:latin typeface="Microsoft YaHei"/>
              </a:rPr>
              <a:t>可容许的虚警率与漏报率上限。该参数同时确定</a:t>
            </a:r>
            <a:r>
              <a:rPr sz="1170" b="1" i="0">
                <a:solidFill>
                  <a:srgbClr val="2F528F"/>
                </a:solidFill>
                <a:latin typeface="Microsoft YaHei"/>
              </a:rPr>
              <a:t>提前量的上界</a:t>
            </a:r>
            <a:r>
              <a:rPr sz="1170" b="0" i="0">
                <a:solidFill>
                  <a:srgbClr val="2F528F"/>
                </a:solidFill>
                <a:latin typeface="Microsoft YaHei"/>
              </a:rPr>
              <a:t>——预警不得早于算法可作可靠判断的时刻。</a:t>
            </a:r>
          </a:p>
        </p:txBody>
      </p:sp>
      <p:sp>
        <p:nvSpPr>
          <p:cNvPr id="9" name="Rectangle 8"/>
          <p:cNvSpPr/>
          <p:nvPr/>
        </p:nvSpPr>
        <p:spPr>
          <a:xfrm>
            <a:off x="438150" y="2645866"/>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150" y="1933128"/>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3E7D3E"/>
                </a:solidFill>
                <a:latin typeface="Microsoft YaHei"/>
              </a:rPr>
              <a:t>已定</a:t>
            </a:r>
          </a:p>
        </p:txBody>
      </p:sp>
      <p:sp>
        <p:nvSpPr>
          <p:cNvPr id="11" name="TextBox 10"/>
          <p:cNvSpPr txBox="1"/>
          <p:nvPr/>
        </p:nvSpPr>
        <p:spPr>
          <a:xfrm>
            <a:off x="1371600" y="1733996"/>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Schall 等（2013）：15% 误报 ＋ 15% 漏报（可靠性 85%）</a:t>
            </a:r>
            <a:r>
              <a:rPr sz="1230" b="1" i="0">
                <a:solidFill>
                  <a:srgbClr val="1A1A1A"/>
                </a:solidFill>
                <a:latin typeface="Microsoft YaHei"/>
              </a:rPr>
              <a:t>对所有因变量均无显著效应</a:t>
            </a:r>
            <a:r>
              <a:rPr sz="1230" b="0" i="0">
                <a:solidFill>
                  <a:srgbClr val="1A1A1A"/>
                </a:solidFill>
                <a:latin typeface="Microsoft YaHei"/>
              </a:rPr>
              <a:t>，其关键条件为提示提前 11–13 s、语义为警示级、</a:t>
            </a:r>
            <a:r>
              <a:rPr sz="1230" b="1" i="0">
                <a:solidFill>
                  <a:srgbClr val="1A1A1A"/>
                </a:solidFill>
                <a:latin typeface="Microsoft YaHei"/>
              </a:rPr>
              <a:t>不要求立即动作</a:t>
            </a:r>
            <a:r>
              <a:rPr sz="1230" b="0" i="0">
                <a:solidFill>
                  <a:srgbClr val="1A1A1A"/>
                </a:solidFill>
                <a:latin typeface="Microsoft YaHei"/>
              </a:rPr>
              <a:t>；同一系统使老年驾驶员行人检出率由 66.10% 升至 91.13%。工程可达水平：骚扰报警占比 </a:t>
            </a:r>
            <a:r>
              <a:rPr sz="1230" b="1" i="0">
                <a:solidFill>
                  <a:srgbClr val="1A1A1A"/>
                </a:solidFill>
                <a:latin typeface="Microsoft YaHei"/>
              </a:rPr>
              <a:t>13.74%</a:t>
            </a:r>
            <a:r>
              <a:rPr sz="1230" b="0" i="0">
                <a:solidFill>
                  <a:srgbClr val="1A1A1A"/>
                </a:solidFill>
                <a:latin typeface="Microsoft YaHei"/>
              </a:rPr>
              <a:t>（Wang 等, 2026）。</a:t>
            </a:r>
          </a:p>
        </p:txBody>
      </p:sp>
      <p:sp>
        <p:nvSpPr>
          <p:cNvPr id="12" name="Rectangle 11"/>
          <p:cNvSpPr/>
          <p:nvPr/>
        </p:nvSpPr>
        <p:spPr>
          <a:xfrm>
            <a:off x="438150" y="3916560"/>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150" y="3203823"/>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C00000"/>
                </a:solidFill>
                <a:latin typeface="Microsoft YaHei"/>
              </a:rPr>
              <a:t>未定</a:t>
            </a:r>
          </a:p>
        </p:txBody>
      </p:sp>
      <p:sp>
        <p:nvSpPr>
          <p:cNvPr id="14" name="TextBox 13"/>
          <p:cNvSpPr txBox="1"/>
          <p:nvPr/>
        </p:nvSpPr>
        <p:spPr>
          <a:xfrm>
            <a:off x="1371600" y="3004691"/>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Abe 与 Richardson（2006）在</a:t>
            </a:r>
            <a:r>
              <a:rPr sz="1230" b="1" i="0">
                <a:solidFill>
                  <a:srgbClr val="1A1A1A"/>
                </a:solidFill>
                <a:latin typeface="Microsoft YaHei"/>
              </a:rPr>
              <a:t>要求立即制动</a:t>
            </a:r>
            <a:r>
              <a:rPr sz="1230" b="0" i="0">
                <a:solidFill>
                  <a:srgbClr val="1A1A1A"/>
                </a:solidFill>
                <a:latin typeface="Microsoft YaHei"/>
              </a:rPr>
              <a:t>的条件下得到强效应：信任由 </a:t>
            </a:r>
            <a:r>
              <a:rPr sz="1230" b="1" i="0">
                <a:solidFill>
                  <a:srgbClr val="1A1A1A"/>
                </a:solidFill>
                <a:latin typeface="Microsoft YaHei"/>
              </a:rPr>
              <a:t>7.3 降至 4.3</a:t>
            </a:r>
            <a:r>
              <a:rPr sz="1230" b="0" i="0">
                <a:solidFill>
                  <a:srgbClr val="1A1A1A"/>
                </a:solidFill>
                <a:latin typeface="Microsoft YaHei"/>
              </a:rPr>
              <a:t>，晚报警反使制动反应时由 0.95 </a:t>
            </a:r>
            <a:r>
              <a:rPr sz="1230" b="1" i="0">
                <a:solidFill>
                  <a:srgbClr val="1A1A1A"/>
                </a:solidFill>
                <a:latin typeface="Microsoft YaHei"/>
              </a:rPr>
              <a:t>延长至 1.07 s</a:t>
            </a:r>
            <a:r>
              <a:rPr sz="1230" b="0" i="0">
                <a:solidFill>
                  <a:srgbClr val="1A1A1A"/>
                </a:solidFill>
                <a:latin typeface="Microsoft YaHei"/>
              </a:rPr>
              <a:t>。两处结论的第三变量是</a:t>
            </a:r>
            <a:r>
              <a:rPr sz="1230" b="1" i="0">
                <a:solidFill>
                  <a:srgbClr val="1A1A1A"/>
                </a:solidFill>
                <a:latin typeface="Microsoft YaHei"/>
              </a:rPr>
              <a:t>行动要求强度</a:t>
            </a:r>
            <a:r>
              <a:rPr sz="1230" b="0" i="0">
                <a:solidFill>
                  <a:srgbClr val="1A1A1A"/>
                </a:solidFill>
                <a:latin typeface="Microsoft YaHei"/>
              </a:rPr>
              <a:t>，但可靠性与提前量的</a:t>
            </a:r>
            <a:r>
              <a:rPr sz="1230" b="1" i="0">
                <a:solidFill>
                  <a:srgbClr val="1A1A1A"/>
                </a:solidFill>
                <a:latin typeface="Microsoft YaHei"/>
              </a:rPr>
              <a:t>交互从未被检验</a:t>
            </a:r>
            <a:r>
              <a:rPr sz="1230" b="0" i="0">
                <a:solidFill>
                  <a:srgbClr val="1A1A1A"/>
                </a:solidFill>
                <a:latin typeface="Microsoft YaHei"/>
              </a:rPr>
              <a:t>（空白 G5）。</a:t>
            </a:r>
          </a:p>
        </p:txBody>
      </p:sp>
      <p:sp>
        <p:nvSpPr>
          <p:cNvPr id="15" name="Rectangle 14"/>
          <p:cNvSpPr/>
          <p:nvPr/>
        </p:nvSpPr>
        <p:spPr>
          <a:xfrm>
            <a:off x="438150" y="5187255"/>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150" y="4474517"/>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2F528F"/>
                </a:solidFill>
                <a:latin typeface="Microsoft YaHei"/>
              </a:rPr>
              <a:t>本研究取值</a:t>
            </a:r>
          </a:p>
        </p:txBody>
      </p:sp>
      <p:sp>
        <p:nvSpPr>
          <p:cNvPr id="17" name="TextBox 16"/>
          <p:cNvSpPr txBox="1"/>
          <p:nvPr/>
        </p:nvSpPr>
        <p:spPr>
          <a:xfrm>
            <a:off x="1371600" y="4275385"/>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3</a:t>
            </a:r>
            <a:r>
              <a:rPr sz="1230" b="0" i="0">
                <a:solidFill>
                  <a:srgbClr val="1A1A1A"/>
                </a:solidFill>
                <a:latin typeface="Microsoft YaHei"/>
              </a:rPr>
              <a:t> 把系统可靠性设为自变量，并把虚警</a:t>
            </a:r>
            <a:r>
              <a:rPr sz="1230" b="1" i="0">
                <a:solidFill>
                  <a:srgbClr val="1A1A1A"/>
                </a:solidFill>
                <a:latin typeface="Microsoft YaHei"/>
              </a:rPr>
              <a:t>只施加在第一级</a:t>
            </a:r>
            <a:r>
              <a:rPr sz="1230" b="0" i="0">
                <a:solidFill>
                  <a:srgbClr val="1A1A1A"/>
                </a:solidFill>
                <a:latin typeface="Microsoft YaHei"/>
              </a:rPr>
              <a:t>（低行动要求级别），据此检验「虚警代价随行动要求强度递增」这一预测，同时分离可靠性与时机的交互。</a:t>
            </a:r>
          </a:p>
        </p:txBody>
      </p:sp>
      <p:sp>
        <p:nvSpPr>
          <p:cNvPr id="18" name="TextBox 17"/>
          <p:cNvSpPr txBox="1"/>
          <p:nvPr/>
        </p:nvSpPr>
        <p:spPr>
          <a:xfrm>
            <a:off x="438150" y="5745212"/>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7B5EA7"/>
                </a:solidFill>
                <a:latin typeface="Microsoft YaHei"/>
              </a:rPr>
              <a:t>去处</a:t>
            </a:r>
          </a:p>
        </p:txBody>
      </p:sp>
      <p:sp>
        <p:nvSpPr>
          <p:cNvPr id="19" name="TextBox 18"/>
          <p:cNvSpPr txBox="1"/>
          <p:nvPr/>
        </p:nvSpPr>
        <p:spPr>
          <a:xfrm>
            <a:off x="1371600" y="5681960"/>
            <a:ext cx="10420350" cy="319385"/>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3</a:t>
            </a:r>
            <a:r>
              <a:rPr sz="1230" b="0" i="0">
                <a:solidFill>
                  <a:srgbClr val="1A1A1A"/>
                </a:solidFill>
                <a:latin typeface="Microsoft YaHei"/>
              </a:rPr>
              <a:t> 自变量；并作为 </a:t>
            </a:r>
            <a:r>
              <a:rPr sz="1230" b="0" i="1">
                <a:solidFill>
                  <a:srgbClr val="1A1A1A"/>
                </a:solidFill>
                <a:latin typeface="Microsoft YaHei"/>
              </a:rPr>
              <a:t>Δt</a:t>
            </a:r>
            <a:r>
              <a:rPr sz="1230" b="0" i="0">
                <a:solidFill>
                  <a:srgbClr val="1A1A1A"/>
                </a:solidFill>
                <a:latin typeface="Microsoft YaHei"/>
              </a:rPr>
              <a:t> </a:t>
            </a:r>
            <a:r>
              <a:rPr sz="1230" b="1" i="0">
                <a:solidFill>
                  <a:srgbClr val="1A1A1A"/>
                </a:solidFill>
                <a:latin typeface="Microsoft YaHei"/>
              </a:rPr>
              <a:t>上界</a:t>
            </a:r>
            <a:r>
              <a:rPr sz="1230" b="0" i="0">
                <a:solidFill>
                  <a:srgbClr val="1A1A1A"/>
                </a:solidFill>
                <a:latin typeface="Microsoft YaHei"/>
              </a:rPr>
              <a:t>的约束来源（三重约束模型之一）。</a:t>
            </a:r>
          </a:p>
        </p:txBody>
      </p:sp>
      <p:sp>
        <p:nvSpPr>
          <p:cNvPr id="20" name="TextBox 19"/>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参数六 空间参照系与锁定策略</a:t>
            </a:r>
          </a:p>
        </p:txBody>
      </p:sp>
      <p:sp>
        <p:nvSpPr>
          <p:cNvPr id="4" name="Rounded Rectangle 3"/>
          <p:cNvSpPr/>
          <p:nvPr/>
        </p:nvSpPr>
        <p:spPr>
          <a:xfrm>
            <a:off x="11067157" y="209550"/>
            <a:ext cx="686692"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71932" y="238125"/>
            <a:ext cx="515242"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参数 6 / 7</a:t>
            </a:r>
          </a:p>
        </p:txBody>
      </p:sp>
      <p:sp>
        <p:nvSpPr>
          <p:cNvPr id="6" name="Rectangle 5"/>
          <p:cNvSpPr/>
          <p:nvPr/>
        </p:nvSpPr>
        <p:spPr>
          <a:xfrm>
            <a:off x="438150" y="762000"/>
            <a:ext cx="11315700" cy="517921"/>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517921"/>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75" y="885825"/>
            <a:ext cx="11029950" cy="298846"/>
          </a:xfrm>
          <a:prstGeom prst="rect">
            <a:avLst/>
          </a:prstGeom>
          <a:noFill/>
        </p:spPr>
        <p:txBody>
          <a:bodyPr wrap="square" lIns="0" rIns="0" tIns="0" bIns="0" anchor="t">
            <a:normAutofit/>
          </a:bodyPr>
          <a:lstStyle/>
          <a:p>
            <a:pPr algn="l">
              <a:lnSpc>
                <a:spcPct val="182000"/>
              </a:lnSpc>
              <a:spcBef>
                <a:spcPts val="0"/>
              </a:spcBef>
              <a:spcAft>
                <a:spcPts val="0"/>
              </a:spcAft>
            </a:pPr>
            <a:r>
              <a:rPr sz="1170" b="1" i="0">
                <a:solidFill>
                  <a:srgbClr val="2F528F"/>
                </a:solidFill>
                <a:latin typeface="Microsoft YaHei"/>
              </a:rPr>
              <a:t>待定参数：</a:t>
            </a:r>
            <a:r>
              <a:rPr sz="1170" b="0" i="0">
                <a:solidFill>
                  <a:srgbClr val="2F528F"/>
                </a:solidFill>
                <a:latin typeface="Microsoft YaHei"/>
              </a:rPr>
              <a:t>图形锁定于何处——</a:t>
            </a:r>
            <a:r>
              <a:rPr sz="1170" b="1" i="0">
                <a:solidFill>
                  <a:srgbClr val="2F528F"/>
                </a:solidFill>
                <a:latin typeface="Microsoft YaHei"/>
              </a:rPr>
              <a:t>BD</a:t>
            </a:r>
            <a:r>
              <a:rPr sz="1170" b="0" i="0">
                <a:solidFill>
                  <a:srgbClr val="2F528F"/>
                </a:solidFill>
                <a:latin typeface="Microsoft YaHei"/>
              </a:rPr>
              <a:t> 屏幕／视线固定、</a:t>
            </a:r>
            <a:r>
              <a:rPr sz="1170" b="1" i="0">
                <a:solidFill>
                  <a:srgbClr val="2F528F"/>
                </a:solidFill>
                <a:latin typeface="Microsoft YaHei"/>
              </a:rPr>
              <a:t>BR</a:t>
            </a:r>
            <a:r>
              <a:rPr sz="1170" b="0" i="0">
                <a:solidFill>
                  <a:srgbClr val="2F528F"/>
                </a:solidFill>
                <a:latin typeface="Microsoft YaHei"/>
              </a:rPr>
              <a:t> 道路／冲突点锁定、</a:t>
            </a:r>
            <a:r>
              <a:rPr sz="1170" b="1" i="0">
                <a:solidFill>
                  <a:srgbClr val="2F528F"/>
                </a:solidFill>
                <a:latin typeface="Microsoft YaHei"/>
              </a:rPr>
              <a:t>BW</a:t>
            </a:r>
            <a:r>
              <a:rPr sz="1170" b="0" i="0">
                <a:solidFill>
                  <a:srgbClr val="2F528F"/>
                </a:solidFill>
                <a:latin typeface="Microsoft YaHei"/>
              </a:rPr>
              <a:t> 跟随危险行人的目标锁定（记法沿用 Wu 等, 2024）。</a:t>
            </a:r>
          </a:p>
        </p:txBody>
      </p:sp>
      <p:sp>
        <p:nvSpPr>
          <p:cNvPr id="9" name="Rectangle 8"/>
          <p:cNvSpPr/>
          <p:nvPr/>
        </p:nvSpPr>
        <p:spPr>
          <a:xfrm>
            <a:off x="438150" y="2645866"/>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150" y="1933128"/>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3E7D3E"/>
                </a:solidFill>
                <a:latin typeface="Microsoft YaHei"/>
              </a:rPr>
              <a:t>已定</a:t>
            </a:r>
          </a:p>
        </p:txBody>
      </p:sp>
      <p:sp>
        <p:nvSpPr>
          <p:cNvPr id="11" name="TextBox 10"/>
          <p:cNvSpPr txBox="1"/>
          <p:nvPr/>
        </p:nvSpPr>
        <p:spPr>
          <a:xfrm>
            <a:off x="1371600" y="1733996"/>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Wu 等（2024，N = 36）三方对照的首次注视时间：</a:t>
            </a:r>
            <a:r>
              <a:rPr sz="1230" b="1" i="0">
                <a:solidFill>
                  <a:srgbClr val="1A1A1A"/>
                </a:solidFill>
                <a:latin typeface="Microsoft YaHei"/>
              </a:rPr>
              <a:t>BW 617 ms</a:t>
            </a:r>
            <a:r>
              <a:rPr sz="1230" b="0" i="0">
                <a:solidFill>
                  <a:srgbClr val="1A1A1A"/>
                </a:solidFill>
                <a:latin typeface="Microsoft YaHei"/>
              </a:rPr>
              <a:t>、BD 2 563 ms、BR 2 730 ms，差异接近 </a:t>
            </a:r>
            <a:r>
              <a:rPr sz="1230" b="1" i="0">
                <a:solidFill>
                  <a:srgbClr val="1A1A1A"/>
                </a:solidFill>
                <a:latin typeface="Microsoft YaHei"/>
              </a:rPr>
              <a:t>4 倍</a:t>
            </a:r>
            <a:r>
              <a:rPr sz="1230" b="0" i="0">
                <a:solidFill>
                  <a:srgbClr val="1A1A1A"/>
                </a:solidFill>
                <a:latin typeface="Microsoft YaHei"/>
              </a:rPr>
              <a:t>。Lind（2007）四方对照：碰撞预警平视显示的制动反应时快约 </a:t>
            </a:r>
            <a:r>
              <a:rPr sz="1230" b="1" i="0">
                <a:solidFill>
                  <a:srgbClr val="1A1A1A"/>
                </a:solidFill>
                <a:latin typeface="Microsoft YaHei"/>
              </a:rPr>
              <a:t>200 ms</a:t>
            </a:r>
            <a:r>
              <a:rPr sz="1230" b="0" i="0">
                <a:solidFill>
                  <a:srgbClr val="1A1A1A"/>
                </a:solidFill>
                <a:latin typeface="Microsoft YaHei"/>
              </a:rPr>
              <a:t>，漏报 </a:t>
            </a:r>
            <a:r>
              <a:rPr sz="1230" b="1" i="0">
                <a:solidFill>
                  <a:srgbClr val="1A1A1A"/>
                </a:solidFill>
                <a:latin typeface="Microsoft YaHei"/>
              </a:rPr>
              <a:t>1 次</a:t>
            </a:r>
            <a:r>
              <a:rPr sz="1230" b="0" i="0">
                <a:solidFill>
                  <a:srgbClr val="1A1A1A"/>
                </a:solidFill>
                <a:latin typeface="Microsoft YaHei"/>
              </a:rPr>
              <a:t>对高位下视显示 17 次。</a:t>
            </a:r>
          </a:p>
        </p:txBody>
      </p:sp>
      <p:sp>
        <p:nvSpPr>
          <p:cNvPr id="12" name="Rectangle 11"/>
          <p:cNvSpPr/>
          <p:nvPr/>
        </p:nvSpPr>
        <p:spPr>
          <a:xfrm>
            <a:off x="438150" y="3916560"/>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150" y="3203823"/>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C00000"/>
                </a:solidFill>
                <a:latin typeface="Microsoft YaHei"/>
              </a:rPr>
              <a:t>未定</a:t>
            </a:r>
          </a:p>
        </p:txBody>
      </p:sp>
      <p:sp>
        <p:nvSpPr>
          <p:cNvPr id="14" name="TextBox 13"/>
          <p:cNvSpPr txBox="1"/>
          <p:nvPr/>
        </p:nvSpPr>
        <p:spPr>
          <a:xfrm>
            <a:off x="1371600" y="2864048"/>
            <a:ext cx="10420350" cy="872430"/>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BD／BR／BW／BW+BR 的正交对照至今无一实现</a:t>
            </a:r>
            <a:r>
              <a:rPr sz="1230" b="0" i="0">
                <a:solidFill>
                  <a:srgbClr val="1A1A1A"/>
                </a:solidFill>
                <a:latin typeface="Microsoft YaHei"/>
              </a:rPr>
              <a:t>，亦无一项操纵背景视觉复杂度（空白 G6）。更需辨析的是：碰撞预警平视显示</a:t>
            </a:r>
            <a:r>
              <a:rPr sz="1230" b="1" i="0">
                <a:solidFill>
                  <a:srgbClr val="1A1A1A"/>
                </a:solidFill>
                <a:latin typeface="Microsoft YaHei"/>
              </a:rPr>
              <a:t>本身即屏幕固定式</a:t>
            </a:r>
            <a:r>
              <a:rPr sz="1230" b="0" i="0">
                <a:solidFill>
                  <a:srgbClr val="1A1A1A"/>
                </a:solidFill>
                <a:latin typeface="Microsoft YaHei"/>
              </a:rPr>
              <a:t>前视野显示，却已取得上述优势，故 AR 的收益必须拆为</a:t>
            </a:r>
            <a:r>
              <a:rPr sz="1230" b="1" i="0">
                <a:solidFill>
                  <a:srgbClr val="1A1A1A"/>
                </a:solidFill>
                <a:latin typeface="Microsoft YaHei"/>
              </a:rPr>
              <a:t>位置增益</a:t>
            </a:r>
            <a:r>
              <a:rPr sz="1230" b="0" i="0">
                <a:solidFill>
                  <a:srgbClr val="1A1A1A"/>
                </a:solidFill>
                <a:latin typeface="Microsoft YaHei"/>
              </a:rPr>
              <a:t>（把信息搬进前视野）与</a:t>
            </a:r>
            <a:r>
              <a:rPr sz="1230" b="1" i="0">
                <a:solidFill>
                  <a:srgbClr val="1A1A1A"/>
                </a:solidFill>
                <a:latin typeface="Microsoft YaHei"/>
              </a:rPr>
              <a:t>共形增益</a:t>
            </a:r>
            <a:r>
              <a:rPr sz="1230" b="0" i="0">
                <a:solidFill>
                  <a:srgbClr val="1A1A1A"/>
                </a:solidFill>
                <a:latin typeface="Microsoft YaHei"/>
              </a:rPr>
              <a:t>（图形贴合真实目标）两项，混计会系统性高估共形性。</a:t>
            </a:r>
          </a:p>
        </p:txBody>
      </p:sp>
      <p:sp>
        <p:nvSpPr>
          <p:cNvPr id="15" name="Rectangle 14"/>
          <p:cNvSpPr/>
          <p:nvPr/>
        </p:nvSpPr>
        <p:spPr>
          <a:xfrm>
            <a:off x="438150" y="5187255"/>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150" y="4474517"/>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2F528F"/>
                </a:solidFill>
                <a:latin typeface="Microsoft YaHei"/>
              </a:rPr>
              <a:t>本研究取值</a:t>
            </a:r>
          </a:p>
        </p:txBody>
      </p:sp>
      <p:sp>
        <p:nvSpPr>
          <p:cNvPr id="17" name="TextBox 16"/>
          <p:cNvSpPr txBox="1"/>
          <p:nvPr/>
        </p:nvSpPr>
        <p:spPr>
          <a:xfrm>
            <a:off x="1371600" y="4275385"/>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4</a:t>
            </a:r>
            <a:r>
              <a:rPr sz="1230" b="0" i="0">
                <a:solidFill>
                  <a:srgbClr val="1A1A1A"/>
                </a:solidFill>
                <a:latin typeface="Microsoft YaHei"/>
              </a:rPr>
              <a:t> 采用五水平正交对照（Baseline／BD／BR／BW／BW+BR）× 背景视觉复杂度，时间参数全部固定为实验 2–3 入选组合；因 BD 已含位置增益，</a:t>
            </a:r>
            <a:r>
              <a:rPr sz="1230" b="1" i="0">
                <a:solidFill>
                  <a:srgbClr val="1A1A1A"/>
                </a:solidFill>
                <a:latin typeface="Microsoft YaHei"/>
              </a:rPr>
              <a:t>样本量按更小的增量效应估计</a:t>
            </a:r>
            <a:r>
              <a:rPr sz="1230" b="0" i="0">
                <a:solidFill>
                  <a:srgbClr val="1A1A1A"/>
                </a:solidFill>
                <a:latin typeface="Microsoft YaHei"/>
              </a:rPr>
              <a:t>。另设区块 F（BD／BW × 次任务负荷）检验共形增益是否依赖负荷。</a:t>
            </a:r>
          </a:p>
        </p:txBody>
      </p:sp>
      <p:sp>
        <p:nvSpPr>
          <p:cNvPr id="18" name="TextBox 17"/>
          <p:cNvSpPr txBox="1"/>
          <p:nvPr/>
        </p:nvSpPr>
        <p:spPr>
          <a:xfrm>
            <a:off x="438150" y="5745212"/>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7B5EA7"/>
                </a:solidFill>
                <a:latin typeface="Microsoft YaHei"/>
              </a:rPr>
              <a:t>去处</a:t>
            </a:r>
          </a:p>
        </p:txBody>
      </p:sp>
      <p:sp>
        <p:nvSpPr>
          <p:cNvPr id="19" name="TextBox 18"/>
          <p:cNvSpPr txBox="1"/>
          <p:nvPr/>
        </p:nvSpPr>
        <p:spPr>
          <a:xfrm>
            <a:off x="1371600" y="5686722"/>
            <a:ext cx="10420350" cy="309860"/>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4</a:t>
            </a:r>
            <a:r>
              <a:rPr sz="1230" b="0" i="0">
                <a:solidFill>
                  <a:srgbClr val="1A1A1A"/>
                </a:solidFill>
                <a:latin typeface="Microsoft YaHei"/>
              </a:rPr>
              <a:t> 自变量；主要指标含真实行人首次注视时间，并并列报告漏检率。</a:t>
            </a:r>
          </a:p>
        </p:txBody>
      </p:sp>
      <p:sp>
        <p:nvSpPr>
          <p:cNvPr id="20" name="TextBox 19"/>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参数七 风险动态映射</a:t>
            </a:r>
          </a:p>
        </p:txBody>
      </p:sp>
      <p:sp>
        <p:nvSpPr>
          <p:cNvPr id="4" name="Rounded Rectangle 3"/>
          <p:cNvSpPr/>
          <p:nvPr/>
        </p:nvSpPr>
        <p:spPr>
          <a:xfrm>
            <a:off x="11067157" y="209550"/>
            <a:ext cx="686692"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71932" y="238125"/>
            <a:ext cx="515242"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参数 7 / 7</a:t>
            </a:r>
          </a:p>
        </p:txBody>
      </p:sp>
      <p:sp>
        <p:nvSpPr>
          <p:cNvPr id="6" name="Rectangle 5"/>
          <p:cNvSpPr/>
          <p:nvPr/>
        </p:nvSpPr>
        <p:spPr>
          <a:xfrm>
            <a:off x="438150" y="762000"/>
            <a:ext cx="11315700" cy="517921"/>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517921"/>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75" y="885825"/>
            <a:ext cx="11029950" cy="298846"/>
          </a:xfrm>
          <a:prstGeom prst="rect">
            <a:avLst/>
          </a:prstGeom>
          <a:noFill/>
        </p:spPr>
        <p:txBody>
          <a:bodyPr wrap="square" lIns="0" rIns="0" tIns="0" bIns="0" anchor="t">
            <a:normAutofit/>
          </a:bodyPr>
          <a:lstStyle/>
          <a:p>
            <a:pPr algn="l">
              <a:lnSpc>
                <a:spcPct val="182000"/>
              </a:lnSpc>
              <a:spcBef>
                <a:spcPts val="0"/>
              </a:spcBef>
              <a:spcAft>
                <a:spcPts val="0"/>
              </a:spcAft>
            </a:pPr>
            <a:r>
              <a:rPr sz="1170" b="1" i="0">
                <a:solidFill>
                  <a:srgbClr val="2F528F"/>
                </a:solidFill>
                <a:latin typeface="Microsoft YaHei"/>
              </a:rPr>
              <a:t>待定参数：</a:t>
            </a:r>
            <a:r>
              <a:rPr sz="1170" b="0" i="0">
                <a:solidFill>
                  <a:srgbClr val="2F528F"/>
                </a:solidFill>
                <a:latin typeface="Microsoft YaHei"/>
              </a:rPr>
              <a:t>图形随风险</a:t>
            </a:r>
            <a:r>
              <a:rPr sz="1170" b="1" i="0">
                <a:solidFill>
                  <a:srgbClr val="2F528F"/>
                </a:solidFill>
                <a:latin typeface="Microsoft YaHei"/>
              </a:rPr>
              <a:t>连续变化</a:t>
            </a:r>
            <a:r>
              <a:rPr sz="1170" b="0" i="0">
                <a:solidFill>
                  <a:srgbClr val="2F528F"/>
                </a:solidFill>
                <a:latin typeface="Microsoft YaHei"/>
              </a:rPr>
              <a:t>的映射方式。形态、颜色与不透明度已有较充分证据，映射方式为拟填补的主要空白。</a:t>
            </a:r>
          </a:p>
        </p:txBody>
      </p:sp>
      <p:sp>
        <p:nvSpPr>
          <p:cNvPr id="9" name="Rectangle 8"/>
          <p:cNvSpPr/>
          <p:nvPr/>
        </p:nvSpPr>
        <p:spPr>
          <a:xfrm>
            <a:off x="438150" y="2645866"/>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150" y="1933128"/>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3E7D3E"/>
                </a:solidFill>
                <a:latin typeface="Microsoft YaHei"/>
              </a:rPr>
              <a:t>已定</a:t>
            </a:r>
          </a:p>
        </p:txBody>
      </p:sp>
      <p:sp>
        <p:nvSpPr>
          <p:cNvPr id="11" name="TextBox 10"/>
          <p:cNvSpPr txBox="1"/>
          <p:nvPr/>
        </p:nvSpPr>
        <p:spPr>
          <a:xfrm>
            <a:off x="1371600" y="1733996"/>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颜色：Zhong 等（2022）实车 42 组合显示</a:t>
            </a:r>
            <a:r>
              <a:rPr sz="1230" b="1" i="0">
                <a:solidFill>
                  <a:srgbClr val="1A1A1A"/>
                </a:solidFill>
                <a:latin typeface="Microsoft YaHei"/>
              </a:rPr>
              <a:t>红与黄为跨照度鲁棒色对</a:t>
            </a:r>
            <a:r>
              <a:rPr sz="1230" b="0" i="0">
                <a:solidFill>
                  <a:srgbClr val="1A1A1A"/>
                </a:solidFill>
                <a:latin typeface="Microsoft YaHei"/>
              </a:rPr>
              <a:t>（日间黄 4.12、夜间红 3.88），蓝与紫在两种照度下均最差。不透明度：四个来源收敛于 </a:t>
            </a:r>
            <a:r>
              <a:rPr sz="1230" b="1" i="0">
                <a:solidFill>
                  <a:srgbClr val="1A1A1A"/>
                </a:solidFill>
                <a:latin typeface="Microsoft YaHei"/>
              </a:rPr>
              <a:t>0.6–0.75</a:t>
            </a:r>
            <a:r>
              <a:rPr sz="1230" b="0" i="0">
                <a:solidFill>
                  <a:srgbClr val="1A1A1A"/>
                </a:solidFill>
                <a:latin typeface="Microsoft YaHei"/>
              </a:rPr>
              <a:t>。形态优劣依赖场景，行人场景下边界框反而更快。</a:t>
            </a:r>
          </a:p>
        </p:txBody>
      </p:sp>
      <p:sp>
        <p:nvSpPr>
          <p:cNvPr id="12" name="Rectangle 11"/>
          <p:cNvSpPr/>
          <p:nvPr/>
        </p:nvSpPr>
        <p:spPr>
          <a:xfrm>
            <a:off x="438150" y="3916560"/>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150" y="3203823"/>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C00000"/>
                </a:solidFill>
                <a:latin typeface="Microsoft YaHei"/>
              </a:rPr>
              <a:t>未定</a:t>
            </a:r>
          </a:p>
        </p:txBody>
      </p:sp>
      <p:sp>
        <p:nvSpPr>
          <p:cNvPr id="14" name="TextBox 13"/>
          <p:cNvSpPr txBox="1"/>
          <p:nvPr/>
        </p:nvSpPr>
        <p:spPr>
          <a:xfrm>
            <a:off x="1371600" y="3004691"/>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0" i="0">
                <a:solidFill>
                  <a:srgbClr val="1A1A1A"/>
                </a:solidFill>
                <a:latin typeface="Microsoft YaHei"/>
              </a:rPr>
              <a:t>「动态」</a:t>
            </a:r>
            <a:r>
              <a:rPr sz="1230" b="1" i="0">
                <a:solidFill>
                  <a:srgbClr val="1A1A1A"/>
                </a:solidFill>
                <a:latin typeface="Microsoft YaHei"/>
              </a:rPr>
              <a:t>从未被拆为风险量级映射与运动趋势映射的正交组合</a:t>
            </a:r>
            <a:r>
              <a:rPr sz="1230" b="0" i="0">
                <a:solidFill>
                  <a:srgbClr val="1A1A1A"/>
                </a:solidFill>
                <a:latin typeface="Microsoft YaHei"/>
              </a:rPr>
              <a:t>（空白 G7），故既有「动态编码优于静态编码」的结论无法说明其</a:t>
            </a:r>
            <a:r>
              <a:rPr sz="1230" b="1" i="0">
                <a:solidFill>
                  <a:srgbClr val="1A1A1A"/>
                </a:solidFill>
                <a:latin typeface="Microsoft YaHei"/>
              </a:rPr>
              <a:t>作用路径</a:t>
            </a:r>
            <a:r>
              <a:rPr sz="1230" b="0" i="0">
                <a:solidFill>
                  <a:srgbClr val="1A1A1A"/>
                </a:solidFill>
                <a:latin typeface="Microsoft YaHei"/>
              </a:rPr>
              <a:t>——即究竟改善了对风险程度的理解，还是对未来位置的预测。</a:t>
            </a:r>
          </a:p>
        </p:txBody>
      </p:sp>
      <p:sp>
        <p:nvSpPr>
          <p:cNvPr id="15" name="Rectangle 14"/>
          <p:cNvSpPr/>
          <p:nvPr/>
        </p:nvSpPr>
        <p:spPr>
          <a:xfrm>
            <a:off x="438150" y="5187255"/>
            <a:ext cx="11315700" cy="9525"/>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150" y="4474517"/>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2F528F"/>
                </a:solidFill>
                <a:latin typeface="Microsoft YaHei"/>
              </a:rPr>
              <a:t>本研究取值</a:t>
            </a:r>
          </a:p>
        </p:txBody>
      </p:sp>
      <p:sp>
        <p:nvSpPr>
          <p:cNvPr id="17" name="TextBox 16"/>
          <p:cNvSpPr txBox="1"/>
          <p:nvPr/>
        </p:nvSpPr>
        <p:spPr>
          <a:xfrm>
            <a:off x="1371600" y="4275385"/>
            <a:ext cx="10420350" cy="591145"/>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5</a:t>
            </a:r>
            <a:r>
              <a:rPr sz="1230" b="0" i="0">
                <a:solidFill>
                  <a:srgbClr val="1A1A1A"/>
                </a:solidFill>
                <a:latin typeface="Microsoft YaHei"/>
              </a:rPr>
              <a:t> 采用 </a:t>
            </a:r>
            <a:r>
              <a:rPr sz="1230" b="1" i="0">
                <a:solidFill>
                  <a:srgbClr val="1A1A1A"/>
                </a:solidFill>
                <a:latin typeface="Microsoft YaHei"/>
              </a:rPr>
              <a:t>2（风险量级映射：有／无，以 BTN 为映射源）× 2（运动趋势映射：有／无）</a:t>
            </a:r>
            <a:r>
              <a:rPr sz="1230" b="0" i="0">
                <a:solidFill>
                  <a:srgbClr val="1A1A1A"/>
                </a:solidFill>
                <a:latin typeface="Microsoft YaHei"/>
              </a:rPr>
              <a:t>设计，颜色与不透明度固定为上述鲁棒取值；预期两个维度</a:t>
            </a:r>
            <a:r>
              <a:rPr sz="1230" b="1" i="0">
                <a:solidFill>
                  <a:srgbClr val="1A1A1A"/>
                </a:solidFill>
                <a:latin typeface="Microsoft YaHei"/>
              </a:rPr>
              <a:t>分别</a:t>
            </a:r>
            <a:r>
              <a:rPr sz="1230" b="0" i="0">
                <a:solidFill>
                  <a:srgbClr val="1A1A1A"/>
                </a:solidFill>
                <a:latin typeface="Microsoft YaHei"/>
              </a:rPr>
              <a:t>作用于情境意识的理解层与预测层。</a:t>
            </a:r>
          </a:p>
        </p:txBody>
      </p:sp>
      <p:sp>
        <p:nvSpPr>
          <p:cNvPr id="18" name="TextBox 17"/>
          <p:cNvSpPr txBox="1"/>
          <p:nvPr/>
        </p:nvSpPr>
        <p:spPr>
          <a:xfrm>
            <a:off x="438150" y="5745212"/>
            <a:ext cx="819150" cy="221456"/>
          </a:xfrm>
          <a:prstGeom prst="rect">
            <a:avLst/>
          </a:prstGeom>
          <a:noFill/>
        </p:spPr>
        <p:txBody>
          <a:bodyPr wrap="square" lIns="0" rIns="0" tIns="0" bIns="0" anchor="t">
            <a:normAutofit/>
          </a:bodyPr>
          <a:lstStyle/>
          <a:p>
            <a:pPr algn="l">
              <a:lnSpc>
                <a:spcPct val="150000"/>
              </a:lnSpc>
              <a:spcBef>
                <a:spcPts val="0"/>
              </a:spcBef>
              <a:spcAft>
                <a:spcPts val="0"/>
              </a:spcAft>
            </a:pPr>
            <a:r>
              <a:rPr sz="1010" b="1" i="0">
                <a:solidFill>
                  <a:srgbClr val="7B5EA7"/>
                </a:solidFill>
                <a:latin typeface="Microsoft YaHei"/>
              </a:rPr>
              <a:t>去处</a:t>
            </a:r>
          </a:p>
        </p:txBody>
      </p:sp>
      <p:sp>
        <p:nvSpPr>
          <p:cNvPr id="19" name="TextBox 18"/>
          <p:cNvSpPr txBox="1"/>
          <p:nvPr/>
        </p:nvSpPr>
        <p:spPr>
          <a:xfrm>
            <a:off x="1371600" y="5686722"/>
            <a:ext cx="10420350" cy="309860"/>
          </a:xfrm>
          <a:prstGeom prst="rect">
            <a:avLst/>
          </a:prstGeom>
          <a:noFill/>
        </p:spPr>
        <p:txBody>
          <a:bodyPr wrap="square" lIns="0" rIns="0" tIns="0" bIns="0" anchor="t">
            <a:normAutofit/>
          </a:bodyPr>
          <a:lstStyle/>
          <a:p>
            <a:pPr algn="l">
              <a:lnSpc>
                <a:spcPct val="180000"/>
              </a:lnSpc>
              <a:spcBef>
                <a:spcPts val="0"/>
              </a:spcBef>
              <a:spcAft>
                <a:spcPts val="0"/>
              </a:spcAft>
            </a:pPr>
            <a:r>
              <a:rPr sz="1230" b="1" i="0">
                <a:solidFill>
                  <a:srgbClr val="1A1A1A"/>
                </a:solidFill>
                <a:latin typeface="Microsoft YaHei"/>
              </a:rPr>
              <a:t>实验 5</a:t>
            </a:r>
            <a:r>
              <a:rPr sz="1230" b="0" i="0">
                <a:solidFill>
                  <a:srgbClr val="1A1A1A"/>
                </a:solidFill>
                <a:latin typeface="Microsoft YaHei"/>
              </a:rPr>
              <a:t> 自变量；其交互项是「时间侧—空间侧整合模型」的关键系数。</a:t>
            </a:r>
          </a:p>
        </p:txBody>
      </p:sp>
      <p:sp>
        <p:nvSpPr>
          <p:cNvPr id="20" name="TextBox 19"/>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承接</a:t>
            </a:r>
            <a:r>
              <a:rPr sz="1580" b="1" i="0">
                <a:solidFill>
                  <a:srgbClr val="4472C4"/>
                </a:solidFill>
                <a:latin typeface="Microsoft YaHei"/>
              </a:rPr>
              <a:t>七项参数的共同前提：时间零点尚未被测量</a:t>
            </a:r>
          </a:p>
        </p:txBody>
      </p:sp>
      <p:sp>
        <p:nvSpPr>
          <p:cNvPr id="4" name="Rounded Rectangle 3"/>
          <p:cNvSpPr/>
          <p:nvPr/>
        </p:nvSpPr>
        <p:spPr>
          <a:xfrm>
            <a:off x="10744051" y="209550"/>
            <a:ext cx="10097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848826" y="238125"/>
            <a:ext cx="8383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为何先做研究一</a:t>
            </a:r>
          </a:p>
        </p:txBody>
      </p:sp>
      <p:sp>
        <p:nvSpPr>
          <p:cNvPr id="6" name="Rectangle 5"/>
          <p:cNvSpPr/>
          <p:nvPr/>
        </p:nvSpPr>
        <p:spPr>
          <a:xfrm>
            <a:off x="438150" y="762000"/>
            <a:ext cx="11315700" cy="517921"/>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517921"/>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75" y="885825"/>
            <a:ext cx="11029950" cy="298846"/>
          </a:xfrm>
          <a:prstGeom prst="rect">
            <a:avLst/>
          </a:prstGeom>
          <a:noFill/>
        </p:spPr>
        <p:txBody>
          <a:bodyPr wrap="square" lIns="0" rIns="0" tIns="0" bIns="0" anchor="t">
            <a:normAutofit/>
          </a:bodyPr>
          <a:lstStyle/>
          <a:p>
            <a:pPr algn="l">
              <a:lnSpc>
                <a:spcPct val="182000"/>
              </a:lnSpc>
              <a:spcBef>
                <a:spcPts val="0"/>
              </a:spcBef>
              <a:spcAft>
                <a:spcPts val="0"/>
              </a:spcAft>
            </a:pPr>
            <a:r>
              <a:rPr sz="1170" b="0" i="0">
                <a:solidFill>
                  <a:srgbClr val="2F528F"/>
                </a:solidFill>
                <a:latin typeface="Microsoft YaHei"/>
              </a:rPr>
              <a:t> 七项参数中的前五项均以</a:t>
            </a:r>
            <a:r>
              <a:rPr sz="1170" b="1" i="0">
                <a:solidFill>
                  <a:srgbClr val="2F528F"/>
                </a:solidFill>
                <a:latin typeface="Microsoft YaHei"/>
              </a:rPr>
              <a:t>时间</a:t>
            </a:r>
            <a:r>
              <a:rPr sz="1170" b="0" i="0">
                <a:solidFill>
                  <a:srgbClr val="2F528F"/>
                </a:solidFill>
                <a:latin typeface="Microsoft YaHei"/>
              </a:rPr>
              <a:t>表述，而这些秒数共享同一个零点：</a:t>
            </a:r>
            <a:r>
              <a:rPr sz="1170" b="1" i="0">
                <a:solidFill>
                  <a:srgbClr val="2F528F"/>
                </a:solidFill>
                <a:latin typeface="Microsoft YaHei"/>
              </a:rPr>
              <a:t>冲突时刻</a:t>
            </a:r>
            <a:r>
              <a:rPr sz="1170" b="0" i="0">
                <a:solidFill>
                  <a:srgbClr val="2F528F"/>
                </a:solidFill>
                <a:latin typeface="Microsoft YaHei"/>
              </a:rPr>
              <a:t>。 该记法隐含一个从未被检验的假设——</a:t>
            </a:r>
            <a:r>
              <a:rPr sz="1170" b="1" i="0">
                <a:solidFill>
                  <a:srgbClr val="2F528F"/>
                </a:solidFill>
                <a:latin typeface="Microsoft YaHei"/>
              </a:rPr>
              <a:t>驾驶员在预警呈现前对行人一无所知</a:t>
            </a:r>
            <a:r>
              <a:rPr sz="1170" b="0" i="0">
                <a:solidFill>
                  <a:srgbClr val="2F528F"/>
                </a:solidFill>
                <a:latin typeface="Microsoft YaHei"/>
              </a:rPr>
              <a:t>。 </a:t>
            </a:r>
          </a:p>
        </p:txBody>
      </p:sp>
      <p:sp>
        <p:nvSpPr>
          <p:cNvPr id="9" name="Rounded Rectangle 8"/>
          <p:cNvSpPr/>
          <p:nvPr/>
        </p:nvSpPr>
        <p:spPr>
          <a:xfrm>
            <a:off x="438150" y="1384696"/>
            <a:ext cx="5572125" cy="4492972"/>
          </a:xfrm>
          <a:prstGeom prst="roundRect">
            <a:avLst>
              <a:gd name="adj" fmla="val 1483"/>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19125" y="1841896"/>
            <a:ext cx="5210175"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125" y="1537096"/>
            <a:ext cx="5248275" cy="266700"/>
          </a:xfrm>
          <a:prstGeom prst="rect">
            <a:avLst/>
          </a:prstGeom>
          <a:noFill/>
        </p:spPr>
        <p:txBody>
          <a:bodyPr wrap="square" lIns="0" rIns="0" tIns="0" bIns="0" anchor="t">
            <a:normAutofit/>
          </a:bodyPr>
          <a:lstStyle/>
          <a:p>
            <a:pPr algn="l">
              <a:lnSpc>
                <a:spcPct val="125000"/>
              </a:lnSpc>
              <a:spcBef>
                <a:spcPts val="0"/>
              </a:spcBef>
              <a:spcAft>
                <a:spcPts val="0"/>
              </a:spcAft>
            </a:pPr>
            <a:r>
              <a:rPr sz="1200" b="1" i="0">
                <a:solidFill>
                  <a:srgbClr val="C00000"/>
                </a:solidFill>
                <a:latin typeface="Microsoft YaHei"/>
              </a:rPr>
              <a:t>隐含假设的三条否证</a:t>
            </a:r>
          </a:p>
        </p:txBody>
      </p:sp>
      <p:sp>
        <p:nvSpPr>
          <p:cNvPr id="12" name="TextBox 11"/>
          <p:cNvSpPr txBox="1"/>
          <p:nvPr/>
        </p:nvSpPr>
        <p:spPr>
          <a:xfrm>
            <a:off x="685800" y="1956196"/>
            <a:ext cx="5181600" cy="331440"/>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0" i="0">
                <a:solidFill>
                  <a:srgbClr val="1A1A1A"/>
                </a:solidFill>
                <a:latin typeface="Microsoft YaHei"/>
              </a:rPr>
              <a:t>Winkler 等（2018）：左转侵入场景中 </a:t>
            </a:r>
            <a:r>
              <a:rPr sz="1170" b="1" i="0">
                <a:solidFill>
                  <a:srgbClr val="1A1A1A"/>
                </a:solidFill>
                <a:latin typeface="Microsoft YaHei"/>
              </a:rPr>
              <a:t>50% 被试在预警呈现前已开始制动</a:t>
            </a:r>
          </a:p>
        </p:txBody>
      </p:sp>
      <p:sp>
        <p:nvSpPr>
          <p:cNvPr id="13" name="TextBox 12"/>
          <p:cNvSpPr txBox="1"/>
          <p:nvPr/>
        </p:nvSpPr>
        <p:spPr>
          <a:xfrm>
            <a:off x="685800" y="2344787"/>
            <a:ext cx="5181600" cy="331440"/>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0" i="0">
                <a:solidFill>
                  <a:srgbClr val="1A1A1A"/>
                </a:solidFill>
                <a:latin typeface="Microsoft YaHei"/>
              </a:rPr>
              <a:t>Phan 等（2016）：无预警条件下行人觉察时刻已在 </a:t>
            </a:r>
            <a:r>
              <a:rPr sz="1170" b="1" i="0">
                <a:solidFill>
                  <a:srgbClr val="1A1A1A"/>
                </a:solidFill>
                <a:latin typeface="Microsoft YaHei"/>
              </a:rPr>
              <a:t>TTC 约 3 s</a:t>
            </a:r>
          </a:p>
        </p:txBody>
      </p:sp>
      <p:sp>
        <p:nvSpPr>
          <p:cNvPr id="14" name="TextBox 13"/>
          <p:cNvSpPr txBox="1"/>
          <p:nvPr/>
        </p:nvSpPr>
        <p:spPr>
          <a:xfrm>
            <a:off x="685800" y="2733377"/>
            <a:ext cx="5181600" cy="331440"/>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0" i="0">
                <a:solidFill>
                  <a:srgbClr val="1A1A1A"/>
                </a:solidFill>
                <a:latin typeface="Microsoft YaHei"/>
              </a:rPr>
              <a:t>Abe 与 Richardson（2006）：无报警条件下</a:t>
            </a:r>
            <a:r>
              <a:rPr sz="1170" b="1" i="0">
                <a:solidFill>
                  <a:srgbClr val="1A1A1A"/>
                </a:solidFill>
                <a:latin typeface="Microsoft YaHei"/>
              </a:rPr>
              <a:t>自主松油基线 0.72 s</a:t>
            </a:r>
          </a:p>
        </p:txBody>
      </p:sp>
      <p:sp>
        <p:nvSpPr>
          <p:cNvPr id="15" name="TextBox 14"/>
          <p:cNvSpPr txBox="1"/>
          <p:nvPr/>
        </p:nvSpPr>
        <p:spPr>
          <a:xfrm>
            <a:off x="619125" y="3121967"/>
            <a:ext cx="5248275" cy="812155"/>
          </a:xfrm>
          <a:prstGeom prst="rect">
            <a:avLst/>
          </a:prstGeom>
          <a:noFill/>
        </p:spPr>
        <p:txBody>
          <a:bodyPr wrap="square" lIns="0" rIns="0" tIns="0" bIns="0" anchor="t">
            <a:normAutofit/>
          </a:bodyPr>
          <a:lstStyle/>
          <a:p>
            <a:pPr algn="l">
              <a:lnSpc>
                <a:spcPct val="188000"/>
              </a:lnSpc>
              <a:spcBef>
                <a:spcPts val="0"/>
              </a:spcBef>
              <a:spcAft>
                <a:spcPts val="0"/>
              </a:spcAft>
            </a:pPr>
            <a:r>
              <a:rPr sz="1090" b="1" i="0">
                <a:solidFill>
                  <a:srgbClr val="1A1A1A"/>
                </a:solidFill>
                <a:latin typeface="Microsoft YaHei"/>
              </a:rPr>
              <a:t>后果：</a:t>
            </a:r>
            <a:r>
              <a:rPr sz="1090" b="0" i="0">
                <a:solidFill>
                  <a:srgbClr val="1A1A1A"/>
                </a:solidFill>
                <a:latin typeface="Microsoft YaHei"/>
              </a:rPr>
              <a:t>以绝对 TTC 为自变量时，同一取值在不同车速与遮挡条件下 对应的</a:t>
            </a:r>
            <a:r>
              <a:rPr sz="1090" b="1" i="0">
                <a:solidFill>
                  <a:srgbClr val="1A1A1A"/>
                </a:solidFill>
                <a:latin typeface="Microsoft YaHei"/>
              </a:rPr>
              <a:t>信息增益不同</a:t>
            </a:r>
            <a:r>
              <a:rPr sz="1090" b="0" i="0">
                <a:solidFill>
                  <a:srgbClr val="1A1A1A"/>
                </a:solidFill>
                <a:latin typeface="Microsoft YaHei"/>
              </a:rPr>
              <a:t>，故条件间的比较不成立——这也正是同一个 5.0 s 出现三种相反结论的原因之一。</a:t>
            </a:r>
          </a:p>
        </p:txBody>
      </p:sp>
      <p:sp>
        <p:nvSpPr>
          <p:cNvPr id="16" name="Rounded Rectangle 15"/>
          <p:cNvSpPr/>
          <p:nvPr/>
        </p:nvSpPr>
        <p:spPr>
          <a:xfrm>
            <a:off x="6181725" y="1384696"/>
            <a:ext cx="5572125" cy="4492972"/>
          </a:xfrm>
          <a:prstGeom prst="roundRect">
            <a:avLst>
              <a:gd name="adj" fmla="val 1483"/>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62700" y="1841896"/>
            <a:ext cx="521017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2700" y="1537096"/>
            <a:ext cx="5248275" cy="266700"/>
          </a:xfrm>
          <a:prstGeom prst="rect">
            <a:avLst/>
          </a:prstGeom>
          <a:noFill/>
        </p:spPr>
        <p:txBody>
          <a:bodyPr wrap="square" lIns="0" rIns="0" tIns="0" bIns="0" anchor="t">
            <a:normAutofit/>
          </a:bodyPr>
          <a:lstStyle/>
          <a:p>
            <a:pPr algn="l">
              <a:lnSpc>
                <a:spcPct val="125000"/>
              </a:lnSpc>
              <a:spcBef>
                <a:spcPts val="0"/>
              </a:spcBef>
              <a:spcAft>
                <a:spcPts val="0"/>
              </a:spcAft>
            </a:pPr>
            <a:r>
              <a:rPr sz="1200" b="1" i="0">
                <a:solidFill>
                  <a:srgbClr val="3E7D3E"/>
                </a:solidFill>
                <a:latin typeface="Microsoft YaHei"/>
              </a:rPr>
              <a:t>研究一的三项职能</a:t>
            </a:r>
          </a:p>
        </p:txBody>
      </p:sp>
      <p:sp>
        <p:nvSpPr>
          <p:cNvPr id="19" name="TextBox 18"/>
          <p:cNvSpPr txBox="1"/>
          <p:nvPr/>
        </p:nvSpPr>
        <p:spPr>
          <a:xfrm>
            <a:off x="6429375" y="1956196"/>
            <a:ext cx="5181600" cy="350490"/>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重设零点。</a:t>
            </a:r>
            <a:r>
              <a:rPr sz="1170" b="0" i="0">
                <a:solidFill>
                  <a:srgbClr val="1A1A1A"/>
                </a:solidFill>
                <a:latin typeface="Microsoft YaHei"/>
              </a:rPr>
              <a:t>实测 </a:t>
            </a:r>
            <a:r>
              <a:rPr sz="1170" b="0" i="1">
                <a:solidFill>
                  <a:srgbClr val="1A1A1A"/>
                </a:solidFill>
                <a:latin typeface="Microsoft YaHei"/>
              </a:rPr>
              <a:t>t</a:t>
            </a:r>
            <a:r>
              <a:rPr sz="819" b="0" i="1" baseline="-25000">
                <a:solidFill>
                  <a:srgbClr val="1A1A1A"/>
                </a:solidFill>
                <a:latin typeface="Microsoft YaHei"/>
              </a:rPr>
              <a:t>0</a:t>
            </a:r>
            <a:r>
              <a:rPr sz="1170" b="0" i="0">
                <a:solidFill>
                  <a:srgbClr val="1A1A1A"/>
                </a:solidFill>
                <a:latin typeface="Microsoft YaHei"/>
              </a:rPr>
              <a:t> 的分布，使时间参数由绝对 TTC 改写为 </a:t>
            </a:r>
            <a:r>
              <a:rPr sz="1170" b="0" i="1">
                <a:solidFill>
                  <a:srgbClr val="1A1A1A"/>
                </a:solidFill>
                <a:latin typeface="Microsoft YaHei"/>
              </a:rPr>
              <a:t>Δt</a:t>
            </a:r>
            <a:r>
              <a:rPr sz="1170" b="0" i="1">
                <a:solidFill>
                  <a:srgbClr val="1A1A1A"/>
                </a:solidFill>
                <a:latin typeface="Microsoft YaHei"/>
              </a:rPr>
              <a:t> = </a:t>
            </a:r>
            <a:r>
              <a:rPr sz="1170" b="0" i="1">
                <a:solidFill>
                  <a:srgbClr val="1A1A1A"/>
                </a:solidFill>
                <a:latin typeface="Microsoft YaHei"/>
              </a:rPr>
              <a:t>t</a:t>
            </a:r>
            <a:r>
              <a:rPr sz="819" b="0" i="1" baseline="-25000">
                <a:solidFill>
                  <a:srgbClr val="1A1A1A"/>
                </a:solidFill>
                <a:latin typeface="Microsoft YaHei"/>
              </a:rPr>
              <a:t>0</a:t>
            </a:r>
            <a:r>
              <a:rPr sz="1170" b="0" i="1">
                <a:solidFill>
                  <a:srgbClr val="1A1A1A"/>
                </a:solidFill>
                <a:latin typeface="Microsoft YaHei"/>
              </a:rPr>
              <a:t> − </a:t>
            </a:r>
            <a:r>
              <a:rPr sz="1170" b="0" i="1">
                <a:solidFill>
                  <a:srgbClr val="1A1A1A"/>
                </a:solidFill>
                <a:latin typeface="Microsoft YaHei"/>
              </a:rPr>
              <a:t>t</a:t>
            </a:r>
            <a:r>
              <a:rPr sz="819" b="0" i="1" baseline="-25000">
                <a:solidFill>
                  <a:srgbClr val="1A1A1A"/>
                </a:solidFill>
                <a:latin typeface="Microsoft YaHei"/>
              </a:rPr>
              <a:t>warn</a:t>
            </a:r>
          </a:p>
        </p:txBody>
      </p:sp>
      <p:sp>
        <p:nvSpPr>
          <p:cNvPr id="20" name="TextBox 19"/>
          <p:cNvSpPr txBox="1"/>
          <p:nvPr/>
        </p:nvSpPr>
        <p:spPr>
          <a:xfrm>
            <a:off x="6429375" y="2363837"/>
            <a:ext cx="5181600" cy="63430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提供基线参数。</a:t>
            </a:r>
            <a:r>
              <a:rPr sz="1170" b="0" i="0">
                <a:solidFill>
                  <a:srgbClr val="1A1A1A"/>
                </a:solidFill>
                <a:latin typeface="Microsoft YaHei"/>
              </a:rPr>
              <a:t>感知反应时分位数、BTN 校准值、实测舒适减速度、无预警条件下的碰撞率</a:t>
            </a:r>
          </a:p>
        </p:txBody>
      </p:sp>
      <p:sp>
        <p:nvSpPr>
          <p:cNvPr id="21" name="TextBox 20"/>
          <p:cNvSpPr txBox="1"/>
          <p:nvPr/>
        </p:nvSpPr>
        <p:spPr>
          <a:xfrm>
            <a:off x="6429375" y="3055292"/>
            <a:ext cx="5181600" cy="65335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决定后续设计的可行性。</a:t>
            </a:r>
            <a:r>
              <a:rPr sz="1170" b="0" i="1">
                <a:solidFill>
                  <a:srgbClr val="1A1A1A"/>
                </a:solidFill>
                <a:latin typeface="Microsoft YaHei"/>
              </a:rPr>
              <a:t>t</a:t>
            </a:r>
            <a:r>
              <a:rPr sz="819" b="0" i="1" baseline="-25000">
                <a:solidFill>
                  <a:srgbClr val="1A1A1A"/>
                </a:solidFill>
                <a:latin typeface="Microsoft YaHei"/>
              </a:rPr>
              <a:t>0</a:t>
            </a:r>
            <a:r>
              <a:rPr sz="1170" b="0" i="0">
                <a:solidFill>
                  <a:srgbClr val="1A1A1A"/>
                </a:solidFill>
                <a:latin typeface="Microsoft YaHei"/>
              </a:rPr>
              <a:t> 的</a:t>
            </a:r>
            <a:r>
              <a:rPr sz="1170" b="1" i="0">
                <a:solidFill>
                  <a:srgbClr val="1A1A1A"/>
                </a:solidFill>
                <a:latin typeface="Microsoft YaHei"/>
              </a:rPr>
              <a:t>被试内标准差</a:t>
            </a:r>
            <a:r>
              <a:rPr sz="1170" b="0" i="0">
                <a:solidFill>
                  <a:srgbClr val="1A1A1A"/>
                </a:solidFill>
                <a:latin typeface="Microsoft YaHei"/>
              </a:rPr>
              <a:t>决定 </a:t>
            </a:r>
            <a:r>
              <a:rPr sz="1170" b="0" i="1">
                <a:solidFill>
                  <a:srgbClr val="1A1A1A"/>
                </a:solidFill>
                <a:latin typeface="Microsoft YaHei"/>
              </a:rPr>
              <a:t>Δt</a:t>
            </a:r>
            <a:r>
              <a:rPr sz="1170" b="0" i="0">
                <a:solidFill>
                  <a:srgbClr val="1A1A1A"/>
                </a:solidFill>
                <a:latin typeface="Microsoft YaHei"/>
              </a:rPr>
              <a:t> 能否作被试内因子； 若三重约束的交集为空，则否证本研究的参数化路径</a:t>
            </a:r>
          </a:p>
        </p:txBody>
      </p:sp>
      <p:sp>
        <p:nvSpPr>
          <p:cNvPr id="22" name="Rectangle 21"/>
          <p:cNvSpPr/>
          <p:nvPr/>
        </p:nvSpPr>
        <p:spPr>
          <a:xfrm>
            <a:off x="438150" y="5982444"/>
            <a:ext cx="11315700" cy="475505"/>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38150" y="5982444"/>
            <a:ext cx="38100" cy="475505"/>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0550" y="6096744"/>
            <a:ext cx="11049000" cy="275480"/>
          </a:xfrm>
          <a:prstGeom prst="rect">
            <a:avLst/>
          </a:prstGeom>
          <a:noFill/>
        </p:spPr>
        <p:txBody>
          <a:bodyPr wrap="square" lIns="0" rIns="0" tIns="0" bIns="0" anchor="t">
            <a:normAutofit/>
          </a:bodyPr>
          <a:lstStyle/>
          <a:p>
            <a:pPr algn="l">
              <a:lnSpc>
                <a:spcPct val="180000"/>
              </a:lnSpc>
              <a:spcBef>
                <a:spcPts val="0"/>
              </a:spcBef>
              <a:spcAft>
                <a:spcPts val="0"/>
              </a:spcAft>
            </a:pPr>
            <a:r>
              <a:rPr sz="1080" b="1" i="0">
                <a:solidFill>
                  <a:srgbClr val="1F5A1F"/>
                </a:solidFill>
                <a:latin typeface="Microsoft YaHei"/>
              </a:rPr>
              <a:t>因此研究一在前。</a:t>
            </a:r>
            <a:r>
              <a:rPr sz="1080" b="0" i="0">
                <a:solidFill>
                  <a:srgbClr val="1F5A1F"/>
                </a:solidFill>
                <a:latin typeface="Microsoft YaHei"/>
              </a:rPr>
              <a:t>它不检验任何设计方案的优劣，其唯一职能是</a:t>
            </a:r>
            <a:r>
              <a:rPr sz="1080" b="1" i="0">
                <a:solidFill>
                  <a:srgbClr val="1F5A1F"/>
                </a:solidFill>
                <a:latin typeface="Microsoft YaHei"/>
              </a:rPr>
              <a:t>为后续四个实验标定基线参数</a:t>
            </a:r>
            <a:r>
              <a:rPr sz="1080" b="0" i="0">
                <a:solidFill>
                  <a:srgbClr val="1F5A1F"/>
                </a:solidFill>
                <a:latin typeface="Microsoft YaHei"/>
              </a:rPr>
              <a:t>； 同时它是本研究「参数由约束导出而非由文献枚举」这一主张的</a:t>
            </a:r>
            <a:r>
              <a:rPr sz="1080" b="1" i="0">
                <a:solidFill>
                  <a:srgbClr val="1F5A1F"/>
                </a:solidFill>
                <a:latin typeface="Microsoft YaHei"/>
              </a:rPr>
              <a:t>前置可否证环节</a:t>
            </a:r>
            <a:r>
              <a:rPr sz="1080" b="0" i="0">
                <a:solidFill>
                  <a:srgbClr val="1F5A1F"/>
                </a:solidFill>
                <a:latin typeface="Microsoft YaHei"/>
              </a:rPr>
              <a:t>。 </a:t>
            </a:r>
          </a:p>
        </p:txBody>
      </p:sp>
      <p:sp>
        <p:nvSpPr>
          <p:cNvPr id="25" name="TextBox 24"/>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研究一</a:t>
            </a:r>
            <a:r>
              <a:rPr sz="1580" b="1" i="0">
                <a:solidFill>
                  <a:srgbClr val="4472C4"/>
                </a:solidFill>
                <a:latin typeface="Microsoft YaHei"/>
              </a:rPr>
              <a:t>研究一的变量结构：2 × 2 设计与四类因变量构念</a:t>
            </a:r>
          </a:p>
        </p:txBody>
      </p:sp>
      <p:sp>
        <p:nvSpPr>
          <p:cNvPr id="4" name="Rounded Rectangle 3"/>
          <p:cNvSpPr/>
          <p:nvPr/>
        </p:nvSpPr>
        <p:spPr>
          <a:xfrm>
            <a:off x="10952857" y="209550"/>
            <a:ext cx="800992"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57632" y="238125"/>
            <a:ext cx="629542"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研究一 1 / 3</a:t>
            </a:r>
          </a:p>
        </p:txBody>
      </p:sp>
      <p:sp>
        <p:nvSpPr>
          <p:cNvPr id="6" name="Rectangle 5"/>
          <p:cNvSpPr/>
          <p:nvPr/>
        </p:nvSpPr>
        <p:spPr>
          <a:xfrm>
            <a:off x="438150" y="762000"/>
            <a:ext cx="11315700" cy="517921"/>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517921"/>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75" y="885825"/>
            <a:ext cx="11029950" cy="298846"/>
          </a:xfrm>
          <a:prstGeom prst="rect">
            <a:avLst/>
          </a:prstGeom>
          <a:noFill/>
        </p:spPr>
        <p:txBody>
          <a:bodyPr wrap="square" lIns="0" rIns="0" tIns="0" bIns="0" anchor="t">
            <a:normAutofit/>
          </a:bodyPr>
          <a:lstStyle/>
          <a:p>
            <a:pPr algn="l">
              <a:lnSpc>
                <a:spcPct val="182000"/>
              </a:lnSpc>
              <a:spcBef>
                <a:spcPts val="0"/>
              </a:spcBef>
              <a:spcAft>
                <a:spcPts val="0"/>
              </a:spcAft>
            </a:pPr>
            <a:r>
              <a:rPr sz="1170" b="0" i="0">
                <a:solidFill>
                  <a:srgbClr val="2F528F"/>
                </a:solidFill>
                <a:latin typeface="Microsoft YaHei"/>
              </a:rPr>
              <a:t> 研究一为</a:t>
            </a:r>
            <a:r>
              <a:rPr sz="1170" b="1" i="0">
                <a:solidFill>
                  <a:srgbClr val="2F528F"/>
                </a:solidFill>
                <a:latin typeface="Microsoft YaHei"/>
              </a:rPr>
              <a:t>测量性研究，不含 AR 操纵</a:t>
            </a:r>
            <a:r>
              <a:rPr sz="1170" b="0" i="0">
                <a:solidFill>
                  <a:srgbClr val="2F528F"/>
                </a:solidFill>
                <a:latin typeface="Microsoft YaHei"/>
              </a:rPr>
              <a:t>，全部条件均为无预警条件；不设实验组—对照组，故其自变量为 </a:t>
            </a:r>
            <a:r>
              <a:rPr sz="1170" b="1" i="0">
                <a:solidFill>
                  <a:srgbClr val="2F528F"/>
                </a:solidFill>
                <a:latin typeface="Microsoft YaHei"/>
              </a:rPr>
              <a:t>影响自发察觉时刻的两个情境因素</a:t>
            </a:r>
            <a:r>
              <a:rPr sz="1170" b="0" i="0">
                <a:solidFill>
                  <a:srgbClr val="2F528F"/>
                </a:solidFill>
                <a:latin typeface="Microsoft YaHei"/>
              </a:rPr>
              <a:t>，而非任何显示设计参数。 </a:t>
            </a:r>
          </a:p>
        </p:txBody>
      </p:sp>
      <p:sp>
        <p:nvSpPr>
          <p:cNvPr id="9" name="Rounded Rectangle 8"/>
          <p:cNvSpPr/>
          <p:nvPr/>
        </p:nvSpPr>
        <p:spPr>
          <a:xfrm>
            <a:off x="438150" y="1384696"/>
            <a:ext cx="4665017" cy="4227016"/>
          </a:xfrm>
          <a:prstGeom prst="roundRect">
            <a:avLst>
              <a:gd name="adj" fmla="val 1577"/>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19125" y="1841896"/>
            <a:ext cx="4303067"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125" y="1537096"/>
            <a:ext cx="4341167" cy="266700"/>
          </a:xfrm>
          <a:prstGeom prst="rect">
            <a:avLst/>
          </a:prstGeom>
          <a:noFill/>
        </p:spPr>
        <p:txBody>
          <a:bodyPr wrap="square" lIns="0" rIns="0" tIns="0" bIns="0" anchor="t">
            <a:normAutofit/>
          </a:bodyPr>
          <a:lstStyle/>
          <a:p>
            <a:pPr algn="l">
              <a:lnSpc>
                <a:spcPct val="125000"/>
              </a:lnSpc>
              <a:spcBef>
                <a:spcPts val="0"/>
              </a:spcBef>
              <a:spcAft>
                <a:spcPts val="0"/>
              </a:spcAft>
            </a:pPr>
            <a:r>
              <a:rPr sz="1200" b="1" i="0">
                <a:solidFill>
                  <a:srgbClr val="2F528F"/>
                </a:solidFill>
                <a:latin typeface="Microsoft YaHei"/>
              </a:rPr>
              <a:t>自变量：2 × 2 被试内</a:t>
            </a:r>
          </a:p>
        </p:txBody>
      </p:sp>
      <p:sp>
        <p:nvSpPr>
          <p:cNvPr id="12" name="TextBox 11"/>
          <p:cNvSpPr txBox="1"/>
          <p:nvPr/>
        </p:nvSpPr>
        <p:spPr>
          <a:xfrm>
            <a:off x="685800" y="1956196"/>
            <a:ext cx="4274492" cy="937170"/>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行车速度</a:t>
            </a:r>
            <a:r>
              <a:rPr sz="1170" b="0" i="0">
                <a:solidFill>
                  <a:srgbClr val="1A1A1A"/>
                </a:solidFill>
                <a:latin typeface="Microsoft YaHei"/>
              </a:rPr>
              <a:t> 40 ／ 60 km/h</a:t>
            </a:r>
          </a:p>
          <a:p>
            <a:pPr algn="l">
              <a:lnSpc>
                <a:spcPct val="204000"/>
              </a:lnSpc>
              <a:spcBef>
                <a:spcPts val="0"/>
              </a:spcBef>
              <a:spcAft>
                <a:spcPts val="0"/>
              </a:spcAft>
            </a:pPr>
            <a:r>
              <a:rPr sz="1170">
                <a:latin typeface="Microsoft YaHei"/>
              </a:rPr>
              <a:t>• </a:t>
            </a:r>
            <a:r>
              <a:rPr sz="1170" b="0" i="0">
                <a:solidFill>
                  <a:srgbClr val="1A1A1A"/>
                </a:solidFill>
                <a:latin typeface="Microsoft YaHei"/>
              </a:rPr>
              <a:t> </a:t>
            </a:r>
            <a:r>
              <a:rPr sz="980" b="0" i="0">
                <a:solidFill>
                  <a:srgbClr val="8C8C8C"/>
                </a:solidFill>
                <a:latin typeface="Microsoft YaHei"/>
              </a:rPr>
              <a:t>覆盖国内城市主要限速档，并与 Large 等（2019）的 40、Wu 等（2024）的 60 可对照</a:t>
            </a:r>
          </a:p>
        </p:txBody>
      </p:sp>
      <p:sp>
        <p:nvSpPr>
          <p:cNvPr id="13" name="TextBox 12"/>
          <p:cNvSpPr txBox="1"/>
          <p:nvPr/>
        </p:nvSpPr>
        <p:spPr>
          <a:xfrm>
            <a:off x="685800" y="2950517"/>
            <a:ext cx="4274492" cy="63430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视线遮挡</a:t>
            </a:r>
            <a:r>
              <a:rPr sz="1170" b="0" i="0">
                <a:solidFill>
                  <a:srgbClr val="1A1A1A"/>
                </a:solidFill>
                <a:latin typeface="Microsoft YaHei"/>
              </a:rPr>
              <a:t> 无 ／ 停放车辆部分遮挡</a:t>
            </a:r>
          </a:p>
          <a:p>
            <a:pPr algn="l">
              <a:lnSpc>
                <a:spcPct val="204000"/>
              </a:lnSpc>
              <a:spcBef>
                <a:spcPts val="0"/>
              </a:spcBef>
              <a:spcAft>
                <a:spcPts val="0"/>
              </a:spcAft>
            </a:pPr>
            <a:r>
              <a:rPr sz="1170">
                <a:latin typeface="Microsoft YaHei"/>
              </a:rPr>
              <a:t>• </a:t>
            </a:r>
            <a:r>
              <a:rPr sz="1170" b="0" i="0">
                <a:solidFill>
                  <a:srgbClr val="1A1A1A"/>
                </a:solidFill>
                <a:latin typeface="Microsoft YaHei"/>
              </a:rPr>
              <a:t> </a:t>
            </a:r>
            <a:r>
              <a:rPr sz="980" b="0" i="0">
                <a:solidFill>
                  <a:srgbClr val="8C8C8C"/>
                </a:solidFill>
                <a:latin typeface="Microsoft YaHei"/>
              </a:rPr>
              <a:t>遮挡直接改变光学膨胀率越过知觉阈值的时刻，即直接改变 </a:t>
            </a:r>
            <a:r>
              <a:rPr sz="980" b="0" i="1">
                <a:solidFill>
                  <a:srgbClr val="8C8C8C"/>
                </a:solidFill>
                <a:latin typeface="Microsoft YaHei"/>
              </a:rPr>
              <a:t>t</a:t>
            </a:r>
            <a:r>
              <a:rPr sz="680" b="0" i="1" baseline="-25000">
                <a:solidFill>
                  <a:srgbClr val="8C8C8C"/>
                </a:solidFill>
                <a:latin typeface="Microsoft YaHei"/>
              </a:rPr>
              <a:t>0</a:t>
            </a:r>
          </a:p>
        </p:txBody>
      </p:sp>
      <p:sp>
        <p:nvSpPr>
          <p:cNvPr id="14" name="TextBox 13"/>
          <p:cNvSpPr txBox="1"/>
          <p:nvPr/>
        </p:nvSpPr>
        <p:spPr>
          <a:xfrm>
            <a:off x="619125" y="3641973"/>
            <a:ext cx="4341167" cy="289768"/>
          </a:xfrm>
          <a:prstGeom prst="rect">
            <a:avLst/>
          </a:prstGeom>
          <a:noFill/>
        </p:spPr>
        <p:txBody>
          <a:bodyPr wrap="square" lIns="0" rIns="0" tIns="0" bIns="0" anchor="t">
            <a:normAutofit/>
          </a:bodyPr>
          <a:lstStyle/>
          <a:p>
            <a:pPr algn="l">
              <a:lnSpc>
                <a:spcPct val="188000"/>
              </a:lnSpc>
              <a:spcBef>
                <a:spcPts val="0"/>
              </a:spcBef>
              <a:spcAft>
                <a:spcPts val="0"/>
              </a:spcAft>
            </a:pPr>
            <a:r>
              <a:rPr sz="1090" b="0" i="0">
                <a:solidFill>
                  <a:srgbClr val="1A1A1A"/>
                </a:solidFill>
                <a:latin typeface="Microsoft YaHei"/>
              </a:rPr>
              <a:t>→ 四个标定单元，顺序按拉丁方平衡。</a:t>
            </a:r>
          </a:p>
        </p:txBody>
      </p:sp>
      <p:sp>
        <p:nvSpPr>
          <p:cNvPr id="15" name="Rounded Rectangle 14"/>
          <p:cNvSpPr/>
          <p:nvPr/>
        </p:nvSpPr>
        <p:spPr>
          <a:xfrm>
            <a:off x="5274617" y="1384696"/>
            <a:ext cx="6479232" cy="4227016"/>
          </a:xfrm>
          <a:prstGeom prst="roundRect">
            <a:avLst>
              <a:gd name="adj" fmla="val 1577"/>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55592" y="1841896"/>
            <a:ext cx="611728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55592" y="1537096"/>
            <a:ext cx="6155382" cy="266700"/>
          </a:xfrm>
          <a:prstGeom prst="rect">
            <a:avLst/>
          </a:prstGeom>
          <a:noFill/>
        </p:spPr>
        <p:txBody>
          <a:bodyPr wrap="square" lIns="0" rIns="0" tIns="0" bIns="0" anchor="t">
            <a:normAutofit/>
          </a:bodyPr>
          <a:lstStyle/>
          <a:p>
            <a:pPr algn="l">
              <a:lnSpc>
                <a:spcPct val="125000"/>
              </a:lnSpc>
              <a:spcBef>
                <a:spcPts val="0"/>
              </a:spcBef>
              <a:spcAft>
                <a:spcPts val="0"/>
              </a:spcAft>
            </a:pPr>
            <a:r>
              <a:rPr sz="1200" b="1" i="0">
                <a:solidFill>
                  <a:srgbClr val="2F528F"/>
                </a:solidFill>
                <a:latin typeface="Microsoft YaHei"/>
              </a:rPr>
              <a:t>因变量：四类构念及其操作化指标</a:t>
            </a:r>
          </a:p>
        </p:txBody>
      </p:sp>
      <p:sp>
        <p:nvSpPr>
          <p:cNvPr id="18" name="TextBox 17"/>
          <p:cNvSpPr txBox="1"/>
          <p:nvPr/>
        </p:nvSpPr>
        <p:spPr>
          <a:xfrm>
            <a:off x="5522267" y="1956196"/>
            <a:ext cx="6088707" cy="65335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情境意识</a:t>
            </a:r>
            <a:r>
              <a:rPr sz="1170" b="0" i="0">
                <a:solidFill>
                  <a:srgbClr val="1A1A1A"/>
                </a:solidFill>
                <a:latin typeface="Microsoft YaHei"/>
              </a:rPr>
              <a:t> </a:t>
            </a:r>
            <a:r>
              <a:rPr sz="1170" b="0" i="1">
                <a:solidFill>
                  <a:srgbClr val="1A1A1A"/>
                </a:solidFill>
                <a:latin typeface="Microsoft YaHei"/>
              </a:rPr>
              <a:t>t</a:t>
            </a:r>
            <a:r>
              <a:rPr sz="819" b="0" i="1" baseline="-25000">
                <a:solidFill>
                  <a:srgbClr val="1A1A1A"/>
                </a:solidFill>
                <a:latin typeface="Microsoft YaHei"/>
              </a:rPr>
              <a:t>0</a:t>
            </a:r>
            <a:r>
              <a:rPr sz="1170" b="0" i="0">
                <a:solidFill>
                  <a:srgbClr val="1A1A1A"/>
                </a:solidFill>
                <a:latin typeface="Microsoft YaHei"/>
              </a:rPr>
              <a:t>（首次注视行人时刻，注视识别阈 80 ms／100 px）；SA 三级得分（感知／理解／预测）</a:t>
            </a:r>
          </a:p>
        </p:txBody>
      </p:sp>
      <p:sp>
        <p:nvSpPr>
          <p:cNvPr id="19" name="TextBox 18"/>
          <p:cNvSpPr txBox="1"/>
          <p:nvPr/>
        </p:nvSpPr>
        <p:spPr>
          <a:xfrm>
            <a:off x="5522267" y="2666702"/>
            <a:ext cx="6088707" cy="63430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安全绩效</a:t>
            </a:r>
            <a:r>
              <a:rPr sz="1170" b="0" i="0">
                <a:solidFill>
                  <a:srgbClr val="1A1A1A"/>
                </a:solidFill>
                <a:latin typeface="Microsoft YaHei"/>
              </a:rPr>
              <a:t> 首个避险动作时刻（松油阈值 −0.075 g）、峰值减速度、碰撞率； 过程量为感知反应时及其三段分解与所需减速度轨迹</a:t>
            </a:r>
          </a:p>
        </p:txBody>
      </p:sp>
      <p:sp>
        <p:nvSpPr>
          <p:cNvPr id="20" name="TextBox 19"/>
          <p:cNvSpPr txBox="1"/>
          <p:nvPr/>
        </p:nvSpPr>
        <p:spPr>
          <a:xfrm>
            <a:off x="5522267" y="3358157"/>
            <a:ext cx="6088707" cy="331440"/>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认知负荷</a:t>
            </a:r>
            <a:r>
              <a:rPr sz="1170" b="0" i="0">
                <a:solidFill>
                  <a:srgbClr val="1A1A1A"/>
                </a:solidFill>
                <a:latin typeface="Microsoft YaHei"/>
              </a:rPr>
              <a:t> NASA-TLX 与瞳孔直径基线，用作后续四个实验的</a:t>
            </a:r>
            <a:r>
              <a:rPr sz="1170" b="1" i="0">
                <a:solidFill>
                  <a:srgbClr val="1A1A1A"/>
                </a:solidFill>
                <a:latin typeface="Microsoft YaHei"/>
              </a:rPr>
              <a:t>负荷参照基线</a:t>
            </a:r>
          </a:p>
        </p:txBody>
      </p:sp>
      <p:sp>
        <p:nvSpPr>
          <p:cNvPr id="21" name="TextBox 20"/>
          <p:cNvSpPr txBox="1"/>
          <p:nvPr/>
        </p:nvSpPr>
        <p:spPr>
          <a:xfrm>
            <a:off x="5522267" y="3746748"/>
            <a:ext cx="6088707" cy="331440"/>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用户体验</a:t>
            </a:r>
            <a:r>
              <a:rPr sz="1170" b="0" i="0">
                <a:solidFill>
                  <a:srgbClr val="1A1A1A"/>
                </a:solidFill>
                <a:latin typeface="Microsoft YaHei"/>
              </a:rPr>
              <a:t> 无预警条件下的主观风险感与紧迫度评定，用作后续实验的</a:t>
            </a:r>
            <a:r>
              <a:rPr sz="1170" b="1" i="0">
                <a:solidFill>
                  <a:srgbClr val="1A1A1A"/>
                </a:solidFill>
                <a:latin typeface="Microsoft YaHei"/>
              </a:rPr>
              <a:t>体验参照基线</a:t>
            </a:r>
          </a:p>
        </p:txBody>
      </p:sp>
      <p:sp>
        <p:nvSpPr>
          <p:cNvPr id="22" name="Rectangle 21"/>
          <p:cNvSpPr/>
          <p:nvPr/>
        </p:nvSpPr>
        <p:spPr>
          <a:xfrm>
            <a:off x="438150" y="5716488"/>
            <a:ext cx="11315700" cy="741461"/>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38150" y="5716488"/>
            <a:ext cx="38100" cy="741461"/>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0550" y="5830788"/>
            <a:ext cx="11049000" cy="541436"/>
          </a:xfrm>
          <a:prstGeom prst="rect">
            <a:avLst/>
          </a:prstGeom>
          <a:noFill/>
        </p:spPr>
        <p:txBody>
          <a:bodyPr wrap="square" lIns="0" rIns="0" tIns="0" bIns="0" anchor="t">
            <a:normAutofit/>
          </a:bodyPr>
          <a:lstStyle/>
          <a:p>
            <a:pPr algn="l">
              <a:lnSpc>
                <a:spcPct val="180000"/>
              </a:lnSpc>
              <a:spcBef>
                <a:spcPts val="0"/>
              </a:spcBef>
              <a:spcAft>
                <a:spcPts val="0"/>
              </a:spcAft>
            </a:pPr>
            <a:r>
              <a:rPr sz="1080" b="1" i="0">
                <a:solidFill>
                  <a:srgbClr val="8A6A00"/>
                </a:solidFill>
                <a:latin typeface="Microsoft YaHei"/>
              </a:rPr>
              <a:t>指标归属的理论依据：</a:t>
            </a:r>
            <a:r>
              <a:rPr sz="1080" b="0" i="1">
                <a:solidFill>
                  <a:srgbClr val="6B5200"/>
                </a:solidFill>
                <a:latin typeface="Microsoft YaHei"/>
              </a:rPr>
              <a:t>t</a:t>
            </a:r>
            <a:r>
              <a:rPr sz="760" b="0" i="1" baseline="-25000">
                <a:solidFill>
                  <a:srgbClr val="6B5200"/>
                </a:solidFill>
                <a:latin typeface="Microsoft YaHei"/>
              </a:rPr>
              <a:t>0</a:t>
            </a:r>
            <a:r>
              <a:rPr sz="1080" b="0" i="0">
                <a:solidFill>
                  <a:srgbClr val="6B5200"/>
                </a:solidFill>
                <a:latin typeface="Microsoft YaHei"/>
              </a:rPr>
              <a:t> 是</a:t>
            </a:r>
            <a:r>
              <a:rPr sz="1080" b="1" i="0">
                <a:solidFill>
                  <a:srgbClr val="8A6A00"/>
                </a:solidFill>
                <a:latin typeface="Microsoft YaHei"/>
              </a:rPr>
              <a:t>时刻量</a:t>
            </a:r>
            <a:r>
              <a:rPr sz="1080" b="0" i="0">
                <a:solidFill>
                  <a:srgbClr val="6B5200"/>
                </a:solidFill>
                <a:latin typeface="Microsoft YaHei"/>
              </a:rPr>
              <a:t>，SA 是</a:t>
            </a:r>
            <a:r>
              <a:rPr sz="1080" b="1" i="0">
                <a:solidFill>
                  <a:srgbClr val="8A6A00"/>
                </a:solidFill>
                <a:latin typeface="Microsoft YaHei"/>
              </a:rPr>
              <a:t>潜在构念</a:t>
            </a:r>
            <a:r>
              <a:rPr sz="1080" b="0" i="0">
                <a:solidFill>
                  <a:srgbClr val="6B5200"/>
                </a:solidFill>
                <a:latin typeface="Microsoft YaHei"/>
              </a:rPr>
              <a:t>，二者为「操作化指标—构念」关系而非同一事物的两个名称。 本研究把 </a:t>
            </a:r>
            <a:r>
              <a:rPr sz="1080" b="0" i="1">
                <a:solidFill>
                  <a:srgbClr val="6B5200"/>
                </a:solidFill>
                <a:latin typeface="Microsoft YaHei"/>
              </a:rPr>
              <a:t>t</a:t>
            </a:r>
            <a:r>
              <a:rPr sz="760" b="0" i="1" baseline="-25000">
                <a:solidFill>
                  <a:srgbClr val="6B5200"/>
                </a:solidFill>
                <a:latin typeface="Microsoft YaHei"/>
              </a:rPr>
              <a:t>0</a:t>
            </a:r>
            <a:r>
              <a:rPr sz="1080" b="0" i="0">
                <a:solidFill>
                  <a:srgbClr val="6B5200"/>
                </a:solidFill>
                <a:latin typeface="Microsoft YaHei"/>
              </a:rPr>
              <a:t> 明确归属为</a:t>
            </a:r>
            <a:r>
              <a:rPr sz="1080" b="1" i="0">
                <a:solidFill>
                  <a:srgbClr val="8A6A00"/>
                </a:solidFill>
                <a:latin typeface="Microsoft YaHei"/>
              </a:rPr>
              <a:t>情境意识感知层在无辅助条件下的达成时刻</a:t>
            </a:r>
            <a:r>
              <a:rPr sz="1080" b="0" i="0">
                <a:solidFill>
                  <a:srgbClr val="6B5200"/>
                </a:solidFill>
                <a:latin typeface="Microsoft YaHei"/>
              </a:rPr>
              <a:t>，并另设 SA 三级得分与之并存。 </a:t>
            </a:r>
          </a:p>
        </p:txBody>
      </p:sp>
      <p:sp>
        <p:nvSpPr>
          <p:cNvPr id="25" name="TextBox 24"/>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研究一</a:t>
            </a:r>
            <a:r>
              <a:rPr sz="1580" b="1" i="0">
                <a:solidFill>
                  <a:srgbClr val="4472C4"/>
                </a:solidFill>
                <a:latin typeface="Microsoft YaHei"/>
              </a:rPr>
              <a:t>研究一的实施方案：被试、任务、流程与清洗规则</a:t>
            </a:r>
          </a:p>
        </p:txBody>
      </p:sp>
      <p:sp>
        <p:nvSpPr>
          <p:cNvPr id="4" name="Rounded Rectangle 3"/>
          <p:cNvSpPr/>
          <p:nvPr/>
        </p:nvSpPr>
        <p:spPr>
          <a:xfrm>
            <a:off x="10952857" y="209550"/>
            <a:ext cx="800992"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57632" y="238125"/>
            <a:ext cx="629542"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研究一 2 / 3</a:t>
            </a:r>
          </a:p>
        </p:txBody>
      </p:sp>
      <p:graphicFrame>
        <p:nvGraphicFramePr>
          <p:cNvPr id="6" name="Table 5"/>
          <p:cNvGraphicFramePr>
            <a:graphicFrameLocks noGrp="1"/>
          </p:cNvGraphicFramePr>
          <p:nvPr/>
        </p:nvGraphicFramePr>
        <p:xfrm>
          <a:off x="438150" y="762000"/>
          <a:ext cx="11315700" cy="2606276"/>
        </p:xfrm>
        <a:graphic>
          <a:graphicData uri="http://schemas.openxmlformats.org/drawingml/2006/table">
            <a:tbl>
              <a:tblPr>
                <a:tableStyleId>{5C22544A-7EE6-4342-B048-85BDC9FD1C3A}</a:tableStyleId>
              </a:tblPr>
              <a:tblGrid>
                <a:gridCol w="838200"/>
                <a:gridCol w="10477500"/>
              </a:tblGrid>
              <a:tr h="361950">
                <a:tc>
                  <a:txBody>
                    <a:bodyPr wrap="square" lIns="0" rIns="0" tIns="0" bIns="0" anchor="t"/>
                    <a:lstStyle/>
                    <a:p>
                      <a:pPr algn="l">
                        <a:lnSpc>
                          <a:spcPct val="125000"/>
                        </a:lnSpc>
                        <a:spcBef>
                          <a:spcPts val="0"/>
                        </a:spcBef>
                        <a:spcAft>
                          <a:spcPts val="0"/>
                        </a:spcAft>
                      </a:pPr>
                      <a:r>
                        <a:rPr sz="1050" b="1" i="0">
                          <a:solidFill>
                            <a:srgbClr val="FFFFFF"/>
                          </a:solidFill>
                          <a:latin typeface="Microsoft YaHei"/>
                        </a:rPr>
                        <a:t>要素</a:t>
                      </a:r>
                    </a:p>
                  </a:txBody>
                  <a:tcPr marL="104775" marR="104775" marT="85725" marB="85725" anchor="t">
                    <a:solidFill>
                      <a:srgbClr val="4472C4"/>
                    </a:solidFill>
                  </a:tcPr>
                </a:tc>
                <a:tc>
                  <a:txBody>
                    <a:bodyPr wrap="square" lIns="0" rIns="0" tIns="0" bIns="0" anchor="t"/>
                    <a:lstStyle/>
                    <a:p>
                      <a:pPr algn="l">
                        <a:lnSpc>
                          <a:spcPct val="125000"/>
                        </a:lnSpc>
                        <a:spcBef>
                          <a:spcPts val="0"/>
                        </a:spcBef>
                        <a:spcAft>
                          <a:spcPts val="0"/>
                        </a:spcAft>
                      </a:pPr>
                      <a:r>
                        <a:rPr sz="1050" b="1" i="0">
                          <a:solidFill>
                            <a:srgbClr val="FFFFFF"/>
                          </a:solidFill>
                          <a:latin typeface="Microsoft YaHei"/>
                        </a:rPr>
                        <a:t>设定与依据</a:t>
                      </a:r>
                    </a:p>
                  </a:txBody>
                  <a:tcPr marL="104775" marR="104775" marT="85725" marB="85725" anchor="t">
                    <a:solidFill>
                      <a:srgbClr val="4472C4"/>
                    </a:solidFill>
                  </a:tcPr>
                </a:tc>
              </a:tr>
              <a:tr h="617934">
                <a:tc>
                  <a:txBody>
                    <a:bodyPr wrap="square" lIns="0" rIns="0" tIns="0" bIns="0" anchor="t"/>
                    <a:lstStyle/>
                    <a:p>
                      <a:pPr algn="l">
                        <a:lnSpc>
                          <a:spcPct val="155000"/>
                        </a:lnSpc>
                        <a:spcBef>
                          <a:spcPts val="0"/>
                        </a:spcBef>
                        <a:spcAft>
                          <a:spcPts val="0"/>
                        </a:spcAft>
                      </a:pPr>
                      <a:r>
                        <a:rPr sz="1050" b="1" i="0">
                          <a:solidFill>
                            <a:srgbClr val="1A1A1A"/>
                          </a:solidFill>
                          <a:latin typeface="Microsoft YaHei"/>
                        </a:rPr>
                        <a:t>被试</a:t>
                      </a:r>
                    </a:p>
                  </a:txBody>
                  <a:tcPr marL="104775" marR="104775" marT="95250" marB="95250" anchor="t">
                    <a:solidFill>
                      <a:srgbClr val="FAFBFD"/>
                    </a:solid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N ≈ 24。标定实验以</a:t>
                      </a:r>
                      <a:r>
                        <a:rPr sz="1050" b="1" i="0">
                          <a:solidFill>
                            <a:srgbClr val="1A1A1A"/>
                          </a:solidFill>
                          <a:latin typeface="Microsoft YaHei"/>
                        </a:rPr>
                        <a:t>估计精度</a:t>
                      </a:r>
                      <a:r>
                        <a:rPr sz="1050" b="0" i="0">
                          <a:solidFill>
                            <a:srgbClr val="1A1A1A"/>
                          </a:solidFill>
                          <a:latin typeface="Microsoft YaHei"/>
                        </a:rPr>
                        <a:t>而非效应检出为目标，正式值由预实验方差成分重算并写入预注册。 持照驾驶员，含新手（驾龄 &lt; 1 年）与熟手两层。</a:t>
                      </a:r>
                      <a:r>
                        <a:rPr sz="1050" b="1" i="0">
                          <a:solidFill>
                            <a:srgbClr val="C00000"/>
                          </a:solidFill>
                          <a:latin typeface="Microsoft YaHei"/>
                        </a:rPr>
                        <a:t>须与实验 2 复用同一批被试</a:t>
                      </a:r>
                      <a:r>
                        <a:rPr sz="1050" b="0" i="0">
                          <a:solidFill>
                            <a:srgbClr val="1A1A1A"/>
                          </a:solidFill>
                          <a:latin typeface="Microsoft YaHei"/>
                        </a:rPr>
                        <a:t>——因 </a:t>
                      </a:r>
                      <a:r>
                        <a:rPr sz="1050" b="0" i="1">
                          <a:solidFill>
                            <a:srgbClr val="1A1A1A"/>
                          </a:solidFill>
                          <a:latin typeface="Microsoft YaHei"/>
                        </a:rPr>
                        <a:t>Δt</a:t>
                      </a:r>
                      <a:r>
                        <a:rPr sz="1050" b="0" i="0">
                          <a:solidFill>
                            <a:srgbClr val="1A1A1A"/>
                          </a:solidFill>
                          <a:latin typeface="Microsoft YaHei"/>
                        </a:rPr>
                        <a:t> 需要被试自身的 </a:t>
                      </a:r>
                      <a:r>
                        <a:rPr sz="1050" b="0" i="1">
                          <a:solidFill>
                            <a:srgbClr val="1A1A1A"/>
                          </a:solidFill>
                          <a:latin typeface="Microsoft YaHei"/>
                        </a:rPr>
                        <a:t>t</a:t>
                      </a:r>
                      <a:r>
                        <a:rPr sz="740" b="0" i="1" baseline="-25000">
                          <a:solidFill>
                            <a:srgbClr val="1A1A1A"/>
                          </a:solidFill>
                          <a:latin typeface="Microsoft YaHei"/>
                        </a:rPr>
                        <a:t>0</a:t>
                      </a:r>
                      <a:r>
                        <a:rPr sz="1050" b="0" i="0">
                          <a:solidFill>
                            <a:srgbClr val="1A1A1A"/>
                          </a:solidFill>
                          <a:latin typeface="Microsoft YaHei"/>
                        </a:rPr>
                        <a:t>。</a:t>
                      </a:r>
                    </a:p>
                  </a:txBody>
                  <a:tcPr marL="104775" marR="104775" marT="95250" marB="95250" anchor="t">
                    <a:solidFill>
                      <a:srgbClr val="FAFBFD"/>
                    </a:solidFill>
                  </a:tcPr>
                </a:tc>
              </a:tr>
              <a:tr h="406598">
                <a:tc>
                  <a:txBody>
                    <a:bodyPr wrap="square" lIns="0" rIns="0" tIns="0" bIns="0" anchor="t"/>
                    <a:lstStyle/>
                    <a:p>
                      <a:pPr algn="l">
                        <a:lnSpc>
                          <a:spcPct val="155000"/>
                        </a:lnSpc>
                        <a:spcBef>
                          <a:spcPts val="0"/>
                        </a:spcBef>
                        <a:spcAft>
                          <a:spcPts val="0"/>
                        </a:spcAft>
                      </a:pPr>
                      <a:r>
                        <a:rPr sz="1050" b="1" i="0">
                          <a:solidFill>
                            <a:srgbClr val="1A1A1A"/>
                          </a:solidFill>
                          <a:latin typeface="Microsoft YaHei"/>
                        </a:rPr>
                        <a:t>任务</a:t>
                      </a:r>
                    </a:p>
                  </a:txBody>
                  <a:tcPr marL="104775" marR="104775" marT="95250" marB="95250" anchor="t">
                    <a:no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模拟器城市道路定速跟驰，遇危险自行避险，</a:t>
                      </a:r>
                      <a:r>
                        <a:rPr sz="1050" b="1" i="0">
                          <a:solidFill>
                            <a:srgbClr val="1A1A1A"/>
                          </a:solidFill>
                          <a:latin typeface="Microsoft YaHei"/>
                        </a:rPr>
                        <a:t>未告知危险类型与出现时点</a:t>
                      </a:r>
                      <a:r>
                        <a:rPr sz="1050" b="0" i="0">
                          <a:solidFill>
                            <a:srgbClr val="1A1A1A"/>
                          </a:solidFill>
                          <a:latin typeface="Microsoft YaHei"/>
                        </a:rPr>
                        <a:t>。 </a:t>
                      </a:r>
                      <a:r>
                        <a:rPr sz="1050" b="1" i="0">
                          <a:solidFill>
                            <a:srgbClr val="C00000"/>
                          </a:solidFill>
                          <a:latin typeface="Microsoft YaHei"/>
                        </a:rPr>
                        <a:t>不设次任务</a:t>
                      </a:r>
                      <a:r>
                        <a:rPr sz="1050" b="0" i="0">
                          <a:solidFill>
                            <a:srgbClr val="1A1A1A"/>
                          </a:solidFill>
                          <a:latin typeface="Microsoft YaHei"/>
                        </a:rPr>
                        <a:t>——本实验测的是无附加负荷下的自发察觉基线，加入次任务将污染零点。</a:t>
                      </a:r>
                    </a:p>
                  </a:txBody>
                  <a:tcPr marL="104775" marR="104775" marT="95250" marB="95250" anchor="t">
                    <a:noFill/>
                  </a:tcPr>
                </a:tc>
              </a:tr>
              <a:tr h="406598">
                <a:tc>
                  <a:txBody>
                    <a:bodyPr wrap="square" lIns="0" rIns="0" tIns="0" bIns="0" anchor="t"/>
                    <a:lstStyle/>
                    <a:p>
                      <a:pPr algn="l">
                        <a:lnSpc>
                          <a:spcPct val="155000"/>
                        </a:lnSpc>
                        <a:spcBef>
                          <a:spcPts val="0"/>
                        </a:spcBef>
                        <a:spcAft>
                          <a:spcPts val="0"/>
                        </a:spcAft>
                      </a:pPr>
                      <a:r>
                        <a:rPr sz="1050" b="1" i="0">
                          <a:solidFill>
                            <a:srgbClr val="1A1A1A"/>
                          </a:solidFill>
                          <a:latin typeface="Microsoft YaHei"/>
                        </a:rPr>
                        <a:t>流程</a:t>
                      </a:r>
                    </a:p>
                  </a:txBody>
                  <a:tcPr marL="104775" marR="104775" marT="95250" marB="95250" anchor="t">
                    <a:solidFill>
                      <a:srgbClr val="FAFBFD"/>
                    </a:solid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知情同意 → 视力与晕动筛查 → 适应驾驶 8 min → 正式四个标定单元 → 单元间休息 3 min → 眼动标定复核 → 事后访谈与量表。单次 session ≤ 25–30 min（晕动控制）。</a:t>
                      </a:r>
                    </a:p>
                  </a:txBody>
                  <a:tcPr marL="104775" marR="104775" marT="95250" marB="95250" anchor="t">
                    <a:solidFill>
                      <a:srgbClr val="FAFBFD"/>
                    </a:solidFill>
                  </a:tcPr>
                </a:tc>
              </a:tr>
              <a:tr h="406598">
                <a:tc>
                  <a:txBody>
                    <a:bodyPr wrap="square" lIns="0" rIns="0" tIns="0" bIns="0" anchor="t"/>
                    <a:lstStyle/>
                    <a:p>
                      <a:pPr algn="l">
                        <a:lnSpc>
                          <a:spcPct val="155000"/>
                        </a:lnSpc>
                        <a:spcBef>
                          <a:spcPts val="0"/>
                        </a:spcBef>
                        <a:spcAft>
                          <a:spcPts val="0"/>
                        </a:spcAft>
                      </a:pPr>
                      <a:r>
                        <a:rPr sz="1050" b="1" i="0">
                          <a:solidFill>
                            <a:srgbClr val="1A1A1A"/>
                          </a:solidFill>
                          <a:latin typeface="Microsoft YaHei"/>
                        </a:rPr>
                        <a:t>试次</a:t>
                      </a:r>
                    </a:p>
                  </a:txBody>
                  <a:tcPr marL="104775" marR="104775" marT="95250" marB="95250" anchor="t">
                    <a:no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危险事件 24 次、填充 ≥ 36 次、捕获 8 次，</a:t>
                      </a:r>
                      <a:r>
                        <a:rPr sz="1050" b="1" i="0">
                          <a:solidFill>
                            <a:srgbClr val="1A1A1A"/>
                          </a:solidFill>
                          <a:latin typeface="Microsoft YaHei"/>
                        </a:rPr>
                        <a:t>危险占比 &lt; 40%</a:t>
                      </a:r>
                      <a:r>
                        <a:rPr sz="1050" b="0" i="0">
                          <a:solidFill>
                            <a:srgbClr val="1A1A1A"/>
                          </a:solidFill>
                          <a:latin typeface="Microsoft YaHei"/>
                        </a:rPr>
                        <a:t>（以免形成预期）； 事件间隔 </a:t>
                      </a:r>
                      <a:r>
                        <a:rPr sz="1050" b="1" i="0">
                          <a:solidFill>
                            <a:srgbClr val="1A1A1A"/>
                          </a:solidFill>
                          <a:latin typeface="Microsoft YaHei"/>
                        </a:rPr>
                        <a:t>≥ 60 s</a:t>
                      </a:r>
                      <a:r>
                        <a:rPr sz="1050" b="0" i="0">
                          <a:solidFill>
                            <a:srgbClr val="1A1A1A"/>
                          </a:solidFill>
                          <a:latin typeface="Microsoft YaHei"/>
                        </a:rPr>
                        <a:t>（依据：次任务后的分心残留可持续 30 s 以上，留一倍冗余）。</a:t>
                      </a:r>
                    </a:p>
                  </a:txBody>
                  <a:tcPr marL="104775" marR="104775" marT="95250" marB="95250" anchor="t">
                    <a:noFill/>
                  </a:tcPr>
                </a:tc>
              </a:tr>
              <a:tr h="406598">
                <a:tc>
                  <a:txBody>
                    <a:bodyPr wrap="square" lIns="0" rIns="0" tIns="0" bIns="0" anchor="t"/>
                    <a:lstStyle/>
                    <a:p>
                      <a:pPr algn="l">
                        <a:lnSpc>
                          <a:spcPct val="155000"/>
                        </a:lnSpc>
                        <a:spcBef>
                          <a:spcPts val="0"/>
                        </a:spcBef>
                        <a:spcAft>
                          <a:spcPts val="0"/>
                        </a:spcAft>
                      </a:pPr>
                      <a:r>
                        <a:rPr sz="1050" b="1" i="0">
                          <a:solidFill>
                            <a:srgbClr val="1A1A1A"/>
                          </a:solidFill>
                          <a:latin typeface="Microsoft YaHei"/>
                        </a:rPr>
                        <a:t>清洗</a:t>
                      </a:r>
                    </a:p>
                  </a:txBody>
                  <a:tcPr marL="104775" marR="104775" marT="95250" marB="95250" anchor="t">
                    <a:solidFill>
                      <a:srgbClr val="FAFBFD"/>
                    </a:solid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反应时纳入界 0.2–2.9 s；眼动有效率 ≥ 80%；学习效应以试次序号作协变量</a:t>
                      </a:r>
                      <a:r>
                        <a:rPr sz="1050" b="1" i="0">
                          <a:solidFill>
                            <a:srgbClr val="1A1A1A"/>
                          </a:solidFill>
                          <a:latin typeface="Microsoft YaHei"/>
                        </a:rPr>
                        <a:t>显式检验</a:t>
                      </a:r>
                      <a:r>
                        <a:rPr sz="1050" b="0" i="0">
                          <a:solidFill>
                            <a:srgbClr val="1A1A1A"/>
                          </a:solidFill>
                          <a:latin typeface="Microsoft YaHei"/>
                        </a:rPr>
                        <a:t> （参考量级 0.16 s）。</a:t>
                      </a:r>
                    </a:p>
                  </a:txBody>
                  <a:tcPr marL="104775" marR="104775" marT="95250" marB="95250" anchor="t">
                    <a:solidFill>
                      <a:srgbClr val="FAFBFD"/>
                    </a:solidFill>
                  </a:tcPr>
                </a:tc>
              </a:tr>
            </a:tbl>
          </a:graphicData>
        </a:graphic>
      </p:graphicFrame>
      <p:sp>
        <p:nvSpPr>
          <p:cNvPr id="7" name="Rectangle 6"/>
          <p:cNvSpPr/>
          <p:nvPr/>
        </p:nvSpPr>
        <p:spPr>
          <a:xfrm>
            <a:off x="438150" y="3477815"/>
            <a:ext cx="11315700" cy="722411"/>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8150" y="3477815"/>
            <a:ext cx="38100" cy="722411"/>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0550" y="3592115"/>
            <a:ext cx="11049000" cy="522386"/>
          </a:xfrm>
          <a:prstGeom prst="rect">
            <a:avLst/>
          </a:prstGeom>
          <a:noFill/>
        </p:spPr>
        <p:txBody>
          <a:bodyPr wrap="square" lIns="0" rIns="0" tIns="0" bIns="0" anchor="t">
            <a:normAutofit/>
          </a:bodyPr>
          <a:lstStyle/>
          <a:p>
            <a:pPr algn="l">
              <a:lnSpc>
                <a:spcPct val="180000"/>
              </a:lnSpc>
              <a:spcBef>
                <a:spcPts val="0"/>
              </a:spcBef>
              <a:spcAft>
                <a:spcPts val="0"/>
              </a:spcAft>
            </a:pPr>
            <a:r>
              <a:rPr sz="1080" b="1" i="0">
                <a:solidFill>
                  <a:srgbClr val="8A6A00"/>
                </a:solidFill>
                <a:latin typeface="Microsoft YaHei"/>
              </a:rPr>
              <a:t>预先声明的研究者设定值（无文献支撑，列入局限并写入预注册）：</a:t>
            </a:r>
            <a:r>
              <a:rPr sz="1080" b="0" i="0">
                <a:solidFill>
                  <a:srgbClr val="6B5200"/>
                </a:solidFill>
                <a:latin typeface="Microsoft YaHei"/>
              </a:rPr>
              <a:t>事件间路程 300–600 m、session 时长上限、 行人肩宽 0.5 m（膨胀率计算用）、最小侵入余量非劣界 −0.2 s、样本量。其中</a:t>
            </a:r>
            <a:r>
              <a:rPr sz="1080" b="1" i="0">
                <a:solidFill>
                  <a:srgbClr val="8A6A00"/>
                </a:solidFill>
                <a:latin typeface="Microsoft YaHei"/>
              </a:rPr>
              <a:t>非劣界与样本量须由预实验的最小实际意义差重算</a:t>
            </a:r>
            <a:r>
              <a:rPr sz="1080" b="0" i="0">
                <a:solidFill>
                  <a:srgbClr val="6B5200"/>
                </a:solidFill>
                <a:latin typeface="Microsoft YaHei"/>
              </a:rPr>
              <a:t>。 </a:t>
            </a:r>
          </a:p>
        </p:txBody>
      </p:sp>
      <p:sp>
        <p:nvSpPr>
          <p:cNvPr id="10" name="TextBox 9"/>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研究一</a:t>
            </a:r>
            <a:r>
              <a:rPr sz="1580" b="1" i="0">
                <a:solidFill>
                  <a:srgbClr val="4472C4"/>
                </a:solidFill>
                <a:latin typeface="Microsoft YaHei"/>
              </a:rPr>
              <a:t>研究一的预期结果与五项产出的去处</a:t>
            </a:r>
          </a:p>
        </p:txBody>
      </p:sp>
      <p:sp>
        <p:nvSpPr>
          <p:cNvPr id="4" name="Rounded Rectangle 3"/>
          <p:cNvSpPr/>
          <p:nvPr/>
        </p:nvSpPr>
        <p:spPr>
          <a:xfrm>
            <a:off x="10952857" y="209550"/>
            <a:ext cx="800992"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57632" y="238125"/>
            <a:ext cx="629542"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研究一 3 / 3</a:t>
            </a:r>
          </a:p>
        </p:txBody>
      </p:sp>
      <p:sp>
        <p:nvSpPr>
          <p:cNvPr id="6" name="Rounded Rectangle 5"/>
          <p:cNvSpPr/>
          <p:nvPr/>
        </p:nvSpPr>
        <p:spPr>
          <a:xfrm>
            <a:off x="438150" y="762000"/>
            <a:ext cx="5572125" cy="5695950"/>
          </a:xfrm>
          <a:prstGeom prst="roundRect">
            <a:avLst>
              <a:gd name="adj" fmla="val 1196"/>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19125" y="1219200"/>
            <a:ext cx="521017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9125" y="914400"/>
            <a:ext cx="5248275" cy="266700"/>
          </a:xfrm>
          <a:prstGeom prst="rect">
            <a:avLst/>
          </a:prstGeom>
          <a:noFill/>
        </p:spPr>
        <p:txBody>
          <a:bodyPr wrap="square" lIns="0" rIns="0" tIns="0" bIns="0" anchor="t">
            <a:normAutofit/>
          </a:bodyPr>
          <a:lstStyle/>
          <a:p>
            <a:pPr algn="l">
              <a:lnSpc>
                <a:spcPct val="125000"/>
              </a:lnSpc>
              <a:spcBef>
                <a:spcPts val="0"/>
              </a:spcBef>
              <a:spcAft>
                <a:spcPts val="0"/>
              </a:spcAft>
            </a:pPr>
            <a:r>
              <a:rPr sz="1200" b="1" i="0">
                <a:solidFill>
                  <a:srgbClr val="3E7D3E"/>
                </a:solidFill>
                <a:latin typeface="Microsoft YaHei"/>
              </a:rPr>
              <a:t>预期结果（含理论校验值）</a:t>
            </a:r>
          </a:p>
        </p:txBody>
      </p:sp>
      <p:sp>
        <p:nvSpPr>
          <p:cNvPr id="9" name="TextBox 8"/>
          <p:cNvSpPr txBox="1"/>
          <p:nvPr/>
        </p:nvSpPr>
        <p:spPr>
          <a:xfrm>
            <a:off x="685800" y="1333500"/>
            <a:ext cx="5181600" cy="956220"/>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0" i="1">
                <a:solidFill>
                  <a:srgbClr val="1A1A1A"/>
                </a:solidFill>
                <a:latin typeface="Microsoft YaHei"/>
              </a:rPr>
              <a:t>t</a:t>
            </a:r>
            <a:r>
              <a:rPr sz="819" b="0" i="1" baseline="-25000">
                <a:solidFill>
                  <a:srgbClr val="1A1A1A"/>
                </a:solidFill>
                <a:latin typeface="Microsoft YaHei"/>
              </a:rPr>
              <a:t>0</a:t>
            </a:r>
            <a:r>
              <a:rPr sz="1170" b="0" i="0">
                <a:solidFill>
                  <a:srgbClr val="1A1A1A"/>
                </a:solidFill>
                <a:latin typeface="Microsoft YaHei"/>
              </a:rPr>
              <a:t> </a:t>
            </a:r>
            <a:r>
              <a:rPr sz="1170" b="1" i="0">
                <a:solidFill>
                  <a:srgbClr val="1A1A1A"/>
                </a:solidFill>
                <a:latin typeface="Microsoft YaHei"/>
              </a:rPr>
              <a:t>中位数</a:t>
            </a:r>
            <a:r>
              <a:rPr sz="1170" b="0" i="0">
                <a:solidFill>
                  <a:srgbClr val="1A1A1A"/>
                </a:solidFill>
                <a:latin typeface="Microsoft YaHei"/>
              </a:rPr>
              <a:t>：60 km/h 无遮挡条件下预期 </a:t>
            </a:r>
            <a:r>
              <a:rPr sz="1170" b="1" i="0">
                <a:solidFill>
                  <a:srgbClr val="1A1A1A"/>
                </a:solidFill>
                <a:latin typeface="Microsoft YaHei"/>
              </a:rPr>
              <a:t>3.0–3.5 s</a:t>
            </a:r>
            <a:r>
              <a:rPr sz="1170" b="0" i="0">
                <a:solidFill>
                  <a:srgbClr val="1A1A1A"/>
                </a:solidFill>
                <a:latin typeface="Microsoft YaHei"/>
              </a:rPr>
              <a:t>（光学膨胀率推算 3.2 s，Phan 等实测约 3 s）。 </a:t>
            </a:r>
            <a:r>
              <a:rPr sz="1170" b="1" i="0">
                <a:solidFill>
                  <a:srgbClr val="1A1A1A"/>
                </a:solidFill>
                <a:latin typeface="Microsoft YaHei"/>
              </a:rPr>
              <a:t>若大幅偏离，先检验模拟器视觉保真度而非直接采信。</a:t>
            </a:r>
          </a:p>
        </p:txBody>
      </p:sp>
      <p:sp>
        <p:nvSpPr>
          <p:cNvPr id="10" name="TextBox 9"/>
          <p:cNvSpPr txBox="1"/>
          <p:nvPr/>
        </p:nvSpPr>
        <p:spPr>
          <a:xfrm>
            <a:off x="685800" y="2346870"/>
            <a:ext cx="5181600" cy="65335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主效应方向</a:t>
            </a:r>
            <a:r>
              <a:rPr sz="1170" b="0" i="0">
                <a:solidFill>
                  <a:srgbClr val="1A1A1A"/>
                </a:solidFill>
                <a:latin typeface="Microsoft YaHei"/>
              </a:rPr>
              <a:t>：</a:t>
            </a:r>
            <a:r>
              <a:rPr sz="1170" b="0" i="1">
                <a:solidFill>
                  <a:srgbClr val="1A1A1A"/>
                </a:solidFill>
                <a:latin typeface="Microsoft YaHei"/>
              </a:rPr>
              <a:t>t</a:t>
            </a:r>
            <a:r>
              <a:rPr sz="819" b="0" i="1" baseline="-25000">
                <a:solidFill>
                  <a:srgbClr val="1A1A1A"/>
                </a:solidFill>
                <a:latin typeface="Microsoft YaHei"/>
              </a:rPr>
              <a:t>0</a:t>
            </a:r>
            <a:r>
              <a:rPr sz="1170" b="0" i="0">
                <a:solidFill>
                  <a:srgbClr val="1A1A1A"/>
                </a:solidFill>
                <a:latin typeface="Microsoft YaHei"/>
              </a:rPr>
              <a:t> 随车速升高而</a:t>
            </a:r>
            <a:r>
              <a:rPr sz="1170" b="1" i="0">
                <a:solidFill>
                  <a:srgbClr val="1A1A1A"/>
                </a:solidFill>
                <a:latin typeface="Microsoft YaHei"/>
              </a:rPr>
              <a:t>缩短</a:t>
            </a:r>
            <a:r>
              <a:rPr sz="1170" b="0" i="0">
                <a:solidFill>
                  <a:srgbClr val="1A1A1A"/>
                </a:solidFill>
                <a:latin typeface="Microsoft YaHei"/>
              </a:rPr>
              <a:t>（膨胀率越阈发生于更近距离）；遮挡条件下</a:t>
            </a:r>
            <a:r>
              <a:rPr sz="1170" b="1" i="0">
                <a:solidFill>
                  <a:srgbClr val="1A1A1A"/>
                </a:solidFill>
                <a:latin typeface="Microsoft YaHei"/>
              </a:rPr>
              <a:t>显著晚于</a:t>
            </a:r>
            <a:r>
              <a:rPr sz="1170" b="0" i="0">
                <a:solidFill>
                  <a:srgbClr val="1A1A1A"/>
                </a:solidFill>
                <a:latin typeface="Microsoft YaHei"/>
              </a:rPr>
              <a:t>无遮挡。</a:t>
            </a:r>
          </a:p>
        </p:txBody>
      </p:sp>
      <p:sp>
        <p:nvSpPr>
          <p:cNvPr id="11" name="TextBox 10"/>
          <p:cNvSpPr txBox="1"/>
          <p:nvPr/>
        </p:nvSpPr>
        <p:spPr>
          <a:xfrm>
            <a:off x="685800" y="3057376"/>
            <a:ext cx="5181600" cy="63430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首个避险动作时刻</a:t>
            </a:r>
            <a:r>
              <a:rPr sz="1170" b="0" i="0">
                <a:solidFill>
                  <a:srgbClr val="1A1A1A"/>
                </a:solidFill>
                <a:latin typeface="Microsoft YaHei"/>
              </a:rPr>
              <a:t>：无预警条件下预期在距冲突点约 1.5 s，碰撞率约 44%（Zhang 等, 2015 同源）。</a:t>
            </a:r>
          </a:p>
        </p:txBody>
      </p:sp>
      <p:sp>
        <p:nvSpPr>
          <p:cNvPr id="12" name="TextBox 11"/>
          <p:cNvSpPr txBox="1"/>
          <p:nvPr/>
        </p:nvSpPr>
        <p:spPr>
          <a:xfrm>
            <a:off x="685800" y="3748831"/>
            <a:ext cx="5181600" cy="653355"/>
          </a:xfrm>
          <a:prstGeom prst="rect">
            <a:avLst/>
          </a:prstGeom>
          <a:noFill/>
        </p:spPr>
        <p:txBody>
          <a:bodyPr wrap="square" lIns="0" rIns="0" tIns="0" bIns="0" anchor="t">
            <a:normAutofit/>
          </a:bodyPr>
          <a:lstStyle/>
          <a:p>
            <a:pPr algn="l">
              <a:lnSpc>
                <a:spcPct val="204000"/>
              </a:lnSpc>
              <a:spcBef>
                <a:spcPts val="0"/>
              </a:spcBef>
              <a:spcAft>
                <a:spcPts val="0"/>
              </a:spcAft>
            </a:pPr>
            <a:r>
              <a:rPr sz="1170">
                <a:latin typeface="Microsoft YaHei"/>
              </a:rPr>
              <a:t>• </a:t>
            </a:r>
            <a:r>
              <a:rPr sz="1170" b="1" i="0">
                <a:solidFill>
                  <a:srgbClr val="1A1A1A"/>
                </a:solidFill>
                <a:latin typeface="Microsoft YaHei"/>
              </a:rPr>
              <a:t>效度证据</a:t>
            </a:r>
            <a:r>
              <a:rPr sz="1170" b="0" i="0">
                <a:solidFill>
                  <a:srgbClr val="1A1A1A"/>
                </a:solidFill>
                <a:latin typeface="Microsoft YaHei"/>
              </a:rPr>
              <a:t>：预期 SA 感知层得分与 </a:t>
            </a:r>
            <a:r>
              <a:rPr sz="1170" b="0" i="1">
                <a:solidFill>
                  <a:srgbClr val="1A1A1A"/>
                </a:solidFill>
                <a:latin typeface="Microsoft YaHei"/>
              </a:rPr>
              <a:t>t</a:t>
            </a:r>
            <a:r>
              <a:rPr sz="819" b="0" i="1" baseline="-25000">
                <a:solidFill>
                  <a:srgbClr val="1A1A1A"/>
                </a:solidFill>
                <a:latin typeface="Microsoft YaHei"/>
              </a:rPr>
              <a:t>0</a:t>
            </a:r>
            <a:r>
              <a:rPr sz="1170" b="0" i="0">
                <a:solidFill>
                  <a:srgbClr val="1A1A1A"/>
                </a:solidFill>
                <a:latin typeface="Microsoft YaHei"/>
              </a:rPr>
              <a:t> </a:t>
            </a:r>
            <a:r>
              <a:rPr sz="1170" b="1" i="0">
                <a:solidFill>
                  <a:srgbClr val="1A1A1A"/>
                </a:solidFill>
                <a:latin typeface="Microsoft YaHei"/>
              </a:rPr>
              <a:t>显著负相关</a:t>
            </a:r>
            <a:r>
              <a:rPr sz="1170" b="0" i="0">
                <a:solidFill>
                  <a:srgbClr val="1A1A1A"/>
                </a:solidFill>
                <a:latin typeface="Microsoft YaHei"/>
              </a:rPr>
              <a:t>；若不相关，须在讨论中重新审视该指标归属。</a:t>
            </a:r>
          </a:p>
        </p:txBody>
      </p:sp>
      <p:sp>
        <p:nvSpPr>
          <p:cNvPr id="13" name="Rounded Rectangle 12"/>
          <p:cNvSpPr/>
          <p:nvPr/>
        </p:nvSpPr>
        <p:spPr>
          <a:xfrm>
            <a:off x="6181725" y="762000"/>
            <a:ext cx="5572125" cy="5695950"/>
          </a:xfrm>
          <a:prstGeom prst="roundRect">
            <a:avLst>
              <a:gd name="adj" fmla="val 1196"/>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362700" y="1219200"/>
            <a:ext cx="521017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2700" y="914400"/>
            <a:ext cx="5248275" cy="266700"/>
          </a:xfrm>
          <a:prstGeom prst="rect">
            <a:avLst/>
          </a:prstGeom>
          <a:noFill/>
        </p:spPr>
        <p:txBody>
          <a:bodyPr wrap="square" lIns="0" rIns="0" tIns="0" bIns="0" anchor="t">
            <a:normAutofit/>
          </a:bodyPr>
          <a:lstStyle/>
          <a:p>
            <a:pPr algn="l">
              <a:lnSpc>
                <a:spcPct val="125000"/>
              </a:lnSpc>
              <a:spcBef>
                <a:spcPts val="0"/>
              </a:spcBef>
              <a:spcAft>
                <a:spcPts val="0"/>
              </a:spcAft>
            </a:pPr>
            <a:r>
              <a:rPr sz="1200" b="1" i="0">
                <a:solidFill>
                  <a:srgbClr val="2F528F"/>
                </a:solidFill>
                <a:latin typeface="Microsoft YaHei"/>
              </a:rPr>
              <a:t>五项产出与下游去处</a:t>
            </a:r>
          </a:p>
        </p:txBody>
      </p:sp>
      <p:graphicFrame>
        <p:nvGraphicFramePr>
          <p:cNvPr id="16" name="Table 15"/>
          <p:cNvGraphicFramePr>
            <a:graphicFrameLocks noGrp="1"/>
          </p:cNvGraphicFramePr>
          <p:nvPr/>
        </p:nvGraphicFramePr>
        <p:xfrm>
          <a:off x="6362700" y="1333500"/>
          <a:ext cx="5210174" cy="2239414"/>
        </p:xfrm>
        <a:graphic>
          <a:graphicData uri="http://schemas.openxmlformats.org/drawingml/2006/table">
            <a:tbl>
              <a:tblPr>
                <a:tableStyleId>{5C22544A-7EE6-4342-B048-85BDC9FD1C3A}</a:tableStyleId>
              </a:tblPr>
              <a:tblGrid>
                <a:gridCol w="2456557"/>
                <a:gridCol w="2753617"/>
              </a:tblGrid>
              <a:tr h="314325">
                <a:tc>
                  <a:txBody>
                    <a:bodyPr wrap="square" lIns="0" rIns="0" tIns="0" bIns="0" anchor="t"/>
                    <a:lstStyle/>
                    <a:p>
                      <a:pPr algn="l">
                        <a:lnSpc>
                          <a:spcPct val="125000"/>
                        </a:lnSpc>
                        <a:spcBef>
                          <a:spcPts val="0"/>
                        </a:spcBef>
                        <a:spcAft>
                          <a:spcPts val="0"/>
                        </a:spcAft>
                      </a:pPr>
                      <a:r>
                        <a:rPr sz="940" b="1" i="0">
                          <a:solidFill>
                            <a:srgbClr val="FFFFFF"/>
                          </a:solidFill>
                          <a:latin typeface="Microsoft YaHei"/>
                        </a:rPr>
                        <a:t>产出</a:t>
                      </a:r>
                    </a:p>
                  </a:txBody>
                  <a:tcPr marL="76200" marR="76200" marT="66675" marB="66675" anchor="t">
                    <a:solidFill>
                      <a:srgbClr val="4472C4"/>
                    </a:solidFill>
                  </a:tcPr>
                </a:tc>
                <a:tc>
                  <a:txBody>
                    <a:bodyPr wrap="square" lIns="0" rIns="0" tIns="0" bIns="0" anchor="t"/>
                    <a:lstStyle/>
                    <a:p>
                      <a:pPr algn="l">
                        <a:lnSpc>
                          <a:spcPct val="125000"/>
                        </a:lnSpc>
                        <a:spcBef>
                          <a:spcPts val="0"/>
                        </a:spcBef>
                        <a:spcAft>
                          <a:spcPts val="0"/>
                        </a:spcAft>
                      </a:pPr>
                      <a:r>
                        <a:rPr sz="940" b="1" i="0">
                          <a:solidFill>
                            <a:srgbClr val="FFFFFF"/>
                          </a:solidFill>
                          <a:latin typeface="Microsoft YaHei"/>
                        </a:rPr>
                        <a:t>去处</a:t>
                      </a:r>
                    </a:p>
                  </a:txBody>
                  <a:tcPr marL="76200" marR="76200" marT="66675" marB="66675" anchor="t">
                    <a:solidFill>
                      <a:srgbClr val="4472C4"/>
                    </a:solidFill>
                  </a:tcPr>
                </a:tc>
              </a:tr>
              <a:tr h="314473">
                <a:tc>
                  <a:txBody>
                    <a:bodyPr wrap="square" lIns="0" rIns="0" tIns="0" bIns="0" anchor="t"/>
                    <a:lstStyle/>
                    <a:p>
                      <a:pPr algn="l">
                        <a:lnSpc>
                          <a:spcPct val="155000"/>
                        </a:lnSpc>
                        <a:spcBef>
                          <a:spcPts val="0"/>
                        </a:spcBef>
                        <a:spcAft>
                          <a:spcPts val="0"/>
                        </a:spcAft>
                      </a:pPr>
                      <a:r>
                        <a:rPr sz="940" b="0" i="1">
                          <a:solidFill>
                            <a:srgbClr val="1A1A1A"/>
                          </a:solidFill>
                          <a:latin typeface="Microsoft YaHei"/>
                        </a:rPr>
                        <a:t>t</a:t>
                      </a:r>
                      <a:r>
                        <a:rPr sz="660" b="0" i="1" baseline="-25000">
                          <a:solidFill>
                            <a:srgbClr val="1A1A1A"/>
                          </a:solidFill>
                          <a:latin typeface="Microsoft YaHei"/>
                        </a:rPr>
                        <a:t>0</a:t>
                      </a:r>
                      <a:r>
                        <a:rPr sz="940" b="0" i="0">
                          <a:solidFill>
                            <a:srgbClr val="1A1A1A"/>
                          </a:solidFill>
                          <a:latin typeface="Microsoft YaHei"/>
                        </a:rPr>
                        <a:t> 分布</a:t>
                      </a:r>
                    </a:p>
                  </a:txBody>
                  <a:tcPr marL="76200" marR="76200" marT="57150" marB="57150" anchor="t">
                    <a:solidFill>
                      <a:srgbClr val="FAFBFD"/>
                    </a:solidFill>
                  </a:tcPr>
                </a:tc>
                <a:tc>
                  <a:txBody>
                    <a:bodyPr wrap="square" lIns="0" rIns="0" tIns="0" bIns="0" anchor="t"/>
                    <a:lstStyle/>
                    <a:p>
                      <a:pPr algn="ctr">
                        <a:lnSpc>
                          <a:spcPct val="155000"/>
                        </a:lnSpc>
                        <a:spcBef>
                          <a:spcPts val="0"/>
                        </a:spcBef>
                        <a:spcAft>
                          <a:spcPts val="0"/>
                        </a:spcAft>
                      </a:pPr>
                      <a:r>
                        <a:rPr sz="940" b="0" i="0">
                          <a:solidFill>
                            <a:srgbClr val="1A1A1A"/>
                          </a:solidFill>
                          <a:latin typeface="Microsoft YaHei"/>
                        </a:rPr>
                        <a:t>实验 2 的 </a:t>
                      </a:r>
                      <a:r>
                        <a:rPr sz="940" b="0" i="1">
                          <a:solidFill>
                            <a:srgbClr val="1A1A1A"/>
                          </a:solidFill>
                          <a:latin typeface="Microsoft YaHei"/>
                        </a:rPr>
                        <a:t>Δt</a:t>
                      </a:r>
                      <a:r>
                        <a:rPr sz="940" b="0" i="0">
                          <a:solidFill>
                            <a:srgbClr val="1A1A1A"/>
                          </a:solidFill>
                          <a:latin typeface="Microsoft YaHei"/>
                        </a:rPr>
                        <a:t> 零点</a:t>
                      </a:r>
                    </a:p>
                  </a:txBody>
                  <a:tcPr marL="76200" marR="76200" marT="57150" marB="57150" anchor="t">
                    <a:solidFill>
                      <a:srgbClr val="FAFBFD"/>
                    </a:solidFill>
                  </a:tcPr>
                </a:tc>
              </a:tr>
              <a:tr h="309711">
                <a:tc>
                  <a:txBody>
                    <a:bodyPr wrap="square" lIns="0" rIns="0" tIns="0" bIns="0" anchor="t"/>
                    <a:lstStyle/>
                    <a:p>
                      <a:pPr algn="l">
                        <a:lnSpc>
                          <a:spcPct val="155000"/>
                        </a:lnSpc>
                        <a:spcBef>
                          <a:spcPts val="0"/>
                        </a:spcBef>
                        <a:spcAft>
                          <a:spcPts val="0"/>
                        </a:spcAft>
                      </a:pPr>
                      <a:r>
                        <a:rPr sz="940" b="0" i="0">
                          <a:solidFill>
                            <a:srgbClr val="1A1A1A"/>
                          </a:solidFill>
                          <a:latin typeface="Microsoft YaHei"/>
                        </a:rPr>
                        <a:t>感知反应时 p85</a:t>
                      </a:r>
                    </a:p>
                  </a:txBody>
                  <a:tcPr marL="76200" marR="76200" marT="57150" marB="57150" anchor="t">
                    <a:noFill/>
                  </a:tcPr>
                </a:tc>
                <a:tc>
                  <a:txBody>
                    <a:bodyPr wrap="square" lIns="0" rIns="0" tIns="0" bIns="0" anchor="t"/>
                    <a:lstStyle/>
                    <a:p>
                      <a:pPr algn="ctr">
                        <a:lnSpc>
                          <a:spcPct val="155000"/>
                        </a:lnSpc>
                        <a:spcBef>
                          <a:spcPts val="0"/>
                        </a:spcBef>
                        <a:spcAft>
                          <a:spcPts val="0"/>
                        </a:spcAft>
                      </a:pPr>
                      <a:r>
                        <a:rPr sz="940" b="0" i="0">
                          <a:solidFill>
                            <a:srgbClr val="1A1A1A"/>
                          </a:solidFill>
                          <a:latin typeface="Microsoft YaHei"/>
                        </a:rPr>
                        <a:t>提前量下界</a:t>
                      </a:r>
                    </a:p>
                  </a:txBody>
                  <a:tcPr marL="76200" marR="76200" marT="57150" marB="57150" anchor="t">
                    <a:noFill/>
                  </a:tcPr>
                </a:tc>
              </a:tr>
              <a:tr h="495597">
                <a:tc>
                  <a:txBody>
                    <a:bodyPr wrap="square" lIns="0" rIns="0" tIns="0" bIns="0" anchor="t"/>
                    <a:lstStyle/>
                    <a:p>
                      <a:pPr algn="l">
                        <a:lnSpc>
                          <a:spcPct val="155000"/>
                        </a:lnSpc>
                        <a:spcBef>
                          <a:spcPts val="0"/>
                        </a:spcBef>
                        <a:spcAft>
                          <a:spcPts val="0"/>
                        </a:spcAft>
                      </a:pPr>
                      <a:r>
                        <a:rPr sz="940" b="0" i="0">
                          <a:solidFill>
                            <a:srgbClr val="1A1A1A"/>
                          </a:solidFill>
                          <a:latin typeface="Microsoft YaHei"/>
                        </a:rPr>
                        <a:t>BTN 校准值</a:t>
                      </a:r>
                    </a:p>
                  </a:txBody>
                  <a:tcPr marL="76200" marR="76200" marT="57150" marB="57150" anchor="t">
                    <a:solidFill>
                      <a:srgbClr val="FAFBFD"/>
                    </a:solidFill>
                  </a:tcPr>
                </a:tc>
                <a:tc>
                  <a:txBody>
                    <a:bodyPr wrap="square" lIns="0" rIns="0" tIns="0" bIns="0" anchor="t"/>
                    <a:lstStyle/>
                    <a:p>
                      <a:pPr algn="ctr">
                        <a:lnSpc>
                          <a:spcPct val="155000"/>
                        </a:lnSpc>
                        <a:spcBef>
                          <a:spcPts val="0"/>
                        </a:spcBef>
                        <a:spcAft>
                          <a:spcPts val="0"/>
                        </a:spcAft>
                      </a:pPr>
                      <a:r>
                        <a:rPr sz="940" b="0" i="0">
                          <a:solidFill>
                            <a:srgbClr val="1A1A1A"/>
                          </a:solidFill>
                          <a:latin typeface="Microsoft YaHei"/>
                        </a:rPr>
                        <a:t>实验 2 触发准则</a:t>
                      </a:r>
                    </a:p>
                    <a:p>
                      <a:pPr algn="ctr">
                        <a:lnSpc>
                          <a:spcPct val="155000"/>
                        </a:lnSpc>
                        <a:spcBef>
                          <a:spcPts val="0"/>
                        </a:spcBef>
                        <a:spcAft>
                          <a:spcPts val="0"/>
                        </a:spcAft>
                      </a:pPr>
                      <a:r>
                        <a:rPr sz="940" b="0" i="0">
                          <a:solidFill>
                            <a:srgbClr val="1A1A1A"/>
                          </a:solidFill>
                          <a:latin typeface="Microsoft YaHei"/>
                        </a:rPr>
                        <a:t>实验 5 映射源</a:t>
                      </a:r>
                    </a:p>
                  </a:txBody>
                  <a:tcPr marL="76200" marR="76200" marT="57150" marB="57150" anchor="t">
                    <a:solidFill>
                      <a:srgbClr val="FAFBFD"/>
                    </a:solidFill>
                  </a:tcPr>
                </a:tc>
              </a:tr>
              <a:tr h="495597">
                <a:tc>
                  <a:txBody>
                    <a:bodyPr wrap="square" lIns="0" rIns="0" tIns="0" bIns="0" anchor="t"/>
                    <a:lstStyle/>
                    <a:p>
                      <a:pPr algn="l">
                        <a:lnSpc>
                          <a:spcPct val="155000"/>
                        </a:lnSpc>
                        <a:spcBef>
                          <a:spcPts val="0"/>
                        </a:spcBef>
                        <a:spcAft>
                          <a:spcPts val="0"/>
                        </a:spcAft>
                      </a:pPr>
                      <a:r>
                        <a:rPr sz="940" b="0" i="0">
                          <a:solidFill>
                            <a:srgbClr val="1A1A1A"/>
                          </a:solidFill>
                          <a:latin typeface="Microsoft YaHei"/>
                        </a:rPr>
                        <a:t>实测舒适减速度</a:t>
                      </a:r>
                    </a:p>
                  </a:txBody>
                  <a:tcPr marL="76200" marR="76200" marT="57150" marB="57150" anchor="t">
                    <a:noFill/>
                  </a:tcPr>
                </a:tc>
                <a:tc>
                  <a:txBody>
                    <a:bodyPr wrap="square" lIns="0" rIns="0" tIns="0" bIns="0" anchor="t"/>
                    <a:lstStyle/>
                    <a:p>
                      <a:pPr algn="ctr">
                        <a:lnSpc>
                          <a:spcPct val="155000"/>
                        </a:lnSpc>
                        <a:spcBef>
                          <a:spcPts val="0"/>
                        </a:spcBef>
                        <a:spcAft>
                          <a:spcPts val="0"/>
                        </a:spcAft>
                      </a:pPr>
                      <a:r>
                        <a:rPr sz="940" b="0" i="0">
                          <a:solidFill>
                            <a:srgbClr val="1A1A1A"/>
                          </a:solidFill>
                          <a:latin typeface="Microsoft YaHei"/>
                        </a:rPr>
                        <a:t>BTN 第二分母</a:t>
                      </a:r>
                    </a:p>
                    <a:p>
                      <a:pPr algn="ctr">
                        <a:lnSpc>
                          <a:spcPct val="155000"/>
                        </a:lnSpc>
                        <a:spcBef>
                          <a:spcPts val="0"/>
                        </a:spcBef>
                        <a:spcAft>
                          <a:spcPts val="0"/>
                        </a:spcAft>
                      </a:pPr>
                      <a:r>
                        <a:rPr sz="940" b="0" i="0">
                          <a:solidFill>
                            <a:srgbClr val="1A1A1A"/>
                          </a:solidFill>
                          <a:latin typeface="Microsoft YaHei"/>
                        </a:rPr>
                        <a:t>代价终点判据</a:t>
                      </a:r>
                    </a:p>
                  </a:txBody>
                  <a:tcPr marL="76200" marR="76200" marT="57150" marB="57150" anchor="t">
                    <a:noFill/>
                  </a:tcPr>
                </a:tc>
              </a:tr>
              <a:tr h="309711">
                <a:tc>
                  <a:txBody>
                    <a:bodyPr wrap="square" lIns="0" rIns="0" tIns="0" bIns="0" anchor="t"/>
                    <a:lstStyle/>
                    <a:p>
                      <a:pPr algn="l">
                        <a:lnSpc>
                          <a:spcPct val="155000"/>
                        </a:lnSpc>
                        <a:spcBef>
                          <a:spcPts val="0"/>
                        </a:spcBef>
                        <a:spcAft>
                          <a:spcPts val="0"/>
                        </a:spcAft>
                      </a:pPr>
                      <a:r>
                        <a:rPr sz="940" b="0" i="0">
                          <a:solidFill>
                            <a:srgbClr val="1A1A1A"/>
                          </a:solidFill>
                          <a:latin typeface="Microsoft YaHei"/>
                        </a:rPr>
                        <a:t>方差成分</a:t>
                      </a:r>
                    </a:p>
                  </a:txBody>
                  <a:tcPr marL="76200" marR="76200" marT="57150" marB="57150" anchor="t">
                    <a:solidFill>
                      <a:srgbClr val="FAFBFD"/>
                    </a:solidFill>
                  </a:tcPr>
                </a:tc>
                <a:tc>
                  <a:txBody>
                    <a:bodyPr wrap="square" lIns="0" rIns="0" tIns="0" bIns="0" anchor="t"/>
                    <a:lstStyle/>
                    <a:p>
                      <a:pPr algn="ctr">
                        <a:lnSpc>
                          <a:spcPct val="155000"/>
                        </a:lnSpc>
                        <a:spcBef>
                          <a:spcPts val="0"/>
                        </a:spcBef>
                        <a:spcAft>
                          <a:spcPts val="0"/>
                        </a:spcAft>
                      </a:pPr>
                      <a:r>
                        <a:rPr sz="940" b="0" i="0">
                          <a:solidFill>
                            <a:srgbClr val="1A1A1A"/>
                          </a:solidFill>
                          <a:latin typeface="Microsoft YaHei"/>
                        </a:rPr>
                        <a:t>全部实验的样本量</a:t>
                      </a:r>
                    </a:p>
                  </a:txBody>
                  <a:tcPr marL="76200" marR="76200" marT="57150" marB="57150" anchor="t">
                    <a:solidFill>
                      <a:srgbClr val="FAFBFD"/>
                    </a:solidFill>
                  </a:tcPr>
                </a:tc>
              </a:tr>
            </a:tbl>
          </a:graphicData>
        </a:graphic>
      </p:graphicFrame>
      <p:sp>
        <p:nvSpPr>
          <p:cNvPr id="17" name="TextBox 16"/>
          <p:cNvSpPr txBox="1"/>
          <p:nvPr/>
        </p:nvSpPr>
        <p:spPr>
          <a:xfrm>
            <a:off x="6362700" y="3644354"/>
            <a:ext cx="5248275" cy="560486"/>
          </a:xfrm>
          <a:prstGeom prst="rect">
            <a:avLst/>
          </a:prstGeom>
          <a:noFill/>
        </p:spPr>
        <p:txBody>
          <a:bodyPr wrap="square" lIns="0" rIns="0" tIns="0" bIns="0" anchor="t">
            <a:normAutofit/>
          </a:bodyPr>
          <a:lstStyle/>
          <a:p>
            <a:pPr algn="l">
              <a:lnSpc>
                <a:spcPct val="188000"/>
              </a:lnSpc>
              <a:spcBef>
                <a:spcPts val="0"/>
              </a:spcBef>
              <a:spcAft>
                <a:spcPts val="0"/>
              </a:spcAft>
            </a:pPr>
            <a:r>
              <a:rPr sz="1090" b="1" i="0">
                <a:solidFill>
                  <a:srgbClr val="1A1A1A"/>
                </a:solidFill>
                <a:latin typeface="Microsoft YaHei"/>
              </a:rPr>
              <a:t>可否证点：</a:t>
            </a:r>
            <a:r>
              <a:rPr sz="1090" b="0" i="0">
                <a:solidFill>
                  <a:srgbClr val="1A1A1A"/>
                </a:solidFill>
                <a:latin typeface="Microsoft YaHei"/>
              </a:rPr>
              <a:t>若 </a:t>
            </a:r>
            <a:r>
              <a:rPr sz="1090" b="0" i="1">
                <a:solidFill>
                  <a:srgbClr val="1A1A1A"/>
                </a:solidFill>
                <a:latin typeface="Microsoft YaHei"/>
              </a:rPr>
              <a:t>t</a:t>
            </a:r>
            <a:r>
              <a:rPr sz="770" b="0" i="1" baseline="-25000">
                <a:solidFill>
                  <a:srgbClr val="1A1A1A"/>
                </a:solidFill>
                <a:latin typeface="Microsoft YaHei"/>
              </a:rPr>
              <a:t>0</a:t>
            </a:r>
            <a:r>
              <a:rPr sz="1090" b="0" i="0">
                <a:solidFill>
                  <a:srgbClr val="1A1A1A"/>
                </a:solidFill>
                <a:latin typeface="Microsoft YaHei"/>
              </a:rPr>
              <a:t> 的</a:t>
            </a:r>
            <a:r>
              <a:rPr sz="1090" b="1" i="0">
                <a:solidFill>
                  <a:srgbClr val="1A1A1A"/>
                </a:solidFill>
                <a:latin typeface="Microsoft YaHei"/>
              </a:rPr>
              <a:t>被试内标准差过大</a:t>
            </a:r>
            <a:r>
              <a:rPr sz="1090" b="0" i="0">
                <a:solidFill>
                  <a:srgbClr val="1A1A1A"/>
                </a:solidFill>
                <a:latin typeface="Microsoft YaHei"/>
              </a:rPr>
              <a:t>，则 </a:t>
            </a:r>
            <a:r>
              <a:rPr sz="1090" b="0" i="1">
                <a:solidFill>
                  <a:srgbClr val="1A1A1A"/>
                </a:solidFill>
                <a:latin typeface="Microsoft YaHei"/>
              </a:rPr>
              <a:t>Δt</a:t>
            </a:r>
            <a:r>
              <a:rPr sz="1090" b="0" i="0">
                <a:solidFill>
                  <a:srgbClr val="1A1A1A"/>
                </a:solidFill>
                <a:latin typeface="Microsoft YaHei"/>
              </a:rPr>
              <a:t> 不可作被试内因子，实验 2 须改为组间设计；若三重约束的交集为空，则否证参数化路径本身。</a:t>
            </a:r>
          </a:p>
        </p:txBody>
      </p:sp>
      <p:sp>
        <p:nvSpPr>
          <p:cNvPr id="18" name="TextBox 17"/>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研究规划</a:t>
            </a:r>
            <a:r>
              <a:rPr sz="1580" b="1" i="0">
                <a:solidFill>
                  <a:srgbClr val="4472C4"/>
                </a:solidFill>
                <a:latin typeface="Microsoft YaHei"/>
              </a:rPr>
              <a:t>研究二与研究三：四个主实验的分工</a:t>
            </a:r>
          </a:p>
        </p:txBody>
      </p:sp>
      <p:sp>
        <p:nvSpPr>
          <p:cNvPr id="4" name="Rounded Rectangle 3"/>
          <p:cNvSpPr/>
          <p:nvPr/>
        </p:nvSpPr>
        <p:spPr>
          <a:xfrm>
            <a:off x="11201251" y="209550"/>
            <a:ext cx="5525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06026" y="238125"/>
            <a:ext cx="3811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路线图</a:t>
            </a:r>
          </a:p>
        </p:txBody>
      </p:sp>
      <p:graphicFrame>
        <p:nvGraphicFramePr>
          <p:cNvPr id="6" name="Table 5"/>
          <p:cNvGraphicFramePr>
            <a:graphicFrameLocks noGrp="1"/>
          </p:cNvGraphicFramePr>
          <p:nvPr/>
        </p:nvGraphicFramePr>
        <p:xfrm>
          <a:off x="438150" y="762000"/>
          <a:ext cx="11315699" cy="3025971"/>
        </p:xfrm>
        <a:graphic>
          <a:graphicData uri="http://schemas.openxmlformats.org/drawingml/2006/table">
            <a:tbl>
              <a:tblPr>
                <a:tableStyleId>{5C22544A-7EE6-4342-B048-85BDC9FD1C3A}</a:tableStyleId>
              </a:tblPr>
              <a:tblGrid>
                <a:gridCol w="838200"/>
                <a:gridCol w="2002928"/>
                <a:gridCol w="8474571"/>
              </a:tblGrid>
              <a:tr h="361950">
                <a:tc>
                  <a:txBody>
                    <a:bodyPr wrap="square" lIns="0" rIns="0" tIns="0" bIns="0" anchor="t"/>
                    <a:lstStyle/>
                    <a:p>
                      <a:pPr algn="l">
                        <a:lnSpc>
                          <a:spcPct val="125000"/>
                        </a:lnSpc>
                        <a:spcBef>
                          <a:spcPts val="0"/>
                        </a:spcBef>
                        <a:spcAft>
                          <a:spcPts val="0"/>
                        </a:spcAft>
                      </a:pPr>
                      <a:r>
                        <a:rPr sz="1050" b="1" i="0">
                          <a:solidFill>
                            <a:srgbClr val="FFFFFF"/>
                          </a:solidFill>
                          <a:latin typeface="Microsoft YaHei"/>
                        </a:rPr>
                        <a:t>实验</a:t>
                      </a:r>
                    </a:p>
                  </a:txBody>
                  <a:tcPr marL="104775" marR="104775" marT="85725" marB="85725" anchor="t">
                    <a:solidFill>
                      <a:srgbClr val="4472C4"/>
                    </a:solidFill>
                  </a:tcPr>
                </a:tc>
                <a:tc>
                  <a:txBody>
                    <a:bodyPr wrap="square" lIns="0" rIns="0" tIns="0" bIns="0" anchor="t"/>
                    <a:lstStyle/>
                    <a:p>
                      <a:pPr algn="l">
                        <a:lnSpc>
                          <a:spcPct val="125000"/>
                        </a:lnSpc>
                        <a:spcBef>
                          <a:spcPts val="0"/>
                        </a:spcBef>
                        <a:spcAft>
                          <a:spcPts val="0"/>
                        </a:spcAft>
                      </a:pPr>
                      <a:r>
                        <a:rPr sz="1050" b="1" i="0">
                          <a:solidFill>
                            <a:srgbClr val="FFFFFF"/>
                          </a:solidFill>
                          <a:latin typeface="Microsoft YaHei"/>
                        </a:rPr>
                        <a:t>自变量</a:t>
                      </a:r>
                    </a:p>
                  </a:txBody>
                  <a:tcPr marL="104775" marR="104775" marT="85725" marB="85725" anchor="t">
                    <a:solidFill>
                      <a:srgbClr val="4472C4"/>
                    </a:solidFill>
                  </a:tcPr>
                </a:tc>
                <a:tc>
                  <a:txBody>
                    <a:bodyPr wrap="square" lIns="0" rIns="0" tIns="0" bIns="0" anchor="t"/>
                    <a:lstStyle/>
                    <a:p>
                      <a:pPr algn="l">
                        <a:lnSpc>
                          <a:spcPct val="125000"/>
                        </a:lnSpc>
                        <a:spcBef>
                          <a:spcPts val="0"/>
                        </a:spcBef>
                        <a:spcAft>
                          <a:spcPts val="0"/>
                        </a:spcAft>
                      </a:pPr>
                      <a:r>
                        <a:rPr sz="1050" b="1" i="0">
                          <a:solidFill>
                            <a:srgbClr val="FFFFFF"/>
                          </a:solidFill>
                          <a:latin typeface="Microsoft YaHei"/>
                        </a:rPr>
                        <a:t>主要终点与所答问题</a:t>
                      </a:r>
                    </a:p>
                  </a:txBody>
                  <a:tcPr marL="104775" marR="104775" marT="85725" marB="85725" anchor="t">
                    <a:solidFill>
                      <a:srgbClr val="4472C4"/>
                    </a:solidFill>
                  </a:tcPr>
                </a:tc>
              </a:tr>
              <a:tr h="617934">
                <a:tc>
                  <a:txBody>
                    <a:bodyPr wrap="square" lIns="0" rIns="0" tIns="0" bIns="0" anchor="t"/>
                    <a:lstStyle/>
                    <a:p>
                      <a:pPr algn="ctr">
                        <a:lnSpc>
                          <a:spcPct val="155000"/>
                        </a:lnSpc>
                        <a:spcBef>
                          <a:spcPts val="0"/>
                        </a:spcBef>
                        <a:spcAft>
                          <a:spcPts val="0"/>
                        </a:spcAft>
                      </a:pPr>
                      <a:r>
                        <a:rPr sz="1050" b="1" i="0">
                          <a:solidFill>
                            <a:srgbClr val="1A1A1A"/>
                          </a:solidFill>
                          <a:latin typeface="Microsoft YaHei"/>
                        </a:rPr>
                        <a:t>实验 2</a:t>
                      </a:r>
                    </a:p>
                    <a:p>
                      <a:pPr algn="ctr">
                        <a:lnSpc>
                          <a:spcPct val="155000"/>
                        </a:lnSpc>
                        <a:spcBef>
                          <a:spcPts val="0"/>
                        </a:spcBef>
                        <a:spcAft>
                          <a:spcPts val="0"/>
                        </a:spcAft>
                      </a:pPr>
                      <a:r>
                        <a:rPr sz="980" b="0" i="0">
                          <a:solidFill>
                            <a:srgbClr val="8C8C8C"/>
                          </a:solidFill>
                          <a:latin typeface="Microsoft YaHei"/>
                        </a:rPr>
                        <a:t>研究二</a:t>
                      </a:r>
                    </a:p>
                  </a:txBody>
                  <a:tcPr marL="104775" marR="104775" marT="95250" marB="95250" anchor="t">
                    <a:solidFill>
                      <a:srgbClr val="FAFBFD"/>
                    </a:solid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相对提前量 </a:t>
                      </a:r>
                      <a:r>
                        <a:rPr sz="1050" b="0" i="1">
                          <a:solidFill>
                            <a:srgbClr val="1A1A1A"/>
                          </a:solidFill>
                          <a:latin typeface="Microsoft YaHei"/>
                        </a:rPr>
                        <a:t>Δt</a:t>
                      </a:r>
                      <a:r>
                        <a:rPr sz="1050" b="0" i="0">
                          <a:solidFill>
                            <a:srgbClr val="1A1A1A"/>
                          </a:solidFill>
                          <a:latin typeface="Microsoft YaHei"/>
                        </a:rPr>
                        <a:t> × 触发准则</a:t>
                      </a:r>
                    </a:p>
                    <a:p>
                      <a:pPr algn="l">
                        <a:lnSpc>
                          <a:spcPct val="155000"/>
                        </a:lnSpc>
                        <a:spcBef>
                          <a:spcPts val="0"/>
                        </a:spcBef>
                        <a:spcAft>
                          <a:spcPts val="0"/>
                        </a:spcAft>
                      </a:pPr>
                      <a:r>
                        <a:rPr sz="980" b="0" i="0">
                          <a:solidFill>
                            <a:srgbClr val="8C8C8C"/>
                          </a:solidFill>
                          <a:latin typeface="Microsoft YaHei"/>
                        </a:rPr>
                        <a:t>区块 B：持续与撤销策略</a:t>
                      </a:r>
                    </a:p>
                  </a:txBody>
                  <a:tcPr marL="104775" marR="104775" marT="95250" marB="95250" anchor="t">
                    <a:solidFill>
                      <a:srgbClr val="FAFBFD"/>
                    </a:solid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单层预警的</a:t>
                      </a:r>
                      <a:r>
                        <a:rPr sz="1050" b="1" i="0">
                          <a:solidFill>
                            <a:srgbClr val="1A1A1A"/>
                          </a:solidFill>
                          <a:latin typeface="Microsoft YaHei"/>
                        </a:rPr>
                        <a:t>时间参数可行区间</a:t>
                      </a:r>
                      <a:r>
                        <a:rPr sz="1050" b="0" i="0">
                          <a:solidFill>
                            <a:srgbClr val="1A1A1A"/>
                          </a:solidFill>
                          <a:latin typeface="Microsoft YaHei"/>
                        </a:rPr>
                        <a:t>：最小有效提前量、准则类型的主效应，以及漏检率与视觉占用的权衡</a:t>
                      </a:r>
                    </a:p>
                  </a:txBody>
                  <a:tcPr marL="104775" marR="104775" marT="95250" marB="95250" anchor="t">
                    <a:solidFill>
                      <a:srgbClr val="FAFBFD"/>
                    </a:solidFill>
                  </a:tcPr>
                </a:tc>
              </a:tr>
              <a:tr h="613171">
                <a:tc>
                  <a:txBody>
                    <a:bodyPr wrap="square" lIns="0" rIns="0" tIns="0" bIns="0" anchor="t"/>
                    <a:lstStyle/>
                    <a:p>
                      <a:pPr algn="ctr">
                        <a:lnSpc>
                          <a:spcPct val="155000"/>
                        </a:lnSpc>
                        <a:spcBef>
                          <a:spcPts val="0"/>
                        </a:spcBef>
                        <a:spcAft>
                          <a:spcPts val="0"/>
                        </a:spcAft>
                      </a:pPr>
                      <a:r>
                        <a:rPr sz="1050" b="1" i="0">
                          <a:solidFill>
                            <a:srgbClr val="1A1A1A"/>
                          </a:solidFill>
                          <a:latin typeface="Microsoft YaHei"/>
                        </a:rPr>
                        <a:t>实验 3</a:t>
                      </a:r>
                    </a:p>
                    <a:p>
                      <a:pPr algn="ctr">
                        <a:lnSpc>
                          <a:spcPct val="155000"/>
                        </a:lnSpc>
                        <a:spcBef>
                          <a:spcPts val="0"/>
                        </a:spcBef>
                        <a:spcAft>
                          <a:spcPts val="0"/>
                        </a:spcAft>
                      </a:pPr>
                      <a:r>
                        <a:rPr sz="980" b="0" i="0">
                          <a:solidFill>
                            <a:srgbClr val="8C8C8C"/>
                          </a:solidFill>
                          <a:latin typeface="Microsoft YaHei"/>
                        </a:rPr>
                        <a:t>研究二</a:t>
                      </a:r>
                    </a:p>
                  </a:txBody>
                  <a:tcPr marL="104775" marR="104775" marT="95250" marB="95250" anchor="t">
                    <a:no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级间间隔 × 系统可靠性</a:t>
                      </a:r>
                    </a:p>
                    <a:p>
                      <a:pPr algn="l">
                        <a:lnSpc>
                          <a:spcPct val="155000"/>
                        </a:lnSpc>
                        <a:spcBef>
                          <a:spcPts val="0"/>
                        </a:spcBef>
                        <a:spcAft>
                          <a:spcPts val="0"/>
                        </a:spcAft>
                      </a:pPr>
                      <a:r>
                        <a:rPr sz="980" b="0" i="0">
                          <a:solidFill>
                            <a:srgbClr val="8C8C8C"/>
                          </a:solidFill>
                          <a:latin typeface="Microsoft YaHei"/>
                        </a:rPr>
                        <a:t>状态条件化升级仲裁</a:t>
                      </a:r>
                    </a:p>
                  </a:txBody>
                  <a:tcPr marL="104775" marR="104775" marT="95250" marB="95250" anchor="t">
                    <a:no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分层预警的</a:t>
                      </a:r>
                      <a:r>
                        <a:rPr sz="1050" b="1" i="0">
                          <a:solidFill>
                            <a:srgbClr val="1A1A1A"/>
                          </a:solidFill>
                          <a:latin typeface="Microsoft YaHei"/>
                        </a:rPr>
                        <a:t>升级时序规范</a:t>
                      </a:r>
                      <a:r>
                        <a:rPr sz="1050" b="0" i="0">
                          <a:solidFill>
                            <a:srgbClr val="1A1A1A"/>
                          </a:solidFill>
                          <a:latin typeface="Microsoft YaHei"/>
                        </a:rPr>
                        <a:t>：级间间隔是否存在倒 U 型最优区间，虚警代价是否随行动要求强度递增</a:t>
                      </a:r>
                    </a:p>
                  </a:txBody>
                  <a:tcPr marL="104775" marR="104775" marT="95250" marB="95250" anchor="t">
                    <a:noFill/>
                  </a:tcPr>
                </a:tc>
              </a:tr>
              <a:tr h="819745">
                <a:tc>
                  <a:txBody>
                    <a:bodyPr wrap="square" lIns="0" rIns="0" tIns="0" bIns="0" anchor="t"/>
                    <a:lstStyle/>
                    <a:p>
                      <a:pPr algn="ctr">
                        <a:lnSpc>
                          <a:spcPct val="155000"/>
                        </a:lnSpc>
                        <a:spcBef>
                          <a:spcPts val="0"/>
                        </a:spcBef>
                        <a:spcAft>
                          <a:spcPts val="0"/>
                        </a:spcAft>
                      </a:pPr>
                      <a:r>
                        <a:rPr sz="1050" b="1" i="0">
                          <a:solidFill>
                            <a:srgbClr val="1A1A1A"/>
                          </a:solidFill>
                          <a:latin typeface="Microsoft YaHei"/>
                        </a:rPr>
                        <a:t>实验 4</a:t>
                      </a:r>
                    </a:p>
                    <a:p>
                      <a:pPr algn="ctr">
                        <a:lnSpc>
                          <a:spcPct val="155000"/>
                        </a:lnSpc>
                        <a:spcBef>
                          <a:spcPts val="0"/>
                        </a:spcBef>
                        <a:spcAft>
                          <a:spcPts val="0"/>
                        </a:spcAft>
                      </a:pPr>
                      <a:r>
                        <a:rPr sz="980" b="0" i="0">
                          <a:solidFill>
                            <a:srgbClr val="8C8C8C"/>
                          </a:solidFill>
                          <a:latin typeface="Microsoft YaHei"/>
                        </a:rPr>
                        <a:t>研究三</a:t>
                      </a:r>
                    </a:p>
                  </a:txBody>
                  <a:tcPr marL="104775" marR="104775" marT="95250" marB="95250" anchor="t">
                    <a:solidFill>
                      <a:srgbClr val="FAFBFD"/>
                    </a:solid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锁定策略五水平 × 背景视觉复杂度</a:t>
                      </a:r>
                    </a:p>
                    <a:p>
                      <a:pPr algn="l">
                        <a:lnSpc>
                          <a:spcPct val="155000"/>
                        </a:lnSpc>
                        <a:spcBef>
                          <a:spcPts val="0"/>
                        </a:spcBef>
                        <a:spcAft>
                          <a:spcPts val="0"/>
                        </a:spcAft>
                      </a:pPr>
                      <a:r>
                        <a:rPr sz="980" b="0" i="0">
                          <a:solidFill>
                            <a:srgbClr val="8C8C8C"/>
                          </a:solidFill>
                          <a:latin typeface="Microsoft YaHei"/>
                        </a:rPr>
                        <a:t>区块 F：次任务负荷</a:t>
                      </a:r>
                    </a:p>
                  </a:txBody>
                  <a:tcPr marL="104775" marR="104775" marT="95250" marB="95250" anchor="t">
                    <a:solidFill>
                      <a:srgbClr val="FAFBFD"/>
                    </a:solidFill>
                  </a:tcPr>
                </a:tc>
                <a:tc>
                  <a:txBody>
                    <a:bodyPr wrap="square" lIns="0" rIns="0" tIns="0" bIns="0" anchor="t"/>
                    <a:lstStyle/>
                    <a:p>
                      <a:pPr algn="l">
                        <a:lnSpc>
                          <a:spcPct val="155000"/>
                        </a:lnSpc>
                        <a:spcBef>
                          <a:spcPts val="0"/>
                        </a:spcBef>
                        <a:spcAft>
                          <a:spcPts val="0"/>
                        </a:spcAft>
                      </a:pPr>
                      <a:r>
                        <a:rPr sz="1050" b="1" i="0">
                          <a:solidFill>
                            <a:srgbClr val="1A1A1A"/>
                          </a:solidFill>
                          <a:latin typeface="Microsoft YaHei"/>
                        </a:rPr>
                        <a:t>位置增益与共形增益的分离</a:t>
                      </a:r>
                      <a:r>
                        <a:rPr sz="1050" b="0" i="0">
                          <a:solidFill>
                            <a:srgbClr val="1A1A1A"/>
                          </a:solidFill>
                          <a:latin typeface="Microsoft YaHei"/>
                        </a:rPr>
                        <a:t>：共形性的增量效应有多大，以及该增量是否依赖背景复杂度与负荷</a:t>
                      </a:r>
                    </a:p>
                  </a:txBody>
                  <a:tcPr marL="104775" marR="104775" marT="95250" marB="95250" anchor="t">
                    <a:solidFill>
                      <a:srgbClr val="FAFBFD"/>
                    </a:solidFill>
                  </a:tcPr>
                </a:tc>
              </a:tr>
              <a:tr h="613171">
                <a:tc>
                  <a:txBody>
                    <a:bodyPr wrap="square" lIns="0" rIns="0" tIns="0" bIns="0" anchor="t"/>
                    <a:lstStyle/>
                    <a:p>
                      <a:pPr algn="ctr">
                        <a:lnSpc>
                          <a:spcPct val="155000"/>
                        </a:lnSpc>
                        <a:spcBef>
                          <a:spcPts val="0"/>
                        </a:spcBef>
                        <a:spcAft>
                          <a:spcPts val="0"/>
                        </a:spcAft>
                      </a:pPr>
                      <a:r>
                        <a:rPr sz="1050" b="1" i="0">
                          <a:solidFill>
                            <a:srgbClr val="1A1A1A"/>
                          </a:solidFill>
                          <a:latin typeface="Microsoft YaHei"/>
                        </a:rPr>
                        <a:t>实验 5</a:t>
                      </a:r>
                    </a:p>
                    <a:p>
                      <a:pPr algn="ctr">
                        <a:lnSpc>
                          <a:spcPct val="155000"/>
                        </a:lnSpc>
                        <a:spcBef>
                          <a:spcPts val="0"/>
                        </a:spcBef>
                        <a:spcAft>
                          <a:spcPts val="0"/>
                        </a:spcAft>
                      </a:pPr>
                      <a:r>
                        <a:rPr sz="980" b="0" i="0">
                          <a:solidFill>
                            <a:srgbClr val="8C8C8C"/>
                          </a:solidFill>
                          <a:latin typeface="Microsoft YaHei"/>
                        </a:rPr>
                        <a:t>研究三</a:t>
                      </a:r>
                    </a:p>
                  </a:txBody>
                  <a:tcPr marL="104775" marR="104775" marT="95250" marB="95250" anchor="t">
                    <a:no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风险量级映射 × 运动趋势映射</a:t>
                      </a:r>
                    </a:p>
                  </a:txBody>
                  <a:tcPr marL="104775" marR="104775" marT="95250" marB="95250" anchor="t">
                    <a:noFill/>
                  </a:tcPr>
                </a:tc>
                <a:tc>
                  <a:txBody>
                    <a:bodyPr wrap="square" lIns="0" rIns="0" tIns="0" bIns="0" anchor="t"/>
                    <a:lstStyle/>
                    <a:p>
                      <a:pPr algn="l">
                        <a:lnSpc>
                          <a:spcPct val="155000"/>
                        </a:lnSpc>
                        <a:spcBef>
                          <a:spcPts val="0"/>
                        </a:spcBef>
                        <a:spcAft>
                          <a:spcPts val="0"/>
                        </a:spcAft>
                      </a:pPr>
                      <a:r>
                        <a:rPr sz="1050" b="0" i="0">
                          <a:solidFill>
                            <a:srgbClr val="1A1A1A"/>
                          </a:solidFill>
                          <a:latin typeface="Microsoft YaHei"/>
                        </a:rPr>
                        <a:t>动态编码的</a:t>
                      </a:r>
                      <a:r>
                        <a:rPr sz="1050" b="1" i="0">
                          <a:solidFill>
                            <a:srgbClr val="1A1A1A"/>
                          </a:solidFill>
                          <a:latin typeface="Microsoft YaHei"/>
                        </a:rPr>
                        <a:t>作用路径</a:t>
                      </a:r>
                      <a:r>
                        <a:rPr sz="1050" b="0" i="0">
                          <a:solidFill>
                            <a:srgbClr val="1A1A1A"/>
                          </a:solidFill>
                          <a:latin typeface="Microsoft YaHei"/>
                        </a:rPr>
                        <a:t>：两个维度是否分别作用于情境意识的理解层与预测层</a:t>
                      </a:r>
                    </a:p>
                  </a:txBody>
                  <a:tcPr marL="104775" marR="104775" marT="95250" marB="95250" anchor="t">
                    <a:noFill/>
                  </a:tcPr>
                </a:tc>
              </a:tr>
            </a:tbl>
          </a:graphicData>
        </a:graphic>
      </p:graphicFrame>
      <p:sp>
        <p:nvSpPr>
          <p:cNvPr id="7" name="Rectangle 6"/>
          <p:cNvSpPr/>
          <p:nvPr/>
        </p:nvSpPr>
        <p:spPr>
          <a:xfrm>
            <a:off x="438150" y="3897510"/>
            <a:ext cx="11315700" cy="741461"/>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8150" y="3897510"/>
            <a:ext cx="38100" cy="741461"/>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0550" y="4011810"/>
            <a:ext cx="11049000" cy="541436"/>
          </a:xfrm>
          <a:prstGeom prst="rect">
            <a:avLst/>
          </a:prstGeom>
          <a:noFill/>
        </p:spPr>
        <p:txBody>
          <a:bodyPr wrap="square" lIns="0" rIns="0" tIns="0" bIns="0" anchor="t">
            <a:normAutofit/>
          </a:bodyPr>
          <a:lstStyle/>
          <a:p>
            <a:pPr algn="l">
              <a:lnSpc>
                <a:spcPct val="180000"/>
              </a:lnSpc>
              <a:spcBef>
                <a:spcPts val="0"/>
              </a:spcBef>
              <a:spcAft>
                <a:spcPts val="0"/>
              </a:spcAft>
            </a:pPr>
            <a:r>
              <a:rPr sz="1080" b="1" i="0">
                <a:solidFill>
                  <a:srgbClr val="1F5A1F"/>
                </a:solidFill>
                <a:latin typeface="Microsoft YaHei"/>
              </a:rPr>
              <a:t>递进而非并列。</a:t>
            </a:r>
            <a:r>
              <a:rPr sz="1080" b="0" i="0">
                <a:solidFill>
                  <a:srgbClr val="1F5A1F"/>
                </a:solidFill>
                <a:latin typeface="Microsoft YaHei"/>
              </a:rPr>
              <a:t>上游实验的入选参数在下游实验中</a:t>
            </a:r>
            <a:r>
              <a:rPr sz="1080" b="1" i="0">
                <a:solidFill>
                  <a:srgbClr val="1F5A1F"/>
                </a:solidFill>
                <a:latin typeface="Microsoft YaHei"/>
              </a:rPr>
              <a:t>固定</a:t>
            </a:r>
            <a:r>
              <a:rPr sz="1080" b="0" i="0">
                <a:solidFill>
                  <a:srgbClr val="1F5A1F"/>
                </a:solidFill>
                <a:latin typeface="Microsoft YaHei"/>
              </a:rPr>
              <a:t>：实验 1 的五项产出定义实验 2 的自变量刻度， 实验 2–3 的入选时间参数在实验 4–5 中固定，从而使空间参数的效应不与时间参数混淆。 全局硬约束：</a:t>
            </a:r>
            <a:r>
              <a:rPr sz="1080" b="1" i="0">
                <a:solidFill>
                  <a:srgbClr val="1F5A1F"/>
                </a:solidFill>
                <a:latin typeface="Microsoft YaHei"/>
              </a:rPr>
              <a:t>实验 1／2／3 必须共用同一场景族与同一套标定单元</a:t>
            </a:r>
            <a:r>
              <a:rPr sz="1080" b="0" i="0">
                <a:solidFill>
                  <a:srgbClr val="1F5A1F"/>
                </a:solidFill>
                <a:latin typeface="Microsoft YaHei"/>
              </a:rPr>
              <a:t>，否则 </a:t>
            </a:r>
            <a:r>
              <a:rPr sz="1080" b="0" i="1">
                <a:solidFill>
                  <a:srgbClr val="1F5A1F"/>
                </a:solidFill>
                <a:latin typeface="Microsoft YaHei"/>
              </a:rPr>
              <a:t>t</a:t>
            </a:r>
            <a:r>
              <a:rPr sz="760" b="0" i="1" baseline="-25000">
                <a:solidFill>
                  <a:srgbClr val="1F5A1F"/>
                </a:solidFill>
                <a:latin typeface="Microsoft YaHei"/>
              </a:rPr>
              <a:t>0</a:t>
            </a:r>
            <a:r>
              <a:rPr sz="1080" b="0" i="0">
                <a:solidFill>
                  <a:srgbClr val="1F5A1F"/>
                </a:solidFill>
                <a:latin typeface="Microsoft YaHei"/>
              </a:rPr>
              <a:t> 不可迁移。 </a:t>
            </a:r>
          </a:p>
        </p:txBody>
      </p:sp>
      <p:sp>
        <p:nvSpPr>
          <p:cNvPr id="10" name="TextBox 9"/>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研究问题</a:t>
            </a:r>
            <a:r>
              <a:rPr sz="1580" b="1" i="0">
                <a:solidFill>
                  <a:srgbClr val="4472C4"/>
                </a:solidFill>
                <a:latin typeface="Microsoft YaHei"/>
              </a:rPr>
              <a:t>三个递进的研究问题及其变量结构</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研究对象为 </a:t>
            </a:r>
            <a:r>
              <a:rPr sz="1090" b="1" i="0">
                <a:solidFill>
                  <a:srgbClr val="2F528F"/>
                </a:solidFill>
                <a:latin typeface="Microsoft YaHei"/>
              </a:rPr>
              <a:t>AR-HUD 行人碰撞预警的时空参数</a:t>
            </a:r>
            <a:r>
              <a:rPr sz="1090" b="0" i="0">
                <a:solidFill>
                  <a:srgbClr val="2F528F"/>
                </a:solidFill>
                <a:latin typeface="Microsoft YaHei"/>
              </a:rPr>
              <a:t>。核心命题是：预警效果并非由显示技术类型决定，而由</a:t>
            </a:r>
            <a:r>
              <a:rPr sz="1090" b="1" i="0">
                <a:solidFill>
                  <a:srgbClr val="2F528F"/>
                </a:solidFill>
                <a:latin typeface="Microsoft YaHei"/>
              </a:rPr>
              <a:t>时空参数的取值水平</a:t>
            </a:r>
            <a:r>
              <a:rPr sz="1090" b="0" i="0">
                <a:solidFill>
                  <a:srgbClr val="2F528F"/>
                </a:solidFill>
                <a:latin typeface="Microsoft YaHei"/>
              </a:rPr>
              <a:t>决定。三个研究问题依「参数化基准的建立 → 时间参数的标定 → 空间参数的标定」次序提出，</a:t>
            </a:r>
            <a:r>
              <a:rPr sz="1090" b="1" i="0">
                <a:solidFill>
                  <a:srgbClr val="2F528F"/>
                </a:solidFill>
                <a:latin typeface="Microsoft YaHei"/>
              </a:rPr>
              <a:t>次序由变量依赖关系强制，不可对调</a:t>
            </a:r>
            <a:r>
              <a:rPr sz="1090" b="0" i="0">
                <a:solidFill>
                  <a:srgbClr val="2F528F"/>
                </a:solidFill>
                <a:latin typeface="Microsoft YaHei"/>
              </a:rPr>
              <a:t>。</a:t>
            </a:r>
          </a:p>
        </p:txBody>
      </p:sp>
      <p:sp>
        <p:nvSpPr>
          <p:cNvPr id="9" name="Rounded Rectangle 8"/>
          <p:cNvSpPr/>
          <p:nvPr/>
        </p:nvSpPr>
        <p:spPr>
          <a:xfrm>
            <a:off x="438150" y="1522809"/>
            <a:ext cx="11315700" cy="1645443"/>
          </a:xfrm>
          <a:prstGeom prst="roundRect">
            <a:avLst>
              <a:gd name="adj" fmla="val 4052"/>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71500" y="1875234"/>
            <a:ext cx="11049000"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500" y="1627584"/>
            <a:ext cx="11087100"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3E7D3E"/>
                </a:solidFill>
                <a:latin typeface="Microsoft YaHei"/>
              </a:rPr>
              <a:t>RQ1 参数化基准：无预警辅助条件下驾驶员自发风险察觉的时间特征</a:t>
            </a:r>
          </a:p>
        </p:txBody>
      </p:sp>
      <p:sp>
        <p:nvSpPr>
          <p:cNvPr id="12" name="TextBox 11"/>
          <p:cNvSpPr txBox="1"/>
          <p:nvPr/>
        </p:nvSpPr>
        <p:spPr>
          <a:xfrm>
            <a:off x="571500" y="1941909"/>
            <a:ext cx="11087100" cy="461962"/>
          </a:xfrm>
          <a:prstGeom prst="rect">
            <a:avLst/>
          </a:prstGeom>
          <a:noFill/>
        </p:spPr>
        <p:txBody>
          <a:bodyPr wrap="square" lIns="0" rIns="0" tIns="0" bIns="0" anchor="t">
            <a:normAutofit/>
          </a:bodyPr>
          <a:lstStyle/>
          <a:p>
            <a:pPr algn="l">
              <a:lnSpc>
                <a:spcPct val="160000"/>
              </a:lnSpc>
              <a:spcBef>
                <a:spcPts val="0"/>
              </a:spcBef>
              <a:spcAft>
                <a:spcPts val="0"/>
              </a:spcAft>
            </a:pPr>
            <a:r>
              <a:rPr sz="1019" b="0" i="0">
                <a:solidFill>
                  <a:srgbClr val="1A1A1A"/>
                </a:solidFill>
                <a:latin typeface="Microsoft YaHei"/>
              </a:rPr>
              <a:t>在无预警辅助的基线条件下，驾驶员对横穿行人的</a:t>
            </a:r>
            <a:r>
              <a:rPr sz="1019" b="1" i="0">
                <a:solidFill>
                  <a:srgbClr val="1A1A1A"/>
                </a:solidFill>
                <a:latin typeface="Microsoft YaHei"/>
              </a:rPr>
              <a:t>自发察觉时刻</a:t>
            </a:r>
            <a:r>
              <a:rPr sz="1019" b="0" i="0">
                <a:solidFill>
                  <a:srgbClr val="1A1A1A"/>
                </a:solidFill>
                <a:latin typeface="Microsoft YaHei"/>
              </a:rPr>
              <a:t>（</a:t>
            </a:r>
            <a:r>
              <a:rPr sz="1019" b="0" i="1">
                <a:solidFill>
                  <a:srgbClr val="1A1A1A"/>
                </a:solidFill>
                <a:latin typeface="Microsoft YaHei"/>
              </a:rPr>
              <a:t>t</a:t>
            </a:r>
            <a:r>
              <a:rPr sz="710" b="0" i="1" baseline="-25000">
                <a:solidFill>
                  <a:srgbClr val="1A1A1A"/>
                </a:solidFill>
                <a:latin typeface="Microsoft YaHei"/>
              </a:rPr>
              <a:t>0</a:t>
            </a:r>
            <a:r>
              <a:rPr sz="1019" b="0" i="0">
                <a:solidFill>
                  <a:srgbClr val="1A1A1A"/>
                </a:solidFill>
                <a:latin typeface="Microsoft YaHei"/>
              </a:rPr>
              <a:t>）与</a:t>
            </a:r>
            <a:r>
              <a:rPr sz="1019" b="1" i="0">
                <a:solidFill>
                  <a:srgbClr val="1A1A1A"/>
                </a:solidFill>
                <a:latin typeface="Microsoft YaHei"/>
              </a:rPr>
              <a:t>感知反应时</a:t>
            </a:r>
            <a:r>
              <a:rPr sz="1019" b="0" i="0">
                <a:solidFill>
                  <a:srgbClr val="1A1A1A"/>
                </a:solidFill>
                <a:latin typeface="Microsoft YaHei"/>
              </a:rPr>
              <a:t>（PRT）的分布特征如何？二者如何受</a:t>
            </a:r>
            <a:r>
              <a:rPr sz="1019" b="1" i="0">
                <a:solidFill>
                  <a:srgbClr val="1A1A1A"/>
                </a:solidFill>
                <a:latin typeface="Microsoft YaHei"/>
              </a:rPr>
              <a:t>行车速度</a:t>
            </a:r>
            <a:r>
              <a:rPr sz="1019" b="0" i="0">
                <a:solidFill>
                  <a:srgbClr val="1A1A1A"/>
                </a:solidFill>
                <a:latin typeface="Microsoft YaHei"/>
              </a:rPr>
              <a:t>与</a:t>
            </a:r>
            <a:r>
              <a:rPr sz="1019" b="1" i="0">
                <a:solidFill>
                  <a:srgbClr val="1A1A1A"/>
                </a:solidFill>
                <a:latin typeface="Microsoft YaHei"/>
              </a:rPr>
              <a:t>视线遮挡</a:t>
            </a:r>
            <a:r>
              <a:rPr sz="1019" b="0" i="0">
                <a:solidFill>
                  <a:srgbClr val="1A1A1A"/>
                </a:solidFill>
                <a:latin typeface="Microsoft YaHei"/>
              </a:rPr>
              <a:t>两项情境因素的调节？</a:t>
            </a:r>
            <a:r>
              <a:rPr sz="1019" b="1" i="0">
                <a:solidFill>
                  <a:srgbClr val="1A1A1A"/>
                </a:solidFill>
                <a:latin typeface="Microsoft YaHei"/>
              </a:rPr>
              <a:t>该问题构成后续全部参数标定的前提</a:t>
            </a:r>
            <a:r>
              <a:rPr sz="1019" b="0" i="0">
                <a:solidFill>
                  <a:srgbClr val="1A1A1A"/>
                </a:solidFill>
                <a:latin typeface="Microsoft YaHei"/>
              </a:rPr>
              <a:t>——若 </a:t>
            </a:r>
            <a:r>
              <a:rPr sz="1019" b="0" i="1">
                <a:solidFill>
                  <a:srgbClr val="1A1A1A"/>
                </a:solidFill>
                <a:latin typeface="Microsoft YaHei"/>
              </a:rPr>
              <a:t>t</a:t>
            </a:r>
            <a:r>
              <a:rPr sz="710" b="0" i="1" baseline="-25000">
                <a:solidFill>
                  <a:srgbClr val="1A1A1A"/>
                </a:solidFill>
                <a:latin typeface="Microsoft YaHei"/>
              </a:rPr>
              <a:t>0</a:t>
            </a:r>
            <a:r>
              <a:rPr sz="1019" b="0" i="0">
                <a:solidFill>
                  <a:srgbClr val="1A1A1A"/>
                </a:solidFill>
                <a:latin typeface="Microsoft YaHei"/>
              </a:rPr>
              <a:t> 未经实测，实验 2 的自变量只能表达为绝对碰撞时间，而后者在不同行车速度下对应不同的运动学难度与信息增益，此即既有文献结论方向不一致的方法学根源。</a:t>
            </a:r>
          </a:p>
        </p:txBody>
      </p:sp>
      <p:sp>
        <p:nvSpPr>
          <p:cNvPr id="13" name="TextBox 12"/>
          <p:cNvSpPr txBox="1"/>
          <p:nvPr/>
        </p:nvSpPr>
        <p:spPr>
          <a:xfrm>
            <a:off x="571500" y="2422921"/>
            <a:ext cx="11087100" cy="669131"/>
          </a:xfrm>
          <a:prstGeom prst="rect">
            <a:avLst/>
          </a:prstGeom>
          <a:noFill/>
        </p:spPr>
        <p:txBody>
          <a:bodyPr wrap="square" lIns="0" rIns="0" tIns="0" bIns="0" anchor="t">
            <a:normAutofit/>
          </a:bodyPr>
          <a:lstStyle/>
          <a:p>
            <a:pPr algn="l">
              <a:lnSpc>
                <a:spcPct val="160000"/>
              </a:lnSpc>
              <a:spcBef>
                <a:spcPts val="0"/>
              </a:spcBef>
              <a:spcAft>
                <a:spcPts val="0"/>
              </a:spcAft>
            </a:pPr>
            <a:r>
              <a:rPr sz="1019" b="1" i="0">
                <a:solidFill>
                  <a:srgbClr val="1A1A1A"/>
                </a:solidFill>
                <a:latin typeface="Microsoft YaHei"/>
              </a:rPr>
              <a:t>操作化指标：</a:t>
            </a:r>
            <a:r>
              <a:rPr sz="1019" b="0" i="0">
                <a:solidFill>
                  <a:srgbClr val="1A1A1A"/>
                </a:solidFill>
                <a:latin typeface="Microsoft YaHei"/>
              </a:rPr>
              <a:t>(a) </a:t>
            </a:r>
            <a:r>
              <a:rPr sz="1019" b="0" i="1">
                <a:solidFill>
                  <a:srgbClr val="1A1A1A"/>
                </a:solidFill>
                <a:latin typeface="Microsoft YaHei"/>
              </a:rPr>
              <a:t>t</a:t>
            </a:r>
            <a:r>
              <a:rPr sz="710" b="0" i="1" baseline="-25000">
                <a:solidFill>
                  <a:srgbClr val="1A1A1A"/>
                </a:solidFill>
                <a:latin typeface="Microsoft YaHei"/>
              </a:rPr>
              <a:t>0</a:t>
            </a:r>
            <a:r>
              <a:rPr sz="1019" b="0" i="0">
                <a:solidFill>
                  <a:srgbClr val="1A1A1A"/>
                </a:solidFill>
                <a:latin typeface="Microsoft YaHei"/>
              </a:rPr>
              <a:t> 的中位数、第 5 与第 95 百分位、被试内标准差；(b) </a:t>
            </a:r>
            <a:r>
              <a:rPr sz="1019" b="0" i="1">
                <a:solidFill>
                  <a:srgbClr val="1A1A1A"/>
                </a:solidFill>
                <a:latin typeface="Microsoft YaHei"/>
              </a:rPr>
              <a:t>t</a:t>
            </a:r>
            <a:r>
              <a:rPr sz="710" b="0" i="1" baseline="-25000">
                <a:solidFill>
                  <a:srgbClr val="1A1A1A"/>
                </a:solidFill>
                <a:latin typeface="Microsoft YaHei"/>
              </a:rPr>
              <a:t>0</a:t>
            </a:r>
            <a:r>
              <a:rPr sz="1019" b="0" i="0">
                <a:solidFill>
                  <a:srgbClr val="1A1A1A"/>
                </a:solidFill>
                <a:latin typeface="Microsoft YaHei"/>
              </a:rPr>
              <a:t> 对速度与遮挡的主效应与交互；(c) PRT 的分位数分布及其成分分解；(d) 实际采用的减速度范围与制动威胁数（BTN）可用阈值区间。</a:t>
            </a:r>
            <a:r>
              <a:rPr sz="1019" b="1" i="0">
                <a:solidFill>
                  <a:srgbClr val="3E7D3E"/>
                </a:solidFill>
                <a:latin typeface="Microsoft YaHei"/>
              </a:rPr>
              <a:t> 理论校验值：</a:t>
            </a:r>
            <a:r>
              <a:rPr sz="1019" b="0" i="0">
                <a:solidFill>
                  <a:srgbClr val="1A1A1A"/>
                </a:solidFill>
                <a:latin typeface="Microsoft YaHei"/>
              </a:rPr>
              <a:t>60 km/h 无遮挡条件下 </a:t>
            </a:r>
            <a:r>
              <a:rPr sz="1019" b="0" i="1">
                <a:solidFill>
                  <a:srgbClr val="1A1A1A"/>
                </a:solidFill>
                <a:latin typeface="Microsoft YaHei"/>
              </a:rPr>
              <a:t>t</a:t>
            </a:r>
            <a:r>
              <a:rPr sz="710" b="0" i="1" baseline="-25000">
                <a:solidFill>
                  <a:srgbClr val="1A1A1A"/>
                </a:solidFill>
                <a:latin typeface="Microsoft YaHei"/>
              </a:rPr>
              <a:t>0</a:t>
            </a:r>
            <a:r>
              <a:rPr sz="1019" b="0" i="0">
                <a:solidFill>
                  <a:srgbClr val="1A1A1A"/>
                </a:solidFill>
                <a:latin typeface="Microsoft YaHei"/>
              </a:rPr>
              <a:t> 中位数的预期区间为 </a:t>
            </a:r>
            <a:r>
              <a:rPr sz="1019" b="1" i="0">
                <a:solidFill>
                  <a:srgbClr val="1A1A1A"/>
                </a:solidFill>
                <a:latin typeface="Microsoft YaHei"/>
              </a:rPr>
              <a:t>3.0–3.5 s</a:t>
            </a:r>
            <a:r>
              <a:rPr sz="1019" b="0" i="0">
                <a:solidFill>
                  <a:srgbClr val="1A1A1A"/>
                </a:solidFill>
                <a:latin typeface="Microsoft YaHei"/>
              </a:rPr>
              <a:t>（光学膨胀率理论推算 3.2 s，与 Phan 等实测约 3 s 收敛）；</a:t>
            </a:r>
            <a:r>
              <a:rPr sz="1019" b="1" i="0">
                <a:solidFill>
                  <a:srgbClr val="1A1A1A"/>
                </a:solidFill>
                <a:latin typeface="Microsoft YaHei"/>
              </a:rPr>
              <a:t>若实测值大幅偏离，应先检验模拟器视觉保真度而非直接采信</a:t>
            </a:r>
            <a:r>
              <a:rPr sz="1019" b="0" i="0">
                <a:solidFill>
                  <a:srgbClr val="1A1A1A"/>
                </a:solidFill>
                <a:latin typeface="Microsoft YaHei"/>
              </a:rPr>
              <a:t>。</a:t>
            </a:r>
          </a:p>
        </p:txBody>
      </p:sp>
      <p:sp>
        <p:nvSpPr>
          <p:cNvPr id="14" name="Rounded Rectangle 13"/>
          <p:cNvSpPr/>
          <p:nvPr/>
        </p:nvSpPr>
        <p:spPr>
          <a:xfrm>
            <a:off x="438150" y="3244453"/>
            <a:ext cx="11315700" cy="1400175"/>
          </a:xfrm>
          <a:prstGeom prst="roundRect">
            <a:avLst>
              <a:gd name="adj" fmla="val 4761"/>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71500" y="3596878"/>
            <a:ext cx="1104900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500" y="3349228"/>
            <a:ext cx="11087100"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RQ2 时间参数：预警时序变量对四类因变量的影响机制与适宜区间</a:t>
            </a:r>
          </a:p>
        </p:txBody>
      </p:sp>
      <p:sp>
        <p:nvSpPr>
          <p:cNvPr id="17" name="TextBox 16"/>
          <p:cNvSpPr txBox="1"/>
          <p:nvPr/>
        </p:nvSpPr>
        <p:spPr>
          <a:xfrm>
            <a:off x="571500" y="3663553"/>
            <a:ext cx="11087100" cy="235743"/>
          </a:xfrm>
          <a:prstGeom prst="rect">
            <a:avLst/>
          </a:prstGeom>
          <a:noFill/>
        </p:spPr>
        <p:txBody>
          <a:bodyPr wrap="square" lIns="0" rIns="0" tIns="0" bIns="0" anchor="t">
            <a:normAutofit/>
          </a:bodyPr>
          <a:lstStyle/>
          <a:p>
            <a:pPr algn="l">
              <a:lnSpc>
                <a:spcPct val="160000"/>
              </a:lnSpc>
              <a:spcBef>
                <a:spcPts val="0"/>
              </a:spcBef>
              <a:spcAft>
                <a:spcPts val="0"/>
              </a:spcAft>
            </a:pPr>
            <a:r>
              <a:rPr sz="1019" b="0" i="0">
                <a:solidFill>
                  <a:srgbClr val="1A1A1A"/>
                </a:solidFill>
                <a:latin typeface="Microsoft YaHei"/>
              </a:rPr>
              <a:t>AR-HUD 行人预警的时间参数如何影响驾驶员的</a:t>
            </a:r>
            <a:r>
              <a:rPr sz="1019" b="1" i="0">
                <a:solidFill>
                  <a:srgbClr val="1A1A1A"/>
                </a:solidFill>
                <a:latin typeface="Microsoft YaHei"/>
              </a:rPr>
              <a:t>安全绩效、认知负荷、情境意识与用户体验</a:t>
            </a:r>
            <a:r>
              <a:rPr sz="1019" b="0" i="0">
                <a:solidFill>
                  <a:srgbClr val="1A1A1A"/>
                </a:solidFill>
                <a:latin typeface="Microsoft YaHei"/>
              </a:rPr>
              <a:t>？各参数的适宜取值区间为何？三项自变量依次为：</a:t>
            </a:r>
          </a:p>
        </p:txBody>
      </p:sp>
      <p:sp>
        <p:nvSpPr>
          <p:cNvPr id="18" name="TextBox 17"/>
          <p:cNvSpPr txBox="1"/>
          <p:nvPr/>
        </p:nvSpPr>
        <p:spPr>
          <a:xfrm>
            <a:off x="571500" y="3908821"/>
            <a:ext cx="11087100" cy="659606"/>
          </a:xfrm>
          <a:prstGeom prst="rect">
            <a:avLst/>
          </a:prstGeom>
          <a:noFill/>
        </p:spPr>
        <p:txBody>
          <a:bodyPr wrap="square" lIns="0" rIns="0" tIns="0" bIns="0" anchor="t">
            <a:normAutofit/>
          </a:bodyPr>
          <a:lstStyle/>
          <a:p>
            <a:pPr algn="l">
              <a:lnSpc>
                <a:spcPct val="160000"/>
              </a:lnSpc>
              <a:spcBef>
                <a:spcPts val="0"/>
              </a:spcBef>
              <a:spcAft>
                <a:spcPts val="0"/>
              </a:spcAft>
            </a:pPr>
            <a:r>
              <a:rPr sz="1019" b="0" i="0">
                <a:solidFill>
                  <a:srgbClr val="1A1A1A"/>
                </a:solidFill>
                <a:latin typeface="Microsoft YaHei"/>
              </a:rPr>
              <a:t>(a) </a:t>
            </a:r>
            <a:r>
              <a:rPr sz="1019" b="1" i="0">
                <a:solidFill>
                  <a:srgbClr val="1A1A1A"/>
                </a:solidFill>
                <a:latin typeface="Microsoft YaHei"/>
              </a:rPr>
              <a:t>相对提前量 </a:t>
            </a:r>
            <a:r>
              <a:rPr sz="1019" b="1" i="1">
                <a:solidFill>
                  <a:srgbClr val="1A1A1A"/>
                </a:solidFill>
                <a:latin typeface="Microsoft YaHei"/>
              </a:rPr>
              <a:t>Δt</a:t>
            </a:r>
            <a:r>
              <a:rPr sz="1019" b="1" i="0">
                <a:solidFill>
                  <a:srgbClr val="1A1A1A"/>
                </a:solidFill>
                <a:latin typeface="Microsoft YaHei"/>
              </a:rPr>
              <a:t> 与触发准则类型</a:t>
            </a:r>
            <a:r>
              <a:rPr sz="1019" b="0" i="0">
                <a:solidFill>
                  <a:srgbClr val="1A1A1A"/>
                </a:solidFill>
                <a:latin typeface="Microsoft YaHei"/>
              </a:rPr>
              <a:t>——</a:t>
            </a:r>
            <a:r>
              <a:rPr sz="1019" b="0" i="1">
                <a:solidFill>
                  <a:srgbClr val="1A1A1A"/>
                </a:solidFill>
                <a:latin typeface="Microsoft YaHei"/>
              </a:rPr>
              <a:t>Δt</a:t>
            </a:r>
            <a:r>
              <a:rPr sz="1019" b="0" i="0">
                <a:solidFill>
                  <a:srgbClr val="1A1A1A"/>
                </a:solidFill>
                <a:latin typeface="Microsoft YaHei"/>
              </a:rPr>
              <a:t> 的适宜区间为何？触发准则采用固定时间阈值抑或减速度归一化量（BTN）？该效应是否与行车速度交互？</a:t>
            </a:r>
            <a:r>
              <a:rPr sz="940" b="0" i="0">
                <a:solidFill>
                  <a:srgbClr val="8C8C8C"/>
                </a:solidFill>
                <a:latin typeface="Microsoft YaHei"/>
              </a:rPr>
              <a:t>→ 对应空白 G1、G2</a:t>
            </a:r>
          </a:p>
          <a:p>
            <a:pPr algn="l">
              <a:lnSpc>
                <a:spcPct val="160000"/>
              </a:lnSpc>
              <a:spcBef>
                <a:spcPts val="0"/>
              </a:spcBef>
              <a:spcAft>
                <a:spcPts val="0"/>
              </a:spcAft>
            </a:pPr>
            <a:r>
              <a:rPr sz="1019" b="0" i="0">
                <a:solidFill>
                  <a:srgbClr val="1A1A1A"/>
                </a:solidFill>
                <a:latin typeface="Microsoft YaHei"/>
              </a:rPr>
              <a:t>(b) </a:t>
            </a:r>
            <a:r>
              <a:rPr sz="1019" b="1" i="0">
                <a:solidFill>
                  <a:srgbClr val="1A1A1A"/>
                </a:solidFill>
                <a:latin typeface="Microsoft YaHei"/>
              </a:rPr>
              <a:t>预警持续与撤销策略</a:t>
            </a:r>
            <a:r>
              <a:rPr sz="1019" b="0" i="0">
                <a:solidFill>
                  <a:srgbClr val="1A1A1A"/>
                </a:solidFill>
                <a:latin typeface="Microsoft YaHei"/>
              </a:rPr>
              <a:t>——固定时长、状态维持与风险耦合衰减三种策略的优劣序为何？撤销规则是否需引入滞环？</a:t>
            </a:r>
            <a:r>
              <a:rPr sz="940" b="0" i="0">
                <a:solidFill>
                  <a:srgbClr val="8C8C8C"/>
                </a:solidFill>
                <a:latin typeface="Microsoft YaHei"/>
              </a:rPr>
              <a:t>→ G3</a:t>
            </a:r>
          </a:p>
          <a:p>
            <a:pPr algn="l">
              <a:lnSpc>
                <a:spcPct val="160000"/>
              </a:lnSpc>
              <a:spcBef>
                <a:spcPts val="0"/>
              </a:spcBef>
              <a:spcAft>
                <a:spcPts val="0"/>
              </a:spcAft>
            </a:pPr>
            <a:r>
              <a:rPr sz="1019" b="0" i="0">
                <a:solidFill>
                  <a:srgbClr val="1A1A1A"/>
                </a:solidFill>
                <a:latin typeface="Microsoft YaHei"/>
              </a:rPr>
              <a:t>(c) </a:t>
            </a:r>
            <a:r>
              <a:rPr sz="1019" b="1" i="0">
                <a:solidFill>
                  <a:srgbClr val="1A1A1A"/>
                </a:solidFill>
                <a:latin typeface="Microsoft YaHei"/>
              </a:rPr>
              <a:t>分层升级规则与系统可靠性</a:t>
            </a:r>
            <a:r>
              <a:rPr sz="1019" b="0" i="0">
                <a:solidFill>
                  <a:srgbClr val="1A1A1A"/>
                </a:solidFill>
                <a:latin typeface="Microsoft YaHei"/>
              </a:rPr>
              <a:t>——级间间隔的适宜取值为何？可靠性下降时分层结构的优势是否衰减？虚警发生于预告级与确认级时代价是否等同？</a:t>
            </a:r>
            <a:r>
              <a:rPr sz="940" b="0" i="0">
                <a:solidFill>
                  <a:srgbClr val="8C8C8C"/>
                </a:solidFill>
                <a:latin typeface="Microsoft YaHei"/>
              </a:rPr>
              <a:t>→ G4、G5</a:t>
            </a:r>
          </a:p>
        </p:txBody>
      </p:sp>
      <p:sp>
        <p:nvSpPr>
          <p:cNvPr id="19" name="Rounded Rectangle 18"/>
          <p:cNvSpPr/>
          <p:nvPr/>
        </p:nvSpPr>
        <p:spPr>
          <a:xfrm>
            <a:off x="438150" y="4720828"/>
            <a:ext cx="11315700" cy="1390650"/>
          </a:xfrm>
          <a:prstGeom prst="roundRect">
            <a:avLst>
              <a:gd name="adj" fmla="val 4794"/>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71500" y="5073253"/>
            <a:ext cx="1104900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500" y="4825603"/>
            <a:ext cx="11087100"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RQ3 空间参数：空间参照系与风险动态映射的作用路径</a:t>
            </a:r>
          </a:p>
        </p:txBody>
      </p:sp>
      <p:sp>
        <p:nvSpPr>
          <p:cNvPr id="22" name="TextBox 21"/>
          <p:cNvSpPr txBox="1"/>
          <p:nvPr/>
        </p:nvSpPr>
        <p:spPr>
          <a:xfrm>
            <a:off x="571500" y="5139928"/>
            <a:ext cx="11087100" cy="235743"/>
          </a:xfrm>
          <a:prstGeom prst="rect">
            <a:avLst/>
          </a:prstGeom>
          <a:noFill/>
        </p:spPr>
        <p:txBody>
          <a:bodyPr wrap="square" lIns="0" rIns="0" tIns="0" bIns="0" anchor="t">
            <a:normAutofit/>
          </a:bodyPr>
          <a:lstStyle/>
          <a:p>
            <a:pPr algn="l">
              <a:lnSpc>
                <a:spcPct val="160000"/>
              </a:lnSpc>
              <a:spcBef>
                <a:spcPts val="0"/>
              </a:spcBef>
              <a:spcAft>
                <a:spcPts val="0"/>
              </a:spcAft>
            </a:pPr>
            <a:r>
              <a:rPr sz="1019" b="0" i="0">
                <a:solidFill>
                  <a:srgbClr val="1A1A1A"/>
                </a:solidFill>
                <a:latin typeface="Microsoft YaHei"/>
              </a:rPr>
              <a:t>预警图形的</a:t>
            </a:r>
            <a:r>
              <a:rPr sz="1019" b="1" i="0">
                <a:solidFill>
                  <a:srgbClr val="1A1A1A"/>
                </a:solidFill>
                <a:latin typeface="Microsoft YaHei"/>
              </a:rPr>
              <a:t>空间参照系</a:t>
            </a:r>
            <a:r>
              <a:rPr sz="1019" b="0" i="0">
                <a:solidFill>
                  <a:srgbClr val="1A1A1A"/>
                </a:solidFill>
                <a:latin typeface="Microsoft YaHei"/>
              </a:rPr>
              <a:t>与</a:t>
            </a:r>
            <a:r>
              <a:rPr sz="1019" b="1" i="0">
                <a:solidFill>
                  <a:srgbClr val="1A1A1A"/>
                </a:solidFill>
                <a:latin typeface="Microsoft YaHei"/>
              </a:rPr>
              <a:t>风险动态映射</a:t>
            </a:r>
            <a:r>
              <a:rPr sz="1019" b="0" i="0">
                <a:solidFill>
                  <a:srgbClr val="1A1A1A"/>
                </a:solidFill>
                <a:latin typeface="Microsoft YaHei"/>
              </a:rPr>
              <a:t>如何影响危险定位效率、注意资源分配与情境意识各阶段的达成？两项自变量为：</a:t>
            </a:r>
          </a:p>
        </p:txBody>
      </p:sp>
      <p:sp>
        <p:nvSpPr>
          <p:cNvPr id="23" name="TextBox 22"/>
          <p:cNvSpPr txBox="1"/>
          <p:nvPr/>
        </p:nvSpPr>
        <p:spPr>
          <a:xfrm>
            <a:off x="571500" y="5385196"/>
            <a:ext cx="11087100" cy="650081"/>
          </a:xfrm>
          <a:prstGeom prst="rect">
            <a:avLst/>
          </a:prstGeom>
          <a:noFill/>
        </p:spPr>
        <p:txBody>
          <a:bodyPr wrap="square" lIns="0" rIns="0" tIns="0" bIns="0" anchor="t">
            <a:normAutofit/>
          </a:bodyPr>
          <a:lstStyle/>
          <a:p>
            <a:pPr algn="l">
              <a:lnSpc>
                <a:spcPct val="160000"/>
              </a:lnSpc>
              <a:spcBef>
                <a:spcPts val="0"/>
              </a:spcBef>
              <a:spcAft>
                <a:spcPts val="0"/>
              </a:spcAft>
            </a:pPr>
            <a:r>
              <a:rPr sz="1019" b="0" i="0">
                <a:solidFill>
                  <a:srgbClr val="1A1A1A"/>
                </a:solidFill>
                <a:latin typeface="Microsoft YaHei"/>
              </a:rPr>
              <a:t>(a) </a:t>
            </a:r>
            <a:r>
              <a:rPr sz="1019" b="1" i="0">
                <a:solidFill>
                  <a:srgbClr val="1A1A1A"/>
                </a:solidFill>
                <a:latin typeface="Microsoft YaHei"/>
              </a:rPr>
              <a:t>空间参照系与锁定策略</a:t>
            </a:r>
            <a:r>
              <a:rPr sz="1019" b="0" i="0">
                <a:solidFill>
                  <a:srgbClr val="1A1A1A"/>
                </a:solidFill>
                <a:latin typeface="Microsoft YaHei"/>
              </a:rPr>
              <a:t>——屏幕固定（BD）、道路锁定（BR）、跟随目标锁定（BW）与复合（BW+BR）四水平的优劣序为何？该序是否随</a:t>
            </a:r>
            <a:r>
              <a:rPr sz="1019" b="1" i="0">
                <a:solidFill>
                  <a:srgbClr val="1A1A1A"/>
                </a:solidFill>
                <a:latin typeface="Microsoft YaHei"/>
              </a:rPr>
              <a:t>背景视觉复杂度</a:t>
            </a:r>
            <a:r>
              <a:rPr sz="1019" b="0" i="0">
                <a:solidFill>
                  <a:srgbClr val="1A1A1A"/>
                </a:solidFill>
                <a:latin typeface="Microsoft YaHei"/>
              </a:rPr>
              <a:t>与</a:t>
            </a:r>
            <a:r>
              <a:rPr sz="1019" b="1" i="0">
                <a:solidFill>
                  <a:srgbClr val="1A1A1A"/>
                </a:solidFill>
                <a:latin typeface="Microsoft YaHei"/>
              </a:rPr>
              <a:t>次任务负荷</a:t>
            </a:r>
            <a:r>
              <a:rPr sz="1019" b="0" i="0">
                <a:solidFill>
                  <a:srgbClr val="1A1A1A"/>
                </a:solidFill>
                <a:latin typeface="Microsoft YaHei"/>
              </a:rPr>
              <a:t>改变？</a:t>
            </a:r>
            <a:r>
              <a:rPr sz="940" b="0" i="0">
                <a:solidFill>
                  <a:srgbClr val="8C8C8C"/>
                </a:solidFill>
                <a:latin typeface="Microsoft YaHei"/>
              </a:rPr>
              <a:t>→ G6</a:t>
            </a:r>
          </a:p>
          <a:p>
            <a:pPr algn="l">
              <a:lnSpc>
                <a:spcPct val="160000"/>
              </a:lnSpc>
              <a:spcBef>
                <a:spcPts val="0"/>
              </a:spcBef>
              <a:spcAft>
                <a:spcPts val="0"/>
              </a:spcAft>
            </a:pPr>
            <a:r>
              <a:rPr sz="1019" b="0" i="0">
                <a:solidFill>
                  <a:srgbClr val="1A1A1A"/>
                </a:solidFill>
                <a:latin typeface="Microsoft YaHei"/>
              </a:rPr>
              <a:t>(b) </a:t>
            </a:r>
            <a:r>
              <a:rPr sz="1019" b="1" i="0">
                <a:solidFill>
                  <a:srgbClr val="1A1A1A"/>
                </a:solidFill>
                <a:latin typeface="Microsoft YaHei"/>
              </a:rPr>
              <a:t>风险演化的空间编码</a:t>
            </a:r>
            <a:r>
              <a:rPr sz="1019" b="0" i="0">
                <a:solidFill>
                  <a:srgbClr val="1A1A1A"/>
                </a:solidFill>
                <a:latin typeface="Microsoft YaHei"/>
              </a:rPr>
              <a:t>——将「动态」分解为</a:t>
            </a:r>
            <a:r>
              <a:rPr sz="1019" b="1" i="0">
                <a:solidFill>
                  <a:srgbClr val="1A1A1A"/>
                </a:solidFill>
                <a:latin typeface="Microsoft YaHei"/>
              </a:rPr>
              <a:t>风险量级空间映射</a:t>
            </a:r>
            <a:r>
              <a:rPr sz="1019" b="0" i="0">
                <a:solidFill>
                  <a:srgbClr val="1A1A1A"/>
                </a:solidFill>
                <a:latin typeface="Microsoft YaHei"/>
              </a:rPr>
              <a:t>（图形几何是否随 BTN 缩放）与</a:t>
            </a:r>
            <a:r>
              <a:rPr sz="1019" b="1" i="0">
                <a:solidFill>
                  <a:srgbClr val="1A1A1A"/>
                </a:solidFill>
                <a:latin typeface="Microsoft YaHei"/>
              </a:rPr>
              <a:t>运动趋势空间映射</a:t>
            </a:r>
            <a:r>
              <a:rPr sz="1019" b="0" i="0">
                <a:solidFill>
                  <a:srgbClr val="1A1A1A"/>
                </a:solidFill>
                <a:latin typeface="Microsoft YaHei"/>
              </a:rPr>
              <a:t>（是否呈现预测轨迹与冲突点）两个正交维度后，各维度的作用路径为何？二者是否存在协同效应？</a:t>
            </a:r>
            <a:r>
              <a:rPr sz="940" b="0" i="0">
                <a:solidFill>
                  <a:srgbClr val="8C8C8C"/>
                </a:solidFill>
                <a:latin typeface="Microsoft YaHei"/>
              </a:rPr>
              <a:t>→ G7</a:t>
            </a:r>
          </a:p>
        </p:txBody>
      </p:sp>
      <p:sp>
        <p:nvSpPr>
          <p:cNvPr id="24" name="TextBox 23"/>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研究目标</a:t>
            </a:r>
            <a:r>
              <a:rPr sz="1580" b="1" i="0">
                <a:solidFill>
                  <a:srgbClr val="4472C4"/>
                </a:solidFill>
                <a:latin typeface="Microsoft YaHei"/>
              </a:rPr>
              <a:t>总目标、四项分目标与四类因变量构念</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总目标：</a:t>
            </a:r>
            <a:r>
              <a:rPr sz="1090" b="0" i="0">
                <a:solidFill>
                  <a:srgbClr val="2F528F"/>
                </a:solidFill>
                <a:latin typeface="Microsoft YaHei"/>
              </a:rPr>
              <a:t>以驾驶员</a:t>
            </a:r>
            <a:r>
              <a:rPr sz="1090" b="1" i="0">
                <a:solidFill>
                  <a:srgbClr val="2F528F"/>
                </a:solidFill>
                <a:latin typeface="Microsoft YaHei"/>
              </a:rPr>
              <a:t>情境意识模型</a:t>
            </a:r>
            <a:r>
              <a:rPr sz="1090" b="0" i="0">
                <a:solidFill>
                  <a:srgbClr val="2F528F"/>
                </a:solidFill>
                <a:latin typeface="Microsoft YaHei"/>
              </a:rPr>
              <a:t>与</a:t>
            </a:r>
            <a:r>
              <a:rPr sz="1090" b="1" i="0">
                <a:solidFill>
                  <a:srgbClr val="2F528F"/>
                </a:solidFill>
                <a:latin typeface="Microsoft YaHei"/>
              </a:rPr>
              <a:t>注意加工阶段理论</a:t>
            </a:r>
            <a:r>
              <a:rPr sz="1090" b="0" i="0">
                <a:solidFill>
                  <a:srgbClr val="2F528F"/>
                </a:solidFill>
                <a:latin typeface="Microsoft YaHei"/>
              </a:rPr>
              <a:t>为理论基础，探索情境特异的 AR-HUD 行人碰撞预警</a:t>
            </a:r>
            <a:r>
              <a:rPr sz="1090" b="1" i="0">
                <a:solidFill>
                  <a:srgbClr val="2F528F"/>
                </a:solidFill>
                <a:latin typeface="Microsoft YaHei"/>
              </a:rPr>
              <a:t>时空参数</a:t>
            </a:r>
            <a:r>
              <a:rPr sz="1090" b="0" i="0">
                <a:solidFill>
                  <a:srgbClr val="2F528F"/>
                </a:solidFill>
                <a:latin typeface="Microsoft YaHei"/>
              </a:rPr>
              <a:t>与驾驶员</a:t>
            </a:r>
            <a:r>
              <a:rPr sz="1090" b="1" i="0">
                <a:solidFill>
                  <a:srgbClr val="2F528F"/>
                </a:solidFill>
                <a:latin typeface="Microsoft YaHei"/>
              </a:rPr>
              <a:t>安全绩效、认知负荷、情境意识及用户体验</a:t>
            </a:r>
            <a:r>
              <a:rPr sz="1090" b="0" i="0">
                <a:solidFill>
                  <a:srgbClr val="2F528F"/>
                </a:solidFill>
                <a:latin typeface="Microsoft YaHei"/>
              </a:rPr>
              <a:t>之间的关系，建立以自发察觉时刻为零点的参数化基准，</a:t>
            </a:r>
            <a:r>
              <a:rPr sz="1090" b="1" i="0">
                <a:solidFill>
                  <a:srgbClr val="2F528F"/>
                </a:solidFill>
                <a:latin typeface="Microsoft YaHei"/>
              </a:rPr>
              <a:t>输出兼顾安全阈限与用户心理需求的 AR-HUD 行人预警时空参数设计标准</a:t>
            </a:r>
            <a:r>
              <a:rPr sz="1090" b="0" i="0">
                <a:solidFill>
                  <a:srgbClr val="2F528F"/>
                </a:solidFill>
                <a:latin typeface="Microsoft YaHei"/>
              </a:rPr>
              <a:t>。</a:t>
            </a:r>
          </a:p>
        </p:txBody>
      </p:sp>
      <p:sp>
        <p:nvSpPr>
          <p:cNvPr id="9" name="Rounded Rectangle 8"/>
          <p:cNvSpPr/>
          <p:nvPr/>
        </p:nvSpPr>
        <p:spPr>
          <a:xfrm>
            <a:off x="438150" y="1551384"/>
            <a:ext cx="5572125" cy="4203501"/>
          </a:xfrm>
          <a:prstGeom prst="roundRect">
            <a:avLst>
              <a:gd name="adj" fmla="val 1586"/>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81025" y="1922859"/>
            <a:ext cx="528637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1025" y="1675209"/>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3E7D3E"/>
                </a:solidFill>
                <a:latin typeface="Microsoft YaHei"/>
              </a:rPr>
              <a:t>四项分目标（逐层收敛，与 RQ 一一对应）</a:t>
            </a:r>
          </a:p>
        </p:txBody>
      </p:sp>
      <p:sp>
        <p:nvSpPr>
          <p:cNvPr id="12" name="TextBox 11"/>
          <p:cNvSpPr txBox="1"/>
          <p:nvPr/>
        </p:nvSpPr>
        <p:spPr>
          <a:xfrm>
            <a:off x="581025" y="2008584"/>
            <a:ext cx="5324475" cy="460176"/>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O1 基准标定。</a:t>
            </a:r>
            <a:r>
              <a:rPr sz="1019" b="0" i="0">
                <a:solidFill>
                  <a:srgbClr val="1A1A1A"/>
                </a:solidFill>
                <a:latin typeface="Microsoft YaHei"/>
              </a:rPr>
              <a:t>探索无预警辅助条件下驾驶员自发风险察觉的时间特征及其情境调节，</a:t>
            </a:r>
            <a:r>
              <a:rPr sz="1019" b="1" i="0">
                <a:solidFill>
                  <a:srgbClr val="1A1A1A"/>
                </a:solidFill>
                <a:latin typeface="Microsoft YaHei"/>
              </a:rPr>
              <a:t>输出</a:t>
            </a:r>
            <a:r>
              <a:rPr sz="1019" b="0" i="0">
                <a:solidFill>
                  <a:srgbClr val="1A1A1A"/>
                </a:solidFill>
                <a:latin typeface="Microsoft YaHei"/>
              </a:rPr>
              <a:t>以自发察觉时刻为零点的参数化基准、感知反应时分位数分布与运动学下界。</a:t>
            </a:r>
            <a:r>
              <a:rPr sz="940" b="0" i="0">
                <a:solidFill>
                  <a:srgbClr val="8C8C8C"/>
                </a:solidFill>
                <a:latin typeface="Microsoft YaHei"/>
              </a:rPr>
              <a:t>→ RQ1</a:t>
            </a:r>
          </a:p>
        </p:txBody>
      </p:sp>
      <p:sp>
        <p:nvSpPr>
          <p:cNvPr id="13" name="TextBox 12"/>
          <p:cNvSpPr txBox="1"/>
          <p:nvPr/>
        </p:nvSpPr>
        <p:spPr>
          <a:xfrm>
            <a:off x="581025" y="2459235"/>
            <a:ext cx="5324475" cy="675084"/>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O2 时间参数标定。</a:t>
            </a:r>
            <a:r>
              <a:rPr sz="1019" b="0" i="0">
                <a:solidFill>
                  <a:srgbClr val="1A1A1A"/>
                </a:solidFill>
                <a:latin typeface="Microsoft YaHei"/>
              </a:rPr>
              <a:t>在预警时刻三重约束模型下，探索相对提前量、触发准则类型、持续与撤销策略、分层级间间隔与系统可靠性对四类因变量的影响机制与作用边界，</a:t>
            </a:r>
            <a:r>
              <a:rPr sz="1019" b="1" i="0">
                <a:solidFill>
                  <a:srgbClr val="1A1A1A"/>
                </a:solidFill>
                <a:latin typeface="Microsoft YaHei"/>
              </a:rPr>
              <a:t>输出</a:t>
            </a:r>
            <a:r>
              <a:rPr sz="1019" b="0" i="0">
                <a:solidFill>
                  <a:srgbClr val="1A1A1A"/>
                </a:solidFill>
                <a:latin typeface="Microsoft YaHei"/>
              </a:rPr>
              <a:t>各时间参数的适宜取值区间及其运动学表达式。</a:t>
            </a:r>
            <a:r>
              <a:rPr sz="940" b="0" i="0">
                <a:solidFill>
                  <a:srgbClr val="8C8C8C"/>
                </a:solidFill>
                <a:latin typeface="Microsoft YaHei"/>
              </a:rPr>
              <a:t>→ RQ2</a:t>
            </a:r>
          </a:p>
        </p:txBody>
      </p:sp>
      <p:sp>
        <p:nvSpPr>
          <p:cNvPr id="14" name="TextBox 13"/>
          <p:cNvSpPr txBox="1"/>
          <p:nvPr/>
        </p:nvSpPr>
        <p:spPr>
          <a:xfrm>
            <a:off x="581025" y="3124795"/>
            <a:ext cx="5324475" cy="675084"/>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O3 空间参数标定。</a:t>
            </a:r>
            <a:r>
              <a:rPr sz="1019" b="0" i="0">
                <a:solidFill>
                  <a:srgbClr val="1A1A1A"/>
                </a:solidFill>
                <a:latin typeface="Microsoft YaHei"/>
              </a:rPr>
              <a:t>探索空间参照系与风险动态映射对危险定位效率、注意资源分配及情境意识三阶段的作用路径，</a:t>
            </a:r>
            <a:r>
              <a:rPr sz="1019" b="1" i="0">
                <a:solidFill>
                  <a:srgbClr val="1A1A1A"/>
                </a:solidFill>
                <a:latin typeface="Microsoft YaHei"/>
              </a:rPr>
              <a:t>输出</a:t>
            </a:r>
            <a:r>
              <a:rPr sz="1019" b="0" i="0">
                <a:solidFill>
                  <a:srgbClr val="1A1A1A"/>
                </a:solidFill>
                <a:latin typeface="Microsoft YaHei"/>
              </a:rPr>
              <a:t>锁定策略推荐序与动态编码规则，并</a:t>
            </a:r>
            <a:r>
              <a:rPr sz="1019" b="1" i="0">
                <a:solidFill>
                  <a:srgbClr val="1A1A1A"/>
                </a:solidFill>
                <a:latin typeface="Microsoft YaHei"/>
              </a:rPr>
              <a:t>分离位置增益与共形增益</a:t>
            </a:r>
            <a:r>
              <a:rPr sz="1019" b="0" i="0">
                <a:solidFill>
                  <a:srgbClr val="1A1A1A"/>
                </a:solidFill>
                <a:latin typeface="Microsoft YaHei"/>
              </a:rPr>
              <a:t>、判定推荐序</a:t>
            </a:r>
            <a:r>
              <a:rPr sz="1019" b="1" i="0">
                <a:solidFill>
                  <a:srgbClr val="1A1A1A"/>
                </a:solidFill>
                <a:latin typeface="Microsoft YaHei"/>
              </a:rPr>
              <a:t>可否跨负荷迁移</a:t>
            </a:r>
            <a:r>
              <a:rPr sz="1019" b="0" i="0">
                <a:solidFill>
                  <a:srgbClr val="1A1A1A"/>
                </a:solidFill>
                <a:latin typeface="Microsoft YaHei"/>
              </a:rPr>
              <a:t>。</a:t>
            </a:r>
            <a:r>
              <a:rPr sz="940" b="0" i="0">
                <a:solidFill>
                  <a:srgbClr val="8C8C8C"/>
                </a:solidFill>
                <a:latin typeface="Microsoft YaHei"/>
              </a:rPr>
              <a:t>→ RQ3</a:t>
            </a:r>
          </a:p>
        </p:txBody>
      </p:sp>
      <p:sp>
        <p:nvSpPr>
          <p:cNvPr id="15" name="TextBox 14"/>
          <p:cNvSpPr txBox="1"/>
          <p:nvPr/>
        </p:nvSpPr>
        <p:spPr>
          <a:xfrm>
            <a:off x="581025" y="3790354"/>
            <a:ext cx="5324475" cy="673298"/>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O4 关系模型与标准整合。</a:t>
            </a:r>
            <a:r>
              <a:rPr sz="1019" b="0" i="0">
                <a:solidFill>
                  <a:srgbClr val="1A1A1A"/>
                </a:solidFill>
                <a:latin typeface="Microsoft YaHei"/>
              </a:rPr>
              <a:t>建立「时空参数 → 情境意识 → 安全绩效与用户体验」的关系模型，</a:t>
            </a:r>
            <a:r>
              <a:rPr sz="1019" b="1" i="0">
                <a:solidFill>
                  <a:srgbClr val="1A1A1A"/>
                </a:solidFill>
                <a:latin typeface="Microsoft YaHei"/>
              </a:rPr>
              <a:t>输出</a:t>
            </a:r>
            <a:r>
              <a:rPr sz="1019" b="0" i="0">
                <a:solidFill>
                  <a:srgbClr val="1A1A1A"/>
                </a:solidFill>
                <a:latin typeface="Microsoft YaHei"/>
              </a:rPr>
              <a:t>可跨行车速度迁移、与量产显示视场及自动紧急制动时序对齐的设计标准，并明确其适用边界。</a:t>
            </a:r>
          </a:p>
        </p:txBody>
      </p:sp>
      <p:sp>
        <p:nvSpPr>
          <p:cNvPr id="16" name="Rounded Rectangle 15"/>
          <p:cNvSpPr/>
          <p:nvPr/>
        </p:nvSpPr>
        <p:spPr>
          <a:xfrm>
            <a:off x="6181725" y="1551384"/>
            <a:ext cx="5572125" cy="4203501"/>
          </a:xfrm>
          <a:prstGeom prst="roundRect">
            <a:avLst>
              <a:gd name="adj" fmla="val 1586"/>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24600" y="1922859"/>
            <a:ext cx="528637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675209"/>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四类因变量构念及其操作化</a:t>
            </a:r>
          </a:p>
        </p:txBody>
      </p:sp>
      <p:graphicFrame>
        <p:nvGraphicFramePr>
          <p:cNvPr id="19" name="Table 18"/>
          <p:cNvGraphicFramePr>
            <a:graphicFrameLocks noGrp="1"/>
          </p:cNvGraphicFramePr>
          <p:nvPr/>
        </p:nvGraphicFramePr>
        <p:xfrm>
          <a:off x="6324600" y="2008584"/>
          <a:ext cx="5286375" cy="2558353"/>
        </p:xfrm>
        <a:graphic>
          <a:graphicData uri="http://schemas.openxmlformats.org/drawingml/2006/table">
            <a:tbl>
              <a:tblPr>
                <a:tableStyleId>{5C22544A-7EE6-4342-B048-85BDC9FD1C3A}</a:tableStyleId>
              </a:tblPr>
              <a:tblGrid>
                <a:gridCol w="1057275"/>
                <a:gridCol w="4229100"/>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构念</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测量指标</a:t>
                      </a:r>
                    </a:p>
                  </a:txBody>
                  <a:tcPr marL="66675" marR="66675" marT="52387" marB="52387" anchor="t">
                    <a:solidFill>
                      <a:srgbClr val="4472C4"/>
                    </a:solidFill>
                  </a:tcPr>
                </a:tc>
              </a:tr>
              <a:tr h="612874">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安全绩效</a:t>
                      </a:r>
                    </a:p>
                    <a:p>
                      <a:pPr algn="l">
                        <a:lnSpc>
                          <a:spcPct val="155000"/>
                        </a:lnSpc>
                        <a:spcBef>
                          <a:spcPts val="0"/>
                        </a:spcBef>
                        <a:spcAft>
                          <a:spcPts val="0"/>
                        </a:spcAft>
                      </a:pPr>
                      <a:r>
                        <a:rPr sz="890" b="0" i="0">
                          <a:solidFill>
                            <a:srgbClr val="1A1A1A"/>
                          </a:solidFill>
                          <a:latin typeface="Microsoft YaHei"/>
                        </a:rPr>
                        <a:t>safety performance</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最小碰撞余量距离（TTMD）、碰撞发生率、峰值减速度、制动反应时（BRT）、方向盘抖动率</a:t>
                      </a:r>
                    </a:p>
                  </a:txBody>
                  <a:tcPr marL="66675" marR="66675" marT="42862" marB="42862" anchor="t">
                    <a:solidFill>
                      <a:srgbClr val="FAFBFD"/>
                    </a:solidFill>
                  </a:tcPr>
                </a:tc>
              </a:tr>
              <a:tr h="617636">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认知负荷</a:t>
                      </a:r>
                    </a:p>
                    <a:p>
                      <a:pPr algn="l">
                        <a:lnSpc>
                          <a:spcPct val="155000"/>
                        </a:lnSpc>
                        <a:spcBef>
                          <a:spcPts val="0"/>
                        </a:spcBef>
                        <a:spcAft>
                          <a:spcPts val="0"/>
                        </a:spcAft>
                      </a:pPr>
                      <a:r>
                        <a:rPr sz="890" b="0" i="0">
                          <a:solidFill>
                            <a:srgbClr val="1A1A1A"/>
                          </a:solidFill>
                          <a:latin typeface="Microsoft YaHei"/>
                        </a:rPr>
                        <a:t>cognitive workload</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NASA-TLX 加权总分、瞳孔直径变化率、注视转移熵、次任务绩效衰减</a:t>
                      </a:r>
                    </a:p>
                  </a:txBody>
                  <a:tcPr marL="66675" marR="66675" marT="42862" marB="42862" anchor="t">
                    <a:noFill/>
                  </a:tcPr>
                </a:tc>
              </a:tr>
              <a:tr h="617636">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情境意识</a:t>
                      </a:r>
                    </a:p>
                    <a:p>
                      <a:pPr algn="l">
                        <a:lnSpc>
                          <a:spcPct val="155000"/>
                        </a:lnSpc>
                        <a:spcBef>
                          <a:spcPts val="0"/>
                        </a:spcBef>
                        <a:spcAft>
                          <a:spcPts val="0"/>
                        </a:spcAft>
                      </a:pPr>
                      <a:r>
                        <a:rPr sz="890" b="0" i="0">
                          <a:solidFill>
                            <a:srgbClr val="1A1A1A"/>
                          </a:solidFill>
                          <a:latin typeface="Microsoft YaHei"/>
                        </a:rPr>
                        <a:t>situation awareness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冻结探测法（SAGAT）按</a:t>
                      </a:r>
                      <a:r>
                        <a:rPr sz="890" b="1" i="0">
                          <a:solidFill>
                            <a:srgbClr val="1A1A1A"/>
                          </a:solidFill>
                          <a:latin typeface="Microsoft YaHei"/>
                        </a:rPr>
                        <a:t>感知／理解／预测</a:t>
                      </a:r>
                      <a:r>
                        <a:rPr sz="890" b="0" i="0">
                          <a:solidFill>
                            <a:srgbClr val="1A1A1A"/>
                          </a:solidFill>
                          <a:latin typeface="Microsoft YaHei"/>
                        </a:rPr>
                        <a:t>三阶段分别计分；</a:t>
                      </a:r>
                      <a:r>
                        <a:rPr sz="890" b="1" i="0">
                          <a:solidFill>
                            <a:srgbClr val="1A1A1A"/>
                          </a:solidFill>
                          <a:latin typeface="Microsoft YaHei"/>
                        </a:rPr>
                        <a:t>危险漏检率</a:t>
                      </a:r>
                      <a:r>
                        <a:rPr sz="890" b="0" i="0">
                          <a:solidFill>
                            <a:srgbClr val="1A1A1A"/>
                          </a:solidFill>
                          <a:latin typeface="Microsoft YaHei"/>
                        </a:rPr>
                        <a:t>（并列主要因变量）、首次注视时间（TTFF）、预期性注视比例</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用户体验</a:t>
                      </a:r>
                    </a:p>
                    <a:p>
                      <a:pPr algn="l">
                        <a:lnSpc>
                          <a:spcPct val="155000"/>
                        </a:lnSpc>
                        <a:spcBef>
                          <a:spcPts val="0"/>
                        </a:spcBef>
                        <a:spcAft>
                          <a:spcPts val="0"/>
                        </a:spcAft>
                      </a:pPr>
                      <a:r>
                        <a:rPr sz="890" b="0" i="0">
                          <a:solidFill>
                            <a:srgbClr val="1A1A1A"/>
                          </a:solidFill>
                          <a:latin typeface="Microsoft YaHei"/>
                        </a:rPr>
                        <a:t>user experience</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信任量表、可接受度、扰烦度评分、主观偏好序、晕动与不适自评</a:t>
                      </a:r>
                    </a:p>
                  </a:txBody>
                  <a:tcPr marL="66675" marR="66675" marT="42862" marB="42862" anchor="t">
                    <a:noFill/>
                  </a:tcPr>
                </a:tc>
              </a:tr>
            </a:tbl>
          </a:graphicData>
        </a:graphic>
      </p:graphicFrame>
      <p:sp>
        <p:nvSpPr>
          <p:cNvPr id="20" name="TextBox 19"/>
          <p:cNvSpPr txBox="1"/>
          <p:nvPr/>
        </p:nvSpPr>
        <p:spPr>
          <a:xfrm>
            <a:off x="6324600" y="4628852"/>
            <a:ext cx="5324475" cy="673298"/>
          </a:xfrm>
          <a:prstGeom prst="rect">
            <a:avLst/>
          </a:prstGeom>
          <a:noFill/>
        </p:spPr>
        <p:txBody>
          <a:bodyPr wrap="square" lIns="0" rIns="0" tIns="0" bIns="0" anchor="t">
            <a:normAutofit/>
          </a:bodyPr>
          <a:lstStyle/>
          <a:p>
            <a:pPr algn="l">
              <a:lnSpc>
                <a:spcPct val="166000"/>
              </a:lnSpc>
              <a:spcBef>
                <a:spcPts val="0"/>
              </a:spcBef>
              <a:spcAft>
                <a:spcPts val="0"/>
              </a:spcAft>
            </a:pPr>
            <a:r>
              <a:rPr sz="1019" b="1" i="0">
                <a:solidFill>
                  <a:srgbClr val="1A1A1A"/>
                </a:solidFill>
                <a:latin typeface="Microsoft YaHei"/>
              </a:rPr>
              <a:t>构念分列的理由：</a:t>
            </a:r>
            <a:r>
              <a:rPr sz="1019" b="0" i="0">
                <a:solidFill>
                  <a:srgbClr val="1A1A1A"/>
                </a:solidFill>
                <a:latin typeface="Microsoft YaHei"/>
              </a:rPr>
              <a:t>情境意识不并入认知负荷，因二者在既有证据中</a:t>
            </a:r>
            <a:r>
              <a:rPr sz="1019" b="1" i="0">
                <a:solidFill>
                  <a:srgbClr val="1A1A1A"/>
                </a:solidFill>
                <a:latin typeface="Microsoft YaHei"/>
              </a:rPr>
              <a:t>可解离</a:t>
            </a:r>
            <a:r>
              <a:rPr sz="1019" b="0" i="0">
                <a:solidFill>
                  <a:srgbClr val="1A1A1A"/>
                </a:solidFill>
                <a:latin typeface="Microsoft YaHei"/>
              </a:rPr>
              <a:t>——存在负荷下降而漏检率上升的条件（注意隧道），若合并计量将掩盖该权衡。</a:t>
            </a:r>
            <a:r>
              <a:rPr sz="1019" b="1" i="0">
                <a:solidFill>
                  <a:srgbClr val="1A1A1A"/>
                </a:solidFill>
                <a:latin typeface="Microsoft YaHei"/>
              </a:rPr>
              <a:t>故漏检率提升为与安全绩效并列的主要因变量。</a:t>
            </a:r>
          </a:p>
        </p:txBody>
      </p:sp>
      <p:sp>
        <p:nvSpPr>
          <p:cNvPr id="21" name="Rectangle 20"/>
          <p:cNvSpPr/>
          <p:nvPr/>
        </p:nvSpPr>
        <p:spPr>
          <a:xfrm>
            <a:off x="438150" y="5859660"/>
            <a:ext cx="11315700" cy="598289"/>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38150" y="5859660"/>
            <a:ext cx="38100" cy="598289"/>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1975" y="5945385"/>
            <a:ext cx="11106150" cy="455414"/>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目标间的依赖关系：</a:t>
            </a:r>
            <a:r>
              <a:rPr sz="990" b="0" i="0">
                <a:solidFill>
                  <a:srgbClr val="6B5200"/>
                </a:solidFill>
                <a:latin typeface="Microsoft YaHei"/>
              </a:rPr>
              <a:t>O1 的产出（</a:t>
            </a:r>
            <a:r>
              <a:rPr sz="990" b="0" i="1">
                <a:solidFill>
                  <a:srgbClr val="6B5200"/>
                </a:solidFill>
                <a:latin typeface="Microsoft YaHei"/>
              </a:rPr>
              <a:t>t</a:t>
            </a:r>
            <a:r>
              <a:rPr sz="690" b="0" i="1" baseline="-25000">
                <a:solidFill>
                  <a:srgbClr val="6B5200"/>
                </a:solidFill>
                <a:latin typeface="Microsoft YaHei"/>
              </a:rPr>
              <a:t>0</a:t>
            </a:r>
            <a:r>
              <a:rPr sz="990" b="0" i="0">
                <a:solidFill>
                  <a:srgbClr val="6B5200"/>
                </a:solidFill>
                <a:latin typeface="Microsoft YaHei"/>
              </a:rPr>
              <a:t> 分布、PRT 分位数、实测舒适减速度、方差成分）为 O2 的自变量换算基准与样本量估计输入；O2 的入选时间参数组合为 O3 的固定条件；O4 以 O1–O3 的实测参数为输入，</a:t>
            </a:r>
            <a:r>
              <a:rPr sz="990" b="1" i="0">
                <a:solidFill>
                  <a:srgbClr val="8A6A00"/>
                </a:solidFill>
                <a:latin typeface="Microsoft YaHei"/>
              </a:rPr>
              <a:t>不引入新的实验操纵</a:t>
            </a:r>
            <a:r>
              <a:rPr sz="990" b="0" i="0">
                <a:solidFill>
                  <a:srgbClr val="6B5200"/>
                </a:solidFill>
                <a:latin typeface="Microsoft YaHei"/>
              </a:rPr>
              <a:t>。四项目标的输出物均以运动学量而非固定秒数表达，以保证跨行车速度与跨车型的可迁移性。</a:t>
            </a:r>
          </a:p>
        </p:txBody>
      </p:sp>
      <p:sp>
        <p:nvSpPr>
          <p:cNvPr id="24" name="TextBox 23"/>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研究问题</a:t>
            </a:r>
            <a:r>
              <a:rPr sz="1580" b="1" i="0">
                <a:solidFill>
                  <a:srgbClr val="4472C4"/>
                </a:solidFill>
                <a:latin typeface="Microsoft YaHei"/>
              </a:rPr>
              <a:t>研究框架：三个研究问题与五个实验</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pic>
        <p:nvPicPr>
          <p:cNvPr id="6" name="Picture 5" descr="research_framework_3col.png"/>
          <p:cNvPicPr>
            <a:picLocks noChangeAspect="1"/>
          </p:cNvPicPr>
          <p:nvPr/>
        </p:nvPicPr>
        <p:blipFill>
          <a:blip r:embed="rId2"/>
          <a:stretch>
            <a:fillRect/>
          </a:stretch>
        </p:blipFill>
        <p:spPr>
          <a:xfrm>
            <a:off x="1746200" y="762000"/>
            <a:ext cx="8699599" cy="5348882"/>
          </a:xfrm>
          <a:prstGeom prst="rect">
            <a:avLst/>
          </a:prstGeom>
        </p:spPr>
      </p:pic>
      <p:sp>
        <p:nvSpPr>
          <p:cNvPr id="7" name="TextBox 6"/>
          <p:cNvSpPr txBox="1"/>
          <p:nvPr/>
        </p:nvSpPr>
        <p:spPr>
          <a:xfrm>
            <a:off x="438150" y="6282332"/>
            <a:ext cx="11353800" cy="204192"/>
          </a:xfrm>
          <a:prstGeom prst="rect">
            <a:avLst/>
          </a:prstGeom>
          <a:noFill/>
        </p:spPr>
        <p:txBody>
          <a:bodyPr wrap="square" lIns="0" rIns="0" tIns="0" bIns="0" anchor="t">
            <a:normAutofit/>
          </a:bodyPr>
          <a:lstStyle/>
          <a:p>
            <a:pPr algn="ctr">
              <a:lnSpc>
                <a:spcPct val="150000"/>
              </a:lnSpc>
              <a:spcBef>
                <a:spcPts val="0"/>
              </a:spcBef>
              <a:spcAft>
                <a:spcPts val="0"/>
              </a:spcAft>
            </a:pPr>
            <a:r>
              <a:rPr sz="919" b="0" i="0">
                <a:solidFill>
                  <a:srgbClr val="8C8C8C"/>
                </a:solidFill>
                <a:latin typeface="Microsoft YaHei"/>
              </a:rPr>
              <a:t>三个研究问题（左）经模拟驾驶实验范式（中）分解为一个标定实验与四个主实验（右），箭头表示参数的逐层固定关系</a:t>
            </a:r>
          </a:p>
        </p:txBody>
      </p:sp>
      <p:sp>
        <p:nvSpPr>
          <p:cNvPr id="8" name="TextBox 7"/>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研究问题</a:t>
            </a:r>
            <a:r>
              <a:rPr sz="1580" b="1" i="0">
                <a:solidFill>
                  <a:srgbClr val="4472C4"/>
                </a:solidFill>
                <a:latin typeface="Microsoft YaHei"/>
              </a:rPr>
              <a:t>五个实验的递进逻辑与一条硬约束</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五个实验</a:t>
            </a:r>
            <a:r>
              <a:rPr sz="1090" b="1" i="0">
                <a:solidFill>
                  <a:srgbClr val="2F528F"/>
                </a:solidFill>
                <a:latin typeface="Microsoft YaHei"/>
              </a:rPr>
              <a:t>递进而非并列</a:t>
            </a:r>
            <a:r>
              <a:rPr sz="1090" b="0" i="0">
                <a:solidFill>
                  <a:srgbClr val="2F528F"/>
                </a:solidFill>
                <a:latin typeface="Microsoft YaHei"/>
              </a:rPr>
              <a:t>：每一个下游实验都把上游实验的产出作为</a:t>
            </a:r>
            <a:r>
              <a:rPr sz="1090" b="1" i="0">
                <a:solidFill>
                  <a:srgbClr val="2F528F"/>
                </a:solidFill>
                <a:latin typeface="Microsoft YaHei"/>
              </a:rPr>
              <a:t>固定参数</a:t>
            </a:r>
            <a:r>
              <a:rPr sz="1090" b="0" i="0">
                <a:solidFill>
                  <a:srgbClr val="2F528F"/>
                </a:solidFill>
                <a:latin typeface="Microsoft YaHei"/>
              </a:rPr>
              <a:t>，以此约束同时变化的自变量数目。若并列实施，实验 4 须自行选定一套时间参数，而该选择将缺乏实证依据。</a:t>
            </a:r>
          </a:p>
        </p:txBody>
      </p:sp>
      <p:sp>
        <p:nvSpPr>
          <p:cNvPr id="9" name="Rounded Rectangle 8"/>
          <p:cNvSpPr/>
          <p:nvPr/>
        </p:nvSpPr>
        <p:spPr>
          <a:xfrm>
            <a:off x="438150" y="1551384"/>
            <a:ext cx="11315700" cy="2729210"/>
          </a:xfrm>
          <a:prstGeom prst="roundRect">
            <a:avLst>
              <a:gd name="adj" fmla="val 2443"/>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81025" y="1922859"/>
            <a:ext cx="11029950"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1025" y="1675209"/>
            <a:ext cx="11068050"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3E7D3E"/>
                </a:solidFill>
                <a:latin typeface="Microsoft YaHei"/>
              </a:rPr>
              <a:t>实验 1 的五项产出，分别被下游四个实验实际使用</a:t>
            </a:r>
          </a:p>
        </p:txBody>
      </p:sp>
      <p:graphicFrame>
        <p:nvGraphicFramePr>
          <p:cNvPr id="12" name="Table 11"/>
          <p:cNvGraphicFramePr>
            <a:graphicFrameLocks noGrp="1"/>
          </p:cNvGraphicFramePr>
          <p:nvPr/>
        </p:nvGraphicFramePr>
        <p:xfrm>
          <a:off x="581025" y="2008584"/>
          <a:ext cx="11029949" cy="1646928"/>
        </p:xfrm>
        <a:graphic>
          <a:graphicData uri="http://schemas.openxmlformats.org/drawingml/2006/table">
            <a:tbl>
              <a:tblPr>
                <a:tableStyleId>{5C22544A-7EE6-4342-B048-85BDC9FD1C3A}</a:tableStyleId>
              </a:tblPr>
              <a:tblGrid>
                <a:gridCol w="2867769"/>
                <a:gridCol w="6397525"/>
                <a:gridCol w="1764655"/>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产出</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下游用途</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使用者</a:t>
                      </a:r>
                    </a:p>
                  </a:txBody>
                  <a:tcPr marL="66675" marR="66675" marT="52387" marB="52387" anchor="t">
                    <a:solidFill>
                      <a:srgbClr val="4472C4"/>
                    </a:solidFill>
                  </a:tcPr>
                </a:tc>
              </a:tr>
              <a:tr h="274141">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t</a:t>
                      </a:r>
                      <a:r>
                        <a:rPr sz="620" b="0" i="1" baseline="-25000">
                          <a:solidFill>
                            <a:srgbClr val="1A1A1A"/>
                          </a:solidFill>
                          <a:latin typeface="Microsoft YaHei"/>
                        </a:rPr>
                        <a:t>0</a:t>
                      </a:r>
                      <a:r>
                        <a:rPr sz="890" b="0" i="0">
                          <a:solidFill>
                            <a:srgbClr val="1A1A1A"/>
                          </a:solidFill>
                          <a:latin typeface="Microsoft YaHei"/>
                        </a:rPr>
                        <a:t> 的分布（中位数、p5、p95、被试内 SD）</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实验 2 自变量 </a:t>
                      </a:r>
                      <a:r>
                        <a:rPr sz="890" b="0" i="1">
                          <a:solidFill>
                            <a:srgbClr val="1A1A1A"/>
                          </a:solidFill>
                          <a:latin typeface="Microsoft YaHei"/>
                        </a:rPr>
                        <a:t>Δt</a:t>
                      </a:r>
                      <a:r>
                        <a:rPr sz="890" b="0" i="0">
                          <a:solidFill>
                            <a:srgbClr val="1A1A1A"/>
                          </a:solidFill>
                          <a:latin typeface="Microsoft YaHei"/>
                        </a:rPr>
                        <a:t> 的</a:t>
                      </a:r>
                      <a:r>
                        <a:rPr sz="890" b="1" i="0">
                          <a:solidFill>
                            <a:srgbClr val="1A1A1A"/>
                          </a:solidFill>
                          <a:latin typeface="Microsoft YaHei"/>
                        </a:rPr>
                        <a:t>换算基准</a:t>
                      </a:r>
                      <a:r>
                        <a:rPr sz="890" b="0" i="0">
                          <a:solidFill>
                            <a:srgbClr val="1A1A1A"/>
                          </a:solidFill>
                          <a:latin typeface="Microsoft YaHei"/>
                        </a:rPr>
                        <a:t>；被试内 SD 决定 </a:t>
                      </a:r>
                      <a:r>
                        <a:rPr sz="890" b="0" i="1">
                          <a:solidFill>
                            <a:srgbClr val="1A1A1A"/>
                          </a:solidFill>
                          <a:latin typeface="Microsoft YaHei"/>
                        </a:rPr>
                        <a:t>Δt</a:t>
                      </a:r>
                      <a:r>
                        <a:rPr sz="890" b="0" i="0">
                          <a:solidFill>
                            <a:srgbClr val="1A1A1A"/>
                          </a:solidFill>
                          <a:latin typeface="Microsoft YaHei"/>
                        </a:rPr>
                        <a:t> 能否作为被试内变量</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a:t>
                      </a:r>
                    </a:p>
                  </a:txBody>
                  <a:tcPr marL="66675" marR="66675" marT="42862" marB="42862" anchor="t">
                    <a:solidFill>
                      <a:srgbClr val="FAFBFD"/>
                    </a:solidFill>
                  </a:tcPr>
                </a:tc>
              </a:tr>
              <a:tr h="278903">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PRT</a:t>
                      </a:r>
                      <a:r>
                        <a:rPr sz="620" b="0" i="1" baseline="-25000">
                          <a:solidFill>
                            <a:srgbClr val="1A1A1A"/>
                          </a:solidFill>
                          <a:latin typeface="Microsoft YaHei"/>
                        </a:rPr>
                        <a:t>p95</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运动学</a:t>
                      </a:r>
                      <a:r>
                        <a:rPr sz="890" b="1" i="0">
                          <a:solidFill>
                            <a:srgbClr val="1A1A1A"/>
                          </a:solidFill>
                          <a:latin typeface="Microsoft YaHei"/>
                        </a:rPr>
                        <a:t>下界</a:t>
                      </a:r>
                      <a:r>
                        <a:rPr sz="890" b="0" i="0">
                          <a:solidFill>
                            <a:srgbClr val="1A1A1A"/>
                          </a:solidFill>
                          <a:latin typeface="Microsoft YaHei"/>
                        </a:rPr>
                        <a:t>计算与可避险区校验</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2、3</a:t>
                      </a:r>
                    </a:p>
                  </a:txBody>
                  <a:tcPr marL="66675" marR="66675" marT="42862" marB="42862" anchor="t">
                    <a:noFill/>
                  </a:tcPr>
                </a:tc>
              </a:tr>
              <a:tr h="278903">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t</a:t>
                      </a:r>
                      <a:r>
                        <a:rPr sz="620" b="0" i="1" baseline="-25000">
                          <a:solidFill>
                            <a:srgbClr val="1A1A1A"/>
                          </a:solidFill>
                          <a:latin typeface="Microsoft YaHei"/>
                        </a:rPr>
                        <a:t>0</a:t>
                      </a:r>
                      <a:r>
                        <a:rPr sz="890" b="0" i="0">
                          <a:solidFill>
                            <a:srgbClr val="1A1A1A"/>
                          </a:solidFill>
                          <a:latin typeface="Microsoft YaHei"/>
                        </a:rPr>
                        <a:t> 时刻的 BTN</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BTN </a:t>
                      </a:r>
                      <a:r>
                        <a:rPr sz="890" b="1" i="0">
                          <a:solidFill>
                            <a:srgbClr val="1A1A1A"/>
                          </a:solidFill>
                          <a:latin typeface="Microsoft YaHei"/>
                        </a:rPr>
                        <a:t>触发阈值校准</a:t>
                      </a:r>
                      <a:r>
                        <a:rPr sz="890" b="0" i="0">
                          <a:solidFill>
                            <a:srgbClr val="1A1A1A"/>
                          </a:solidFill>
                          <a:latin typeface="Microsoft YaHei"/>
                        </a:rPr>
                        <a:t>，使归一化触发与自发察觉对齐</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a:t>
                      </a:r>
                    </a:p>
                  </a:txBody>
                  <a:tcPr marL="66675" marR="66675" marT="42862" marB="42862" anchor="t">
                    <a:solidFill>
                      <a:srgbClr val="FAFBFD"/>
                    </a:solidFill>
                  </a:tcPr>
                </a:tc>
              </a:tr>
              <a:tr h="278903">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实测舒适减速度 </a:t>
                      </a:r>
                      <a:r>
                        <a:rPr sz="890" b="0" i="1">
                          <a:solidFill>
                            <a:srgbClr val="1A1A1A"/>
                          </a:solidFill>
                          <a:latin typeface="Microsoft YaHei"/>
                        </a:rPr>
                        <a:t>a</a:t>
                      </a:r>
                      <a:r>
                        <a:rPr sz="620" b="0" i="1" baseline="-25000">
                          <a:solidFill>
                            <a:srgbClr val="1A1A1A"/>
                          </a:solidFill>
                          <a:latin typeface="Microsoft YaHei"/>
                        </a:rPr>
                        <a:t>comf</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全部实验的</a:t>
                      </a:r>
                      <a:r>
                        <a:rPr sz="890" b="1" i="0">
                          <a:solidFill>
                            <a:srgbClr val="1A1A1A"/>
                          </a:solidFill>
                          <a:latin typeface="Microsoft YaHei"/>
                        </a:rPr>
                        <a:t>归一化分母</a:t>
                      </a:r>
                      <a:r>
                        <a:rPr sz="890" b="0" i="0">
                          <a:solidFill>
                            <a:srgbClr val="1A1A1A"/>
                          </a:solidFill>
                          <a:latin typeface="Microsoft YaHei"/>
                        </a:rPr>
                        <a:t>；实验 5 的风险量级映射亦以此为标度</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2–5</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方差成分</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样本量估计</a:t>
                      </a:r>
                      <a:r>
                        <a:rPr sz="890" b="0" i="0">
                          <a:solidFill>
                            <a:srgbClr val="1A1A1A"/>
                          </a:solidFill>
                          <a:latin typeface="Microsoft YaHei"/>
                        </a:rPr>
                        <a:t>与混合模型的随机效应结构设定</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2–5</a:t>
                      </a:r>
                    </a:p>
                  </a:txBody>
                  <a:tcPr marL="66675" marR="66675" marT="42862" marB="42862" anchor="t">
                    <a:solidFill>
                      <a:srgbClr val="FAFBFD"/>
                    </a:solidFill>
                  </a:tcPr>
                </a:tc>
              </a:tr>
            </a:tbl>
          </a:graphicData>
        </a:graphic>
      </p:graphicFrame>
      <p:sp>
        <p:nvSpPr>
          <p:cNvPr id="13" name="TextBox 12"/>
          <p:cNvSpPr txBox="1"/>
          <p:nvPr/>
        </p:nvSpPr>
        <p:spPr>
          <a:xfrm>
            <a:off x="581025" y="3726953"/>
            <a:ext cx="11068050" cy="458390"/>
          </a:xfrm>
          <a:prstGeom prst="rect">
            <a:avLst/>
          </a:prstGeom>
          <a:noFill/>
        </p:spPr>
        <p:txBody>
          <a:bodyPr wrap="square" lIns="0" rIns="0" tIns="0" bIns="0" anchor="t">
            <a:normAutofit/>
          </a:bodyPr>
          <a:lstStyle/>
          <a:p>
            <a:pPr algn="l">
              <a:lnSpc>
                <a:spcPct val="166000"/>
              </a:lnSpc>
              <a:spcBef>
                <a:spcPts val="0"/>
              </a:spcBef>
              <a:spcAft>
                <a:spcPts val="0"/>
              </a:spcAft>
            </a:pPr>
            <a:r>
              <a:rPr sz="1019" b="1" i="0">
                <a:solidFill>
                  <a:srgbClr val="1A1A1A"/>
                </a:solidFill>
                <a:latin typeface="Microsoft YaHei"/>
              </a:rPr>
              <a:t>其后的递进：</a:t>
            </a:r>
            <a:r>
              <a:rPr sz="1019" b="0" i="0">
                <a:solidFill>
                  <a:srgbClr val="1A1A1A"/>
                </a:solidFill>
                <a:latin typeface="Microsoft YaHei"/>
              </a:rPr>
              <a:t>实验 2 建立</a:t>
            </a:r>
            <a:r>
              <a:rPr sz="1019" b="1" i="0">
                <a:solidFill>
                  <a:srgbClr val="1A1A1A"/>
                </a:solidFill>
                <a:latin typeface="Microsoft YaHei"/>
              </a:rPr>
              <a:t>单层时间基线</a:t>
            </a:r>
            <a:r>
              <a:rPr sz="1019" b="0" i="0">
                <a:solidFill>
                  <a:srgbClr val="1A1A1A"/>
                </a:solidFill>
                <a:latin typeface="Microsoft YaHei"/>
              </a:rPr>
              <a:t> → 实验 3 升级为</a:t>
            </a:r>
            <a:r>
              <a:rPr sz="1019" b="1" i="0">
                <a:solidFill>
                  <a:srgbClr val="1A1A1A"/>
                </a:solidFill>
                <a:latin typeface="Microsoft YaHei"/>
              </a:rPr>
              <a:t>分层规则</a:t>
            </a:r>
            <a:r>
              <a:rPr sz="1019" b="0" i="0">
                <a:solidFill>
                  <a:srgbClr val="1A1A1A"/>
                </a:solidFill>
                <a:latin typeface="Microsoft YaHei"/>
              </a:rPr>
              <a:t>并检验低可靠性稳健性 → 实验 4 </a:t>
            </a:r>
            <a:r>
              <a:rPr sz="1019" b="1" i="0">
                <a:solidFill>
                  <a:srgbClr val="1A1A1A"/>
                </a:solidFill>
                <a:latin typeface="Microsoft YaHei"/>
              </a:rPr>
              <a:t>固定全部时间参数</a:t>
            </a:r>
            <a:r>
              <a:rPr sz="1019" b="0" i="0">
                <a:solidFill>
                  <a:srgbClr val="1A1A1A"/>
                </a:solidFill>
                <a:latin typeface="Microsoft YaHei"/>
              </a:rPr>
              <a:t>，仅比较锁定策略 → 实验 5 </a:t>
            </a:r>
            <a:r>
              <a:rPr sz="1019" b="1" i="0">
                <a:solidFill>
                  <a:srgbClr val="1A1A1A"/>
                </a:solidFill>
                <a:latin typeface="Microsoft YaHei"/>
              </a:rPr>
              <a:t>固定时间参数与空间载体</a:t>
            </a:r>
            <a:r>
              <a:rPr sz="1019" b="0" i="0">
                <a:solidFill>
                  <a:srgbClr val="1A1A1A"/>
                </a:solidFill>
                <a:latin typeface="Microsoft YaHei"/>
              </a:rPr>
              <a:t>，仅比较风险演化动态。</a:t>
            </a:r>
          </a:p>
        </p:txBody>
      </p:sp>
      <p:sp>
        <p:nvSpPr>
          <p:cNvPr id="14" name="Rectangle 13"/>
          <p:cNvSpPr/>
          <p:nvPr/>
        </p:nvSpPr>
        <p:spPr>
          <a:xfrm>
            <a:off x="438150" y="4385369"/>
            <a:ext cx="11315700" cy="81647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8150" y="4385369"/>
            <a:ext cx="38100" cy="81647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1975" y="4471094"/>
            <a:ext cx="11106150" cy="67359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由核心理论模型强制导出的一条硬约束：实验 1／2／3 必须共用同一场景族与同一套 </a:t>
            </a:r>
            <a:r>
              <a:rPr sz="990" b="1" i="1">
                <a:solidFill>
                  <a:srgbClr val="7A1F1F"/>
                </a:solidFill>
                <a:latin typeface="Microsoft YaHei"/>
              </a:rPr>
              <a:t>t</a:t>
            </a:r>
            <a:r>
              <a:rPr sz="690" b="1" i="1" baseline="-25000">
                <a:solidFill>
                  <a:srgbClr val="7A1F1F"/>
                </a:solidFill>
                <a:latin typeface="Microsoft YaHei"/>
              </a:rPr>
              <a:t>0</a:t>
            </a:r>
            <a:r>
              <a:rPr sz="990" b="1" i="0">
                <a:solidFill>
                  <a:srgbClr val="7A1F1F"/>
                </a:solidFill>
                <a:latin typeface="Microsoft YaHei"/>
              </a:rPr>
              <a:t> 标定单元。</a:t>
            </a:r>
            <a:r>
              <a:rPr sz="990" b="0" i="0">
                <a:solidFill>
                  <a:srgbClr val="7A1F1F"/>
                </a:solidFill>
                <a:latin typeface="Microsoft YaHei"/>
              </a:rPr>
              <a:t>因为自变量是 </a:t>
            </a:r>
            <a:r>
              <a:rPr sz="990" b="0" i="1">
                <a:solidFill>
                  <a:srgbClr val="7A1F1F"/>
                </a:solidFill>
                <a:latin typeface="Microsoft YaHei"/>
              </a:rPr>
              <a:t>Δt</a:t>
            </a:r>
            <a:r>
              <a:rPr sz="990" b="0" i="1">
                <a:solidFill>
                  <a:srgbClr val="7A1F1F"/>
                </a:solidFill>
                <a:latin typeface="Microsoft YaHei"/>
              </a:rPr>
              <a:t> = </a:t>
            </a:r>
            <a:r>
              <a:rPr sz="990" b="0" i="1">
                <a:solidFill>
                  <a:srgbClr val="7A1F1F"/>
                </a:solidFill>
                <a:latin typeface="Microsoft YaHei"/>
              </a:rPr>
              <a:t>t</a:t>
            </a:r>
            <a:r>
              <a:rPr sz="690" b="0" i="1" baseline="-25000">
                <a:solidFill>
                  <a:srgbClr val="7A1F1F"/>
                </a:solidFill>
                <a:latin typeface="Microsoft YaHei"/>
              </a:rPr>
              <a:t>0</a:t>
            </a:r>
            <a:r>
              <a:rPr sz="990" b="0" i="1">
                <a:solidFill>
                  <a:srgbClr val="7A1F1F"/>
                </a:solidFill>
                <a:latin typeface="Microsoft YaHei"/>
              </a:rPr>
              <a:t> − </a:t>
            </a:r>
            <a:r>
              <a:rPr sz="990" b="0" i="1">
                <a:solidFill>
                  <a:srgbClr val="7A1F1F"/>
                </a:solidFill>
                <a:latin typeface="Microsoft YaHei"/>
              </a:rPr>
              <a:t>t</a:t>
            </a:r>
            <a:r>
              <a:rPr sz="690" b="0" i="1" baseline="-25000">
                <a:solidFill>
                  <a:srgbClr val="7A1F1F"/>
                </a:solidFill>
                <a:latin typeface="Microsoft YaHei"/>
              </a:rPr>
              <a:t>warn</a:t>
            </a:r>
            <a:r>
              <a:rPr sz="990" b="0" i="0">
                <a:solidFill>
                  <a:srgbClr val="7A1F1F"/>
                </a:solidFill>
                <a:latin typeface="Microsoft YaHei"/>
              </a:rPr>
              <a:t>，而 </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a:t>
            </a:r>
            <a:r>
              <a:rPr sz="990" b="1" i="0">
                <a:solidFill>
                  <a:srgbClr val="7A1F1F"/>
                </a:solidFill>
                <a:latin typeface="Microsoft YaHei"/>
              </a:rPr>
              <a:t>不是常数</a:t>
            </a:r>
            <a:r>
              <a:rPr sz="990" b="0" i="0">
                <a:solidFill>
                  <a:srgbClr val="7A1F1F"/>
                </a:solidFill>
                <a:latin typeface="Microsoft YaHei"/>
              </a:rPr>
              <a:t>——它随</a:t>
            </a:r>
            <a:r>
              <a:rPr sz="990" b="1" i="0">
                <a:solidFill>
                  <a:srgbClr val="7A1F1F"/>
                </a:solidFill>
                <a:latin typeface="Microsoft YaHei"/>
              </a:rPr>
              <a:t>车速</a:t>
            </a:r>
            <a:r>
              <a:rPr sz="990" b="0" i="0">
                <a:solidFill>
                  <a:srgbClr val="7A1F1F"/>
                </a:solidFill>
                <a:latin typeface="Microsoft YaHei"/>
              </a:rPr>
              <a:t>与</a:t>
            </a:r>
            <a:r>
              <a:rPr sz="990" b="1" i="0">
                <a:solidFill>
                  <a:srgbClr val="7A1F1F"/>
                </a:solidFill>
                <a:latin typeface="Microsoft YaHei"/>
              </a:rPr>
              <a:t>遮挡</a:t>
            </a:r>
            <a:r>
              <a:rPr sz="990" b="0" i="0">
                <a:solidFill>
                  <a:srgbClr val="7A1F1F"/>
                </a:solidFill>
                <a:latin typeface="Microsoft YaHei"/>
              </a:rPr>
              <a:t>系统变化（遮挡直接改变光学膨胀率 </a:t>
            </a:r>
            <a:r>
              <a:rPr sz="990" b="0" i="1">
                <a:solidFill>
                  <a:srgbClr val="7A1F1F"/>
                </a:solidFill>
                <a:latin typeface="Microsoft YaHei"/>
              </a:rPr>
              <a:t>dθ</a:t>
            </a:r>
            <a:r>
              <a:rPr sz="990" b="0" i="1">
                <a:solidFill>
                  <a:srgbClr val="7A1F1F"/>
                </a:solidFill>
                <a:latin typeface="Microsoft YaHei"/>
              </a:rPr>
              <a:t>/</a:t>
            </a:r>
            <a:r>
              <a:rPr sz="990" b="0" i="1">
                <a:solidFill>
                  <a:srgbClr val="7A1F1F"/>
                </a:solidFill>
                <a:latin typeface="Microsoft YaHei"/>
              </a:rPr>
              <a:t>dt</a:t>
            </a:r>
            <a:r>
              <a:rPr sz="990" b="0" i="0">
                <a:solidFill>
                  <a:srgbClr val="7A1F1F"/>
                </a:solidFill>
                <a:latin typeface="Microsoft YaHei"/>
              </a:rPr>
              <a:t> 越过知觉阈值的时刻）。故：实验 1 按「车速 40／60 × 遮挡 无／有」</a:t>
            </a:r>
            <a:r>
              <a:rPr sz="990" b="1" i="0">
                <a:solidFill>
                  <a:srgbClr val="7A1F1F"/>
                </a:solidFill>
                <a:latin typeface="Microsoft YaHei"/>
              </a:rPr>
              <a:t>四个单元分别标定</a:t>
            </a:r>
            <a:r>
              <a:rPr sz="990" b="0" i="0">
                <a:solidFill>
                  <a:srgbClr val="7A1F1F"/>
                </a:solidFill>
                <a:latin typeface="Microsoft YaHei"/>
              </a:rPr>
              <a:t>；实验 2 只能在已标定的单元内换算 </a:t>
            </a:r>
            <a:r>
              <a:rPr sz="990" b="0" i="1">
                <a:solidFill>
                  <a:srgbClr val="7A1F1F"/>
                </a:solidFill>
                <a:latin typeface="Microsoft YaHei"/>
              </a:rPr>
              <a:t>Δt</a:t>
            </a:r>
            <a:r>
              <a:rPr sz="990" b="0" i="0">
                <a:solidFill>
                  <a:srgbClr val="7A1F1F"/>
                </a:solidFill>
                <a:latin typeface="Microsoft YaHei"/>
              </a:rPr>
              <a:t>；实验 3 把车速与遮挡</a:t>
            </a:r>
            <a:r>
              <a:rPr sz="990" b="1" i="0">
                <a:solidFill>
                  <a:srgbClr val="7A1F1F"/>
                </a:solidFill>
                <a:latin typeface="Microsoft YaHei"/>
              </a:rPr>
              <a:t>固定</a:t>
            </a:r>
            <a:r>
              <a:rPr sz="990" b="0" i="0">
                <a:solidFill>
                  <a:srgbClr val="7A1F1F"/>
                </a:solidFill>
                <a:latin typeface="Microsoft YaHei"/>
              </a:rPr>
              <a:t>在实验 2 入选水平，使 </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成为常量。实验 4／5 已固定全部时间参数，可另设场景操纵，不受此约束。</a:t>
            </a:r>
          </a:p>
        </p:txBody>
      </p:sp>
      <p:sp>
        <p:nvSpPr>
          <p:cNvPr id="17" name="Rectangle 16"/>
          <p:cNvSpPr/>
          <p:nvPr/>
        </p:nvSpPr>
        <p:spPr>
          <a:xfrm>
            <a:off x="438150" y="5306615"/>
            <a:ext cx="11315700" cy="598289"/>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38150" y="5306615"/>
            <a:ext cx="38100" cy="598289"/>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1975" y="5392340"/>
            <a:ext cx="11106150" cy="455414"/>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被试与场次安排：</a:t>
            </a:r>
            <a:r>
              <a:rPr sz="990" b="0" i="0">
                <a:solidFill>
                  <a:srgbClr val="1F5A1F"/>
                </a:solidFill>
                <a:latin typeface="Microsoft YaHei"/>
              </a:rPr>
              <a:t>实验 1 与实验 2 </a:t>
            </a:r>
            <a:r>
              <a:rPr sz="990" b="1" i="0">
                <a:solidFill>
                  <a:srgbClr val="1F5A1F"/>
                </a:solidFill>
                <a:latin typeface="Microsoft YaHei"/>
              </a:rPr>
              <a:t>复用同一批被试</a:t>
            </a:r>
            <a:r>
              <a:rPr sz="990" b="0" i="0">
                <a:solidFill>
                  <a:srgbClr val="1F5A1F"/>
                </a:solidFill>
                <a:latin typeface="Microsoft YaHei"/>
              </a:rPr>
              <a:t>（</a:t>
            </a:r>
            <a:r>
              <a:rPr sz="990" b="0" i="1">
                <a:solidFill>
                  <a:srgbClr val="1F5A1F"/>
                </a:solidFill>
                <a:latin typeface="Microsoft YaHei"/>
              </a:rPr>
              <a:t>Δt</a:t>
            </a:r>
            <a:r>
              <a:rPr sz="990" b="0" i="0">
                <a:solidFill>
                  <a:srgbClr val="1F5A1F"/>
                </a:solidFill>
                <a:latin typeface="Microsoft YaHei"/>
              </a:rPr>
              <a:t> 需要被试自身的 </a:t>
            </a:r>
            <a:r>
              <a:rPr sz="990" b="0" i="1">
                <a:solidFill>
                  <a:srgbClr val="1F5A1F"/>
                </a:solidFill>
                <a:latin typeface="Microsoft YaHei"/>
              </a:rPr>
              <a:t>t</a:t>
            </a:r>
            <a:r>
              <a:rPr sz="690" b="0" i="1" baseline="-25000">
                <a:solidFill>
                  <a:srgbClr val="1F5A1F"/>
                </a:solidFill>
                <a:latin typeface="Microsoft YaHei"/>
              </a:rPr>
              <a:t>0</a:t>
            </a:r>
            <a:r>
              <a:rPr sz="990" b="0" i="0">
                <a:solidFill>
                  <a:srgbClr val="1F5A1F"/>
                </a:solidFill>
                <a:latin typeface="Microsoft YaHei"/>
              </a:rPr>
              <a:t>），实验 3–5 独立招募；若招募资源受限，研究二由同一批被试完成两个 session、研究三由另一批完成两个 session，</a:t>
            </a:r>
            <a:r>
              <a:rPr sz="990" b="1" i="0">
                <a:solidFill>
                  <a:srgbClr val="1F5A1F"/>
                </a:solidFill>
                <a:latin typeface="Microsoft YaHei"/>
              </a:rPr>
              <a:t>场景集交叉替换并至少间隔 7 天</a:t>
            </a:r>
            <a:r>
              <a:rPr sz="990" b="0" i="0">
                <a:solidFill>
                  <a:srgbClr val="1F5A1F"/>
                </a:solidFill>
                <a:latin typeface="Microsoft YaHei"/>
              </a:rPr>
              <a:t>。样本量以最小具有实际意义的差异加混合模型模拟确定，并按预实验方差与约 10% 的眼动无效或晕动脱落重新计算。</a:t>
            </a:r>
          </a:p>
        </p:txBody>
      </p:sp>
      <p:sp>
        <p:nvSpPr>
          <p:cNvPr id="20" name="TextBox 19"/>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研究背景</a:t>
            </a:r>
            <a:r>
              <a:rPr sz="1580" b="1" i="0">
                <a:solidFill>
                  <a:srgbClr val="4472C4"/>
                </a:solidFill>
                <a:latin typeface="Microsoft YaHei"/>
              </a:rPr>
              <a:t>两个并列理论框架与制动威胁数的三重角色</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sp>
        <p:nvSpPr>
          <p:cNvPr id="6" name="Rectangle 5"/>
          <p:cNvSpPr/>
          <p:nvPr/>
        </p:nvSpPr>
        <p:spPr>
          <a:xfrm>
            <a:off x="438150" y="762000"/>
            <a:ext cx="6479083" cy="92213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92213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6231433" cy="74116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两个理论并列而非竞争：情境意识（SA）三级模型</a:t>
            </a:r>
            <a:r>
              <a:rPr sz="1090" b="0" i="0">
                <a:solidFill>
                  <a:srgbClr val="2F528F"/>
                </a:solidFill>
                <a:latin typeface="Microsoft YaHei"/>
              </a:rPr>
              <a:t>（Endsley, 1995）提供</a:t>
            </a:r>
            <a:r>
              <a:rPr sz="1090" b="1" i="0">
                <a:solidFill>
                  <a:srgbClr val="2F528F"/>
                </a:solidFill>
                <a:latin typeface="Microsoft YaHei"/>
              </a:rPr>
              <a:t>构念层级</a:t>
            </a:r>
            <a:r>
              <a:rPr sz="1090" b="0" i="0">
                <a:solidFill>
                  <a:srgbClr val="2F528F"/>
                </a:solidFill>
                <a:latin typeface="Microsoft YaHei"/>
              </a:rPr>
              <a:t>以组织</a:t>
            </a:r>
            <a:r>
              <a:rPr sz="1090" b="1" i="0">
                <a:solidFill>
                  <a:srgbClr val="2F528F"/>
                </a:solidFill>
                <a:latin typeface="Microsoft YaHei"/>
              </a:rPr>
              <a:t>因变量</a:t>
            </a:r>
            <a:r>
              <a:rPr sz="1090" b="0" i="0">
                <a:solidFill>
                  <a:srgbClr val="2F528F"/>
                </a:solidFill>
                <a:latin typeface="Microsoft YaHei"/>
              </a:rPr>
              <a:t>；</a:t>
            </a:r>
            <a:r>
              <a:rPr sz="1090" b="1" i="0">
                <a:solidFill>
                  <a:srgbClr val="2F528F"/>
                </a:solidFill>
                <a:latin typeface="Microsoft YaHei"/>
              </a:rPr>
              <a:t>SPIDER 五阶段</a:t>
            </a:r>
            <a:r>
              <a:rPr sz="1090" b="0" i="0">
                <a:solidFill>
                  <a:srgbClr val="2F528F"/>
                </a:solidFill>
                <a:latin typeface="Microsoft YaHei"/>
              </a:rPr>
              <a:t>（Strayer 与 McDonnell, 2025）提供</a:t>
            </a:r>
            <a:r>
              <a:rPr sz="1090" b="1" i="0">
                <a:solidFill>
                  <a:srgbClr val="2F528F"/>
                </a:solidFill>
                <a:latin typeface="Microsoft YaHei"/>
              </a:rPr>
              <a:t>过程细节</a:t>
            </a:r>
            <a:r>
              <a:rPr sz="1090" b="0" i="0">
                <a:solidFill>
                  <a:srgbClr val="2F528F"/>
                </a:solidFill>
                <a:latin typeface="Microsoft YaHei"/>
              </a:rPr>
              <a:t>以组织</a:t>
            </a:r>
            <a:r>
              <a:rPr sz="1090" b="1" i="0">
                <a:solidFill>
                  <a:srgbClr val="2F528F"/>
                </a:solidFill>
                <a:latin typeface="Microsoft YaHei"/>
              </a:rPr>
              <a:t>指标的阶段归属</a:t>
            </a:r>
            <a:r>
              <a:rPr sz="1090" b="0" i="0">
                <a:solidFill>
                  <a:srgbClr val="2F528F"/>
                </a:solidFill>
                <a:latin typeface="Microsoft YaHei"/>
              </a:rPr>
              <a:t>。SA 回答「掌握达到哪一层级」，SPIDER 回答「该层级通过哪一环节达成或失败」。</a:t>
            </a:r>
          </a:p>
        </p:txBody>
      </p:sp>
      <p:graphicFrame>
        <p:nvGraphicFramePr>
          <p:cNvPr id="9" name="Table 8"/>
          <p:cNvGraphicFramePr>
            <a:graphicFrameLocks noGrp="1"/>
          </p:cNvGraphicFramePr>
          <p:nvPr/>
        </p:nvGraphicFramePr>
        <p:xfrm>
          <a:off x="438150" y="1760339"/>
          <a:ext cx="6479082" cy="1888330"/>
        </p:xfrm>
        <a:graphic>
          <a:graphicData uri="http://schemas.openxmlformats.org/drawingml/2006/table">
            <a:tbl>
              <a:tblPr>
                <a:tableStyleId>{5C22544A-7EE6-4342-B048-85BDC9FD1C3A}</a:tableStyleId>
              </a:tblPr>
              <a:tblGrid>
                <a:gridCol w="1036587"/>
                <a:gridCol w="842218"/>
                <a:gridCol w="2591544"/>
                <a:gridCol w="2008733"/>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SA 层级</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SPIDER</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操作化指标</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相关自变量</a:t>
                      </a:r>
                    </a:p>
                  </a:txBody>
                  <a:tcPr marL="66675" marR="66675" marT="52387" marB="52387" anchor="t">
                    <a:solidFill>
                      <a:srgbClr val="4472C4"/>
                    </a:solidFill>
                  </a:tcPr>
                </a:tc>
              </a:tr>
              <a:tr h="448270">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1 感知</a:t>
                      </a:r>
                    </a:p>
                    <a:p>
                      <a:pPr algn="l">
                        <a:lnSpc>
                          <a:spcPct val="160000"/>
                        </a:lnSpc>
                        <a:spcBef>
                          <a:spcPts val="0"/>
                        </a:spcBef>
                        <a:spcAft>
                          <a:spcPts val="0"/>
                        </a:spcAft>
                      </a:pPr>
                      <a:r>
                        <a:rPr sz="890" b="0" i="0">
                          <a:solidFill>
                            <a:srgbClr val="1A1A1A"/>
                          </a:solidFill>
                          <a:latin typeface="Microsoft YaHei"/>
                        </a:rPr>
                        <a:t>perception</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S</a:t>
                      </a:r>
                      <a:r>
                        <a:rPr sz="890" b="0" i="0">
                          <a:solidFill>
                            <a:srgbClr val="1A1A1A"/>
                          </a:solidFill>
                          <a:latin typeface="Microsoft YaHei"/>
                        </a:rPr>
                        <a:t>canning</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自发察觉时刻 </a:t>
                      </a:r>
                      <a:r>
                        <a:rPr sz="890" b="1" i="1">
                          <a:solidFill>
                            <a:srgbClr val="3E7D3E"/>
                          </a:solidFill>
                          <a:latin typeface="Microsoft YaHei"/>
                        </a:rPr>
                        <a:t>t</a:t>
                      </a:r>
                      <a:r>
                        <a:rPr sz="620" b="1" i="1" baseline="-25000">
                          <a:solidFill>
                            <a:srgbClr val="3E7D3E"/>
                          </a:solidFill>
                          <a:latin typeface="Microsoft YaHei"/>
                        </a:rPr>
                        <a:t>0</a:t>
                      </a:r>
                      <a:r>
                        <a:rPr sz="890" b="0" i="0">
                          <a:solidFill>
                            <a:srgbClr val="1A1A1A"/>
                          </a:solidFill>
                          <a:latin typeface="Microsoft YaHei"/>
                        </a:rPr>
                        <a:t>、首次注视时间 TTFF、</a:t>
                      </a:r>
                      <a:r>
                        <a:rPr sz="890" b="1" i="0">
                          <a:solidFill>
                            <a:srgbClr val="1A1A1A"/>
                          </a:solidFill>
                          <a:latin typeface="Microsoft YaHei"/>
                        </a:rPr>
                        <a:t>危险漏检率</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相对提前量 </a:t>
                      </a:r>
                      <a:r>
                        <a:rPr sz="890" b="0" i="1">
                          <a:solidFill>
                            <a:srgbClr val="1A1A1A"/>
                          </a:solidFill>
                          <a:latin typeface="Microsoft YaHei"/>
                        </a:rPr>
                        <a:t>Δt</a:t>
                      </a:r>
                      <a:r>
                        <a:rPr sz="890" b="0" i="0">
                          <a:solidFill>
                            <a:srgbClr val="1A1A1A"/>
                          </a:solidFill>
                          <a:latin typeface="Microsoft YaHei"/>
                        </a:rPr>
                        <a:t>、空间参照系、图形显著性</a:t>
                      </a:r>
                    </a:p>
                  </a:txBody>
                  <a:tcPr marL="66675" marR="66675" marT="42862" marB="42862" anchor="t">
                    <a:solidFill>
                      <a:srgbClr val="FAFBFD"/>
                    </a:solidFill>
                  </a:tcPr>
                </a:tc>
              </a:tr>
              <a:tr h="449163">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2 理解</a:t>
                      </a:r>
                    </a:p>
                    <a:p>
                      <a:pPr algn="l">
                        <a:lnSpc>
                          <a:spcPct val="160000"/>
                        </a:lnSpc>
                        <a:spcBef>
                          <a:spcPts val="0"/>
                        </a:spcBef>
                        <a:spcAft>
                          <a:spcPts val="0"/>
                        </a:spcAft>
                      </a:pPr>
                      <a:r>
                        <a:rPr sz="890" b="0" i="0">
                          <a:solidFill>
                            <a:srgbClr val="1A1A1A"/>
                          </a:solidFill>
                          <a:latin typeface="Microsoft YaHei"/>
                        </a:rPr>
                        <a:t>comprehension</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I</a:t>
                      </a:r>
                      <a:r>
                        <a:rPr sz="890" b="0" i="0">
                          <a:solidFill>
                            <a:srgbClr val="1A1A1A"/>
                          </a:solidFill>
                          <a:latin typeface="Microsoft YaHei"/>
                        </a:rPr>
                        <a:t>dentifying</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目标验证时间、风险等级判断正确率、紧迫度判断</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分层语义、图形形态与颜色、信息完整度</a:t>
                      </a:r>
                    </a:p>
                  </a:txBody>
                  <a:tcPr marL="66675" marR="66675" marT="42862" marB="42862" anchor="t">
                    <a:noFill/>
                  </a:tcPr>
                </a:tc>
              </a:tr>
              <a:tr h="449163">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3 预测</a:t>
                      </a:r>
                    </a:p>
                    <a:p>
                      <a:pPr algn="l">
                        <a:lnSpc>
                          <a:spcPct val="160000"/>
                        </a:lnSpc>
                        <a:spcBef>
                          <a:spcPts val="0"/>
                        </a:spcBef>
                        <a:spcAft>
                          <a:spcPts val="0"/>
                        </a:spcAft>
                      </a:pPr>
                      <a:r>
                        <a:rPr sz="890" b="0" i="0">
                          <a:solidFill>
                            <a:srgbClr val="1A1A1A"/>
                          </a:solidFill>
                          <a:latin typeface="Microsoft YaHei"/>
                        </a:rPr>
                        <a:t>projection</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P</a:t>
                      </a:r>
                      <a:r>
                        <a:rPr sz="890" b="0" i="0">
                          <a:solidFill>
                            <a:srgbClr val="1A1A1A"/>
                          </a:solidFill>
                          <a:latin typeface="Microsoft YaHei"/>
                        </a:rPr>
                        <a:t>redicting</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路径侵入预测正确率、冲突点空间误差、</a:t>
                      </a:r>
                      <a:r>
                        <a:rPr sz="890" b="1" i="0">
                          <a:solidFill>
                            <a:srgbClr val="1A1A1A"/>
                          </a:solidFill>
                          <a:latin typeface="Microsoft YaHei"/>
                        </a:rPr>
                        <a:t>预期性注视比例</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运动趋势映射、风险量级映射</a:t>
                      </a:r>
                    </a:p>
                  </a:txBody>
                  <a:tcPr marL="66675" marR="66675" marT="42862" marB="42862" anchor="t">
                    <a:solidFill>
                      <a:srgbClr val="FAFBFD"/>
                    </a:solidFill>
                  </a:tcPr>
                </a:tc>
              </a:tr>
              <a:tr h="275034">
                <a:tc>
                  <a:txBody>
                    <a:bodyPr wrap="square" lIns="0" rIns="0" tIns="0" bIns="0" anchor="t"/>
                    <a:lstStyle/>
                    <a:p>
                      <a:pPr algn="l">
                        <a:lnSpc>
                          <a:spcPct val="160000"/>
                        </a:lnSpc>
                        <a:spcBef>
                          <a:spcPts val="0"/>
                        </a:spcBef>
                        <a:spcAft>
                          <a:spcPts val="0"/>
                        </a:spcAft>
                      </a:pPr>
                      <a:r>
                        <a:rPr sz="890" b="0" i="0">
                          <a:solidFill>
                            <a:srgbClr val="1A1A1A"/>
                          </a:solidFill>
                          <a:latin typeface="Microsoft YaHei"/>
                        </a:rPr>
                        <a:t>（执行侧）</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D</a:t>
                      </a:r>
                      <a:r>
                        <a:rPr sz="890" b="0" i="0">
                          <a:solidFill>
                            <a:srgbClr val="1A1A1A"/>
                          </a:solidFill>
                          <a:latin typeface="Microsoft YaHei"/>
                        </a:rPr>
                        <a:t>／</a:t>
                      </a:r>
                      <a:r>
                        <a:rPr sz="890" b="1" i="0">
                          <a:solidFill>
                            <a:srgbClr val="1A1A1A"/>
                          </a:solidFill>
                          <a:latin typeface="Microsoft YaHei"/>
                        </a:rPr>
                        <a:t>E</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松油时刻、制动启动时间、峰值减速度、jerk</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全部时间参数</a:t>
                      </a:r>
                    </a:p>
                  </a:txBody>
                  <a:tcPr marL="66675" marR="66675" marT="42862" marB="42862" anchor="t">
                    <a:noFill/>
                  </a:tcPr>
                </a:tc>
              </a:tr>
            </a:tbl>
          </a:graphicData>
        </a:graphic>
      </p:graphicFrame>
      <p:sp>
        <p:nvSpPr>
          <p:cNvPr id="10" name="Rectangle 9"/>
          <p:cNvSpPr/>
          <p:nvPr/>
        </p:nvSpPr>
        <p:spPr>
          <a:xfrm>
            <a:off x="438150" y="3729632"/>
            <a:ext cx="6479083" cy="1025128"/>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8150" y="3729632"/>
            <a:ext cx="38100" cy="10251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1975" y="3815357"/>
            <a:ext cx="6269533" cy="882253"/>
          </a:xfrm>
          <a:prstGeom prst="rect">
            <a:avLst/>
          </a:prstGeom>
          <a:noFill/>
        </p:spPr>
        <p:txBody>
          <a:bodyPr wrap="square" lIns="0" rIns="0" tIns="0" bIns="0" anchor="t">
            <a:normAutofit/>
          </a:bodyPr>
          <a:lstStyle/>
          <a:p>
            <a:pPr algn="l">
              <a:lnSpc>
                <a:spcPct val="166000"/>
              </a:lnSpc>
              <a:spcBef>
                <a:spcPts val="0"/>
              </a:spcBef>
              <a:spcAft>
                <a:spcPts val="0"/>
              </a:spcAft>
            </a:pPr>
            <a:r>
              <a:rPr sz="990" b="1" i="1">
                <a:solidFill>
                  <a:srgbClr val="7A1F1F"/>
                </a:solidFill>
                <a:latin typeface="Microsoft YaHei"/>
              </a:rPr>
              <a:t>t</a:t>
            </a:r>
            <a:r>
              <a:rPr sz="690" b="1" i="1" baseline="-25000">
                <a:solidFill>
                  <a:srgbClr val="7A1F1F"/>
                </a:solidFill>
                <a:latin typeface="Microsoft YaHei"/>
              </a:rPr>
              <a:t>0</a:t>
            </a:r>
            <a:r>
              <a:rPr sz="990" b="1" i="0">
                <a:solidFill>
                  <a:srgbClr val="7A1F1F"/>
                </a:solidFill>
                <a:latin typeface="Microsoft YaHei"/>
              </a:rPr>
              <a:t> 的构念定位（一处量纲问题）：</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是</a:t>
            </a:r>
            <a:r>
              <a:rPr sz="990" b="1" i="0">
                <a:solidFill>
                  <a:srgbClr val="7A1F1F"/>
                </a:solidFill>
                <a:latin typeface="Microsoft YaHei"/>
              </a:rPr>
              <a:t>时刻量</a:t>
            </a:r>
            <a:r>
              <a:rPr sz="990" b="0" i="0">
                <a:solidFill>
                  <a:srgbClr val="7A1F1F"/>
                </a:solidFill>
                <a:latin typeface="Microsoft YaHei"/>
              </a:rPr>
              <a:t>（单位 s，实测），SA 层级 1 是</a:t>
            </a:r>
            <a:r>
              <a:rPr sz="990" b="1" i="0">
                <a:solidFill>
                  <a:srgbClr val="7A1F1F"/>
                </a:solidFill>
                <a:latin typeface="Microsoft YaHei"/>
              </a:rPr>
              <a:t>潜在构念</a:t>
            </a:r>
            <a:r>
              <a:rPr sz="990" b="0" i="0">
                <a:solidFill>
                  <a:srgbClr val="7A1F1F"/>
                </a:solidFill>
                <a:latin typeface="Microsoft YaHei"/>
              </a:rPr>
              <a:t>（以得分计）——二者为</a:t>
            </a:r>
            <a:r>
              <a:rPr sz="990" b="1" i="0">
                <a:solidFill>
                  <a:srgbClr val="7A1F1F"/>
                </a:solidFill>
                <a:latin typeface="Microsoft YaHei"/>
              </a:rPr>
              <a:t>「构念—操作化指标」关系</a:t>
            </a:r>
            <a:r>
              <a:rPr sz="990" b="0" i="0">
                <a:solidFill>
                  <a:srgbClr val="7A1F1F"/>
                </a:solidFill>
                <a:latin typeface="Microsoft YaHei"/>
              </a:rPr>
              <a:t>。故本研究：</a:t>
            </a:r>
            <a:r>
              <a:rPr sz="990" b="1" i="0">
                <a:solidFill>
                  <a:srgbClr val="7A1F1F"/>
                </a:solidFill>
                <a:latin typeface="Microsoft YaHei"/>
              </a:rPr>
              <a:t>①</a:t>
            </a:r>
            <a:r>
              <a:rPr sz="990" b="0" i="0">
                <a:solidFill>
                  <a:srgbClr val="7A1F1F"/>
                </a:solidFill>
                <a:latin typeface="Microsoft YaHei"/>
              </a:rPr>
              <a:t> </a:t>
            </a:r>
            <a:r>
              <a:rPr sz="990" b="1" i="0">
                <a:solidFill>
                  <a:srgbClr val="7A1F1F"/>
                </a:solidFill>
                <a:latin typeface="Microsoft YaHei"/>
              </a:rPr>
              <a:t>保留 </a:t>
            </a:r>
            <a:r>
              <a:rPr sz="990" b="1" i="1">
                <a:solidFill>
                  <a:srgbClr val="7A1F1F"/>
                </a:solidFill>
                <a:latin typeface="Microsoft YaHei"/>
              </a:rPr>
              <a:t>t</a:t>
            </a:r>
            <a:r>
              <a:rPr sz="690" b="1" i="1" baseline="-25000">
                <a:solidFill>
                  <a:srgbClr val="7A1F1F"/>
                </a:solidFill>
                <a:latin typeface="Microsoft YaHei"/>
              </a:rPr>
              <a:t>0</a:t>
            </a:r>
            <a:r>
              <a:rPr sz="990" b="1" i="0">
                <a:solidFill>
                  <a:srgbClr val="7A1F1F"/>
                </a:solidFill>
                <a:latin typeface="Microsoft YaHei"/>
              </a:rPr>
              <a:t> 作变量名</a:t>
            </a:r>
            <a:r>
              <a:rPr sz="990" b="0" i="0">
                <a:solidFill>
                  <a:srgbClr val="7A1F1F"/>
                </a:solidFill>
                <a:latin typeface="Microsoft YaHei"/>
              </a:rPr>
              <a:t>，因 </a:t>
            </a:r>
            <a:r>
              <a:rPr sz="990" b="0" i="1">
                <a:solidFill>
                  <a:srgbClr val="7A1F1F"/>
                </a:solidFill>
                <a:latin typeface="Microsoft YaHei"/>
              </a:rPr>
              <a:t>Δt</a:t>
            </a:r>
            <a:r>
              <a:rPr sz="990" b="0" i="1">
                <a:solidFill>
                  <a:srgbClr val="7A1F1F"/>
                </a:solidFill>
                <a:latin typeface="Microsoft YaHei"/>
              </a:rPr>
              <a:t> = </a:t>
            </a:r>
            <a:r>
              <a:rPr sz="990" b="0" i="1">
                <a:solidFill>
                  <a:srgbClr val="7A1F1F"/>
                </a:solidFill>
                <a:latin typeface="Microsoft YaHei"/>
              </a:rPr>
              <a:t>t</a:t>
            </a:r>
            <a:r>
              <a:rPr sz="690" b="0" i="1" baseline="-25000">
                <a:solidFill>
                  <a:srgbClr val="7A1F1F"/>
                </a:solidFill>
                <a:latin typeface="Microsoft YaHei"/>
              </a:rPr>
              <a:t>0</a:t>
            </a:r>
            <a:r>
              <a:rPr sz="990" b="0" i="1">
                <a:solidFill>
                  <a:srgbClr val="7A1F1F"/>
                </a:solidFill>
                <a:latin typeface="Microsoft YaHei"/>
              </a:rPr>
              <a:t> − </a:t>
            </a:r>
            <a:r>
              <a:rPr sz="990" b="0" i="1">
                <a:solidFill>
                  <a:srgbClr val="7A1F1F"/>
                </a:solidFill>
                <a:latin typeface="Microsoft YaHei"/>
              </a:rPr>
              <a:t>t</a:t>
            </a:r>
            <a:r>
              <a:rPr sz="690" b="0" i="1" baseline="-25000">
                <a:solidFill>
                  <a:srgbClr val="7A1F1F"/>
                </a:solidFill>
                <a:latin typeface="Microsoft YaHei"/>
              </a:rPr>
              <a:t>warn</a:t>
            </a:r>
            <a:r>
              <a:rPr sz="990" b="0" i="0">
                <a:solidFill>
                  <a:srgbClr val="7A1F1F"/>
                </a:solidFill>
                <a:latin typeface="Microsoft YaHei"/>
              </a:rPr>
              <a:t> 要求时间量纲，若以构念替换则该式不成立；</a:t>
            </a:r>
            <a:r>
              <a:rPr sz="990" b="1" i="0">
                <a:solidFill>
                  <a:srgbClr val="7A1F1F"/>
                </a:solidFill>
                <a:latin typeface="Microsoft YaHei"/>
              </a:rPr>
              <a:t>②</a:t>
            </a:r>
            <a:r>
              <a:rPr sz="990" b="0" i="0">
                <a:solidFill>
                  <a:srgbClr val="7A1F1F"/>
                </a:solidFill>
                <a:latin typeface="Microsoft YaHei"/>
              </a:rPr>
              <a:t> 明确其归属为 </a:t>
            </a:r>
            <a:r>
              <a:rPr sz="990" b="1" i="0">
                <a:solidFill>
                  <a:srgbClr val="7A1F1F"/>
                </a:solidFill>
                <a:latin typeface="Microsoft YaHei"/>
              </a:rPr>
              <a:t>SA 层级 1 在无辅助条件下的达成时刻</a:t>
            </a:r>
            <a:r>
              <a:rPr sz="990" b="0" i="0">
                <a:solidFill>
                  <a:srgbClr val="7A1F1F"/>
                </a:solidFill>
                <a:latin typeface="Microsoft YaHei"/>
              </a:rPr>
              <a:t>；</a:t>
            </a:r>
            <a:r>
              <a:rPr sz="990" b="1" i="0">
                <a:solidFill>
                  <a:srgbClr val="7A1F1F"/>
                </a:solidFill>
                <a:latin typeface="Microsoft YaHei"/>
              </a:rPr>
              <a:t>③</a:t>
            </a:r>
            <a:r>
              <a:rPr sz="990" b="0" i="0">
                <a:solidFill>
                  <a:srgbClr val="7A1F1F"/>
                </a:solidFill>
                <a:latin typeface="Microsoft YaHei"/>
              </a:rPr>
              <a:t> </a:t>
            </a:r>
            <a:r>
              <a:rPr sz="990" b="1" i="0">
                <a:solidFill>
                  <a:srgbClr val="7A1F1F"/>
                </a:solidFill>
                <a:latin typeface="Microsoft YaHei"/>
              </a:rPr>
              <a:t>另设 SA 三级得分为独立因变量</a:t>
            </a:r>
            <a:r>
              <a:rPr sz="990" b="0" i="0">
                <a:solidFill>
                  <a:srgbClr val="7A1F1F"/>
                </a:solidFill>
                <a:latin typeface="Microsoft YaHei"/>
              </a:rPr>
              <a:t>与之并存，</a:t>
            </a:r>
            <a:r>
              <a:rPr sz="990" b="1" i="0">
                <a:solidFill>
                  <a:srgbClr val="7A1F1F"/>
                </a:solidFill>
                <a:latin typeface="Microsoft YaHei"/>
              </a:rPr>
              <a:t>二者相关性本身即效度证据</a:t>
            </a:r>
            <a:r>
              <a:rPr sz="990" b="0" i="0">
                <a:solidFill>
                  <a:srgbClr val="7A1F1F"/>
                </a:solidFill>
                <a:latin typeface="Microsoft YaHei"/>
              </a:rPr>
              <a:t>。</a:t>
            </a:r>
          </a:p>
        </p:txBody>
      </p:sp>
      <p:sp>
        <p:nvSpPr>
          <p:cNvPr id="13" name="Rounded Rectangle 12"/>
          <p:cNvSpPr/>
          <p:nvPr/>
        </p:nvSpPr>
        <p:spPr>
          <a:xfrm>
            <a:off x="7088683" y="762000"/>
            <a:ext cx="4665166" cy="1173956"/>
          </a:xfrm>
          <a:prstGeom prst="roundRect">
            <a:avLst>
              <a:gd name="adj" fmla="val 5679"/>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222033" y="1114425"/>
            <a:ext cx="4398466"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2033" y="866775"/>
            <a:ext cx="4436566"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9A6E00"/>
                </a:solidFill>
                <a:latin typeface="Microsoft YaHei"/>
              </a:rPr>
              <a:t>制动威胁数 BTN：无量纲运动学比值</a:t>
            </a:r>
          </a:p>
        </p:txBody>
      </p:sp>
      <p:sp>
        <p:nvSpPr>
          <p:cNvPr id="16" name="TextBox 15"/>
          <p:cNvSpPr txBox="1"/>
          <p:nvPr/>
        </p:nvSpPr>
        <p:spPr>
          <a:xfrm>
            <a:off x="7222033" y="1181100"/>
            <a:ext cx="4436566" cy="678656"/>
          </a:xfrm>
          <a:prstGeom prst="rect">
            <a:avLst/>
          </a:prstGeom>
          <a:noFill/>
        </p:spPr>
        <p:txBody>
          <a:bodyPr wrap="square" lIns="0" rIns="0" tIns="0" bIns="0" anchor="t">
            <a:normAutofit/>
          </a:bodyPr>
          <a:lstStyle/>
          <a:p>
            <a:pPr algn="l">
              <a:lnSpc>
                <a:spcPct val="160000"/>
              </a:lnSpc>
              <a:spcBef>
                <a:spcPts val="0"/>
              </a:spcBef>
              <a:spcAft>
                <a:spcPts val="0"/>
              </a:spcAft>
            </a:pPr>
            <a:r>
              <a:rPr sz="1019" b="0" i="1">
                <a:solidFill>
                  <a:srgbClr val="1A1A1A"/>
                </a:solidFill>
                <a:latin typeface="Microsoft YaHei"/>
              </a:rPr>
              <a:t>BTN</a:t>
            </a:r>
            <a:r>
              <a:rPr sz="1019" b="0" i="1">
                <a:solidFill>
                  <a:srgbClr val="1A1A1A"/>
                </a:solidFill>
                <a:latin typeface="Microsoft YaHei"/>
              </a:rPr>
              <a:t> = </a:t>
            </a:r>
            <a:r>
              <a:rPr sz="1019" b="0" i="1">
                <a:solidFill>
                  <a:srgbClr val="1A1A1A"/>
                </a:solidFill>
                <a:latin typeface="Microsoft YaHei"/>
              </a:rPr>
              <a:t>a</a:t>
            </a:r>
            <a:r>
              <a:rPr sz="710" b="0" i="1" baseline="-25000">
                <a:solidFill>
                  <a:srgbClr val="1A1A1A"/>
                </a:solidFill>
                <a:latin typeface="Microsoft YaHei"/>
              </a:rPr>
              <a:t>req</a:t>
            </a:r>
            <a:r>
              <a:rPr sz="1019" b="0" i="1">
                <a:solidFill>
                  <a:srgbClr val="1A1A1A"/>
                </a:solidFill>
                <a:latin typeface="Microsoft YaHei"/>
              </a:rPr>
              <a:t> / </a:t>
            </a:r>
            <a:r>
              <a:rPr sz="1019" b="0" i="1">
                <a:solidFill>
                  <a:srgbClr val="1A1A1A"/>
                </a:solidFill>
                <a:latin typeface="Microsoft YaHei"/>
              </a:rPr>
              <a:t>a</a:t>
            </a:r>
            <a:r>
              <a:rPr sz="710" b="0" i="1" baseline="-25000">
                <a:solidFill>
                  <a:srgbClr val="1A1A1A"/>
                </a:solidFill>
                <a:latin typeface="Microsoft YaHei"/>
              </a:rPr>
              <a:t>max</a:t>
            </a:r>
            <a:r>
              <a:rPr sz="1019" b="0" i="0">
                <a:solidFill>
                  <a:srgbClr val="1A1A1A"/>
                </a:solidFill>
                <a:latin typeface="Microsoft YaHei"/>
              </a:rPr>
              <a:t>，</a:t>
            </a:r>
            <a:r>
              <a:rPr sz="1019" b="0" i="1">
                <a:solidFill>
                  <a:srgbClr val="1A1A1A"/>
                </a:solidFill>
                <a:latin typeface="Microsoft YaHei"/>
              </a:rPr>
              <a:t>a</a:t>
            </a:r>
            <a:r>
              <a:rPr sz="710" b="0" i="1" baseline="-25000">
                <a:solidFill>
                  <a:srgbClr val="1A1A1A"/>
                </a:solidFill>
                <a:latin typeface="Microsoft YaHei"/>
              </a:rPr>
              <a:t>req</a:t>
            </a:r>
            <a:r>
              <a:rPr sz="1019" b="0" i="1">
                <a:solidFill>
                  <a:srgbClr val="1A1A1A"/>
                </a:solidFill>
                <a:latin typeface="Microsoft YaHei"/>
              </a:rPr>
              <a:t> = </a:t>
            </a:r>
            <a:r>
              <a:rPr sz="1019" b="0" i="1">
                <a:solidFill>
                  <a:srgbClr val="1A1A1A"/>
                </a:solidFill>
                <a:latin typeface="Microsoft YaHei"/>
              </a:rPr>
              <a:t>v</a:t>
            </a:r>
            <a:r>
              <a:rPr sz="710" b="0" i="1" baseline="30000">
                <a:solidFill>
                  <a:srgbClr val="1A1A1A"/>
                </a:solidFill>
                <a:latin typeface="Microsoft YaHei"/>
              </a:rPr>
              <a:t>2</a:t>
            </a:r>
            <a:r>
              <a:rPr sz="1019" b="0" i="1">
                <a:solidFill>
                  <a:srgbClr val="1A1A1A"/>
                </a:solidFill>
                <a:latin typeface="Microsoft YaHei"/>
              </a:rPr>
              <a:t> / (2</a:t>
            </a:r>
            <a:r>
              <a:rPr sz="1019" b="0" i="1">
                <a:solidFill>
                  <a:srgbClr val="1A1A1A"/>
                </a:solidFill>
                <a:latin typeface="Microsoft YaHei"/>
              </a:rPr>
              <a:t>d</a:t>
            </a:r>
            <a:r>
              <a:rPr sz="710" b="0" i="1" baseline="-25000">
                <a:solidFill>
                  <a:srgbClr val="1A1A1A"/>
                </a:solidFill>
                <a:latin typeface="Microsoft YaHei"/>
              </a:rPr>
              <a:t>conflict</a:t>
            </a:r>
            <a:r>
              <a:rPr sz="1019" b="0" i="1">
                <a:solidFill>
                  <a:srgbClr val="1A1A1A"/>
                </a:solidFill>
                <a:latin typeface="Microsoft YaHei"/>
              </a:rPr>
              <a:t>)</a:t>
            </a:r>
            <a:r>
              <a:rPr sz="1019" b="0" i="0">
                <a:solidFill>
                  <a:srgbClr val="1A1A1A"/>
                </a:solidFill>
                <a:latin typeface="Microsoft YaHei"/>
              </a:rPr>
              <a:t>；BTN = 1 即碰撞物理上不可避免。</a:t>
            </a:r>
            <a:r>
              <a:rPr sz="1019" b="1" i="0">
                <a:solidFill>
                  <a:srgbClr val="C00000"/>
                </a:solidFill>
                <a:latin typeface="Microsoft YaHei"/>
              </a:rPr>
              <a:t>既非时刻亦非时长</a:t>
            </a:r>
            <a:r>
              <a:rPr sz="1019" b="0" i="0">
                <a:solidFill>
                  <a:srgbClr val="1A1A1A"/>
                </a:solidFill>
                <a:latin typeface="Microsoft YaHei"/>
              </a:rPr>
              <a:t>——本研究的时间量另有专名（</a:t>
            </a:r>
            <a:r>
              <a:rPr sz="1019" b="0" i="1">
                <a:solidFill>
                  <a:srgbClr val="1A1A1A"/>
                </a:solidFill>
                <a:latin typeface="Microsoft YaHei"/>
              </a:rPr>
              <a:t>t</a:t>
            </a:r>
            <a:r>
              <a:rPr sz="710" b="0" i="1" baseline="-25000">
                <a:solidFill>
                  <a:srgbClr val="1A1A1A"/>
                </a:solidFill>
                <a:latin typeface="Microsoft YaHei"/>
              </a:rPr>
              <a:t>0</a:t>
            </a:r>
            <a:r>
              <a:rPr sz="1019" b="0" i="0">
                <a:solidFill>
                  <a:srgbClr val="1A1A1A"/>
                </a:solidFill>
                <a:latin typeface="Microsoft YaHei"/>
              </a:rPr>
              <a:t>、</a:t>
            </a:r>
            <a:r>
              <a:rPr sz="1019" b="0" i="1">
                <a:solidFill>
                  <a:srgbClr val="1A1A1A"/>
                </a:solidFill>
                <a:latin typeface="Microsoft YaHei"/>
              </a:rPr>
              <a:t>t</a:t>
            </a:r>
            <a:r>
              <a:rPr sz="710" b="0" i="1" baseline="-25000">
                <a:solidFill>
                  <a:srgbClr val="1A1A1A"/>
                </a:solidFill>
                <a:latin typeface="Microsoft YaHei"/>
              </a:rPr>
              <a:t>warn</a:t>
            </a:r>
            <a:r>
              <a:rPr sz="1019" b="0" i="0">
                <a:solidFill>
                  <a:srgbClr val="1A1A1A"/>
                </a:solidFill>
                <a:latin typeface="Microsoft YaHei"/>
              </a:rPr>
              <a:t>、</a:t>
            </a:r>
            <a:r>
              <a:rPr sz="1019" b="0" i="1">
                <a:solidFill>
                  <a:srgbClr val="1A1A1A"/>
                </a:solidFill>
                <a:latin typeface="Microsoft YaHei"/>
              </a:rPr>
              <a:t>t</a:t>
            </a:r>
            <a:r>
              <a:rPr sz="710" b="0" i="1" baseline="-25000">
                <a:solidFill>
                  <a:srgbClr val="1A1A1A"/>
                </a:solidFill>
                <a:latin typeface="Microsoft YaHei"/>
              </a:rPr>
              <a:t>LPB</a:t>
            </a:r>
            <a:r>
              <a:rPr sz="1019" b="0" i="0">
                <a:solidFill>
                  <a:srgbClr val="1A1A1A"/>
                </a:solidFill>
                <a:latin typeface="Microsoft YaHei"/>
              </a:rPr>
              <a:t>、</a:t>
            </a:r>
            <a:r>
              <a:rPr sz="1019" b="0" i="1">
                <a:solidFill>
                  <a:srgbClr val="1A1A1A"/>
                </a:solidFill>
                <a:latin typeface="Microsoft YaHei"/>
              </a:rPr>
              <a:t>Δt</a:t>
            </a:r>
            <a:r>
              <a:rPr sz="1019" b="0" i="0">
                <a:solidFill>
                  <a:srgbClr val="1A1A1A"/>
                </a:solidFill>
                <a:latin typeface="Microsoft YaHei"/>
              </a:rPr>
              <a:t>）。</a:t>
            </a:r>
          </a:p>
        </p:txBody>
      </p:sp>
      <p:sp>
        <p:nvSpPr>
          <p:cNvPr id="17" name="Rounded Rectangle 16"/>
          <p:cNvSpPr/>
          <p:nvPr/>
        </p:nvSpPr>
        <p:spPr>
          <a:xfrm>
            <a:off x="7088683" y="2002631"/>
            <a:ext cx="4665166" cy="1898749"/>
          </a:xfrm>
          <a:prstGeom prst="roundRect">
            <a:avLst>
              <a:gd name="adj" fmla="val 3511"/>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22033" y="2355056"/>
            <a:ext cx="4398466"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2033" y="2107406"/>
            <a:ext cx="4436566"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三重角色，性质各异</a:t>
            </a:r>
          </a:p>
        </p:txBody>
      </p:sp>
      <p:sp>
        <p:nvSpPr>
          <p:cNvPr id="20" name="TextBox 19"/>
          <p:cNvSpPr txBox="1"/>
          <p:nvPr/>
        </p:nvSpPr>
        <p:spPr>
          <a:xfrm>
            <a:off x="7288708" y="2421731"/>
            <a:ext cx="4369891" cy="474166"/>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① 算法侧触发量</a:t>
            </a:r>
            <a:r>
              <a:rPr sz="1040" b="0" i="0">
                <a:solidFill>
                  <a:srgbClr val="1A1A1A"/>
                </a:solidFill>
                <a:latin typeface="Microsoft YaHei"/>
              </a:rPr>
              <a:t>——触发条件 </a:t>
            </a:r>
            <a:r>
              <a:rPr sz="1040" b="0" i="1">
                <a:solidFill>
                  <a:srgbClr val="1A1A1A"/>
                </a:solidFill>
                <a:latin typeface="Microsoft YaHei"/>
              </a:rPr>
              <a:t>BTN ≥ θ</a:t>
            </a:r>
            <a:r>
              <a:rPr sz="1040" b="0" i="0">
                <a:solidFill>
                  <a:srgbClr val="1A1A1A"/>
                </a:solidFill>
                <a:latin typeface="Microsoft YaHei"/>
              </a:rPr>
              <a:t>；实验 2 中作</a:t>
            </a:r>
            <a:r>
              <a:rPr sz="1040" b="1" i="0">
                <a:solidFill>
                  <a:srgbClr val="1A1A1A"/>
                </a:solidFill>
                <a:latin typeface="Microsoft YaHei"/>
              </a:rPr>
              <a:t>触发准则类型</a:t>
            </a:r>
            <a:r>
              <a:rPr sz="1040" b="0" i="0">
                <a:solidFill>
                  <a:srgbClr val="1A1A1A"/>
                </a:solidFill>
                <a:latin typeface="Microsoft YaHei"/>
              </a:rPr>
              <a:t>自变量的一个水平。</a:t>
            </a:r>
          </a:p>
        </p:txBody>
      </p:sp>
      <p:sp>
        <p:nvSpPr>
          <p:cNvPr id="21" name="TextBox 20"/>
          <p:cNvSpPr txBox="1"/>
          <p:nvPr/>
        </p:nvSpPr>
        <p:spPr>
          <a:xfrm>
            <a:off x="7288708" y="2886372"/>
            <a:ext cx="4369891"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② 材料侧难度标度</a:t>
            </a:r>
            <a:r>
              <a:rPr sz="1040" b="0" i="0">
                <a:solidFill>
                  <a:srgbClr val="1A1A1A"/>
                </a:solidFill>
                <a:latin typeface="Microsoft YaHei"/>
              </a:rPr>
              <a:t>——核验各条件运动学难度是否等价；属</a:t>
            </a:r>
            <a:r>
              <a:rPr sz="1040" b="1" i="0">
                <a:solidFill>
                  <a:srgbClr val="1A1A1A"/>
                </a:solidFill>
                <a:latin typeface="Microsoft YaHei"/>
              </a:rPr>
              <a:t>操纵检查量与协变量，非自变量</a:t>
            </a:r>
            <a:r>
              <a:rPr sz="1040" b="0" i="0">
                <a:solidFill>
                  <a:srgbClr val="1A1A1A"/>
                </a:solidFill>
                <a:latin typeface="Microsoft YaHei"/>
              </a:rPr>
              <a:t>。</a:t>
            </a:r>
          </a:p>
        </p:txBody>
      </p:sp>
      <p:sp>
        <p:nvSpPr>
          <p:cNvPr id="22" name="TextBox 21"/>
          <p:cNvSpPr txBox="1"/>
          <p:nvPr/>
        </p:nvSpPr>
        <p:spPr>
          <a:xfrm>
            <a:off x="7288708" y="3341489"/>
            <a:ext cx="4369891"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③ 空间侧映射量</a:t>
            </a:r>
            <a:r>
              <a:rPr sz="1040" b="0" i="0">
                <a:solidFill>
                  <a:srgbClr val="1A1A1A"/>
                </a:solidFill>
                <a:latin typeface="Microsoft YaHei"/>
              </a:rPr>
              <a:t>——实验 5 风险量级映射以其为映射源，图形几何随之缩放。</a:t>
            </a:r>
          </a:p>
        </p:txBody>
      </p:sp>
      <p:sp>
        <p:nvSpPr>
          <p:cNvPr id="23" name="Rounded Rectangle 22"/>
          <p:cNvSpPr/>
          <p:nvPr/>
        </p:nvSpPr>
        <p:spPr>
          <a:xfrm>
            <a:off x="7088683" y="3968055"/>
            <a:ext cx="4665166" cy="1671191"/>
          </a:xfrm>
          <a:prstGeom prst="roundRect">
            <a:avLst>
              <a:gd name="adj" fmla="val 3989"/>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222033" y="4320480"/>
            <a:ext cx="4398466"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2033" y="4072830"/>
            <a:ext cx="4436566"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3E7D3E"/>
                </a:solidFill>
                <a:latin typeface="Microsoft YaHei"/>
              </a:rPr>
              <a:t>选作自变量水平的三条依据</a:t>
            </a:r>
          </a:p>
        </p:txBody>
      </p:sp>
      <p:sp>
        <p:nvSpPr>
          <p:cNvPr id="26" name="TextBox 25"/>
          <p:cNvSpPr txBox="1"/>
          <p:nvPr/>
        </p:nvSpPr>
        <p:spPr>
          <a:xfrm>
            <a:off x="7288708" y="4387155"/>
            <a:ext cx="4369891"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物理依据（决定性）</a:t>
            </a:r>
            <a:r>
              <a:rPr sz="1040" b="0" i="0">
                <a:solidFill>
                  <a:srgbClr val="1A1A1A"/>
                </a:solidFill>
                <a:latin typeface="Microsoft YaHei"/>
              </a:rPr>
              <a:t>：TTC 2 s 在 40 km/h 下 BTN 0.35、80 km/h 下 0.69——</a:t>
            </a:r>
            <a:r>
              <a:rPr sz="1040" b="1" i="0">
                <a:solidFill>
                  <a:srgbClr val="1A1A1A"/>
                </a:solidFill>
                <a:latin typeface="Microsoft YaHei"/>
              </a:rPr>
              <a:t>固定秒数不可跨车速迁移</a:t>
            </a:r>
            <a:r>
              <a:rPr sz="1040" b="0" i="0">
                <a:solidFill>
                  <a:srgbClr val="1A1A1A"/>
                </a:solidFill>
                <a:latin typeface="Microsoft YaHei"/>
              </a:rPr>
              <a:t>。</a:t>
            </a:r>
          </a:p>
        </p:txBody>
      </p:sp>
      <p:sp>
        <p:nvSpPr>
          <p:cNvPr id="27" name="TextBox 26"/>
          <p:cNvSpPr txBox="1"/>
          <p:nvPr/>
        </p:nvSpPr>
        <p:spPr>
          <a:xfrm>
            <a:off x="7288708" y="4842271"/>
            <a:ext cx="4369891"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人因侧零对照</a:t>
            </a:r>
            <a:r>
              <a:rPr sz="1040" b="0" i="0">
                <a:solidFill>
                  <a:srgbClr val="1A1A1A"/>
                </a:solidFill>
                <a:latin typeface="Microsoft YaHei"/>
              </a:rPr>
              <a:t>：算法侧四篇一致主张运动学触发，无一与固定阈值做人因对照（空白 G2）。</a:t>
            </a:r>
          </a:p>
        </p:txBody>
      </p:sp>
      <p:sp>
        <p:nvSpPr>
          <p:cNvPr id="28" name="TextBox 27"/>
          <p:cNvSpPr txBox="1"/>
          <p:nvPr/>
        </p:nvSpPr>
        <p:spPr>
          <a:xfrm>
            <a:off x="7288708" y="5297388"/>
            <a:ext cx="4369891"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量纲一致</a:t>
            </a:r>
            <a:r>
              <a:rPr sz="1040" b="0" i="0">
                <a:solidFill>
                  <a:srgbClr val="1A1A1A"/>
                </a:solidFill>
                <a:latin typeface="Microsoft YaHei"/>
              </a:rPr>
              <a:t>：与安全及代价终点同为减速度量纲，便于整合为单一模型。</a:t>
            </a:r>
          </a:p>
        </p:txBody>
      </p:sp>
      <p:sp>
        <p:nvSpPr>
          <p:cNvPr id="29" name="Rectangle 28"/>
          <p:cNvSpPr/>
          <p:nvPr/>
        </p:nvSpPr>
        <p:spPr>
          <a:xfrm>
            <a:off x="7088683" y="5705921"/>
            <a:ext cx="4665166" cy="598289"/>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088683" y="5705921"/>
            <a:ext cx="38100" cy="598289"/>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12508" y="5791646"/>
            <a:ext cx="4455616" cy="455414"/>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分母声明：</a:t>
            </a:r>
            <a:r>
              <a:rPr sz="990" b="0" i="0">
                <a:solidFill>
                  <a:srgbClr val="6B5200"/>
                </a:solidFill>
                <a:latin typeface="Microsoft YaHei"/>
              </a:rPr>
              <a:t>统一取 </a:t>
            </a:r>
            <a:r>
              <a:rPr sz="990" b="0" i="1">
                <a:solidFill>
                  <a:srgbClr val="6B5200"/>
                </a:solidFill>
                <a:latin typeface="Microsoft YaHei"/>
              </a:rPr>
              <a:t>a</a:t>
            </a:r>
            <a:r>
              <a:rPr sz="690" b="0" i="1" baseline="-25000">
                <a:solidFill>
                  <a:srgbClr val="6B5200"/>
                </a:solidFill>
                <a:latin typeface="Microsoft YaHei"/>
              </a:rPr>
              <a:t>max</a:t>
            </a:r>
            <a:r>
              <a:rPr sz="990" b="0" i="0">
                <a:solidFill>
                  <a:srgbClr val="6B5200"/>
                </a:solidFill>
                <a:latin typeface="Microsoft YaHei"/>
              </a:rPr>
              <a:t> = 8 m/s²，并</a:t>
            </a:r>
            <a:r>
              <a:rPr sz="990" b="1" i="0">
                <a:solidFill>
                  <a:srgbClr val="8A6A00"/>
                </a:solidFill>
                <a:latin typeface="Microsoft YaHei"/>
              </a:rPr>
              <a:t>另报以实验 1 实测舒适减速度为分母</a:t>
            </a:r>
            <a:r>
              <a:rPr sz="990" b="0" i="0">
                <a:solidFill>
                  <a:srgbClr val="6B5200"/>
                </a:solidFill>
                <a:latin typeface="Microsoft YaHei"/>
              </a:rPr>
              <a:t>的归一化值；</a:t>
            </a:r>
            <a:r>
              <a:rPr sz="990" b="1" i="0">
                <a:solidFill>
                  <a:srgbClr val="8A6A00"/>
                </a:solidFill>
                <a:latin typeface="Microsoft YaHei"/>
              </a:rPr>
              <a:t>两套并列，不择一而用</a:t>
            </a:r>
            <a:r>
              <a:rPr sz="990" b="0" i="0">
                <a:solidFill>
                  <a:srgbClr val="6B5200"/>
                </a:solidFill>
                <a:latin typeface="Microsoft YaHei"/>
              </a:rPr>
              <a:t>。</a:t>
            </a:r>
          </a:p>
        </p:txBody>
      </p:sp>
      <p:sp>
        <p:nvSpPr>
          <p:cNvPr id="32" name="TextBox 31"/>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19 /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研究共识</a:t>
            </a:r>
            <a:r>
              <a:rPr sz="1580" b="1" i="0">
                <a:solidFill>
                  <a:srgbClr val="4472C4"/>
                </a:solidFill>
                <a:latin typeface="Microsoft YaHei"/>
              </a:rPr>
              <a:t>已形成共识的八项结论</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sp>
        <p:nvSpPr>
          <p:cNvPr id="6" name="Rectangle 5"/>
          <p:cNvSpPr/>
          <p:nvPr/>
        </p:nvSpPr>
        <p:spPr>
          <a:xfrm>
            <a:off x="438150" y="762000"/>
            <a:ext cx="11315700" cy="44707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44707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26610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以下八项结论证据方向一致，构成本研究的</a:t>
            </a:r>
            <a:r>
              <a:rPr sz="1090" b="1" i="0">
                <a:solidFill>
                  <a:srgbClr val="2F528F"/>
                </a:solidFill>
                <a:latin typeface="Microsoft YaHei"/>
              </a:rPr>
              <a:t>前提</a:t>
            </a:r>
            <a:r>
              <a:rPr sz="1090" b="0" i="0">
                <a:solidFill>
                  <a:srgbClr val="2F528F"/>
                </a:solidFill>
                <a:latin typeface="Microsoft YaHei"/>
              </a:rPr>
              <a:t>而非研究问题。纳入标准为：</a:t>
            </a:r>
            <a:r>
              <a:rPr sz="1090" b="1" i="0">
                <a:solidFill>
                  <a:srgbClr val="2F528F"/>
                </a:solidFill>
                <a:latin typeface="Microsoft YaHei"/>
              </a:rPr>
              <a:t>至少 2 项独立研究方向一致，且无实质反证</a:t>
            </a:r>
            <a:r>
              <a:rPr sz="1090" b="0" i="0">
                <a:solidFill>
                  <a:srgbClr val="2F528F"/>
                </a:solidFill>
                <a:latin typeface="Microsoft YaHei"/>
              </a:rPr>
              <a:t>。</a:t>
            </a:r>
          </a:p>
        </p:txBody>
      </p:sp>
      <p:graphicFrame>
        <p:nvGraphicFramePr>
          <p:cNvPr id="9" name="Table 8"/>
          <p:cNvGraphicFramePr>
            <a:graphicFrameLocks noGrp="1"/>
          </p:cNvGraphicFramePr>
          <p:nvPr/>
        </p:nvGraphicFramePr>
        <p:xfrm>
          <a:off x="438150" y="1313854"/>
          <a:ext cx="11315698" cy="3809994"/>
        </p:xfrm>
        <a:graphic>
          <a:graphicData uri="http://schemas.openxmlformats.org/drawingml/2006/table">
            <a:tbl>
              <a:tblPr>
                <a:tableStyleId>{5C22544A-7EE6-4342-B048-85BDC9FD1C3A}</a:tableStyleId>
              </a:tblPr>
              <a:tblGrid>
                <a:gridCol w="452586"/>
                <a:gridCol w="2489448"/>
                <a:gridCol w="7015906"/>
                <a:gridCol w="1357758"/>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共识</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主要证据</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证据强度</a:t>
                      </a:r>
                    </a:p>
                  </a:txBody>
                  <a:tcPr marL="66675" marR="66675" marT="52387" marB="52387" anchor="t">
                    <a:solidFill>
                      <a:srgbClr val="4472C4"/>
                    </a:solidFill>
                  </a:tcPr>
                </a:tc>
              </a:tr>
              <a:tr h="438745">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1</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位置：把预警搬进前视野即有实质收益</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Lind（2007）四方对照：CWHUD 快约 200 ms、漏报 1 vs 高位下视显示 17 次；Zhang 等（2024）中国样本独立印证（首次制动提前约 25 m）</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强</a:t>
                      </a:r>
                    </a:p>
                    <a:p>
                      <a:pPr algn="ctr">
                        <a:lnSpc>
                          <a:spcPct val="155000"/>
                        </a:lnSpc>
                        <a:spcBef>
                          <a:spcPts val="0"/>
                        </a:spcBef>
                        <a:spcAft>
                          <a:spcPts val="0"/>
                        </a:spcAft>
                      </a:pPr>
                      <a:r>
                        <a:rPr sz="890" b="0" i="0">
                          <a:solidFill>
                            <a:srgbClr val="1A1A1A"/>
                          </a:solidFill>
                          <a:latin typeface="Microsoft YaHei"/>
                        </a:rPr>
                        <a:t>两地样本</a:t>
                      </a:r>
                    </a:p>
                  </a:txBody>
                  <a:tcPr marL="66675" marR="66675" marT="42862" marB="42862" anchor="t">
                    <a:solidFill>
                      <a:srgbClr val="FAFBFD"/>
                    </a:solidFill>
                  </a:tcPr>
                </a:tc>
              </a:tr>
              <a:tr h="443507">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2</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时机下界：单层预警在 TTC &lt; 3 s 时不足以改变行为</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Zhang 等（2015）七档梯度：2.5 s 与无预警无显著差异；Lubbe（2017）分心下最长反应时 2.5 s 已超过 TTC 本身</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强</a:t>
                      </a:r>
                    </a:p>
                    <a:p>
                      <a:pPr algn="ctr">
                        <a:lnSpc>
                          <a:spcPct val="155000"/>
                        </a:lnSpc>
                        <a:spcBef>
                          <a:spcPts val="0"/>
                        </a:spcBef>
                        <a:spcAft>
                          <a:spcPts val="0"/>
                        </a:spcAft>
                      </a:pPr>
                      <a:r>
                        <a:rPr sz="890" b="0" i="0">
                          <a:solidFill>
                            <a:srgbClr val="1A1A1A"/>
                          </a:solidFill>
                          <a:latin typeface="Microsoft YaHei"/>
                        </a:rPr>
                        <a:t>唯一梯度</a:t>
                      </a:r>
                    </a:p>
                  </a:txBody>
                  <a:tcPr marL="66675" marR="66675" marT="42862" marB="42862" anchor="t">
                    <a:noFill/>
                  </a:tcPr>
                </a:tc>
              </a:tr>
              <a:tr h="443507">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3</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时机上界：过早预警收益递减且代价上升</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Kim 等（2018）5.0 s 峰值减速度 +34.46%；Wang 等（2025）≤ 5 s 无反应时增益；Chen 等（2019）TTA 5 s 熟练组虚警率 0.55</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中强</a:t>
                      </a:r>
                    </a:p>
                    <a:p>
                      <a:pPr algn="ctr">
                        <a:lnSpc>
                          <a:spcPct val="155000"/>
                        </a:lnSpc>
                        <a:spcBef>
                          <a:spcPts val="0"/>
                        </a:spcBef>
                        <a:spcAft>
                          <a:spcPts val="0"/>
                        </a:spcAft>
                      </a:pPr>
                      <a:r>
                        <a:rPr sz="890" b="0" i="0">
                          <a:solidFill>
                            <a:srgbClr val="1A1A1A"/>
                          </a:solidFill>
                          <a:latin typeface="Microsoft YaHei"/>
                        </a:rPr>
                        <a:t>三源同向</a:t>
                      </a:r>
                    </a:p>
                  </a:txBody>
                  <a:tcPr marL="66675" marR="66675" marT="42862" marB="42862" anchor="t">
                    <a:solidFill>
                      <a:srgbClr val="FAFBFD"/>
                    </a:solidFill>
                  </a:tcPr>
                </a:tc>
              </a:tr>
              <a:tr h="443507">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4</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分层：级间间隔落在 0.5–2.0 s，且随紧迫度单调缩短</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四条产业级级联时序（Lubbe 0.7；Daimler 1.4/1.0/0.5；Suzuki 档距 1.0；Phan 非固定秒数）</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中</a:t>
                      </a:r>
                    </a:p>
                    <a:p>
                      <a:pPr algn="ctr">
                        <a:lnSpc>
                          <a:spcPct val="155000"/>
                        </a:lnSpc>
                        <a:spcBef>
                          <a:spcPts val="0"/>
                        </a:spcBef>
                        <a:spcAft>
                          <a:spcPts val="0"/>
                        </a:spcAft>
                      </a:pPr>
                      <a:r>
                        <a:rPr sz="890" b="0" i="0">
                          <a:solidFill>
                            <a:srgbClr val="1A1A1A"/>
                          </a:solidFill>
                          <a:latin typeface="Microsoft YaHei"/>
                        </a:rPr>
                        <a:t>产业时序</a:t>
                      </a:r>
                    </a:p>
                  </a:txBody>
                  <a:tcPr marL="66675" marR="66675" marT="42862" marB="42862" anchor="t">
                    <a:noFill/>
                  </a:tcPr>
                </a:tc>
              </a:tr>
              <a:tr h="443507">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5</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锁定：跟随目标（BW）的定位效率显著优于屏幕固定与道路锁定</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Wu 等（2024）BW 617 vs BD 2 563 / BR 2 730 ms（近 4 倍）；机制上 BW 消除「图形—目标」的对应搜索</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中</a:t>
                      </a:r>
                    </a:p>
                    <a:p>
                      <a:pPr algn="ctr">
                        <a:lnSpc>
                          <a:spcPct val="155000"/>
                        </a:lnSpc>
                        <a:spcBef>
                          <a:spcPts val="0"/>
                        </a:spcBef>
                        <a:spcAft>
                          <a:spcPts val="0"/>
                        </a:spcAft>
                      </a:pPr>
                      <a:r>
                        <a:rPr sz="890" b="0" i="0">
                          <a:solidFill>
                            <a:srgbClr val="1A1A1A"/>
                          </a:solidFill>
                          <a:latin typeface="Microsoft YaHei"/>
                        </a:rPr>
                        <a:t>单项直接对照</a:t>
                      </a:r>
                    </a:p>
                  </a:txBody>
                  <a:tcPr marL="66675" marR="66675" marT="42862" marB="42862" anchor="t">
                    <a:solidFill>
                      <a:srgbClr val="FAFBFD"/>
                    </a:solidFill>
                  </a:tcPr>
                </a:tc>
              </a:tr>
              <a:tr h="443507">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6</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视觉参数：红—黄为日夜鲁棒色对，蓝紫不可用；不透明度取 0.6–0.75</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Zhong 等（2022）实车 42 组合两照度排序；不透明度四源收敛（Ye 与 Yin、Hou 等、Li 等、Lopez 与 Moacdieh）</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强</a:t>
                      </a:r>
                    </a:p>
                    <a:p>
                      <a:pPr algn="ctr">
                        <a:lnSpc>
                          <a:spcPct val="155000"/>
                        </a:lnSpc>
                        <a:spcBef>
                          <a:spcPts val="0"/>
                        </a:spcBef>
                        <a:spcAft>
                          <a:spcPts val="0"/>
                        </a:spcAft>
                      </a:pPr>
                      <a:r>
                        <a:rPr sz="890" b="0" i="0">
                          <a:solidFill>
                            <a:srgbClr val="1A1A1A"/>
                          </a:solidFill>
                          <a:latin typeface="Microsoft YaHei"/>
                        </a:rPr>
                        <a:t>四源收敛</a:t>
                      </a:r>
                    </a:p>
                  </a:txBody>
                  <a:tcPr marL="66675" marR="66675" marT="42862" marB="42862" anchor="t">
                    <a:noFill/>
                  </a:tcPr>
                </a:tc>
              </a:tr>
              <a:tr h="443507">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7</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归一化方向：参数应随运动学状态缩放，而非取固定数值</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时间侧 Takada 等（2014）减速度触发与 2 : 1 滞环；空间侧 Suzuki 等（2010）</a:t>
                      </a:r>
                      <a:r>
                        <a:rPr sz="890" b="0" i="1">
                          <a:solidFill>
                            <a:srgbClr val="1A1A1A"/>
                          </a:solidFill>
                          <a:latin typeface="Microsoft YaHei"/>
                        </a:rPr>
                        <a:t>R</a:t>
                      </a:r>
                      <a:r>
                        <a:rPr sz="620" b="0" i="1" baseline="-25000">
                          <a:solidFill>
                            <a:srgbClr val="1A1A1A"/>
                          </a:solidFill>
                          <a:latin typeface="Microsoft YaHei"/>
                        </a:rPr>
                        <a:t>x</a:t>
                      </a:r>
                      <a:r>
                        <a:rPr sz="890" b="0" i="1">
                          <a:solidFill>
                            <a:srgbClr val="1A1A1A"/>
                          </a:solidFill>
                          <a:latin typeface="Microsoft YaHei"/>
                        </a:rPr>
                        <a:t> = </a:t>
                      </a:r>
                      <a:r>
                        <a:rPr sz="890" b="0" i="1">
                          <a:solidFill>
                            <a:srgbClr val="1A1A1A"/>
                          </a:solidFill>
                          <a:latin typeface="Microsoft YaHei"/>
                        </a:rPr>
                        <a:t>T</a:t>
                      </a:r>
                      <a:r>
                        <a:rPr sz="620" b="0" i="1" baseline="-25000">
                          <a:solidFill>
                            <a:srgbClr val="1A1A1A"/>
                          </a:solidFill>
                          <a:latin typeface="Microsoft YaHei"/>
                        </a:rPr>
                        <a:t>tc</a:t>
                      </a:r>
                      <a:r>
                        <a:rPr sz="890" b="0" i="1">
                          <a:solidFill>
                            <a:srgbClr val="1A1A1A"/>
                          </a:solidFill>
                          <a:latin typeface="Microsoft YaHei"/>
                        </a:rPr>
                        <a:t>·</a:t>
                      </a:r>
                      <a:r>
                        <a:rPr sz="890" b="0" i="1">
                          <a:solidFill>
                            <a:srgbClr val="1A1A1A"/>
                          </a:solidFill>
                          <a:latin typeface="Microsoft YaHei"/>
                        </a:rPr>
                        <a:t>V</a:t>
                      </a:r>
                      <a:r>
                        <a:rPr sz="620" b="0" i="1" baseline="-25000">
                          <a:solidFill>
                            <a:srgbClr val="1A1A1A"/>
                          </a:solidFill>
                          <a:latin typeface="Microsoft YaHei"/>
                        </a:rPr>
                        <a:t>car</a:t>
                      </a:r>
                      <a:r>
                        <a:rPr sz="890" b="0" i="0">
                          <a:solidFill>
                            <a:srgbClr val="1A1A1A"/>
                          </a:solidFill>
                          <a:latin typeface="Microsoft YaHei"/>
                        </a:rPr>
                        <a:t>——两侧</a:t>
                      </a:r>
                      <a:r>
                        <a:rPr sz="890" b="1" i="0">
                          <a:solidFill>
                            <a:srgbClr val="1A1A1A"/>
                          </a:solidFill>
                          <a:latin typeface="Microsoft YaHei"/>
                        </a:rPr>
                        <a:t>同源</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中强</a:t>
                      </a:r>
                    </a:p>
                    <a:p>
                      <a:pPr algn="ctr">
                        <a:lnSpc>
                          <a:spcPct val="155000"/>
                        </a:lnSpc>
                        <a:spcBef>
                          <a:spcPts val="0"/>
                        </a:spcBef>
                        <a:spcAft>
                          <a:spcPts val="0"/>
                        </a:spcAft>
                      </a:pPr>
                      <a:r>
                        <a:rPr sz="890" b="0" i="0">
                          <a:solidFill>
                            <a:srgbClr val="1A1A1A"/>
                          </a:solidFill>
                          <a:latin typeface="Microsoft YaHei"/>
                        </a:rPr>
                        <a:t>算法侧一致</a:t>
                      </a:r>
                    </a:p>
                  </a:txBody>
                  <a:tcPr marL="66675" marR="66675" marT="42862" marB="42862" anchor="t">
                    <a:solidFill>
                      <a:srgbClr val="FAFBFD"/>
                    </a:solidFill>
                  </a:tcPr>
                </a:tc>
              </a:tr>
              <a:tr h="443507">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8</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副作用真实存在：AR 的收益以「不过度捕获注意」与「系统可靠」为前提</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Gabbard 等（2019）共形箭头注视 3.33 s 越过分心上界；Wang 等（2021）与 Chen 等（2023）无意视盲；Huo 与 Alla（2025）AR 依赖性</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强</a:t>
                      </a:r>
                    </a:p>
                    <a:p>
                      <a:pPr algn="ctr">
                        <a:lnSpc>
                          <a:spcPct val="155000"/>
                        </a:lnSpc>
                        <a:spcBef>
                          <a:spcPts val="0"/>
                        </a:spcBef>
                        <a:spcAft>
                          <a:spcPts val="0"/>
                        </a:spcAft>
                      </a:pPr>
                      <a:r>
                        <a:rPr sz="890" b="0" i="0">
                          <a:solidFill>
                            <a:srgbClr val="1A1A1A"/>
                          </a:solidFill>
                          <a:latin typeface="Microsoft YaHei"/>
                        </a:rPr>
                        <a:t>多源</a:t>
                      </a:r>
                    </a:p>
                  </a:txBody>
                  <a:tcPr marL="66675" marR="66675" marT="42862" marB="42862" anchor="t">
                    <a:noFill/>
                  </a:tcPr>
                </a:tc>
              </a:tr>
            </a:tbl>
          </a:graphicData>
        </a:graphic>
      </p:graphicFrame>
      <p:sp>
        <p:nvSpPr>
          <p:cNvPr id="10" name="Rectangle 9"/>
          <p:cNvSpPr/>
          <p:nvPr/>
        </p:nvSpPr>
        <p:spPr>
          <a:xfrm>
            <a:off x="438150" y="5233392"/>
            <a:ext cx="11315700"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8150" y="5233392"/>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1975" y="5319117"/>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上述共识仅限于「措施是否有效」与「信息置于何处」两个层面。</a:t>
            </a:r>
            <a:r>
              <a:rPr sz="990" b="0" i="0">
                <a:solidFill>
                  <a:srgbClr val="7A1F1F"/>
                </a:solidFill>
                <a:latin typeface="Microsoft YaHei"/>
              </a:rPr>
              <a:t>一旦追问</a:t>
            </a:r>
            <a:r>
              <a:rPr sz="990" b="1" i="0">
                <a:solidFill>
                  <a:srgbClr val="7A1F1F"/>
                </a:solidFill>
                <a:latin typeface="Microsoft YaHei"/>
              </a:rPr>
              <a:t>具体取值</a:t>
            </a:r>
            <a:r>
              <a:rPr sz="990" b="0" i="0">
                <a:solidFill>
                  <a:srgbClr val="7A1F1F"/>
                </a:solidFill>
                <a:latin typeface="Microsoft YaHei"/>
              </a:rPr>
              <a:t>——提前量、持续时长、级间间隔、可用可靠性下限、动态映射方式——</a:t>
            </a:r>
            <a:r>
              <a:rPr sz="990" b="1" i="0">
                <a:solidFill>
                  <a:srgbClr val="7A1F1F"/>
                </a:solidFill>
                <a:latin typeface="Microsoft YaHei"/>
              </a:rPr>
              <a:t>共识即不复存在</a:t>
            </a:r>
            <a:r>
              <a:rPr sz="990" b="0" i="0">
                <a:solidFill>
                  <a:srgbClr val="7A1F1F"/>
                </a:solidFill>
                <a:latin typeface="Microsoft YaHei"/>
              </a:rPr>
              <a:t>。下一页归纳这一层缺口的四类局限。</a:t>
            </a:r>
          </a:p>
        </p:txBody>
      </p:sp>
      <p:sp>
        <p:nvSpPr>
          <p:cNvPr id="13" name="TextBox 12"/>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20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研究局限</a:t>
            </a:r>
            <a:r>
              <a:rPr sz="1580" b="1" i="0">
                <a:solidFill>
                  <a:srgbClr val="4472C4"/>
                </a:solidFill>
                <a:latin typeface="Microsoft YaHei"/>
              </a:rPr>
              <a:t>既有研究的四类局限及其应对</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sp>
        <p:nvSpPr>
          <p:cNvPr id="6" name="Rounded Rectangle 5"/>
          <p:cNvSpPr/>
          <p:nvPr/>
        </p:nvSpPr>
        <p:spPr>
          <a:xfrm>
            <a:off x="438150" y="762000"/>
            <a:ext cx="5572125" cy="2636192"/>
          </a:xfrm>
          <a:prstGeom prst="roundRect">
            <a:avLst>
              <a:gd name="adj" fmla="val 2529"/>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1025" y="1133475"/>
            <a:ext cx="5286375"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85825"/>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C00000"/>
                </a:solidFill>
                <a:latin typeface="Microsoft YaHei"/>
              </a:rPr>
              <a:t>局限一 参数缺乏依据：取值系选定而非导出</a:t>
            </a:r>
          </a:p>
        </p:txBody>
      </p:sp>
      <p:sp>
        <p:nvSpPr>
          <p:cNvPr id="9" name="TextBox 8"/>
          <p:cNvSpPr txBox="1"/>
          <p:nvPr/>
        </p:nvSpPr>
        <p:spPr>
          <a:xfrm>
            <a:off x="581025" y="1219200"/>
            <a:ext cx="5324475"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文献中出现 </a:t>
            </a:r>
            <a:r>
              <a:rPr sz="1040" b="1" i="0">
                <a:solidFill>
                  <a:srgbClr val="1A1A1A"/>
                </a:solidFill>
                <a:latin typeface="Microsoft YaHei"/>
              </a:rPr>
              <a:t>1.8 / 2.0 / 2.5 / 3.0 / 4.0 / 5.0 / 6.0 s</a:t>
            </a:r>
            <a:r>
              <a:rPr sz="1040" b="0" i="0">
                <a:solidFill>
                  <a:srgbClr val="1A1A1A"/>
                </a:solidFill>
                <a:latin typeface="Microsoft YaHei"/>
              </a:rPr>
              <a:t> 七种取值，</a:t>
            </a:r>
            <a:r>
              <a:rPr sz="1040" b="1" i="0">
                <a:solidFill>
                  <a:srgbClr val="1A1A1A"/>
                </a:solidFill>
                <a:latin typeface="Microsoft YaHei"/>
              </a:rPr>
              <a:t>无一篇说明其取值依据</a:t>
            </a:r>
          </a:p>
        </p:txBody>
      </p:sp>
      <p:sp>
        <p:nvSpPr>
          <p:cNvPr id="10" name="TextBox 9"/>
          <p:cNvSpPr txBox="1"/>
          <p:nvPr/>
        </p:nvSpPr>
        <p:spPr>
          <a:xfrm>
            <a:off x="581025" y="1456283"/>
            <a:ext cx="5324475" cy="474166"/>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零点设定亦不恰当</a:t>
            </a:r>
            <a:r>
              <a:rPr sz="1040" b="0" i="0">
                <a:solidFill>
                  <a:srgbClr val="1A1A1A"/>
                </a:solidFill>
                <a:latin typeface="Microsoft YaHei"/>
              </a:rPr>
              <a:t>：预警一律设于「距冲突点的剩余时间」上，隐含假设驾驶员在预警前未察觉行人；而自发察觉时刻 </a:t>
            </a:r>
            <a:r>
              <a:rPr sz="1040" b="0" i="1">
                <a:solidFill>
                  <a:srgbClr val="1A1A1A"/>
                </a:solidFill>
                <a:latin typeface="Microsoft YaHei"/>
              </a:rPr>
              <a:t>t</a:t>
            </a:r>
            <a:r>
              <a:rPr sz="720" b="0" i="1" baseline="-25000">
                <a:solidFill>
                  <a:srgbClr val="1A1A1A"/>
                </a:solidFill>
                <a:latin typeface="Microsoft YaHei"/>
              </a:rPr>
              <a:t>0</a:t>
            </a:r>
            <a:r>
              <a:rPr sz="1040" b="0" i="0">
                <a:solidFill>
                  <a:srgbClr val="1A1A1A"/>
                </a:solidFill>
                <a:latin typeface="Microsoft YaHei"/>
              </a:rPr>
              <a:t> </a:t>
            </a:r>
            <a:r>
              <a:rPr sz="1040" b="1" i="0">
                <a:solidFill>
                  <a:srgbClr val="1A1A1A"/>
                </a:solidFill>
                <a:latin typeface="Microsoft YaHei"/>
              </a:rPr>
              <a:t>本库无一篇测量</a:t>
            </a:r>
            <a:r>
              <a:rPr sz="1040" b="0" i="0">
                <a:solidFill>
                  <a:srgbClr val="1A1A1A"/>
                </a:solidFill>
                <a:latin typeface="Microsoft YaHei"/>
              </a:rPr>
              <a:t>（G1）</a:t>
            </a:r>
          </a:p>
        </p:txBody>
      </p:sp>
      <p:sp>
        <p:nvSpPr>
          <p:cNvPr id="11" name="TextBox 10"/>
          <p:cNvSpPr txBox="1"/>
          <p:nvPr/>
        </p:nvSpPr>
        <p:spPr>
          <a:xfrm>
            <a:off x="581025" y="1920924"/>
            <a:ext cx="5324475"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持续时长</a:t>
            </a:r>
            <a:r>
              <a:rPr sz="1040" b="1" i="0">
                <a:solidFill>
                  <a:srgbClr val="1A1A1A"/>
                </a:solidFill>
                <a:latin typeface="Microsoft YaHei"/>
              </a:rPr>
              <a:t>报告率 &lt; 15%</a:t>
            </a:r>
            <a:r>
              <a:rPr sz="1040" b="0" i="0">
                <a:solidFill>
                  <a:srgbClr val="1A1A1A"/>
                </a:solidFill>
                <a:latin typeface="Microsoft YaHei"/>
              </a:rPr>
              <a:t>；Ma 等（2021）自陈 3 s 是「工程经验值」；渐隐时长</a:t>
            </a:r>
            <a:r>
              <a:rPr sz="1040" b="1" i="0">
                <a:solidFill>
                  <a:srgbClr val="1A1A1A"/>
                </a:solidFill>
                <a:latin typeface="Microsoft YaHei"/>
              </a:rPr>
              <a:t>无文献支撑</a:t>
            </a:r>
            <a:r>
              <a:rPr sz="1040" b="0" i="0">
                <a:solidFill>
                  <a:srgbClr val="1A1A1A"/>
                </a:solidFill>
                <a:latin typeface="Microsoft YaHei"/>
              </a:rPr>
              <a:t>（G3）</a:t>
            </a:r>
          </a:p>
        </p:txBody>
      </p:sp>
      <p:sp>
        <p:nvSpPr>
          <p:cNvPr id="12" name="Rectangle 11"/>
          <p:cNvSpPr/>
          <p:nvPr/>
        </p:nvSpPr>
        <p:spPr>
          <a:xfrm>
            <a:off x="581025" y="2414141"/>
            <a:ext cx="5286375" cy="578941"/>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81025" y="2414141"/>
            <a:ext cx="38100" cy="578941"/>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50" y="2499866"/>
            <a:ext cx="5076825" cy="436066"/>
          </a:xfrm>
          <a:prstGeom prst="rect">
            <a:avLst/>
          </a:prstGeom>
          <a:noFill/>
        </p:spPr>
        <p:txBody>
          <a:bodyPr wrap="square" lIns="0" rIns="0" tIns="0" bIns="0" anchor="t">
            <a:normAutofit/>
          </a:bodyPr>
          <a:lstStyle/>
          <a:p>
            <a:pPr algn="l">
              <a:lnSpc>
                <a:spcPct val="166000"/>
              </a:lnSpc>
              <a:spcBef>
                <a:spcPts val="0"/>
              </a:spcBef>
              <a:spcAft>
                <a:spcPts val="0"/>
              </a:spcAft>
            </a:pPr>
            <a:r>
              <a:rPr sz="940" b="1" i="0">
                <a:solidFill>
                  <a:srgbClr val="1F5A1F"/>
                </a:solidFill>
                <a:latin typeface="Microsoft YaHei"/>
              </a:rPr>
              <a:t>本研究的处理：</a:t>
            </a:r>
            <a:r>
              <a:rPr sz="940" b="0" i="0">
                <a:solidFill>
                  <a:srgbClr val="1F5A1F"/>
                </a:solidFill>
                <a:latin typeface="Microsoft YaHei"/>
              </a:rPr>
              <a:t>实验 1 实测 </a:t>
            </a:r>
            <a:r>
              <a:rPr sz="940" b="0" i="1">
                <a:solidFill>
                  <a:srgbClr val="1F5A1F"/>
                </a:solidFill>
                <a:latin typeface="Microsoft YaHei"/>
              </a:rPr>
              <a:t>t</a:t>
            </a:r>
            <a:r>
              <a:rPr sz="660" b="0" i="1" baseline="-25000">
                <a:solidFill>
                  <a:srgbClr val="1F5A1F"/>
                </a:solidFill>
                <a:latin typeface="Microsoft YaHei"/>
              </a:rPr>
              <a:t>0</a:t>
            </a:r>
            <a:r>
              <a:rPr sz="940" b="0" i="0">
                <a:solidFill>
                  <a:srgbClr val="1F5A1F"/>
                </a:solidFill>
                <a:latin typeface="Microsoft YaHei"/>
              </a:rPr>
              <a:t>／PRT／</a:t>
            </a:r>
            <a:r>
              <a:rPr sz="940" b="0" i="1">
                <a:solidFill>
                  <a:srgbClr val="1F5A1F"/>
                </a:solidFill>
                <a:latin typeface="Microsoft YaHei"/>
              </a:rPr>
              <a:t>a</a:t>
            </a:r>
            <a:r>
              <a:rPr sz="660" b="0" i="1" baseline="-25000">
                <a:solidFill>
                  <a:srgbClr val="1F5A1F"/>
                </a:solidFill>
                <a:latin typeface="Microsoft YaHei"/>
              </a:rPr>
              <a:t>comf</a:t>
            </a:r>
            <a:r>
              <a:rPr sz="940" b="0" i="0">
                <a:solidFill>
                  <a:srgbClr val="1F5A1F"/>
                </a:solidFill>
                <a:latin typeface="Microsoft YaHei"/>
              </a:rPr>
              <a:t>，将时间零点</a:t>
            </a:r>
            <a:r>
              <a:rPr sz="940" b="1" i="0">
                <a:solidFill>
                  <a:srgbClr val="1F5A1F"/>
                </a:solidFill>
                <a:latin typeface="Microsoft YaHei"/>
              </a:rPr>
              <a:t>由冲突点改为驾驶员的自发察觉时刻</a:t>
            </a:r>
            <a:r>
              <a:rPr sz="940" b="0" i="0">
                <a:solidFill>
                  <a:srgbClr val="1F5A1F"/>
                </a:solidFill>
                <a:latin typeface="Microsoft YaHei"/>
              </a:rPr>
              <a:t>；参数由</a:t>
            </a:r>
            <a:r>
              <a:rPr sz="940" b="1" i="0">
                <a:solidFill>
                  <a:srgbClr val="1F5A1F"/>
                </a:solidFill>
                <a:latin typeface="Microsoft YaHei"/>
              </a:rPr>
              <a:t>三重约束模型导出</a:t>
            </a:r>
            <a:r>
              <a:rPr sz="940" b="0" i="0">
                <a:solidFill>
                  <a:srgbClr val="1F5A1F"/>
                </a:solidFill>
                <a:latin typeface="Microsoft YaHei"/>
              </a:rPr>
              <a:t>而非枚举。</a:t>
            </a:r>
          </a:p>
        </p:txBody>
      </p:sp>
      <p:sp>
        <p:nvSpPr>
          <p:cNvPr id="15" name="Rounded Rectangle 14"/>
          <p:cNvSpPr/>
          <p:nvPr/>
        </p:nvSpPr>
        <p:spPr>
          <a:xfrm>
            <a:off x="6181725" y="762000"/>
            <a:ext cx="5572125" cy="2636192"/>
          </a:xfrm>
          <a:prstGeom prst="roundRect">
            <a:avLst>
              <a:gd name="adj" fmla="val 2529"/>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324600" y="1133475"/>
            <a:ext cx="5286375"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0" y="885825"/>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C00000"/>
                </a:solidFill>
                <a:latin typeface="Microsoft YaHei"/>
              </a:rPr>
              <a:t>局限二 结论互斥：同一取值同时被报告为有效与有害</a:t>
            </a:r>
          </a:p>
        </p:txBody>
      </p:sp>
      <p:sp>
        <p:nvSpPr>
          <p:cNvPr id="18" name="TextBox 17"/>
          <p:cNvSpPr txBox="1"/>
          <p:nvPr/>
        </p:nvSpPr>
        <p:spPr>
          <a:xfrm>
            <a:off x="6324600" y="1219200"/>
            <a:ext cx="5324475"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同一个 </a:t>
            </a:r>
            <a:r>
              <a:rPr sz="1040" b="1" i="0">
                <a:solidFill>
                  <a:srgbClr val="1A1A1A"/>
                </a:solidFill>
                <a:latin typeface="Microsoft YaHei"/>
              </a:rPr>
              <a:t>5.0 s</a:t>
            </a:r>
            <a:r>
              <a:rPr sz="1040" b="0" i="0">
                <a:solidFill>
                  <a:srgbClr val="1A1A1A"/>
                </a:solidFill>
                <a:latin typeface="Microsoft YaHei"/>
              </a:rPr>
              <a:t>：Kang（2016）</a:t>
            </a:r>
            <a:r>
              <a:rPr sz="1040" b="1" i="0">
                <a:solidFill>
                  <a:srgbClr val="3E7D3E"/>
                </a:solidFill>
                <a:latin typeface="Microsoft YaHei"/>
              </a:rPr>
              <a:t>有效</a:t>
            </a:r>
            <a:r>
              <a:rPr sz="1040" b="0" i="0">
                <a:solidFill>
                  <a:srgbClr val="1A1A1A"/>
                </a:solidFill>
                <a:latin typeface="Microsoft YaHei"/>
              </a:rPr>
              <a:t>／Kim（2018）</a:t>
            </a:r>
            <a:r>
              <a:rPr sz="1040" b="1" i="0">
                <a:solidFill>
                  <a:srgbClr val="C00000"/>
                </a:solidFill>
                <a:latin typeface="Microsoft YaHei"/>
              </a:rPr>
              <a:t>峰值减速度 +34.46%</a:t>
            </a:r>
            <a:r>
              <a:rPr sz="1040" b="0" i="0">
                <a:solidFill>
                  <a:srgbClr val="1A1A1A"/>
                </a:solidFill>
                <a:latin typeface="Microsoft YaHei"/>
              </a:rPr>
              <a:t>／Wang（2025）</a:t>
            </a:r>
            <a:r>
              <a:rPr sz="1040" b="1" i="0">
                <a:solidFill>
                  <a:srgbClr val="E0A100"/>
                </a:solidFill>
                <a:latin typeface="Microsoft YaHei"/>
              </a:rPr>
              <a:t>无增益</a:t>
            </a:r>
          </a:p>
        </p:txBody>
      </p:sp>
      <p:sp>
        <p:nvSpPr>
          <p:cNvPr id="19" name="TextBox 18"/>
          <p:cNvSpPr txBox="1"/>
          <p:nvPr/>
        </p:nvSpPr>
        <p:spPr>
          <a:xfrm>
            <a:off x="6324600" y="1674316"/>
            <a:ext cx="5324475"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同一个 </a:t>
            </a:r>
            <a:r>
              <a:rPr sz="1040" b="1" i="0">
                <a:solidFill>
                  <a:srgbClr val="1A1A1A"/>
                </a:solidFill>
                <a:latin typeface="Microsoft YaHei"/>
              </a:rPr>
              <a:t>15% 错误率</a:t>
            </a:r>
            <a:r>
              <a:rPr sz="1040" b="0" i="0">
                <a:solidFill>
                  <a:srgbClr val="1A1A1A"/>
                </a:solidFill>
                <a:latin typeface="Microsoft YaHei"/>
              </a:rPr>
              <a:t>：Schall（2013）</a:t>
            </a:r>
            <a:r>
              <a:rPr sz="1040" b="1" i="0">
                <a:solidFill>
                  <a:srgbClr val="3E7D3E"/>
                </a:solidFill>
                <a:latin typeface="Microsoft YaHei"/>
              </a:rPr>
              <a:t>零效应</a:t>
            </a:r>
            <a:r>
              <a:rPr sz="1040" b="0" i="0">
                <a:solidFill>
                  <a:srgbClr val="1A1A1A"/>
                </a:solidFill>
                <a:latin typeface="Microsoft YaHei"/>
              </a:rPr>
              <a:t>／Abe 与 Richardson（2006）</a:t>
            </a:r>
            <a:r>
              <a:rPr sz="1040" b="1" i="0">
                <a:solidFill>
                  <a:srgbClr val="C00000"/>
                </a:solidFill>
                <a:latin typeface="Microsoft YaHei"/>
              </a:rPr>
              <a:t>信任 7.3 → 4.3</a:t>
            </a:r>
          </a:p>
        </p:txBody>
      </p:sp>
      <p:sp>
        <p:nvSpPr>
          <p:cNvPr id="20" name="TextBox 19"/>
          <p:cNvSpPr txBox="1"/>
          <p:nvPr/>
        </p:nvSpPr>
        <p:spPr>
          <a:xfrm>
            <a:off x="6324600" y="2129432"/>
            <a:ext cx="5324475"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同一个 </a:t>
            </a:r>
            <a:r>
              <a:rPr sz="1040" b="1" i="0">
                <a:solidFill>
                  <a:srgbClr val="1A1A1A"/>
                </a:solidFill>
                <a:latin typeface="Microsoft YaHei"/>
              </a:rPr>
              <a:t>2.5 s</a:t>
            </a:r>
            <a:r>
              <a:rPr sz="1040" b="0" i="0">
                <a:solidFill>
                  <a:srgbClr val="1A1A1A"/>
                </a:solidFill>
                <a:latin typeface="Microsoft YaHei"/>
              </a:rPr>
              <a:t>：多篇当作有效阈值，Zhang（2015）证其</a:t>
            </a:r>
            <a:r>
              <a:rPr sz="1040" b="1" i="0">
                <a:solidFill>
                  <a:srgbClr val="1A1A1A"/>
                </a:solidFill>
                <a:latin typeface="Microsoft YaHei"/>
              </a:rPr>
              <a:t>单层无效</a:t>
            </a:r>
          </a:p>
        </p:txBody>
      </p:sp>
      <p:sp>
        <p:nvSpPr>
          <p:cNvPr id="21" name="TextBox 20"/>
          <p:cNvSpPr txBox="1"/>
          <p:nvPr/>
        </p:nvSpPr>
        <p:spPr>
          <a:xfrm>
            <a:off x="6324600" y="2366516"/>
            <a:ext cx="5324475"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根源在于</a:t>
            </a:r>
            <a:r>
              <a:rPr sz="1040" b="1" i="0">
                <a:solidFill>
                  <a:srgbClr val="1A1A1A"/>
                </a:solidFill>
                <a:latin typeface="Microsoft YaHei"/>
              </a:rPr>
              <a:t>第三变量未被控制</a:t>
            </a:r>
            <a:r>
              <a:rPr sz="1040" b="0" i="0">
                <a:solidFill>
                  <a:srgbClr val="1A1A1A"/>
                </a:solidFill>
                <a:latin typeface="Microsoft YaHei"/>
              </a:rPr>
              <a:t>：车速、呈现模态与</a:t>
            </a:r>
            <a:r>
              <a:rPr sz="1040" b="1" i="0">
                <a:solidFill>
                  <a:srgbClr val="1A1A1A"/>
                </a:solidFill>
                <a:latin typeface="Microsoft YaHei"/>
              </a:rPr>
              <a:t>行动要求强度</a:t>
            </a:r>
          </a:p>
        </p:txBody>
      </p:sp>
      <p:sp>
        <p:nvSpPr>
          <p:cNvPr id="22" name="Rectangle 21"/>
          <p:cNvSpPr/>
          <p:nvPr/>
        </p:nvSpPr>
        <p:spPr>
          <a:xfrm>
            <a:off x="6324600" y="2641699"/>
            <a:ext cx="5286375" cy="569416"/>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324600" y="2641699"/>
            <a:ext cx="38100" cy="56941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8425" y="2727424"/>
            <a:ext cx="5076825" cy="426541"/>
          </a:xfrm>
          <a:prstGeom prst="rect">
            <a:avLst/>
          </a:prstGeom>
          <a:noFill/>
        </p:spPr>
        <p:txBody>
          <a:bodyPr wrap="square" lIns="0" rIns="0" tIns="0" bIns="0" anchor="t">
            <a:normAutofit/>
          </a:bodyPr>
          <a:lstStyle/>
          <a:p>
            <a:pPr algn="l">
              <a:lnSpc>
                <a:spcPct val="166000"/>
              </a:lnSpc>
              <a:spcBef>
                <a:spcPts val="0"/>
              </a:spcBef>
              <a:spcAft>
                <a:spcPts val="0"/>
              </a:spcAft>
            </a:pPr>
            <a:r>
              <a:rPr sz="940" b="1" i="0">
                <a:solidFill>
                  <a:srgbClr val="1F5A1F"/>
                </a:solidFill>
                <a:latin typeface="Microsoft YaHei"/>
              </a:rPr>
              <a:t>本研究的处理：</a:t>
            </a:r>
            <a:r>
              <a:rPr sz="940" b="0" i="0">
                <a:solidFill>
                  <a:srgbClr val="1F5A1F"/>
                </a:solidFill>
                <a:latin typeface="Microsoft YaHei"/>
              </a:rPr>
              <a:t>将结论冲突视为</a:t>
            </a:r>
            <a:r>
              <a:rPr sz="940" b="1" i="0">
                <a:solidFill>
                  <a:srgbClr val="1F5A1F"/>
                </a:solidFill>
                <a:latin typeface="Microsoft YaHei"/>
              </a:rPr>
              <a:t>调节变量存在的实证信号</a:t>
            </a:r>
            <a:r>
              <a:rPr sz="940" b="0" i="0">
                <a:solidFill>
                  <a:srgbClr val="1F5A1F"/>
                </a:solidFill>
                <a:latin typeface="Microsoft YaHei"/>
              </a:rPr>
              <a:t>，逐组还原并</a:t>
            </a:r>
            <a:r>
              <a:rPr sz="940" b="1" i="0">
                <a:solidFill>
                  <a:srgbClr val="1F5A1F"/>
                </a:solidFill>
                <a:latin typeface="Microsoft YaHei"/>
              </a:rPr>
              <a:t>升格为自变量</a:t>
            </a:r>
            <a:r>
              <a:rPr sz="940" b="0" i="0">
                <a:solidFill>
                  <a:srgbClr val="1F5A1F"/>
                </a:solidFill>
                <a:latin typeface="Microsoft YaHei"/>
              </a:rPr>
              <a:t>（七组主要冲突 + 四组次级冲突），而</a:t>
            </a:r>
            <a:r>
              <a:rPr sz="940" b="1" i="0">
                <a:solidFill>
                  <a:srgbClr val="1F5A1F"/>
                </a:solidFill>
                <a:latin typeface="Microsoft YaHei"/>
              </a:rPr>
              <a:t>不作平均或回避处理</a:t>
            </a:r>
            <a:r>
              <a:rPr sz="940" b="0" i="0">
                <a:solidFill>
                  <a:srgbClr val="1F5A1F"/>
                </a:solidFill>
                <a:latin typeface="Microsoft YaHei"/>
              </a:rPr>
              <a:t>。</a:t>
            </a:r>
          </a:p>
        </p:txBody>
      </p:sp>
      <p:sp>
        <p:nvSpPr>
          <p:cNvPr id="25" name="Rounded Rectangle 24"/>
          <p:cNvSpPr/>
          <p:nvPr/>
        </p:nvSpPr>
        <p:spPr>
          <a:xfrm>
            <a:off x="438150" y="3474392"/>
            <a:ext cx="5572125" cy="2527250"/>
          </a:xfrm>
          <a:prstGeom prst="roundRect">
            <a:avLst>
              <a:gd name="adj" fmla="val 2638"/>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81025" y="3845867"/>
            <a:ext cx="5286375"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1025" y="3598217"/>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C00000"/>
                </a:solidFill>
                <a:latin typeface="Microsoft YaHei"/>
              </a:rPr>
              <a:t>局限三 口径不可比：形式相同的数值含义不同</a:t>
            </a:r>
          </a:p>
        </p:txBody>
      </p:sp>
      <p:sp>
        <p:nvSpPr>
          <p:cNvPr id="28" name="TextBox 27"/>
          <p:cNvSpPr txBox="1"/>
          <p:nvPr/>
        </p:nvSpPr>
        <p:spPr>
          <a:xfrm>
            <a:off x="581025" y="3931592"/>
            <a:ext cx="5324475"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固定秒数跨车速不等价：</a:t>
            </a:r>
            <a:r>
              <a:rPr sz="1040" b="0" i="0">
                <a:solidFill>
                  <a:srgbClr val="1A1A1A"/>
                </a:solidFill>
                <a:latin typeface="Microsoft YaHei"/>
              </a:rPr>
              <a:t>同一 TTC = 2 s，40 km/h 下 BTN 0.35，80 km/h 下 BTN 0.69（接近全力）</a:t>
            </a:r>
          </a:p>
        </p:txBody>
      </p:sp>
      <p:sp>
        <p:nvSpPr>
          <p:cNvPr id="29" name="TextBox 28"/>
          <p:cNvSpPr txBox="1"/>
          <p:nvPr/>
        </p:nvSpPr>
        <p:spPr>
          <a:xfrm>
            <a:off x="581025" y="4386708"/>
            <a:ext cx="5324475"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不透明度记法差 3 倍：</a:t>
            </a:r>
            <a:r>
              <a:rPr sz="1040" b="0" i="0">
                <a:solidFill>
                  <a:srgbClr val="1A1A1A"/>
                </a:solidFill>
                <a:latin typeface="Microsoft YaHei"/>
              </a:rPr>
              <a:t>四篇未统一（已裁定为 alpha，收敛 0.6–0.75）</a:t>
            </a:r>
          </a:p>
        </p:txBody>
      </p:sp>
      <p:sp>
        <p:nvSpPr>
          <p:cNvPr id="30" name="TextBox 29"/>
          <p:cNvSpPr txBox="1"/>
          <p:nvPr/>
        </p:nvSpPr>
        <p:spPr>
          <a:xfrm>
            <a:off x="581025" y="4623792"/>
            <a:ext cx="5324475"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FOV 混用两个物理量：</a:t>
            </a:r>
            <a:r>
              <a:rPr sz="1040" b="0" i="0">
                <a:solidFill>
                  <a:srgbClr val="1A1A1A"/>
                </a:solidFill>
                <a:latin typeface="Microsoft YaHei"/>
              </a:rPr>
              <a:t>显示 FOV 10°–15° 与传感 FOV &gt; 30°，后果不同</a:t>
            </a:r>
          </a:p>
        </p:txBody>
      </p:sp>
      <p:sp>
        <p:nvSpPr>
          <p:cNvPr id="31" name="TextBox 30"/>
          <p:cNvSpPr txBox="1"/>
          <p:nvPr/>
        </p:nvSpPr>
        <p:spPr>
          <a:xfrm>
            <a:off x="581025" y="4860875"/>
            <a:ext cx="5324475"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眼动指标按单调方向解释：</a:t>
            </a:r>
            <a:r>
              <a:rPr sz="1040" b="0" i="0">
                <a:solidFill>
                  <a:srgbClr val="1A1A1A"/>
                </a:solidFill>
                <a:latin typeface="Microsoft YaHei"/>
              </a:rPr>
              <a:t>实为</a:t>
            </a:r>
            <a:r>
              <a:rPr sz="1040" b="1" i="0">
                <a:solidFill>
                  <a:srgbClr val="1A1A1A"/>
                </a:solidFill>
                <a:latin typeface="Microsoft YaHei"/>
              </a:rPr>
              <a:t>双侧门槛</a:t>
            </a:r>
            <a:r>
              <a:rPr sz="1040" b="0" i="0">
                <a:solidFill>
                  <a:srgbClr val="1A1A1A"/>
                </a:solidFill>
                <a:latin typeface="Microsoft YaHei"/>
              </a:rPr>
              <a:t>（TTFF 100–300 ms、TDT 500–2 000 ms）</a:t>
            </a:r>
          </a:p>
        </p:txBody>
      </p:sp>
      <p:sp>
        <p:nvSpPr>
          <p:cNvPr id="32" name="Rectangle 31"/>
          <p:cNvSpPr/>
          <p:nvPr/>
        </p:nvSpPr>
        <p:spPr>
          <a:xfrm>
            <a:off x="581025" y="5136058"/>
            <a:ext cx="5286375" cy="578941"/>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81025" y="5136058"/>
            <a:ext cx="38100" cy="578941"/>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850" y="5221783"/>
            <a:ext cx="5076825" cy="436066"/>
          </a:xfrm>
          <a:prstGeom prst="rect">
            <a:avLst/>
          </a:prstGeom>
          <a:noFill/>
        </p:spPr>
        <p:txBody>
          <a:bodyPr wrap="square" lIns="0" rIns="0" tIns="0" bIns="0" anchor="t">
            <a:normAutofit/>
          </a:bodyPr>
          <a:lstStyle/>
          <a:p>
            <a:pPr algn="l">
              <a:lnSpc>
                <a:spcPct val="166000"/>
              </a:lnSpc>
              <a:spcBef>
                <a:spcPts val="0"/>
              </a:spcBef>
              <a:spcAft>
                <a:spcPts val="0"/>
              </a:spcAft>
            </a:pPr>
            <a:r>
              <a:rPr sz="940" b="1" i="0">
                <a:solidFill>
                  <a:srgbClr val="1F5A1F"/>
                </a:solidFill>
                <a:latin typeface="Microsoft YaHei"/>
              </a:rPr>
              <a:t>本研究的处理：</a:t>
            </a:r>
            <a:r>
              <a:rPr sz="940" b="0" i="0">
                <a:solidFill>
                  <a:srgbClr val="1F5A1F"/>
                </a:solidFill>
                <a:latin typeface="Microsoft YaHei"/>
              </a:rPr>
              <a:t>统一到</a:t>
            </a:r>
            <a:r>
              <a:rPr sz="940" b="1" i="0">
                <a:solidFill>
                  <a:srgbClr val="1F5A1F"/>
                </a:solidFill>
                <a:latin typeface="Microsoft YaHei"/>
              </a:rPr>
              <a:t>运动学量</a:t>
            </a:r>
            <a:r>
              <a:rPr sz="940" b="0" i="0">
                <a:solidFill>
                  <a:srgbClr val="1F5A1F"/>
                </a:solidFill>
                <a:latin typeface="Microsoft YaHei"/>
              </a:rPr>
              <a:t>（BTN 与 </a:t>
            </a:r>
            <a:r>
              <a:rPr sz="940" b="0" i="1">
                <a:solidFill>
                  <a:srgbClr val="1F5A1F"/>
                </a:solidFill>
                <a:latin typeface="Microsoft YaHei"/>
              </a:rPr>
              <a:t>R</a:t>
            </a:r>
            <a:r>
              <a:rPr sz="660" b="0" i="1" baseline="-25000">
                <a:solidFill>
                  <a:srgbClr val="1F5A1F"/>
                </a:solidFill>
                <a:latin typeface="Microsoft YaHei"/>
              </a:rPr>
              <a:t>x</a:t>
            </a:r>
            <a:r>
              <a:rPr sz="940" b="0" i="0">
                <a:solidFill>
                  <a:srgbClr val="1F5A1F"/>
                </a:solidFill>
                <a:latin typeface="Microsoft YaHei"/>
              </a:rPr>
              <a:t> 同源）；眼动改</a:t>
            </a:r>
            <a:r>
              <a:rPr sz="940" b="1" i="0">
                <a:solidFill>
                  <a:srgbClr val="1F5A1F"/>
                </a:solidFill>
                <a:latin typeface="Microsoft YaHei"/>
              </a:rPr>
              <a:t>区间判定</a:t>
            </a:r>
            <a:r>
              <a:rPr sz="940" b="0" i="0">
                <a:solidFill>
                  <a:srgbClr val="1F5A1F"/>
                </a:solidFill>
                <a:latin typeface="Microsoft YaHei"/>
              </a:rPr>
              <a:t>；记法在方法章显式定义。</a:t>
            </a:r>
          </a:p>
        </p:txBody>
      </p:sp>
      <p:sp>
        <p:nvSpPr>
          <p:cNvPr id="35" name="Rounded Rectangle 34"/>
          <p:cNvSpPr/>
          <p:nvPr/>
        </p:nvSpPr>
        <p:spPr>
          <a:xfrm>
            <a:off x="6181725" y="3474392"/>
            <a:ext cx="5572125" cy="2527250"/>
          </a:xfrm>
          <a:prstGeom prst="roundRect">
            <a:avLst>
              <a:gd name="adj" fmla="val 2638"/>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324600" y="3845867"/>
            <a:ext cx="5286375"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24600" y="3598217"/>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C00000"/>
                </a:solidFill>
                <a:latin typeface="Microsoft YaHei"/>
              </a:rPr>
              <a:t>局限四 关键对照缺失：核心比较均无人因实验</a:t>
            </a:r>
          </a:p>
        </p:txBody>
      </p:sp>
      <p:graphicFrame>
        <p:nvGraphicFramePr>
          <p:cNvPr id="38" name="Table 37"/>
          <p:cNvGraphicFramePr>
            <a:graphicFrameLocks noGrp="1"/>
          </p:cNvGraphicFramePr>
          <p:nvPr/>
        </p:nvGraphicFramePr>
        <p:xfrm>
          <a:off x="6324600" y="3931592"/>
          <a:ext cx="5286374" cy="1878206"/>
        </p:xfrm>
        <a:graphic>
          <a:graphicData uri="http://schemas.openxmlformats.org/drawingml/2006/table">
            <a:tbl>
              <a:tblPr>
                <a:tableStyleId>{5C22544A-7EE6-4342-B048-85BDC9FD1C3A}</a:tableStyleId>
              </a:tblPr>
              <a:tblGrid>
                <a:gridCol w="634305"/>
                <a:gridCol w="3700611"/>
                <a:gridCol w="951458"/>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空白</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「零对照」的内容</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本研究</a:t>
                      </a:r>
                    </a:p>
                  </a:txBody>
                  <a:tcPr marL="66675" marR="66675" marT="52387" marB="52387" anchor="t">
                    <a:solidFill>
                      <a:srgbClr val="4472C4"/>
                    </a:solidFill>
                  </a:tcPr>
                </a:tc>
              </a:tr>
              <a:tr h="264616">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G2</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触发准则类型</a:t>
                      </a:r>
                      <a:r>
                        <a:rPr sz="890" b="1" i="0">
                          <a:solidFill>
                            <a:srgbClr val="1A1A1A"/>
                          </a:solidFill>
                          <a:latin typeface="Microsoft YaHei"/>
                        </a:rPr>
                        <a:t>从未作为自变量</a:t>
                      </a:r>
                      <a:r>
                        <a:rPr sz="890" b="0" i="0">
                          <a:solidFill>
                            <a:srgbClr val="1A1A1A"/>
                          </a:solidFill>
                          <a:latin typeface="Microsoft YaHei"/>
                        </a:rPr>
                        <a:t>；算法侧四篇一致，</a:t>
                      </a:r>
                      <a:r>
                        <a:rPr sz="890" b="1" i="0">
                          <a:solidFill>
                            <a:srgbClr val="1A1A1A"/>
                          </a:solidFill>
                          <a:latin typeface="Microsoft YaHei"/>
                        </a:rPr>
                        <a:t>人因侧零对照</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a:t>
                      </a:r>
                    </a:p>
                  </a:txBody>
                  <a:tcPr marL="66675" marR="66675" marT="42862" marB="42862" anchor="t">
                    <a:solidFill>
                      <a:srgbClr val="FAFBFD"/>
                    </a:solidFill>
                  </a:tcPr>
                </a:tc>
              </a:tr>
              <a:tr h="269378">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G3</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持续时长的对照实验</a:t>
                      </a:r>
                      <a:r>
                        <a:rPr sz="890" b="1" i="0">
                          <a:solidFill>
                            <a:srgbClr val="1A1A1A"/>
                          </a:solidFill>
                          <a:latin typeface="Microsoft YaHei"/>
                        </a:rPr>
                        <a:t>完全缺失</a:t>
                      </a:r>
                      <a:r>
                        <a:rPr sz="890" b="0" i="0">
                          <a:solidFill>
                            <a:srgbClr val="1A1A1A"/>
                          </a:solidFill>
                          <a:latin typeface="Microsoft YaHei"/>
                        </a:rPr>
                        <a:t>；撤销仅 2 : 1 滞环一条</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 区块 B</a:t>
                      </a:r>
                    </a:p>
                  </a:txBody>
                  <a:tcPr marL="66675" marR="66675" marT="42862" marB="42862" anchor="t">
                    <a:noFill/>
                  </a:tcPr>
                </a:tc>
              </a:tr>
              <a:tr h="269378">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G4</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级间间隔</a:t>
                      </a:r>
                      <a:r>
                        <a:rPr sz="890" b="1" i="0">
                          <a:solidFill>
                            <a:srgbClr val="1A1A1A"/>
                          </a:solidFill>
                          <a:latin typeface="Microsoft YaHei"/>
                        </a:rPr>
                        <a:t>无任何直接人因对照</a:t>
                      </a:r>
                      <a:r>
                        <a:rPr sz="890" b="0" i="0">
                          <a:solidFill>
                            <a:srgbClr val="1A1A1A"/>
                          </a:solidFill>
                          <a:latin typeface="Microsoft YaHei"/>
                        </a:rPr>
                        <a:t>（区间来自产业时序）</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3</a:t>
                      </a:r>
                    </a:p>
                  </a:txBody>
                  <a:tcPr marL="66675" marR="66675" marT="42862" marB="42862" anchor="t">
                    <a:solidFill>
                      <a:srgbClr val="FAFBFD"/>
                    </a:solidFill>
                  </a:tcPr>
                </a:tc>
              </a:tr>
              <a:tr h="269378">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G5</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可靠性 × 时机的</a:t>
                      </a:r>
                      <a:r>
                        <a:rPr sz="890" b="1" i="0">
                          <a:solidFill>
                            <a:srgbClr val="1A1A1A"/>
                          </a:solidFill>
                          <a:latin typeface="Microsoft YaHei"/>
                        </a:rPr>
                        <a:t>交互从未被分离</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3</a:t>
                      </a:r>
                    </a:p>
                  </a:txBody>
                  <a:tcPr marL="66675" marR="66675" marT="42862" marB="42862" anchor="t">
                    <a:noFill/>
                  </a:tcPr>
                </a:tc>
              </a:tr>
              <a:tr h="269378">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G6</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四种锁定的</a:t>
                      </a:r>
                      <a:r>
                        <a:rPr sz="890" b="1" i="0">
                          <a:solidFill>
                            <a:srgbClr val="1A1A1A"/>
                          </a:solidFill>
                          <a:latin typeface="Microsoft YaHei"/>
                        </a:rPr>
                        <a:t>正交对照至今无一实现</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4</a:t>
                      </a:r>
                    </a:p>
                  </a:txBody>
                  <a:tcPr marL="66675" marR="66675" marT="42862" marB="42862" anchor="t">
                    <a:solidFill>
                      <a:srgbClr val="FAFBFD"/>
                    </a:solidFill>
                  </a:tcPr>
                </a:tc>
              </a:tr>
              <a:tr h="269378">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G7</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「动态」</a:t>
                      </a:r>
                      <a:r>
                        <a:rPr sz="890" b="1" i="0">
                          <a:solidFill>
                            <a:srgbClr val="1A1A1A"/>
                          </a:solidFill>
                          <a:latin typeface="Microsoft YaHei"/>
                        </a:rPr>
                        <a:t>无一篇</a:t>
                      </a:r>
                      <a:r>
                        <a:rPr sz="890" b="0" i="0">
                          <a:solidFill>
                            <a:srgbClr val="1A1A1A"/>
                          </a:solidFill>
                          <a:latin typeface="Microsoft YaHei"/>
                        </a:rPr>
                        <a:t>拆分为量级映射 × 趋势映射的 2 × 2</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5</a:t>
                      </a:r>
                    </a:p>
                  </a:txBody>
                  <a:tcPr marL="66675" marR="66675" marT="42862" marB="42862" anchor="t">
                    <a:noFill/>
                  </a:tcPr>
                </a:tc>
              </a:tr>
            </a:tbl>
          </a:graphicData>
        </a:graphic>
      </p:graphicFrame>
      <p:sp>
        <p:nvSpPr>
          <p:cNvPr id="39" name="Rectangle 38"/>
          <p:cNvSpPr/>
          <p:nvPr/>
        </p:nvSpPr>
        <p:spPr>
          <a:xfrm>
            <a:off x="438150" y="6077842"/>
            <a:ext cx="11315700" cy="380107"/>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438150" y="6077842"/>
            <a:ext cx="38100" cy="380107"/>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1975" y="6163567"/>
            <a:ext cx="11106150" cy="237232"/>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四类局限的共同后果：既有结论无法汇总为一套设计规范</a:t>
            </a:r>
            <a:r>
              <a:rPr sz="990" b="0" i="0">
                <a:solidFill>
                  <a:srgbClr val="7A1F1F"/>
                </a:solidFill>
                <a:latin typeface="Microsoft YaHei"/>
              </a:rPr>
              <a:t>——零点不一、口径不一、第三变量未受控制，简单汇总亦不会自动收敛。</a:t>
            </a:r>
            <a:r>
              <a:rPr sz="990" b="1" i="0">
                <a:solidFill>
                  <a:srgbClr val="7A1F1F"/>
                </a:solidFill>
                <a:latin typeface="Microsoft YaHei"/>
              </a:rPr>
              <a:t>此即本研究先行开展实验 1、再逐层固定参数的理由。</a:t>
            </a:r>
          </a:p>
        </p:txBody>
      </p:sp>
      <p:sp>
        <p:nvSpPr>
          <p:cNvPr id="42" name="TextBox 41"/>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21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研究设计</a:t>
            </a:r>
            <a:r>
              <a:rPr sz="1580" b="1" i="0">
                <a:solidFill>
                  <a:srgbClr val="4472C4"/>
                </a:solidFill>
                <a:latin typeface="Microsoft YaHei"/>
              </a:rPr>
              <a:t>一个标定实验 + 四个递进主实验</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graphicFrame>
        <p:nvGraphicFramePr>
          <p:cNvPr id="6" name="Table 5"/>
          <p:cNvGraphicFramePr>
            <a:graphicFrameLocks noGrp="1"/>
          </p:cNvGraphicFramePr>
          <p:nvPr/>
        </p:nvGraphicFramePr>
        <p:xfrm>
          <a:off x="438150" y="762000"/>
          <a:ext cx="11315698" cy="3633487"/>
        </p:xfrm>
        <a:graphic>
          <a:graphicData uri="http://schemas.openxmlformats.org/drawingml/2006/table">
            <a:tbl>
              <a:tblPr>
                <a:tableStyleId>{5C22544A-7EE6-4342-B048-85BDC9FD1C3A}</a:tableStyleId>
              </a:tblPr>
              <a:tblGrid>
                <a:gridCol w="1018282"/>
                <a:gridCol w="1357758"/>
                <a:gridCol w="2263080"/>
                <a:gridCol w="3281511"/>
                <a:gridCol w="3395067"/>
              </a:tblGrid>
              <a:tr h="314325">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研究</a:t>
                      </a:r>
                    </a:p>
                  </a:txBody>
                  <a:tcPr marL="85725" marR="85725" marT="66675" marB="66675" anchor="t">
                    <a:solidFill>
                      <a:srgbClr val="4472C4"/>
                    </a:solidFill>
                  </a:tcPr>
                </a:tc>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实验</a:t>
                      </a:r>
                    </a:p>
                  </a:txBody>
                  <a:tcPr marL="85725" marR="85725" marT="66675" marB="66675" anchor="t">
                    <a:solidFill>
                      <a:srgbClr val="4472C4"/>
                    </a:solidFill>
                  </a:tcPr>
                </a:tc>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核心问题</a:t>
                      </a:r>
                    </a:p>
                  </a:txBody>
                  <a:tcPr marL="85725" marR="85725" marT="66675" marB="66675" anchor="t">
                    <a:solidFill>
                      <a:srgbClr val="4472C4"/>
                    </a:solidFill>
                  </a:tcPr>
                </a:tc>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核心变量与水平</a:t>
                      </a:r>
                    </a:p>
                  </a:txBody>
                  <a:tcPr marL="85725" marR="85725" marT="66675" marB="66675" anchor="t">
                    <a:solidFill>
                      <a:srgbClr val="4472C4"/>
                    </a:solidFill>
                  </a:tcPr>
                </a:tc>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主要机制指标（按 SPIDER 阶段归属）</a:t>
                      </a:r>
                    </a:p>
                  </a:txBody>
                  <a:tcPr marL="85725" marR="85725" marT="66675" marB="66675" anchor="t">
                    <a:solidFill>
                      <a:srgbClr val="4472C4"/>
                    </a:solidFill>
                  </a:tcPr>
                </a:tc>
              </a:tr>
              <a:tr h="512266">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研究一</a:t>
                      </a:r>
                    </a:p>
                    <a:p>
                      <a:pPr algn="l">
                        <a:lnSpc>
                          <a:spcPct val="155000"/>
                        </a:lnSpc>
                        <a:spcBef>
                          <a:spcPts val="0"/>
                        </a:spcBef>
                        <a:spcAft>
                          <a:spcPts val="0"/>
                        </a:spcAft>
                      </a:pPr>
                      <a:r>
                        <a:rPr sz="980" b="0" i="0">
                          <a:solidFill>
                            <a:srgbClr val="1A1A1A"/>
                          </a:solidFill>
                          <a:latin typeface="Microsoft YaHei"/>
                        </a:rPr>
                        <a:t>基线标定</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实验 1</a:t>
                      </a:r>
                    </a:p>
                    <a:p>
                      <a:pPr algn="l">
                        <a:lnSpc>
                          <a:spcPct val="155000"/>
                        </a:lnSpc>
                        <a:spcBef>
                          <a:spcPts val="0"/>
                        </a:spcBef>
                        <a:spcAft>
                          <a:spcPts val="0"/>
                        </a:spcAft>
                      </a:pPr>
                      <a:r>
                        <a:rPr sz="980" b="0" i="0">
                          <a:solidFill>
                            <a:srgbClr val="1A1A1A"/>
                          </a:solidFill>
                          <a:latin typeface="Microsoft YaHei"/>
                        </a:rPr>
                        <a:t>无预警基线</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自发察觉时刻与感知反应时的</a:t>
                      </a:r>
                      <a:r>
                        <a:rPr sz="980" b="1" i="0">
                          <a:solidFill>
                            <a:srgbClr val="1A1A1A"/>
                          </a:solidFill>
                          <a:latin typeface="Microsoft YaHei"/>
                        </a:rPr>
                        <a:t>分布特征</a:t>
                      </a:r>
                      <a:r>
                        <a:rPr sz="980" b="0" i="0">
                          <a:solidFill>
                            <a:srgbClr val="1A1A1A"/>
                          </a:solidFill>
                          <a:latin typeface="Microsoft YaHei"/>
                        </a:rPr>
                        <a:t>及其情境调节</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车速（40 / 60 km/h）× 遮挡（无 / 有），</a:t>
                      </a:r>
                      <a:r>
                        <a:rPr sz="980" b="1" i="0">
                          <a:solidFill>
                            <a:srgbClr val="1A1A1A"/>
                          </a:solidFill>
                          <a:latin typeface="Microsoft YaHei"/>
                        </a:rPr>
                        <a:t>无 AR 预警</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1">
                          <a:solidFill>
                            <a:srgbClr val="1A1A1A"/>
                          </a:solidFill>
                          <a:latin typeface="Microsoft YaHei"/>
                        </a:rPr>
                        <a:t>t</a:t>
                      </a:r>
                      <a:r>
                        <a:rPr sz="680" b="0" i="1" baseline="-25000">
                          <a:solidFill>
                            <a:srgbClr val="1A1A1A"/>
                          </a:solidFill>
                          <a:latin typeface="Microsoft YaHei"/>
                        </a:rPr>
                        <a:t>0</a:t>
                      </a:r>
                      <a:r>
                        <a:rPr sz="980" b="0" i="0">
                          <a:solidFill>
                            <a:srgbClr val="1A1A1A"/>
                          </a:solidFill>
                          <a:latin typeface="Microsoft YaHei"/>
                        </a:rPr>
                        <a:t> 分布、PRT 分布、</a:t>
                      </a:r>
                      <a:r>
                        <a:rPr sz="980" b="0" i="1">
                          <a:solidFill>
                            <a:srgbClr val="1A1A1A"/>
                          </a:solidFill>
                          <a:latin typeface="Microsoft YaHei"/>
                        </a:rPr>
                        <a:t>a</a:t>
                      </a:r>
                      <a:r>
                        <a:rPr sz="680" b="0" i="1" baseline="-25000">
                          <a:solidFill>
                            <a:srgbClr val="1A1A1A"/>
                          </a:solidFill>
                          <a:latin typeface="Microsoft YaHei"/>
                        </a:rPr>
                        <a:t>req</a:t>
                      </a:r>
                      <a:r>
                        <a:rPr sz="980" b="0" i="0">
                          <a:solidFill>
                            <a:srgbClr val="1A1A1A"/>
                          </a:solidFill>
                          <a:latin typeface="Microsoft YaHei"/>
                        </a:rPr>
                        <a:t> 轨迹、系统渲染延迟</a:t>
                      </a:r>
                    </a:p>
                    <a:p>
                      <a:pPr algn="l">
                        <a:lnSpc>
                          <a:spcPct val="155000"/>
                        </a:lnSpc>
                        <a:spcBef>
                          <a:spcPts val="0"/>
                        </a:spcBef>
                        <a:spcAft>
                          <a:spcPts val="0"/>
                        </a:spcAft>
                      </a:pPr>
                      <a:r>
                        <a:rPr sz="940" b="0" i="0">
                          <a:solidFill>
                            <a:srgbClr val="8C8C8C"/>
                          </a:solidFill>
                          <a:latin typeface="Microsoft YaHei"/>
                        </a:rPr>
                        <a:t>→ 五项产出全部被下游实验使用</a:t>
                      </a:r>
                    </a:p>
                  </a:txBody>
                  <a:tcPr marL="85725" marR="85725" marT="57150" marB="57150" anchor="t">
                    <a:solidFill>
                      <a:srgbClr val="FAFBFD"/>
                    </a:solidFill>
                  </a:tcPr>
                </a:tc>
              </a:tr>
              <a:tr h="900707">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研究二</a:t>
                      </a:r>
                    </a:p>
                    <a:p>
                      <a:pPr algn="l">
                        <a:lnSpc>
                          <a:spcPct val="155000"/>
                        </a:lnSpc>
                        <a:spcBef>
                          <a:spcPts val="0"/>
                        </a:spcBef>
                        <a:spcAft>
                          <a:spcPts val="0"/>
                        </a:spcAft>
                      </a:pPr>
                      <a:r>
                        <a:rPr sz="980" b="0" i="0">
                          <a:solidFill>
                            <a:srgbClr val="1A1A1A"/>
                          </a:solidFill>
                          <a:latin typeface="Microsoft YaHei"/>
                        </a:rPr>
                        <a:t>时间参数</a:t>
                      </a:r>
                    </a:p>
                    <a:p>
                      <a:pPr algn="l">
                        <a:lnSpc>
                          <a:spcPct val="155000"/>
                        </a:lnSpc>
                        <a:spcBef>
                          <a:spcPts val="0"/>
                        </a:spcBef>
                        <a:spcAft>
                          <a:spcPts val="0"/>
                        </a:spcAft>
                      </a:pPr>
                      <a:r>
                        <a:rPr sz="980" b="0" i="0">
                          <a:solidFill>
                            <a:srgbClr val="1A1A1A"/>
                          </a:solidFill>
                          <a:latin typeface="Microsoft YaHei"/>
                        </a:rPr>
                        <a:t>设计规范</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实验 2</a:t>
                      </a:r>
                    </a:p>
                    <a:p>
                      <a:pPr algn="l">
                        <a:lnSpc>
                          <a:spcPct val="155000"/>
                        </a:lnSpc>
                        <a:spcBef>
                          <a:spcPts val="0"/>
                        </a:spcBef>
                        <a:spcAft>
                          <a:spcPts val="0"/>
                        </a:spcAft>
                      </a:pPr>
                      <a:r>
                        <a:rPr sz="980" b="0" i="0">
                          <a:solidFill>
                            <a:srgbClr val="1A1A1A"/>
                          </a:solidFill>
                          <a:latin typeface="Microsoft YaHei"/>
                        </a:rPr>
                        <a:t>单层预警</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相对提前量</a:t>
                      </a:r>
                      <a:r>
                        <a:rPr sz="980" b="0" i="0">
                          <a:solidFill>
                            <a:srgbClr val="1A1A1A"/>
                          </a:solidFill>
                          <a:latin typeface="Microsoft YaHei"/>
                        </a:rPr>
                        <a:t>的适宜区间；</a:t>
                      </a:r>
                      <a:r>
                        <a:rPr sz="980" b="1" i="0">
                          <a:solidFill>
                            <a:srgbClr val="1A1A1A"/>
                          </a:solidFill>
                          <a:latin typeface="Microsoft YaHei"/>
                        </a:rPr>
                        <a:t>触发准则类型</a:t>
                      </a:r>
                      <a:r>
                        <a:rPr sz="980" b="0" i="0">
                          <a:solidFill>
                            <a:srgbClr val="1A1A1A"/>
                          </a:solidFill>
                          <a:latin typeface="Microsoft YaHei"/>
                        </a:rPr>
                        <a:t>（时间阈值／减速度归一化）的效应</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主设计：</a:t>
                      </a:r>
                      <a:r>
                        <a:rPr sz="980" b="0" i="0">
                          <a:solidFill>
                            <a:srgbClr val="1A1A1A"/>
                          </a:solidFill>
                          <a:latin typeface="Microsoft YaHei"/>
                        </a:rPr>
                        <a:t>触发准则（固定时间阈值 / BTN）× 相对提前量 </a:t>
                      </a:r>
                      <a:r>
                        <a:rPr sz="980" b="0" i="1">
                          <a:solidFill>
                            <a:srgbClr val="1A1A1A"/>
                          </a:solidFill>
                          <a:latin typeface="Microsoft YaHei"/>
                        </a:rPr>
                        <a:t>Δt</a:t>
                      </a:r>
                      <a:r>
                        <a:rPr sz="980" b="0" i="0">
                          <a:solidFill>
                            <a:srgbClr val="1A1A1A"/>
                          </a:solidFill>
                          <a:latin typeface="Microsoft YaHei"/>
                        </a:rPr>
                        <a:t>（0 / +1.0 / +2.5 s）= </a:t>
                      </a:r>
                      <a:r>
                        <a:rPr sz="980" b="1" i="0">
                          <a:solidFill>
                            <a:srgbClr val="1A1A1A"/>
                          </a:solidFill>
                          <a:latin typeface="Microsoft YaHei"/>
                        </a:rPr>
                        <a:t>2 × 3</a:t>
                      </a:r>
                    </a:p>
                    <a:p>
                      <a:pPr algn="l">
                        <a:lnSpc>
                          <a:spcPct val="155000"/>
                        </a:lnSpc>
                        <a:spcBef>
                          <a:spcPts val="0"/>
                        </a:spcBef>
                        <a:spcAft>
                          <a:spcPts val="0"/>
                        </a:spcAft>
                      </a:pPr>
                      <a:r>
                        <a:rPr sz="980" b="1" i="0">
                          <a:solidFill>
                            <a:srgbClr val="1A1A1A"/>
                          </a:solidFill>
                          <a:latin typeface="Microsoft YaHei"/>
                        </a:rPr>
                        <a:t>区块 B：</a:t>
                      </a:r>
                      <a:r>
                        <a:rPr sz="980" b="0" i="0">
                          <a:solidFill>
                            <a:srgbClr val="1A1A1A"/>
                          </a:solidFill>
                          <a:latin typeface="Microsoft YaHei"/>
                        </a:rPr>
                        <a:t>持续与撤销 3 水平（固定 1.5 s / 状态维持 / 风险耦合衰减）</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S：TTFF（警告）、TTFF（行人）；E：制动启动、峰值减速度、jerk；安全：最小 TTMD</a:t>
                      </a:r>
                    </a:p>
                  </a:txBody>
                  <a:tcPr marL="85725" marR="85725" marT="57150" marB="57150" anchor="t">
                    <a:noFill/>
                  </a:tcPr>
                </a:tc>
              </a:tr>
              <a:tr h="699343">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实验 3</a:t>
                      </a:r>
                    </a:p>
                    <a:p>
                      <a:pPr algn="l">
                        <a:lnSpc>
                          <a:spcPct val="155000"/>
                        </a:lnSpc>
                        <a:spcBef>
                          <a:spcPts val="0"/>
                        </a:spcBef>
                        <a:spcAft>
                          <a:spcPts val="0"/>
                        </a:spcAft>
                      </a:pPr>
                      <a:r>
                        <a:rPr sz="980" b="0" i="0">
                          <a:solidFill>
                            <a:srgbClr val="1A1A1A"/>
                          </a:solidFill>
                          <a:latin typeface="Microsoft YaHei"/>
                        </a:rPr>
                        <a:t>分层预警</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级间间隔</a:t>
                      </a:r>
                      <a:r>
                        <a:rPr sz="980" b="0" i="0">
                          <a:solidFill>
                            <a:srgbClr val="1A1A1A"/>
                          </a:solidFill>
                          <a:latin typeface="Microsoft YaHei"/>
                        </a:rPr>
                        <a:t>的适宜取值；</a:t>
                      </a:r>
                      <a:r>
                        <a:rPr sz="980" b="1" i="0">
                          <a:solidFill>
                            <a:srgbClr val="1A1A1A"/>
                          </a:solidFill>
                          <a:latin typeface="Microsoft YaHei"/>
                        </a:rPr>
                        <a:t>系统可靠性</a:t>
                      </a:r>
                      <a:r>
                        <a:rPr sz="980" b="0" i="0">
                          <a:solidFill>
                            <a:srgbClr val="1A1A1A"/>
                          </a:solidFill>
                          <a:latin typeface="Microsoft YaHei"/>
                        </a:rPr>
                        <a:t>对分层结构优势的调节</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级间间隔（0.7 / 1.0 / 1.5 s）× 系统可靠性（100% / 80%）= </a:t>
                      </a:r>
                      <a:r>
                        <a:rPr sz="980" b="1" i="0">
                          <a:solidFill>
                            <a:srgbClr val="1A1A1A"/>
                          </a:solidFill>
                          <a:latin typeface="Microsoft YaHei"/>
                        </a:rPr>
                        <a:t>3 × 2</a:t>
                      </a:r>
                      <a:r>
                        <a:rPr sz="980" b="0" i="0">
                          <a:solidFill>
                            <a:srgbClr val="1A1A1A"/>
                          </a:solidFill>
                          <a:latin typeface="Microsoft YaHei"/>
                        </a:rPr>
                        <a:t>，另加「无警告基线」与「实验 2 入选单层方案」两对照；虚警</a:t>
                      </a:r>
                      <a:r>
                        <a:rPr sz="980" b="1" i="0">
                          <a:solidFill>
                            <a:srgbClr val="1A1A1A"/>
                          </a:solidFill>
                          <a:latin typeface="Microsoft YaHei"/>
                        </a:rPr>
                        <a:t>只施加在 L1</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S：警告→首次注视；I + D：首次注视→正确反应；信任量表、</a:t>
                      </a:r>
                      <a:r>
                        <a:rPr sz="980" b="1" i="0">
                          <a:solidFill>
                            <a:srgbClr val="1A1A1A"/>
                          </a:solidFill>
                          <a:latin typeface="Microsoft YaHei"/>
                        </a:rPr>
                        <a:t>L1 依从率</a:t>
                      </a:r>
                      <a:r>
                        <a:rPr sz="980" b="0" i="0">
                          <a:solidFill>
                            <a:srgbClr val="1A1A1A"/>
                          </a:solidFill>
                          <a:latin typeface="Microsoft YaHei"/>
                        </a:rPr>
                        <a:t>、取消升级率</a:t>
                      </a:r>
                    </a:p>
                  </a:txBody>
                  <a:tcPr marL="85725" marR="85725" marT="57150" marB="57150" anchor="t">
                    <a:solidFill>
                      <a:srgbClr val="FAFBFD"/>
                    </a:solidFill>
                  </a:tcPr>
                </a:tc>
                <a:tc>
                  <a:txBody>
                    <a:bodyPr/>
                    <a:lstStyle/>
                    <a:p/>
                  </a:txBody>
                  <a:tcPr/>
                </a:tc>
              </a:tr>
              <a:tr h="507503">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研究三</a:t>
                      </a:r>
                    </a:p>
                    <a:p>
                      <a:pPr algn="l">
                        <a:lnSpc>
                          <a:spcPct val="155000"/>
                        </a:lnSpc>
                        <a:spcBef>
                          <a:spcPts val="0"/>
                        </a:spcBef>
                        <a:spcAft>
                          <a:spcPts val="0"/>
                        </a:spcAft>
                      </a:pPr>
                      <a:r>
                        <a:rPr sz="980" b="0" i="0">
                          <a:solidFill>
                            <a:srgbClr val="1A1A1A"/>
                          </a:solidFill>
                          <a:latin typeface="Microsoft YaHei"/>
                        </a:rPr>
                        <a:t>空间动态</a:t>
                      </a:r>
                    </a:p>
                    <a:p>
                      <a:pPr algn="l">
                        <a:lnSpc>
                          <a:spcPct val="155000"/>
                        </a:lnSpc>
                        <a:spcBef>
                          <a:spcPts val="0"/>
                        </a:spcBef>
                        <a:spcAft>
                          <a:spcPts val="0"/>
                        </a:spcAft>
                      </a:pPr>
                      <a:r>
                        <a:rPr sz="980" b="0" i="0">
                          <a:solidFill>
                            <a:srgbClr val="1A1A1A"/>
                          </a:solidFill>
                          <a:latin typeface="Microsoft YaHei"/>
                        </a:rPr>
                        <a:t>信息的促进作用</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实验 4</a:t>
                      </a:r>
                    </a:p>
                    <a:p>
                      <a:pPr algn="l">
                        <a:lnSpc>
                          <a:spcPct val="155000"/>
                        </a:lnSpc>
                        <a:spcBef>
                          <a:spcPts val="0"/>
                        </a:spcBef>
                        <a:spcAft>
                          <a:spcPts val="0"/>
                        </a:spcAft>
                      </a:pPr>
                      <a:r>
                        <a:rPr sz="980" b="0" i="0">
                          <a:solidFill>
                            <a:srgbClr val="1A1A1A"/>
                          </a:solidFill>
                          <a:latin typeface="Microsoft YaHei"/>
                        </a:rPr>
                        <a:t>参照系与锁定</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空间参照系</a:t>
                      </a:r>
                      <a:r>
                        <a:rPr sz="980" b="0" i="0">
                          <a:solidFill>
                            <a:srgbClr val="1A1A1A"/>
                          </a:solidFill>
                          <a:latin typeface="Microsoft YaHei"/>
                        </a:rPr>
                        <a:t>四水平的优劣序，及与</a:t>
                      </a:r>
                      <a:r>
                        <a:rPr sz="980" b="1" i="0">
                          <a:solidFill>
                            <a:srgbClr val="1A1A1A"/>
                          </a:solidFill>
                          <a:latin typeface="Microsoft YaHei"/>
                        </a:rPr>
                        <a:t>背景复杂度</a:t>
                      </a:r>
                      <a:r>
                        <a:rPr sz="980" b="0" i="0">
                          <a:solidFill>
                            <a:srgbClr val="1A1A1A"/>
                          </a:solidFill>
                          <a:latin typeface="Microsoft YaHei"/>
                        </a:rPr>
                        <a:t>、</a:t>
                      </a:r>
                      <a:r>
                        <a:rPr sz="980" b="1" i="0">
                          <a:solidFill>
                            <a:srgbClr val="1A1A1A"/>
                          </a:solidFill>
                          <a:latin typeface="Microsoft YaHei"/>
                        </a:rPr>
                        <a:t>负荷</a:t>
                      </a:r>
                      <a:r>
                        <a:rPr sz="980" b="0" i="0">
                          <a:solidFill>
                            <a:srgbClr val="1A1A1A"/>
                          </a:solidFill>
                          <a:latin typeface="Microsoft YaHei"/>
                        </a:rPr>
                        <a:t>的交互</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主设计</a:t>
                      </a:r>
                      <a:r>
                        <a:rPr sz="980" b="0" i="0">
                          <a:solidFill>
                            <a:srgbClr val="1A1A1A"/>
                          </a:solidFill>
                          <a:latin typeface="Microsoft YaHei"/>
                        </a:rPr>
                        <a:t>：锁定策略 </a:t>
                      </a:r>
                      <a:r>
                        <a:rPr sz="980" b="1" i="0">
                          <a:solidFill>
                            <a:srgbClr val="1A1A1A"/>
                          </a:solidFill>
                          <a:latin typeface="Microsoft YaHei"/>
                        </a:rPr>
                        <a:t>5 水平</a:t>
                      </a:r>
                      <a:r>
                        <a:rPr sz="980" b="0" i="0">
                          <a:solidFill>
                            <a:srgbClr val="1A1A1A"/>
                          </a:solidFill>
                          <a:latin typeface="Microsoft YaHei"/>
                        </a:rPr>
                        <a:t>——Baseline / BD / BR / BW / BW+BR × 背景复杂度；</a:t>
                      </a:r>
                      <a:r>
                        <a:rPr sz="980" b="1" i="0">
                          <a:solidFill>
                            <a:srgbClr val="1A1A1A"/>
                          </a:solidFill>
                          <a:latin typeface="Microsoft YaHei"/>
                        </a:rPr>
                        <a:t>区块 F</a:t>
                      </a:r>
                      <a:r>
                        <a:rPr sz="980" b="0" i="0">
                          <a:solidFill>
                            <a:srgbClr val="1A1A1A"/>
                          </a:solidFill>
                          <a:latin typeface="Microsoft YaHei"/>
                        </a:rPr>
                        <a:t>：BD / BW × </a:t>
                      </a:r>
                      <a:r>
                        <a:rPr sz="980" b="1" i="0">
                          <a:solidFill>
                            <a:srgbClr val="1A1A1A"/>
                          </a:solidFill>
                          <a:latin typeface="Microsoft YaHei"/>
                        </a:rPr>
                        <a:t>次任务负荷</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S：真实行人 TTFF；I：定位转换成本；</a:t>
                      </a:r>
                      <a:r>
                        <a:rPr sz="980" b="1" i="0">
                          <a:solidFill>
                            <a:srgbClr val="1A1A1A"/>
                          </a:solidFill>
                          <a:latin typeface="Microsoft YaHei"/>
                        </a:rPr>
                        <a:t>并列主要终点：漏检率</a:t>
                      </a:r>
                      <a:r>
                        <a:rPr sz="980" b="0" i="0">
                          <a:solidFill>
                            <a:srgbClr val="1A1A1A"/>
                          </a:solidFill>
                          <a:latin typeface="Microsoft YaHei"/>
                        </a:rPr>
                        <a:t>、TDT 是否越过 2 000 ms</a:t>
                      </a:r>
                    </a:p>
                  </a:txBody>
                  <a:tcPr marL="85725" marR="85725" marT="57150" marB="57150" anchor="t">
                    <a:noFill/>
                  </a:tcPr>
                </a:tc>
              </a:tr>
              <a:tr h="699343">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实验 5</a:t>
                      </a:r>
                    </a:p>
                    <a:p>
                      <a:pPr algn="l">
                        <a:lnSpc>
                          <a:spcPct val="155000"/>
                        </a:lnSpc>
                        <a:spcBef>
                          <a:spcPts val="0"/>
                        </a:spcBef>
                        <a:spcAft>
                          <a:spcPts val="0"/>
                        </a:spcAft>
                      </a:pPr>
                      <a:r>
                        <a:rPr sz="980" b="0" i="0">
                          <a:solidFill>
                            <a:srgbClr val="1A1A1A"/>
                          </a:solidFill>
                          <a:latin typeface="Microsoft YaHei"/>
                        </a:rPr>
                        <a:t>风险演化动态</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风险量级映射</a:t>
                      </a:r>
                      <a:r>
                        <a:rPr sz="980" b="0" i="0">
                          <a:solidFill>
                            <a:srgbClr val="1A1A1A"/>
                          </a:solidFill>
                          <a:latin typeface="Microsoft YaHei"/>
                        </a:rPr>
                        <a:t>与</a:t>
                      </a:r>
                      <a:r>
                        <a:rPr sz="980" b="1" i="0">
                          <a:solidFill>
                            <a:srgbClr val="1A1A1A"/>
                          </a:solidFill>
                          <a:latin typeface="Microsoft YaHei"/>
                        </a:rPr>
                        <a:t>运动趋势映射</a:t>
                      </a:r>
                      <a:r>
                        <a:rPr sz="980" b="0" i="0">
                          <a:solidFill>
                            <a:srgbClr val="1A1A1A"/>
                          </a:solidFill>
                          <a:latin typeface="Microsoft YaHei"/>
                        </a:rPr>
                        <a:t>两个正交维度的作用路径与协同性</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2 × 2 被试内：</a:t>
                      </a:r>
                      <a:r>
                        <a:rPr sz="980" b="0" i="0">
                          <a:solidFill>
                            <a:srgbClr val="1A1A1A"/>
                          </a:solidFill>
                          <a:latin typeface="Microsoft YaHei"/>
                        </a:rPr>
                        <a:t>风险量级空间映射（无 / 有，</a:t>
                      </a:r>
                      <a:r>
                        <a:rPr sz="980" b="1" i="0">
                          <a:solidFill>
                            <a:srgbClr val="1A1A1A"/>
                          </a:solidFill>
                          <a:latin typeface="Microsoft YaHei"/>
                        </a:rPr>
                        <a:t>映射量统一为 BTN</a:t>
                      </a:r>
                      <a:r>
                        <a:rPr sz="980" b="0" i="0">
                          <a:solidFill>
                            <a:srgbClr val="1A1A1A"/>
                          </a:solidFill>
                          <a:latin typeface="Microsoft YaHei"/>
                        </a:rPr>
                        <a:t>）× 运动趋势空间映射（无 / 有）→ D0、D1、D2、D3；</a:t>
                      </a:r>
                      <a:r>
                        <a:rPr sz="980" b="1" i="0">
                          <a:solidFill>
                            <a:srgbClr val="1A1A1A"/>
                          </a:solidFill>
                          <a:latin typeface="Microsoft YaHei"/>
                        </a:rPr>
                        <a:t>空间载体固定</a:t>
                      </a:r>
                      <a:r>
                        <a:rPr sz="980" b="0" i="0">
                          <a:solidFill>
                            <a:srgbClr val="1A1A1A"/>
                          </a:solidFill>
                          <a:latin typeface="Microsoft YaHei"/>
                        </a:rPr>
                        <a:t>为实验 4 入选方案</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P：路径侵入预测正确率、冲突点空间误差；负荷与瞳孔指标</a:t>
                      </a:r>
                    </a:p>
                  </a:txBody>
                  <a:tcPr marL="85725" marR="85725" marT="57150" marB="57150" anchor="t">
                    <a:solidFill>
                      <a:srgbClr val="FAFBFD"/>
                    </a:solidFill>
                  </a:tcPr>
                </a:tc>
                <a:tc>
                  <a:txBody>
                    <a:bodyPr/>
                    <a:lstStyle/>
                    <a:p/>
                  </a:txBody>
                  <a:tcPr/>
                </a:tc>
              </a:tr>
            </a:tbl>
          </a:graphicData>
        </a:graphic>
      </p:graphicFrame>
      <p:sp>
        <p:nvSpPr>
          <p:cNvPr id="7" name="Rectangle 6"/>
          <p:cNvSpPr/>
          <p:nvPr/>
        </p:nvSpPr>
        <p:spPr>
          <a:xfrm>
            <a:off x="438150" y="4505027"/>
            <a:ext cx="5572125" cy="1006078"/>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8150" y="4505027"/>
            <a:ext cx="38100" cy="100607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975" y="4590752"/>
            <a:ext cx="5362575" cy="863203"/>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硬约束：实验 1／2／3 必须共用同一场景族与同一套 </a:t>
            </a:r>
            <a:r>
              <a:rPr sz="990" b="1" i="1">
                <a:solidFill>
                  <a:srgbClr val="7A1F1F"/>
                </a:solidFill>
                <a:latin typeface="Microsoft YaHei"/>
              </a:rPr>
              <a:t>t</a:t>
            </a:r>
            <a:r>
              <a:rPr sz="690" b="1" i="1" baseline="-25000">
                <a:solidFill>
                  <a:srgbClr val="7A1F1F"/>
                </a:solidFill>
                <a:latin typeface="Microsoft YaHei"/>
              </a:rPr>
              <a:t>0</a:t>
            </a:r>
            <a:r>
              <a:rPr sz="990" b="1" i="0">
                <a:solidFill>
                  <a:srgbClr val="7A1F1F"/>
                </a:solidFill>
                <a:latin typeface="Microsoft YaHei"/>
              </a:rPr>
              <a:t> 标定单元。</a:t>
            </a:r>
            <a:r>
              <a:rPr sz="990" b="0" i="0">
                <a:solidFill>
                  <a:srgbClr val="7A1F1F"/>
                </a:solidFill>
                <a:latin typeface="Microsoft YaHei"/>
              </a:rPr>
              <a:t>因 </a:t>
            </a:r>
            <a:r>
              <a:rPr sz="990" b="0" i="1">
                <a:solidFill>
                  <a:srgbClr val="7A1F1F"/>
                </a:solidFill>
                <a:latin typeface="Microsoft YaHei"/>
              </a:rPr>
              <a:t>Δt</a:t>
            </a:r>
            <a:r>
              <a:rPr sz="990" b="0" i="1">
                <a:solidFill>
                  <a:srgbClr val="7A1F1F"/>
                </a:solidFill>
                <a:latin typeface="Microsoft YaHei"/>
              </a:rPr>
              <a:t> = </a:t>
            </a:r>
            <a:r>
              <a:rPr sz="990" b="0" i="1">
                <a:solidFill>
                  <a:srgbClr val="7A1F1F"/>
                </a:solidFill>
                <a:latin typeface="Microsoft YaHei"/>
              </a:rPr>
              <a:t>t</a:t>
            </a:r>
            <a:r>
              <a:rPr sz="690" b="0" i="1" baseline="-25000">
                <a:solidFill>
                  <a:srgbClr val="7A1F1F"/>
                </a:solidFill>
                <a:latin typeface="Microsoft YaHei"/>
              </a:rPr>
              <a:t>0</a:t>
            </a:r>
            <a:r>
              <a:rPr sz="990" b="0" i="1">
                <a:solidFill>
                  <a:srgbClr val="7A1F1F"/>
                </a:solidFill>
                <a:latin typeface="Microsoft YaHei"/>
              </a:rPr>
              <a:t> − </a:t>
            </a:r>
            <a:r>
              <a:rPr sz="990" b="0" i="1">
                <a:solidFill>
                  <a:srgbClr val="7A1F1F"/>
                </a:solidFill>
                <a:latin typeface="Microsoft YaHei"/>
              </a:rPr>
              <a:t>t</a:t>
            </a:r>
            <a:r>
              <a:rPr sz="690" b="0" i="1" baseline="-25000">
                <a:solidFill>
                  <a:srgbClr val="7A1F1F"/>
                </a:solidFill>
                <a:latin typeface="Microsoft YaHei"/>
              </a:rPr>
              <a:t>warn</a:t>
            </a:r>
            <a:r>
              <a:rPr sz="990" b="0" i="0">
                <a:solidFill>
                  <a:srgbClr val="7A1F1F"/>
                </a:solidFill>
                <a:latin typeface="Microsoft YaHei"/>
              </a:rPr>
              <a:t> 而 </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随车速与遮挡系统变化；实验 4／5 已固定全部时间参数，可另设场景操纵。</a:t>
            </a:r>
          </a:p>
          <a:p>
            <a:pPr algn="l">
              <a:lnSpc>
                <a:spcPct val="166000"/>
              </a:lnSpc>
              <a:spcBef>
                <a:spcPts val="0"/>
              </a:spcBef>
              <a:spcAft>
                <a:spcPts val="0"/>
              </a:spcAft>
            </a:pPr>
            <a:r>
              <a:rPr sz="990" b="1" i="0">
                <a:solidFill>
                  <a:srgbClr val="7A1F1F"/>
                </a:solidFill>
                <a:latin typeface="Microsoft YaHei"/>
              </a:rPr>
              <a:t>生态约束：</a:t>
            </a:r>
            <a:r>
              <a:rPr sz="990" b="0" i="0">
                <a:solidFill>
                  <a:srgbClr val="7A1F1F"/>
                </a:solidFill>
                <a:latin typeface="Microsoft YaHei"/>
              </a:rPr>
              <a:t>危险场景车—人间隙应落在 </a:t>
            </a:r>
            <a:r>
              <a:rPr sz="990" b="1" i="0">
                <a:solidFill>
                  <a:srgbClr val="7A1F1F"/>
                </a:solidFill>
                <a:latin typeface="Microsoft YaHei"/>
              </a:rPr>
              <a:t>1.5–7 s</a:t>
            </a:r>
            <a:r>
              <a:rPr sz="990" b="0" i="0">
                <a:solidFill>
                  <a:srgbClr val="7A1F1F"/>
                </a:solidFill>
                <a:latin typeface="Microsoft YaHei"/>
              </a:rPr>
              <a:t>，主实验取 </a:t>
            </a:r>
            <a:r>
              <a:rPr sz="990" b="1" i="0">
                <a:solidFill>
                  <a:srgbClr val="7A1F1F"/>
                </a:solidFill>
                <a:latin typeface="Microsoft YaHei"/>
              </a:rPr>
              <a:t>3–7 s</a:t>
            </a:r>
            <a:r>
              <a:rPr sz="990" b="0" i="0">
                <a:solidFill>
                  <a:srgbClr val="7A1F1F"/>
                </a:solidFill>
                <a:latin typeface="Microsoft YaHei"/>
              </a:rPr>
              <a:t> 的决策模糊带。</a:t>
            </a:r>
          </a:p>
        </p:txBody>
      </p:sp>
      <p:sp>
        <p:nvSpPr>
          <p:cNvPr id="10" name="Rectangle 9"/>
          <p:cNvSpPr/>
          <p:nvPr/>
        </p:nvSpPr>
        <p:spPr>
          <a:xfrm>
            <a:off x="6181725" y="4505027"/>
            <a:ext cx="5572125" cy="1006078"/>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81725" y="4505027"/>
            <a:ext cx="38100" cy="1006078"/>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4590752"/>
            <a:ext cx="5362575" cy="863203"/>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「最优设计」的判定准则（按序贯非劣检验实施，不评选单一最优方案）：</a:t>
            </a:r>
            <a:r>
              <a:rPr sz="990" b="0" i="0">
                <a:solidFill>
                  <a:srgbClr val="1F5A1F"/>
                </a:solidFill>
                <a:latin typeface="Microsoft YaHei"/>
              </a:rPr>
              <a:t>① 安全指标</a:t>
            </a:r>
            <a:r>
              <a:rPr sz="990" b="1" i="0">
                <a:solidFill>
                  <a:srgbClr val="1F5A1F"/>
                </a:solidFill>
                <a:latin typeface="Microsoft YaHei"/>
              </a:rPr>
              <a:t>非劣</a:t>
            </a:r>
            <a:r>
              <a:rPr sz="990" b="0" i="0">
                <a:solidFill>
                  <a:srgbClr val="1F5A1F"/>
                </a:solidFill>
                <a:latin typeface="Microsoft YaHei"/>
              </a:rPr>
              <a:t>为前置条件（最小 TTMD 组间差下限 &gt; −0.2 s，碰撞率不高于基线）；② 制动更平顺者优先；③ 认知代价更低者优先；④ </a:t>
            </a:r>
            <a:r>
              <a:rPr sz="990" b="1" i="0">
                <a:solidFill>
                  <a:srgbClr val="1F5A1F"/>
                </a:solidFill>
                <a:latin typeface="Microsoft YaHei"/>
              </a:rPr>
              <a:t>低可靠性下退化更小者优先</a:t>
            </a:r>
            <a:r>
              <a:rPr sz="990" b="0" i="0">
                <a:solidFill>
                  <a:srgbClr val="1F5A1F"/>
                </a:solidFill>
                <a:latin typeface="Microsoft YaHei"/>
              </a:rPr>
              <a:t>；⑤ 前四项判定相当时，方以反应时与主观偏好序定选。结果以帕累托前沿形式呈现，并报告各方案在四类因变量上的权衡结构。</a:t>
            </a:r>
          </a:p>
        </p:txBody>
      </p:sp>
      <p:sp>
        <p:nvSpPr>
          <p:cNvPr id="13" name="Rectangle 12"/>
          <p:cNvSpPr/>
          <p:nvPr/>
        </p:nvSpPr>
        <p:spPr>
          <a:xfrm>
            <a:off x="438150" y="5615880"/>
            <a:ext cx="11315700" cy="797421"/>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8150" y="5615880"/>
            <a:ext cx="38100" cy="797421"/>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1975" y="5701605"/>
            <a:ext cx="11106150"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共同方法学规范：</a:t>
            </a:r>
            <a:r>
              <a:rPr sz="990" b="0" i="0">
                <a:solidFill>
                  <a:srgbClr val="6B5200"/>
                </a:solidFill>
                <a:latin typeface="Microsoft YaHei"/>
              </a:rPr>
              <a:t>被试内设计 + 混合模型（被试与场景为随机效应）；反应时按右偏分布处理（对数正态／Gamma 或生存分析）；主要结局</a:t>
            </a:r>
            <a:r>
              <a:rPr sz="990" b="1" i="0">
                <a:solidFill>
                  <a:srgbClr val="8A6A00"/>
                </a:solidFill>
                <a:latin typeface="Microsoft YaHei"/>
              </a:rPr>
              <a:t>预注册</a:t>
            </a:r>
            <a:r>
              <a:rPr sz="990" b="0" i="0">
                <a:solidFill>
                  <a:srgbClr val="6B5200"/>
                </a:solidFill>
                <a:latin typeface="Microsoft YaHei"/>
              </a:rPr>
              <a:t>，次要结局 FDR 校正；眼动采用</a:t>
            </a:r>
            <a:r>
              <a:rPr sz="990" b="1" i="0">
                <a:solidFill>
                  <a:srgbClr val="8A6A00"/>
                </a:solidFill>
                <a:latin typeface="Microsoft YaHei"/>
              </a:rPr>
              <a:t>动态 AOI</a:t>
            </a:r>
            <a:r>
              <a:rPr sz="990" b="0" i="0">
                <a:solidFill>
                  <a:srgbClr val="6B5200"/>
                </a:solidFill>
                <a:latin typeface="Microsoft YaHei"/>
              </a:rPr>
              <a:t>、有效率 ≥ 80%，并区分警告 AOI 与真实行人 AOI；报告估计差、95% CI 与效应量，</a:t>
            </a:r>
            <a:r>
              <a:rPr sz="990" b="1" i="0">
                <a:solidFill>
                  <a:srgbClr val="8A6A00"/>
                </a:solidFill>
                <a:latin typeface="Microsoft YaHei"/>
              </a:rPr>
              <a:t>「无显著差异」不解释为等效</a:t>
            </a:r>
            <a:r>
              <a:rPr sz="990" b="0" i="0">
                <a:solidFill>
                  <a:srgbClr val="6B5200"/>
                </a:solidFill>
                <a:latin typeface="Microsoft YaHei"/>
              </a:rPr>
              <a:t>。</a:t>
            </a:r>
            <a:r>
              <a:rPr sz="990" b="1" i="0">
                <a:solidFill>
                  <a:srgbClr val="8A6A00"/>
                </a:solidFill>
                <a:latin typeface="Microsoft YaHei"/>
              </a:rPr>
              <a:t>由 SPIDER 2.0 导出的时间约束：</a:t>
            </a:r>
            <a:r>
              <a:rPr sz="990" b="0" i="0">
                <a:solidFill>
                  <a:srgbClr val="6B5200"/>
                </a:solidFill>
                <a:latin typeface="Microsoft YaHei"/>
              </a:rPr>
              <a:t>分心影响在次任务后仍持续 30 s 以上，故相邻危险事件间隔取 </a:t>
            </a:r>
            <a:r>
              <a:rPr sz="990" b="1" i="0">
                <a:solidFill>
                  <a:srgbClr val="8A6A00"/>
                </a:solidFill>
                <a:latin typeface="Microsoft YaHei"/>
              </a:rPr>
              <a:t>60 s</a:t>
            </a:r>
            <a:r>
              <a:rPr sz="990" b="0" i="0">
                <a:solidFill>
                  <a:srgbClr val="6B5200"/>
                </a:solidFill>
                <a:latin typeface="Microsoft YaHei"/>
              </a:rPr>
              <a:t>，并插入 filler／catch trials 抑制预期与习惯化。</a:t>
            </a:r>
          </a:p>
        </p:txBody>
      </p:sp>
      <p:sp>
        <p:nvSpPr>
          <p:cNvPr id="16" name="TextBox 15"/>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研究设计</a:t>
            </a:r>
            <a:r>
              <a:rPr sz="1580" b="1" i="0">
                <a:solidFill>
                  <a:srgbClr val="4472C4"/>
                </a:solidFill>
                <a:latin typeface="Microsoft YaHei"/>
              </a:rPr>
              <a:t>研究二与研究三：实验 2–5 的设计详表</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四个主实验共用同一被试与流程规范</a:t>
            </a:r>
            <a:r>
              <a:rPr sz="1090" b="0" i="0">
                <a:solidFill>
                  <a:srgbClr val="2F528F"/>
                </a:solidFill>
                <a:latin typeface="Microsoft YaHei"/>
              </a:rPr>
              <a:t>：被试内设计 + 混合模型（被试与场景为随机效应）；单 session ≤ 30 min；危险事件占比 &lt; 40%、事件间隔 ≥ 60 s、含填充与捕获试次；</a:t>
            </a:r>
            <a:r>
              <a:rPr sz="1090" b="1" i="0">
                <a:solidFill>
                  <a:srgbClr val="2F528F"/>
                </a:solidFill>
                <a:latin typeface="Microsoft YaHei"/>
              </a:rPr>
              <a:t>时间参数由上游实验入选值固定</a:t>
            </a:r>
            <a:r>
              <a:rPr sz="1090" b="0" i="0">
                <a:solidFill>
                  <a:srgbClr val="2F528F"/>
                </a:solidFill>
                <a:latin typeface="Microsoft YaHei"/>
              </a:rPr>
              <a:t>。下表只列各实验特有的变量与预期。</a:t>
            </a:r>
          </a:p>
        </p:txBody>
      </p:sp>
      <p:graphicFrame>
        <p:nvGraphicFramePr>
          <p:cNvPr id="9" name="Table 8"/>
          <p:cNvGraphicFramePr>
            <a:graphicFrameLocks noGrp="1"/>
          </p:cNvGraphicFramePr>
          <p:nvPr/>
        </p:nvGraphicFramePr>
        <p:xfrm>
          <a:off x="438150" y="1522809"/>
          <a:ext cx="11315699" cy="3786781"/>
        </p:xfrm>
        <a:graphic>
          <a:graphicData uri="http://schemas.openxmlformats.org/drawingml/2006/table">
            <a:tbl>
              <a:tblPr>
                <a:tableStyleId>{5C22544A-7EE6-4342-B048-85BDC9FD1C3A}</a:tableStyleId>
              </a:tblPr>
              <a:tblGrid>
                <a:gridCol w="1018282"/>
                <a:gridCol w="2828925"/>
                <a:gridCol w="2489448"/>
                <a:gridCol w="4979044"/>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实验</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自变量与水平</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主要因变量（四类构念）</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预期结果</a:t>
                      </a:r>
                    </a:p>
                  </a:txBody>
                  <a:tcPr marL="66675" marR="66675" marT="52387" marB="52387" anchor="t">
                    <a:solidFill>
                      <a:srgbClr val="4472C4"/>
                    </a:solidFill>
                  </a:tcPr>
                </a:tc>
              </a:tr>
              <a:tr h="97065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实验 2</a:t>
                      </a:r>
                    </a:p>
                    <a:p>
                      <a:pPr algn="l">
                        <a:lnSpc>
                          <a:spcPct val="160000"/>
                        </a:lnSpc>
                        <a:spcBef>
                          <a:spcPts val="0"/>
                        </a:spcBef>
                        <a:spcAft>
                          <a:spcPts val="0"/>
                        </a:spcAft>
                      </a:pPr>
                      <a:r>
                        <a:rPr sz="890" b="0" i="0">
                          <a:solidFill>
                            <a:srgbClr val="1A1A1A"/>
                          </a:solidFill>
                          <a:latin typeface="Microsoft YaHei"/>
                        </a:rPr>
                        <a:t>单层时间参数</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触发准则（固定时间阈值／制动威胁数）× 相对提前量 </a:t>
                      </a:r>
                      <a:r>
                        <a:rPr sz="890" b="0" i="1">
                          <a:solidFill>
                            <a:srgbClr val="1A1A1A"/>
                          </a:solidFill>
                          <a:latin typeface="Microsoft YaHei"/>
                        </a:rPr>
                        <a:t>Δt</a:t>
                      </a:r>
                      <a:r>
                        <a:rPr sz="890" b="0" i="0">
                          <a:solidFill>
                            <a:srgbClr val="1A1A1A"/>
                          </a:solidFill>
                          <a:latin typeface="Microsoft YaHei"/>
                        </a:rPr>
                        <a:t>（0／+1.0／+2.5 s）= </a:t>
                      </a:r>
                      <a:r>
                        <a:rPr sz="890" b="1" i="0">
                          <a:solidFill>
                            <a:srgbClr val="1A1A1A"/>
                          </a:solidFill>
                          <a:latin typeface="Microsoft YaHei"/>
                        </a:rPr>
                        <a:t>2 × 3</a:t>
                      </a:r>
                      <a:r>
                        <a:rPr sz="890" b="0" i="0">
                          <a:solidFill>
                            <a:srgbClr val="1A1A1A"/>
                          </a:solidFill>
                          <a:latin typeface="Microsoft YaHei"/>
                        </a:rPr>
                        <a:t> 被试内；</a:t>
                      </a:r>
                      <a:r>
                        <a:rPr sz="890" b="1" i="0">
                          <a:solidFill>
                            <a:srgbClr val="1A1A1A"/>
                          </a:solidFill>
                          <a:latin typeface="Microsoft YaHei"/>
                        </a:rPr>
                        <a:t>行车速度 40／60 km/h 平衡呈现，并作为检验 H3（准则 × 车速交互）的因素而非纯控制变量</a:t>
                      </a:r>
                      <a:r>
                        <a:rPr sz="890" b="0" i="0">
                          <a:solidFill>
                            <a:srgbClr val="1A1A1A"/>
                          </a:solidFill>
                          <a:latin typeface="Microsoft YaHei"/>
                        </a:rPr>
                        <a:t>；区块 B：持续与撤销 3 水平</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安全绩效</a:t>
                      </a:r>
                      <a:r>
                        <a:rPr sz="890" b="0" i="0">
                          <a:solidFill>
                            <a:srgbClr val="1A1A1A"/>
                          </a:solidFill>
                          <a:latin typeface="Microsoft YaHei"/>
                        </a:rPr>
                        <a:t>最小 TTMD（主）、峰值减速度、抖动率</a:t>
                      </a:r>
                    </a:p>
                    <a:p>
                      <a:pPr algn="l">
                        <a:lnSpc>
                          <a:spcPct val="155000"/>
                        </a:lnSpc>
                        <a:spcBef>
                          <a:spcPts val="0"/>
                        </a:spcBef>
                        <a:spcAft>
                          <a:spcPts val="0"/>
                        </a:spcAft>
                      </a:pPr>
                      <a:r>
                        <a:rPr sz="890" b="1" i="0">
                          <a:solidFill>
                            <a:srgbClr val="1A1A1A"/>
                          </a:solidFill>
                          <a:latin typeface="Microsoft YaHei"/>
                        </a:rPr>
                        <a:t>情境意识</a:t>
                      </a:r>
                      <a:r>
                        <a:rPr sz="890" b="0" i="0">
                          <a:solidFill>
                            <a:srgbClr val="1A1A1A"/>
                          </a:solidFill>
                          <a:latin typeface="Microsoft YaHei"/>
                        </a:rPr>
                        <a:t>首次注视时间、漏检率（并列主）</a:t>
                      </a:r>
                    </a:p>
                    <a:p>
                      <a:pPr algn="l">
                        <a:lnSpc>
                          <a:spcPct val="155000"/>
                        </a:lnSpc>
                        <a:spcBef>
                          <a:spcPts val="0"/>
                        </a:spcBef>
                        <a:spcAft>
                          <a:spcPts val="0"/>
                        </a:spcAft>
                      </a:pPr>
                      <a:r>
                        <a:rPr sz="890" b="1" i="0">
                          <a:solidFill>
                            <a:srgbClr val="1A1A1A"/>
                          </a:solidFill>
                          <a:latin typeface="Microsoft YaHei"/>
                        </a:rPr>
                        <a:t>认知负荷</a:t>
                      </a:r>
                      <a:r>
                        <a:rPr sz="890" b="0" i="0">
                          <a:solidFill>
                            <a:srgbClr val="1A1A1A"/>
                          </a:solidFill>
                          <a:latin typeface="Microsoft YaHei"/>
                        </a:rPr>
                        <a:t>NASA-TLX</a:t>
                      </a:r>
                    </a:p>
                    <a:p>
                      <a:pPr algn="l">
                        <a:lnSpc>
                          <a:spcPct val="155000"/>
                        </a:lnSpc>
                        <a:spcBef>
                          <a:spcPts val="0"/>
                        </a:spcBef>
                        <a:spcAft>
                          <a:spcPts val="0"/>
                        </a:spcAft>
                      </a:pPr>
                      <a:r>
                        <a:rPr sz="890" b="1" i="0">
                          <a:solidFill>
                            <a:srgbClr val="1A1A1A"/>
                          </a:solidFill>
                          <a:latin typeface="Microsoft YaHei"/>
                        </a:rPr>
                        <a:t>用户体验</a:t>
                      </a:r>
                      <a:r>
                        <a:rPr sz="890" b="0" i="0">
                          <a:solidFill>
                            <a:srgbClr val="1A1A1A"/>
                          </a:solidFill>
                          <a:latin typeface="Microsoft YaHei"/>
                        </a:rPr>
                        <a:t>侵入性</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H1</a:t>
                      </a:r>
                      <a:r>
                        <a:rPr sz="890" b="0" i="0">
                          <a:solidFill>
                            <a:srgbClr val="1A1A1A"/>
                          </a:solidFill>
                          <a:latin typeface="Microsoft YaHei"/>
                        </a:rPr>
                        <a:t> 存在最小有效提前量 0.9–1.2 s；</a:t>
                      </a:r>
                      <a:r>
                        <a:rPr sz="890" b="0" i="1">
                          <a:solidFill>
                            <a:srgbClr val="1A1A1A"/>
                          </a:solidFill>
                          <a:latin typeface="Microsoft YaHei"/>
                        </a:rPr>
                        <a:t>Δt</a:t>
                      </a:r>
                      <a:r>
                        <a:rPr sz="890" b="0" i="0">
                          <a:solidFill>
                            <a:srgbClr val="1A1A1A"/>
                          </a:solidFill>
                          <a:latin typeface="Microsoft YaHei"/>
                        </a:rPr>
                        <a:t> &lt; 0.9 s 时峰值减速度与抖动率显著上升而碰撞率不降。</a:t>
                      </a:r>
                      <a:r>
                        <a:rPr sz="890" b="1" i="0">
                          <a:solidFill>
                            <a:srgbClr val="1A1A1A"/>
                          </a:solidFill>
                          <a:latin typeface="Microsoft YaHei"/>
                        </a:rPr>
                        <a:t>H2</a:t>
                      </a:r>
                      <a:r>
                        <a:rPr sz="890" b="0" i="0">
                          <a:solidFill>
                            <a:srgbClr val="1A1A1A"/>
                          </a:solidFill>
                          <a:latin typeface="Microsoft YaHei"/>
                        </a:rPr>
                        <a:t> +2.5 s 相对 +1.0 s </a:t>
                      </a:r>
                      <a:r>
                        <a:rPr sz="890" b="1" i="0">
                          <a:solidFill>
                            <a:srgbClr val="1A1A1A"/>
                          </a:solidFill>
                          <a:latin typeface="Microsoft YaHei"/>
                        </a:rPr>
                        <a:t>反应时无显著增益而主观负荷与侵入性更差</a:t>
                      </a:r>
                      <a:r>
                        <a:rPr sz="890" b="0" i="0">
                          <a:solidFill>
                            <a:srgbClr val="1A1A1A"/>
                          </a:solidFill>
                          <a:latin typeface="Microsoft YaHei"/>
                        </a:rPr>
                        <a:t>（收益递减 + 代价递增）。</a:t>
                      </a:r>
                      <a:r>
                        <a:rPr sz="890" b="1" i="0">
                          <a:solidFill>
                            <a:srgbClr val="1A1A1A"/>
                          </a:solidFill>
                          <a:latin typeface="Microsoft YaHei"/>
                        </a:rPr>
                        <a:t>H3</a:t>
                      </a:r>
                      <a:r>
                        <a:rPr sz="890" b="0" i="0">
                          <a:solidFill>
                            <a:srgbClr val="1A1A1A"/>
                          </a:solidFill>
                          <a:latin typeface="Microsoft YaHei"/>
                        </a:rPr>
                        <a:t> 「准则 × 车速」交互显著，即</a:t>
                      </a:r>
                      <a:r>
                        <a:rPr sz="890" b="1" i="0">
                          <a:solidFill>
                            <a:srgbClr val="1A1A1A"/>
                          </a:solidFill>
                          <a:latin typeface="Microsoft YaHei"/>
                        </a:rPr>
                        <a:t>制动威胁数的跨车速一致性优于固定阈值</a:t>
                      </a:r>
                      <a:r>
                        <a:rPr sz="890" b="0" i="0">
                          <a:solidFill>
                            <a:srgbClr val="1A1A1A"/>
                          </a:solidFill>
                          <a:latin typeface="Microsoft YaHei"/>
                        </a:rPr>
                        <a:t>。</a:t>
                      </a:r>
                    </a:p>
                  </a:txBody>
                  <a:tcPr marL="66675" marR="66675" marT="42862" marB="42862" anchor="t">
                    <a:solidFill>
                      <a:srgbClr val="FAFBFD"/>
                    </a:solidFill>
                  </a:tcPr>
                </a:tc>
              </a:tr>
              <a:tr h="617636">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实验 3</a:t>
                      </a:r>
                    </a:p>
                    <a:p>
                      <a:pPr algn="l">
                        <a:lnSpc>
                          <a:spcPct val="160000"/>
                        </a:lnSpc>
                        <a:spcBef>
                          <a:spcPts val="0"/>
                        </a:spcBef>
                        <a:spcAft>
                          <a:spcPts val="0"/>
                        </a:spcAft>
                      </a:pPr>
                      <a:r>
                        <a:rPr sz="890" b="0" i="0">
                          <a:solidFill>
                            <a:srgbClr val="1A1A1A"/>
                          </a:solidFill>
                          <a:latin typeface="Microsoft YaHei"/>
                        </a:rPr>
                        <a:t>分层与可靠性</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级间间隔（0.7／1.0／1.5 s）× 系统可靠性（100%／80%）= </a:t>
                      </a:r>
                      <a:r>
                        <a:rPr sz="890" b="1" i="0">
                          <a:solidFill>
                            <a:srgbClr val="1A1A1A"/>
                          </a:solidFill>
                          <a:latin typeface="Microsoft YaHei"/>
                        </a:rPr>
                        <a:t>3 × 2</a:t>
                      </a:r>
                      <a:r>
                        <a:rPr sz="890" b="0" i="0">
                          <a:solidFill>
                            <a:srgbClr val="1A1A1A"/>
                          </a:solidFill>
                          <a:latin typeface="Microsoft YaHei"/>
                        </a:rPr>
                        <a:t>，另加无预警基线与实验 2 入选单层方案两对照；虚警</a:t>
                      </a:r>
                      <a:r>
                        <a:rPr sz="890" b="1" i="0">
                          <a:solidFill>
                            <a:srgbClr val="1A1A1A"/>
                          </a:solidFill>
                          <a:latin typeface="Microsoft YaHei"/>
                        </a:rPr>
                        <a:t>只施加在预告级</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情境意识</a:t>
                      </a:r>
                      <a:r>
                        <a:rPr sz="890" b="0" i="0">
                          <a:solidFill>
                            <a:srgbClr val="1A1A1A"/>
                          </a:solidFill>
                          <a:latin typeface="Microsoft YaHei"/>
                        </a:rPr>
                        <a:t>预告级→首次注视、目标验证时间</a:t>
                      </a:r>
                    </a:p>
                    <a:p>
                      <a:pPr algn="l">
                        <a:lnSpc>
                          <a:spcPct val="155000"/>
                        </a:lnSpc>
                        <a:spcBef>
                          <a:spcPts val="0"/>
                        </a:spcBef>
                        <a:spcAft>
                          <a:spcPts val="0"/>
                        </a:spcAft>
                      </a:pPr>
                      <a:r>
                        <a:rPr sz="890" b="1" i="0">
                          <a:solidFill>
                            <a:srgbClr val="1A1A1A"/>
                          </a:solidFill>
                          <a:latin typeface="Microsoft YaHei"/>
                        </a:rPr>
                        <a:t>用户体验</a:t>
                      </a:r>
                      <a:r>
                        <a:rPr sz="890" b="0" i="0">
                          <a:solidFill>
                            <a:srgbClr val="1A1A1A"/>
                          </a:solidFill>
                          <a:latin typeface="Microsoft YaHei"/>
                        </a:rPr>
                        <a:t>信任量表、</a:t>
                      </a:r>
                      <a:r>
                        <a:rPr sz="890" b="1" i="0">
                          <a:solidFill>
                            <a:srgbClr val="1A1A1A"/>
                          </a:solidFill>
                          <a:latin typeface="Microsoft YaHei"/>
                        </a:rPr>
                        <a:t>预告级依从率</a:t>
                      </a:r>
                    </a:p>
                    <a:p>
                      <a:pPr algn="l">
                        <a:lnSpc>
                          <a:spcPct val="155000"/>
                        </a:lnSpc>
                        <a:spcBef>
                          <a:spcPts val="0"/>
                        </a:spcBef>
                        <a:spcAft>
                          <a:spcPts val="0"/>
                        </a:spcAft>
                      </a:pPr>
                      <a:r>
                        <a:rPr sz="890" b="1" i="0">
                          <a:solidFill>
                            <a:srgbClr val="1A1A1A"/>
                          </a:solidFill>
                          <a:latin typeface="Microsoft YaHei"/>
                        </a:rPr>
                        <a:t>安全绩效</a:t>
                      </a:r>
                      <a:r>
                        <a:rPr sz="890" b="0" i="0">
                          <a:solidFill>
                            <a:srgbClr val="1A1A1A"/>
                          </a:solidFill>
                          <a:latin typeface="Microsoft YaHei"/>
                        </a:rPr>
                        <a:t>取消升级率、最小 TTMD</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H4</a:t>
                      </a:r>
                      <a:r>
                        <a:rPr sz="890" b="0" i="0">
                          <a:solidFill>
                            <a:srgbClr val="1A1A1A"/>
                          </a:solidFill>
                          <a:latin typeface="Microsoft YaHei"/>
                        </a:rPr>
                        <a:t> 级间间隔存在</a:t>
                      </a:r>
                      <a:r>
                        <a:rPr sz="890" b="1" i="0">
                          <a:solidFill>
                            <a:srgbClr val="1A1A1A"/>
                          </a:solidFill>
                          <a:latin typeface="Microsoft YaHei"/>
                        </a:rPr>
                        <a:t>倒 U 型</a:t>
                      </a:r>
                      <a:r>
                        <a:rPr sz="890" b="0" i="0">
                          <a:solidFill>
                            <a:srgbClr val="1A1A1A"/>
                          </a:solidFill>
                          <a:latin typeface="Microsoft YaHei"/>
                        </a:rPr>
                        <a:t>峰值且峰值位于 1.0 s。</a:t>
                      </a:r>
                      <a:r>
                        <a:rPr sz="890" b="1" i="0">
                          <a:solidFill>
                            <a:srgbClr val="1A1A1A"/>
                          </a:solidFill>
                          <a:latin typeface="Microsoft YaHei"/>
                        </a:rPr>
                        <a:t>H9</a:t>
                      </a:r>
                      <a:r>
                        <a:rPr sz="890" b="0" i="0">
                          <a:solidFill>
                            <a:srgbClr val="1A1A1A"/>
                          </a:solidFill>
                          <a:latin typeface="Microsoft YaHei"/>
                        </a:rPr>
                        <a:t>（反向预测）80% 可靠性下</a:t>
                      </a:r>
                      <a:r>
                        <a:rPr sz="890" b="1" i="0">
                          <a:solidFill>
                            <a:srgbClr val="1A1A1A"/>
                          </a:solidFill>
                          <a:latin typeface="Microsoft YaHei"/>
                        </a:rPr>
                        <a:t>分层优势显著衰减、预告级依从率下降</a:t>
                      </a:r>
                      <a:r>
                        <a:rPr sz="890" b="0" i="0">
                          <a:solidFill>
                            <a:srgbClr val="1A1A1A"/>
                          </a:solidFill>
                          <a:latin typeface="Microsoft YaHei"/>
                        </a:rPr>
                        <a:t>，且</a:t>
                      </a:r>
                      <a:r>
                        <a:rPr sz="890" b="1" i="0">
                          <a:solidFill>
                            <a:srgbClr val="1A1A1A"/>
                          </a:solidFill>
                          <a:latin typeface="Microsoft YaHei"/>
                        </a:rPr>
                        <a:t>低可靠性时 1.5 s 间隔反而更稳健</a:t>
                      </a:r>
                      <a:r>
                        <a:rPr sz="890" b="0" i="0">
                          <a:solidFill>
                            <a:srgbClr val="1A1A1A"/>
                          </a:solidFill>
                          <a:latin typeface="Microsoft YaHei"/>
                        </a:rPr>
                        <a:t>。</a:t>
                      </a:r>
                    </a:p>
                  </a:txBody>
                  <a:tcPr marL="66675" marR="66675" marT="42862" marB="42862" anchor="t">
                    <a:noFill/>
                  </a:tcPr>
                </a:tc>
              </a:tr>
              <a:tr h="1140023">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实验 4</a:t>
                      </a:r>
                    </a:p>
                    <a:p>
                      <a:pPr algn="l">
                        <a:lnSpc>
                          <a:spcPct val="160000"/>
                        </a:lnSpc>
                        <a:spcBef>
                          <a:spcPts val="0"/>
                        </a:spcBef>
                        <a:spcAft>
                          <a:spcPts val="0"/>
                        </a:spcAft>
                      </a:pPr>
                      <a:r>
                        <a:rPr sz="890" b="0" i="0">
                          <a:solidFill>
                            <a:srgbClr val="1A1A1A"/>
                          </a:solidFill>
                          <a:latin typeface="Microsoft YaHei"/>
                        </a:rPr>
                        <a:t>空间参照系</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主设计</a:t>
                      </a:r>
                      <a:r>
                        <a:rPr sz="890" b="0" i="0">
                          <a:solidFill>
                            <a:srgbClr val="1A1A1A"/>
                          </a:solidFill>
                          <a:latin typeface="Microsoft YaHei"/>
                        </a:rPr>
                        <a:t>：锁定策略 </a:t>
                      </a:r>
                      <a:r>
                        <a:rPr sz="890" b="1" i="0">
                          <a:solidFill>
                            <a:srgbClr val="1A1A1A"/>
                          </a:solidFill>
                          <a:latin typeface="Microsoft YaHei"/>
                        </a:rPr>
                        <a:t>5 水平</a:t>
                      </a:r>
                      <a:r>
                        <a:rPr sz="890" b="0" i="0">
                          <a:solidFill>
                            <a:srgbClr val="1A1A1A"/>
                          </a:solidFill>
                          <a:latin typeface="Microsoft YaHei"/>
                        </a:rPr>
                        <a:t>（Baseline／屏幕固定／道路锁定／跟随目标／复合）× 背景视觉复杂度 2 水平 = </a:t>
                      </a:r>
                      <a:r>
                        <a:rPr sz="890" b="1" i="0">
                          <a:solidFill>
                            <a:srgbClr val="1A1A1A"/>
                          </a:solidFill>
                          <a:latin typeface="Microsoft YaHei"/>
                        </a:rPr>
                        <a:t>5 × 2</a:t>
                      </a:r>
                      <a:r>
                        <a:rPr sz="890" b="0" i="0">
                          <a:solidFill>
                            <a:srgbClr val="1A1A1A"/>
                          </a:solidFill>
                          <a:latin typeface="Microsoft YaHei"/>
                        </a:rPr>
                        <a:t>；</a:t>
                      </a:r>
                      <a:r>
                        <a:rPr sz="890" b="1" i="0">
                          <a:solidFill>
                            <a:srgbClr val="1A1A1A"/>
                          </a:solidFill>
                          <a:latin typeface="Microsoft YaHei"/>
                        </a:rPr>
                        <a:t>区块 F</a:t>
                      </a:r>
                      <a:r>
                        <a:rPr sz="890" b="0" i="0">
                          <a:solidFill>
                            <a:srgbClr val="1A1A1A"/>
                          </a:solidFill>
                          <a:latin typeface="Microsoft YaHei"/>
                        </a:rPr>
                        <a:t>：锁定策略 2 水平（屏幕固定／跟随目标）× </a:t>
                      </a:r>
                      <a:r>
                        <a:rPr sz="890" b="1" i="0">
                          <a:solidFill>
                            <a:srgbClr val="1A1A1A"/>
                          </a:solidFill>
                          <a:latin typeface="Microsoft YaHei"/>
                        </a:rPr>
                        <a:t>次任务负荷</a:t>
                      </a:r>
                      <a:r>
                        <a:rPr sz="890" b="0" i="0">
                          <a:solidFill>
                            <a:srgbClr val="1A1A1A"/>
                          </a:solidFill>
                          <a:latin typeface="Microsoft YaHei"/>
                        </a:rPr>
                        <a:t> 2 水平（纯音乐／意图诱导型听觉问答）= </a:t>
                      </a:r>
                      <a:r>
                        <a:rPr sz="890" b="1" i="0">
                          <a:solidFill>
                            <a:srgbClr val="1A1A1A"/>
                          </a:solidFill>
                          <a:latin typeface="Microsoft YaHei"/>
                        </a:rPr>
                        <a:t>2 × 2</a:t>
                      </a:r>
                      <a:r>
                        <a:rPr sz="890" b="0" i="0">
                          <a:solidFill>
                            <a:srgbClr val="1A1A1A"/>
                          </a:solidFill>
                          <a:latin typeface="Microsoft YaHei"/>
                        </a:rPr>
                        <a:t>，背景固定为高拥挤；</a:t>
                      </a:r>
                      <a:r>
                        <a:rPr sz="890" b="1" i="0">
                          <a:solidFill>
                            <a:srgbClr val="1A1A1A"/>
                          </a:solidFill>
                          <a:latin typeface="Microsoft YaHei"/>
                        </a:rPr>
                        <a:t>时间参数固定</a:t>
                      </a:r>
                      <a:r>
                        <a:rPr sz="890" b="0" i="0">
                          <a:solidFill>
                            <a:srgbClr val="1A1A1A"/>
                          </a:solidFill>
                          <a:latin typeface="Microsoft YaHei"/>
                        </a:rPr>
                        <a:t>为实验 2–3 入选组合</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情境意识</a:t>
                      </a:r>
                      <a:r>
                        <a:rPr sz="890" b="0" i="0">
                          <a:solidFill>
                            <a:srgbClr val="1A1A1A"/>
                          </a:solidFill>
                          <a:latin typeface="Microsoft YaHei"/>
                        </a:rPr>
                        <a:t>真实行人首次注视（主）、</a:t>
                      </a:r>
                      <a:r>
                        <a:rPr sz="890" b="1" i="0">
                          <a:solidFill>
                            <a:srgbClr val="1A1A1A"/>
                          </a:solidFill>
                          <a:latin typeface="Microsoft YaHei"/>
                        </a:rPr>
                        <a:t>漏检率（并列主）</a:t>
                      </a:r>
                      <a:r>
                        <a:rPr sz="890" b="0" i="0">
                          <a:solidFill>
                            <a:srgbClr val="1A1A1A"/>
                          </a:solidFill>
                          <a:latin typeface="Microsoft YaHei"/>
                        </a:rPr>
                        <a:t>、目标验证时间</a:t>
                      </a:r>
                    </a:p>
                    <a:p>
                      <a:pPr algn="l">
                        <a:lnSpc>
                          <a:spcPct val="155000"/>
                        </a:lnSpc>
                        <a:spcBef>
                          <a:spcPts val="0"/>
                        </a:spcBef>
                        <a:spcAft>
                          <a:spcPts val="0"/>
                        </a:spcAft>
                      </a:pPr>
                      <a:r>
                        <a:rPr sz="890" b="1" i="0">
                          <a:solidFill>
                            <a:srgbClr val="1A1A1A"/>
                          </a:solidFill>
                          <a:latin typeface="Microsoft YaHei"/>
                        </a:rPr>
                        <a:t>认知负荷</a:t>
                      </a:r>
                      <a:r>
                        <a:rPr sz="890" b="0" i="0">
                          <a:solidFill>
                            <a:srgbClr val="1A1A1A"/>
                          </a:solidFill>
                          <a:latin typeface="Microsoft YaHei"/>
                        </a:rPr>
                        <a:t>注视转移熵、瞳孔变化率</a:t>
                      </a:r>
                    </a:p>
                    <a:p>
                      <a:pPr algn="l">
                        <a:lnSpc>
                          <a:spcPct val="155000"/>
                        </a:lnSpc>
                        <a:spcBef>
                          <a:spcPts val="0"/>
                        </a:spcBef>
                        <a:spcAft>
                          <a:spcPts val="0"/>
                        </a:spcAft>
                      </a:pPr>
                      <a:r>
                        <a:rPr sz="890" b="1" i="0">
                          <a:solidFill>
                            <a:srgbClr val="1A1A1A"/>
                          </a:solidFill>
                          <a:latin typeface="Microsoft YaHei"/>
                        </a:rPr>
                        <a:t>用户体验</a:t>
                      </a:r>
                      <a:r>
                        <a:rPr sz="890" b="0" i="0">
                          <a:solidFill>
                            <a:srgbClr val="1A1A1A"/>
                          </a:solidFill>
                          <a:latin typeface="Microsoft YaHei"/>
                        </a:rPr>
                        <a:t>主观偏好序</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H11</a:t>
                      </a:r>
                      <a:r>
                        <a:rPr sz="890" b="0" i="0">
                          <a:solidFill>
                            <a:srgbClr val="1A1A1A"/>
                          </a:solidFill>
                          <a:latin typeface="Microsoft YaHei"/>
                        </a:rPr>
                        <a:t> 跟随目标锁定的</a:t>
                      </a:r>
                      <a:r>
                        <a:rPr sz="890" b="1" i="0">
                          <a:solidFill>
                            <a:srgbClr val="1A1A1A"/>
                          </a:solidFill>
                          <a:latin typeface="Microsoft YaHei"/>
                        </a:rPr>
                        <a:t>定位效率优于屏幕固定与道路锁定</a:t>
                      </a:r>
                      <a:r>
                        <a:rPr sz="890" b="0" i="0">
                          <a:solidFill>
                            <a:srgbClr val="1A1A1A"/>
                          </a:solidFill>
                          <a:latin typeface="Microsoft YaHei"/>
                        </a:rPr>
                        <a:t>；</a:t>
                      </a:r>
                      <a:r>
                        <a:rPr sz="890" b="1" i="0">
                          <a:solidFill>
                            <a:srgbClr val="1A1A1A"/>
                          </a:solidFill>
                          <a:latin typeface="Microsoft YaHei"/>
                        </a:rPr>
                        <a:t>复合条件改善情境理解但提高认知负荷</a:t>
                      </a:r>
                      <a:r>
                        <a:rPr sz="890" b="0" i="0">
                          <a:solidFill>
                            <a:srgbClr val="1A1A1A"/>
                          </a:solidFill>
                          <a:latin typeface="Microsoft YaHei"/>
                        </a:rPr>
                        <a:t>（两方向同时预测）。</a:t>
                      </a:r>
                      <a:r>
                        <a:rPr sz="890" b="1" i="0">
                          <a:solidFill>
                            <a:srgbClr val="1A1A1A"/>
                          </a:solidFill>
                          <a:latin typeface="Microsoft YaHei"/>
                        </a:rPr>
                        <a:t>H15</a:t>
                      </a:r>
                      <a:r>
                        <a:rPr sz="890" b="0" i="0">
                          <a:solidFill>
                            <a:srgbClr val="1A1A1A"/>
                          </a:solidFill>
                          <a:latin typeface="Microsoft YaHei"/>
                        </a:rPr>
                        <a:t>（区块 F）负荷 × 锁定策略交互显著；</a:t>
                      </a:r>
                      <a:r>
                        <a:rPr sz="890" b="1" i="0">
                          <a:solidFill>
                            <a:srgbClr val="1A1A1A"/>
                          </a:solidFill>
                          <a:latin typeface="Microsoft YaHei"/>
                        </a:rPr>
                        <a:t>零结果亦有解释力</a:t>
                      </a:r>
                      <a:r>
                        <a:rPr sz="890" b="0" i="0">
                          <a:solidFill>
                            <a:srgbClr val="1A1A1A"/>
                          </a:solidFill>
                          <a:latin typeface="Microsoft YaHei"/>
                        </a:rPr>
                        <a:t>——Shen 等（2026）的「闪烁 × 沉浸度」交互即不显著（</a:t>
                      </a:r>
                      <a:r>
                        <a:rPr sz="890" b="0" i="1">
                          <a:solidFill>
                            <a:srgbClr val="1A1A1A"/>
                          </a:solidFill>
                          <a:latin typeface="Microsoft YaHei"/>
                        </a:rPr>
                        <a:t>p</a:t>
                      </a:r>
                      <a:r>
                        <a:rPr sz="890" b="0" i="0">
                          <a:solidFill>
                            <a:srgbClr val="1A1A1A"/>
                          </a:solidFill>
                          <a:latin typeface="Microsoft YaHei"/>
                        </a:rPr>
                        <a:t> = .126）而沉浸度主效应 </a:t>
                      </a:r>
                      <a:r>
                        <a:rPr sz="890" b="0" i="1">
                          <a:solidFill>
                            <a:srgbClr val="1A1A1A"/>
                          </a:solidFill>
                          <a:latin typeface="Microsoft YaHei"/>
                        </a:rPr>
                        <a:t>η²</a:t>
                      </a:r>
                      <a:r>
                        <a:rPr sz="890" b="0" i="0">
                          <a:solidFill>
                            <a:srgbClr val="1A1A1A"/>
                          </a:solidFill>
                          <a:latin typeface="Microsoft YaHei"/>
                        </a:rPr>
                        <a:t> = .886，若此处亦然则说明</a:t>
                      </a:r>
                      <a:r>
                        <a:rPr sz="890" b="1" i="0">
                          <a:solidFill>
                            <a:srgbClr val="1A1A1A"/>
                          </a:solidFill>
                          <a:latin typeface="Microsoft YaHei"/>
                        </a:rPr>
                        <a:t>推荐序可跨负荷迁移</a:t>
                      </a:r>
                      <a:r>
                        <a:rPr sz="890" b="0" i="0">
                          <a:solidFill>
                            <a:srgbClr val="1A1A1A"/>
                          </a:solidFill>
                          <a:latin typeface="Microsoft YaHei"/>
                        </a:rPr>
                        <a:t>。</a:t>
                      </a:r>
                      <a:r>
                        <a:rPr sz="890" b="1" i="0">
                          <a:solidFill>
                            <a:srgbClr val="1A1A1A"/>
                          </a:solidFill>
                          <a:latin typeface="Microsoft YaHei"/>
                        </a:rPr>
                        <a:t>关键约束</a:t>
                      </a:r>
                      <a:r>
                        <a:rPr sz="890" b="0" i="0">
                          <a:solidFill>
                            <a:srgbClr val="1A1A1A"/>
                          </a:solidFill>
                          <a:latin typeface="Microsoft YaHei"/>
                        </a:rPr>
                        <a:t>：以屏幕固定为基线以</a:t>
                      </a:r>
                      <a:r>
                        <a:rPr sz="890" b="1" i="0">
                          <a:solidFill>
                            <a:srgbClr val="1A1A1A"/>
                          </a:solidFill>
                          <a:latin typeface="Microsoft YaHei"/>
                        </a:rPr>
                        <a:t>分离位置增益与共形增益</a:t>
                      </a:r>
                      <a:r>
                        <a:rPr sz="890" b="0" i="0">
                          <a:solidFill>
                            <a:srgbClr val="1A1A1A"/>
                          </a:solidFill>
                          <a:latin typeface="Microsoft YaHei"/>
                        </a:rPr>
                        <a:t>，故其余条件的增量必然更小，样本量按更小效应量估计。</a:t>
                      </a:r>
                    </a:p>
                  </a:txBody>
                  <a:tcPr marL="66675" marR="66675" marT="42862" marB="42862" anchor="t">
                    <a:solidFill>
                      <a:srgbClr val="FAFBFD"/>
                    </a:solidFill>
                  </a:tcPr>
                </a:tc>
              </a:tr>
              <a:tr h="791765">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实验 5</a:t>
                      </a:r>
                    </a:p>
                    <a:p>
                      <a:pPr algn="l">
                        <a:lnSpc>
                          <a:spcPct val="160000"/>
                        </a:lnSpc>
                        <a:spcBef>
                          <a:spcPts val="0"/>
                        </a:spcBef>
                        <a:spcAft>
                          <a:spcPts val="0"/>
                        </a:spcAft>
                      </a:pPr>
                      <a:r>
                        <a:rPr sz="890" b="0" i="0">
                          <a:solidFill>
                            <a:srgbClr val="1A1A1A"/>
                          </a:solidFill>
                          <a:latin typeface="Microsoft YaHei"/>
                        </a:rPr>
                        <a:t>风险演化编码</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2 × 2 被试内</a:t>
                      </a:r>
                      <a:r>
                        <a:rPr sz="890" b="0" i="0">
                          <a:solidFill>
                            <a:srgbClr val="1A1A1A"/>
                          </a:solidFill>
                          <a:latin typeface="Microsoft YaHei"/>
                        </a:rPr>
                        <a:t>：风险量级空间映射（无／有，</a:t>
                      </a:r>
                      <a:r>
                        <a:rPr sz="890" b="1" i="0">
                          <a:solidFill>
                            <a:srgbClr val="1A1A1A"/>
                          </a:solidFill>
                          <a:latin typeface="Microsoft YaHei"/>
                        </a:rPr>
                        <a:t>映射源统一为制动威胁数</a:t>
                      </a:r>
                      <a:r>
                        <a:rPr sz="890" b="0" i="0">
                          <a:solidFill>
                            <a:srgbClr val="1A1A1A"/>
                          </a:solidFill>
                          <a:latin typeface="Microsoft YaHei"/>
                        </a:rPr>
                        <a:t>）× 运动趋势空间映射（无／有）；</a:t>
                      </a:r>
                      <a:r>
                        <a:rPr sz="890" b="1" i="0">
                          <a:solidFill>
                            <a:srgbClr val="1A1A1A"/>
                          </a:solidFill>
                          <a:latin typeface="Microsoft YaHei"/>
                        </a:rPr>
                        <a:t>空间载体固定</a:t>
                      </a:r>
                      <a:r>
                        <a:rPr sz="890" b="0" i="0">
                          <a:solidFill>
                            <a:srgbClr val="1A1A1A"/>
                          </a:solidFill>
                          <a:latin typeface="Microsoft YaHei"/>
                        </a:rPr>
                        <a:t>为实验 4 入选方案</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情境意识</a:t>
                      </a:r>
                      <a:r>
                        <a:rPr sz="890" b="0" i="0">
                          <a:solidFill>
                            <a:srgbClr val="1A1A1A"/>
                          </a:solidFill>
                          <a:latin typeface="Microsoft YaHei"/>
                        </a:rPr>
                        <a:t>路径侵入预测正确率、冲突点空间误差、预期性注视比例</a:t>
                      </a:r>
                    </a:p>
                    <a:p>
                      <a:pPr algn="l">
                        <a:lnSpc>
                          <a:spcPct val="155000"/>
                        </a:lnSpc>
                        <a:spcBef>
                          <a:spcPts val="0"/>
                        </a:spcBef>
                        <a:spcAft>
                          <a:spcPts val="0"/>
                        </a:spcAft>
                      </a:pPr>
                      <a:r>
                        <a:rPr sz="890" b="1" i="0">
                          <a:solidFill>
                            <a:srgbClr val="1A1A1A"/>
                          </a:solidFill>
                          <a:latin typeface="Microsoft YaHei"/>
                        </a:rPr>
                        <a:t>认知负荷</a:t>
                      </a:r>
                      <a:r>
                        <a:rPr sz="890" b="0" i="0">
                          <a:solidFill>
                            <a:srgbClr val="1A1A1A"/>
                          </a:solidFill>
                          <a:latin typeface="Microsoft YaHei"/>
                        </a:rPr>
                        <a:t>瞳孔与负荷量表</a:t>
                      </a:r>
                    </a:p>
                    <a:p>
                      <a:pPr algn="l">
                        <a:lnSpc>
                          <a:spcPct val="155000"/>
                        </a:lnSpc>
                        <a:spcBef>
                          <a:spcPts val="0"/>
                        </a:spcBef>
                        <a:spcAft>
                          <a:spcPts val="0"/>
                        </a:spcAft>
                      </a:pPr>
                      <a:r>
                        <a:rPr sz="890" b="1" i="0">
                          <a:solidFill>
                            <a:srgbClr val="1A1A1A"/>
                          </a:solidFill>
                          <a:latin typeface="Microsoft YaHei"/>
                        </a:rPr>
                        <a:t>安全绩效</a:t>
                      </a:r>
                      <a:r>
                        <a:rPr sz="890" b="0" i="0">
                          <a:solidFill>
                            <a:srgbClr val="1A1A1A"/>
                          </a:solidFill>
                          <a:latin typeface="Microsoft YaHei"/>
                        </a:rPr>
                        <a:t>最小 TTMD</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两维度</a:t>
                      </a:r>
                      <a:r>
                        <a:rPr sz="890" b="1" i="0">
                          <a:solidFill>
                            <a:srgbClr val="1A1A1A"/>
                          </a:solidFill>
                          <a:latin typeface="Microsoft YaHei"/>
                        </a:rPr>
                        <a:t>作用路径不同</a:t>
                      </a:r>
                      <a:r>
                        <a:rPr sz="890" b="0" i="0">
                          <a:solidFill>
                            <a:srgbClr val="1A1A1A"/>
                          </a:solidFill>
                          <a:latin typeface="Microsoft YaHei"/>
                        </a:rPr>
                        <a:t>：量级映射主要改善</a:t>
                      </a:r>
                      <a:r>
                        <a:rPr sz="890" b="1" i="0">
                          <a:solidFill>
                            <a:srgbClr val="1A1A1A"/>
                          </a:solidFill>
                          <a:latin typeface="Microsoft YaHei"/>
                        </a:rPr>
                        <a:t>紧迫度判断</a:t>
                      </a:r>
                      <a:r>
                        <a:rPr sz="890" b="0" i="0">
                          <a:solidFill>
                            <a:srgbClr val="1A1A1A"/>
                          </a:solidFill>
                          <a:latin typeface="Microsoft YaHei"/>
                        </a:rPr>
                        <a:t>（理解层），趋势映射主要改善</a:t>
                      </a:r>
                      <a:r>
                        <a:rPr sz="890" b="1" i="0">
                          <a:solidFill>
                            <a:srgbClr val="1A1A1A"/>
                          </a:solidFill>
                          <a:latin typeface="Microsoft YaHei"/>
                        </a:rPr>
                        <a:t>路径侵入预测</a:t>
                      </a:r>
                      <a:r>
                        <a:rPr sz="890" b="0" i="0">
                          <a:solidFill>
                            <a:srgbClr val="1A1A1A"/>
                          </a:solidFill>
                          <a:latin typeface="Microsoft YaHei"/>
                        </a:rPr>
                        <a:t>（预测层）；二者</a:t>
                      </a:r>
                      <a:r>
                        <a:rPr sz="890" b="1" i="0">
                          <a:solidFill>
                            <a:srgbClr val="1A1A1A"/>
                          </a:solidFill>
                          <a:latin typeface="Microsoft YaHei"/>
                        </a:rPr>
                        <a:t>是否协同为开放问题</a:t>
                      </a:r>
                      <a:r>
                        <a:rPr sz="890" b="0" i="0">
                          <a:solidFill>
                            <a:srgbClr val="1A1A1A"/>
                          </a:solidFill>
                          <a:latin typeface="Microsoft YaHei"/>
                        </a:rPr>
                        <a:t>，若同时施加使负荷显著上升而绩效不再改善，则支持「信息量存在上限」。</a:t>
                      </a:r>
                    </a:p>
                  </a:txBody>
                  <a:tcPr marL="66675" marR="66675" marT="42862" marB="42862" anchor="t">
                    <a:noFill/>
                  </a:tcPr>
                </a:tc>
              </a:tr>
            </a:tbl>
          </a:graphicData>
        </a:graphic>
      </p:graphicFrame>
      <p:sp>
        <p:nvSpPr>
          <p:cNvPr id="10" name="Rectangle 9"/>
          <p:cNvSpPr/>
          <p:nvPr/>
        </p:nvSpPr>
        <p:spPr>
          <a:xfrm>
            <a:off x="438150" y="5390554"/>
            <a:ext cx="11315700" cy="588764"/>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8150" y="5390554"/>
            <a:ext cx="38100" cy="588764"/>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1975" y="5476279"/>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共同统计规范：</a:t>
            </a:r>
            <a:r>
              <a:rPr sz="990" b="0" i="0">
                <a:solidFill>
                  <a:srgbClr val="6B5200"/>
                </a:solidFill>
                <a:latin typeface="Microsoft YaHei"/>
              </a:rPr>
              <a:t>反应时按右偏分布处理（对数正态／Gamma 或生存分析）；主要结局</a:t>
            </a:r>
            <a:r>
              <a:rPr sz="990" b="1" i="0">
                <a:solidFill>
                  <a:srgbClr val="8A6A00"/>
                </a:solidFill>
                <a:latin typeface="Microsoft YaHei"/>
              </a:rPr>
              <a:t>预注册</a:t>
            </a:r>
            <a:r>
              <a:rPr sz="990" b="0" i="0">
                <a:solidFill>
                  <a:srgbClr val="6B5200"/>
                </a:solidFill>
                <a:latin typeface="Microsoft YaHei"/>
              </a:rPr>
              <a:t>，次要结局按错误发现率校正；报告估计差、95% 置信区间与效应量；</a:t>
            </a:r>
            <a:r>
              <a:rPr sz="990" b="1" i="0">
                <a:solidFill>
                  <a:srgbClr val="8A6A00"/>
                </a:solidFill>
                <a:latin typeface="Microsoft YaHei"/>
              </a:rPr>
              <a:t>「无显著差异」不解释为等效</a:t>
            </a:r>
            <a:r>
              <a:rPr sz="990" b="0" i="0">
                <a:solidFill>
                  <a:srgbClr val="6B5200"/>
                </a:solidFill>
                <a:latin typeface="Microsoft YaHei"/>
              </a:rPr>
              <a:t>，等效须另设等效界检验。</a:t>
            </a:r>
            <a:r>
              <a:rPr sz="990" b="1" i="0">
                <a:solidFill>
                  <a:srgbClr val="8A6A00"/>
                </a:solidFill>
                <a:latin typeface="Microsoft YaHei"/>
              </a:rPr>
              <a:t>判定按序贯非劣：</a:t>
            </a:r>
            <a:r>
              <a:rPr sz="990" b="0" i="0">
                <a:solidFill>
                  <a:srgbClr val="6B5200"/>
                </a:solidFill>
                <a:latin typeface="Microsoft YaHei"/>
              </a:rPr>
              <a:t>安全非劣 → 制动平顺 → 认知代价 → 低可靠性稳健性 → 反应时与偏好，结果以帕累托前沿呈现。</a:t>
            </a:r>
          </a:p>
        </p:txBody>
      </p:sp>
      <p:sp>
        <p:nvSpPr>
          <p:cNvPr id="13" name="TextBox 12"/>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研究设计</a:t>
            </a:r>
            <a:r>
              <a:rPr sz="1580" b="1" i="0">
                <a:solidFill>
                  <a:srgbClr val="4472C4"/>
                </a:solidFill>
                <a:latin typeface="Microsoft YaHei"/>
              </a:rPr>
              <a:t>研究一如何指导研究二与研究三：五项产出的逐项去处</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sp>
        <p:nvSpPr>
          <p:cNvPr id="6" name="Rectangle 5"/>
          <p:cNvSpPr/>
          <p:nvPr/>
        </p:nvSpPr>
        <p:spPr>
          <a:xfrm>
            <a:off x="438150" y="762000"/>
            <a:ext cx="11315700" cy="92213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92213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74116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回答一个必须回答的质疑：</a:t>
            </a:r>
            <a:r>
              <a:rPr sz="1090" b="0" i="0">
                <a:solidFill>
                  <a:srgbClr val="2F528F"/>
                </a:solidFill>
                <a:latin typeface="Microsoft YaHei"/>
              </a:rPr>
              <a:t>研究一只做测量、不做操纵，其价值何在？答案是三条——它为下游提供</a:t>
            </a:r>
            <a:r>
              <a:rPr sz="1090" b="1" i="0">
                <a:solidFill>
                  <a:srgbClr val="2F528F"/>
                </a:solidFill>
                <a:latin typeface="Microsoft YaHei"/>
              </a:rPr>
              <a:t>①基线参数</a:t>
            </a:r>
            <a:r>
              <a:rPr sz="1090" b="0" i="0">
                <a:solidFill>
                  <a:srgbClr val="2F528F"/>
                </a:solidFill>
                <a:latin typeface="Microsoft YaHei"/>
              </a:rPr>
              <a:t>（自变量的换算零点）、</a:t>
            </a:r>
            <a:r>
              <a:rPr sz="1090" b="1" i="0">
                <a:solidFill>
                  <a:srgbClr val="2F528F"/>
                </a:solidFill>
                <a:latin typeface="Microsoft YaHei"/>
              </a:rPr>
              <a:t>②关键时间阈值</a:t>
            </a:r>
            <a:r>
              <a:rPr sz="1090" b="0" i="0">
                <a:solidFill>
                  <a:srgbClr val="2F528F"/>
                </a:solidFill>
                <a:latin typeface="Microsoft YaHei"/>
              </a:rPr>
              <a:t>（自变量水平的取值边界）、</a:t>
            </a:r>
            <a:r>
              <a:rPr sz="1090" b="1" i="0">
                <a:solidFill>
                  <a:srgbClr val="2F528F"/>
                </a:solidFill>
                <a:latin typeface="Microsoft YaHei"/>
              </a:rPr>
              <a:t>③模型可行性验证</a:t>
            </a:r>
            <a:r>
              <a:rPr sz="1090" b="0" i="0">
                <a:solidFill>
                  <a:srgbClr val="2F528F"/>
                </a:solidFill>
                <a:latin typeface="Microsoft YaHei"/>
              </a:rPr>
              <a:t>（三重约束模型的可行区间是否非空）。</a:t>
            </a:r>
            <a:r>
              <a:rPr sz="1090" b="1" i="0">
                <a:solidFill>
                  <a:srgbClr val="2F528F"/>
                </a:solidFill>
                <a:latin typeface="Microsoft YaHei"/>
              </a:rPr>
              <a:t>若缺此三项，下游实验的自变量水平只能凭既有文献在其他车速条件下报告的秒数设定，而这正是本领域结论不可累积的根源。</a:t>
            </a:r>
          </a:p>
        </p:txBody>
      </p:sp>
      <p:sp>
        <p:nvSpPr>
          <p:cNvPr id="9" name="Rounded Rectangle 8"/>
          <p:cNvSpPr/>
          <p:nvPr/>
        </p:nvSpPr>
        <p:spPr>
          <a:xfrm>
            <a:off x="438150" y="1760339"/>
            <a:ext cx="4665017" cy="4697610"/>
          </a:xfrm>
          <a:prstGeom prst="roundRect">
            <a:avLst>
              <a:gd name="adj" fmla="val 1429"/>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71500" y="2112764"/>
            <a:ext cx="4398317"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500" y="1865114"/>
            <a:ext cx="4436417"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3E7D3E"/>
                </a:solidFill>
                <a:latin typeface="Microsoft YaHei"/>
              </a:rPr>
              <a:t>五项产出与其下游去处（逐项可核）</a:t>
            </a:r>
          </a:p>
        </p:txBody>
      </p:sp>
      <p:graphicFrame>
        <p:nvGraphicFramePr>
          <p:cNvPr id="12" name="Table 11"/>
          <p:cNvGraphicFramePr>
            <a:graphicFrameLocks noGrp="1"/>
          </p:cNvGraphicFramePr>
          <p:nvPr/>
        </p:nvGraphicFramePr>
        <p:xfrm>
          <a:off x="571500" y="2179439"/>
          <a:ext cx="4398316" cy="2858092"/>
        </p:xfrm>
        <a:graphic>
          <a:graphicData uri="http://schemas.openxmlformats.org/drawingml/2006/table">
            <a:tbl>
              <a:tblPr>
                <a:tableStyleId>{5C22544A-7EE6-4342-B048-85BDC9FD1C3A}</a:tableStyleId>
              </a:tblPr>
              <a:tblGrid>
                <a:gridCol w="1187499"/>
                <a:gridCol w="2551211"/>
                <a:gridCol w="659606"/>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产出</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去处与作用</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使用者</a:t>
                      </a:r>
                    </a:p>
                  </a:txBody>
                  <a:tcPr marL="66675" marR="66675" marT="52387" marB="52387" anchor="t">
                    <a:solidFill>
                      <a:srgbClr val="4472C4"/>
                    </a:solidFill>
                  </a:tcPr>
                </a:tc>
              </a:tr>
              <a:tr h="633710">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① </a:t>
                      </a:r>
                      <a:r>
                        <a:rPr sz="890" b="1" i="1">
                          <a:solidFill>
                            <a:srgbClr val="1A1A1A"/>
                          </a:solidFill>
                          <a:latin typeface="Microsoft YaHei"/>
                        </a:rPr>
                        <a:t>t</a:t>
                      </a:r>
                      <a:r>
                        <a:rPr sz="620" b="1" i="1" baseline="-25000">
                          <a:solidFill>
                            <a:srgbClr val="1A1A1A"/>
                          </a:solidFill>
                          <a:latin typeface="Microsoft YaHei"/>
                        </a:rPr>
                        <a:t>0</a:t>
                      </a:r>
                      <a:r>
                        <a:rPr sz="890" b="1" i="0">
                          <a:solidFill>
                            <a:srgbClr val="1A1A1A"/>
                          </a:solidFill>
                          <a:latin typeface="Microsoft YaHei"/>
                        </a:rPr>
                        <a:t> 分布</a:t>
                      </a:r>
                    </a:p>
                    <a:p>
                      <a:pPr algn="l">
                        <a:lnSpc>
                          <a:spcPct val="160000"/>
                        </a:lnSpc>
                        <a:spcBef>
                          <a:spcPts val="0"/>
                        </a:spcBef>
                        <a:spcAft>
                          <a:spcPts val="0"/>
                        </a:spcAft>
                      </a:pPr>
                      <a:r>
                        <a:rPr sz="890" b="0" i="0">
                          <a:solidFill>
                            <a:srgbClr val="1A1A1A"/>
                          </a:solidFill>
                          <a:latin typeface="Microsoft YaHei"/>
                        </a:rPr>
                        <a:t>中位数、p5、p95、被试内 SD</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基线参数</a:t>
                      </a:r>
                      <a:r>
                        <a:rPr sz="890" b="0" i="0">
                          <a:solidFill>
                            <a:srgbClr val="1A1A1A"/>
                          </a:solidFill>
                          <a:latin typeface="Microsoft YaHei"/>
                        </a:rPr>
                        <a:t>：作 </a:t>
                      </a:r>
                      <a:r>
                        <a:rPr sz="890" b="0" i="1">
                          <a:solidFill>
                            <a:srgbClr val="1A1A1A"/>
                          </a:solidFill>
                          <a:latin typeface="Microsoft YaHei"/>
                        </a:rPr>
                        <a:t>Δt</a:t>
                      </a:r>
                      <a:r>
                        <a:rPr sz="890" b="0" i="0">
                          <a:solidFill>
                            <a:srgbClr val="1A1A1A"/>
                          </a:solidFill>
                          <a:latin typeface="Microsoft YaHei"/>
                        </a:rPr>
                        <a:t> 的换算零点；</a:t>
                      </a:r>
                      <a:r>
                        <a:rPr sz="890" b="1" i="0">
                          <a:solidFill>
                            <a:srgbClr val="1A1A1A"/>
                          </a:solidFill>
                          <a:latin typeface="Microsoft YaHei"/>
                        </a:rPr>
                        <a:t>被试内 SD 决定 </a:t>
                      </a:r>
                      <a:r>
                        <a:rPr sz="890" b="1" i="1">
                          <a:solidFill>
                            <a:srgbClr val="1A1A1A"/>
                          </a:solidFill>
                          <a:latin typeface="Microsoft YaHei"/>
                        </a:rPr>
                        <a:t>Δt</a:t>
                      </a:r>
                      <a:r>
                        <a:rPr sz="890" b="1" i="0">
                          <a:solidFill>
                            <a:srgbClr val="1A1A1A"/>
                          </a:solidFill>
                          <a:latin typeface="Microsoft YaHei"/>
                        </a:rPr>
                        <a:t> 能否作被试内因子</a:t>
                      </a:r>
                      <a:r>
                        <a:rPr sz="890" b="0" i="0">
                          <a:solidFill>
                            <a:srgbClr val="1A1A1A"/>
                          </a:solidFill>
                          <a:latin typeface="Microsoft YaHei"/>
                        </a:rPr>
                        <a:t>——若 SD &gt; 1 s 则退化为协变量并行报告</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a:t>
                      </a:r>
                    </a:p>
                  </a:txBody>
                  <a:tcPr marL="66675" marR="66675" marT="42862" marB="42862" anchor="t">
                    <a:solidFill>
                      <a:srgbClr val="FAFBFD"/>
                    </a:solidFill>
                  </a:tcPr>
                </a:tc>
              </a:tr>
              <a:tr h="453032">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② PRT 第 95 分位</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关键阈值</a:t>
                      </a:r>
                      <a:r>
                        <a:rPr sz="890" b="0" i="0">
                          <a:solidFill>
                            <a:srgbClr val="1A1A1A"/>
                          </a:solidFill>
                          <a:latin typeface="Microsoft YaHei"/>
                        </a:rPr>
                        <a:t>：运动学下界计算与</a:t>
                      </a:r>
                      <a:r>
                        <a:rPr sz="890" b="1" i="0">
                          <a:solidFill>
                            <a:srgbClr val="1A1A1A"/>
                          </a:solidFill>
                          <a:latin typeface="Microsoft YaHei"/>
                        </a:rPr>
                        <a:t>可避险区校验</a:t>
                      </a:r>
                      <a:r>
                        <a:rPr sz="890" b="0" i="0">
                          <a:solidFill>
                            <a:srgbClr val="1A1A1A"/>
                          </a:solidFill>
                          <a:latin typeface="Microsoft YaHei"/>
                        </a:rPr>
                        <a:t>——据此判定哪些 </a:t>
                      </a:r>
                      <a:r>
                        <a:rPr sz="890" b="0" i="1">
                          <a:solidFill>
                            <a:srgbClr val="1A1A1A"/>
                          </a:solidFill>
                          <a:latin typeface="Microsoft YaHei"/>
                        </a:rPr>
                        <a:t>Δt</a:t>
                      </a:r>
                      <a:r>
                        <a:rPr sz="890" b="0" i="0">
                          <a:solidFill>
                            <a:srgbClr val="1A1A1A"/>
                          </a:solidFill>
                          <a:latin typeface="Microsoft YaHei"/>
                        </a:rPr>
                        <a:t> 水平在物理上仍可避险</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2、3</a:t>
                      </a:r>
                    </a:p>
                  </a:txBody>
                  <a:tcPr marL="66675" marR="66675" marT="42862" marB="42862" anchor="t">
                    <a:noFill/>
                  </a:tcPr>
                </a:tc>
              </a:tr>
              <a:tr h="617636">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③ </a:t>
                      </a:r>
                      <a:r>
                        <a:rPr sz="890" b="1" i="1">
                          <a:solidFill>
                            <a:srgbClr val="1A1A1A"/>
                          </a:solidFill>
                          <a:latin typeface="Microsoft YaHei"/>
                        </a:rPr>
                        <a:t>t</a:t>
                      </a:r>
                      <a:r>
                        <a:rPr sz="620" b="1" i="1" baseline="-25000">
                          <a:solidFill>
                            <a:srgbClr val="1A1A1A"/>
                          </a:solidFill>
                          <a:latin typeface="Microsoft YaHei"/>
                        </a:rPr>
                        <a:t>0</a:t>
                      </a:r>
                      <a:r>
                        <a:rPr sz="890" b="1" i="0">
                          <a:solidFill>
                            <a:srgbClr val="1A1A1A"/>
                          </a:solidFill>
                          <a:latin typeface="Microsoft YaHei"/>
                        </a:rPr>
                        <a:t> 时刻的制动威胁数</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关键阈值</a:t>
                      </a:r>
                      <a:r>
                        <a:rPr sz="890" b="0" i="0">
                          <a:solidFill>
                            <a:srgbClr val="1A1A1A"/>
                          </a:solidFill>
                          <a:latin typeface="Microsoft YaHei"/>
                        </a:rPr>
                        <a:t>：制动威胁数</a:t>
                      </a:r>
                      <a:r>
                        <a:rPr sz="890" b="1" i="0">
                          <a:solidFill>
                            <a:srgbClr val="1A1A1A"/>
                          </a:solidFill>
                          <a:latin typeface="Microsoft YaHei"/>
                        </a:rPr>
                        <a:t>触发阈值的校准值</a:t>
                      </a:r>
                      <a:r>
                        <a:rPr sz="890" b="0" i="0">
                          <a:solidFill>
                            <a:srgbClr val="1A1A1A"/>
                          </a:solidFill>
                          <a:latin typeface="Microsoft YaHei"/>
                        </a:rPr>
                        <a:t>，使归一化触发与自发察觉对齐——这是「准则类型」自变量得以公平对照的前提</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④ 实测舒适减速度</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基线参数</a:t>
                      </a:r>
                      <a:r>
                        <a:rPr sz="890" b="0" i="0">
                          <a:solidFill>
                            <a:srgbClr val="1A1A1A"/>
                          </a:solidFill>
                          <a:latin typeface="Microsoft YaHei"/>
                        </a:rPr>
                        <a:t>：全部实验的</a:t>
                      </a:r>
                      <a:r>
                        <a:rPr sz="890" b="1" i="0">
                          <a:solidFill>
                            <a:srgbClr val="1A1A1A"/>
                          </a:solidFill>
                          <a:latin typeface="Microsoft YaHei"/>
                        </a:rPr>
                        <a:t>归一化分母</a:t>
                      </a:r>
                      <a:r>
                        <a:rPr sz="890" b="0" i="0">
                          <a:solidFill>
                            <a:srgbClr val="1A1A1A"/>
                          </a:solidFill>
                          <a:latin typeface="Microsoft YaHei"/>
                        </a:rPr>
                        <a:t>（与车辆上限并列报告）；实验 5 的风险量级映射亦以此为标度</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2–5</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⑤ 方差成分</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模型可行性</a:t>
                      </a:r>
                      <a:r>
                        <a:rPr sz="890" b="0" i="0">
                          <a:solidFill>
                            <a:srgbClr val="1A1A1A"/>
                          </a:solidFill>
                          <a:latin typeface="Microsoft YaHei"/>
                        </a:rPr>
                        <a:t>：样本量估计与混合模型的</a:t>
                      </a:r>
                      <a:r>
                        <a:rPr sz="890" b="1" i="0">
                          <a:solidFill>
                            <a:srgbClr val="1A1A1A"/>
                          </a:solidFill>
                          <a:latin typeface="Microsoft YaHei"/>
                        </a:rPr>
                        <a:t>随机效应结构设定</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实验 2–5</a:t>
                      </a:r>
                    </a:p>
                  </a:txBody>
                  <a:tcPr marL="66675" marR="66675" marT="42862" marB="42862" anchor="t">
                    <a:solidFill>
                      <a:srgbClr val="FAFBFD"/>
                    </a:solidFill>
                  </a:tcPr>
                </a:tc>
              </a:tr>
            </a:tbl>
          </a:graphicData>
        </a:graphic>
      </p:graphicFrame>
      <p:sp>
        <p:nvSpPr>
          <p:cNvPr id="13" name="Rounded Rectangle 12"/>
          <p:cNvSpPr/>
          <p:nvPr/>
        </p:nvSpPr>
        <p:spPr>
          <a:xfrm>
            <a:off x="5274617" y="1760339"/>
            <a:ext cx="6479232" cy="4697610"/>
          </a:xfrm>
          <a:prstGeom prst="roundRect">
            <a:avLst>
              <a:gd name="adj" fmla="val 1419"/>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07967" y="2112764"/>
            <a:ext cx="621253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7967" y="1865114"/>
            <a:ext cx="6250632"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三重约束模型的可行区间校验</a:t>
            </a:r>
          </a:p>
        </p:txBody>
      </p:sp>
      <p:sp>
        <p:nvSpPr>
          <p:cNvPr id="16" name="TextBox 15"/>
          <p:cNvSpPr txBox="1"/>
          <p:nvPr/>
        </p:nvSpPr>
        <p:spPr>
          <a:xfrm>
            <a:off x="5407967" y="2179439"/>
            <a:ext cx="6250632"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b="0" i="0">
                <a:solidFill>
                  <a:srgbClr val="1A1A1A"/>
                </a:solidFill>
                <a:latin typeface="Microsoft YaHei"/>
              </a:rPr>
              <a:t>研究一的第三项职能是检验</a:t>
            </a:r>
            <a:r>
              <a:rPr sz="1040" b="1" i="0">
                <a:solidFill>
                  <a:srgbClr val="1A1A1A"/>
                </a:solidFill>
                <a:latin typeface="Microsoft YaHei"/>
              </a:rPr>
              <a:t>三重约束模型的交集是否非空</a:t>
            </a:r>
            <a:r>
              <a:rPr sz="1040" b="0" i="0">
                <a:solidFill>
                  <a:srgbClr val="1A1A1A"/>
                </a:solidFill>
                <a:latin typeface="Microsoft YaHei"/>
              </a:rPr>
              <a:t>——这是本研究理论主张能否成立的前置条件。</a:t>
            </a:r>
          </a:p>
        </p:txBody>
      </p:sp>
      <p:sp>
        <p:nvSpPr>
          <p:cNvPr id="17" name="TextBox 16"/>
          <p:cNvSpPr txBox="1"/>
          <p:nvPr/>
        </p:nvSpPr>
        <p:spPr>
          <a:xfrm>
            <a:off x="5474642" y="2454622"/>
            <a:ext cx="6183957"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① 运动学下界</a:t>
            </a:r>
            <a:r>
              <a:rPr sz="1040" b="0" i="0">
                <a:solidFill>
                  <a:srgbClr val="1A1A1A"/>
                </a:solidFill>
                <a:latin typeface="Microsoft YaHei"/>
              </a:rPr>
              <a:t>由实测 PRT 第 95 分位与舒适减速度确定：预警须早于「以舒适减速度仍可在冲突点前停住」的最晚时刻。</a:t>
            </a:r>
          </a:p>
        </p:txBody>
      </p:sp>
      <p:sp>
        <p:nvSpPr>
          <p:cNvPr id="18" name="TextBox 17"/>
          <p:cNvSpPr txBox="1"/>
          <p:nvPr/>
        </p:nvSpPr>
        <p:spPr>
          <a:xfrm>
            <a:off x="5474642" y="2909738"/>
            <a:ext cx="6183957"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② 可靠性上界</a:t>
            </a:r>
            <a:r>
              <a:rPr sz="1040" b="0" i="0">
                <a:solidFill>
                  <a:srgbClr val="1A1A1A"/>
                </a:solidFill>
                <a:latin typeface="Microsoft YaHei"/>
              </a:rPr>
              <a:t>由探测可靠性与虚警代价确定，本研究以实验 3 的可靠性操纵间接标定。</a:t>
            </a:r>
          </a:p>
        </p:txBody>
      </p:sp>
      <p:sp>
        <p:nvSpPr>
          <p:cNvPr id="19" name="TextBox 18"/>
          <p:cNvSpPr txBox="1"/>
          <p:nvPr/>
        </p:nvSpPr>
        <p:spPr>
          <a:xfrm>
            <a:off x="5474642" y="3146821"/>
            <a:ext cx="6183957" cy="256133"/>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③ 认知窗口</a:t>
            </a:r>
            <a:r>
              <a:rPr sz="1040" b="0" i="0">
                <a:solidFill>
                  <a:srgbClr val="1A1A1A"/>
                </a:solidFill>
                <a:latin typeface="Microsoft YaHei"/>
              </a:rPr>
              <a:t>由 </a:t>
            </a:r>
            <a:r>
              <a:rPr sz="1040" b="0" i="1">
                <a:solidFill>
                  <a:srgbClr val="1A1A1A"/>
                </a:solidFill>
                <a:latin typeface="Microsoft YaHei"/>
              </a:rPr>
              <a:t>t</a:t>
            </a:r>
            <a:r>
              <a:rPr sz="720" b="0" i="1" baseline="-25000">
                <a:solidFill>
                  <a:srgbClr val="1A1A1A"/>
                </a:solidFill>
                <a:latin typeface="Microsoft YaHei"/>
              </a:rPr>
              <a:t>0</a:t>
            </a:r>
            <a:r>
              <a:rPr sz="1040" b="0" i="0">
                <a:solidFill>
                  <a:srgbClr val="1A1A1A"/>
                </a:solidFill>
                <a:latin typeface="Microsoft YaHei"/>
              </a:rPr>
              <a:t> 与各 SPIDER 阶段的可用时长确定。</a:t>
            </a:r>
          </a:p>
        </p:txBody>
      </p:sp>
      <p:sp>
        <p:nvSpPr>
          <p:cNvPr id="20" name="TextBox 19"/>
          <p:cNvSpPr txBox="1"/>
          <p:nvPr/>
        </p:nvSpPr>
        <p:spPr>
          <a:xfrm>
            <a:off x="5474642" y="3393430"/>
            <a:ext cx="6183957"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C00000"/>
                </a:solidFill>
                <a:latin typeface="Microsoft YaHei"/>
              </a:rPr>
              <a:t>否证条件：</a:t>
            </a:r>
            <a:r>
              <a:rPr sz="1040" b="0" i="0">
                <a:solidFill>
                  <a:srgbClr val="1A1A1A"/>
                </a:solidFill>
                <a:latin typeface="Microsoft YaHei"/>
              </a:rPr>
              <a:t>若实测显示三者交集为空（即任何提前量都无法同时满足运动学与认知要求），则本研究的</a:t>
            </a:r>
            <a:r>
              <a:rPr sz="1040" b="1" i="0">
                <a:solidFill>
                  <a:srgbClr val="1A1A1A"/>
                </a:solidFill>
                <a:latin typeface="Microsoft YaHei"/>
              </a:rPr>
              <a:t>参数化路径不成立</a:t>
            </a:r>
            <a:r>
              <a:rPr sz="1040" b="0" i="0">
                <a:solidFill>
                  <a:srgbClr val="1A1A1A"/>
                </a:solidFill>
                <a:latin typeface="Microsoft YaHei"/>
              </a:rPr>
              <a:t>，须转向多模态或介入式方案。</a:t>
            </a:r>
            <a:r>
              <a:rPr sz="1040" b="1" i="0">
                <a:solidFill>
                  <a:srgbClr val="1A1A1A"/>
                </a:solidFill>
                <a:latin typeface="Microsoft YaHei"/>
              </a:rPr>
              <a:t>该情形须照实报告。</a:t>
            </a:r>
          </a:p>
        </p:txBody>
      </p:sp>
      <p:sp>
        <p:nvSpPr>
          <p:cNvPr id="21" name="TextBox 20"/>
          <p:cNvSpPr txBox="1"/>
          <p:nvPr/>
        </p:nvSpPr>
        <p:spPr>
          <a:xfrm>
            <a:off x="5407967" y="3886646"/>
            <a:ext cx="6250632"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b="1" i="0">
                <a:solidFill>
                  <a:srgbClr val="1A1A1A"/>
                </a:solidFill>
                <a:latin typeface="Microsoft YaHei"/>
              </a:rPr>
              <a:t>递进的代价与其对策：</a:t>
            </a:r>
            <a:r>
              <a:rPr sz="1040" b="0" i="0">
                <a:solidFill>
                  <a:srgbClr val="1A1A1A"/>
                </a:solidFill>
                <a:latin typeface="Microsoft YaHei"/>
              </a:rPr>
              <a:t>逐层固定参数使下游变量数可控，代价是上游失准会阻塞下游。故对每一项产出均预先声明退化路径（见上表①），</a:t>
            </a:r>
            <a:r>
              <a:rPr sz="1040" b="1" i="0">
                <a:solidFill>
                  <a:srgbClr val="1A1A1A"/>
                </a:solidFill>
                <a:latin typeface="Microsoft YaHei"/>
              </a:rPr>
              <a:t>且退化路径不得在见到数据后选择</a:t>
            </a:r>
            <a:r>
              <a:rPr sz="1040" b="0" i="0">
                <a:solidFill>
                  <a:srgbClr val="1A1A1A"/>
                </a:solidFill>
                <a:latin typeface="Microsoft YaHei"/>
              </a:rPr>
              <a:t>。</a:t>
            </a:r>
          </a:p>
        </p:txBody>
      </p:sp>
      <p:sp>
        <p:nvSpPr>
          <p:cNvPr id="22" name="TextBox 21"/>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24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备查</a:t>
            </a:r>
            <a:r>
              <a:rPr sz="1580" b="1" i="0">
                <a:solidFill>
                  <a:srgbClr val="4472C4"/>
                </a:solidFill>
                <a:latin typeface="Microsoft YaHei"/>
              </a:rPr>
              <a:t>研究者设定值与不确定项清单：全部无文献来源的取值及其处置</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备查</a:t>
            </a:r>
          </a:p>
        </p:txBody>
      </p:sp>
      <p:sp>
        <p:nvSpPr>
          <p:cNvPr id="6" name="Rectangle 5"/>
          <p:cNvSpPr/>
          <p:nvPr/>
        </p:nvSpPr>
        <p:spPr>
          <a:xfrm>
            <a:off x="438150" y="762000"/>
            <a:ext cx="11315700"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1975" y="847725"/>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0" i="0">
                <a:solidFill>
                  <a:srgbClr val="7A1F1F"/>
                </a:solidFill>
                <a:latin typeface="Microsoft YaHei"/>
              </a:rPr>
              <a:t> 本页汇总本研究</a:t>
            </a:r>
            <a:r>
              <a:rPr sz="990" b="1" i="0">
                <a:solidFill>
                  <a:srgbClr val="7A1F1F"/>
                </a:solidFill>
                <a:latin typeface="Microsoft YaHei"/>
              </a:rPr>
              <a:t>全部无直接文献来源的取值</a:t>
            </a:r>
            <a:r>
              <a:rPr sz="990" b="0" i="0">
                <a:solidFill>
                  <a:srgbClr val="7A1F1F"/>
                </a:solidFill>
                <a:latin typeface="Microsoft YaHei"/>
              </a:rPr>
              <a:t>。列出的理由是：这些值是最容易被质疑之处， 与其被逐项追问，不如预先声明其</a:t>
            </a:r>
            <a:r>
              <a:rPr sz="990" b="1" i="0">
                <a:solidFill>
                  <a:srgbClr val="7A1F1F"/>
                </a:solidFill>
                <a:latin typeface="Microsoft YaHei"/>
              </a:rPr>
              <a:t>依据状态</a:t>
            </a:r>
            <a:r>
              <a:rPr sz="990" b="0" i="0">
                <a:solidFill>
                  <a:srgbClr val="7A1F1F"/>
                </a:solidFill>
                <a:latin typeface="Microsoft YaHei"/>
              </a:rPr>
              <a:t>与</a:t>
            </a:r>
            <a:r>
              <a:rPr sz="990" b="1" i="0">
                <a:solidFill>
                  <a:srgbClr val="7A1F1F"/>
                </a:solidFill>
                <a:latin typeface="Microsoft YaHei"/>
              </a:rPr>
              <a:t>处置方式</a:t>
            </a:r>
            <a:r>
              <a:rPr sz="990" b="0" i="0">
                <a:solidFill>
                  <a:srgbClr val="7A1F1F"/>
                </a:solidFill>
                <a:latin typeface="Microsoft YaHei"/>
              </a:rPr>
              <a:t>。 三条纪律：① 一律写入预注册；② 一律列入局限；③ 凡可由预实验替换者，</a:t>
            </a:r>
            <a:r>
              <a:rPr sz="990" b="1" i="0">
                <a:solidFill>
                  <a:srgbClr val="7A1F1F"/>
                </a:solidFill>
                <a:latin typeface="Microsoft YaHei"/>
              </a:rPr>
              <a:t>以预实验实测值替换而非沿用</a:t>
            </a:r>
            <a:r>
              <a:rPr sz="990" b="0" i="0">
                <a:solidFill>
                  <a:srgbClr val="7A1F1F"/>
                </a:solidFill>
                <a:latin typeface="Microsoft YaHei"/>
              </a:rPr>
              <a:t>。 </a:t>
            </a:r>
          </a:p>
        </p:txBody>
      </p:sp>
      <p:graphicFrame>
        <p:nvGraphicFramePr>
          <p:cNvPr id="9" name="Table 8"/>
          <p:cNvGraphicFramePr>
            <a:graphicFrameLocks noGrp="1"/>
          </p:cNvGraphicFramePr>
          <p:nvPr/>
        </p:nvGraphicFramePr>
        <p:xfrm>
          <a:off x="438150" y="1455539"/>
          <a:ext cx="11315700" cy="3793625"/>
        </p:xfrm>
        <a:graphic>
          <a:graphicData uri="http://schemas.openxmlformats.org/drawingml/2006/table">
            <a:tbl>
              <a:tblPr>
                <a:tableStyleId>{5C22544A-7EE6-4342-B048-85BDC9FD1C3A}</a:tableStyleId>
              </a:tblPr>
              <a:tblGrid>
                <a:gridCol w="990600"/>
                <a:gridCol w="2381250"/>
                <a:gridCol w="1428750"/>
                <a:gridCol w="6515100"/>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类别</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设定值</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依据状态</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处置</a:t>
                      </a:r>
                    </a:p>
                  </a:txBody>
                  <a:tcPr marL="66675" marR="66675" marT="52387" marB="52387" anchor="t">
                    <a:solidFill>
                      <a:srgbClr val="4472C4"/>
                    </a:solidFill>
                  </a:tcPr>
                </a:tc>
              </a:tr>
              <a:tr h="438745">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时间参数</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分层级间间隔 1.5 s 档；撤销渐隐时长；提前量 +2.5 s 上界档</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1.5 s 与 +2.5 s 为</a:t>
                      </a:r>
                      <a:r>
                        <a:rPr sz="890" b="1" i="0">
                          <a:solidFill>
                            <a:srgbClr val="1A1A1A"/>
                          </a:solidFill>
                          <a:latin typeface="Microsoft YaHei"/>
                        </a:rPr>
                        <a:t>上界探测</a:t>
                      </a:r>
                      <a:r>
                        <a:rPr sz="890" b="0" i="0">
                          <a:solidFill>
                            <a:srgbClr val="1A1A1A"/>
                          </a:solidFill>
                          <a:latin typeface="Microsoft YaHei"/>
                        </a:rPr>
                        <a:t>；渐隐时长</a:t>
                      </a:r>
                      <a:r>
                        <a:rPr sz="890" b="1" i="0">
                          <a:solidFill>
                            <a:srgbClr val="1A1A1A"/>
                          </a:solidFill>
                          <a:latin typeface="Microsoft YaHei"/>
                        </a:rPr>
                        <a:t>无文献支撑</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写入预注册；渐隐参数在论文中显式标注为无文献支撑，并以实验 2 区块 B 的实测结果替换</a:t>
                      </a:r>
                    </a:p>
                  </a:txBody>
                  <a:tcPr marL="66675" marR="66675" marT="42862" marB="42862" anchor="t">
                    <a:solidFill>
                      <a:srgbClr val="FAFBFD"/>
                    </a:solidFill>
                  </a:tcPr>
                </a:tc>
              </a:tr>
              <a:tr h="443507">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触发准则</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制动威胁数阈值的可行区间端点</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由实验 1 的舒适减速度分位数</a:t>
                      </a:r>
                      <a:r>
                        <a:rPr sz="890" b="1" i="0">
                          <a:solidFill>
                            <a:srgbClr val="1A1A1A"/>
                          </a:solidFill>
                          <a:latin typeface="Microsoft YaHei"/>
                        </a:rPr>
                        <a:t>反推</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实验 1 标定后固定；标定前不得给出具体阈值</a:t>
                      </a:r>
                    </a:p>
                  </a:txBody>
                  <a:tcPr marL="66675" marR="66675" marT="42862" marB="42862" anchor="t">
                    <a:noFill/>
                  </a:tcPr>
                </a:tc>
              </a:tr>
              <a:tr h="617636">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场景与试次</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事件间路程 300–600 m；单次 session 上限 25–30 min；危险事件占比 &lt; 40%；事件间隔 ≥ 60 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间隔 60 s 由「分心残留可持续 30 s 以上」</a:t>
                      </a:r>
                      <a:r>
                        <a:rPr sz="890" b="1" i="0">
                          <a:solidFill>
                            <a:srgbClr val="1A1A1A"/>
                          </a:solidFill>
                          <a:latin typeface="Microsoft YaHei"/>
                        </a:rPr>
                        <a:t>留一倍冗余</a:t>
                      </a:r>
                      <a:r>
                        <a:rPr sz="890" b="0" i="0">
                          <a:solidFill>
                            <a:srgbClr val="1A1A1A"/>
                          </a:solidFill>
                          <a:latin typeface="Microsoft YaHei"/>
                        </a:rPr>
                        <a:t>推得；其余三项</a:t>
                      </a:r>
                      <a:r>
                        <a:rPr sz="890" b="1" i="0">
                          <a:solidFill>
                            <a:srgbClr val="1A1A1A"/>
                          </a:solidFill>
                          <a:latin typeface="Microsoft YaHei"/>
                        </a:rPr>
                        <a:t>无来源</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全部列入局限；占比阈值在预实验中检验其是否已足以抑制预期</a:t>
                      </a:r>
                    </a:p>
                  </a:txBody>
                  <a:tcPr marL="66675" marR="66675" marT="42862" marB="42862" anchor="t">
                    <a:solidFill>
                      <a:srgbClr val="FAFBFD"/>
                    </a:solidFill>
                  </a:tcPr>
                </a:tc>
              </a:tr>
              <a:tr h="617636">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刺激物理量</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行人肩宽 0.5 m（用于光学膨胀率计算）；部分遮挡过渡段 0.15 s 的完全遮挡近似</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肩宽为</a:t>
                      </a:r>
                      <a:r>
                        <a:rPr sz="890" b="1" i="0">
                          <a:solidFill>
                            <a:srgbClr val="1A1A1A"/>
                          </a:solidFill>
                          <a:latin typeface="Microsoft YaHei"/>
                        </a:rPr>
                        <a:t>常用近似</a:t>
                      </a:r>
                      <a:r>
                        <a:rPr sz="890" b="0" i="0">
                          <a:solidFill>
                            <a:srgbClr val="1A1A1A"/>
                          </a:solidFill>
                          <a:latin typeface="Microsoft YaHei"/>
                        </a:rPr>
                        <a:t>；0.15 s 为</a:t>
                      </a:r>
                      <a:r>
                        <a:rPr sz="890" b="1" i="0">
                          <a:solidFill>
                            <a:srgbClr val="1A1A1A"/>
                          </a:solidFill>
                          <a:latin typeface="Microsoft YaHei"/>
                        </a:rPr>
                        <a:t>本研究依已发表场景几何推导</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方法章显式声明近似；膨胀率结论附肩宽敏感度分析</a:t>
                      </a:r>
                    </a:p>
                  </a:txBody>
                  <a:tcPr marL="66675" marR="66675" marT="42862" marB="42862" anchor="t">
                    <a:noFill/>
                  </a:tcPr>
                </a:tc>
              </a:tr>
              <a:tr h="617636">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统计判定</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最小侵入余量非劣界 −0.2 s；眼动有效率下限 80%；反应时纳入界 0.2–2.9 s；样本量 N ≈ 24</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非劣界与样本量</a:t>
                      </a:r>
                      <a:r>
                        <a:rPr sz="890" b="1" i="0">
                          <a:solidFill>
                            <a:srgbClr val="1A1A1A"/>
                          </a:solidFill>
                          <a:latin typeface="Microsoft YaHei"/>
                        </a:rPr>
                        <a:t>无来源</a:t>
                      </a:r>
                      <a:r>
                        <a:rPr sz="890" b="0" i="0">
                          <a:solidFill>
                            <a:srgbClr val="1A1A1A"/>
                          </a:solidFill>
                          <a:latin typeface="Microsoft YaHei"/>
                        </a:rPr>
                        <a:t>，其余为</a:t>
                      </a:r>
                      <a:r>
                        <a:rPr sz="890" b="1" i="0">
                          <a:solidFill>
                            <a:srgbClr val="1A1A1A"/>
                          </a:solidFill>
                          <a:latin typeface="Microsoft YaHei"/>
                        </a:rPr>
                        <a:t>领域惯例</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非劣界与样本量</a:t>
                      </a:r>
                      <a:r>
                        <a:rPr sz="890" b="1" i="0">
                          <a:solidFill>
                            <a:srgbClr val="1A1A1A"/>
                          </a:solidFill>
                          <a:latin typeface="Microsoft YaHei"/>
                        </a:rPr>
                        <a:t>须由预实验的最小实际意义差重算</a:t>
                      </a:r>
                      <a:r>
                        <a:rPr sz="890" b="0" i="0">
                          <a:solidFill>
                            <a:srgbClr val="1A1A1A"/>
                          </a:solidFill>
                          <a:latin typeface="Microsoft YaHei"/>
                        </a:rPr>
                        <a:t>，重算前不得作为结论门槛</a:t>
                      </a:r>
                    </a:p>
                  </a:txBody>
                  <a:tcPr marL="66675" marR="66675" marT="42862" marB="42862" anchor="t">
                    <a:solidFill>
                      <a:srgbClr val="FAFBFD"/>
                    </a:solidFill>
                  </a:tcPr>
                </a:tc>
              </a:tr>
              <a:tr h="791765">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盲区专属</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可靠性低水平 20%；捕获试次比例；取消升级阈值 −0.075 g</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20% 为</a:t>
                      </a:r>
                      <a:r>
                        <a:rPr sz="890" b="1" i="0">
                          <a:solidFill>
                            <a:srgbClr val="1A1A1A"/>
                          </a:solidFill>
                          <a:latin typeface="Microsoft YaHei"/>
                        </a:rPr>
                        <a:t>保守压力测试</a:t>
                      </a:r>
                      <a:r>
                        <a:rPr sz="890" b="0" i="0">
                          <a:solidFill>
                            <a:srgbClr val="1A1A1A"/>
                          </a:solidFill>
                          <a:latin typeface="Microsoft YaHei"/>
                        </a:rPr>
                        <a:t>（工程可达骚扰水平约 13.74%）；阈值取自</a:t>
                      </a:r>
                      <a:r>
                        <a:rPr sz="890" b="1" i="0">
                          <a:solidFill>
                            <a:srgbClr val="1A1A1A"/>
                          </a:solidFill>
                          <a:latin typeface="Microsoft YaHei"/>
                        </a:rPr>
                        <a:t>产业资料</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捕获试次比例与可靠性比例在设计阶段</a:t>
                      </a:r>
                      <a:r>
                        <a:rPr sz="890" b="1" i="0">
                          <a:solidFill>
                            <a:srgbClr val="1A1A1A"/>
                          </a:solidFill>
                          <a:latin typeface="Microsoft YaHei"/>
                        </a:rPr>
                        <a:t>联合确定并作固定效应建模</a:t>
                      </a:r>
                      <a:r>
                        <a:rPr sz="890" b="0" i="0">
                          <a:solidFill>
                            <a:srgbClr val="1A1A1A"/>
                          </a:solidFill>
                          <a:latin typeface="Microsoft YaHei"/>
                        </a:rPr>
                        <a:t>；升级阈值在预实验中核验误判率</a:t>
                      </a:r>
                    </a:p>
                  </a:txBody>
                  <a:tcPr marL="66675" marR="66675" marT="42862" marB="42862" anchor="t">
                    <a:noFill/>
                  </a:tcPr>
                </a:tc>
              </a:tr>
            </a:tbl>
          </a:graphicData>
        </a:graphic>
      </p:graphicFrame>
      <p:sp>
        <p:nvSpPr>
          <p:cNvPr id="10" name="Rectangle 9"/>
          <p:cNvSpPr/>
          <p:nvPr/>
        </p:nvSpPr>
        <p:spPr>
          <a:xfrm>
            <a:off x="438150" y="5358705"/>
            <a:ext cx="11315700" cy="588764"/>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8150" y="5358705"/>
            <a:ext cx="38100" cy="588764"/>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1975" y="5444430"/>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一处须主动交代的不确定性。</a:t>
            </a:r>
            <a:r>
              <a:rPr sz="990" b="0" i="0">
                <a:solidFill>
                  <a:srgbClr val="6B5200"/>
                </a:solidFill>
                <a:latin typeface="Microsoft YaHei"/>
              </a:rPr>
              <a:t>遮挡场景的可预期性无法完全消除，故本研究效应量相对真实突发遮挡事件的 </a:t>
            </a:r>
            <a:r>
              <a:rPr sz="990" b="1" i="0">
                <a:solidFill>
                  <a:srgbClr val="8A6A00"/>
                </a:solidFill>
                <a:latin typeface="Microsoft YaHei"/>
              </a:rPr>
              <a:t>偏误方向不明</a:t>
            </a:r>
            <a:r>
              <a:rPr sz="990" b="0" i="0">
                <a:solidFill>
                  <a:srgbClr val="6B5200"/>
                </a:solidFill>
                <a:latin typeface="Microsoft YaHei"/>
              </a:rPr>
              <a:t>——须并列陈述高估与低估两种可能，</a:t>
            </a:r>
            <a:r>
              <a:rPr sz="990" b="1" i="0">
                <a:solidFill>
                  <a:srgbClr val="8A6A00"/>
                </a:solidFill>
                <a:latin typeface="Microsoft YaHei"/>
              </a:rPr>
              <a:t>不得单向断言本研究的估计偏保守</a:t>
            </a:r>
            <a:r>
              <a:rPr sz="990" b="0" i="0">
                <a:solidFill>
                  <a:srgbClr val="6B5200"/>
                </a:solidFill>
                <a:latin typeface="Microsoft YaHei"/>
              </a:rPr>
              <a:t>。 本库中的实车遮挡研究亦须以黑布与演员配合实现，故该威胁并非模拟器所特有。 </a:t>
            </a:r>
          </a:p>
        </p:txBody>
      </p:sp>
      <p:sp>
        <p:nvSpPr>
          <p:cNvPr id="13" name="TextBox 12"/>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